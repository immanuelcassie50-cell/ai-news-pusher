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74320"/>
            <a:ext cx="3474720" cy="2560320"/>
          </a:xfrm>
          <a:prstGeom prst="rect">
            <a:avLst>
              <a:gd name="adj" fmla="val 2857"/>
            </a:avLst>
          </a:prstGeom>
          <a:solidFill>
            <a:srgbClr val="8B263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377440"/>
            <a:ext cx="2286000" cy="1645920"/>
          </a:xfrm>
          <a:prstGeom prst="rect">
            <a:avLst>
              <a:gd name="adj" fmla="val 5556"/>
            </a:avLst>
          </a:prstGeom>
          <a:solidFill>
            <a:srgbClr val="C45C3E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4114800"/>
            <a:ext cx="2011680" cy="1371600"/>
          </a:xfrm>
          <a:prstGeom prst="rect">
            <a:avLst>
              <a:gd name="adj" fmla="val 8000"/>
            </a:avLst>
          </a:prstGeom>
          <a:solidFill>
            <a:srgbClr val="D4C5C5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3474720"/>
            <a:ext cx="731520" cy="731520"/>
          </a:xfrm>
          <a:prstGeom prst="rect">
            <a:avLst>
              <a:gd name="adj" fmla="val 6250"/>
            </a:avLst>
          </a:prstGeom>
          <a:solidFill>
            <a:srgbClr val="8B2635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1097280"/>
            <a:ext cx="1097280" cy="5486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325880"/>
            <a:ext cx="640080" cy="36576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1828800"/>
            <a:ext cx="45720" cy="137160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管理者薪酬对话</a:t>
            </a:r>
            <a:endParaRPr lang="en-US" sz="6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82880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怎么解释AI生成的调薪决策而不失去信任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4114800" cy="13716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HR薪酬管理精品课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六模块学习地图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097280" cy="36576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D4C5C5">
              <a:alpha val="4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20240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8B2635">
              <a:alpha val="90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AI时代的薪酬对话新格局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D4C5C5">
              <a:alpha val="4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8B2635">
              <a:alpha val="90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调薪决策的双轨结构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D4C5C5">
              <a:alpha val="4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114800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8B2635">
              <a:alpha val="90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148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41148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三步信任重建法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D4C5C5">
              <a:alpha val="4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920240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8B2635">
              <a:alpha val="90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9202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669280" y="192024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薪酬对话场景实战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D4C5C5">
              <a:alpha val="4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017520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8B2635">
              <a:alpha val="90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0175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69280" y="30175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应对质疑与异议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54880" y="41148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D4C5C5">
              <a:alpha val="4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4114800"/>
            <a:ext cx="822960" cy="868680"/>
          </a:xfrm>
          <a:prstGeom prst="roundRect">
            <a:avLst>
              <a:gd name="adj" fmla="val 11111"/>
            </a:avLst>
          </a:prstGeom>
          <a:solidFill>
            <a:srgbClr val="8B2635">
              <a:alpha val="90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1148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669280" y="41148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持续信任维护机制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73152" cy="73152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466344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466344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从"人工计价"到"系统算价"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D4C5C5">
              <a:alpha val="5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3931920" cy="137160"/>
          </a:xfrm>
          <a:prstGeom prst="rect">
            <a:avLst/>
          </a:prstGeom>
          <a:solidFill>
            <a:srgbClr val="4A4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传统场景（二手车）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车主报价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"这车我买了15万，现在卖12万"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"我了解的，差不多就这个价"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半信半疑，依赖经验判断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3931920" cy="2926080"/>
          </a:xfrm>
          <a:prstGeom prst="roundRect">
            <a:avLst>
              <a:gd name="adj" fmla="val 3750"/>
            </a:avLst>
          </a:prstGeom>
          <a:solidFill>
            <a:srgbClr val="D4C5C5">
              <a:alpha val="5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34440"/>
            <a:ext cx="3931920" cy="502920"/>
          </a:xfrm>
          <a:prstGeom prst="roundRect">
            <a:avLst>
              <a:gd name="adj" fmla="val 21818"/>
            </a:avLst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00200"/>
            <a:ext cx="3931920" cy="137160"/>
          </a:xfrm>
          <a:prstGeom prst="rect">
            <a:avLst/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234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AI新场景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系统报价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286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"市场行情12万，成交区间10.5-13.5万，车况87分"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063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"不是人定的，是系统根据数据实时计算的"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信不信？—— 算法厌恶心理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AF8F7"/>
          </a:solidFill>
          <a:ln w="25400">
            <a:solidFill>
              <a:srgbClr val="C45C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97680"/>
            <a:ext cx="109728" cy="640080"/>
          </a:xfrm>
          <a:prstGeom prst="rect">
            <a:avLst/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976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"AI进入薪酬决策，让这件事从'人工解释人工决策'变成了'人工解释AI决策'"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4709160"/>
            <a:ext cx="73152" cy="73152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470916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470916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114800"/>
            <a:ext cx="1371600" cy="7315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4297680"/>
            <a:ext cx="731520" cy="73152"/>
          </a:xfrm>
          <a:prstGeom prst="rect">
            <a:avLst/>
          </a:prstGeom>
          <a:solidFill>
            <a:srgbClr val="C45C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2635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AI时代的薪酬对话新格局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为什么这件事突然重要了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2286000" cy="36576"/>
          </a:xfrm>
          <a:prstGeom prst="rect">
            <a:avLst/>
          </a:prstGeom>
          <a:solidFill>
            <a:srgbClr val="C45C3E">
              <a:alpha val="6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薪酬决策链的演变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234440"/>
            <a:ext cx="548640" cy="54864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人工主导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286000"/>
            <a:ext cx="1874520" cy="18288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2377440"/>
            <a:ext cx="2331720" cy="640080"/>
          </a:xfrm>
          <a:prstGeom prst="roundRect">
            <a:avLst>
              <a:gd name="adj" fmla="val 7143"/>
            </a:avLst>
          </a:prstGeom>
          <a:solidFill>
            <a:srgbClr val="FAF8F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23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 → 决定 → 员工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调薪多少，由老板一句话定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C45C3E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97764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3977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主观、不透明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051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20540" y="1234440"/>
            <a:ext cx="548640" cy="54864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0" name="Text 18"/>
          <p:cNvSpPr/>
          <p:nvPr/>
        </p:nvSpPr>
        <p:spPr>
          <a:xfrm>
            <a:off x="43205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2900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HR流程辅助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657600" y="2286000"/>
            <a:ext cx="1874520" cy="18288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23" name="Shape 21"/>
          <p:cNvSpPr/>
          <p:nvPr/>
        </p:nvSpPr>
        <p:spPr>
          <a:xfrm>
            <a:off x="3429000" y="2377440"/>
            <a:ext cx="2331720" cy="640080"/>
          </a:xfrm>
          <a:prstGeom prst="roundRect">
            <a:avLst>
              <a:gd name="adj" fmla="val 7143"/>
            </a:avLst>
          </a:prstGeom>
          <a:solidFill>
            <a:srgbClr val="FAF8F7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423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 → HR政策 → 系统 → 员工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调薪要过人力资源部，要填表、要审批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365760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C45C3E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0" y="3657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有标准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29000" y="397764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0" y="3977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员工看不到数据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1051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5180" y="1234440"/>
            <a:ext cx="548640" cy="54864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34" name="Text 32"/>
          <p:cNvSpPr/>
          <p:nvPr/>
        </p:nvSpPr>
        <p:spPr>
          <a:xfrm>
            <a:off x="71551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26364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AI系统参与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492240" y="2286000"/>
            <a:ext cx="1874520" cy="18288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37" name="Shape 35"/>
          <p:cNvSpPr/>
          <p:nvPr/>
        </p:nvSpPr>
        <p:spPr>
          <a:xfrm>
            <a:off x="6263640" y="2377440"/>
            <a:ext cx="2331720" cy="640080"/>
          </a:xfrm>
          <a:prstGeom prst="roundRect">
            <a:avLst>
              <a:gd name="adj" fmla="val 7143"/>
            </a:avLst>
          </a:prstGeom>
          <a:solidFill>
            <a:srgbClr val="FAF8F7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24231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 → HR政策 → 系统(AI) → 管理者 → 员工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108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调薪由AI系统生成建议，管理者审批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65760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C45C3E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3657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3657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63640" y="397764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3977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39776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决策黑箱化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012948" y="2660904"/>
            <a:ext cx="374904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7" name="Shape 45"/>
          <p:cNvSpPr/>
          <p:nvPr/>
        </p:nvSpPr>
        <p:spPr>
          <a:xfrm rot="5400000">
            <a:off x="3314700" y="2587752"/>
            <a:ext cx="182880" cy="219456"/>
          </a:xfrm>
          <a:prstGeom prst="rtTriangle">
            <a:avLst/>
          </a:prstGeom>
          <a:solidFill>
            <a:srgbClr val="C45C3E"/>
          </a:solidFill>
          <a:ln/>
        </p:spPr>
      </p:sp>
      <p:sp>
        <p:nvSpPr>
          <p:cNvPr id="48" name="Shape 46"/>
          <p:cNvSpPr/>
          <p:nvPr/>
        </p:nvSpPr>
        <p:spPr>
          <a:xfrm>
            <a:off x="5847588" y="2660904"/>
            <a:ext cx="374904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9" name="Shape 47"/>
          <p:cNvSpPr/>
          <p:nvPr/>
        </p:nvSpPr>
        <p:spPr>
          <a:xfrm rot="5400000">
            <a:off x="6149340" y="2587752"/>
            <a:ext cx="182880" cy="219456"/>
          </a:xfrm>
          <a:prstGeom prst="rtTriangle">
            <a:avLst/>
          </a:prstGeom>
          <a:solidFill>
            <a:srgbClr val="C45C3E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AI参与薪酬决策的四个层级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LEVELS OF AI INVOLVEMENT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2635">
              <a:alpha val="92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5544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AI做什么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908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管理者做什么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15000" y="1554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48840"/>
            <a:ext cx="457200" cy="356616"/>
          </a:xfrm>
          <a:prstGeom prst="roundRect">
            <a:avLst>
              <a:gd name="adj" fmla="val 12821"/>
            </a:avLst>
          </a:prstGeom>
          <a:solidFill>
            <a:srgbClr val="8B2635">
              <a:alpha val="85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7568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075688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人工主导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0756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提供数据报表（被动）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20756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决策并与员工对话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20756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"老板定的"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AF8F7"/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24912"/>
            <a:ext cx="457200" cy="356616"/>
          </a:xfrm>
          <a:prstGeom prst="roundRect">
            <a:avLst>
              <a:gd name="adj" fmla="val 12821"/>
            </a:avLst>
          </a:prstGeom>
          <a:solidFill>
            <a:srgbClr val="C45C3E">
              <a:alpha val="85000"/>
            </a:srgbClr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51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6517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AI辅助建议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0312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生成调薪区间建议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管理者选择并决策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26517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"老板参考了数据"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27832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300984"/>
            <a:ext cx="457200" cy="356616"/>
          </a:xfrm>
          <a:prstGeom prst="roundRect">
            <a:avLst>
              <a:gd name="adj" fmla="val 12821"/>
            </a:avLst>
          </a:prstGeom>
          <a:solidFill>
            <a:srgbClr val="4A4A4A">
              <a:alpha val="85000"/>
            </a:srgbClr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2783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227832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AI生成+人工审批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103120" y="32278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生成完整调薪建议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0" y="322783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审批通过/退回/调整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322783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"数字是系统算的"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803904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AF8F7"/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3877056"/>
            <a:ext cx="457200" cy="356616"/>
          </a:xfrm>
          <a:prstGeom prst="roundRect">
            <a:avLst>
              <a:gd name="adj" fmla="val 12821"/>
            </a:avLst>
          </a:prstGeom>
          <a:solidFill>
            <a:srgbClr val="8B2635">
              <a:alpha val="85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8039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3803904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AI主导+人工执行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103120" y="380390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生成最终决策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380390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执行通知和对话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380390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"系统说了算"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2519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C45C3E">
              <a:alpha val="12000"/>
            </a:srgbClr>
          </a:solidFill>
          <a:ln w="19050">
            <a:solidFill>
              <a:srgbClr val="C45C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251960"/>
            <a:ext cx="109728" cy="54864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251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  </a:t>
            </a:r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绝大多数企业目前处于 L2-L3 之间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57200" y="4937760"/>
            <a:ext cx="64008" cy="640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43" name="Shape 41"/>
          <p:cNvSpPr/>
          <p:nvPr/>
        </p:nvSpPr>
        <p:spPr>
          <a:xfrm>
            <a:off x="621792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44" name="Shape 42"/>
          <p:cNvSpPr/>
          <p:nvPr/>
        </p:nvSpPr>
        <p:spPr>
          <a:xfrm>
            <a:off x="786384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AI带来的三个新问题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85800" cy="1188720"/>
          </a:xfrm>
          <a:prstGeom prst="roundRect">
            <a:avLst>
              <a:gd name="adj" fmla="val 10667"/>
            </a:avLst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188720"/>
            <a:ext cx="274320" cy="1188720"/>
          </a:xfrm>
          <a:prstGeom prst="rect">
            <a:avLst/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129844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责任归属模糊了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64592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传统：调薪结果 → 员工质疑 → 老板承担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90195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AI介入后：调薪结果 → 员工质疑 → "是系统算的" → 责任稀释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25880" y="199339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99339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74520" y="199339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员工找不到真正负责的人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60320"/>
            <a:ext cx="685800" cy="1188720"/>
          </a:xfrm>
          <a:prstGeom prst="roundRect">
            <a:avLst>
              <a:gd name="adj" fmla="val 10667"/>
            </a:avLst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560320"/>
            <a:ext cx="274320" cy="1188720"/>
          </a:xfrm>
          <a:prstGeom prst="rect">
            <a:avLst/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6032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25880" y="267004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员工感知从"静态档案"变成"动态数据"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01752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以前：薪资就是HR系统里的一个数字，每年调一次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327355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现在：薪酬仪表盘实时显示市场价值、绩效关联、内部排名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325880" y="336499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36499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4520" y="336499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从"一年一次的惊喜/惊吓"变成"随时可见的焦虑/期待"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31920"/>
            <a:ext cx="685800" cy="1188720"/>
          </a:xfrm>
          <a:prstGeom prst="roundRect">
            <a:avLst>
              <a:gd name="adj" fmla="val 10667"/>
            </a:avLst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931920"/>
            <a:ext cx="274320" cy="1188720"/>
          </a:xfrm>
          <a:prstGeom prst="rect">
            <a:avLst/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31920"/>
            <a:ext cx="685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25880" y="404164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跨文化管理的薪酬对话难度增加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5880" y="43891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欧盟2023年Pay Transparency Directive实施；英国要求250人以上雇主披露性别薪酬差距；美国部分州要求薪酬范围透明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325880" y="4736592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4736592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74520" y="473659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同样调薪决定，对不同国家员工解释方式不同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754880"/>
            <a:ext cx="73152" cy="73152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475488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" y="475488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员工对"AI调薪"的典型担忧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员工担忧的不是笼统的"我不信任AI"，而是可以细分为四个类型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C45C3E">
              <a:alpha val="88000"/>
            </a:srgbClr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管理者最常见的误区，是用'讲道理'的方式回应员工情感层面的担忧</a:t>
            </a:r>
            <a:pPr algn="ctr" indent="0" marL="0">
              <a:buNone/>
            </a:pPr>
            <a:r>
              <a:rPr lang="en-US" sz="24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109728" cy="1234440"/>
          </a:xfrm>
          <a:prstGeom prst="roundRect">
            <a:avLst>
              <a:gd name="adj" fmla="val 83333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871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算法黑箱担忧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529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"我不知道系统怎么想我的"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347472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我想知道标准是什么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377440"/>
            <a:ext cx="109728" cy="1234440"/>
          </a:xfrm>
          <a:prstGeom prst="roundRect">
            <a:avLst>
              <a:gd name="adj" fmla="val 83333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4871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尊严担忧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8529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"我被当成数据而不是人了"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3200400"/>
            <a:ext cx="347472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246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我的贡献被看见了吗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109728" cy="1234440"/>
          </a:xfrm>
          <a:prstGeom prst="roundRect">
            <a:avLst>
              <a:gd name="adj" fmla="val 83333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959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公平担忧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"算法会不会歧视我"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709160"/>
            <a:ext cx="347472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754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我有没有被公正对待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886200"/>
            <a:ext cx="109728" cy="1234440"/>
          </a:xfrm>
          <a:prstGeom prst="roundRect">
            <a:avLst>
              <a:gd name="adj" fmla="val 83333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9959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无能为力担忧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83480" y="43616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"既然是算法定的，我还能做什么"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4709160"/>
            <a:ext cx="347472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4754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我还有争取的空间吗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73152" cy="73152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475488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" y="475488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为什么"AI调薪"特别容易引发不信任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8B2635">
              <a:alpha val="8000"/>
            </a:srgbClr>
          </a:solidFill>
          <a:ln w="19050">
            <a:solidFill>
              <a:srgbClr val="8B26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109728" cy="86868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行为经济学概念：算法厌恶（Algorithm Aversion）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人们更愿意接受人工决策的错误，更难以接受算法决策的错误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即使算法明显比人工更准确，这种倾向依然存在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977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65960"/>
            <a:ext cx="397764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原因一：算法不透明让人感觉"无法申辩"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人工决策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00200" y="256032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D4C5C5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560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觉得不公平，可以找老板吵一架，可以哭，可以闹，可以威胁要走。老板可能会心软，可能会改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算法决策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00200" y="288036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8B2635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跟谁吵？系统不会心软，不会解释，不会因为你威胁而改变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C45C3E">
              <a:alpha val="1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918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7472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被锁在一个封闭的系统里，没有入口，没有出口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54864" cy="54864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3931920"/>
            <a:ext cx="54864" cy="54864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5840" y="3931920"/>
            <a:ext cx="54864" cy="54864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1965960"/>
            <a:ext cx="39776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965960"/>
            <a:ext cx="3977640" cy="7315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14884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原因二：算法不承认"例外情况"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25603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人的判断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256032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D4C5C5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2560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老板可以说"你这个情况特殊，我特批了"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8803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算法讲规则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288036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8B2635">
              <a:alpha val="1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例外申请要走另一个流程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3246120"/>
            <a:ext cx="3611880" cy="457200"/>
          </a:xfrm>
          <a:prstGeom prst="roundRect">
            <a:avLst>
              <a:gd name="adj" fmla="val 12000"/>
            </a:avLst>
          </a:prstGeom>
          <a:solidFill>
            <a:srgbClr val="8B2635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29184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员工担心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3474720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如果我有特殊情况，系统能不能理解我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83480" y="3931920"/>
            <a:ext cx="54864" cy="54864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3931920"/>
            <a:ext cx="54864" cy="54864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36" name="Shape 34"/>
          <p:cNvSpPr/>
          <p:nvPr/>
        </p:nvSpPr>
        <p:spPr>
          <a:xfrm>
            <a:off x="5257800" y="3931920"/>
            <a:ext cx="54864" cy="54864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43891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5C3E">
              <a:alpha val="12000"/>
            </a:srgbClr>
          </a:solidFill>
          <a:ln w="19050">
            <a:solidFill>
              <a:srgbClr val="C45C3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389120"/>
            <a:ext cx="109728" cy="50292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3891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  </a:t>
            </a:r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员工真正担心的不是"AI会不会算错"，而是"如果我有特殊情况，系统能不能理解我"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来自真实HR调研的员工担忧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2024年HR科技公司调研（经脱敏处理）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4023360" cy="1078992"/>
          </a:xfrm>
          <a:prstGeom prst="roundRect">
            <a:avLst>
              <a:gd name="adj" fmla="val 8475"/>
            </a:avLst>
          </a:prstGeom>
          <a:solidFill>
            <a:srgbClr val="D4C5C5">
              <a:alpha val="25000"/>
            </a:srgbClr>
          </a:solidFill>
          <a:ln w="10160">
            <a:solidFill>
              <a:srgbClr val="D4C5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73152" cy="80467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C3E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347472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我不知道系统是怎么判断我值多少钱的，感觉像个黑箱，我只拿到了一个数字，没有解释。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0" y="21305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5C3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D4C5C5">
              <a:alpha val="25000"/>
            </a:srgbClr>
          </a:solidFill>
          <a:ln w="10160">
            <a:solidFill>
              <a:srgbClr val="D4C5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91640"/>
            <a:ext cx="73152" cy="6858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00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63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调薪的时候老板说'这是系统算的'，好像他自己没有发言权一样。我就想问他：你觉得我值多少？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3880" y="21488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2635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D4C5C5">
              <a:alpha val="25000"/>
            </a:srgbClr>
          </a:solidFill>
          <a:ln w="10160">
            <a:solidFill>
              <a:srgbClr val="D4C5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9504"/>
            <a:ext cx="73152" cy="8686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9806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C3E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77240" y="2980944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我看到系统给我的市场参考值是80分位，但最后调完我算了一下，只相当于50分位。那这个系统到底在干什么？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352958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5C3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4014216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D4C5C5">
              <a:alpha val="25000"/>
            </a:srgbClr>
          </a:solidFill>
          <a:ln w="10160">
            <a:solidFill>
              <a:srgbClr val="D4C5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4151376"/>
            <a:ext cx="73152" cy="64008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40599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263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983480" y="42428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我知道AI可能比人更客观，但我还是更相信我的老板亲口告诉我，而不是一张系统生成的通知单。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456285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B2635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51376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D4C5C5">
              <a:alpha val="25000"/>
            </a:srgbClr>
          </a:solidFill>
          <a:ln w="10160">
            <a:solidFill>
              <a:srgbClr val="D4C5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88536"/>
            <a:ext cx="73152" cy="96012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970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C3E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77240" y="4379976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如果我的调薪是算法决定的，那是不是意味着我的努力可以被量化、被预测？那我工作的意义是什么？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502005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45C3E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64008" cy="640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" y="489204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" y="489204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管理者的三重角色冲突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CONFLICTING ROLES OF MANAGERS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2743200" cy="1737360"/>
          </a:xfrm>
          <a:prstGeom prst="ellipse">
            <a:avLst/>
          </a:prstGeom>
          <a:solidFill>
            <a:srgbClr val="8B2635">
              <a:alpha val="88000"/>
            </a:srgbClr>
          </a:solidFill>
          <a:ln w="19050">
            <a:solidFill>
              <a:srgbClr val="8B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效率执行者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/ HR 立场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"用AI提效，我负责执行就行"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这是HR和系统希望你承担的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737360"/>
            <a:ext cx="3017520" cy="1920240"/>
          </a:xfrm>
          <a:prstGeom prst="ellipse">
            <a:avLst/>
          </a:prstGeom>
          <a:solidFill>
            <a:srgbClr val="C45C3E">
              <a:alpha val="85000"/>
            </a:srgbClr>
          </a:solidFill>
          <a:ln w="25400">
            <a:solidFill>
              <a:srgbClr val="C45C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为薪酬结果负责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26080" y="2331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 核心职责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2697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"我为薪酬结果向员工负责"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这是你自己需要主动承担的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828800"/>
            <a:ext cx="2743200" cy="1737360"/>
          </a:xfrm>
          <a:prstGeom prst="ellipse">
            <a:avLst/>
          </a:prstGeom>
          <a:solidFill>
            <a:srgbClr val="4A4A4A">
              <a:alpha val="88000"/>
            </a:srgbClr>
          </a:solidFill>
          <a:ln w="19050">
            <a:solidFill>
              <a:srgbClr val="4A4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965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信任守门人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Employee 立场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2651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"我要让员工理解并接受这个决定"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06440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这是员工希望你承担的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D4C5C5">
              <a:alpha val="5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94760"/>
            <a:ext cx="91440" cy="105156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679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三个角色之间存在天然张力：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1422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你想快点完成流程（效率）</a:t>
            </a:r>
            <a:pPr algn="l" indent="0" marL="0">
              <a:buNone/>
            </a:pPr>
            <a:r>
              <a:rPr lang="en-US" sz="11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vs  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员工想多聊几句（信任）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343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系统希望你"按建议执行"</a:t>
            </a:r>
            <a:pPr algn="l" indent="0" marL="0">
              <a:buNone/>
            </a:pPr>
            <a:r>
              <a:rPr lang="en-US" sz="11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vs  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员工希望你"为他争取"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5445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你觉得自己"只是个传达者"</a:t>
            </a:r>
            <a:pPr algn="l" indent="0" marL="0">
              <a:buNone/>
            </a:pPr>
            <a:r>
              <a:rPr lang="en-US" sz="11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vs  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员工觉得"你就是决策者"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64008" cy="640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28" name="Shape 26"/>
          <p:cNvSpPr/>
          <p:nvPr/>
        </p:nvSpPr>
        <p:spPr>
          <a:xfrm>
            <a:off x="786384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管理者最常踩的三个坑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914400" cy="2743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这三个误区，分别从不同角度破坏了员工对管理者的信任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594360" cy="1143000"/>
          </a:xfrm>
          <a:prstGeom prst="roundRect">
            <a:avLst>
              <a:gd name="adj" fmla="val 15385"/>
            </a:avLst>
          </a:prstGeom>
          <a:solidFill>
            <a:srgbClr val="C45C3E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坑1：把AI建议当成挡箭牌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180136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4A4A4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80136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管理者说："这是系统算的，我也改不了。"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88720" y="210312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C45C3E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1031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084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员工感受："所以你只是个传声筒？那我要你干嘛？"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46304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8B2635">
              <a:alpha val="5000"/>
            </a:srgbClr>
          </a:solidFill>
          <a:ln w="6350">
            <a:solidFill>
              <a:srgbClr val="8B2635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5087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伤害分析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17647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双重伤害——① 让员工觉得管理者没有裁量权（无能）；② 让员工觉得管理者不愿意为他说话（无义）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33472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33472"/>
            <a:ext cx="594360" cy="1143000"/>
          </a:xfrm>
          <a:prstGeom prst="roundRect">
            <a:avLst>
              <a:gd name="adj" fmla="val 15385"/>
            </a:avLst>
          </a:prstGeom>
          <a:solidFill>
            <a:srgbClr val="C45C3E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33472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88720" y="2724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坑2：把数字解释当成对话的全部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88720" y="310896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4A4A4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108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0906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管理者说："你的调薪是12%，市场数据是P50分位，你的绩效是A，这个数字已经很好了。"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88720" y="341071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C45C3E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341071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3924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员工感受："你说的是数字，我想知道的是你怎么看我。"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03520" y="2770632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8B2635">
              <a:alpha val="5000"/>
            </a:srgbClr>
          </a:solidFill>
          <a:ln w="6350">
            <a:solidFill>
              <a:srgbClr val="8B2635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28163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伤害分析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307238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数字讲完了，对话就结束了？员工真正想问的藏在数字背后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41064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941064"/>
            <a:ext cx="594360" cy="1143000"/>
          </a:xfrm>
          <a:prstGeom prst="roundRect">
            <a:avLst>
              <a:gd name="adj" fmla="val 15385"/>
            </a:avLst>
          </a:prstGeom>
          <a:solidFill>
            <a:srgbClr val="C45C3E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41064"/>
            <a:ext cx="594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188720" y="4032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坑3：回避"为什么别人比我多"的问题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88720" y="441655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4A4A4A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441655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20240" y="43982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管理者说："薪酬是保密的，我不能告诉你别人的具体情况。"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188720" y="4718304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C45C3E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471830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920240" y="47000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员工感受："你不告诉我，是不是说明我的确比别人少？你在捂着盖子。"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03520" y="4078224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8B2635">
              <a:alpha val="5000"/>
            </a:srgbClr>
          </a:solidFill>
          <a:ln w="6350">
            <a:solidFill>
              <a:srgbClr val="8B2635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40680" y="41239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伤害分析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0680" y="437997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"薪酬保密"堵住了问题，没有解决问题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892040"/>
            <a:ext cx="64008" cy="640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" y="489204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46" name="Shape 44"/>
          <p:cNvSpPr/>
          <p:nvPr/>
        </p:nvSpPr>
        <p:spPr>
          <a:xfrm>
            <a:off x="786384" y="489204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管理者需要的"新基本功"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面对AI调薪决策，管理者需要四项新能力来重建信任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457200" cy="1554480"/>
          </a:xfrm>
          <a:prstGeom prst="roundRect">
            <a:avLst>
              <a:gd name="adj" fmla="val 20000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3736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737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709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AI逻辑解读能力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0756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能向员工解释清楚，哪些是AI数据，哪些是人工判断，两个轨道之间是什么关系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2697480"/>
            <a:ext cx="315468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43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</a:t>
            </a:r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这是"翻译者"角色的基础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600200"/>
            <a:ext cx="457200" cy="1554480"/>
          </a:xfrm>
          <a:prstGeom prst="roundRect">
            <a:avLst>
              <a:gd name="adj" fmla="val 20000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64608" y="173736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17373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17099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透明披露习惯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20756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主动说明AI数据轨的内容，而不是等员工问了才挤牙膏式地透露一点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2697480"/>
            <a:ext cx="315468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743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</a:t>
            </a:r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透明是信任的第一块砖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429000"/>
            <a:ext cx="457200" cy="1554480"/>
          </a:xfrm>
          <a:prstGeom prst="roundRect">
            <a:avLst>
              <a:gd name="adj" fmla="val 20000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56616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566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3538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逻辑叙事能力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9044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能把调薪决策用"因为…所以…"的结构讲清楚，让员工看到决策的逻辑链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05840" y="4526280"/>
            <a:ext cx="315468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572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</a:t>
            </a:r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让员工从"被通知"变成"被说服"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290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29000"/>
            <a:ext cx="457200" cy="1554480"/>
          </a:xfrm>
          <a:prstGeom prst="roundRect">
            <a:avLst>
              <a:gd name="adj" fmla="val 20000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356616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356616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353872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情感连接能力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0" y="39044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在理性解释之外，表达对员工个人贡献的认可、对员工感受的关心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03520" y="4526280"/>
            <a:ext cx="315468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45720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</a:t>
            </a:r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薪酬对话不只是谈数字，是谈关系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754880"/>
            <a:ext cx="73152" cy="73152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" y="475488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" y="475488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模块一要点回顾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KEY TAKEAWAYS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D4C5C5">
              <a:alpha val="3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544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薪酬决策链演变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从"人决定钱"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到"人机共决"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AI参与薪酬决策四个层级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人工主导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AI辅助建议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AI生成+人工审批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AI主导+人工执行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D4C5C5">
              <a:alpha val="3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5544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员工担忧四个类型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01168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算法黑箱 / 尊严担忧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公平担忧 / 无能为力担忧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深层原因：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算法厌恶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缺乏申辩通道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D4C5C5">
              <a:alpha val="3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5544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158191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管理者三重角色冲突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3317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效率执行者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信任守门人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vs 为结果负责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三个常踩的坑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四项新基本功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8B2635">
              <a:alpha val="8000"/>
            </a:srgbClr>
          </a:solidFill>
          <a:ln w="19050">
            <a:solidFill>
              <a:srgbClr val="8B26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94760"/>
            <a:ext cx="109728" cy="100584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904488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044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3886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"AI进入薪酬决策，让这件事从'人工解释人工决策'变成了'人工解释AI决策'"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74520" y="42976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"管理者不能只做效率执行者，还要做信任守门人"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937760"/>
            <a:ext cx="64008" cy="640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28" name="Shape 26"/>
          <p:cNvSpPr/>
          <p:nvPr/>
        </p:nvSpPr>
        <p:spPr>
          <a:xfrm>
            <a:off x="786384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114800"/>
            <a:ext cx="1371600" cy="7315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4297680"/>
            <a:ext cx="731520" cy="73152"/>
          </a:xfrm>
          <a:prstGeom prst="rect">
            <a:avLst/>
          </a:prstGeom>
          <a:solidFill>
            <a:srgbClr val="C45C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2635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调薪决策的双轨结构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AI数据轨与人工判断轨，各自负责什么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2286000" cy="36576"/>
          </a:xfrm>
          <a:prstGeom prst="rect">
            <a:avLst/>
          </a:prstGeom>
          <a:solidFill>
            <a:srgbClr val="C45C3E">
              <a:alpha val="60000"/>
            </a:srgbClr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人工判断轨：四个考量维度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人工判断轨的四个核心维度，每个维度都有其独特作用和特点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C45C3E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6184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业务考量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部门战略优先级、当前项目重要性、人员留存风险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为组织关键人才倾斜资源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587752"/>
            <a:ext cx="356616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243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前瞻性、非标准化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17320"/>
            <a:ext cx="393192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600200"/>
            <a:ext cx="411480" cy="411480"/>
          </a:xfrm>
          <a:prstGeom prst="ellipse">
            <a:avLst/>
          </a:prstGeom>
          <a:solidFill>
            <a:srgbClr val="C45C3E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16184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团队平衡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同级别员工的相对表现、团队内部公平性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避免内部公平冲突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2587752"/>
            <a:ext cx="356616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6243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主观性、需要判断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63240"/>
            <a:ext cx="393192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246120"/>
            <a:ext cx="411480" cy="411480"/>
          </a:xfrm>
          <a:prstGeom prst="ellipse">
            <a:avLst/>
          </a:prstGeom>
          <a:solidFill>
            <a:srgbClr val="C45C3E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3000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未来潜力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0080" y="3721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尚未体现在绩效数据中的价值（主动性强、学习速度快）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977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为高潜力人才预留增长空间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233672"/>
            <a:ext cx="356616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2702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预测性、不确定性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06324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063240"/>
            <a:ext cx="393192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34" name="Shape 32"/>
          <p:cNvSpPr/>
          <p:nvPr/>
        </p:nvSpPr>
        <p:spPr>
          <a:xfrm>
            <a:off x="4937760" y="3246120"/>
            <a:ext cx="411480" cy="411480"/>
          </a:xfrm>
          <a:prstGeom prst="ellipse">
            <a:avLst/>
          </a:prstGeom>
          <a:solidFill>
            <a:srgbClr val="C45C3E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40680" y="3264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特殊贡献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937760" y="3721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一次性重大贡献、创新项目、危机处理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37760" y="3977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作用：</a:t>
            </a:r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对不可量化价值的认可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4233672"/>
            <a:ext cx="356616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42702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例外情况、需要特批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5C3E">
              <a:alpha val="90000"/>
            </a:srgbClr>
          </a:solidFill>
          <a:ln w="6350">
            <a:solidFill>
              <a:srgbClr val="C45C3E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2519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人工判断轨特征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331720" y="4361688"/>
            <a:ext cx="13716" cy="292608"/>
          </a:xfrm>
          <a:prstGeom prst="rect">
            <a:avLst/>
          </a:prstGeom>
          <a:solidFill>
            <a:srgbClr val="C45C3E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514600" y="436168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45C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14600" y="43616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主观性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931920" y="436168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45C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0" y="43616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灵活性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349240" y="436168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45C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43616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情境相关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766560" y="436168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C45C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36168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需要解释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412480" y="4663440"/>
            <a:ext cx="91440" cy="91440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53" name="Shape 51"/>
          <p:cNvSpPr/>
          <p:nvPr/>
        </p:nvSpPr>
        <p:spPr>
          <a:xfrm>
            <a:off x="8229600" y="4663440"/>
            <a:ext cx="91440" cy="91440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54" name="Shape 52"/>
          <p:cNvSpPr/>
          <p:nvPr/>
        </p:nvSpPr>
        <p:spPr>
          <a:xfrm>
            <a:off x="8046720" y="4663440"/>
            <a:ext cx="91440" cy="91440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为什么两者都重要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645920" cy="2286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AI数据轨 + 人工判断轨 = 公正且有温度的调薪决策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C45C3E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3931920" cy="1828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280160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280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AI数据轨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169164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客观性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基于市场数据，避免主观偏差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同一标准衡量所有员工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透明度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可追溯的数据来源和计算逻辑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8B2635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1417320"/>
            <a:ext cx="3931920" cy="18288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1280160"/>
            <a:ext cx="256032" cy="256032"/>
          </a:xfrm>
          <a:prstGeom prst="ellipse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280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人工判断轨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1691640"/>
            <a:ext cx="3474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人性化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考虑员工个人贡献和特殊情况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灵活性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在规则框架内保留调整空间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责任感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管理者为决策结果负责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18288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C5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D4C5C5">
              <a:alpha val="5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4300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为什么两者缺一不可？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657600"/>
            <a:ext cx="7132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只有AI数据轨：冷冰冰的数字，员工觉得被当作数据而非人。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只有人工判断轨：缺乏依据的判断，员工质疑公平性。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两者结合：数据支撑说服力，人性赋予温度。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“信任不是靠完美答案建立的，而是靠真诚的解释。”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45720"/>
          </a:xfrm>
          <a:prstGeom prst="rect">
            <a:avLst/>
          </a:prstGeom>
          <a:solidFill>
            <a:srgbClr val="D4C5C5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412480" y="4617720"/>
            <a:ext cx="548640" cy="36576"/>
          </a:xfrm>
          <a:prstGeom prst="rect">
            <a:avLst/>
          </a:prstGeom>
          <a:solidFill>
            <a:srgbClr val="C45C3E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0" y="4434840"/>
            <a:ext cx="320040" cy="36576"/>
          </a:xfrm>
          <a:prstGeom prst="rect">
            <a:avLst/>
          </a:prstGeom>
          <a:solidFill>
            <a:srgbClr val="8B2635">
              <a:alpha val="40000"/>
            </a:srgbClr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三步信任重建法：第三步——情感连接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2926080" cy="320040"/>
          </a:xfrm>
          <a:prstGeom prst="roundRect">
            <a:avLst>
              <a:gd name="adj" fmla="val 22857"/>
            </a:avLst>
          </a:prstGeom>
          <a:solidFill>
            <a:srgbClr val="D4C5C5">
              <a:alpha val="50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961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核心理念：承认局限，表达关心，建立关系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0" cy="3200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为什么情感连接重要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91440" cy="91440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薪酬对话不只是谈数字，是谈关系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65376"/>
            <a:ext cx="91440" cy="91440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员工要的不只是"公平"，还要"被看见"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865376"/>
            <a:ext cx="91440" cy="91440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17556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数字讲完了，关系才刚刚开始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情感连接的四个表达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1965960" cy="7315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651760"/>
            <a:ext cx="292608" cy="292608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6517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承认局限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035808"/>
            <a:ext cx="1746504" cy="594360"/>
          </a:xfrm>
          <a:prstGeom prst="roundRect">
            <a:avLst>
              <a:gd name="adj" fmla="val 9231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06324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"我能调整的空间确实有限"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3730752"/>
            <a:ext cx="1746504" cy="320040"/>
          </a:xfrm>
          <a:prstGeom prst="roundRect">
            <a:avLst>
              <a:gd name="adj" fmla="val 17143"/>
            </a:avLst>
          </a:prstGeom>
          <a:solidFill>
            <a:srgbClr val="8B2635">
              <a:alpha val="15000"/>
            </a:srgbClr>
          </a:solidFill>
          <a:ln w="6350">
            <a:solidFill>
              <a:srgbClr val="8B26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730752"/>
            <a:ext cx="1636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让员工知道你在尽力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24688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06040" y="2468880"/>
            <a:ext cx="196596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25" name="Shape 23"/>
          <p:cNvSpPr/>
          <p:nvPr/>
        </p:nvSpPr>
        <p:spPr>
          <a:xfrm>
            <a:off x="2743200" y="2651760"/>
            <a:ext cx="292608" cy="2926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26517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看见贡献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15768" y="3035808"/>
            <a:ext cx="1746504" cy="594360"/>
          </a:xfrm>
          <a:prstGeom prst="roundRect">
            <a:avLst>
              <a:gd name="adj" fmla="val 9231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0632" y="306324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"我记得你去年做了XXX"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15768" y="3730752"/>
            <a:ext cx="1746504" cy="320040"/>
          </a:xfrm>
          <a:prstGeom prst="roundRect">
            <a:avLst>
              <a:gd name="adj" fmla="val 17143"/>
            </a:avLst>
          </a:prstGeom>
          <a:solidFill>
            <a:srgbClr val="C45C3E">
              <a:alpha val="15000"/>
            </a:srgbClr>
          </a:solidFill>
          <a:ln w="6350">
            <a:solidFill>
              <a:srgbClr val="C45C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3730752"/>
            <a:ext cx="1636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让员工知道你在关注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4688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468880"/>
            <a:ext cx="1965960" cy="7315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040" y="2651760"/>
            <a:ext cx="292608" cy="292608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57800" y="26517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表达期待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64608" y="3035808"/>
            <a:ext cx="1746504" cy="594360"/>
          </a:xfrm>
          <a:prstGeom prst="roundRect">
            <a:avLst>
              <a:gd name="adj" fmla="val 9231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06324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"我对你的下一步发展有期待"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64608" y="3730752"/>
            <a:ext cx="1746504" cy="320040"/>
          </a:xfrm>
          <a:prstGeom prst="roundRect">
            <a:avLst>
              <a:gd name="adj" fmla="val 17143"/>
            </a:avLst>
          </a:prstGeom>
          <a:solidFill>
            <a:srgbClr val="8B2635">
              <a:alpha val="15000"/>
            </a:srgbClr>
          </a:solidFill>
          <a:ln w="6350">
            <a:solidFill>
              <a:srgbClr val="8B26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3730752"/>
            <a:ext cx="1636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让员工看到未来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03720" y="246888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2468880"/>
            <a:ext cx="1965960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3" name="Shape 41"/>
          <p:cNvSpPr/>
          <p:nvPr/>
        </p:nvSpPr>
        <p:spPr>
          <a:xfrm>
            <a:off x="7040880" y="2651760"/>
            <a:ext cx="292608" cy="2926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44" name="Text 42"/>
          <p:cNvSpPr/>
          <p:nvPr/>
        </p:nvSpPr>
        <p:spPr>
          <a:xfrm>
            <a:off x="7040880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06640" y="265176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开放对话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013448" y="3035808"/>
            <a:ext cx="1746504" cy="594360"/>
          </a:xfrm>
          <a:prstGeom prst="roundRect">
            <a:avLst>
              <a:gd name="adj" fmla="val 9231"/>
            </a:avLst>
          </a:prstGeom>
          <a:solidFill>
            <a:srgbClr val="D4C5C5">
              <a:alpha val="3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68312" y="3063240"/>
            <a:ext cx="16367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"你有什么想问的，或者有什么想法"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13448" y="3730752"/>
            <a:ext cx="1746504" cy="320040"/>
          </a:xfrm>
          <a:prstGeom prst="roundRect">
            <a:avLst>
              <a:gd name="adj" fmla="val 17143"/>
            </a:avLst>
          </a:prstGeom>
          <a:solidFill>
            <a:srgbClr val="C45C3E">
              <a:alpha val="15000"/>
            </a:srgbClr>
          </a:solidFill>
          <a:ln w="6350">
            <a:solidFill>
              <a:srgbClr val="C45C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68312" y="3730752"/>
            <a:ext cx="16367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</a:t>
            </a:r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邀请员工参与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315968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8B2635">
              <a:alpha val="5000"/>
            </a:srgbClr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4453128"/>
            <a:ext cx="914400" cy="320040"/>
          </a:xfrm>
          <a:prstGeom prst="roundRect">
            <a:avLst>
              <a:gd name="adj" fmla="val 17143"/>
            </a:avLst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445312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三步法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737360" y="44256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3736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透明披露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737360" y="4608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(讲清楚)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566160" y="442569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3886200" y="44256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8620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逻辑呈现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3886200" y="4608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(说服)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715000" y="4425696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035040" y="4425696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8B2635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0" y="44074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情感连接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035040" y="460857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(连接)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937760"/>
            <a:ext cx="64008" cy="640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65" name="Shape 63"/>
          <p:cNvSpPr/>
          <p:nvPr/>
        </p:nvSpPr>
        <p:spPr>
          <a:xfrm>
            <a:off x="621792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66" name="Shape 64"/>
          <p:cNvSpPr/>
          <p:nvPr/>
        </p:nvSpPr>
        <p:spPr>
          <a:xfrm>
            <a:off x="786384" y="4937760"/>
            <a:ext cx="64008" cy="64008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三步信任重建法：完整话术模板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731520" cy="2743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96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完整对话示例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8B2635">
              <a:alpha val="92000"/>
            </a:srgbClr>
          </a:solidFill>
          <a:ln w="19050">
            <a:solidFill>
              <a:srgbClr val="8B2635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89888"/>
            <a:ext cx="548640" cy="219456"/>
          </a:xfrm>
          <a:prstGeom prst="roundRect">
            <a:avLst>
              <a:gd name="adj" fmla="val 20833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3533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"小李，先说一下今年的调薪结果——你的调薪幅度是12%。"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031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2606040" cy="182880"/>
          </a:xfrm>
          <a:prstGeom prst="rect">
            <a:avLst/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7627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第1步：透明披露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2606040"/>
            <a:ext cx="2386584" cy="2057400"/>
          </a:xfrm>
          <a:prstGeom prst="roundRect">
            <a:avLst>
              <a:gd name="adj" fmla="val 2667"/>
            </a:avLst>
          </a:prstGeom>
          <a:solidFill>
            <a:srgbClr val="FAF8F7"/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9748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"小李，先说一下今年的调薪结果——你的调薪幅度是12%。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这个数字是怎么来的？我跟你拆开说：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第一，市场数据。你现在拿的薪资，比市场上同类岗位的中位数低了15%左右。这是我们通过第三方薪酬调研平台拉的数据。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第二，你的绩效。去年你的绩效是A。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第三，我自己的判断。数据是一方面，我看你去年带队做了两个关键项目……"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68980" y="210312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68980" y="21031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68980" y="2331720"/>
            <a:ext cx="2606040" cy="182880"/>
          </a:xfrm>
          <a:prstGeom prst="rect">
            <a:avLst/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06140" y="217627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0614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2618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第2步：逻辑呈现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78708" y="2606040"/>
            <a:ext cx="2386584" cy="2057400"/>
          </a:xfrm>
          <a:prstGeom prst="roundRect">
            <a:avLst>
              <a:gd name="adj" fmla="val 2667"/>
            </a:avLst>
          </a:prstGeom>
          <a:solidFill>
            <a:srgbClr val="FAF8F7"/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1860" y="269748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"系统里调薪建议是先看绩效等级，再对市场偏差做修正。所以这个数字是这样来的……"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210312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21031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4A4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2331720"/>
            <a:ext cx="2606040" cy="182880"/>
          </a:xfrm>
          <a:prstGeom prst="rect">
            <a:avLst/>
          </a:prstGeom>
          <a:solidFill>
            <a:srgbClr val="4A4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17627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1762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37960" y="21762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第3步：情感连接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90488" y="2606040"/>
            <a:ext cx="2386584" cy="2057400"/>
          </a:xfrm>
          <a:prstGeom prst="roundRect">
            <a:avLst>
              <a:gd name="adj" fmla="val 2667"/>
            </a:avLst>
          </a:prstGeom>
          <a:solidFill>
            <a:srgbClr val="FAF8F7"/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697480"/>
            <a:ext cx="2240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"当然，这个数字也不只是我一个人定的——它是系统建议加我的上报，最终是CEO办公室审批的。我能调整的空间确实有限，但我争取过。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你有没有什么想问的？"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892040"/>
            <a:ext cx="54864" cy="54864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4892040"/>
            <a:ext cx="54864" cy="54864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4892040"/>
            <a:ext cx="54864" cy="54864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114800"/>
            <a:ext cx="1371600" cy="7315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4297680"/>
            <a:ext cx="731520" cy="73152"/>
          </a:xfrm>
          <a:prstGeom prst="rect">
            <a:avLst/>
          </a:prstGeom>
          <a:solidFill>
            <a:srgbClr val="C45C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2635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三步信任重建法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透明披露 → 逻辑呈现 → 情感连接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2286000" cy="36576"/>
          </a:xfrm>
          <a:prstGeom prst="rect">
            <a:avLst/>
          </a:prstGeom>
          <a:solidFill>
            <a:srgbClr val="C45C3E">
              <a:alpha val="60000"/>
            </a:srgbClr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114800"/>
            <a:ext cx="1371600" cy="7315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4297680"/>
            <a:ext cx="731520" cy="73152"/>
          </a:xfrm>
          <a:prstGeom prst="rect">
            <a:avLst/>
          </a:prstGeom>
          <a:solidFill>
            <a:srgbClr val="C45C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2635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三步信任重建法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透明披露 → 逻辑呈现 → 情感连接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2286000" cy="36576"/>
          </a:xfrm>
          <a:prstGeom prst="rect">
            <a:avLst/>
          </a:prstGeom>
          <a:solidFill>
            <a:srgbClr val="C45C3E">
              <a:alpha val="60000"/>
            </a:srgbClr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场景四：市场偏低调薪解释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最难开口的对话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0" cy="2286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8B2635">
              <a:alpha val="94000"/>
            </a:srgbClr>
          </a:solidFill>
          <a:ln w="12700">
            <a:solidFill>
              <a:srgbClr val="8B2635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4416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441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场景背景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673352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673352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62456" y="1673352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63624" y="1673352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64792" y="1673352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C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19476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员工薪资低于市场水平，本次调薪后仍低于市场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258568"/>
            <a:ext cx="3017520" cy="256032"/>
          </a:xfrm>
          <a:prstGeom prst="roundRect">
            <a:avLst>
              <a:gd name="adj" fmla="val 17857"/>
            </a:avLst>
          </a:prstGeom>
          <a:solidFill>
            <a:srgbClr val="C45C3E">
              <a:alpha val="15000"/>
            </a:srgbClr>
          </a:solidFill>
          <a:ln w="6350">
            <a:solidFill>
              <a:srgbClr val="C45C3E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585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特点：需要承认问题，同时给出解决方案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1234440"/>
            <a:ext cx="4754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69080" y="1344168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对话要点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0" y="1691640"/>
            <a:ext cx="182880" cy="182880"/>
          </a:xfrm>
          <a:prstGeom prst="ellipse">
            <a:avLst/>
          </a:prstGeom>
          <a:solidFill>
            <a:srgbClr val="8B2635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1691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1673352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坦诚承认：你的薪资确实低于市场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1929384"/>
            <a:ext cx="182880" cy="182880"/>
          </a:xfrm>
          <a:prstGeom prst="ellipse">
            <a:avLst/>
          </a:prstGeom>
          <a:solidFill>
            <a:srgbClr val="8B2635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192938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1911096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解释原因：为什么存在这个差距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2167128"/>
            <a:ext cx="182880" cy="182880"/>
          </a:xfrm>
          <a:prstGeom prst="ellipse">
            <a:avLst/>
          </a:prstGeom>
          <a:solidFill>
            <a:srgbClr val="8B2635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0" y="216712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2148840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说明现状：这次调薪能改变多少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0" y="2404872"/>
            <a:ext cx="182880" cy="182880"/>
          </a:xfrm>
          <a:prstGeom prst="ellipse">
            <a:avLst/>
          </a:prstGeom>
          <a:solidFill>
            <a:srgbClr val="8B2635">
              <a:alpha val="8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0" y="240487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2386584"/>
            <a:ext cx="4114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给出路径：未来怎么做才能追上来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2788920"/>
            <a:ext cx="8229600" cy="2011680"/>
          </a:xfrm>
          <a:prstGeom prst="roundRect">
            <a:avLst>
              <a:gd name="adj" fmla="val 5455"/>
            </a:avLst>
          </a:prstGeom>
          <a:solidFill>
            <a:srgbClr val="8B2635">
              <a:alpha val="96000"/>
            </a:srgbClr>
          </a:solidFill>
          <a:ln w="19050">
            <a:solidFill>
              <a:srgbClr val="8B2635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788920"/>
            <a:ext cx="8229600" cy="73152"/>
          </a:xfrm>
          <a:prstGeom prst="rect">
            <a:avLst/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2816352"/>
            <a:ext cx="8229600" cy="45720"/>
          </a:xfrm>
          <a:prstGeom prst="rect">
            <a:avLst/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2971800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29718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331927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"小李，先说结果——你的调薪是5%。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0080" y="355701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我想跟你坦诚一件事：你现在的薪资，确实低于市场水平。大概低了15%左右。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40080" y="379476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这个差距是怎么来的……（历史原因说明）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403250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这次调薪5%，能缩小一部分差距，但还不足以完全追平。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" y="427024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我的建议是：……（未来路径）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40080" y="450799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我会持续关注市场变化，如果有机会，我会第一时间为你争取。"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7200" y="4892040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4A4A4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9204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员工可能的反应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691640" y="487375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D4C5C5">
              <a:alpha val="5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91640" y="48737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"那我不是一直亏了？"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46120" y="48737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解释历史原因和未来路径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49240" y="4965192"/>
            <a:ext cx="54864" cy="54864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49" name="Shape 47"/>
          <p:cNvSpPr/>
          <p:nvPr/>
        </p:nvSpPr>
        <p:spPr>
          <a:xfrm>
            <a:off x="5532120" y="487375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D4C5C5">
              <a:alpha val="5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32120" y="48737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"公司为什么不直接调到市场水平？"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909560" y="48737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解释公司预算限制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场景五：员工质疑AI决策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信任危机对话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48640" cy="2286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4300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8B2635">
              <a:alpha val="94000"/>
            </a:srgbClr>
          </a:solidFill>
          <a:ln w="12700">
            <a:solidFill>
              <a:srgbClr val="8B2635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52728"/>
            <a:ext cx="640080" cy="237744"/>
          </a:xfrm>
          <a:prstGeom prst="roundRect">
            <a:avLst>
              <a:gd name="adj" fmla="val 19231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5272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场景背景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25880" y="1252728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C45C3E">
              <a:alpha val="80000"/>
            </a:srgbClr>
          </a:solidFill>
          <a:ln w="6350">
            <a:solidFill>
              <a:srgbClr val="C45C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25272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信任危机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5819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5819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5819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5819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15819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158191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核心挑战：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1031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员工不信任AI系统的公正性，认为管理者只是系统的"代言人"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1143000"/>
            <a:ext cx="48463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77640" y="1252728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4A4A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25272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员工可能说的话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77640" y="156362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14800" y="15819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"这个数字是AI定的吧？你自己觉得合理吗？"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7640" y="191109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114800" y="19293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"我怎么知道这个AI没有偏见？它用什么数据算的我都不知道。"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77640" y="22585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800" y="22768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"你们就是想把锅甩给机器，自己不用负责对吧？"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252728" y="2944368"/>
            <a:ext cx="329184" cy="329184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9" name="Text 27"/>
          <p:cNvSpPr/>
          <p:nvPr/>
        </p:nvSpPr>
        <p:spPr>
          <a:xfrm>
            <a:off x="1252728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33101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49300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承认AI的局限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37307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"你说得对，AI确实有它的局限性，它用的是历史数据和规则。"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77440" y="34975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C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2560320" y="283464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355848" y="2944368"/>
            <a:ext cx="329184" cy="329184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36" name="Text 34"/>
          <p:cNvSpPr/>
          <p:nvPr/>
        </p:nvSpPr>
        <p:spPr>
          <a:xfrm>
            <a:off x="3355848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60320" y="33101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51760" y="349300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说明人工审核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651760" y="37307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"但这个结果不是我直接采用的，是我审核之后确认的。"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80560" y="34975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C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63440" y="283464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58968" y="2944368"/>
            <a:ext cx="329184" cy="329184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43" name="Text 41"/>
          <p:cNvSpPr/>
          <p:nvPr/>
        </p:nvSpPr>
        <p:spPr>
          <a:xfrm>
            <a:off x="5458968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663440" y="33101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54880" y="349300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表达个人立场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54880" y="37307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"如果我觉得这个结果不对，我会选择打回去重新走流程。"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83680" y="34975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C5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766560" y="283464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562088" y="2944368"/>
            <a:ext cx="329184" cy="329184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50" name="Text 48"/>
          <p:cNvSpPr/>
          <p:nvPr/>
        </p:nvSpPr>
        <p:spPr>
          <a:xfrm>
            <a:off x="7562088" y="29443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766560" y="331012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58000" y="349300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邀请监督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858000" y="373075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"你如果对过程有疑问，我可以把我的审核记录给你看。"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45720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5C3E">
              <a:alpha val="10000"/>
            </a:srgbClr>
          </a:solidFill>
          <a:ln w="12700">
            <a:solidFill>
              <a:srgbClr val="C45C3E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" y="4663440"/>
            <a:ext cx="640080" cy="320040"/>
          </a:xfrm>
          <a:prstGeom prst="roundRect">
            <a:avLst>
              <a:gd name="adj" fmla="val 14286"/>
            </a:avLst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46634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关键心法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371600" y="45720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先处理情绪，再处理事实；先承认局限性，再说明人工做了什么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114800"/>
            <a:ext cx="1371600" cy="7315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4297680"/>
            <a:ext cx="731520" cy="73152"/>
          </a:xfrm>
          <a:prstGeom prst="rect">
            <a:avLst/>
          </a:prstGeom>
          <a:solidFill>
            <a:srgbClr val="C45C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2635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模块五：应对质疑与异议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让每一次质疑，都成为信任的深化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2286000" cy="36576"/>
          </a:xfrm>
          <a:prstGeom prst="rect">
            <a:avLst/>
          </a:prstGeom>
          <a:solidFill>
            <a:srgbClr val="C45C3E">
              <a:alpha val="60000"/>
            </a:srgbClr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应对"AI说了算，你也没权力改变？"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731520" cy="2743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296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896112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8B2635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8961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员工真实想法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潜台词：我需要一个愿意为我争取的管理者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"既然你说了不算，那我找你有什么用？"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"你是不是不愿意为我说话？"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404872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8B2635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40487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错误回应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25880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670048"/>
            <a:ext cx="371246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"是啊，我也改不了，系统定的。"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甩锅给AI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"我只是个执行者，你找HR吧。"</a:t>
            </a: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推脱责任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C45C3E">
              <a:alpha val="88000"/>
            </a:srgbClr>
          </a:solidFill>
          <a:ln w="10160">
            <a:solidFill>
              <a:srgbClr val="C45C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611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822192"/>
            <a:ext cx="3712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承认权限有限，但证明自己"争取过"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822960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8B263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正确回应——四步法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1261872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1261872"/>
            <a:ext cx="54864" cy="80467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1261872"/>
            <a:ext cx="73152" cy="7315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22" name="Shape 20"/>
          <p:cNvSpPr/>
          <p:nvPr/>
        </p:nvSpPr>
        <p:spPr>
          <a:xfrm>
            <a:off x="4709160" y="1371600"/>
            <a:ext cx="292608" cy="292608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371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47488" y="13533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47488" y="1627632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"我听到了，你对结果不满意，你觉得我的意见没有被体现。"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47488" y="1920240"/>
            <a:ext cx="3493008" cy="109728"/>
          </a:xfrm>
          <a:prstGeom prst="roundRect">
            <a:avLst>
              <a:gd name="adj" fmla="val 25000"/>
            </a:avLst>
          </a:prstGeom>
          <a:solidFill>
            <a:srgbClr val="8B2635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47488" y="1920240"/>
            <a:ext cx="34930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不打断，复述确认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0" y="2157984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157984"/>
            <a:ext cx="54864" cy="80467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2157984"/>
            <a:ext cx="73152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31" name="Shape 29"/>
          <p:cNvSpPr/>
          <p:nvPr/>
        </p:nvSpPr>
        <p:spPr>
          <a:xfrm>
            <a:off x="4709160" y="2267712"/>
            <a:ext cx="292608" cy="2926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267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47488" y="224942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47488" y="2523744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"换了是我，我也希望我的老板能多替我说话。"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47488" y="2816352"/>
            <a:ext cx="3493008" cy="109728"/>
          </a:xfrm>
          <a:prstGeom prst="roundRect">
            <a:avLst>
              <a:gd name="adj" fmla="val 25000"/>
            </a:avLst>
          </a:prstGeom>
          <a:solidFill>
            <a:srgbClr val="C45C3E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047488" y="2816352"/>
            <a:ext cx="34930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承认需求合理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3054096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0" y="3054096"/>
            <a:ext cx="54864" cy="80467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3054096"/>
            <a:ext cx="73152" cy="73152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40" name="Shape 38"/>
          <p:cNvSpPr/>
          <p:nvPr/>
        </p:nvSpPr>
        <p:spPr>
          <a:xfrm>
            <a:off x="4709160" y="3163824"/>
            <a:ext cx="292608" cy="292608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41" name="Text 39"/>
          <p:cNvSpPr/>
          <p:nvPr/>
        </p:nvSpPr>
        <p:spPr>
          <a:xfrm>
            <a:off x="470916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47488" y="314553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047488" y="3419856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"这个结果经过了AI计算和我的人工审核两个环节。..."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47488" y="3712464"/>
            <a:ext cx="3493008" cy="109728"/>
          </a:xfrm>
          <a:prstGeom prst="roundRect">
            <a:avLst>
              <a:gd name="adj" fmla="val 25000"/>
            </a:avLst>
          </a:prstGeom>
          <a:solidFill>
            <a:srgbClr val="8B2635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047488" y="3712464"/>
            <a:ext cx="34930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说明实际权限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0" y="3950208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3950208"/>
            <a:ext cx="54864" cy="80467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8" name="Shape 46"/>
          <p:cNvSpPr/>
          <p:nvPr/>
        </p:nvSpPr>
        <p:spPr>
          <a:xfrm>
            <a:off x="4572000" y="3950208"/>
            <a:ext cx="73152" cy="7315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9" name="Shape 47"/>
          <p:cNvSpPr/>
          <p:nvPr/>
        </p:nvSpPr>
        <p:spPr>
          <a:xfrm>
            <a:off x="4709160" y="4059936"/>
            <a:ext cx="292608" cy="29260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50" name="Text 48"/>
          <p:cNvSpPr/>
          <p:nvPr/>
        </p:nvSpPr>
        <p:spPr>
          <a:xfrm>
            <a:off x="4709160" y="4059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047488" y="404164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047488" y="4315968"/>
            <a:ext cx="349300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"你说的调到P75分位这件事，我记下了。下次调薪季，我会把这个诉求作为优先级提交。"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47488" y="4608576"/>
            <a:ext cx="3493008" cy="109728"/>
          </a:xfrm>
          <a:prstGeom prst="roundRect">
            <a:avLst>
              <a:gd name="adj" fmla="val 25000"/>
            </a:avLst>
          </a:prstGeom>
          <a:solidFill>
            <a:srgbClr val="C45C3E">
              <a:alpha val="1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5047488" y="4608576"/>
            <a:ext cx="349300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具体承诺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75488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56" name="Shape 54"/>
          <p:cNvSpPr/>
          <p:nvPr/>
        </p:nvSpPr>
        <p:spPr>
          <a:xfrm>
            <a:off x="594360" y="4754880"/>
            <a:ext cx="73152" cy="73152"/>
          </a:xfrm>
          <a:prstGeom prst="ellipse">
            <a:avLst/>
          </a:prstGeom>
          <a:solidFill>
            <a:srgbClr val="C45C3E">
              <a:alpha val="5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31520" y="4754880"/>
            <a:ext cx="73152" cy="73152"/>
          </a:xfrm>
          <a:prstGeom prst="ellipse">
            <a:avLst/>
          </a:prstGeom>
          <a:solidFill>
            <a:srgbClr val="8B2635">
              <a:alpha val="3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772400" y="4709160"/>
            <a:ext cx="914400" cy="18288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114800"/>
            <a:ext cx="1371600" cy="7315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4297680"/>
            <a:ext cx="731520" cy="73152"/>
          </a:xfrm>
          <a:prstGeom prst="rect">
            <a:avLst/>
          </a:prstGeom>
          <a:solidFill>
            <a:srgbClr val="C45C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2635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持续信任维护机制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从"一次性对话"升级为持续关系经营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2286000" cy="36576"/>
          </a:xfrm>
          <a:prstGeom prst="rect">
            <a:avLst/>
          </a:prstGeom>
          <a:solidFill>
            <a:srgbClr val="C45C3E">
              <a:alpha val="60000"/>
            </a:srgbClr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74320"/>
            <a:ext cx="3474720" cy="2560320"/>
          </a:xfrm>
          <a:prstGeom prst="rect">
            <a:avLst>
              <a:gd name="adj" fmla="val 2857"/>
            </a:avLst>
          </a:prstGeom>
          <a:solidFill>
            <a:srgbClr val="8B2635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377440"/>
            <a:ext cx="2286000" cy="1645920"/>
          </a:xfrm>
          <a:prstGeom prst="rect">
            <a:avLst>
              <a:gd name="adj" fmla="val 5556"/>
            </a:avLst>
          </a:prstGeom>
          <a:solidFill>
            <a:srgbClr val="C45C3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4114800"/>
            <a:ext cx="2011680" cy="1371600"/>
          </a:xfrm>
          <a:prstGeom prst="rect">
            <a:avLst>
              <a:gd name="adj" fmla="val 8000"/>
            </a:avLst>
          </a:prstGeom>
          <a:solidFill>
            <a:srgbClr val="D4C5C5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3474720"/>
            <a:ext cx="731520" cy="731520"/>
          </a:xfrm>
          <a:prstGeom prst="rect">
            <a:avLst>
              <a:gd name="adj" fmla="val 6250"/>
            </a:avLst>
          </a:prstGeom>
          <a:solidFill>
            <a:srgbClr val="8B2635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薪酬对话场景实战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五个真实场景的完整对话模板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657600"/>
            <a:ext cx="109728" cy="109728"/>
          </a:xfrm>
          <a:prstGeom prst="ellipse">
            <a:avLst/>
          </a:prstGeom>
          <a:solidFill>
            <a:srgbClr val="C45C3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3657600"/>
            <a:ext cx="109728" cy="109728"/>
          </a:xfrm>
          <a:prstGeom prst="ellipse">
            <a:avLst/>
          </a:prstGeom>
          <a:solidFill>
            <a:srgbClr val="C45C3E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06240"/>
            <a:ext cx="1371600" cy="36576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343400"/>
            <a:ext cx="914400" cy="2743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114800"/>
            <a:ext cx="1371600" cy="7315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4297680"/>
            <a:ext cx="731520" cy="73152"/>
          </a:xfrm>
          <a:prstGeom prst="rect">
            <a:avLst/>
          </a:prstGeom>
          <a:solidFill>
            <a:srgbClr val="C45C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2635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模块五：应对质疑与异议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让每一次质疑，都成为信任的深化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2286000" cy="36576"/>
          </a:xfrm>
          <a:prstGeom prst="rect">
            <a:avLst/>
          </a:prstGeom>
          <a:solidFill>
            <a:srgbClr val="C45C3E">
              <a:alpha val="60000"/>
            </a:srgbClr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1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0"/>
            <a:ext cx="2286000" cy="2286000"/>
          </a:xfrm>
          <a:prstGeom prst="line">
            <a:avLst/>
          </a:prstGeom>
          <a:noFill/>
          <a:ln w="6350">
            <a:solidFill>
              <a:srgbClr val="D4C5C5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4114800"/>
            <a:ext cx="1371600" cy="7315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412480" y="4297680"/>
            <a:ext cx="731520" cy="73152"/>
          </a:xfrm>
          <a:prstGeom prst="rect">
            <a:avLst/>
          </a:prstGeom>
          <a:solidFill>
            <a:srgbClr val="C45C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097280"/>
            <a:ext cx="109728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8B2635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持续信任维护机制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从"一次性对话"升级为持续关系经营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097280" y="3611880"/>
            <a:ext cx="2286000" cy="36576"/>
          </a:xfrm>
          <a:prstGeom prst="rect">
            <a:avLst/>
          </a:prstGeom>
          <a:solidFill>
            <a:srgbClr val="C45C3E">
              <a:alpha val="60000"/>
            </a:srgbClr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从"解释者"到"共建者"的升级路径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管理者的三种角色演进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" cy="27432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Shape 3"/>
          <p:cNvSpPr/>
          <p:nvPr/>
        </p:nvSpPr>
        <p:spPr>
          <a:xfrm>
            <a:off x="3063240" y="2519172"/>
            <a:ext cx="228600" cy="36576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6" name="Text 4"/>
          <p:cNvSpPr/>
          <p:nvPr/>
        </p:nvSpPr>
        <p:spPr>
          <a:xfrm>
            <a:off x="3154680" y="24003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5C3E"/>
                </a:solidFill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97880" y="2519172"/>
            <a:ext cx="228600" cy="36576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24003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5C3E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2606040" cy="411480"/>
          </a:xfrm>
          <a:prstGeom prst="rect">
            <a:avLst/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21945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224028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角色定义：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把系统的调薪结果"翻译"给员工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说明AI数据轨和人工判断轨的内容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2004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被动响应，员工问什么答什么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3716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1371600"/>
            <a:ext cx="2606040" cy="411480"/>
          </a:xfrm>
          <a:prstGeom prst="rect">
            <a:avLst/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371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91840" y="21945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2468880"/>
            <a:ext cx="224028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角色定义：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帮助员工理解薪酬决策的逻辑，并提前管理预期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2900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主动披露、三步信任重建法、异议处理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32004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还是在"解释已经发生的决策"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26060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4C5C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371600"/>
            <a:ext cx="2606040" cy="411480"/>
          </a:xfrm>
          <a:prstGeom prst="rect">
            <a:avLst/>
          </a:prstGeom>
          <a:solidFill>
            <a:srgbClr val="C45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13716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1874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共建者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26480" y="219456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9360" y="2468880"/>
            <a:ext cx="2240280" cy="9144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54203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角色定义：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与员工一起规划薪酬成长路径，把薪酬对话变成持续关系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5C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能力：</a:t>
            </a:r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日常信任维护、年度薪酬沟通计划、职业发展联动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32004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局限：</a:t>
            </a:r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需要时间和持续投入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38862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8B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8862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员工感受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417320" y="388620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D4C5C5">
              <a:alpha val="5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1732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"他告诉了我结果，但我不确定他站在谁那边"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86200" y="388620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D4C5C5">
              <a:alpha val="5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8620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"他提前跟我打过招呼，我觉得被尊重了"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55080" y="3886200"/>
            <a:ext cx="2331720" cy="502920"/>
          </a:xfrm>
          <a:prstGeom prst="roundRect">
            <a:avLst>
              <a:gd name="adj" fmla="val 10909"/>
            </a:avLst>
          </a:prstGeom>
          <a:solidFill>
            <a:srgbClr val="D4C5C5">
              <a:alpha val="50000"/>
            </a:srgbClr>
          </a:solidFill>
          <a:ln w="6350">
            <a:solidFill>
              <a:srgbClr val="D4C5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38862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"他不是只谈调薪，是在关心我的整体成长"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升级路径的关键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49377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8B2635">
              <a:alpha val="8000"/>
            </a:srgbClr>
          </a:solidFill>
          <a:ln w="6350">
            <a:solidFill>
              <a:srgbClr val="8B2635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937760"/>
            <a:ext cx="54864" cy="640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47" name="Shape 45"/>
          <p:cNvSpPr/>
          <p:nvPr/>
        </p:nvSpPr>
        <p:spPr>
          <a:xfrm>
            <a:off x="640080" y="5102352"/>
            <a:ext cx="164592" cy="164592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51023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68680" y="4983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从"等员工问了再解释"变成"主动定期同步"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383280" y="5102352"/>
            <a:ext cx="164592" cy="164592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51" name="Text 49"/>
          <p:cNvSpPr/>
          <p:nvPr/>
        </p:nvSpPr>
        <p:spPr>
          <a:xfrm>
            <a:off x="3383280" y="51023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11880" y="4983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从"只谈数字"变成"谈关系、谈发展、谈预期"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126480" y="5102352"/>
            <a:ext cx="164592" cy="164592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54" name="Text 52"/>
          <p:cNvSpPr/>
          <p:nvPr/>
        </p:nvSpPr>
        <p:spPr>
          <a:xfrm>
            <a:off x="6126480" y="5102352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55080" y="4983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从"一年一次的对话"变成"持续的关系经营"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4709160"/>
            <a:ext cx="73152" cy="73152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57" name="Shape 55"/>
          <p:cNvSpPr/>
          <p:nvPr/>
        </p:nvSpPr>
        <p:spPr>
          <a:xfrm>
            <a:off x="640080" y="470916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58" name="Shape 56"/>
          <p:cNvSpPr/>
          <p:nvPr/>
        </p:nvSpPr>
        <p:spPr>
          <a:xfrm>
            <a:off x="822960" y="4709160"/>
            <a:ext cx="73152" cy="73152"/>
          </a:xfrm>
          <a:prstGeom prst="ellipse">
            <a:avLst/>
          </a:prstGeom>
          <a:solidFill>
            <a:srgbClr val="D4C5C5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COURSE REVIEW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2700000">
              <a:srgbClr val="4A4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105156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554480"/>
            <a:ext cx="320040" cy="32004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AI时代的薪酬对话新格局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理解AI为什么让薪酬对话变复杂了 | 员工担忧的四个类型 | 管理者三重角色冲突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2700000">
              <a:srgbClr val="4A4A4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33472"/>
            <a:ext cx="54864" cy="105156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770632"/>
            <a:ext cx="320040" cy="320040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72491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调薪决策的双轨结构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04495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AI数据轨：市场标杆、带宽、绩效关联、潜力评估 | 人工判断轨：业务考量、团队平衡、未来潜力、特殊贡献 | 双轨说明卡的使用方法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3849624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2700000">
              <a:srgbClr val="4A4A4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49624"/>
            <a:ext cx="54864" cy="10515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3986784"/>
            <a:ext cx="32004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986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三步信任重建法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26110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透明披露 → 逻辑呈现 → 情感连接 | 每一步的话术模板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0" y="14173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2700000">
              <a:srgbClr val="4A4A4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417320"/>
            <a:ext cx="54864" cy="105156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25" name="Shape 23"/>
          <p:cNvSpPr/>
          <p:nvPr/>
        </p:nvSpPr>
        <p:spPr>
          <a:xfrm>
            <a:off x="4736592" y="1554480"/>
            <a:ext cx="320040" cy="32004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150876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薪酬对话场景实战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18288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5个常见场景的完整对话模板 | 年度调薪、晋升调薪、绩效关联、市场偏低、员工质疑AI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2633472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2700000">
              <a:srgbClr val="4A4A4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633472"/>
            <a:ext cx="54864" cy="105156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31" name="Shape 29"/>
          <p:cNvSpPr/>
          <p:nvPr/>
        </p:nvSpPr>
        <p:spPr>
          <a:xfrm>
            <a:off x="4736592" y="2770632"/>
            <a:ext cx="320040" cy="320040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32" name="Text 30"/>
          <p:cNvSpPr/>
          <p:nvPr/>
        </p:nvSpPr>
        <p:spPr>
          <a:xfrm>
            <a:off x="4736592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272491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应对质疑与异议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3044952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异议处理四步法：倾听 → 共情 → 解释 → 承诺 | 4种典型员工"刺话"的应对策略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3849624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4C5C5"/>
            </a:solidFill>
            <a:prstDash val="solid"/>
          </a:ln>
          <a:effectLst>
            <a:outerShdw sx="100000" sy="100000" kx="0" ky="0" algn="bl" rotWithShape="0" blurRad="38100" dist="12700" dir="2700000">
              <a:srgbClr val="4A4A4A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849624"/>
            <a:ext cx="54864" cy="10515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4736592" y="3986784"/>
            <a:ext cx="320040" cy="32004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38" name="Text 36"/>
          <p:cNvSpPr/>
          <p:nvPr/>
        </p:nvSpPr>
        <p:spPr>
          <a:xfrm>
            <a:off x="4736592" y="3986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394106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持续信任维护机制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20640" y="426110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日常沟通的三个原则 | 从"解释者"到"共建者"的升级路径 | 年度薪酬沟通计划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286000" y="24871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5C5"/>
                </a:solidFill>
              </a:rPr>
              <a:t>▼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86000" y="45902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5C5"/>
                </a:solidFill>
              </a:rPr>
              <a:t>▼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24871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5C5"/>
                </a:solidFill>
              </a:rPr>
              <a:t>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0" y="45902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C5C5"/>
                </a:solidFill>
              </a:rPr>
              <a:t>▼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43484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8B2635">
              <a:alpha val="94000"/>
            </a:srgbClr>
          </a:solidFill>
          <a:ln w="12700">
            <a:solidFill>
              <a:srgbClr val="D4C5C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94360" y="4526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2635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4526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✦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143000" y="45079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" y="4709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薪酬公平 = 透明的双轨说明 + 信任重建三步法 + 持续的日常关系经营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57200" y="5120640"/>
            <a:ext cx="54864" cy="54864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51" name="Shape 49"/>
          <p:cNvSpPr/>
          <p:nvPr/>
        </p:nvSpPr>
        <p:spPr>
          <a:xfrm>
            <a:off x="594360" y="5120640"/>
            <a:ext cx="54864" cy="54864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52" name="Shape 50"/>
          <p:cNvSpPr/>
          <p:nvPr/>
        </p:nvSpPr>
        <p:spPr>
          <a:xfrm>
            <a:off x="731520" y="5120640"/>
            <a:ext cx="54864" cy="54864"/>
          </a:xfrm>
          <a:prstGeom prst="ellipse">
            <a:avLst/>
          </a:prstGeom>
          <a:solidFill>
            <a:srgbClr val="D4C5C5"/>
          </a:solidFill>
          <a:ln/>
        </p:spPr>
      </p:sp>
      <p:sp>
        <p:nvSpPr>
          <p:cNvPr id="53" name="Shape 51"/>
          <p:cNvSpPr/>
          <p:nvPr/>
        </p:nvSpPr>
        <p:spPr>
          <a:xfrm>
            <a:off x="8046720" y="4846320"/>
            <a:ext cx="457200" cy="27432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54" name="Shape 52"/>
          <p:cNvSpPr/>
          <p:nvPr/>
        </p:nvSpPr>
        <p:spPr>
          <a:xfrm>
            <a:off x="8229600" y="4937760"/>
            <a:ext cx="274320" cy="27432"/>
          </a:xfrm>
          <a:prstGeom prst="rect">
            <a:avLst/>
          </a:prstGeom>
          <a:solidFill>
            <a:srgbClr val="C45C3E">
              <a:alpha val="50000"/>
            </a:srgbClr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365760"/>
            <a:ext cx="2926080" cy="2286000"/>
          </a:xfrm>
          <a:prstGeom prst="rect">
            <a:avLst>
              <a:gd name="adj" fmla="val 4000"/>
            </a:avLst>
          </a:prstGeom>
          <a:solidFill>
            <a:srgbClr val="8B2635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645920"/>
            <a:ext cx="1645920" cy="1097280"/>
          </a:xfrm>
          <a:prstGeom prst="rect">
            <a:avLst>
              <a:gd name="adj" fmla="val 6667"/>
            </a:avLst>
          </a:prstGeom>
          <a:solidFill>
            <a:srgbClr val="D4C5C5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474720"/>
            <a:ext cx="2560320" cy="2103120"/>
          </a:xfrm>
          <a:prstGeom prst="rect">
            <a:avLst>
              <a:gd name="adj" fmla="val 4348"/>
            </a:avLst>
          </a:prstGeom>
          <a:solidFill>
            <a:srgbClr val="8B2635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3840480"/>
            <a:ext cx="1371600" cy="1097280"/>
          </a:xfrm>
          <a:prstGeom prst="rect">
            <a:avLst>
              <a:gd name="adj" fmla="val 6667"/>
            </a:avLst>
          </a:prstGeom>
          <a:solidFill>
            <a:srgbClr val="C45C3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914400"/>
            <a:ext cx="1828800" cy="4572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0" y="1097280"/>
            <a:ext cx="1280160" cy="27432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457200"/>
            <a:ext cx="457200" cy="457200"/>
          </a:xfrm>
          <a:prstGeom prst="rect">
            <a:avLst>
              <a:gd name="adj" fmla="val 10000"/>
            </a:avLst>
          </a:prstGeom>
          <a:solidFill>
            <a:srgbClr val="D4C5C5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12801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8000" dirty="0"/>
          </a:p>
        </p:txBody>
      </p:sp>
      <p:sp>
        <p:nvSpPr>
          <p:cNvPr id="10" name="Shape 8"/>
          <p:cNvSpPr/>
          <p:nvPr/>
        </p:nvSpPr>
        <p:spPr>
          <a:xfrm>
            <a:off x="3657600" y="2514600"/>
            <a:ext cx="1828800" cy="54864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2834640"/>
            <a:ext cx="6400800" cy="1188720"/>
          </a:xfrm>
          <a:prstGeom prst="rect">
            <a:avLst>
              <a:gd name="adj" fmla="val 7692"/>
            </a:avLst>
          </a:prstGeom>
          <a:solidFill>
            <a:srgbClr val="D4C5C5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薪酬公平最终要靠管理者讲清楚道理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429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让每一次薪酬对话，都成为一次信任的存款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160520"/>
            <a:ext cx="6949440" cy="685800"/>
          </a:xfrm>
          <a:prstGeom prst="rect">
            <a:avLst>
              <a:gd name="adj" fmla="val 10667"/>
            </a:avLst>
          </a:prstGeom>
          <a:solidFill>
            <a:srgbClr val="8B2635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2062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下次调薪季，主动坐下来，花十五分钟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把决策背后的逻辑、你对员工的个人认可，以及对未来发展的期待，完整地传递出去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0" y="4983480"/>
            <a:ext cx="3657600" cy="10973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5074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如有更多问题，欢迎与培训团队联系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管理者薪酬对话：怎么解释AI生成的调薪决策而不失去信任</dc:title>
  <dc:subject>HR薪酬管理培训</dc:subject>
  <dc:creator>AI HR Training</dc:creator>
  <cp:lastModifiedBy>AI HR Training</cp:lastModifiedBy>
  <cp:revision>1</cp:revision>
  <dcterms:created xsi:type="dcterms:W3CDTF">2026-08-10T09:42:31Z</dcterms:created>
  <dcterms:modified xsi:type="dcterms:W3CDTF">2026-08-10T09:42:31Z</dcterms:modified>
</cp:coreProperties>
</file>