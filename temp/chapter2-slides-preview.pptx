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4A4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组织不缺经验，缺通道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731520" y="3749040"/>
            <a:ext cx="2286000" cy="54864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40233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4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第二章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858000" y="731520"/>
            <a:ext cx="2286000" cy="2286000"/>
          </a:xfrm>
          <a:prstGeom prst="ellipse">
            <a:avLst/>
          </a:prstGeom>
          <a:solidFill>
            <a:srgbClr val="E8E8F0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498080" y="1371600"/>
            <a:ext cx="1371600" cy="1371600"/>
          </a:xfrm>
          <a:prstGeom prst="ellipse">
            <a:avLst/>
          </a:prstGeom>
          <a:solidFill>
            <a:srgbClr val="8B0000">
              <a:alpha val="20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区域经理的七个坑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A4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一位新任区域经理在一年内犯的七个错误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371600" cy="36576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508760"/>
            <a:ext cx="19202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8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618488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6184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16459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A4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盲目扩张团队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" y="2103120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人员成本超预算40%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560320" y="1508760"/>
            <a:ext cx="19202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8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70048" y="1618488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3" name="Text 11"/>
          <p:cNvSpPr/>
          <p:nvPr/>
        </p:nvSpPr>
        <p:spPr>
          <a:xfrm>
            <a:off x="2670048" y="16184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108960" y="16459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A4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价格战应对迟缓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670048" y="2103120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丢失3个重要客户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1508760"/>
            <a:ext cx="19202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8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73168" y="1618488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8" name="Text 16"/>
          <p:cNvSpPr/>
          <p:nvPr/>
        </p:nvSpPr>
        <p:spPr>
          <a:xfrm>
            <a:off x="4773168" y="16184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212080" y="16459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A4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库存管理失控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73168" y="2103120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积压库存200万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766560" y="1508760"/>
            <a:ext cx="19202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8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76288" y="1618488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3" name="Text 21"/>
          <p:cNvSpPr/>
          <p:nvPr/>
        </p:nvSpPr>
        <p:spPr>
          <a:xfrm>
            <a:off x="6876288" y="16184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315200" y="16459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A4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忽视骨干离职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876288" y="2103120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团队流失率30%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508760" y="2743200"/>
            <a:ext cx="19202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8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618488" y="2852928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8" name="Text 26"/>
          <p:cNvSpPr/>
          <p:nvPr/>
        </p:nvSpPr>
        <p:spPr>
          <a:xfrm>
            <a:off x="1618488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2057400" y="28803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A4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大客户策略失误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618488" y="3337560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丢失战略客户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11880" y="2743200"/>
            <a:ext cx="19202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8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21608" y="2852928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3" name="Text 31"/>
          <p:cNvSpPr/>
          <p:nvPr/>
        </p:nvSpPr>
        <p:spPr>
          <a:xfrm>
            <a:off x="3721608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160520" y="28803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A4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市场调研不足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721608" y="3337560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新品上市失败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715000" y="2743200"/>
            <a:ext cx="19202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8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824728" y="2852928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8" name="Text 36"/>
          <p:cNvSpPr/>
          <p:nvPr/>
        </p:nvSpPr>
        <p:spPr>
          <a:xfrm>
            <a:off x="5824728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263640" y="28803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A4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跨部门协调不力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824728" y="3337560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项目延期3个月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57200" y="3886200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8B0000"/>
          </a:solidFill>
          <a:ln/>
        </p:spPr>
      </p:sp>
      <p:sp>
        <p:nvSpPr>
          <p:cNvPr id="42" name="Shape 40"/>
          <p:cNvSpPr/>
          <p:nvPr/>
        </p:nvSpPr>
        <p:spPr>
          <a:xfrm>
            <a:off x="640080" y="4114800"/>
            <a:ext cx="365760" cy="365760"/>
          </a:xfrm>
          <a:prstGeom prst="diamond">
            <a:avLst/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1143000" y="40233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关键问题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143000" y="429768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这些问题前辈们都遇到过，但经验没有传下来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8686800" y="0"/>
            <a:ext cx="457200" cy="73152"/>
          </a:xfrm>
          <a:prstGeom prst="rect">
            <a:avLst/>
          </a:prstGeom>
          <a:solidFill>
            <a:srgbClr val="C41E3A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A4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经验从未丢失，只是没有到达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365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371600"/>
            <a:ext cx="7680960" cy="1463040"/>
          </a:xfrm>
          <a:prstGeom prst="roundRect">
            <a:avLst>
              <a:gd name="adj" fmla="val 6250"/>
            </a:avLst>
          </a:prstGeom>
          <a:solidFill>
            <a:srgbClr val="C41E3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组织不缺乏经验，缺乏的是经验传递的通道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434840" y="2926080"/>
            <a:ext cx="274320" cy="4572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5204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问题本质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3931920"/>
            <a:ext cx="7680960" cy="1005840"/>
          </a:xfrm>
          <a:prstGeom prst="roundRect">
            <a:avLst>
              <a:gd name="adj" fmla="val 7273"/>
            </a:avLst>
          </a:prstGeom>
          <a:solidFill>
            <a:srgbClr val="E8E8F0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4187952"/>
            <a:ext cx="164592" cy="164592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411480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经验存在于个体大脑中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108960" y="4224528"/>
            <a:ext cx="228600" cy="18288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2" name="Shape 10"/>
          <p:cNvSpPr/>
          <p:nvPr/>
        </p:nvSpPr>
        <p:spPr>
          <a:xfrm>
            <a:off x="3474720" y="4187952"/>
            <a:ext cx="164592" cy="164592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3" name="Text 11"/>
          <p:cNvSpPr/>
          <p:nvPr/>
        </p:nvSpPr>
        <p:spPr>
          <a:xfrm>
            <a:off x="3749040" y="411480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组织没有有效的传递机制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669280" y="4224528"/>
            <a:ext cx="228600" cy="18288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5" name="Shape 13"/>
          <p:cNvSpPr/>
          <p:nvPr/>
        </p:nvSpPr>
        <p:spPr>
          <a:xfrm>
            <a:off x="6035040" y="4187952"/>
            <a:ext cx="164592" cy="164592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411480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知识管理系统存的是死知识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发布逻辑 vs 送达逻辑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传统做法的局限 vs 有效学习的本质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393192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4A4A6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25880"/>
            <a:ext cx="3931920" cy="548640"/>
          </a:xfrm>
          <a:prstGeom prst="rect">
            <a:avLst/>
          </a:prstGeom>
          <a:solidFill>
            <a:srgbClr val="4A4A6A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417320"/>
            <a:ext cx="365760" cy="36576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417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13258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发布逻辑（传统）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0080" y="2057400"/>
            <a:ext cx="3566160" cy="777240"/>
          </a:xfrm>
          <a:prstGeom prst="roundRect">
            <a:avLst>
              <a:gd name="adj" fmla="val 9412"/>
            </a:avLst>
          </a:prstGeom>
          <a:solidFill>
            <a:srgbClr val="E8E8F0">
              <a:alpha val="5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77240" y="2286000"/>
            <a:ext cx="109728" cy="109728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21488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4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我讲完了 = 你学会了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249631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以为传递了知识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971800"/>
            <a:ext cx="3566160" cy="777240"/>
          </a:xfrm>
          <a:prstGeom prst="roundRect">
            <a:avLst>
              <a:gd name="adj" fmla="val 9412"/>
            </a:avLst>
          </a:prstGeom>
          <a:solidFill>
            <a:srgbClr val="E8E8F0">
              <a:alpha val="5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3200400"/>
            <a:ext cx="109728" cy="109728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30632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4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文档存在 = 知识已传递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341071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以为存起来了就是学会了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3886200"/>
            <a:ext cx="3566160" cy="777240"/>
          </a:xfrm>
          <a:prstGeom prst="roundRect">
            <a:avLst>
              <a:gd name="adj" fmla="val 9412"/>
            </a:avLst>
          </a:prstGeom>
          <a:solidFill>
            <a:srgbClr val="E8E8F0">
              <a:alpha val="5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77240" y="4114800"/>
            <a:ext cx="109728" cy="109728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3977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4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培训完成 = 能力提升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05840" y="432511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以为上课了就能应用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1325880"/>
            <a:ext cx="393192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25400">
            <a:solidFill>
              <a:srgbClr val="C41E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1325880"/>
            <a:ext cx="3931920" cy="5486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4" name="Shape 22"/>
          <p:cNvSpPr/>
          <p:nvPr/>
        </p:nvSpPr>
        <p:spPr>
          <a:xfrm>
            <a:off x="4983480" y="1417320"/>
            <a:ext cx="365760" cy="365760"/>
          </a:xfrm>
          <a:prstGeom prst="ellipse">
            <a:avLst/>
          </a:prstGeom>
          <a:solidFill>
            <a:srgbClr val="FAFAFA"/>
          </a:solidFill>
          <a:ln/>
        </p:spPr>
      </p:sp>
      <p:sp>
        <p:nvSpPr>
          <p:cNvPr id="25" name="Text 23"/>
          <p:cNvSpPr/>
          <p:nvPr/>
        </p:nvSpPr>
        <p:spPr>
          <a:xfrm>
            <a:off x="4983480" y="1417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440680" y="13258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送达逻辑（有效）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4937760" y="2057400"/>
            <a:ext cx="3566160" cy="777240"/>
          </a:xfrm>
          <a:prstGeom prst="roundRect">
            <a:avLst>
              <a:gd name="adj" fmla="val 9412"/>
            </a:avLst>
          </a:prstGeom>
          <a:solidFill>
            <a:srgbClr val="C41E3A">
              <a:alpha val="1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5074920" y="2286000"/>
            <a:ext cx="109728" cy="109728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9" name="Text 27"/>
          <p:cNvSpPr/>
          <p:nvPr/>
        </p:nvSpPr>
        <p:spPr>
          <a:xfrm>
            <a:off x="5303520" y="21488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4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信息到达决策点才算完成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303520" y="249631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终点是应用，不是传递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937760" y="2971800"/>
            <a:ext cx="3566160" cy="777240"/>
          </a:xfrm>
          <a:prstGeom prst="roundRect">
            <a:avLst>
              <a:gd name="adj" fmla="val 9412"/>
            </a:avLst>
          </a:prstGeom>
          <a:solidFill>
            <a:srgbClr val="C41E3A">
              <a:alpha val="1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5074920" y="3200400"/>
            <a:ext cx="109728" cy="109728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3" name="Text 31"/>
          <p:cNvSpPr/>
          <p:nvPr/>
        </p:nvSpPr>
        <p:spPr>
          <a:xfrm>
            <a:off x="5303520" y="30632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4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经验在使用场景中传递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303520" y="341071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在工作里学会，不是教室里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937760" y="3886200"/>
            <a:ext cx="3566160" cy="777240"/>
          </a:xfrm>
          <a:prstGeom prst="roundRect">
            <a:avLst>
              <a:gd name="adj" fmla="val 9412"/>
            </a:avLst>
          </a:prstGeom>
          <a:solidFill>
            <a:srgbClr val="C41E3A">
              <a:alpha val="1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074920" y="4114800"/>
            <a:ext cx="109728" cy="109728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7" name="Text 35"/>
          <p:cNvSpPr/>
          <p:nvPr/>
        </p:nvSpPr>
        <p:spPr>
          <a:xfrm>
            <a:off x="5303520" y="3977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4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反馈回路必须闭合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303520" y="432511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学到什么要能验证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57200" y="4800600"/>
            <a:ext cx="8229600" cy="18288"/>
          </a:xfrm>
          <a:prstGeom prst="rect">
            <a:avLst/>
          </a:prstGeom>
          <a:solidFill>
            <a:srgbClr val="E8E8F0"/>
          </a:solidFill>
          <a:ln/>
        </p:spPr>
      </p:sp>
      <p:sp>
        <p:nvSpPr>
          <p:cNvPr id="40" name="Text 38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核心转变：从"我完成了"到"你用上了"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知识管理系统的问题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4023360" cy="457200"/>
          </a:xfrm>
          <a:prstGeom prst="roundRect">
            <a:avLst>
              <a:gd name="adj" fmla="val 16000"/>
            </a:avLst>
          </a:prstGeom>
          <a:solidFill>
            <a:srgbClr val="8B00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601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常见问题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40233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554480"/>
            <a:ext cx="73152" cy="54864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5448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知识沉淀 ≠ 知识到达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40233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194560"/>
            <a:ext cx="73152" cy="54864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19456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文档齐全但无人查阅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40233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834640"/>
            <a:ext cx="73152" cy="54864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83464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培训参与率高但转化率低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474720"/>
            <a:ext cx="40233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474720"/>
            <a:ext cx="73152" cy="54864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47472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经验分享会变成了表彰会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63440" y="960120"/>
            <a:ext cx="4023360" cy="457200"/>
          </a:xfrm>
          <a:prstGeom prst="roundRect">
            <a:avLst>
              <a:gd name="adj" fmla="val 16000"/>
            </a:avLst>
          </a:prstGeom>
          <a:solidFill>
            <a:srgbClr val="C41E3A"/>
          </a:solidFill>
          <a:ln/>
        </p:spPr>
      </p:sp>
      <p:sp>
        <p:nvSpPr>
          <p:cNvPr id="19" name="Text 17"/>
          <p:cNvSpPr/>
          <p:nvPr/>
        </p:nvSpPr>
        <p:spPr>
          <a:xfrm>
            <a:off x="4663440" y="9601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根本原因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663440" y="1554480"/>
            <a:ext cx="402336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1691640"/>
            <a:ext cx="411480" cy="4114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2" name="Text 20"/>
          <p:cNvSpPr/>
          <p:nvPr/>
        </p:nvSpPr>
        <p:spPr>
          <a:xfrm>
            <a:off x="4800600" y="16916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303520" y="164592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生产者思维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303520" y="192024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把经验"发布"出去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63440" y="2331720"/>
            <a:ext cx="402336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00600" y="2468880"/>
            <a:ext cx="411480" cy="4114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7" name="Text 25"/>
          <p:cNvSpPr/>
          <p:nvPr/>
        </p:nvSpPr>
        <p:spPr>
          <a:xfrm>
            <a:off x="4800600" y="2468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303520" y="242316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缺少接收确认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303520" y="269748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没有反馈机制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663440" y="3108960"/>
            <a:ext cx="402336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00600" y="3246120"/>
            <a:ext cx="411480" cy="4114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2" name="Text 30"/>
          <p:cNvSpPr/>
          <p:nvPr/>
        </p:nvSpPr>
        <p:spPr>
          <a:xfrm>
            <a:off x="4800600" y="32461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303520" y="320040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缺少反馈回路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303520" y="347472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无法验证是否送达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57200" y="425196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E8E8F0">
              <a:alpha val="70000"/>
            </a:srgbClr>
          </a:solidFill>
          <a:ln w="19050">
            <a:solidFill>
              <a:srgbClr val="C41E3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2519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核心问题：发布者完成了工作，但接收者一无所获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2026-07-16T16:22:05Z</dcterms:created>
  <dcterms:modified xsi:type="dcterms:W3CDTF">2026-07-16T16:22:05Z</dcterms:modified>
</cp:coreProperties>
</file>