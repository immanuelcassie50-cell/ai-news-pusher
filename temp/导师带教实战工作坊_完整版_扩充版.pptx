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notesMasterIdLst>
    <p:notesMasterId r:id="rId9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notesMaster" Target="notesMasters/notesMaster1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Relationship Id="rId102" Type="http://schemas.openxmlformats.org/officeDocument/2006/relationships/tableStyles" Target="tableStyles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463040" cy="146304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097280" cy="1097280"/>
          </a:xfrm>
          <a:prstGeom prst="ellipse">
            <a:avLst/>
          </a:prstGeom>
          <a:solidFill>
            <a:srgbClr val="C41E3A">
              <a:alpha val="0"/>
            </a:srgbClr>
          </a:solidFill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导师带教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实战工作坊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91440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2天，让带教从"凭感觉"变成"有方法"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0" y="4754880"/>
            <a:ext cx="2194560" cy="3886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4754880"/>
            <a:ext cx="36576" cy="3886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548640"/>
            <a:ext cx="1828800" cy="18288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C41E3A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82880"/>
            <a:ext cx="2560320" cy="256032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C41E3A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731520"/>
            <a:ext cx="109728" cy="109728"/>
          </a:xfrm>
          <a:prstGeom prst="rect">
            <a:avLst/>
          </a:prstGeom>
          <a:solidFill>
            <a:srgbClr val="C41E3A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914400"/>
            <a:ext cx="73152" cy="73152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097280"/>
            <a:ext cx="146304" cy="36576"/>
          </a:xfrm>
          <a:prstGeom prst="rect">
            <a:avLst/>
          </a:prstGeom>
          <a:solidFill>
            <a:srgbClr val="C41E3A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7315200" cy="731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91640"/>
            <a:ext cx="3657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读懂学徒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1: 认清带教 → 四类对话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011680"/>
            <a:ext cx="18288" cy="14630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20116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201168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31089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2: 路线图 → 评估定稿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2天系统训练 = 带教能力全面提升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两天怎么过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 · 上午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认清带教，读懂学徒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第一天下午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100584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1430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 · 上午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196596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10312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第二天下午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804672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200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第一天安排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上午：带教认知与学徒诊断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下午：四类对话实战演练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200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第二天安排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上午：带教路线图设计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下午：成果评估与改进定稿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系统化学习路径 = 从"知道"到"做到"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3657600" cy="36576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554480"/>
            <a:ext cx="4572000" cy="457200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1828800" cy="25831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认清带教，读懂学徒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8288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3840480"/>
            <a:ext cx="822960" cy="82296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张经理的困惑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572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45720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公司销售冠军 · 年业绩破千万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今年被任命为导师，带一个新人小李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3个月后...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36576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小李的业绩只有张经理当年的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"我都教了呀，为什么他还是不行？"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20640" y="9144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引发思考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12064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你的情况是怎样的？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2402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带教时是否也有类似困惑？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26974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成功经验和失败教训各是什么？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94960" y="31546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带教到底应该怎么做？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38404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带着问题进入今天的课程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三种最常见的带教失效模式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 · 隐形导师型 · 复制自我型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导师讲，学徒记，回去不会做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经验未经消化，直接倾倒给学徒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说"有问题来找我"，从不主动推进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被动等待，学徒不好意思打扰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28016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2834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按自己当年路径带，不适合别人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忽视学徒的个体差异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经验未经消化，学徒根本接不住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张经理花了3天，把所有销售技巧整理成50页PPT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学徒小李记满笔记，认真程度让张经理很满意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问题不在知识对不对，在于未经消化的经验直接传递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知识倾倒型的特征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讲得多、问得少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给答案、不给思考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认为"讲清楚=学会了"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学徒表现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6916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记笔记很认真、实际应用很少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遇到新问题就卡住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不敢提问，怕显得不够聪明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典型语言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"我当年就是这样做的"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知识倾倒型 → 如何避免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核心原则：示范 + 跟踪 + 复盘，而不是替他做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"做完后结果是什么？"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51460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"下次你会调整什么？"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让学徒在做中学，而不是听完就做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从不主动推进，学徒不好意思打扰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张经理说"有问题随时来找我"，然后就真的没然后了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他很忙，学徒不好意思打扰，绕着走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学徒自己摸索，导师以为一切顺利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到年终才发现学徒几乎没成长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没有主动沟通机制，导师和学徒都在等对方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隐形导师型的特征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被动等待、不主动跟进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没有固定沟通机制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认为"他没来找我就说明没问题"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学徒表现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6916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不敢问、自己扛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遇到问题隐藏起来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78892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认为"主动问会显得自己不行"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典型语言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"他没来找我，应该没问题吧"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 → 如何避免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核心原则：建立固定的沟通频次，不要等学徒来找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603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快速确认进展和卡点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25603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60分钟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正式复盘和规划调整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主动问："这周卡在哪？"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适合自己的方法，不能成为别人的唯一方法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张经理当年从基层做起，5年做到销售冠军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他按自己的成长路径带学徒：多跑客户、多喝酒、多坚持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但学徒性格内向、不善应酬，学习方式也不同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同样的方法，效果完全不同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成功路径不可复制，因为每个人的特质不同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复制自我型的特征与应对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导师特点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认为自己当年的方法是对的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忽视学徒的个体差异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如何避免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先诊断学徒的发展阶段和能力水平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根据学徒特点选择带教方式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定期评估效果，及时调整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比了解背景更重要的是读懂状态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18288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四种发展阶段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五种学徒画像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各有成长卡点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完成有效初始诊断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3200400"/>
            <a:ext cx="1828800" cy="1828800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判断学徒所处阶段，选择带教重点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5029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1645920"/>
            <a:ext cx="27432" cy="3200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246120"/>
            <a:ext cx="5029200" cy="2743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6916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高意愿 · 低能力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密集指导，示范要领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6916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348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高意愿 · 高能力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教练引导，鼓励尝试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2918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低意愿 · 低能力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重建信心，减少压力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0" y="3291840"/>
            <a:ext cx="242316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3840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低意愿 · 高能力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授权委托，启发思考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07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5074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1737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1645920"/>
            <a:ext cx="2011680" cy="3200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228600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先诊断，后带教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不同阶段需要不同的带教方式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没有最好的方法，只有适合的方法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四个阶段的核心差异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不同阶段，导师的重点动作不同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01168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371600" cy="3657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密集指导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手把手示范，讲解要领，建立标准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554480"/>
            <a:ext cx="201168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6080" y="2514600"/>
            <a:ext cx="137160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教练引导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鼓励尝试，反馈及时，肯定进步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554480"/>
            <a:ext cx="201168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74920" y="2514600"/>
            <a:ext cx="137160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给任务，给资源，让学徒自己做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201168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554480"/>
            <a:ext cx="201168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2514600"/>
            <a:ext cx="137160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重建信心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1089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降低预期，减少压力，找到突破口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核心：识别阶段 -&gt; 匹配方法 -&gt; 动态调整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五种常见学徒画像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了解成长卡点，避免常见误区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职场新人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刚毕业，需要建立职业习惯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转岗新人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34640" y="22402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新岗位新挑战，需要重建信心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34640" y="29260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有能力，需要拉伸性任务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晋升新人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34640" y="36118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新角色，需要角色认知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瓶颈员工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834640" y="4297680"/>
            <a:ext cx="18288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有经验但遇瓶颈，需要突破方向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1371600"/>
            <a:ext cx="164592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7132320" y="3383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是哪一种？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学徒画像详解（一）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职场新人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职业习惯建立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替他做决定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128016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培养时间管理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188720"/>
            <a:ext cx="393192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转岗新人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37760" y="201168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新旧角色切换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88036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803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期望值过高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3749040"/>
            <a:ext cx="12801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749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先认可已有经验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学徒画像详解（二）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缺乏拉伸机会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保护过度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94760"/>
            <a:ext cx="1097280" cy="2926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给有挑战的任务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1143000"/>
            <a:ext cx="265176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晋升新人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29000" y="19659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角色认知不清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803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当下属用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3794760"/>
            <a:ext cx="1097280" cy="2926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帮他建立新角色思维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143000"/>
            <a:ext cx="2651760" cy="3566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6126480" y="1143000"/>
            <a:ext cx="265176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瓶颈员工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263640" y="19659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1965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成长卡点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陷入舒适区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28803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8803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导师易踩坑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只给批评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3794760"/>
            <a:ext cx="1097280" cy="29260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794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最该做的一件事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找到新的成长点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首次谈话的真正目标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不是互相认识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是完成有效的初始诊断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原则：先听少说，多问开放式问题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457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三个目标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109728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了解现状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了解学徒的现状和困惑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13632" y="1691640"/>
            <a:ext cx="36576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28600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确认阶段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8912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确认学徒的发展阶段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13632" y="2880360"/>
            <a:ext cx="36576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3474720"/>
            <a:ext cx="548640" cy="5486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3891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建立关系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建立信任和沟通模式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0" y="4114800"/>
            <a:ext cx="50292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4114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关键：让学徒说，你来听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首次谈话5问（上）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前三个问题，了解现状和困惑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「你对这个岗位的理解是什么？」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2057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探测认知水平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了解学徒对工作的理解深度和角色定位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「你目前最大的挑战是什么？」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了解核心困惑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识别阻碍学徒发展的关键障碍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749040"/>
            <a:ext cx="1097280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「过去遇到类似挑战时你是怎么处理的？」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37360" y="4343400"/>
            <a:ext cx="1188720" cy="274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343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评估过往经验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了解学徒的解决问题的方式和经验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首次谈话5问（下）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后两个问题，明确目标和建立模式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0" cy="1051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「你希望3个月后自己变成什么样？」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明确成长目标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帮助学徒设定清晰的成长方向和期望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1097280" cy="10515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697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「有什么是我能帮到你的？」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建立求助模式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打开沟通渠道，让学徒知道如何获得支持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追问技巧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「然后呢？」「能举个例子吗？」— 追问事实、原因、影响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读懂答案背后的真实含义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表层回答 vs 深层含义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914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「我觉得还行」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可能是不敢说真话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事实、原因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256032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「我以前没做过这个」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514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可能是请求支持，也可能是抗拒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追问意图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256032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「我会努力的」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6616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可能是没有具体方法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3840480"/>
            <a:ext cx="155448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追问方案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追问方向：事实 → 原因 → 影响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带入真实学徒，完成初步诊断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确定你的真实学徒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用能力-意愿矩阵判断学徒所处阶段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对照五种画像，找到最接近的类型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准备首次谈话的5个问题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时间：15分钟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731520"/>
            <a:ext cx="274320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05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工具准备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学徒画像卡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28600" cy="2286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首次谈话问题清单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3200400"/>
            <a:ext cx="237744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2004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练习目标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完成对真实学徒的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初步诊断报告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工具总结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19456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先诊断，后带教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640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判断发展阶段，选择带教重点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45720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五种学徒画像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了解成长卡点，避免常见误区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45720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首次谈话5问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完成初始诊断，建立信任关系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4297680"/>
            <a:ext cx="54864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下一步：使用诊断工具，真正了解你的学徒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四类带教对话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1645920" cy="36576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 · 问题辅导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 · 关系辅导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73152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731520"/>
            <a:ext cx="237744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7764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学徒要完成一项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具体工作，需要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方法指导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73152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731520"/>
            <a:ext cx="2377440" cy="109728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学徒遇到困难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需要解决思路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和方案支持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83464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834640"/>
            <a:ext cx="2377440" cy="10972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7764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学徒需要职业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发展方向的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指导和建议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834640"/>
            <a:ext cx="2377440" cy="109728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和工作关系上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四种情境，四种对话结构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根据学徒的不同需求，选择合适的对话类型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学徒需要完成一项具体工作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计划 → 执行 → 复盘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463040"/>
            <a:ext cx="109728" cy="15544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学徒遇到困难需要解决思路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→ 分析 → 方案 → 行动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109728" cy="1554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学徒需要职业发展方向指导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347472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→ 目标 → 路径 → 里程碑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154680"/>
            <a:ext cx="402336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154680"/>
            <a:ext cx="109728" cy="1554480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6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学徒在人际或工作关系上需要支持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4206240"/>
            <a:ext cx="3474720" cy="365760"/>
          </a:xfrm>
          <a:prstGeom prst="rect">
            <a:avLst/>
          </a:prstGeom>
          <a:solidFill>
            <a:srgbClr val="6A6A6A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 → 事件 → 影响 → 共识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学徒要完成一项具体工作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需要方法指导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3716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新员工第一次做月度汇报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管培生第一次独立项目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跨部门协作第一次主持会议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137160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授人以鱼不如授人以渔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457200"/>
            <a:ext cx="54864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457200"/>
            <a:ext cx="109728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548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914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任务辅导是导师帮助学徒掌握完成某项具体工作的方法，使其能够独立完成类似任务。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示范方法，明确标准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解答疑惑，提供建议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228600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2286000"/>
            <a:ext cx="17373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0" y="2788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检查成果，反馈改进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931920"/>
            <a:ext cx="548640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关键动作：示范 → 练习 → 反馈 → 独立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任务辅导的三个关键问题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通过提问引导学徒思考，而非直接给答案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9748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让他先思考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激发主动性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了解他的思路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发现潜在问题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63040"/>
            <a:ext cx="2697480" cy="8229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"做完后结果是什么？"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明确预期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确认目标一致性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量化成果标准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避免返工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26974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463040"/>
            <a:ext cx="2697480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"下次你会调整什么？"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引导复盘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92608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培养反思习惯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积累经验教训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核心心法：少说多问，让学徒自己找到答案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导师如何通过提问引导学徒找到解决方案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案例：新员工小李第一次需要做月度汇报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导师，我下周一要第一次做月度汇报，我不知道怎么开始...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这是个很好的机会。你以前有看过别人的汇报吗？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看过一些，但不知道什么才算好...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那你觉得月度汇报主要目的是什么？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导师技巧：通过提问引导，而非直接告知答案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提问引导法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任务辅导关键问句清单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三阶段提问清单，贯穿任务辅导全流程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计划阶段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这个任务的目标是什么？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你打算分哪几步完成？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预计需要多少时间？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可能遇到什么困难？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417320"/>
            <a:ext cx="269748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91840" y="20574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进展如何？有没有遇到问题？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需要我提供什么支持？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4290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下一步计划是什么？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320040" cy="320040"/>
          </a:xfrm>
          <a:prstGeom prst="ellipse">
            <a:avLst/>
          </a:prstGeom>
          <a:solidFill>
            <a:srgbClr val="D32F2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有没有偏离原定计划？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复盘阶段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26480" y="20574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最终结果和预期一致吗？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27432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有哪些地方可以做得更好？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34290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3429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下次会调整什么？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4114800"/>
            <a:ext cx="320040" cy="320040"/>
          </a:xfrm>
          <a:prstGeom prst="ellipse">
            <a:avLst/>
          </a:prstGeom>
          <a:solidFill>
            <a:srgbClr val="4A4A4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37960" y="4114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学到了什么新东西？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使用建议：在任务开始前、执行中、完成后分别使用对应阶段的问题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学徒卡住了不知道卡在哪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学徒遇到一个技术问题，尝试了很久解决不了，导师问他怎么回事，他说"我也不知道哪里不对，就是不行"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先帮他搞清楚问题是什么，再谈解决方案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问题没定义清楚之前，给答案只会让学徒更依赖导师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导师听完就给答案，学徒下次还是卡在同样的地方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不教"渔"，只给"鱼"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3F倾听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情绪 / 意图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对方说的是客观事实还是主观判断？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"这个客户很难缠"是观点，"这个客户签了合同又不付款"才是事实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对方现在是什么情绪状态？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沮丧？焦虑？失望？愤怒？情绪不处理，沟通就是鸡同鸭讲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37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329184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747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对方真正想要的是什么？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抱怨背后是诉求，沉默背后是顾虑，听懂意图才能真正帮到他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3F倾听示例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"这个客户太难缠了，我都不想跟了。"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"你觉得这个客户难缠，具体是什么情况？"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0000"/>
            </a:srgbClr>
          </a:solidFill>
          <a:ln w="19050">
            <a:solidFill>
              <a:srgbClr val="D32F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8803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"听起来你有点沮丧？"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4A4A4A">
              <a:alpha val="10000"/>
            </a:srgbClr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5661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5661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"你希望达到什么结果？"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关键：先确认事实，再处理情绪，最后探索意图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问题辅导关键话术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能具体说说是哪一步卡住了吗？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这个问题是什么时候开始的？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试过哪些方法了？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卡住的感觉是什么样的？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澄清问题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如果解决了这个问题，会有什么不同？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你觉得根本原因是什么？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这个问题解决了，其他问题会不会也跟着解决？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引导解决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你自己有什么想法？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如果这个问题是你的，你会怎么做？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下次遇到类似问题，你觉得该怎么入手？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学徒希望在职业上有突破，但方向不清、动力不稳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学徒说"我想提升自己"，但被追问"往哪个方向提升？""提升什么能力？""什么时候实现？"时，却答不上来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帮学徒把模糊的愿望变成可执行的阶段计划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从"我想升职"到"我可以做什么"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引导者而不是规划者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帮学徒自己找到方向，而不是替他做职业规划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SMART目标在带教中的实操版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07899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78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提升能力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07899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07899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掌握客户需求分析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185623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856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做得更好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85623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856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每月新签3个客户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48840" y="263347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6334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一年做到总监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94960" y="263347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6334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季度业绩提升20%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515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48840" y="341071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4107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随便定一个目标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341071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4107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目标与学徒的职业方向相关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5156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48840" y="4187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以后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4187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3个月内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4A4A4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带教中用SMART：把学徒的模糊愿望变成清晰、可执行、有时间限制的具体行动计划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发展辅导关键话术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探索方向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你希望1年后变成什么样？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什么让你觉得有成就感？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你最佩服身边的谁？为什么？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如果没有任何限制，你会做什么？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细化目标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这个目标具体是指什么？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你怎么衡量自己做到了？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达成这个目标需要什么能力？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目前差距在哪里？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制定计划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要达成这个目标，需要具备什么条件？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接下来一个月你打算做什么？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我能帮到你什么？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什么时候我们回顾进展？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学徒在人际沟通或团队融入上遇到困难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场景举例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学徒说"和同事相处不好，觉得被孤立"，但又说不清具体发生了什么，也不知道该怎么改善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帮他分析，而不是帮他"搞定"别人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学徒自己的人际问题，最终需要他自己去面对和解决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导师角色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教练而不是调解员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不替学徒去沟通，而是教他如何沟通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关系辅导的三种提问技巧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鼓励学徒详细描述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10312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"能说说具体情况吗？"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"后来发生了什么？"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"你怎么看这件事？"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未来式提问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引导思考解决方案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880360"/>
            <a:ext cx="210312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"如果这个问题解决了，会是什么样子？"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"你希望事情往哪个方向发展？"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"最好的结果会是什么样的？"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28016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探索式提问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深入挖掘根本原因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880360"/>
            <a:ext cx="210312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0632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"这种情况以前发生过吗？"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"还有其他类似的事吗？"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"你觉得根本原因是什么？"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64592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32004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051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051560"/>
            <a:ext cx="3200400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0515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16459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1259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92024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示范+跟踪+复盘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192024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"你打算怎么做？"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1645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99466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问题辅导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278892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2788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先搞清楚问题再给方案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278892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788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"卡在哪了？"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6459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38633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576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发展辅导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224028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帮模糊愿望变可执行计划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03520" y="3657600"/>
            <a:ext cx="320040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6576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"你希望1年后什么样？"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645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" y="47320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262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03120" y="452628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240280" y="4526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帮他分析而不是替他搞定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03520" y="4526280"/>
            <a:ext cx="32004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4526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"具体是什么情况？"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80467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四类对话真实场景演练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选择两种类型的对话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用真实场景演练完整对话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另一组观察并结构化反馈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反馈框架（观察组使用）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用了哪种对话类型？  2. 关键问题问对了吗？  3. 有没有让学徒自己思考？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15 分钟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0" y="310896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讲师点评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逐组点评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关注：提问深度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引导方式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学徒参与度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第一天收尾：锁定带教方向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基于学徒诊断结论和对话练习，确认以下内容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学徒发展阶段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你的学徒处于哪个发展阶段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D1/D2/D3/D4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当前最需要的带教类型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当前最需要哪种类型的带教对话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问题 / 发展 / 关系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第一阶段核心目标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最核心的3个目标（可观察、可衡量）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840480"/>
            <a:ext cx="17373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明天路线图构建的直接输入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17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这三个问题的答案 = 明天路线图构建的直接输入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3657600" cy="365760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1554480"/>
            <a:ext cx="4572000" cy="4572000"/>
          </a:xfrm>
          <a:prstGeom prst="ellipse">
            <a:avLst/>
          </a:prstGeom>
          <a:solidFill>
            <a:srgbClr val="C41E3A">
              <a:alpha val="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60320"/>
            <a:ext cx="1828800" cy="25831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路线图与反馈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8288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9184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分阶段带教路线图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3291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291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840480"/>
            <a:ext cx="822960" cy="822960"/>
          </a:xfrm>
          <a:prstGeom prst="ellipse">
            <a:avLst/>
          </a:prstGeom>
          <a:solidFill>
            <a:srgbClr val="C41E3A">
              <a:alpha val="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分阶段带教路线图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从启动到收官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核心观点：带教不是一个稳定的状态，而是一个持续演变的过程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2560320"/>
            <a:ext cx="6858000" cy="2743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94560"/>
            <a:ext cx="25603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377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2194560"/>
            <a:ext cx="256032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6908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06908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2194560"/>
            <a:ext cx="256032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237744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6364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03720" y="36118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611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 · 建立信任与方向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345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不是仪式，是确认共识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20345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0345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用能力-意愿矩阵判断阶段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2232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232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明确阶段目标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SMART目标具体化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32232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2232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 + 每月60分钟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32F2F">
              <a:alpha val="8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4343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跳过这个阶段直接布置任务，信任基础没建立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启动阶段关键动作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14884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不是签个名字，是确认双方对带教目标的共识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协议内容：学徒的发展目标、沟通频次、评估方式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9748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194560"/>
            <a:ext cx="214884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用能力-意愿矩阵判断阶段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用五种画像定位类型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214884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3172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每周20分钟快速确认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每月60分钟正式复盘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启动阶段的核心：让学徒感受到「这是我的导师，不是我的上级」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 · 深化能力与信心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按计划推进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及时发现偏差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783080"/>
            <a:ext cx="73152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103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783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定期评估进展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E3A">
              <a:alpha val="1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最重要的习惯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固定的一对一复盘谈话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不是汇报，是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94560" y="4160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你觉得卡在哪？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4160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160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下周的重点是什么？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——辅导对话的核心，不是给答案，是引导思考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辅导阶段核心对话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每周20分钟快速确认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3454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这周进展如何？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0322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0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卡在哪里了？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7190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719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下周的重点是什么？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005840"/>
            <a:ext cx="397764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005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每月60分钟正式复盘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92040" y="187452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20345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345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对照目标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874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识别偏差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27432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9032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9032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调整计划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743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重新规划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61188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37719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7719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给予反馈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双向反馈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辅导阶段导师的自我追问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D32F2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持续问自己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学徒的进步是靠自己还是靠我？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我是在辅导还是在替代？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核心目标：让学徒逐渐独立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4709160"/>
            <a:ext cx="5486400" cy="365760"/>
          </a:xfrm>
          <a:prstGeom prst="roundRect">
            <a:avLst>
              <a:gd name="adj" fmla="val 15000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从"帮他解决" 到 "帮他想清楚"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 · 评估与移交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431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7830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9431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给出反馈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6974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8575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给出职业发展建议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69748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697480"/>
            <a:ext cx="73152" cy="777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8575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57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帮学徒做好"没有导师之后"的准备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C41E3A">
              <a:alpha val="8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带教结束，是学徒真正独立的开始，不是被放弃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总结阶段关键动作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214884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用五维度框架评估学徒发展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与学徒自我评估对比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9748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职业发展建议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240280"/>
            <a:ext cx="214884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基于带教期间的观察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给学徒未来发展方向建议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移交准备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240280"/>
            <a:ext cx="214884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3774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逐渐减少介入</a:t>
            </a:r>
            <a:endParaRPr lang="en-US" sz="11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建立学徒独立解决问题的能力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最好的带教：学徒在结束时比开始时更自信、更独立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不同带教场景的路线图差异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697480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新员工带教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前期密度高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后期逐步放手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051560"/>
            <a:ext cx="2697480" cy="5943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高潜人才培养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更早引入拉伸性任务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给有挑战的工作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051560"/>
            <a:ext cx="2697480" cy="594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0515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晋升过渡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182880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22860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角色认知调整是最重要的早期任务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3832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帮助建立新角色的思维模式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核心原则：路线图不是同一张，是根据场景定制的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18872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194560" cy="18288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签订带教协议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完成学徒诊断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明确阶段目标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建立沟通频次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005840"/>
            <a:ext cx="2743200" cy="7315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18872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3756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D32F2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6908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中间主体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017520"/>
            <a:ext cx="2194560" cy="18288"/>
          </a:xfrm>
          <a:prstGeom prst="rect">
            <a:avLst/>
          </a:prstGeom>
          <a:solidFill>
            <a:srgbClr val="D32F2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按计划推进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及时发现偏差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定期评估进展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18872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228600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4A4A4A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2286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017520"/>
            <a:ext cx="2194560" cy="18288"/>
          </a:xfrm>
          <a:prstGeom prst="rect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给出反馈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职业发展建议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移交准备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核心原则：路线图不是同一张，是根据场景定制的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为真实学徒搭建三阶段路线图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53162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5316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标注关键动作和里程碑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626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确定沟通频次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20090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明确每个阶段的重点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C41E3A">
              <a:alpha val="8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31920" y="3337560"/>
            <a:ext cx="18288" cy="365760"/>
          </a:xfrm>
          <a:prstGeom prst="rect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0" y="32918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讲师支持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逐组确认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06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为你的学徒定制一份完整的三阶段带教路线图，包含每个阶段的关键动作、沟通频次和里程碑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645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最容易被忽略的带教核心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会带教的导师不一定会反馈，但会反馈的导师带教效果会明显更好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5029200" cy="822960"/>
          </a:xfrm>
          <a:prstGeom prst="roundRect">
            <a:avLst>
              <a:gd name="adj" fmla="val 5556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4206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大多数反馈没有效果的原因：太模糊、太晚、太单向、太"好意"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适用于需要改进的情况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描述行为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说的是什么事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表达后果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影响是什么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46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征求意见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1371600"/>
            <a:ext cx="2011680" cy="320040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7543800" y="164592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着眼未来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下次怎么做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= Behavior + Express + Solicit + Tomorrow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说清楚具体是哪个行为需要改进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说清楚具体是哪个行为需要改进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客观描述，不带评价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D32F2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"你工作态度有问题"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"这周你有3次没有按时提交报告"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关键：说事实，不是说判断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表达后果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说明这个行为的影响是什么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说明这个行为的影响是什么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说明对他人的影响，不夸大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"这影响了团队的整体进度"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"客户等待的时间变长了"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关键：让学徒理解行为的影响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征求意见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问学徒对这个问题的看法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问学徒对这个问题的看法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等对方回应，不是独白，是对话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"你怎么看这件事？"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"你觉得应该怎么改进？"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关键：让学徒参与解决方案的制定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着眼未来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讨论下次怎么做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讨论下次怎么做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具体、可执行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"下次遇到类似情况，你会怎么做？"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"我们约定一个具体的改进方案"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关键：让学徒有明确的行动方向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小李，我想和你聊一下这周的客户拜访情况。（B-描述行为）你连续3次拜访都没有按公司要求提前发邮件确认。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哦，那几天确实比较忙……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（E-表达后果）客户反映临时收到确认很紧张，影响了拜访效果。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5603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我明白了，下次一定注意。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108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（S-征求意见）你觉得怎么改进能避免这种情况？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6576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可以设置提醒，提前一天发确认邮件。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2062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（T-着眼未来）好，那我们就约定每天下班前检查第二天的客户确认，好吗？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用真实场景完整跑一遍BEST流程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选择一个真实的改进场景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用BEST四步完整表达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另一人扮演学徒给反馈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分钟/组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现场反馈并逐组点评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适用于需要强化的情况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核心价值：不是泛泛表扬，而是让学徒清楚自己哪里做对了、下次能重复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说清楚做了什么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带来了什么好结果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51460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Appreciation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欣赏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你为什么值得被感谢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说清楚学徒具体做了什么事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说清楚学徒具体做了什么事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具体、可观察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D32F2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"你表现很好"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正确示范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"上周你主动承担了客户需求分析报告"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关键：让学徒知道具体是哪件事做得好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- 表达影响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说明这件事带来的好结果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说明这件事带来的好结果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具体、有意义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"这份报告帮客户理清了需求，推动了签约"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"你的主动让团队效率提升了"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关键：让学徒理解自己工作的价值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表达欣赏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说明学徒为什么值得被感谢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说明学徒为什么值得被感谢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真诚、具体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"你这种主动担当的态度，正是我们团队需要的"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"谢谢你为客户付出的努力"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关键：强化正向行为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小王，想和你聊一下上周的工作。（B-行为）你主动承担了客户需求分析报告，还额外做了竞品对比分析。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谢谢，我就是想做得更全面一些。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（I-影响）这份报告帮客户理清了需求，客户反馈非常好，还特意打电话表扬我们。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太好了！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（A-欣赏）你这种主动担当、追求卓越的态度，正是我们团队最需要的。谢谢你！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vs BIA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两种反馈法适用不同场景</a:t>
            </a:r>
            <a:endParaRPr lang="en-US" sz="16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BEST反馈法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BIA积极性反馈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需要改进的情况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需要强化的情况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表达后果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征求意见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表达欣赏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第四步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着眼未来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核心目的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引导改进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强化正向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第二天上午总结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启动阶段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建立信任与方向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辅导阶段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深化能力与信心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总结阶段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评估与移交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适用于改进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表达后果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征求意见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- 着眼未来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适用于强化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- 描述行为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- 表达影响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表达欣赏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评估与定稿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 · 带教节奏 · KISS复盘法 · 工具包定稿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为什么需要结构化评估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带教结束时，"整体感觉不错，能力有提升"对学徒没有帮助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结构化评估的意义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让评估从主观印象变成有依据的结论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对下一位导师有参考价值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帮助学徒明确发展方向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73152" cy="914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评估是对话，不是判决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0" y="3931920"/>
            <a:ext cx="914400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五维度发展评估框架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3385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工作态度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898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责任心、主动性、工作热情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133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5681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2128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岗位任务完成情况、技能掌握程度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7977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学习能力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0358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学习积极性、举一反三速度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综合能力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表达、逻辑、沟通协调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职业操守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681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底线与规范意识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0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维度一：工作态度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定义：对工作的责任心、主动性和热情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按时完成任务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主动承担责任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主动发现问题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主动提出建议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38728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3" name="Text 21"/>
          <p:cNvSpPr/>
          <p:nvPr/>
        </p:nvSpPr>
        <p:spPr>
          <a:xfrm>
            <a:off x="3767328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工作热情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积极参与讨论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0" name="Text 28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乐于帮助同事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45936" y="382219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2" name="Text 30"/>
          <p:cNvSpPr/>
          <p:nvPr/>
        </p:nvSpPr>
        <p:spPr>
          <a:xfrm>
            <a:off x="6574536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追求卓越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维度二：专业能力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定义：岗位任务完成情况和技能掌握程度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按时按质完成工作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达成既定目标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技能掌握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熟练运用所需技能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解决实际问题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独立能力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能够在少指导的情况下完成任务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维度三：学习能力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定义：学习积极性和举一反三的能力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学习积极性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主动学习新知识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主动请教他人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能够将学到的知识应用到新场景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反思总结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能够从错误中学习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维度四：综合能力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定义：表达、逻辑思维和沟通协调能力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表达能力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清晰表达观点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书面表达流畅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逻辑思维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分析问题有条理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38728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决策有依据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沟通协调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与同事协作顺畅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处理冲突得当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维度五：职业操守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定义：底线意识和规范遵守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底线意识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遵守公司制度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维护职业道德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保密意识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38728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3767328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妥善处理敏感信息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17373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1616" y="1737360"/>
            <a:ext cx="2606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54496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诚信做事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45936" y="254203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45936" y="3182112"/>
            <a:ext cx="109728" cy="109728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说到做到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阶段评估与终期评估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阶段评估（每季度）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发现问题早，及时调整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不要等终期才发现方向错了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评估是对话，让学徒参与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914400"/>
            <a:ext cx="4069080" cy="5486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终期评估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综合评估学徒发展情况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给出职业发展建议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与学徒自我评估对比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当学徒没有按预期进步时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是能力问题？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需要更多培训或指导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是意愿问题？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需要了解背后的原因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是方向选错了？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2880360"/>
            <a:ext cx="173736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重新评估目标是否合适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核心原则：不能一概而论，要具体问题具体分析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可持续的带教节奏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好的带教不是随机的热情，是固定的节奏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最小可用节奏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快速确认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了解进度、解决问题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8728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60分钟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47288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正式复盘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47288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回顾表现、调整计划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1616" y="22860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242316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结构性评估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54496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五维度全面评估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关键：每个环节都有明确的任务，不能虚度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防止学徒过度依赖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从"帮他解决"到"帮他想清楚"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渐进式移交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每个阶段导师介入的深度逐步降低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学徒逐渐建立独立解决问题的能力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24688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D32F2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带教结束前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学徒应该已经能自己管理自己的成长了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48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4069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初期指导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40690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中期辅助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4069080"/>
            <a:ext cx="228600" cy="2286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后期监督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4069080"/>
            <a:ext cx="228600" cy="2286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独立成长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核心理念：带教一个人，收获两个人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哪些方法有效，继续保持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5176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哪些方法可以优化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停止做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哪些方法无效，需要停止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691640"/>
            <a:ext cx="1920240" cy="30175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182880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开始做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40880" y="3474720"/>
            <a:ext cx="137160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611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下次要尝试什么新方法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KISS复盘四步骤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回顾目标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当初的带教目标是什么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9748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3464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实际结果与目标的差距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成功和失败的原因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1005840"/>
            <a:ext cx="19659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51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总结经验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40880" y="2286000"/>
            <a:ext cx="1417320" cy="18288"/>
          </a:xfrm>
          <a:prstGeom prst="rect">
            <a:avLst/>
          </a:prstGeom>
          <a:solidFill>
            <a:srgbClr val="4A4A4A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K（继续）、I（改进）、S（停止）、S（开始）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32004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继续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改进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停止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4480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开始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KISS复盘示范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背景：张经理带小李3个月后的复盘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每周一对一复盘很有效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任务辅导时可以少给答案，多提问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不要在公开场合批评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6560" y="1600200"/>
            <a:ext cx="54864" cy="3108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06640" y="17830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开始记录学徒的成长里程碑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15分钟完成KISS复盘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回顾目标和实际结果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4173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制定下阶段计划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4747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"这次带教最大的收获是什么？"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"下次会做什么不同的事？"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657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快速、聚焦、可执行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工具包定稿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个人带教路线图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四类对话指南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7764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反馈工具包（BEST+BIA）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91440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051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17720" y="169164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828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带教节奏卡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17720" y="2468880"/>
            <a:ext cx="406908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606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KISS复盘习惯卡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定稿要求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针对真实学徒定制，不是通用模板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两天的学习回顾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认清带教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三种失效模式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读懂学徒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能力-意愿矩阵、五种画像、首次谈话5问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任务/问题/发展/关系辅导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9456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三阶段路线图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514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/ 辅导 / 总结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632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反馈技能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3383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+ BIA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9319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931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可观察行为标准 + KISS复盘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六样带走的东西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课程产出的六个核心工具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个人带教路线图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三阶段结构，有里程碑和关键动作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学徒诊断工具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能力-意愿矩阵 + 五种学徒画像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41732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四类对话指南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情境判断 + 核心推进逻辑 + 关键问句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反馈工具包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+ BIA 完整话术框架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690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五维度评估框架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可观察行为标准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3063240"/>
            <a:ext cx="109728" cy="1508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0372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导师复盘习惯卡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KISS结构 + 最小可用带教节奏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3分钟展示规则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每人3分钟，基于你的学徒和路线图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展示内容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你的学徒是谁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你选择的带教方式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第一阶段的核心目标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展示要求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4632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简洁明了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突出重点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2103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103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可操作性强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31546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46320" y="37947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组内互提改进建议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后续资源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持续支持你的带教实践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相关书籍推荐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182880" cy="1828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在线课程链接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社群支持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66160" y="2606040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导师交流群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3611880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定期回训机会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463040"/>
            <a:ext cx="265176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182880"/>
          </a:xfrm>
          <a:prstGeom prst="roundRect">
            <a:avLst>
              <a:gd name="adj" fmla="val 60000"/>
            </a:avLst>
          </a:prstGeom>
          <a:solidFill>
            <a:srgbClr val="D32F2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答疑支持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260604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讲师后续答疑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611880"/>
            <a:ext cx="182880" cy="1828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工具包持续更新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4630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2天，让带教从「凭感觉」变成「有方法」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338328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祝各位导师带教顺利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4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隐形导师型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导师总在旁边，但学徒还是不会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王总每天陪着新人跑客户，非常负责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学徒小陈觉得王总经验很丰富，但不敢独立拜访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问题不是不指导，而是没有给学徒独立解决问题的机会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复制自我型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用自己当年的方法教现在的学徒，忽略环境变化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李总监说：我当年就是这么跑客户的，一样有效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学徒小周按方法去陌拜，但客户直接挂断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问题不是方法不对，而是没有根据环境调整复制策略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BEST反馈法示例一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让学徒知道具体需要改进的行为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导师：小王，你这次客户拜访，B-行为：你介绍了产品后直接报价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导师：E-影响：客户说你太着急了，还没了解需求就谈价格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导师：T-展望：下次见面先聊需求再报价，客户感受会完全不同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BEST反馈法示例二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聚焦具体行为的建设性反馈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导师：小李，上周你给客户发的方案邮件，B-行为：内容很专业但太长了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导师：E-影响：客户说没时间看完全部内容，可能错过重点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一个月后，小李说："笔记我都记得，但一打电话就大脑空白"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导师：T-展望：下次方案控制在3页以内，重点结论放前面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导师如何通过提问引导学徒找到解决方案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案例：新员工小李第一次需要做月度汇报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导师，我下周一要第一次做月度汇报，我不知道怎么开始...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这是个很好的机会。你以前有看过别人的汇报吗？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看过一些，但不知道什么才算好...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那你觉得月度汇报主要目的是什么？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导师技巧：通过提问引导，而非直接告知答案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提问引导法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导师如何通过提问引导学徒找到解决方案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案例：新员工小李第一次需要做月度汇报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导师，我下周一要第一次做月度汇报，我不知道怎么开始...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这是个很好的机会。你以前有看过别人的汇报吗？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看过一些，但不知道什么才算好...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那你觉得月度汇报主要目的是什么？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导师技巧：通过提问引导，而非直接告知答案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提问引导法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导师如何通过提问引导学徒找到解决方案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案例：新员工小李第一次需要做月度汇报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0574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导师，我下周一要第一次做月度汇报，我不知道怎么开始...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7432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这是个很好的机会。你以前有看过别人的汇报吗？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4290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看过一些，但不知道什么才算好...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73152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那你觉得月度汇报主要目的是什么？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1828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导师技巧：通过提问引导，而非直接告知答案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65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提问引导法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3891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 - 学徒诊断卡使用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四类对话真实场景演练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选择两种类型的对话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用真实场景演练完整对话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另一组观察并结构化反馈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反馈框架（观察组使用）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用了哪种对话类型？  2. 关键问题问对了吗？  3. 有没有让学徒自己思考？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15 分钟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0" y="310896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讲师点评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逐组点评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关注：提问深度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引导方式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学徒参与度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 - 带教路线图规划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四类对话真实场景演练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选择两种类型的对话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用真实场景演练完整对话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另一组观察并结构化反馈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反馈框架（观察组使用）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用了哪种对话类型？  2. 关键问题问对了吗？  3. 有没有让学徒自己思考？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时间安排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15 分钟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669280" y="310896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讲师点评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逐组点评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关注：提问深度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引导方式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学徒参与度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小李，我想和你聊一下这周的客户拜访情况。（B-描述行为）你连续3次拜访都没有按公司要求提前发邮件确认。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哦，那几天确实比较忙……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（E-表达后果）客户反映临时收到确认很紧张，影响了拜访效果。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5603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我明白了，下次一定注意。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108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（S-征求意见）你觉得怎么改进能避免这种情况？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6576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可以设置提醒，提前一天发确认邮件。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2062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（T-着眼未来）好，那我们就约定每天下班前检查第二天的客户确认，好吗？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BEST反馈法完整案例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小李，我想和你聊一下这周的客户拜访情况。（B-描述行为）你连续3次拜访都没有按公司要求提前发邮件确认。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63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哦，那几天确实比较忙……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0116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（E-表达后果）客户反映临时收到确认很紧张，影响了拜访效果。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60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5603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我明白了，下次一定注意。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108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108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（S-征求意见）你觉得怎么改进能避免这种情况？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57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6576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可以设置提醒，提前一天发确认邮件。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939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06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2062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（T-着眼未来）好，那我们就约定每天下班前检查第二天的客户确认，好吗？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小王，想和你聊一下上周的工作。（B-行为）你主动承担了客户需求分析报告，还额外做了竞品对比分析。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谢谢，我就是想做得更全面一些。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（I-影响）这份报告帮客户理清了需求，客户反馈非常好，还特意打电话表扬我们。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太好了！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（A-欣赏）你这种主动担当、追求卓越的态度，正是我们团队最需要的。谢谢你！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BIA积极性反馈完整案例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小周，想和你聊一下今天下午的客户演示。（B-行为）你在演示前准备了多个不同行业的案例。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是的，我特意找了几个相关行业的案例。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（I-影响）客户说你非常专业，能针对他们的具体情况给出方案，这正是他们选择我们的原因。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71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谢谢师傅指导！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（A-欣赏）你这种针对不同客户做定制化准备的做法，正是顶级销售的核心能力，非常棒！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括号内为导师内心步骤，实际对话时不需要说出步骤名称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五维度一：心态评估表示例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维度一：心态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五维度二：专业能力评估表示例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维度二：专业能力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五维度三：学习能力评估表示例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维度三：学习能力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五维度四：综合素质评估表示例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维度四：综合素质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五维度五：职业素养评估表示例</a:t>
            </a:r>
            <a:endParaRPr lang="en-US" sz="32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维度五：职业素养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等级（1-5）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具体事例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工作态度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责任心、主动性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任务完成、技能掌握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学习积极性、举一反三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表达、逻辑、沟通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职业操守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底线意识、规范遵守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提示：评估时结合具体事例，让评价更有说服力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关系辅导案例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"我觉得同事老王对我有意见。"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08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"哦？你是怎么感觉到的？"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62432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"就是开会的时候，他经常反驳我的观点。"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2783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2783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"你有没有和老王沟通过这个问题？"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3133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学徒：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83133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"没有，我不好意思。"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"如果去沟通，你打算怎么说？"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关键：引导学徒自己想解决方案，而不是替他出面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用真实场景完整跑一遍BEST流程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 - BEST反馈法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选择一个真实的改进场景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用BEST四步完整表达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另一人扮演学徒给反馈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分钟/组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现场反馈并逐组点评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练习指导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用真实场景完整跑一遍BEST流程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练习要求 - BIA反馈法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选择一个真实的改进场景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用BEST四步完整表达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另一人扮演学徒给反馈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分钟/组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83464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现场反馈并逐组点评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导师带教实战工作坊</dc:title>
  <dc:subject>2天，让带教从凭感觉变成有方法</dc:subject>
  <dc:creator>AI Generated</dc:creator>
  <cp:lastModifiedBy>AI Generated</cp:lastModifiedBy>
  <cp:revision>1</cp:revision>
  <dcterms:created xsi:type="dcterms:W3CDTF">2026-06-30T10:22:22Z</dcterms:created>
  <dcterms:modified xsi:type="dcterms:W3CDTF">2026-06-30T10:22:22Z</dcterms:modified>
</cp:coreProperties>
</file>