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</p:sldIdLst>
  <p:notesMasterIdLst>
    <p:notesMasterId r:id="rId1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notesMaster" Target="notesMasters/notesMaster1.xml"/><Relationship Id="rId173" Type="http://schemas.openxmlformats.org/officeDocument/2006/relationships/presProps" Target="presProps.xml"/><Relationship Id="rId174" Type="http://schemas.openxmlformats.org/officeDocument/2006/relationships/viewProps" Target="viewProps.xml"/><Relationship Id="rId175" Type="http://schemas.openxmlformats.org/officeDocument/2006/relationships/theme" Target="theme/theme1.xml"/><Relationship Id="rId1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3840480" cy="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MAPPING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57200" cy="45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Learning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看清人  ·  找破局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06240" y="11887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看清人的格局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206240" y="1920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找到项目破局点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4206240" y="2697480"/>
            <a:ext cx="731520" cy="45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利益相关方深度分析实战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06240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一套可直接落地的项目推进方法论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3520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六维扫描  ·  五维画像  ·  三阶九梯  ·  破局策略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4389120"/>
            <a:ext cx="457200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授课PPT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导引 · 课程使用方式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课程导引：如何使用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一套共读型文档  ·  讲到哪里翻到哪里  ·  遇到练习就填写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8046720" cy="8686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这份文档是共读型的  ·  课程结束时, 你填完的文档就是一份真实可用的「利益相关方策略报告」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5544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共读型结构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六个部分前后呼应, 前一节的输出是后一节的输入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2199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1031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讲到哪里翻到哪里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34086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不要求预习, 课堂同步推进, 实时形成可用的策略底稿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7063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6517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遇到练习直接填写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88950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凡是标有「✋ 练习」的页面, 请认真作答, 哪怕只是草稿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1927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004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结尾产出可带走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43814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六部分完成后, 你手上是一份完整、可直接用于项目推进的分析报告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导引 · 核心问题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  ·  贯穿全程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在开始所有分析之前, 先问自己一个问题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8046720" cy="16916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73152" cy="1691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459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188720" y="1737360"/>
            <a:ext cx="7223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你是否遇到过 ——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一个你认为很好的方案, 就是批不下来；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一个你觉得很正常的诉求, 就是得不到支持；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一个明明是多方受益的项目, 就是推不动？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520440"/>
            <a:ext cx="73152" cy="1188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回答: 是的, 我遇到过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那么, 今天这套方法就是为你准备的。请继续往下看。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52044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520440"/>
            <a:ext cx="73152" cy="118872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回答: 还没有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931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那继续推项目, 你迟早会遇到。建议先学方法, 再遇事时才能用得上。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导引 · 学习地图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全程学习地图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六部分环环相扣  ·  前一节产出是后一节输入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你会经历什么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你会带走什么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65960"/>
            <a:ext cx="91440" cy="38404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65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 认知激活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1965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为什么看清人比做好事更关键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1965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认知冲击 + 盲区自测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19659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人的因素盘点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19659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01~32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50008"/>
            <a:ext cx="822960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500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 全景扫描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23500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你的项目里到底有哪些人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0" y="23500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六维扫描 + 全景穷举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23500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利益相关方全景清单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235000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33~64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734056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7340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 深度画像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27340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这些人真正在意什么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2734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五维画像 + 6~8张卡片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27340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核心人物深度画像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9520" y="273405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65~96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118104"/>
            <a:ext cx="822960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1181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 三阶九梯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11680" y="31181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他们现在到底是什么立场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23360" y="31181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精准定位 + 可视化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31181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支持度分布图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311810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97~126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502152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5021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 需求映射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11680" y="35021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我需要什么 · 我能给什么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23360" y="35021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需求梳理 + 价值交换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52160" y="35021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需求-能给对照表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89520" y="35021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127~148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886200"/>
            <a:ext cx="822960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886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  破局策略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011680" y="3886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从哪里下手 怎么突破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23360" y="3886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杠杆点 + 可执行策略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52160" y="3886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2~4个破局方案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89520" y="3886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149~164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六个部分加起来  ·  就是一份完整的利益相关方策略报告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导引 · 课程产出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你将产出的成果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不是课堂练习  ·  是真实项目的策略底稿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16276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162763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5623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全景穷举清单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覆盖所有潜在相关方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第二部分产出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1691640"/>
            <a:ext cx="16276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691640"/>
            <a:ext cx="162763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85623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06~08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228600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核心人物深度画像卡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6517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五维框架 · 行为可预测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第三部分产出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86200" y="1691640"/>
            <a:ext cx="16276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6200" y="1691640"/>
            <a:ext cx="162763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85623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77640" y="228600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支持度分布图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26517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标注每个人当前位置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第四部分产出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1691640"/>
            <a:ext cx="16276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1691640"/>
            <a:ext cx="162763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85623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669280" y="228600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需求-价值对照表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6517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vs 能给 价值交换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第五部分产出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69480" y="1691640"/>
            <a:ext cx="16276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1691640"/>
            <a:ext cx="162763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185623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360920" y="228600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破局策略方案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26517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具体到第一步怎么做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第六部分产出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337560"/>
            <a:ext cx="8229600" cy="137160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337560"/>
            <a:ext cx="73152" cy="1371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3703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这套成果不是课堂练习  ·  是你真实项目的分析底稿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4069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完成全程学习后, 你手里这份文档就是一份真实可用的利益相关方策略报告, 拿回去可以直接用来推进项目。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导引 · 锁定项目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开始前  ·  锁定项目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整套方法只对真实项目有效  ·  请带上你正在推的项目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 练习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项目名称或简要描述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你正在推进或即将启动的真实项目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77063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737360" y="277063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743200" y="277063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749040" y="277063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754880" y="277063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760720" y="277063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766560" y="277063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772400" y="277063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48640" y="2880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目前最大的卡点或阻力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1363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推进过程中最难突破的地方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6393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737360" y="36393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743200" y="36393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749040" y="36393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54880" y="36393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760720" y="36393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766560" y="36393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772400" y="36393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4864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最希望今天搞清楚的问题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0050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你最希望从这套方法里得到答案的具体问题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251960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50799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737360" y="450799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2743200" y="450799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749040" y="450799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754880" y="450799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760720" y="450799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766560" y="450799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772400" y="450799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  ·  空洞的假设性练习很难产生真正的洞察。越是你真实关心、真实在推进的项目, 今天的收获就越大。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74904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认知激活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1148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为什么看清人比做好事更关键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Activation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六部分中的  /  1 / 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认知激活 · 开场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 ·  同一套方案  ·  两种结局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 vs 方成  ·  资源相同  ·  结果相反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40233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  ·  华北区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项目完成率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611880"/>
            <a:ext cx="310896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被集团评为「最佳实践区域」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受邀到总部年会做经验分享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区域运营总监  ·  34岁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600200"/>
            <a:ext cx="4023360" cy="50292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6002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  ·  华南区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1945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8400" dirty="0"/>
          </a:p>
        </p:txBody>
      </p:sp>
      <p:sp>
        <p:nvSpPr>
          <p:cNvPr id="20" name="Text 18"/>
          <p:cNvSpPr/>
          <p:nvPr/>
        </p:nvSpPr>
        <p:spPr>
          <a:xfrm>
            <a:off x="4663440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项目完成率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3611880"/>
            <a:ext cx="310896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703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项目暂停  ·  等待重新规划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023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内部复盘会上的一句话被很多人记住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43434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区域运营总监  ·  36岁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案例背景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  ·  星际零售集团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1200家门店  ·  统一数据上报系统  ·  2024年年初启动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5029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73152" cy="3017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门店运营数据统一上报系统（统报系统）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487168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774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1200家门店  ·  各用各的 Excel 模板汇报数据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871216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76148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格式混乱  ·  总部战略部每月花大量时间清洗数据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255264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14553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严重影响管理决策效率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639312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5295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解决方案已确定  ·  一套统一数字化系统替代各区域自制模板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600200"/>
            <a:ext cx="3017520" cy="30175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派单情况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5852160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家门店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3017520"/>
            <a:ext cx="256032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3108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华北区  ·  叶云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华南区  ·  方成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3703320"/>
            <a:ext cx="256032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3794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完全相同的资源  ·  完全相同的方案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同一套系统 · 同一份培训材料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IT 支持团队 · 同等预算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案例复盘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叶云与方成  ·  六个月后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同一套方案  ·  同一组资源  ·  截然不同的两个结果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4754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  ·  复盘会上的那句话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27432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我不是没能力。是我完全没想到, 推这个项目不是『把方案做好』的问题, 而是『搞清楚背后有哪些人, 在哪些点上会卡我』的问题。我从头到尾都在解决技术问题, 从来没有认真分析过人的问题。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方成反思中的三个关键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2057400"/>
            <a:ext cx="27432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不是没能力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方法缺位  ·  不是智商问题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06324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不是把方案做好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3337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关键不在方案  ·  在背后的人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384048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从来没有认真分析过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技术问题 vs 人的问题  ·  缺位后者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  ·  是今天整个课程的起点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认知自测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认知自测  ·  八个说法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凭第一反应勾选  ·  不要往下看答案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 练习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554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 3~5 分钟  ·  直觉先选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11680"/>
            <a:ext cx="3657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只要方案足够完善, 项目就能推动起来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0" y="214884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148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✓对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23360" y="214884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2148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✗错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2011680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011680"/>
            <a:ext cx="3657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在项目里说「支持」的人, 基本上是真的支持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09560" y="214884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2148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✓对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275320" y="214884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2148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✗错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651760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651760"/>
            <a:ext cx="3657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651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2651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最应该花时间沟通的, 是最强烈反对你的人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0" y="278892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27889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✓对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023360" y="278892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27889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2651760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651760"/>
            <a:ext cx="3657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651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66360" y="2651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那些不发声、不表态的人, 通常是中立的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09560" y="278892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09560" y="27889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✓对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275320" y="278892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27889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3291840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291840"/>
            <a:ext cx="3657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291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4400" y="32918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一个项目的关键利益相关方, 大多数是职级最高的人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0" y="342900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34290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✓对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023360" y="342900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34290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✗错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09160" y="3291840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3291840"/>
            <a:ext cx="3657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32918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166360" y="32918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如果某人的 KPI 和你的项目无关, 他通常不会阻碍你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909560" y="342900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09560" y="34290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✓对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275320" y="342900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75320" y="34290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✗错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3931920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3931920"/>
            <a:ext cx="3657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3931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914400" y="3931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对方反对你, 大多数时候是因为他不够理解你的方案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657600" y="406908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0" y="40690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✓对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023360" y="406908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23360" y="40690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✗错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709160" y="3931920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09160" y="3931920"/>
            <a:ext cx="3657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9160" y="3931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166360" y="3931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搞定直接汇报给你的执行团队, 项目就有推进基础了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909560" y="406908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09560" y="40690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✓对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275320" y="4069080"/>
            <a:ext cx="32004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75320" y="40690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✗错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请凭第一反应勾选  ·  不要往下看答案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答案揭晓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答案揭晓  ·  全部是错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八个说法  ·  没有一个是对的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15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 部  是  错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如果你有 4 个以上填了「✓对」, 不用担心 —— 这是大多数人的直觉反应。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这正是为什么很多有能力的人在项目推进中会翻车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我们对「人的逻辑」有一套本能的、但经常失效的判断系统。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206240"/>
            <a:ext cx="73152" cy="5029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06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  ·  项目失败, 大多不是方案问题, 是对「人的地图」的无知。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解析一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解析一  ·  方案与表态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认知误区 1 &amp; 2  ·  揭开两个最常见也最致命的直觉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常见直觉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实际真相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977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说法①  ·  只要方案足够完善, 项目就能推动起来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3977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659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  ·  叶云和方成拿到的方案完全相同  ·  方案质量不是变量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77640" cy="9144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80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说法②  ·  在项目里说「支持」的人, 基本上是真的支持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3977640" cy="9144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80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  ·  「表态支持」和「真实配合行动」之间的距离, 往往比你想象的远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57600"/>
            <a:ext cx="73152" cy="10058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深层逻辑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0233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好方案是必要条件  ·  但从来不是充分条件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159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表态是组织的最低成本动作  ·  真正消耗资源的是「行动」  ·  两者之间隔着组织政治、个人利益、KPI博弈等无数道墙。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解析二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解析二  ·  反对者与沉默者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认知误区 3 &amp; 4  ·  反对者要避开正面  ·  沉默者要警惕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常见直觉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实际真相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977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说法③  ·  最该花时间沟通的, 是最强烈反对你的人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3977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659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  ·  正面强攻成本最高、成功率最低  ·  应先稳盟友、转化犹豫者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77640" cy="9144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80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说法④  ·  不发声、不表态的人, 通常是中立的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3977640" cy="9144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80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  ·  「刻意保持距离」者会在关键节点消极配合  ·  沉默不等于支持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57600"/>
            <a:ext cx="73152" cy="10058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正确的破局次序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0233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先稳盟友  →  转化犹豫者  →  形成势头  →  让顽固阻力者感受到压力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159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「沉默者」比「公开反对者」更危险  ·  反对可以回应, 沉默只能预判。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解析三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解析三  ·  影响力与 KPI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认知误区 5 &amp; 6  ·  影响力不看职级  ·  KPI 无关恰可能成为阻力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常见直觉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实际真相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977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说法⑤  ·  关键利益相关方, 大多数是职级最高的人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3977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659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  ·  资深老员工几句话, 抵得上你和十个副总经理开会的效果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77640" cy="9144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80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说法⑥  ·  某人的 KPI 与项目无关, 他通常不会阻碍你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3977640" cy="9144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80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  ·  无关恰恰可能是阻力来源  ·  项目占用他的资源, 他凭什么帮你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57600"/>
            <a:ext cx="73152" cy="10058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影响力的真正来源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0233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 = 关键节点的话语权  ·  不是职级, 是关键时刻能影响谁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159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与项目无关者  ·  没有动力配合  ·  反而是潜在的「沉默阻力方」, 必须主动给出配合的理由。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解析四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解析四  ·  反对原因与执行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认知误区 7 &amp; 8  ·  反对往往不是认知问题  ·  推进瓶颈也不在直接下属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常见直觉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实际真相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977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说法⑦  ·  对方反对你, 多半是因为不够理解你的方案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3977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659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  ·  他完全理解你, 就是不支持  ·  原因不是认知, 是利益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77640" cy="9144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80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说法⑧  ·  搞定直接汇报的执行团队, 项目就有推进基础了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3977640" cy="9144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80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  ·  推进瓶颈在「你管不到但他能管你」的外围角色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57600"/>
            <a:ext cx="73152" cy="10058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真正决定成败的两类人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0233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利益会被你动到的人  +  你管不到但他能管你的人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159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前者需要价值交换, 后者需要识别与提前沟通  ·  这两类人不会自己浮现, 只能系统分析出来。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核心框架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  ·  真实公式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叶云与方成的差距  ·  用一个公式说清楚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项目推进的真实成功率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方案质量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0896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29768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对人的格局理解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66560" y="21488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7315200" y="2194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真实成功率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这是乘法关系  ·  不是加法  ·  缺一不可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73152" cy="10058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方成的困境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10 分  ·  对人 0 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= 0  ·  好方案被一步步稀释、拖延、搁置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65760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657600"/>
            <a:ext cx="73152" cy="10058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叶云的优势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8 分  ·  对人 9 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= 72  ·  在执行层面被极大放大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乘法关系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乘法关系  ·  不可偏废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任何一项为零  ·  最终结果都为零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91440" cy="621792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977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3484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方成的现实  ·  满分方案归零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13432"/>
            <a:ext cx="8229600" cy="621792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13432"/>
            <a:ext cx="91440" cy="62179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450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2404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10312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560320" y="2450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2404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97764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434840" y="240487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86400" y="2404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方案好, 但对人理解薄弱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026664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026664"/>
            <a:ext cx="91440" cy="6217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6382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31181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10312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560320" y="316382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31181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97764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434840" y="31181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486400" y="31181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方案一般, 但人脉深  ·  仍可推进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739896"/>
            <a:ext cx="8229600" cy="621792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739896"/>
            <a:ext cx="91440" cy="6217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87705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63040" y="38313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210312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2560320" y="387705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对人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37560" y="38313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397764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4434840" y="383133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5486400" y="38313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叶云的状态  ·  两者均强, 倍数效应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课程专注后半部分  ·  在已有基本方案的前提下  ·  系统分析背后人的格局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170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看不见的地图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看不见的地图  ·  方成的盲区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方成脑海里的「人的地图」  ·  极度简化  ·  也是大多数人的默认地图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40233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4023360" cy="4572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方成的地图  ·  默认认知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2286000"/>
            <a:ext cx="1097280" cy="109728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大区总经理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领导说推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应该支持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0" y="3108960"/>
            <a:ext cx="1097280" cy="109728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门店店长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3657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通知下去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1097280" cy="109728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部门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负责技术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会配合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一张极度简化的地图  ·  也是大多数人推项目时的默认状态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600200"/>
            <a:ext cx="40233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60020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600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实际存在的地图  ·  在方成不知道的地方运转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33172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240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总经理的随口一句话  ·  在中层传成「老板不重视」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78892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697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数据接口员工的「很忙, 系统对接在排期」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24612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154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财务部与 IT 部门的历史积怨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70332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611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资深老店长的「操作弹性空间」会被新系统暴露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4160520"/>
            <a:ext cx="4023360" cy="50292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160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这张地图不是要你学政治  ·  是要你看见一张本来就存在的网络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170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三个隐形事件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三个隐形事件  ·  在方成不知道的情况下发生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单独看都不严重  ·  叠加在一起  ·  活活拖死一个好方案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128016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920240" y="16916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总经理的一句话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19659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华南区大区总经理收到启动通知后, 对秘书说「跟进一下, 但别影响我们年底指标。」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这句话传到各中层, 大家解读为: 老板对这个项目其实没那么重视。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06040"/>
            <a:ext cx="128016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920240" y="26974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数据接口员工的「沉默」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29718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一名管理 20 家重点门店数据接口的中层员工, 方成从未将其列为相关方。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他长期用自己的数据模板与总部对接, 新系统一旦落地, 他的整套体系直接废掉。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他没有任何配合的动力, 但也没有公开反对  ·  只是「很忙, 系统对接一直在排期」。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11880"/>
            <a:ext cx="128016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03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920240" y="37033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财务部与 IT 部门的历史积怨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39776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方成推进时先找了财务部确认预算, IT 部门听说后觉得「被跳过了」。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原本态度平稳的 IT 负责人开始以各种技术理由拖延系统部署节点。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三件事单独看都不严重  ·  叠加在一起  ·  就把好方案活活拖死了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170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地图对比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地图对比  ·  叶云 vs 方成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同样几个关键人物  ·  初步印象 vs 实际情况  ·  落差巨大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64592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554480"/>
            <a:ext cx="320040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方成的认知  ·  默认判断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554480"/>
            <a:ext cx="338328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叶云分析后的实际情况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1645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大区总经理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192024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领导说推, 肯定支持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1920240"/>
            <a:ext cx="3383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表面支持, 内心在观望  ·  其他 KPI 压力, 这个项目无直接贡献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1645920" cy="54864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68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部负责人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03120" y="2468880"/>
            <a:ext cx="3200400" cy="54864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2468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她负责技术, 会配合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2468880"/>
            <a:ext cx="3383280" cy="54864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 A 级投入支持者  ·  系统能减她的清洗工作量, 她比谁都想推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1645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财务部经理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301752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3017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与他关系不大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0" y="3017520"/>
            <a:ext cx="3383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关键阻力方  ·  担心数据准确性影响核算, 18 年前有类似项目创伤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566160"/>
            <a:ext cx="1645920" cy="54864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资深老店长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03120" y="3566160"/>
            <a:ext cx="3200400" cy="54864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执行层, 通知下去就做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0" y="3566160"/>
            <a:ext cx="3383280" cy="54864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3566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隐性阻力者  ·  新系统会暴露他门店「操作弹性空间」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251960"/>
            <a:ext cx="73152" cy="5029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  ·  你对利益相关方的「初步印象」, 几乎一定是不完整的。系统分析的价值, 是把「初步印象」替换成「有依据的判断」。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170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直觉不可靠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直觉判断为何不可靠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人对「人的逻辑」有一套本能的  ·  但经常失效的判断系统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8046720" cy="118872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73152" cy="1188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459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188720" y="173736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这不是你的错, 这是所有人的默认状态。系统分析的价值, 就是把「初步印象」替换成「有依据的判断」。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你只能看到对方愿意让你看到的部分  ·  真实立场藏在日常行为里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利益结构隐藏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429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岗位利益、KPI 压力、历史积怨都不会主动告诉你  ·  只能主动探查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沉默者会误导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931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不发声的人既不站你这边, 也不站反对那边  ·  但关键时刻会用拖延表态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 ·  后面五个部分都在用工具  ·  把直觉替换成可验证的判断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170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练习一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练习一  ·  扫描「人的因素」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把真实项目带入  ·  凭第一感觉勾选  ·  草稿式记录即可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 练习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554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 5~8 分钟  ·  问题一  ·  6 个常见症状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我的项目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965960"/>
            <a:ext cx="6858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21284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108960" y="221284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206240" y="221284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303520" y="221284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00" y="221284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498080" y="221284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" y="237744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774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377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某个人当面说支持, 但实际行动很慢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03320" y="249631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2496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23360" y="249631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2496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237744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3774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2377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某个部门始终不配合, 但说不出明确原因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18120" y="249631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2496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138160" y="249631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2496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292608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9260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觉得某个人和项目没关系, 但他总是「冒出来」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03320" y="304495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03320" y="3044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023360" y="304495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0" y="3044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292608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9260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2064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领导说推, 下面就是动不起来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18120" y="304495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3044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38160" y="304495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3044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4747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05840" y="3474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某个环节卡了很久, 找不到真正的堵点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03320" y="359359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023360" y="359359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0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0" y="347472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4747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120640" y="3474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好像缺少一个关键的「入局者」, 但不知道是谁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818120" y="359359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18120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138160" y="3593592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38160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凭第一感觉勾选  ·  这份草稿是后面所有分析的起点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170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练习一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练习一  ·  列相关方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  ·  你目前能想到的「和这个项目有关的人」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 练习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554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随手列出  ·  不用完整  ·  想到就写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  ·  包括直接接触的人 + 间接影响项目的人  ·  想到谁就写谁  ·  暂时不要判断重要性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514600"/>
            <a:ext cx="7772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8437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176272" y="28437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55264" y="28437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334256" y="28437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13248" y="28437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92240" y="28437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571232" y="28437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" y="2898648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2898648"/>
            <a:ext cx="7772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3227832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176272" y="3227832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255264" y="3227832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334256" y="3227832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413248" y="3227832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92240" y="3227832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571232" y="3227832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57200" y="3282696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4400" y="3282696"/>
            <a:ext cx="7772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3611880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2176272" y="3611880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255264" y="3611880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334256" y="3611880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413248" y="3611880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492240" y="3611880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571232" y="3611880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57200" y="3666744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666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14400" y="3666744"/>
            <a:ext cx="7772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0" y="399592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2176272" y="399592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255264" y="399592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334256" y="399592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5413248" y="399592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492240" y="399592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7571232" y="3995928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57200" y="4050792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14400" y="4050792"/>
            <a:ext cx="7772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97280" y="4379976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2176272" y="4379976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3255264" y="4379976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4334256" y="4379976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5413248" y="4379976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6492240" y="4379976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7571232" y="4379976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这里列出来的  ·  只是「能想到的」  ·  后面第二部分会做系统性穷举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170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练习一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练习一  ·  识别难点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问题三  ·  哪个人是你目前感觉最难处理的  ·  为什么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 练习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554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聚焦一个最棘手的人  ·  写具体一点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最难处理的那个人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011680"/>
            <a:ext cx="5943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2677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877056" y="22677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828032" y="22677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779008" y="22677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729984" y="22677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680960" y="2267712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为什么觉得他难  ·  可多选  ·  也可自己补充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他公开表态支持, 但实际不配合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834640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他不表态, 也不阻碍, 但项目卡在他那里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他有正式的反对, 而且他有权否决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291840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他和我的 KPI 没关系, 我没有理由要求他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他是关键人物, 但我跟他没有直接接触渠道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749040"/>
            <a:ext cx="274320" cy="274320"/>
          </a:xfrm>
          <a:prstGeom prst="rect">
            <a:avLst/>
          </a:prstGeom>
          <a:solidFill>
            <a:srgbClr val="F5F0EA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我和他在历史上有过节, 难以直接沟通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其他原因  ·  自由补充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809744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645920" y="4809744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651760" y="4809744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657600" y="4809744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663440" y="4809744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669280" y="4809744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675120" y="4809744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680960" y="4809744"/>
            <a:ext cx="9144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170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练习一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练习一  ·  直觉盲区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问题四  ·  凭直觉, 你感觉自己可能漏掉了哪些人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 练习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554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想到就写  ·  暂时不要判断对错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65960"/>
            <a:ext cx="73152" cy="5943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11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试着从这些角度想一想  ·  哪些角色你「和项目有关但没想到」?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240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外圈执行者  ·  历史积怨部门  ·  总部隐性审批链  ·  老员工群体  ·  业务受益方  ·  受损方  ·  外部相关方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743200"/>
            <a:ext cx="7772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0723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176272" y="30723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255264" y="30723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334256" y="30723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13248" y="30723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492240" y="30723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571232" y="307238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324612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" y="3246120"/>
            <a:ext cx="7772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357530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176272" y="357530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255264" y="357530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334256" y="357530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413248" y="357530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492240" y="357530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571232" y="357530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4400" y="3749040"/>
            <a:ext cx="7772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" y="407822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176272" y="407822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255264" y="407822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334256" y="407822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413248" y="407822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492240" y="407822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7571232" y="4078224"/>
            <a:ext cx="100584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你凭直觉漏掉的人  ·  往往就是项目真正的关键节点  ·  第二部分会用六维扫描系统穷举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170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学习路径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接下来的学习路径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每一部分给你一个工具  ·  把感性扫描变成系统深度分析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1371600" cy="1645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六维扫描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穷举所有潜在相关方  ·  建立全景视图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1691640"/>
            <a:ext cx="1371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6596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五维画像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26974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理解每个人在岗位上真正在意什么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691640"/>
            <a:ext cx="1371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7472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三阶九梯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6974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把「感觉他支持/反对」变成行为判断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1691640"/>
            <a:ext cx="1371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8348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需求映射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26974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我需要什么  ·  我能给什么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1691640"/>
            <a:ext cx="1371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9224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破局策略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26974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 2~4 个真正有效的杠杆点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已学完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7452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待开始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待开始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待开始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095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待开始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794760"/>
            <a:ext cx="73152" cy="8686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每个部分结束时, 你都会完成一个具体的分析产出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六个部分加在一起  ·  就是你的完整策略报告  ·  可以直接带回去推进真实项目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170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关键认知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  ·  项目失败的真相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这是第一部分留下的最重要的一句话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1828800" cy="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项目失败  ·  大多不是方案问题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2423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是对「人的地图」的无知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554480" y="310896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第一部分  ·  核心认知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114800"/>
            <a:ext cx="73152" cy="5943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 ·  是入场券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416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没有它, 后面所有分析无从谈起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411480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4114800"/>
            <a:ext cx="73152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人的地图  ·  决定能走多远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4416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方案再完美, 地图空白也寸步难行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170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本部分小结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本部分小结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 ·  我们走过的认知路径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91640"/>
            <a:ext cx="0" cy="2743200"/>
          </a:xfrm>
          <a:prstGeom prst="line">
            <a:avLst/>
          </a:prstGeom>
          <a:noFill/>
          <a:ln w="19050">
            <a:solidFill>
              <a:srgbClr val="B89A9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案例引入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691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 vs 方成  ·  同一方案  ·  两种结局  ·  起点是方成的反思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258568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2585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直觉自测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2585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八个常见说法  ·  全部是错  ·  直觉不可靠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2825496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28254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真实公式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82549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项目成功率 = 方案质量 × 对人的格局理解  ·  乘法关系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392424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3392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看不见的地图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3924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三个隐形事件  ·  单独看都不严重  ·  叠加拖死好方案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3959352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3959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感性扫描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395935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练习一  ·  把真实项目带入  ·  完成第一份「人的因素」盘点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从「我感觉……」到「我看见一张地图」  ·  这是第一部分给你的最大变化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170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核心收获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本部分核心收获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带走三句话  ·  装进行动里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82880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乘法不是加法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148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10 分  ×  对人 0 分  =  0  ·  再好的方案, 在执行的「人」上缺位, 最终也是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828800" y="2697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看不见的地图在运转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108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你不看它, 它也在运转  ·  而且正在决定你的项目结果  ·  看见是改变的前提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3810">
            <a:solidFill>
              <a:srgbClr val="B89A9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7200" y="36118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1828800" y="3657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初步印象几乎一定不完整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4069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把「初步印象」替换成「有依据的判断」  ·  这是系统分析的全部价值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170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行动建议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本部分行动建议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进入第二部分之前  ·  请先完成这三件事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269748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286000"/>
            <a:ext cx="86868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286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保存好练习一的草稿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把它放在桌面上能看到的地方  ·  后面五个部分会反复回到它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16916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1691640"/>
            <a:ext cx="269748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78808" y="2286000"/>
            <a:ext cx="86868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78808" y="2286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2697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确认你带的项目是真实的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33375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如果是假设性项目, 现在就换成一个你真正在推进的项目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71616" y="16916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71616" y="1691640"/>
            <a:ext cx="269748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86016" y="2286000"/>
            <a:ext cx="86868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86016" y="2286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08776" y="2697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带着「人的地图」意识进入第二部分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08776" y="33375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从现在开始, 每看到一个人, 都先想: 他和我的项目有什么关系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97680"/>
            <a:ext cx="73152" cy="411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297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完成这三件事  ·  准备好后  ·  翻到第二部分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170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 ·  结束  →  第二部分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翻到第二部分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从「看见地图」到「走遍地图」  ·  全景扫描开始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1828800" cy="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21945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全景扫描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1828800" y="3017520"/>
            <a:ext cx="457200" cy="45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你的项目里  ·  到底有哪些人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六维扫描  ·  全景穷举  ·  不再遗漏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Six-Dimension Stakeholder Mapping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 ·  六维扫描  ·  走遍每一类相关方  ·  建立全景视图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170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74904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全景扫描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1148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先求全，再求精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Full-Spectrum Scanning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六部分中的  /  2 / 6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聪明人，为何漏掉关键人？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方成复盘时反复提到的那个人——管理着华南区20家重点门店数据接口的中层员工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8046720" cy="118872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1188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那个人和我的项目有什么关系？我根本没有理由想到他。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方成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17520"/>
            <a:ext cx="91440" cy="1691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最普遍的陷阱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我们只会想到「应该有关系的人」，却漏掉了「实际上有关系的人」。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2062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这两类人之间，有时候差距很大。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17520"/>
            <a:ext cx="91440" cy="16916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经验悖论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42900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越有项目经验的人，越容易犯这个错误——经验积累了一套「谁该算进来」的直觉模式。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42519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这套模式会过滤掉非标准的、「不按常理出牌」的关键角色。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170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两类人：应该 vs 实际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认知差往往来自这两类人的不一致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39319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3931920" cy="50292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应该有关系的人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组织架构上看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逻辑上与你项目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有直接关联的人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依靠「常识」和「经验」筛选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直觉反应：「他们应该都算进去了」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645920"/>
            <a:ext cx="3931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645920"/>
            <a:ext cx="393192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645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实际上有关系的人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实际工作流中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真正常被你项目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影响或影响项目的人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需要「主动扫描」才能识别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核心挑战：往往不在你的熟人网络里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关键命题：让「应该」逼近「实际」——这就是全景扫描的价值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170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核心任务：先求全，再求精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这一部分只有一件事：建立一张不遗漏的全景视图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2560320" cy="2560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 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FIRST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这一步的原则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0" y="2194560"/>
            <a:ext cx="36576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423160"/>
            <a:ext cx="164592" cy="164592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不遗漏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宁可多列，不要漏掉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2971800"/>
            <a:ext cx="164592" cy="164592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不分析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每格只写名字或标签，不做分析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3520440"/>
            <a:ext cx="164592" cy="164592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3429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不筛选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所有人都进清单，下一步再筛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0" y="4069080"/>
            <a:ext cx="164592" cy="164592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3977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此刻不评判重要性，先穷举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穷举的质量，决定了后续所有分析的上限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170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第一步：锁定项目基础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开始扫描前，先把项目的基本信息填清楚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 3 ~ 5 分钟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084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3042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把项目具体说清楚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33472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33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6151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我的角色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834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我在这个项目中担任什么位置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63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14553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3649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用一句话说清楚成功是什么样的，越具体越好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94176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94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675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可预见的变化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8953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成功后最可见的变化是什么，对谁产生什么影响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224528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24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206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涉及职能域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4256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主要涉及哪些职能域或业务领域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170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项目基础信息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尽量具体，越具体后面的扫描越准确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164592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1691640"/>
            <a:ext cx="6583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6916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把你的项目具体地说出来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64592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我的角色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2286000"/>
            <a:ext cx="6583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2860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我作为这个项目的发起人/负责人/参与方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64592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80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2880360"/>
            <a:ext cx="6583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288036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用一句话说清楚成功是什么样的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164592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可预见变化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94560" y="3474720"/>
            <a:ext cx="6583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34747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成功后最可见的变化是什么（对谁、什么影响）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164592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69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涉及职能域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94560" y="4069080"/>
            <a:ext cx="6583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40690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主要涉及哪些职能/业务领域（决定扫描范围）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填写完毕后，把这张表放在手边——后面的六维扫描都要回到这张表检查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170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六维扫描：穷举所有潜在相关方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六个不同视角切入，覆盖所有可能与项目产生关联的人和群体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190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直接相关方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参与项目执行、实施、推进过程的人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5544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554480"/>
            <a:ext cx="27432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7190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资源相关方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掌握项目所需关键资源（预算/审批/技术）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554480"/>
            <a:ext cx="2743200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7190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影响相关方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不直接执行，但态度会影响他人判断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54680"/>
            <a:ext cx="2743200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192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受益相关方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3977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项目成功后能获益——潜在天然盟友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31546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3154680"/>
            <a:ext cx="2743200" cy="731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3192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受损相关方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74720" y="3977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项目推进会失去现有利益的人——最大阻力来源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1546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3154680"/>
            <a:ext cx="2743200" cy="731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3192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5508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外部相关方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55080" y="3977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组织边界外但有实质影响的个人/机构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原则：先求全，不求精 —— 每格只写名字或标签，分析是第三部分的任务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170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六维关系图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中心是你的项目——六个维度是观察它的六扇窗口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2468880"/>
            <a:ext cx="1097280" cy="1097280"/>
          </a:xfrm>
          <a:prstGeom prst="ellipse">
            <a:avLst/>
          </a:prstGeom>
          <a:solidFill>
            <a:srgbClr val="8B1A1A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3017520"/>
            <a:ext cx="0" cy="-169164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14800" y="105156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051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017520"/>
            <a:ext cx="1465003" cy="-84582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579803" y="189738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9803" y="18973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9803" y="21259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017520"/>
            <a:ext cx="1465003" cy="84582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579803" y="358902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9803" y="3589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9803" y="38176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3017520"/>
            <a:ext cx="0" cy="169164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114800" y="443484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受益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3017520"/>
            <a:ext cx="-1465003" cy="84582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649797" y="358902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49797" y="3589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49797" y="38176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受损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3017520"/>
            <a:ext cx="-1465003" cy="-84582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649797" y="189738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49797" y="18973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49797" y="21259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为什么是六个？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1828800"/>
            <a:ext cx="27432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084832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每个视角看到的人不同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2450592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维度间会有重叠（正常）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2816352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单独任何一个都不够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182112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六个合起来接近全貌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使用顺序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583680" y="1828800"/>
            <a:ext cx="27432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965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→ 06 顺序扫描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8368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5800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每格只写名字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8368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5800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不分析不评价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83680" y="3063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5800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汇总后下一步筛选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六维扫描不是分析框架，是穷举框架——目的是「不漏」，不是「分类」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170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直接相关方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914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参与项目执行、实施或推进过程的人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23444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8229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91440" cy="1463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「参与」包括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039112"/>
            <a:ext cx="109728" cy="109728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提供数据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167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项目的输入来源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2039112"/>
            <a:ext cx="109728" cy="109728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参与决策会议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167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对方向有发言权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2039112"/>
            <a:ext cx="109728" cy="109728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执行流程改变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167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工作方式要变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2496312"/>
            <a:ext cx="109728" cy="109728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操作新工具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624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新系统/新方法的实际使用者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2496312"/>
            <a:ext cx="109728" cy="109728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配合测试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2624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验证与反馈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8229600" cy="82296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154680"/>
            <a:ext cx="73152" cy="8229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易漏提示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34747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最容易漏掉的是「外圈执行者」——不在你团队里、但项目的落地需要他们真实改变工作方式的人。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不局限于你团队内部——只要他们的工作流真实被项目改变，就是直接相关方。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170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维度一示范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叶云的扫描结果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直接相关方——星际零售集团华北区数字化项目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关键说明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叶云团队 4 名成员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920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核心执行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项目团队本身，负责协调与推进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部门系统部署团队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377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技术执行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系统落地的技术实现者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各门店店长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834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最终使用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新系统的最终使用者，使用质量决定数据准确性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门店运营经理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数据填报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3291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数据填报的实际操作者，每日接触系统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749040"/>
            <a:ext cx="73152" cy="7772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 vs 方成的第一个差异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069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方成把「门店店长」视为被动执行对象；叶云把他们视为需要主动管理的关键群体——他们的配合意愿直接决定数据质量。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170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维度一深挖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外圈执行者：被低估的关键人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不在你团队里，但他们的工作流真实被项目改变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40233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什么是外圈执行者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不在你团队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4048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可能是其他部门、外包公司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88920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743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不是你直接管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953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汇报关系不在你这里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337560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918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但必须改变工作方式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502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新流程要他们配合才能跑通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886200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840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他们的配合质量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050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直接决定项目成功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554480"/>
            <a:ext cx="40233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554480"/>
            <a:ext cx="4023360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常见的几类外圈执行者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2240280"/>
            <a:ext cx="27432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21945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基层操作人员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24048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门店收银员 / 客服 / 数据录入员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788920"/>
            <a:ext cx="27432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2743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下游使用者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2953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你的项目成果会流入他们的工作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337560"/>
            <a:ext cx="27432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32918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配合测试方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3502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UAT 测试、业务验证团队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886200"/>
            <a:ext cx="27432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0" y="3840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 / 维护者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12080" y="4050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上线后真正长期使用系统的人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判断标准：把项目图画出来——谁的工作流要变，谁就是直接相关方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170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资源相关方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914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掌握或控制项目推进所需关键资源的人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23444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1325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82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1554480"/>
            <a:ext cx="1325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7452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74520" y="2423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人力编制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1554480"/>
            <a:ext cx="1325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8046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04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91840" y="2423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数据权限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554480"/>
            <a:ext cx="1325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9778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77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709160" y="2423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渠道资源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1554480"/>
            <a:ext cx="1325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510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51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26480" y="2423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审批签字权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43800" y="1554480"/>
            <a:ext cx="1325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4380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3242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24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43800" y="2423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关键技术能力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017520"/>
            <a:ext cx="91440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3108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隐形审批链 —— 最容易被忽略的环节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5800" y="3429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有些审批链条是隐形的：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7240" y="3776472"/>
            <a:ext cx="91440" cy="914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你的直接上级可以签，但他的签字需要另一个人先点头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77240" y="4050792"/>
            <a:ext cx="91440" cy="914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某个资源表面上属于 A，但实际上 B 有否决权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7240" y="4325112"/>
            <a:ext cx="91440" cy="914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财务签了还要业务部门会签，业务部门还有内部审议流程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资源相关方未必是高管——一个数据接口人、一个排期决定人，足以卡住整个项目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170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维度二示范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资源相关方：叶云示范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列出每个资源方和他掌控的关键资源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99339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1993392" cy="822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645920"/>
            <a:ext cx="640080" cy="640080"/>
          </a:xfrm>
          <a:prstGeom prst="ellipse">
            <a:avLst/>
          </a:prstGeom>
          <a:solidFill>
            <a:srgbClr val="D4A5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华北区大区总经理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810512" cy="320040"/>
          </a:xfrm>
          <a:prstGeom prst="rect">
            <a:avLst/>
          </a:prstGeom>
          <a:solidFill>
            <a:srgbClr val="F2E1D9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0896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区域授权 / 资源调配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4472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最终授权者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42032" y="1554480"/>
            <a:ext cx="199339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1554480"/>
            <a:ext cx="1993392" cy="822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645920"/>
            <a:ext cx="640080" cy="640080"/>
          </a:xfrm>
          <a:prstGeom prst="ellipse">
            <a:avLst/>
          </a:prstGeom>
          <a:solidFill>
            <a:srgbClr val="D4A5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542032" y="24231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33472" y="278892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财务部华北区经理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33472" y="3108960"/>
            <a:ext cx="1810512" cy="320040"/>
          </a:xfrm>
          <a:prstGeom prst="rect">
            <a:avLst/>
          </a:prstGeom>
          <a:solidFill>
            <a:srgbClr val="F2E1D9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310896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配套预算审批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33472" y="34472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预算落地关键人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26864" y="1554480"/>
            <a:ext cx="199339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26864" y="1554480"/>
            <a:ext cx="1993392" cy="822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1645920"/>
            <a:ext cx="640080" cy="640080"/>
          </a:xfrm>
          <a:prstGeom prst="ellipse">
            <a:avLst/>
          </a:prstGeom>
          <a:solidFill>
            <a:srgbClr val="D4A5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626864" y="24231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18304" y="278892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部华北区负责人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18304" y="3108960"/>
            <a:ext cx="1810512" cy="320040"/>
          </a:xfrm>
          <a:prstGeom prst="rect">
            <a:avLst/>
          </a:prstGeom>
          <a:solidFill>
            <a:srgbClr val="F2E1D9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310896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技术资源 / 团队排期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18304" y="34472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排期决定者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11696" y="1554480"/>
            <a:ext cx="199339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11696" y="1554480"/>
            <a:ext cx="1993392" cy="822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88352" y="1645920"/>
            <a:ext cx="640080" cy="640080"/>
          </a:xfrm>
          <a:prstGeom prst="ellipse">
            <a:avLst/>
          </a:prstGeom>
          <a:solidFill>
            <a:srgbClr val="D4A5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8352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711696" y="24231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03136" y="278892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集团总部项目负责人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03136" y="3108960"/>
            <a:ext cx="1810512" cy="320040"/>
          </a:xfrm>
          <a:prstGeom prst="rect">
            <a:avLst/>
          </a:prstGeom>
          <a:solidFill>
            <a:srgbClr val="F2E1D9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8856" y="3108960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跨区经验 / 总部支持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03136" y="34472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关键时刻可借力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4023360"/>
            <a:ext cx="73152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023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关键观察：4 人覆盖了预算 / 排期 / 授权 / 借力四条资源线；缺一个，项目都会卡住。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170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维度二深挖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隐形审批链：表面下的真实决策路径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你以为只要找对人就行——其实路径里有看不见的环节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46304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828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03120" y="1828800"/>
            <a:ext cx="146304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直接上级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1828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463040" cy="5486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上级背后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1828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94960" y="1828800"/>
            <a:ext cx="1463040" cy="5486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实际否决人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1828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40880" y="1828800"/>
            <a:ext cx="1645920" cy="5486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资源到位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2423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（表面）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2423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（隐形）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91440" cy="16459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017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三种典型的隐形环节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3429000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上级背后的人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签字需要另一个人先点头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813048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813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37673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明面与实际分离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3767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资源表面属于 A，实际上 B 有否决权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4197096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197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3000" y="41513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会签链中的审议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0" y="41513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签了还要过会，会上有人反对同样通不过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解决方法：画一遍真实的决策流——把「以为的路径」和「实际的路径」对照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170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影响相关方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914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不直接执行，但一句话可以改变很多执行者的态度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23444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91440" cy="10058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45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「影响相关方」的定义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不直接参与项目执行，但他们的态度会影响其他人判断的人。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当一个人还没有形成立场时，他会观察这类「意见领袖」的态度来「参考」。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最易漏的三类影响者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6576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08960"/>
            <a:ext cx="2651760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非正式领袖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资历深但职级未必高的老人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例：老店长 / 老技术 / 老业务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10896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108960"/>
            <a:ext cx="2651760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外部行业专家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项目外部但行业内有话语权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例：顾问 / 学者 / 前辈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310896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3108960"/>
            <a:ext cx="2651760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意见节点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7220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团队中话语权高但不显眼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例：老好人 / 信息枢纽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组织架构图上看不到的影响力，往往是项目真正的舆论场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170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维度三示范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非正式领袖：孙伟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架构图上是普通店长，实际影响力远超职级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200400" cy="2971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828800"/>
            <a:ext cx="1737360" cy="1737360"/>
          </a:xfrm>
          <a:prstGeom prst="ellipse">
            <a:avLst/>
          </a:prstGeom>
          <a:solidFill>
            <a:srgbClr val="D4A5A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82880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 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老店长代表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华北区门店  ·  资深店长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他的影响力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1828800"/>
            <a:ext cx="36576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1920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在华北区门店群体中威望极高，基层店长做决定前都会问「孙店长怎么看」。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2697480"/>
            <a:ext cx="4754880" cy="73152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叶云是这么发现他的：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2926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不是靠组织架构图，是靠实地与基层店长交谈。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3611880"/>
            <a:ext cx="47548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3611880"/>
            <a:ext cx="73152" cy="9144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关键洞察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931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孙伟同时是维度三（影响相关方）和维度五（受损相关方）。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4206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他的真正不配合，不是「抵制技术」，是历史数据审计顾虑（详见维度五）。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170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维度四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受益相关方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914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项目成功后能从中获益的人或部门——潜在天然盟友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23444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40233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91440" cy="2971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为什么关键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他们是你的天然盟友，但通常不主动出现——可能还不知道自己会受益。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最易漏的两类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017520"/>
            <a:ext cx="3657600" cy="6400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63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下游使用者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你的项目成果会流入他们的工作流，工作将变轻松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3749040"/>
            <a:ext cx="3657600" cy="6400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94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未来维护者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日后接手项目成果的人，他们的生活因你的设计而改善或变差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554480"/>
            <a:ext cx="40233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554480"/>
            <a:ext cx="91440" cy="29718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三个问题引导你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2057400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2057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项目成功后，谁的工作会因此变轻松？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834640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谁会从数据/流程的改善中直接获益？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611880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3611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项目上线后，谁会成为「长期使用者」？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盟友是「找出来的」不是「等出来的」——主动告诉他们你带来的好处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170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维度四示范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受益相关方：叶云示范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项目成功后能从中获益的人或部门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集团战略分析部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1920240" cy="18288"/>
          </a:xfrm>
          <a:prstGeom prst="rect">
            <a:avLst/>
          </a:prstGeom>
          <a:solidFill>
            <a:srgbClr val="B89A92"/>
          </a:solidFill>
          <a:ln w="1270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他们获得的好处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数据统一后，决策质量大幅提升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55448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554480"/>
            <a:ext cx="26517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部陈静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11880" y="2651760"/>
            <a:ext cx="1920240" cy="18288"/>
          </a:xfrm>
          <a:prstGeom prst="rect">
            <a:avLst/>
          </a:prstGeom>
          <a:solidFill>
            <a:srgbClr val="B89A92"/>
          </a:solidFill>
          <a:ln w="12700">
            <a:solidFill>
              <a:srgbClr val="B89A9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他们获得的好处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系统化后，手工数据处理工作量预计减少超过 60%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55448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554480"/>
            <a:ext cx="26517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区域运营团队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0" y="2651760"/>
            <a:ext cx="1920240" cy="18288"/>
          </a:xfrm>
          <a:prstGeom prst="rect">
            <a:avLst/>
          </a:prstGeom>
          <a:solidFill>
            <a:srgbClr val="B89A92"/>
          </a:solidFill>
          <a:ln w="1270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他们获得的好处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0175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数据实时可见，跨团队数据确认工作消失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160520"/>
            <a:ext cx="73152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1605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注意：陈静同时出现在维度二（资源相关方）和维度四（受益相关方）——一个人可以同时处于多个维度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170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维度交叉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多维度重叠：同一个人的多重身份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一个人可以同时出现在多个维度——这是常态，不是异常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9080" y="2514600"/>
            <a:ext cx="1005840" cy="1005840"/>
          </a:xfrm>
          <a:prstGeom prst="ellipse">
            <a:avLst/>
          </a:prstGeom>
          <a:solidFill>
            <a:srgbClr val="8B1A1A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2651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2971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0" y="3017520"/>
            <a:ext cx="0" cy="-169164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14800" y="105156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051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017520"/>
            <a:ext cx="1465003" cy="-84582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579803" y="189738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9803" y="18973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9803" y="21259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017520"/>
            <a:ext cx="1465003" cy="84582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579803" y="358902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9803" y="3589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9803" y="38176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受益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3017520"/>
            <a:ext cx="0" cy="169164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114800" y="443484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3017520"/>
            <a:ext cx="-1465003" cy="84582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649797" y="358902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49797" y="3589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49797" y="38176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3017520"/>
            <a:ext cx="-1465003" cy="-84582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649797" y="1897380"/>
            <a:ext cx="914400" cy="5486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49797" y="18973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49797" y="21259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重叠越多，意味着这个人的角色越关键——值得在第三部分做深度画像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/ 170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受损相关方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914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最容易被忽视，却往往是最大阻力来源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23444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「损失」不一定是坏事，但对那个人来说，「改变本身就是损失」。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受损方通常不会公开说「我反对」——他们的阻力是隐性的：拖延、不配合、「很忙」、「排期中」。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73152" cy="10972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话语权被削弱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曾经说了算的领域不再重要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51460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2514600"/>
            <a:ext cx="73152" cy="10972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工作量增加但回报不变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干更多活但绩效不变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51460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2514600"/>
            <a:ext cx="73152" cy="10972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历史数据被暴露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原本模糊的现在透明了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03320"/>
            <a:ext cx="73152" cy="10972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固有流程被替代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熟悉的工作方式被淘汰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70332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3703320"/>
            <a:ext cx="73152" cy="10972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影响力被压缩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2900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曾经的核心圈子被边缘化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70332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3703320"/>
            <a:ext cx="73152" cy="10972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过去的努力被「架空」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他曾经主导的工作变得多余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/ 170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维度五示范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叶云的三个发现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这个维度是叶云花时间最多的地方，也是她和方成最大的分析差距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0" cy="10058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5880" y="1627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老店长孙伟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表面：表面说不配合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真正阻力不是「抵制技术」，是数据暴露的恐惧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6276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真实顾虑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90195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深层顾虑：门店历史数据有「操作弹性」，新系统统一校验会让数字「异常」，可能触发审计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70048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70048"/>
            <a:ext cx="731520" cy="10058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70048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各区门店统计员群体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035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表面：不主动配合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25880" y="3310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工作价值被系统替代，岗位存在感被削弱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真实顾虑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3017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核心工作价值是每月整理和清洗门店数据；新系统自动化后，这部分工作价值归零，岗位感受到威胁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85616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85616"/>
            <a:ext cx="731520" cy="10058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85616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25880" y="3858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历史数据格式制定老员工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41513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表面：情绪上有抵触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44256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历史努力被「架空」是更深层的失落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0" y="3858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真实顾虑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0" y="41330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他花了两年设计的报表体系被新系统完全替代，过去的努力变得「多余」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找到「为什么不配合」的真正原因，策略才有针对性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/ 170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维度五对比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方成对维度五的盲区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方成对这整个维度完全没有分析——这是他失败的根因之一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97764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方成的盲区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544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叶云的解法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202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只想到「谁能帮我」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202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主动扫描「谁会因此受损」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774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假设阻力是「保守」「不配合」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37744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774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追问「为什么不配合」的真实原因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34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把不配合当态度问题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34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把不配合当利益问题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2918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寻找支持者以加强推动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29184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918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识别受损方以设计补偿方案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490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六个月后失去支持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74904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7490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把受损方变成「损失最小化」的伙伴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434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受损方往往是沉默的阻力——他们不说反对，只是不行动、拖时间、「排期很满」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/ 170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维度六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外部相关方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914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组织边界外，但对项目有实质影响的人或机构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23444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82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外部客户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项目成果的最终使用者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74520" y="155448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31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74520" y="24231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2651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联合推广 / 联合交付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55448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8046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04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91840" y="24231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监管机构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2651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合规要求 / 备案审核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155448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9778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77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09160" y="24231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行业协会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2651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 / 行业惯例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155448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1510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51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126480" y="24231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上游委托方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2651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集团总部 / 出资方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43800" y="155448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43800" y="1554480"/>
            <a:ext cx="132588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32420" y="1783080"/>
            <a:ext cx="548640" cy="548640"/>
          </a:xfrm>
          <a:prstGeom prst="ellipse">
            <a:avLst/>
          </a:prstGeom>
          <a:solidFill>
            <a:srgbClr val="F2E1D9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324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543800" y="24231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下游对接方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35240" y="2651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外部审计 / 验收机构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108960"/>
            <a:ext cx="91440" cy="13716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3154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叶云的扫描结果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" y="3474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集团总部统报项目负责人  ·  林峰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5800" y="3749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他是整个项目的甲方，也是叶云可以在关键时刻借力的上层资源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580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华北区某合作的数据分析外包公司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5800" y="4297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部分门店数据汇总工作外包给他们，系统切换需要他们调整对接格式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/ 170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第三步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第三步：汇总全景清单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把六个维度的扫描结果汇总到一张表——先不筛选，先列全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 5 分钟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57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姓名/称呼/群体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057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所属维度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部门/角色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初步印象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606040"/>
            <a:ext cx="210312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566160" y="2606040"/>
            <a:ext cx="10972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937760" y="2606040"/>
            <a:ext cx="15544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766560" y="2606040"/>
            <a:ext cx="173736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2971800"/>
            <a:ext cx="210312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566160" y="2971800"/>
            <a:ext cx="10972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937760" y="2971800"/>
            <a:ext cx="15544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766560" y="2971800"/>
            <a:ext cx="173736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3337560"/>
            <a:ext cx="210312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566160" y="3337560"/>
            <a:ext cx="10972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937760" y="3337560"/>
            <a:ext cx="15544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766560" y="3337560"/>
            <a:ext cx="173736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3703320"/>
            <a:ext cx="210312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566160" y="3703320"/>
            <a:ext cx="10972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937760" y="3703320"/>
            <a:ext cx="15544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766560" y="3703320"/>
            <a:ext cx="173736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26080" y="4069080"/>
            <a:ext cx="210312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3566160" y="4069080"/>
            <a:ext cx="10972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937760" y="4069080"/>
            <a:ext cx="15544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766560" y="4069080"/>
            <a:ext cx="173736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206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926080" y="4434840"/>
            <a:ext cx="210312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3566160" y="4434840"/>
            <a:ext cx="10972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937760" y="4434840"/>
            <a:ext cx="155448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6766560" y="4434840"/>
            <a:ext cx="1737360" cy="0"/>
          </a:xfrm>
          <a:prstGeom prst="line">
            <a:avLst/>
          </a:prstGeom>
          <a:noFill/>
          <a:ln w="6350">
            <a:solidFill>
              <a:srgbClr val="D4A5A0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4434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此刻只罗列，不评价——评价与筛选是下一步的事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/ 170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辅助工具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权力-利益矩阵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面对清单上的一大堆名字，用矩阵快速排序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利益关联度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4480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480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645920"/>
            <a:ext cx="4389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645920"/>
            <a:ext cx="0" cy="274320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286000" y="3017520"/>
            <a:ext cx="438912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377440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高权力·低利益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定期知会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保持基本关系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高权力·高利益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重点管理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深度分析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744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低权力·低利益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基本告知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暂缓投入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低权力·高利益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保持沟通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防止低估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横轴：利益关联度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项目成败对TA的影响（受益+受损都算）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49440" y="2606040"/>
            <a:ext cx="27432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纵轴：权力/影响力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3063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能调动多少资源？表态会影响多少人？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这里的「权力」指对这个项目的实际影响力，不是职级高低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/ 170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矩阵解读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四象限解读：不同的管理策略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每个象限有完全不同的对待方式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91440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43000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高权力·高利益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43000" y="2057400"/>
            <a:ext cx="118872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057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重点管理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可以给你最大支持，也造成最大阻碍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行动：深度分析 / 持续沟通 / 价值对齐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554480"/>
            <a:ext cx="91440" cy="1554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49240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高权力·低利益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49240" y="2057400"/>
            <a:ext cx="118872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057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定期知会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目前关系不大，但立场能影响资源流向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行动：让他们了解进展 / 避免因「不了解」误判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46120"/>
            <a:ext cx="91440" cy="155448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14300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低权力·低利益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143000" y="3749040"/>
            <a:ext cx="1188720" cy="27432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基本告知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精力有限，放在最后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行动：群发通知 / 暂缓投入 / 保持礼貌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24612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246120"/>
            <a:ext cx="91440" cy="1554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34924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低权力·高利益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349240" y="3749040"/>
            <a:ext cx="118872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保持沟通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个人影响力有限，但深度相关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行动：防止低估 / 可能含「种子用户」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右上角的人，都应该进入第三部分的深度画像分析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/ 170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优先级逻辑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优先级逻辑：先看哪一格？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从矩阵到「先做什么」的判断路径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828800" cy="9144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高·高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重点管理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783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651760" y="1554480"/>
            <a:ext cx="182880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600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高·低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定期知会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1783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182880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600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低·高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保持沟通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1783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040880" y="1554480"/>
            <a:ext cx="1645920" cy="9144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1600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低·低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基本告知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36576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08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先管理高·高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他们影响结果的能力最强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474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再知会高·低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防止「不了解」带来的误判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840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然后深耕低·高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可能含被低估的种子用户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206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最后基本告知低·低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精力有限时再处理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矩阵的价值不是分类，而是排序——决定你接下来把时间花在哪里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/ 170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第四步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第四步：筛选 6 ~ 8 个核心人物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从高·高象限中筛选出你最需要深度分析的人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筛选标准：满足以下任意一条，就纳入核心清单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48840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掌握关键资源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预算、审批权、技术能力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96596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48840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068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意见领袖效应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 的态度直接影响其他人的判断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154680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反对足以阻断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若反对，能显著延缓甚至阻断项目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97180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154680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4068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支持能加速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若主动支持，能显著加速项目落地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69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~ 8 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194560" y="40690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经验值：少于 6 个会遗漏关键人；多于 8 个分析深度会被稀释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/ 170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核心清单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核心人物清单模板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确定你的 6~8 个核心人物——填入上一页筛选标准中符合的那条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填入姓名 + 符合的筛选标准（①②③④）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姓名/称呼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符合的筛选标准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231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15768"/>
            <a:ext cx="8229600" cy="29260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157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08376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0837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29260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00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93592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93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29260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862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78808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7880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71416"/>
            <a:ext cx="8229600" cy="29260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714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完成清单后，下一步进入第三部分——对这 6~8 人做深度画像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/ 170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陷阱总览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穷举阶段最容易犯的四个错误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完成清单后快速检查——这四个陷阱决定清单质量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0" cy="1463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73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2588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只列进「我认识的人」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103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关键影响者可能是你不认识的人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25880" y="2606040"/>
            <a:ext cx="3017520" cy="292608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6060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解法：主动问了解组织生态的人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55448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554480"/>
            <a:ext cx="731520" cy="1463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554480"/>
            <a:ext cx="73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把群体当成一个人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2103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「门店店长们」不是一个人，内部有分化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2606040"/>
            <a:ext cx="3017520" cy="292608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6060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解法：找到群体中的代表性个体单独分析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54680"/>
            <a:ext cx="731520" cy="1463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54680"/>
            <a:ext cx="73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32588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跳过维度五（受损方）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本能聚焦「谁会帮我」，不聚焦「谁会受损」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25880" y="4206240"/>
            <a:ext cx="3017520" cy="292608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42062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解法：受损方是沉默阻力，主动追问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15468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3154680"/>
            <a:ext cx="731520" cy="1463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154680"/>
            <a:ext cx="73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48640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用职级衡量影响力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副总裁可能漠不关心，基层老员工可能是关键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4206240"/>
            <a:ext cx="3017520" cy="292608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42062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解法：按「对这个项目的实际影响力」定位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穷举的质量，决定了后续所有分析的上限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/ 170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陷阱一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陷阱一：只列进「我认识的人」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「不认识」不等于「不存在于你的项目影响网络里」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97764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直觉反应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544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应该有的认知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977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202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我的熟人网络是有限的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3977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202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真正的关键人可能完全在你视野之外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3977640" cy="64008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603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我认识的人 = 我的常识范围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560320"/>
            <a:ext cx="3977640" cy="64008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603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项目里需要分析的人远超常识范围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3977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004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找不到 = 我不熟悉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200400"/>
            <a:ext cx="3977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004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找不到 = 我还没问对人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069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主动问那些了解组织内部生态的人：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297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「你觉得这个项目推进，还有哪些人可能会受影响？」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方成复盘中提到的那位「管理华南区 20 家重点门店数据接口的中层员工」——正是这种「不认识」的人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/ 170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  ·  陷阱二三四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陷阱二 / 三 / 四：群体与维度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三个经常同时犯的简化错误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822960" cy="9601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459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把群体当成一个人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192024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「门店店长们」不是一个人——老店长 vs 新店长、大店长 vs 小店长顾虑不同、利益不同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17320" y="2231136"/>
            <a:ext cx="7178040" cy="246888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2231136"/>
            <a:ext cx="6995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找到群体中的代表性个体，单独分析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06040"/>
            <a:ext cx="822960" cy="9601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974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17320" y="2697480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跳过维度五（受损相关方）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297180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推项目时本能聚焦「谁会帮我」，不是「谁会受损」。受损方是沉默的阻力——不说反对，只是不行动、拖时间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17320" y="3282696"/>
            <a:ext cx="7178040" cy="246888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3282696"/>
            <a:ext cx="6995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主动追问：谁会因此失去现有利益？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57600"/>
            <a:ext cx="822960" cy="9601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49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977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417320" y="3749040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用职级衡量影响力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02336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副总裁可能对你的项目毫不关心；基层老员工可能是关键意见领袖。权力-利益矩阵里的「权力」是对这个项目的实际影响力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4334256"/>
            <a:ext cx="7178040" cy="246888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4334256"/>
            <a:ext cx="6995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按「对这个项目的实际影响力」定位，不是职级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宁可多列几个人，也不要漏掉真正重要的——漏掉一个关键人，策略就可能建在沙上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/ 170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74904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深度画像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1148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看见岗位背后的真实诉求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Persona Mapping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六部分中的  /  3 / 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 ·  授课PPT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065 / 170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开场：害了方成的那句话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方成在项目启动时，对华南区大区总经理有一个判断...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"领导说推，他肯定支持。" —— 这是方成在项目启动时，对华南区大区总经理赵德年的判断。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这个判断来自哪里？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0358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来自直觉。来自「常识」——总部让推，领导当然会支持嘛。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046720" cy="10972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20440"/>
            <a:ext cx="73152" cy="10972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但这个判断完全是错的。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977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没有公开说反对。他说了「支持」。但当方成需要他在关键时刻协调资源时，他总是「很忙，改天再说」；当一些门店店长找他投诉时，他态度模糊——这种模糊被下面的人解读成「领导对这事其实没那么在意」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/ 170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赵德年的真实处境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把"我对这个人的印象"替换成"这个人坐在那个位置上的真实处境"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年底核心KPI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门店坪效提升 8% —— 对年终奖和未来晋升至关重要。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资源争夺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未来三个月，运营团队精力要全用在「提坪效」上。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3832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统报系统影响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6118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不能给主指标加分，反而会占用运营团队大量精力。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60020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15544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公开表态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17830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他说了「支持」—— 在领导面前没有表示反对。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51460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66360" y="24688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真实态度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66360" y="26974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推是要推，但不能让它影响我的主指标。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42900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33832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实际行为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36118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关键协调时刻「很忙」；门店店长投诉时态度模糊。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方成的错误：从未坐在赵德年的位子上，想过那个位子上的人今年最大的压力是什么。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/ 170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深度画像的核心问题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把模糊印象，替换成有岗位逻辑支撑的可预测判断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1907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他坐在那个位置上，天然会在乎什么？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19656"/>
            <a:ext cx="77724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岗位职责、KPI、汇报关系——这些是可以从组织信息推断的客观内容。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他的绩效是怎么算的？他最怕让谁失望？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825496"/>
            <a:ext cx="77724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了解他的汇报链，等于了解他行动的真实驱动力。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这个项目对他意味着什么？成功和失败分别会带来什么？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831336"/>
            <a:ext cx="77724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项目对他的「利害」决定了他的配合度——而不是你的方案好不好。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一旦你知道一个人天然会在乎什么，"搞不定"就会变成"找到正确的切入点还没用"。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/ 170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重要前提：先放下「他这个人怎么样」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深度画像最容易走偏的一步，就是变成"性格分析"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977640" cy="4572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性格判断（主观 · 难以预测）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9776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「他比较保守」「她很强势」「这人不好打交道」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这类描述的问题：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哪种程度的保守？</a:t>
            </a:r>
            <a:endParaRPr lang="en-US" sz="11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在什么事情上保守？</a:t>
            </a:r>
            <a:endParaRPr lang="en-US" sz="11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跟谁说话时保守？</a:t>
            </a:r>
            <a:endParaRPr lang="en-US" sz="11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没有可操作的指引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600200"/>
            <a:ext cx="397764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002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岗位利益（客观 · 可预测）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057400"/>
            <a:ext cx="39776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他的KPI是什么？他向谁汇报？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这类信息的优势：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971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公开的绩效体系可查</a:t>
            </a:r>
            <a:endParaRPr lang="en-US" sz="11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组织架构可看</a:t>
            </a:r>
            <a:endParaRPr lang="en-US" sz="11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跟了解情况的人聊两句</a:t>
            </a:r>
            <a:endParaRPr lang="en-US" sz="11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不依赖主观感受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分析的起点永远是：他坐在那个位置上，天然会在乎什么。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/ 170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 vs 岗位利益：分析起点的选择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性格是第二层，岗位利益是基础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性格描述（参考价值有限）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岗位利益（分析的基础）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「他比较保守」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659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他的KPI是系统稳定性，新方案会增加故障风险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231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「她很强势」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231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她直线上级是CFO，最怕出现合规问题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803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「这人不好打交道」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8803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803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他的核心目标是把团队从救火型转向规划型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375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主观判断，依赖个人印象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3375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3375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客观信息，可通过组织情况推断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947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难以预测行为模式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7947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7947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可预判在项目中的真实反应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2519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沟通风格补充信息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42519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2519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分析的起点和基础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/ 170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深度画像五维框架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五个维度有逻辑顺序：岗位处境 → 个人层面 → 预判 → 沟通要点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168249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1682496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024128" y="2468880"/>
            <a:ext cx="36576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0604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基本定位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他在这个项目中扮演什么角色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21408" y="1691640"/>
            <a:ext cx="1682496" cy="237744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21408" y="1691640"/>
            <a:ext cx="1682496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87452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779776" y="2468880"/>
            <a:ext cx="36576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260604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岗位利益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12848" y="3063240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/ 汇报链 / 核心目标 / 项目影响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77056" y="1691640"/>
            <a:ext cx="168249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77056" y="1691640"/>
            <a:ext cx="1682496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187452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35424" y="2468880"/>
            <a:ext cx="36576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77056" y="260604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个人诉求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68496" y="3063240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被认可 / 安全感 / 掌控权 / 发展空间...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32704" y="1691640"/>
            <a:ext cx="1682496" cy="237744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32704" y="1691640"/>
            <a:ext cx="1682496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32704" y="187452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291072" y="2468880"/>
            <a:ext cx="36576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32704" y="260604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态度预判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24144" y="3063240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他在乎什么 / 不在乎什么 / 怎么打动他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88352" y="1691640"/>
            <a:ext cx="168249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88352" y="1691640"/>
            <a:ext cx="1682496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8352" y="187452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8046720" y="2468880"/>
            <a:ext cx="36576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88352" y="260604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沟通要点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79792" y="3063240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时机方式 / 协作障碍 / 借力关键人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按顺序来，不要跳着填。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这是整个画像框架中最重要的部分——也是大多数人分析得最浅的地方。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/ 170</a:t>
            </a:r>
            <a:endParaRPr lang="en-US" sz="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维度①：基本定位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他在这个项目中扮演什么角色——不是"他的职位是什么"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问自己的问题：项目推进过程中，他起什么作用？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73152" cy="1234440"/>
          </a:xfrm>
          <a:prstGeom prst="rect">
            <a:avLst/>
          </a:prstGeom>
          <a:solidFill>
            <a:srgbClr val="C5303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11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决策授权者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3774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项目最终能否推进、资源能否到位，要经过他的审批或授权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92024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920240"/>
            <a:ext cx="73152" cy="1234440"/>
          </a:xfrm>
          <a:prstGeom prst="rect">
            <a:avLst/>
          </a:prstGeom>
          <a:solidFill>
            <a:srgbClr val="C5303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11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9476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资源控制者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掌管预算、人力、技术或关键渠道的人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920240"/>
            <a:ext cx="73152" cy="1234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011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执行关键节点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3774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流程中某个关键环节的负责人，他卡住整个流程就卡住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46120"/>
            <a:ext cx="73152" cy="1234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337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337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隐性影响者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7033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不直接参与，但他的态度会影响其他人跟不跟进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324612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3246120"/>
            <a:ext cx="73152" cy="1234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337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94760" y="3337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潜在阻力者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74720" y="37033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项目推进可能触及他的既有利益，他有动机让项目变慢或失败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24612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3246120"/>
            <a:ext cx="73152" cy="1234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337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75120" y="3337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天然支持者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37033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项目成功对他有直接好处，他有内在动力配合推进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一个人可以同时属于多个类型。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/ 170</a:t>
            </a:r>
            <a:endParaRPr lang="en-US" sz="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六种角色：从权力与利益两个维度识别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左列（被动支持） vs 右列（主动影响）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偏"配合"类（可借力）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偏"卡点"类（需重点攻关）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977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天然支持者：项目成功对他有直接好处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3977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6596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决策授权者：审批与资源最终由他决定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977640" cy="7315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执行关键节点：他卡住，流程就卡住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697480"/>
            <a:ext cx="3977640" cy="7315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6974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资源控制者：掌管预算、人力、技术或关键渠道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3977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2900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隐性影响者：不直接参与，但态度影响他人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429000"/>
            <a:ext cx="3977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42900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潜在阻力者：项目触及既有利益，可能主动拖延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69080"/>
            <a:ext cx="73152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0690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实用建议：把核心人物逐个过一遍，标注他属于哪一类（或哪几类），以及为什么。这会直接决定你在他身上投入多少时间。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/ 170</a:t>
            </a:r>
            <a:endParaRPr lang="en-US" sz="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维度②：岗位利益分析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这是整个画像框架中最重要的部分——也是大多数人分析得最浅的地方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岗位利益分析问的不是「他这个人怎么样」，而是四个可以查询和推断的问题。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194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核心KPI和绩效压力是什么？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4505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大区总经理在意整体业绩；运营经理在意执行效率；IT经理在意系统稳定性。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834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需要向谁负责，向谁汇报？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09067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他的行动会倾向于「让直线上级满意」，而不是「支持你的项目」——除非这两件事是一件事。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474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最核心的工作目标和业绩来源？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73075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今年最看重什么？职业发展下一步？组织内地位靠什么维持？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项目成功/失败对他的直接影响？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3708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 = 更多工作量？更好的数据？更高的可见度？失败 = 被追责？省了一大堆麻烦？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这四个问题，往往可以通过了解组织情况来回答——不需要高深的调研技能。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/ 170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四个核心问题：从岗位到项目的"利益推演"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不同岗位的绩效来源天差地别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问题一：核心KPI和绩效压力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大区总经理在意整体业绩；运营经理在意执行效率；IT经理在意系统稳定性。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问题二：汇报链（向谁负责）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了解他的汇报链，等于了解他最怕让谁失望。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60020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6360" y="15544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问题三：核心工作目标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178308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今年最看重什么？职业发展下一步在哪里？组织内地位靠什么维持？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30175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问题四：项目对他的影响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3246120"/>
            <a:ext cx="3520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成功对他意味着什么？失败对他意味着什么？这是配合度的核心。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你的项目是帮他们实现KPI，还是在KPI压力期给他们增加额外负担？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/ 170</a:t>
            </a:r>
            <a:endParaRPr lang="en-US" sz="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维度②  /  问题一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问题一：核心KPI和绩效压力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不同岗位的绩效来源天差地别——这是判断"他会多配合"的第一步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他今年背的核心指标是什么？他的压力来自哪里？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48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大区总经理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368296"/>
            <a:ext cx="777240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在意整体业绩、区域市场份额；项目能加业绩就支持，反之则阻力大。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6207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43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运营经理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962656"/>
            <a:ext cx="777240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在意执行效率和问题数量；项目会增加工作量的，配合度直接下降。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375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IT经理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557016"/>
            <a:ext cx="777240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在意系统稳定性和故障次数；新系统如果带来不稳定风险，天生警惕。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319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财务经理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77240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在意准确率和合规性；项目如果触及合规灰色地带，态度保守。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判断：项目是帮他们实现KPI，还是在KPI压力期给他们增加额外负担？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/ 170</a:t>
            </a:r>
            <a:endParaRPr lang="en-US" sz="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维度②  /  问题二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问题二：汇报链——他最怕让谁失望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了解他的汇报链，等于了解他行动的真实驱动力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他的直线上级是谁？横向汇报关系里，他在意谁的态度？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直线上级是谁？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他的行为会优先响应直线上级的信号，而不是你。你的方案如果和他的直线上级意志一致，他会顺畅配合；不一致，他会拖延或应付。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718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横向关键人是谁？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461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他对谁汇报或频繁沟通？比如陈静同时向集团CTO和大区总经理赵磊汇报——赵磊的态度对她的配合度影响巨大。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490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他最怕让谁失望？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233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这是最直接的驱动力。一旦他最在意的人表态支持，他配合的意愿会显著提升。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汇报关系不是组织图上的实线虚线——是"他实际响应谁"的判断。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/ 170</a:t>
            </a:r>
            <a:endParaRPr lang="en-US" sz="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维度②  /  问题三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问题三：核心工作目标与业绩来源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他今年最看重什么？职业发展下一步在哪里？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他今年的"主战场"是什么？他在组织内的地位靠什么维持？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48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他今年最看重的事情是什么？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368296"/>
            <a:ext cx="777240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不只是KPI——是他在组织内证明自己价值的"主战场"。把项目嵌入他的主战场，他会自然推进。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632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他的职业发展下一步在哪里？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82696"/>
            <a:ext cx="777240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晋升？轮岗？转管理？转业务？项目能为他下一步"加分"吗？这决定他投入的精力。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776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他在组织内的地位靠什么维持？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197096"/>
            <a:ext cx="777240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是业务能力？人脉？资历？还是不可替代的"关键人"位置？搞清楚这点，就知道他对项目的"安全感"边界。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这些问题的答案，决定了他面对你的项目时会优先考虑什么。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/ 170</a:t>
            </a:r>
            <a:endParaRPr lang="en-US" sz="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维度②  /  问题四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问题四：项目成功/失败对他的直接影响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把"项目对他意味着什么"想清楚——这决定他配合的力度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站在他的椅子上想：项目成功，他得到什么？失败，他失去什么？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1488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更多工作量？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上线后他要持续维护——如果他本就超负荷，这就是负担。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更好的数据报告？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154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项目能让他的汇报材料更漂亮——这会显著提升他的支持度。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7033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更高的可见度？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项目能否让他的名字出现在集团层面的成果里？可见度是关键动力。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19456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66360" y="21488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被追责？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2377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如果项目失败会被归因到他的部门，他会非常保守；反之他会积极推动。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97180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66360" y="29260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没什么影响？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3154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如果失败对他"无所谓"，他的优先级会立刻让位给自己的主指标。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74904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37033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省去一大堆麻烦？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66360" y="3931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最危险的信号——他内心希望项目失败，这样他可以维持现状。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最危险的情况：他"无所谓"成败，且失败反而让他更轻松。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/ 170</a:t>
            </a:r>
            <a:endParaRPr lang="en-US" sz="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维度③：个人诉求分析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在岗位利益之上，每个人还有个人层面的诉求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个人诉求不完全由岗位决定，但也不是随机的——和他目前的处境、过去的经历、未来的目标密切相关。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359152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59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3591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被认可 / 被看见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743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希望自己的付出和价值被公开承认；对「抢功」特别敏感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219456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359152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359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86200" y="23591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安全感 / 稳定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743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担心改变带来的不确定性；对「风险」高度警觉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219456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359152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359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23591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掌控权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743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不喜欢被「空降」的方案；喜欢参与过程、有话语权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547872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547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发展空间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希望这件事能让自己的能力或影响力提升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338328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547872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86200" y="3547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团队关系维护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不希望项目破坏他与下属或同事的关系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38328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3547872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3547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减轻负担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当前工作已经很满，不想再增加事情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同一个人可能同时有多种个人诉求。信息相对"软性"，需要通过观察来获取。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/ 170</a:t>
            </a:r>
            <a:endParaRPr lang="en-US" sz="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六类诉求：判断"他在项目中最想要什么"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岗位利益是客观的，个人诉求是主观的——别混着填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诉求类型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被认可/被看见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659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希望付出被公开承认；对"抢功"特别敏感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231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安全感/稳定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231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担心改变带来的不确定性；对"风险"高度警觉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803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掌控权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8803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803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不喜欢被"空降"的方案；喜欢参与过程、有话语权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375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发展空间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3375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3375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希望这件事能让自己的能力或影响力提升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947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团队关系维护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794760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7947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不希望项目破坏他与下属或同事的关系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2519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减轻负担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4251960"/>
            <a:ext cx="397764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2519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当前工作已经很满，不想再增加事情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区分：岗位利益是组织信息可推断；个人诉求需要观察才能了解。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/ 170</a:t>
            </a:r>
            <a:endParaRPr lang="en-US" sz="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维度④：态度与行为预判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结合前三维度，预判他对项目的天然态度——以及"切入哪里"最有效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预判必须有依据——他的KPI和这个项目的关系是什么？他的行为模式是什么？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他在乎什么？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414016"/>
            <a:ext cx="777240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项目能为他带来的价值，他天然会关注的点——找到他"主战场"和项目的连接点。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他不在乎什么？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328416"/>
            <a:ext cx="777240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对他无效的说辞——不要把时间浪费在这里。比如对KPI导向的人讲宏大叙事。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14223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23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什么能真正打动他？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42816"/>
            <a:ext cx="777240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最有效的切入角度：利益切入 / 逻辑切入 / 情感切入（三选一或组合）。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最常见错误：对所有人用同一种切入方式。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/ 170</a:t>
            </a:r>
            <a:endParaRPr lang="en-US" sz="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三种切入角度：选对"打动他"的方式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切入点的选择逻辑是"他的信息处理偏好"，不是"你的习惯"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28346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00200"/>
            <a:ext cx="283464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利益切入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用数据或案例说明"这件事能帮你实现你在乎的目标"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2560320" cy="6400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适用：KPI导向强、结果驱动的人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风险：对"过程体验"重视的人效果有限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600200"/>
            <a:ext cx="28346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600200"/>
            <a:ext cx="283464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逻辑切入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用清晰的论证说明"为什么这件事是对的"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3108960"/>
            <a:ext cx="2560320" cy="6400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适用：分析型、对可行性存有理性疑虑的人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风险：对关系导向的人容易显得冷冰冰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1600200"/>
            <a:ext cx="28346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600200"/>
            <a:ext cx="283464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情感切入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5508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用参与感、被重视感、信任关系来推动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3108960"/>
            <a:ext cx="2560320" cy="6400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适用：对关系和过程体验看重的人；在意"自己立场被尊重"的人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风险：对强KPI导向的人效果有限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强KPI的人讲关系效果有限；重自主权的人用数据说服可能引发"被安排"的抵触。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/ 170</a:t>
            </a:r>
            <a:endParaRPr lang="en-US" sz="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维度⑤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维度⑤：沟通与协作要点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把前面所有分析转化成"具体怎么与这个人打交道"的操作建议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具体到：在什么场合沟通？避开什么时机？先说什么？不要说什么？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48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与他沟通时需要注意什么？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368296"/>
            <a:ext cx="777240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时机、方式、禁忌话题、风格偏好——比如忙时不要提、避免让他觉得被"安排"。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632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与他协作时最容易出现的障碍？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282696"/>
            <a:ext cx="777240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需求冻结后的修改？会议冲突？信息不同步？——预判到障碍，提前设流程规避。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09651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776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他身边有没有可以借力的关键影响者？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197096"/>
            <a:ext cx="777240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谁说话他比较听？谁可以帮你在他面前铺垫？——找到关键"二传手"。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写"保持良好关系"是无效建议；写"在她最忙时不要提"才是操作。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/ 170</a:t>
            </a:r>
            <a:endParaRPr lang="en-US" sz="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示范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示范人物：陈静（IT部华北区负责人）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叶云对IT部负责人陈静的完整五维画像——请你在读时同步思考：你的某个核心人物会有什么不同？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2926080" cy="2926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2926080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人物档案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IT部华北区负责人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38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538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31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8313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IT出身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123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41239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华北区13年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五维画像速览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0" y="205740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基本定位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资源控制者 × 天然支持者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岗位利益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KPI：系统稳定性 + 重点项目按期交付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114800" y="3108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个人诉求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技术方案可靠性；最怕需求不稳定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1480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态度预判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566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需要清晰需求规格 + 完整时间计划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1480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沟通要点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非正式探底 + 借力集团CTO背书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下一页开始，详细展示每一个维度的分析过程。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/ 170</a:t>
            </a:r>
            <a:endParaRPr lang="en-US" sz="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示范  /  维度①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  /  维度① 基本定位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资源控制者 × 天然支持者（双重角色）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项目中的角色：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资源控制者 × 天然支持者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977640" cy="411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资源控制者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346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统报系统的技术部署完全依赖IT团队。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20040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陈静是系统能否按期上线的关键决定者——她卡住，IT资源就排不上。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331720"/>
            <a:ext cx="397764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3317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天然支持者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743200"/>
            <a:ext cx="3977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3464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系统一旦落地，IT部门维护的手工数据清洗工作量会大幅减少。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她是项目成功后的直接受益者之一——这是她的内在动力。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34840"/>
            <a:ext cx="73152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348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一个人可以同时属于多个类型。识别她多重角色后，才能针对性设计协作方式。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/ 170</a:t>
            </a:r>
            <a:endParaRPr lang="en-US" sz="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示范  /  维度②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  /  维度② 岗位利益分析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四个问题逐个回答，画像立刻变得可预测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问题一：KPI与绩效压力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773936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系统稳定性（故障率）+ 重点项目按期交付率。人手不足被业务"插队"，统报系统直接符合她"减少数据重复处理"的年度目标。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591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问题二：汇报链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578608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直线上级是集团CTO；横向汇报大区总经理赵磊。赵磊的态度会大大减少其他部门在"IT排期"上给她的压力。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63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问题三：核心工作目标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未来两年推动华北区IT从"救火型"向"规划型"转变。统报系统是她推动这个转变的可见成果之一。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6849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问题四：项目对她的影响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1879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 = 年度汇报亮点 + 数据清洗减少 + 集团IT体系留痕；失败 = 团队白消耗 + 年终缺拿得出手的项目。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画像的核心：把"她会不会支持"变成"她的KPI和这个项目的关系是什么"。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/ 170</a:t>
            </a:r>
            <a:endParaRPr lang="en-US" sz="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示范  /  维度③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  /  维度③ 个人诉求分析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她最在意的事 + 她的核心顾虑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她目前最在意的事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技术方案的可靠性——她不想接一个"推了一半再来反复改"的系统，这会让她的IT团队非常被动。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6360" y="15544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她的核心顾虑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178308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需求不稳定——最担心"业务侧想法没想清楚，先让IT搭好了，后面一直改"。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54680"/>
            <a:ext cx="73152" cy="13716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46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关键经历：一次"被仓促推进"的项目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过去她接了一个业务主导的系统项目，前期沟通不充分，上线后暴露大量bug，她的团队花了半年做修补，年终绩效因此受影响。这个经历让她对"被仓促推进"的项目有额外的警惕。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如果叶云给她"需求清晰、节奏稳定、有完整规划"的信号，她的配合度会大幅提升。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/ 170</a:t>
            </a:r>
            <a:endParaRPr lang="en-US" sz="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示范  /  维度④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  /  维度④ 态度与行为预判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她在乎什么 / 她不在乎什么 / 什么能打动她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她在乎什么（最有效的切入点）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002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她不在乎什么（不要浪费时间的）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977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需求的稳定性和技术方案的完整性；IT团队的工作量是否可控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3977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6596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"集团数字化转型战略"之类的宏大叙事对她意义不大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397764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603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项目结果是否有可见的业务价值（支撑她的年终汇报）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60320"/>
            <a:ext cx="397764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603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纯粹的关系型说服——她是技术型人格，需要看见"做得到"的技术依据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3977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5468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一份清晰的需求规格说明书（必做/可选分明）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3977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15468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一份说"尽快上线"的时间表——她要看的是现实计划，不是决心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397764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490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叶云明确表态"在需求变更上给IT部话语权"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749040"/>
            <a:ext cx="397764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490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把决策权完全交给业务方——会让她立刻警觉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切入点选择 = 利益切入 + 逻辑切入。技术型人格，看得见"做得到"才动。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/ 170</a:t>
            </a:r>
            <a:endParaRPr lang="en-US" sz="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示范  /  维度⑤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  /  维度⑤ 沟通与协作要点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把前面所有分析转化成"具体怎么打交道"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1907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沟通注意事项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19656"/>
            <a:ext cx="77724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正式沟通前先非正式探底（一起喝茶/午饭），了解她目前的工作量状态。话题焦点：技术实现可行性 + IT团队合理工作量——不是"业务有多需要"。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43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协作障碍预判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962656"/>
            <a:ext cx="77724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最容易出问题：需求冻结之后业务侧中途提修改，她的团队承担返工压力→态度急转。预防：立项前把"需求变更流程"谈清楚，双方签字确认。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005072"/>
            <a:ext cx="109728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86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借力关键人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105656"/>
            <a:ext cx="77724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她非常信任集团CTO（直线上级）。叶云后来借助总部项目负责人林峰，请他推动了CTO的正式背书——整个IT协作顺畅很多。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"在她最忙时不要提"是有效建议；"保持良好关系"是无效建议——具体到操作上。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/ 170</a:t>
            </a:r>
            <a:endParaRPr lang="en-US" sz="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示范复盘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  /  完整复盘：从模糊到可预测的转变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把"陈静这个人怎么样"替换成"陈静在岗位上的真实处境"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97764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常见误区（直觉判断）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544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正确做法（画像支撑）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977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20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她做IT的，应该对系统项目天然感兴趣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3977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20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她在意的是系统稳定性，不是"是否上线"。需求不稳的项目她天然警惕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97764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231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跟她讲"集团数字化转型"会让她支持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397764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231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她需要看见"做得到"的技术依据——宏大叙事对她无效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3977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26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她是支持者，不用特别花精力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3977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26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她是关键节点+天然受益者双重角色——需要明确的话语权保障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397764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290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正式邮件发个需求规格就行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429000"/>
            <a:ext cx="397764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4290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先非正式探底（茶/饭）+ 正式沟通 + 借力CTO背书——三步组合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3977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319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只要她支持就能推动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931920"/>
            <a:ext cx="3977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9319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还要预判需求变更风险，提前签变更流程——这是协作的最大障碍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一旦你知道她的KPI是什么、最怕什么、天然会在乎什么——"搞不定"就变成"找到正确切入点还没用"。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/ 170</a:t>
            </a:r>
            <a:endParaRPr lang="en-US" sz="8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练习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练习：完成你的第一张深度画像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用陈静示范为参考，完成6~8个核心人物中的第一张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✋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深度画像分析卡  ·  每张预计 15~20 分钟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建议从「你目前最难判断」或「你感觉最重要」的那个人开始。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6276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34640"/>
            <a:ext cx="162763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姓名、部门岗位、年龄范围、任职时间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2834640"/>
            <a:ext cx="16276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2834640"/>
            <a:ext cx="162763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297180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148840" y="34290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37033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基本定位（6种角色类型，可多选）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0" y="2834640"/>
            <a:ext cx="16276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2834640"/>
            <a:ext cx="162763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97180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40480" y="34290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37033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岗位利益（4个核心问题）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32120" y="2834640"/>
            <a:ext cx="16276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2834640"/>
            <a:ext cx="162763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297180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32120" y="34290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维度③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23560" y="37033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个人诉求（在意的事 + 顾虑）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23760" y="2834640"/>
            <a:ext cx="162763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2834640"/>
            <a:ext cx="162763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97180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23760" y="34290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维度④⑤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37033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态度预判 + 沟通要点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认真填写，不要敷衍——这一步的质量直接决定后面破局策略的有效性。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/ 170</a:t>
            </a:r>
            <a:endParaRPr lang="en-US" sz="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练习  /  基本信息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画像卡 1  /  基本信息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用基础信息建立"这是谁"的基本档案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  ·  人物画像卡 # ___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73152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 / 称呼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214884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73152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 / 岗位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7520" y="265176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73152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年龄（大概范围）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315468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154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73152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在这个组织/岗位上的时间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0" y="3657600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97680"/>
            <a:ext cx="73152" cy="5486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2976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这些字段看似简单——但很多人对"任职时间"都没想清楚。它是判断他对组织熟悉度、影响力深度的关键信息。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 / 170</a:t>
            </a:r>
            <a:endParaRPr lang="en-US" sz="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练习  /  维度①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画像卡 2  /  维度① 基本定位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他在项目中扮演什么角色（可多选，并说明为什么）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  ·  人物画像卡 # ___  /  维度①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角色类型（可多选）：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决策授权者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4688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资源控制者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执行关键节点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隐性影响者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306324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6908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潜在阻力者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06324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天然支持者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为什么选这些类型？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24528"/>
            <a:ext cx="822960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517136"/>
            <a:ext cx="822960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/ 170</a:t>
            </a:r>
            <a:endParaRPr lang="en-US" sz="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练习  /  维度②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画像卡 3  /  维度② 岗位利益分析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四个问题——大多数人在这一层最浅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  ·  人物画像卡 # ___  /  维度②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他的核心KPI和绩效压力是什么？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560320"/>
            <a:ext cx="777240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他需要向谁负责？他最怕让谁失望？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154680"/>
            <a:ext cx="777240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他今年最核心的工作目标和业绩来源是什么？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749040"/>
            <a:ext cx="777240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项目成功 / 失败，分别对他意味着什么？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343400"/>
            <a:ext cx="777240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写"他比较强势"不算——把性格描述替换成岗位信息。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/ 170</a:t>
            </a:r>
            <a:endParaRPr lang="en-US" sz="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/  深度画像  /  练习  /  维度③-⑤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画像卡 4  /  维度③到⑤  ·  个人诉求 + 预判 + 沟通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从"他是谁"走到"怎么与他打交道"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  ·  人物画像卡 # ___  /  维度③-⑤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73152" cy="7772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维度③ 个人诉求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1031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他目前最在意的事情是什么？   2. 他有哪些顾虑或潜在担忧？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26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维度④ 态度与行为预判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92608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他对这个项目天然会持什么态度？   2. 他在乎什么 / 不在乎什么？   3. 什么最有可能打动他？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73152" cy="7772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维度⑤ 沟通与协作要点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7490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与他沟通时需要注意什么？   2. 与他协作时最容易出现的障碍？   3. 他身边有没有可以借力的关键人？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按此格式，把你剩余的5~7个核心人物逐一完成。每完成一张，画像体系就完整一点。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/ 170</a:t>
            </a:r>
            <a:endParaRPr lang="en-US" sz="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74904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三阶九梯定位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1148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从「感觉他支持」到「知道他在哪里」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Stages, Nine Levels of Positioning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六部分中的  /  4 / 6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三阶九梯定位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「他说支持」 ≠ 「他支持」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表态与行为之间的巨大鸿沟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8046720" cy="118872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73152" cy="1188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830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「没问题」和「我会主动推进这件事」之间，有一段很大的距离。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叶云在第二个月的复盘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三阶九梯要解决的问题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把定性的「感觉他支持 / 反对」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转化成有行为依据的、精确的位置判断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从而为每个人选择最有针对性的策略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/ 170</a:t>
            </a:r>
            <a:endParaRPr lang="en-US" sz="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三阶九梯定位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老张的举手与拖延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一个让叶云短暂困惑的案例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1280160" cy="594360"/>
          </a:xfrm>
          <a:prstGeom prst="rect">
            <a:avLst/>
          </a:prstGeom>
          <a:solidFill>
            <a:srgbClr val="D4A5A0"/>
          </a:solidFill>
          <a:ln w="12700">
            <a:solidFill>
              <a:srgbClr val="D4A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1645920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69164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启动会举手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193852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门店运营经理老张参会举手：「支持，没问题，我们配合」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1280160" cy="5943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5915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第二个月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359152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240487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数据接口延迟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2651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老张门店的数据接口迟迟没有完成配置，问时说「最近比较忙」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1280160" cy="5943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7238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072384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311810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仍未推进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65960" y="33649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进度还是没动，叶云开始认真分析老张的实际处境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85616"/>
            <a:ext cx="1280160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85616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复盘发现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3785616"/>
            <a:ext cx="6858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383133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表面顺从、内心保留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65960" y="407822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举手因为大区总在场，保留因为要改习惯且无资源支持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/ 170</a:t>
            </a:r>
            <a:endParaRPr lang="en-US" sz="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三阶九梯定位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三阶九梯：总览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三个大阶，每阶三个层次，共九个精确位置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46888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阶 · 支持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731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34440" y="2286000"/>
            <a:ext cx="1691640" cy="6858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2860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731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34440" y="3063240"/>
            <a:ext cx="1691640" cy="6858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0632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731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404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34440" y="3840480"/>
            <a:ext cx="1691640" cy="6858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8404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顺从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37560" y="1691640"/>
            <a:ext cx="2468880" cy="4572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阶 · 中立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37560" y="2286000"/>
            <a:ext cx="731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2860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114800" y="2286000"/>
            <a:ext cx="1691640" cy="6858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22860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37560" y="3063240"/>
            <a:ext cx="731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063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4114800" y="3063240"/>
            <a:ext cx="1691640" cy="6858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30632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犹豫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37560" y="3840480"/>
            <a:ext cx="731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8404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4114800" y="3840480"/>
            <a:ext cx="1691640" cy="6858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38404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冷漠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1691640"/>
            <a:ext cx="2468880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阶 · 反对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7920" y="2286000"/>
            <a:ext cx="731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2860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6995160" y="2286000"/>
            <a:ext cx="1691640" cy="6858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22860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怀疑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7920" y="3063240"/>
            <a:ext cx="731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063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6995160" y="3063240"/>
            <a:ext cx="1691640" cy="6858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30632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17920" y="3840480"/>
            <a:ext cx="731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8404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6995160" y="3840480"/>
            <a:ext cx="1691640" cy="6858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95160" y="38404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判断依据是行为，不是表态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/ 170</a:t>
            </a:r>
            <a:endParaRPr lang="en-US" sz="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三阶九梯定位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阶：支持的三个层次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表面看都是「支持」，但支持的深度和主动性有很大差异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517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真正意义上的盟友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不用你说，他就动了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01752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主动联系你同步进展；你没在场的会议里帮你说话；主动把可用资源引荐给你；遇到阻碍时不等你，自己先想办法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691640"/>
            <a:ext cx="2651760" cy="5486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6052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46120" y="22402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认可价值，愿意配合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你推他就动，你不推他就停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301752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291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你安排的事他会做；你问他意见他会给出正向反馈；但你不主动推进，他不会主动跟进；不会阻碍，也不会创造推进力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691640"/>
            <a:ext cx="2651760" cy="54864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顺从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35040" y="22402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外部压力下配合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表面同意，内心保留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72200" y="301752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3291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公开场合表态「没问题」；但执行上总有各种延误；遇到额外投入要求时以「很忙」「排期」等方式规避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最需要注意的误判：A3 最容易被错当成 A2 甚至 A1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/ 170</a:t>
            </a:r>
            <a:endParaRPr lang="en-US" sz="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A 阶 · A1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920240" y="5486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097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真正意义上的盟友 —— 不是因为你请求了他，是他自己认定这件事值得做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不用你说，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他就动了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主动付出时间、精力和资源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主动帮你推动其他人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主动在你没想到的地方解决问题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行为特征（你能观察到的）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主动联系你同步进展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69748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在你没在场的会议里帮你说话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主动把可用资源引荐给你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703320"/>
            <a:ext cx="365760" cy="3657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遇到阻碍时不等你，自己先想办法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让你拥有「不需要管理的同盟军」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/ 170</a:t>
            </a:r>
            <a:endParaRPr lang="en-US" sz="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A 阶 · A2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920240" y="5486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097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认可项目价值，愿意配合 —— 但不会主动发起行动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你推他就动，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你不推他就停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不会对项目产生阻碍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也不会主动创造推进力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需要持续管理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304288"/>
            <a:ext cx="128016" cy="12801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945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你安排的事他会做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07208"/>
            <a:ext cx="128016" cy="12801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6974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你问他意见会给出正向反馈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310128"/>
            <a:ext cx="128016" cy="12801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004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你主动推进时他配合顺畅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813048"/>
            <a:ext cx="128016" cy="12801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7033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你不主动推进，他不会主动跟进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是「合格的同盟军」，但不要误以为是 A1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/ 170</a:t>
            </a:r>
            <a:endParaRPr lang="en-US" sz="8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A 阶 · A3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920240" y="5486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顺从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097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表面同意，但并非真心支持 —— 配合是外部压力，不是内心认同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警惕：A3 最容易被错当成 A2 甚至 A1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A3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上级要求、流程规定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不配合的代价太高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429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公开场合不举手会显得「不配合」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新系统要改变操作习惯，无额外资源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194560"/>
            <a:ext cx="4114800" cy="22860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行为特征（非常关键）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651760"/>
            <a:ext cx="274320" cy="274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公开场合表态「没问题」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274320" cy="274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执行上总有各种延误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474720"/>
            <a:ext cx="274320" cy="274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用「很忙」「排期」规避额外投入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886200"/>
            <a:ext cx="274320" cy="274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不主动，不透明，不报问题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那张「支持的举手」可能是 A3，不是 A2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/ 170</a:t>
            </a:r>
            <a:endParaRPr lang="en-US" sz="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A 阶对比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阶对比：误判陷阱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同样是「支持」，看哪些行为信号能帮你区分 A1 / A2 / A3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874520" cy="41148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观察维度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1691640"/>
            <a:ext cx="187452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6916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投入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691640"/>
            <a:ext cx="1920240" cy="411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接受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1874520" cy="41148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6916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顺从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1874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你不在场时的表现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2103120"/>
            <a:ext cx="1874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主动帮你说话，捍卫项目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210312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不会说坏话，也不会主动推广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103120"/>
            <a:ext cx="1874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不会说，但也不帮你说话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187452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06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需要额外资源时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31720" y="2606040"/>
            <a:ext cx="187452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606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主动协调，甚至把自己的资源让出来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0" y="2606040"/>
            <a:ext cx="192024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你提要求他做，但不主动加码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606040"/>
            <a:ext cx="187452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606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以「忙」「排期」规避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108960"/>
            <a:ext cx="1874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1089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遇到阻碍的反应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31720" y="3108960"/>
            <a:ext cx="1874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3160" y="31089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不等你，自己先想办法解决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06240" y="310896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3108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等你给方向，你给就动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3108960"/>
            <a:ext cx="1874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1089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借阻碍合理化拖延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611880"/>
            <a:ext cx="187452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611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主动反馈问题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31720" y="3611880"/>
            <a:ext cx="187452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3160" y="3611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主动告诉你可能的风险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06240" y="3611880"/>
            <a:ext cx="192024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3611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你问才答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3611880"/>
            <a:ext cx="187452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611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不主动，不透明，不报问题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判断依据是行为，不是表态 —— 一张支持的举手 ≠ A2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/ 170</a:t>
            </a:r>
            <a:endParaRPr lang="en-US" sz="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三阶九梯定位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阶：中立的三个层次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同样是「不反对」，但原因和后续处理方式完全不同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51760" cy="54864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不反对，因为不在乎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既不支持也不反对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01752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不出现在项目相关的讨论中；你找他他会配合但不会主动跟进；问意见时说「都行」「你决定」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691640"/>
            <a:ext cx="2651760" cy="5486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6052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犹豫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46120" y="22402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观望中 —— 转化性价比最高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了解项目，尚未做判断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301752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291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会主动了解项目进展；非正式场合问「到底有没有在推」；措辞模糊「方向对但还要看看」；等有影响力的人先表态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691640"/>
            <a:ext cx="2651760" cy="5486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冷漠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35040" y="22402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有意识地保持距离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意识到了，选择不参与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72200" y="301752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3291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回复慢或不回；项目讨论中保持沉默；说「我看看吧」「这事不好说」；若即若离，难以判断真实立场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犹豫 = 转化性价比最高的群体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/ 170</a:t>
            </a:r>
            <a:endParaRPr lang="en-US" sz="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B 阶 · B1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920240" y="5486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097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既不支持也不反对 —— 这件事和他感知到的利益没有交集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跟我没关系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不是对你有敌意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只是缺乏利益交集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可能完全不了解项目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不出现在项目相关的讨论中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你找他他会配合，但不会主动跟进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问他意见时说「都行」「你决定」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703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3776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不主动了解项目，不主动反馈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不需要说服 —— 需要的是「让他看到这件事和他有关」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/ 170</a:t>
            </a:r>
            <a:endParaRPr lang="en-US" sz="8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B 阶 · B2  重点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920240" y="548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犹豫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126480" y="594360"/>
            <a:ext cx="2560320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594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转化性价比最高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097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了解项目，但在观望 —— 有顾虑，也有一定的兴趣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转化条件 = 让他看到「这件事对我的价值 &gt; 我的顾虑」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228600" cy="22860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71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2926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主动了解项目进展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228600" cy="22860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37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2918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非正式场合问「到底有没有在推」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228600" cy="22860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03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36576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措辞模糊：方向对但还要看看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228600" cy="22860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690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40233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等有影响力的人表态后再跟进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468880"/>
            <a:ext cx="4114800" cy="201168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为什么性价比最高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2926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74920" y="29260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立场已经在动摇 —— 已有兴趣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291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74920" y="3291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不需要根本改变立场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657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74920" y="3657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只需要补足最后一块价值证明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023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74920" y="4023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转化为 A2 后，能成为同盟军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/ 170</a:t>
            </a:r>
            <a:endParaRPr lang="en-US" sz="8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B 阶 · B3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920240" y="5486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097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有意识地保持距离 —— 不同 B1 的「没意识到」，B3 是「选择不参与」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意识到了，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选择不参与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过去被类似项目辜负过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不想被卷入的顾虑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对项目的隐性不认同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304288"/>
            <a:ext cx="128016" cy="1280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945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你联系他，回复很慢或不回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07208"/>
            <a:ext cx="128016" cy="1280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6974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项目讨论中保持沉默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310128"/>
            <a:ext cx="128016" cy="1280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004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对关键人说「我看看吧」「这事不好说」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813048"/>
            <a:ext cx="128016" cy="1280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7033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若即若离，让你难以判断真实立场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难处理 —— 必须先识别背后的真实原因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/ 170</a:t>
            </a:r>
            <a:endParaRPr lang="en-US" sz="8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三阶九梯定位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阶：反对的三个层次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同样是「反对」，处理方式差距很大 —— 错误判断会导致完全无效的策略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51760" cy="54864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怀疑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理性质疑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对可行性、必要性持怀疑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01752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会议上提出有逻辑的质疑；要求看数据和依据；你能给出有说服力的回应，他可以被转化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691640"/>
            <a:ext cx="2651760" cy="5486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6052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46120" y="22402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 / 价值冲突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反对的不是方案，是「对我不好」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301752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291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表面不公开反对；绕开你向别人传达消极信号；「原则上支持，但有些细节需要再谈」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691640"/>
            <a:ext cx="26517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35040" y="22402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主动阻挠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制造阻碍、动员消极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72200" y="301752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32918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向上级投诉「问题」；背后向关键人施压；在节点处制造障碍；故意「帮倒忙」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阶的难度排序：C1 &lt; C2 &lt; C3 —— 判断错了，满盘皆输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/ 170</a:t>
            </a:r>
            <a:endParaRPr lang="en-US" sz="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C 阶 · C1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920240" y="5486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怀疑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097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理性质疑 —— 不是敌意，也不是利益冲突，是「我还没看到足够的理由」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我还没看到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足够的理由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质疑的是可行性 / 必要性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质疑的是方案质量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可以转化 —— 拿出有说服力的回应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365760" cy="36576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在会议上提出有逻辑的质疑（数据准确性、推进时间表）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697480"/>
            <a:ext cx="365760" cy="36576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会要求看数据和依据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365760" cy="36576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不带情绪，针对事不针对人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703320"/>
            <a:ext cx="365760" cy="36576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如果你能给出回应，他可以被转化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不是敌人 —— 是项目的免费质量审查员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/ 170</a:t>
            </a:r>
            <a:endParaRPr lang="en-US" sz="8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C 阶 · C2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920240" y="5486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097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明确的利益冲突或价值冲突 —— 反对的根源不在逻辑层，而在利益层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简单的逻辑说服对 C2 无效 —— 必须处理利益层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这件事对我不好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246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有明确利益冲突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38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538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价值层面不认同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313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8313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反对的不是方案本身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23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1239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根源在利益层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194560"/>
            <a:ext cx="4114800" cy="22860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651760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表面不公开反对（为维持关系）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实际上不配合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绕开你向别人传达消极信号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274320" cy="27432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「原则上支持，但具体细节需要再谈」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必须从「利益层」破局 —— 详见第五部分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/ 170</a:t>
            </a:r>
            <a:endParaRPr lang="en-US" sz="8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C 阶 · C3  高危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920240" y="5486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097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主动阻挠项目推进 —— 涉及更深层的组织政治，普通沟通策略难以解决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高危信号：主动制造阻碍、动员他人消极情绪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182880" cy="1828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主动向项目的上级反映「问题」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182880" cy="1828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在背后向关键人施压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82880" cy="1828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在项目推进节点处制造障碍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182880" cy="1828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故意「帮倒忙」 —— 看似配合实则破坏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194560"/>
            <a:ext cx="4114800" cy="2286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本质解读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26517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不是为了利益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063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74920" y="30632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是组织政治 / 立场对立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474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474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沟通策略已经失效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886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74920" y="3886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需要更高层级介入或绕过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是组织问题，不是沟通问题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 / 170</a:t>
            </a:r>
            <a:endParaRPr lang="en-US" sz="8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C 阶处理策略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阶处理策略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三个层级对应三种完全不同的处理路径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51760" cy="64008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怀疑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核心策略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用数据和依据回应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逻辑回应 / 价值证明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8328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29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具体动作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657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准备数据、历史误差率、试点案例；主动约他单独沟通；把他作为质量审查的同盟军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691640"/>
            <a:ext cx="2651760" cy="6400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691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60520" y="1691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46120" y="233172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核心策略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处理利益层问题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017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价值交换 / 利益重构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38328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429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具体动作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3657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找出他的具体利益顾虑；设计价值交换方案；可能需要你「给他」一些他想要的东西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691640"/>
            <a:ext cx="265176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691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49440" y="1691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035040" y="233172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核心策略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升级处理 / 借力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72200" y="3017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组织政治 / 上级支持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338328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429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具体动作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3657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普通沟通无效；需要上级支持或绕过其影响范围；可能需要重新评估项目策略本身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错位处理 = 资源浪费 + 时机错失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/ 170</a:t>
            </a:r>
            <a:endParaRPr lang="en-US" sz="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原则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0" y="548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看行为，不看表态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1097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说「支持」未必是真支持 —— 唯一可信的依据是「做了什么」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37360"/>
            <a:ext cx="219456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他的表态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737360"/>
            <a:ext cx="21945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实际行为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737360"/>
            <a:ext cx="365760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真实定位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10312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10312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103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「支持，没问题」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2103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执行极慢、用「很忙」规避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2103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顺从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219456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606040"/>
            <a:ext cx="219456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2606040"/>
            <a:ext cx="365760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「方向是对的」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主动了解进展、跟进细节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2606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犹豫（可能转 A2）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10896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310896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310896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「数据准确性怎么保证？」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80360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要求看依据、提具体问题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3108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怀疑（可被转化）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219456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3611880"/>
            <a:ext cx="219456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3611880"/>
            <a:ext cx="365760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611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「原则上支持」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80360" y="3611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私下向别人说消极的话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611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抗拒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开会举手是 A2 还是 A3？看他后续有没有主动跟进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 / 170</a:t>
            </a:r>
            <a:endParaRPr lang="en-US" sz="8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原则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0" y="548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定的是当前状态，不是永久标签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097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三阶九梯描述的是此刻这个人的位置，不是他固定不变的属性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3657600" cy="411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1：B2 犹豫 → A2 接受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657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关键支持者公开表态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看到了价值 + 风险下降，立场倾向支持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783080"/>
            <a:ext cx="41148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783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2：A2 接受 → B2 犹豫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项目遇到挫折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开始观望，立场退回 B2 —— 状态会变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91840"/>
            <a:ext cx="73152" cy="10972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832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三阶九梯不是贴标签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是建立「有行为依据的、当前时刻的」坐标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你不是在判断这个人好不好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你是在看这件事上，他现在站在哪里，以及他下一步可能往哪里走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状态会变，策略要跟着变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/ 170</a:t>
            </a:r>
            <a:endParaRPr lang="en-US" sz="8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原则 3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0" y="548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结合画像交叉验证，不凭直觉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097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把画像信息和实际行为对照，发现「不按预期行动」的人 = 真正的卡点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691640"/>
            <a:ext cx="822960" cy="82296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画像预测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基于第三部分深度画像：岗位利益、个人诉求、行为预判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52044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66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陈静的岗位利益是「保 IT 系统稳定」，应该倾向 A2 支持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1691640"/>
            <a:ext cx="822960" cy="8229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4612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行为观察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46120" y="297180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对照实际发生的行为：他在做什么？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352044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566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3794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但陈静主动来问需求规格、在 IT 内部主动把项目提前 —— 行为像 A1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1691640"/>
            <a:ext cx="822960" cy="82296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3504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297180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 vs 实际不一致 = 信号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3520440"/>
            <a:ext cx="23774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566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3794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找到差距原因：「需求规格清晰」= 她的核心诉求。差距是发现卡点的入口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rot="2700000">
            <a:off x="3154680" y="1965960"/>
            <a:ext cx="365760" cy="365760"/>
          </a:xfrm>
          <a:prstGeom prst="rightTriangl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5943600" y="1965960"/>
            <a:ext cx="365760" cy="365760"/>
          </a:xfrm>
          <a:prstGeom prst="rightTriangl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直觉常常有依据，但依据未必对 —— 用画像和事实交叉验证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/ 170</a:t>
            </a:r>
            <a:endParaRPr lang="en-US" sz="8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案例复盘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叶云的完整定位复盘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项目启动两个月后，对六个核心人物的完整定位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55448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691640"/>
            <a:ext cx="1280160" cy="365760"/>
          </a:xfrm>
          <a:prstGeom prst="rect">
            <a:avLst/>
          </a:prstGeom>
          <a:solidFill>
            <a:srgbClr val="D4A5A0"/>
          </a:solidFill>
          <a:ln w="12700">
            <a:solidFill>
              <a:srgbClr val="D4A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初始直觉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12344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91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分析后定位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1691640"/>
            <a:ext cx="123444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691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变化方向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1691640"/>
            <a:ext cx="292608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定位依据（行为）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05740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205740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057400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2057400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05740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057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赵磊（大区总）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57400" y="2057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支持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2057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顺从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2057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0" y="2057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协调资源总是「改天」；店长投诉时态度模糊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441448"/>
            <a:ext cx="155448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0" y="2441448"/>
            <a:ext cx="128016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441448"/>
            <a:ext cx="123444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2441448"/>
            <a:ext cx="123444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2441448"/>
            <a:ext cx="292608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4414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陈静（IT负责人）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57400" y="24414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犹豫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37560" y="244144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接受→A1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244144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52160" y="24414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主动来问需求；IT 内部排期主动提前项目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2825496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1680" y="282549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2825496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26280" y="2825496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60720" y="2825496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28254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王建国（财务经理）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057400" y="282549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无感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37560" y="282549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怀疑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0" y="282549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852160" y="282549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提出三个数据准确性具体质疑；要求历史误差率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209544"/>
            <a:ext cx="155448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11680" y="3209544"/>
            <a:ext cx="128016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91840" y="3209544"/>
            <a:ext cx="123444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26280" y="3209544"/>
            <a:ext cx="123444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0" y="3209544"/>
            <a:ext cx="292608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20954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孙伟（老店长）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057400" y="32095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接受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37560" y="320954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抗拒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0" y="320954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↓↓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852160" y="32095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非正式场合说「别急着改」；接口以「IT 排期」拖延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359359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11680" y="359359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91840" y="3593592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26280" y="3593592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0" y="3593592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35935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老张（运营经理）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057400" y="35935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接受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337560" y="359359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顺从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72000" y="359359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852160" y="35935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启动会举手（大区总在场）；执行极慢；不报问题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3977640"/>
            <a:ext cx="155448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11680" y="3977640"/>
            <a:ext cx="128016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91840" y="3977640"/>
            <a:ext cx="123444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26280" y="3977640"/>
            <a:ext cx="123444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760720" y="3977640"/>
            <a:ext cx="292608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数据接口中层员工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2057400" y="3977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未纳入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337560" y="39776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抗拒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572000" y="39776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5852160" y="3977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「在排期」永远没确定时间线；方成完全漏掉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最关键的发现：直觉和实际差距越大，越要警觉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/ 170</a:t>
            </a:r>
            <a:endParaRPr lang="en-US" sz="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定位对比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定位表：六人对比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把六个人按 A / B / C 阶分组，看清整体格局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517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支持阵营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65176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陈静 (A2→A1)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265176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可依靠的力量 —— 向其要资源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691640"/>
            <a:ext cx="2651760" cy="4572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6052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中立阵营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2148840"/>
            <a:ext cx="265176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148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246120" y="269748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（无）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4023360"/>
            <a:ext cx="2651760" cy="41148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B2 可转化 —— 中立阵营缺位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691640"/>
            <a:ext cx="2651760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阶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4944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反对阵营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148840"/>
            <a:ext cx="2651760" cy="50292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148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035040" y="2697480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王建国 (C1)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3035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孙伟 (C2)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328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数据接口 (C2)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621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赵磊 (A3 名义)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4023360"/>
            <a:ext cx="2651760" cy="411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回应数据；C2 处理利益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整体格局：A 阵营薄弱，C 阵营过强 —— 这是叶云需要破的局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 / 170</a:t>
            </a:r>
            <a:endParaRPr lang="en-US" sz="8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关键发现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关键发现：孙伟被严重低估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从「A2 接受」到「C2 抗拒」 —— 定位如何改变整个局面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1148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定位过程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1371600" cy="54864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接受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606040" y="2148840"/>
            <a:ext cx="137160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抗拒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叶云发现的行为证据：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启动会没有举手也没反对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4015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401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非正式场合对其他店长说「别急着改」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69417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6941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门店数据接口「IT 排期」拖延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8678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986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基层店长私下问「孙店长怎么看」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691640"/>
            <a:ext cx="3931920" cy="2743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连锁影响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孙伟的消极信号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3776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正在影响整个门店群体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937760" y="297180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1089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他是非正式领袖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40156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401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其他店长引用他的观点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694176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36941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他的抗拒 = 群体的抗拒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98678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39867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找到他 = 找到破局起点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找到这个关键节点 —— 是叶云后来破局的起点之一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/ 170</a:t>
            </a:r>
            <a:endParaRPr lang="en-US" sz="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练习 1 /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0" y="201168"/>
            <a:ext cx="1005840" cy="2926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15-20 分钟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练习一：定位你的 6-8 个核心人物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对照深度画像的分析结果，以及你实际观察到的行为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人物姓名/称呼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初始直觉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分析后定位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定位依据（1-2 个具体行为）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5740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68296"/>
            <a:ext cx="8229600" cy="310896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6829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79192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7919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90088"/>
            <a:ext cx="8229600" cy="310896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0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00984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0098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310896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1188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22776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2277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33672"/>
            <a:ext cx="8229600" cy="310896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3367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行为信息不足时写「待确认」，记下「需要观察什么」—— 不要凭感觉填一个让自己心安理得的答案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/ 170</a:t>
            </a:r>
            <a:endParaRPr lang="en-US" sz="8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练习 2 /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0" y="201168"/>
            <a:ext cx="1005840" cy="2926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练习二：绘制支持度分布图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把所有人标注在分布图上，形成对当前「人的环境」的整体感知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1737360"/>
            <a:ext cx="1691640" cy="228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737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196596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737360"/>
            <a:ext cx="1691640" cy="228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1737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196596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1737360"/>
            <a:ext cx="1691640" cy="228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737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0" y="1737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66360" y="196596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91640" y="2560320"/>
            <a:ext cx="1691640" cy="2286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2560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0280" y="256032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91640" y="278892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560320"/>
            <a:ext cx="1691640" cy="2286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560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77640" y="256032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犹豫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278892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2560320"/>
            <a:ext cx="1691640" cy="2286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560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15000" y="256032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66360" y="278892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91640" y="3383280"/>
            <a:ext cx="1691640" cy="2286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3383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338328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怀疑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91640" y="36118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29000" y="3383280"/>
            <a:ext cx="1691640" cy="2286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3383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77640" y="338328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29000" y="36118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3383280"/>
            <a:ext cx="1691640" cy="2286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3383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15000" y="338328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66360" y="36118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1737360"/>
            <a:ext cx="118872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17373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阶 · 支持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2560320"/>
            <a:ext cx="1188720" cy="77724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256032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阶 · 中立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3383280"/>
            <a:ext cx="1188720" cy="7772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38328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阶 · 反对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949440" y="1737360"/>
            <a:ext cx="1737360" cy="24231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0" y="1828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填写方法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040880" y="21031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在每个格子里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40880" y="2331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写上人物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40880" y="2560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的姓名或简称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40880" y="2880360"/>
            <a:ext cx="1554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40880" y="2926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形成整体感知：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040880" y="3154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阵营有多厚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040880" y="33832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阵营有多薄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40880" y="3611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阵营在何处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40880" y="3840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谁是关键节点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一张分布图 ≈ 一张「人的战场地图」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/ 170</a:t>
            </a:r>
            <a:endParaRPr lang="en-US" sz="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分布图填写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分布图填写方法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正确填写才能产生洞察 —— 不是数字游戏，是视角校准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965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19659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列出核心人物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743200"/>
            <a:ext cx="16916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346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从第二/三部分筛选出的 6-8 人，每个人物对应一个格子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691640"/>
            <a:ext cx="1965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691640"/>
            <a:ext cx="19659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6916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9748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对照定位结果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97480" y="2743200"/>
            <a:ext cx="16916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28346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把三阶九梯定位结果直接落到对应格子，写姓名或简称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1965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691640"/>
            <a:ext cx="19659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6916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留白未定位的人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2743200"/>
            <a:ext cx="16916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8346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如果某个人你还没足够信息定位，先空着，标注「待观察」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691640"/>
            <a:ext cx="1965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1691640"/>
            <a:ext cx="19659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6916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03720" y="2286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看整体而非个体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03720" y="2743200"/>
            <a:ext cx="16916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28346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不要被单个定位干扰，先看整张图呈现的整体格局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避免：凭感觉填「A2」让自己好受 / 把所有人堆在 B 阶 / 用初始直觉代替行为证据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/ 170</a:t>
            </a:r>
            <a:endParaRPr lang="en-US" sz="8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填完图后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填完图后，回答三个问题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三个问题逼出你真正没看到的部分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73152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188720" y="1691640"/>
            <a:ext cx="7498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7373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整体格局对比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0116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和你的预期相比，分布图有什么差异？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 = 认知盲区。哪里最让你意外？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731520" cy="8686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188720" y="2651760"/>
            <a:ext cx="7498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6974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最意外的定位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最让你意外的定位结果是哪一个？为什么意外？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246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意外意味着你的初始假设错了。错的地方 = 真正的卡点。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73152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1188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188720" y="3611880"/>
            <a:ext cx="7498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6576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最担心的位置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931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看到这张图，你最担心的是哪个位置 / 哪个人？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4206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 ≠ 立刻处理。先识别最危险的那一个。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问题的答案 = 你下一步的优先动作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/ 170</a:t>
            </a:r>
            <a:endParaRPr lang="en-US" sz="8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定位后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定位之后，你手里有了什么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一张有坐标系的「人的地图」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这张地图告诉你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A 级阵营里，有多少真正能依靠的力量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B 级阵营里，有多少可以被转化的犹豫者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C 级阵营里，面对的是理性质疑、利益冲突、还是主动破坏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1691640"/>
            <a:ext cx="3474720" cy="2651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根据地图，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判断两件事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394960" y="3017520"/>
            <a:ext cx="45720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我需要每个人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达到什么状态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我能为他们提供什么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让他们向那个方向移动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这是第五部分要完成的任务：需求映射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/ 170</a:t>
            </a:r>
            <a:endParaRPr lang="en-US" sz="8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小结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第四部分小结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三阶九梯定位 —— 核心收获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7373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定位是行为的判断，不是表态的判断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9933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说「支持」未必支持，那张「支持的举手」可能是 A3 不是 A2。判断依据是他做了什么，不是什么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331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三个原则是定位的护栏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58775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看行为不看表态；定的是当前状态不是永久标签；用画像交叉验证而非凭直觉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九梯对应九种不同的策略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1821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充分授权；A2 持续管理；A3 设计价值介入；B1 引起注意；B2 转化性价比最高；B3 找背后原因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5204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分布图 = 整体格局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77647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A / B / C 阵营的厚度，看清关键节点和真正卡点，定位之后你拥有一张「人的地图」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翻到第五部分，开始需求映射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/ 170</a:t>
            </a:r>
            <a:endParaRPr lang="en-US" sz="8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74904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需求映射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1148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我需要什么，我能给什么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Exchange Mapping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六部分中的  /  5 / 6</a:t>
            </a:r>
            <a:endParaRPr lang="en-US" sz="11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说的不是他在乎的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大多数沟通无效，不是因为说得不好，而是说的不是他在乎的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73152" cy="1188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方成三次沟通，说的都是他自己认为重要的事。他从来没有认真问过：这个项目推进，财务部经理需要担心什么？他的顾虑是什么？我怎么帮他解决这些顾虑？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80467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383280"/>
            <a:ext cx="73152" cy="12801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需求映射要解决的问题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在发动任何沟通之前，先搞清楚两件事——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我需要他给我什么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我能为他提供什么价值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这才是有效沟通的起点。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/ 170</a:t>
            </a:r>
            <a:endParaRPr lang="en-US" sz="8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方成与财务的三次沟通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三次对话，三次礼貌回绝 —— 他说的不是财务经理在乎的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269748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讲战略意义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讲统报系统如何提升集团数据管理效率；讲总部对项目的重视；讲系统化对华南区的战略意义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840480"/>
            <a:ext cx="2423160" cy="36576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40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「有道理，我们支持」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82880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828800"/>
            <a:ext cx="269748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828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286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跟进进度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2697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跟进配合进度，对方回复『财务这边还有一些流程要走，给我们一点时间』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3840480"/>
            <a:ext cx="2423160" cy="36576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3840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「再等一等」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828800"/>
            <a:ext cx="269748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828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2286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讲技术方案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2697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带来IT部门的技术方案，重新讲系统架构，说明数据准确性有技术保障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3840480"/>
            <a:ext cx="2423160" cy="36576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840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「技术没问题就配合推进」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但一直没有实质性配合 —— 三次沟通里，方成没问过一句：财务经理在担心什么？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 / 170</a:t>
            </a:r>
            <a:endParaRPr lang="en-US" sz="8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核心思路：价值交换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不是说服，是把双方的需求摆上桌，找到交换的接口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402336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说服模式（多数人本能）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「我把理由讲得足够清楚，对方自然就会支持我」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前提：对方在用「理性判断是否正确」的模式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92024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价值交换（需求映射底层逻辑）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2377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「这件事对我有没有好处」—— 对方真实的判断逻辑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834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前提：你有他要的价值，他有你需要的资源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需求映射的底层是「价值交换」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你有某些价值，他有某些需求；他有某些价值，你有某些需求。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你们的合作，本质上是一次价值交换 —— 他得到他需要的，你得到你需要的。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/ 170</a:t>
            </a:r>
            <a:endParaRPr lang="en-US" sz="8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 vs 价值交换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两种沟通模式，决定了对方在不在你的频道上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402336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说服（错）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价值交换（对）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94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底层逻辑：把我的理由讲清楚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194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底层逻辑：找到双方需求的交换接口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4023360" cy="41148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06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关注点：方案的优势、数据的完整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606040"/>
            <a:ext cx="4023360" cy="41148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606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关注点：对方在乎什么、缺什么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沟通语言：理性、论据、专业性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沟通语言：你能给我什么、我能给你什么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023360" cy="41148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29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效果前提：对方已经用理性思考模式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429000"/>
            <a:ext cx="4023360" cy="41148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429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效果前提：人类的真实判断逻辑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840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失败原因：讲得不够好 / 对方认知有误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84048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840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失败原因：没找到他真正在意的事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4023360" cy="41148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251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沟通起点：我的方案是什么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4251960"/>
            <a:ext cx="4023360" cy="41148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51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沟通起点：他的顾虑是什么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 / 170</a:t>
            </a:r>
            <a:endParaRPr lang="en-US" sz="8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明确项目目标和成功标准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在分析每个人之前，先把项目的终点再次确认清楚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为什么要先确认目标？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很多项目在推进过程中会发生「目标漂移」——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原本是为了 A，沟通着沟通着变成了讲 B，资源争取着争取着变成了要 C。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当你面对多个利益相关方、每个人需要不同的沟通策略时，目标的清晰度尤其重要 ——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它告诉你：哪些支持是必须的，哪些是锦上添花的。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057400"/>
            <a:ext cx="40233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057400"/>
            <a:ext cx="402336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057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请重新确认你的项目目标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项目的核心目标（一句话）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37490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项目成功的标志（可验证的结果）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474720"/>
            <a:ext cx="37490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不可缺少的条件（必须达成）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4206240"/>
            <a:ext cx="3749040" cy="32004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/ 170</a:t>
            </a:r>
            <a:endParaRPr lang="en-US" sz="8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成功标志 vs 必要条件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区分「必须」和「锦上添花」，让精力分配有据可依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40233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402336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最可见的、可验证的结果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889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系统按期上线，门店数据可见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918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覆盖率达到设计目标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947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关键相关方达到预期支持层级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40233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920240"/>
            <a:ext cx="402336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920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条件分级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2468880"/>
            <a:ext cx="36576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不可缺少的条件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没有它，项目失败 / 无法继续。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246120"/>
            <a:ext cx="374904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83280"/>
            <a:ext cx="36576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有更好但没有也还行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属于加分项，不影响项目生存。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160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明确这两层，决定了你在每张沟通策略上的投入强度。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/ 170</a:t>
            </a:r>
            <a:endParaRPr lang="en-US" sz="8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逐人分析：我要他给什么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需求映射的第一张表 ——「我需要」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57400"/>
            <a:ext cx="640080" cy="6400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258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我需要他提供什么资源？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514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预算、人力、技术能力、数据访问权限、渠道关系等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80160" y="2770632"/>
            <a:ext cx="7406640" cy="146304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提示：要具体 —— 不是「支持」，而是「在 X 月前批准 Y 万元预算」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127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我需要他做出什么行为？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审批签字、关键会议发言背书、停止消极沟通、配合某流程、主动推进子任务等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80160" y="3639312"/>
            <a:ext cx="7406640" cy="146304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提示：要具体 —— 不是「配合推进」，而是「第 X 周完成门店端数据接口配置」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995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我需要他达到什么支持层级？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对不同人有不同的「最低需求层级」，不必追求所有人都到 A1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80160" y="4507992"/>
            <a:ext cx="7406640" cy="146304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提示：B1 变 A3 就够 / 必须 A1 / 维持现状 —— 分类处理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/ 170</a:t>
            </a:r>
            <a:endParaRPr lang="en-US" sz="8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 · 行为 · 层级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把「我需要」拆成三个具体维度，避免泛泛而谈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269748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我能从他那里拿到什么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泛泛的说法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2423160" cy="411480"/>
          </a:xfrm>
          <a:prstGeom prst="rect">
            <a:avLst/>
          </a:prstGeom>
          <a:solidFill>
            <a:srgbClr val="F2E1D9"/>
          </a:solidFill>
          <a:ln w="3810">
            <a:solidFill>
              <a:srgbClr val="B89A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我需要他的支持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94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具体的说法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069080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69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他需要在 6 月前批准 80 万元项目预算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9202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920240"/>
            <a:ext cx="269748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9202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2900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我需要他做什么动作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017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泛泛的说法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3291840"/>
            <a:ext cx="2423160" cy="411480"/>
          </a:xfrm>
          <a:prstGeom prst="rect">
            <a:avLst/>
          </a:prstGeom>
          <a:solidFill>
            <a:srgbClr val="F2E1D9"/>
          </a:solidFill>
          <a:ln w="381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291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配合推进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794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具体的说法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4069080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4069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他在第 3 周完成门店端数据接口配置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9202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920240"/>
            <a:ext cx="269748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9202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26364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他需要达到哪个位置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017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泛泛的说法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3291840"/>
            <a:ext cx="2423160" cy="411480"/>
          </a:xfrm>
          <a:prstGeom prst="rect">
            <a:avLst/>
          </a:prstGeom>
          <a:solidFill>
            <a:srgbClr val="F2E1D9"/>
          </a:solidFill>
          <a:ln w="381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291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让他变成支持者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794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具体的说法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4069080"/>
            <a:ext cx="2423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069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无感者 维持现状即可 / C2 必须降到 B2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/ 170</a:t>
            </a:r>
            <a:endParaRPr lang="en-US" sz="8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逐人分析：我能给他什么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需求映射的第二张表 ——「我能给」，结合深度画像来看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我有哪些东西，是他需要的？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结合第三部分五维画像，回到「他真正在乎什么」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19202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信息价值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下页展开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28346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2834640"/>
            <a:ext cx="192024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利益价值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6032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下页展开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834640"/>
            <a:ext cx="19202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情感价值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下页展开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283464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2834640"/>
            <a:ext cx="192024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关系价值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下页展开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做有价值交换的人，先看到对方在意的，再看自己能给的。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/ 170</a:t>
            </a:r>
            <a:endParaRPr lang="en-US" sz="8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我能给的四类价值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把「我能给」从抽象变得具体 —— 四种价值的全景参考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3977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73152" cy="13258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信息价值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他需要知道、但目前不知道的信息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项目进展、行业情况、决策者真实态度、集团层面资源支持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3657600" cy="25603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关键不在「我有多少信息」，而在「他需要什么信息」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920240"/>
            <a:ext cx="3977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920240"/>
            <a:ext cx="73152" cy="13258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利益价值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帮他实现 KPI / 减轻工作压力 / 规避风险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最直接、最有效的价值形式 —— 把「麻烦你」变成「帮助你」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926080"/>
            <a:ext cx="3657600" cy="25603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260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能帮他在意的事，你就不是来要东西的，是来解决问题的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3977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83280"/>
            <a:ext cx="73152" cy="13258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情感价值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46888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被认可、被重视、有参与感、增加影响力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给他在项目中有意义的角色，让他感觉自己是被尊重的参与者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389120"/>
            <a:ext cx="3657600" cy="25603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38912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不是拍马屁，是真正把他当成有价值的参与者来对待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383280"/>
            <a:ext cx="3977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383280"/>
            <a:ext cx="73152" cy="13258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关系价值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4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引荐关键人 / 让他在上级面前有可见度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为你背书或推荐；在你的影响范围内帮他建立连接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4389120"/>
            <a:ext cx="3657600" cy="25603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38912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组织政治比较复杂的环境里，关系价值往往被低估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/ 170</a:t>
            </a:r>
            <a:endParaRPr lang="en-US" sz="8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示范一：孙伟 · 需求分析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老店长孙伟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 C2 抗拒  ·  目标 B2 犹豫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40233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我需要他给什么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320040" cy="3200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资源层面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他掌控着 15 家门店的店长群体情绪，他的表态是这个群体的方向标。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320040" cy="3200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337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行为层面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停止在非正式场合散布消极信号；在关键门店沟通会上保持中立或轻度正向表态。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目标层级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→ B2（不必 A1，停止消极即够）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874520"/>
            <a:ext cx="4023360" cy="2834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240280"/>
            <a:ext cx="402336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孙伟的「杠杆系数」很高 ——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撬动他一个人，等于撬动了 15 家门店的店长群体。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目标层级判断：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474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他不需要变成 A1 投入者，只要从 C2 降到 B2 —— 他不再主动传递负面信号，其他店长的顾虑就会大幅下降。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389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精确的目标层级 = 有效的精力分配。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 / 170</a:t>
            </a:r>
            <a:endParaRPr lang="en-US" sz="8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示范一：孙伟 · 核心价值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我能给他什么 —— 找到他真正在担心的事，帮他解决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孙伟的真正顾虑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历史数据「操作弹性」的暴露风险 ——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新系统上线后，门店历史数据会变得非常清晰；过去一些「模糊地带」会被审计盯上。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874520"/>
            <a:ext cx="402336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叶云能给的核心价值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设计「历史数据过渡缓冲期」 ——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0604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上线期间的历史数据异常被标注为「系统切换期的正常波动」，不触发审计。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态度转变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「为什么要改」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抗拒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3703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212080" y="3703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「这样搞的话倒是可以配合」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4160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犹豫（轻度正向）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 / 170</a:t>
            </a:r>
            <a:endParaRPr lang="en-US" sz="8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示范二：王建国 · 需求分析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财务部经理王建国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 C1 怀疑  ·  目标 B1 无感 → B2 犹豫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40233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我需要他给什么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320040" cy="3200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资源层面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一小部分项目经费需要财务签字 —— 财务预算的配合确认。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320040" cy="3200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337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行为层面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停止提出无法回应的技术质疑；对数据准确性方案给出「原则上可以接受」的表态。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目标层级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→ B1，再争取 B2（不必变支持者）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874520"/>
            <a:ext cx="4023360" cy="2834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的典型特征：理性质疑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240280"/>
            <a:ext cx="402336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王建国的反对是「有逻辑依据的质疑」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不是非理性的抵触，是真实的、有数据支撑的担忧。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处理方式：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用同样有依据的信息和方案回应，不要绕开他的质疑。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023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数据、逻辑、方案 —— 这是 C1 唯一接受的沟通语言。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/ 170</a:t>
            </a:r>
            <a:endParaRPr lang="en-US" sz="8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示范二：王建国 · 核心价值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我能给他什么 —— 信息价值 + 利益价值，双管齐下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信息价值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提供一份来自集团同类系统的历史误差率报告 ——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证明系统准确性在可接受范围内，回应他对数据准确性的质疑。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874520"/>
            <a:ext cx="402336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利益价值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在系统设计中增加「财务校验层」 ——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让财务部在数据进入系统前做一次人工核对，掌控最终数据的准确性。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从「被动接受一个新系统」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566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02920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「对数据质量有控制权」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满足他对「掌控感」的需求 ——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结果：第二次沟通后，他从「频繁质疑」变成了「主动帮他想财务校验层该怎么设计」。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 / 170</a:t>
            </a:r>
            <a:endParaRPr lang="en-US" sz="8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示范对比：孙伟 vs 王建国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两个示范，三处不同：定位层级、核心价值、处理方式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64592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828800"/>
            <a:ext cx="32461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828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孙伟 · C2 抗拒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49240" y="1828800"/>
            <a:ext cx="333756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8288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王建国 · C1 怀疑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164592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目标层级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2194560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→ B2（不必 A1）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2194560"/>
            <a:ext cx="3337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→ B1 → B2（不必支持者）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164592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核心顾虑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03120" y="2651760"/>
            <a:ext cx="324612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历史数据「操作弹性」暴露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49240" y="2651760"/>
            <a:ext cx="333756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数据准确性与审计风险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164592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价值形式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3108960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利益价值：设计缓冲期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49240" y="3108960"/>
            <a:ext cx="3337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 + 利益：报告 + 校验层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566160"/>
            <a:ext cx="164592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处理语言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03120" y="3566160"/>
            <a:ext cx="324612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028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解决他的具体担忧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49240" y="3566160"/>
            <a:ext cx="3337560" cy="45720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用数据回应他的逻辑质疑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两个示范，三处不同 —— 但都有一个共同点：先找到对方真正在担心的事，再设计能解决它的价值。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/ 170</a:t>
            </a:r>
            <a:endParaRPr lang="en-US" sz="8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练习：需求-能给对照表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对照深度画像和三阶九梯定位，逐人填写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7772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34440" y="1828800"/>
            <a:ext cx="7772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8288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828800"/>
            <a:ext cx="7772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8288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目标定位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88920" y="1828800"/>
            <a:ext cx="23317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828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我需要他的资源/行为（具体）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1828800"/>
            <a:ext cx="23317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828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我能给他的价值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52360" y="1828800"/>
            <a:ext cx="7772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8288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9456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219456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219456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219456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219456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219456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56032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256032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0" y="256032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8920" y="2560320"/>
            <a:ext cx="233172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560320"/>
            <a:ext cx="233172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256032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92608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292608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0" y="292608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88920" y="292608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0" y="292608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52360" y="292608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29184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34440" y="329184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0" y="329184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88920" y="3291840"/>
            <a:ext cx="233172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3291840"/>
            <a:ext cx="233172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52360" y="329184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65760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34440" y="365760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0" y="365760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88920" y="365760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20640" y="365760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52360" y="3657600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02336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34440" y="402336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11680" y="402336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88920" y="4023360"/>
            <a:ext cx="233172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4023360"/>
            <a:ext cx="233172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52360" y="4023360"/>
            <a:ext cx="777240" cy="3657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提示：我需要的行为和资源要写具体；我能给的价值要基于画像中「什么能打动他」的分析。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 / 170</a:t>
            </a:r>
            <a:endParaRPr lang="en-US" sz="8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匹配度评估标准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用「高 / 中 / 低」来评估每对「我需要」与「我能给」的契合度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914400" cy="822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1920240"/>
            <a:ext cx="6126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9659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我能给的东西，恰好是他需要的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2860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这个交换有内在逻辑；这是你最值得优先推进的目标。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0" y="1920240"/>
            <a:ext cx="1005840" cy="82296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19202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全力推进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914400" cy="8229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63040" y="2834640"/>
            <a:ext cx="6126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28803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我能给的东西，对他有一定价值，但不是最核心的需求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32004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价值交换可以推进，但可能需要额外的诱因或多次沟通。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80960" y="2834640"/>
            <a:ext cx="1005840" cy="82296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8346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适度投入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914400" cy="8229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63040" y="3749040"/>
            <a:ext cx="6126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0200" y="37947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我能给的东西，他不太在乎；或我需要的，找不到对应的价值可以给他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00200" y="41148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需要重新审视、或降低目标层级、或借助第三方。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80960" y="3749040"/>
            <a:ext cx="1005840" cy="82296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749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重新评估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/ 170</a:t>
            </a:r>
            <a:endParaRPr lang="en-US" sz="8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匹配度低时，三种处理方向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匹配度是「低」时，先别放弃 —— 三种处理路径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269748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重新审视画像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匹配度低，有时是因为你对他的了解还不够深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2331720" cy="7772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把画像的维度 ② ③ 再挖深一层，看看有没有被忽略的诉求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9202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920240"/>
            <a:ext cx="269748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29000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借助第三方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31089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你自己无法直接给他的价值，也许可以借助他信任的人来传递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794760"/>
            <a:ext cx="2331720" cy="7772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840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如果某个 A1 级支持者和他关系良好，请他帮忙传递价值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9202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920240"/>
            <a:ext cx="269748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263640" y="2697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调整目标定位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31089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也许你原来设定的「目标层级」过高了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794760"/>
            <a:ext cx="2331720" cy="77724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840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重新评估：是否从 C2 到 C1 就够了？降低目标，匹配度可能从低变中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 / 170</a:t>
            </a:r>
            <a:endParaRPr lang="en-US" sz="8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一个容易被跳过的关键动作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这是方成最大的失误 —— 别走他的老路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73152" cy="1371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填完表格后直接进入「制定沟通策略」 —— 但中间还有一个动作被跳过了：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验证你的「我能给什么」是否真的是他需要的。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你推断的「他在乎什么」和真实感受之间，可能有偏差。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0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验证什么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他表现出来的那个顾虑，是真正的担忧还是表层理由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879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你准备给他的那个价值，他实际上会不会在乎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520440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520440"/>
            <a:ext cx="39776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520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怎么验证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402336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不需要正式场合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4279392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41879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一次午饭闲聊、一个非项目话题的随意沟通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4535424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44439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往往能让你收集到比会议室里更真实的信号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 / 170</a:t>
            </a:r>
            <a:endParaRPr lang="en-US" sz="8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关键认知：精准价值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需求映射的核心洞见 —— 把力气花在刀刃上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8229600" cy="1463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一份精准的价值，胜过十份通用的努力。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365760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我为他做了很多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3611880"/>
            <a:ext cx="365760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我做的东西，恰好是他真正需要的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通用的努力与示好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4023360"/>
            <a:ext cx="365760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精准的价值，击中具体的痛点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34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一视同仁的投入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4434840"/>
            <a:ext cx="365760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4434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根据匹配度分配精力的优先级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 / 170</a:t>
            </a:r>
            <a:endParaRPr lang="en-US" sz="8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/  需求映射 · 小结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第五部分小结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从「我需要什么」到「我能给什么」一张地图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2697480" cy="731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底层逻辑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不是说服，是价值交换；你的工作是把交换的地图画清楚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92024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920240"/>
            <a:ext cx="2697480" cy="731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42900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我需要：资源 / 行为 / 层级；我能给：信息 / 利益 / 情感 / 关系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920240"/>
            <a:ext cx="2697480" cy="731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9202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26364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别跳过验证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填完表格后，先验证你给的「价值」是否真的是他需要的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翻到第六部分，找到你的破局点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 / 170</a:t>
            </a:r>
            <a:endParaRPr lang="en-US" sz="8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74904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破局策略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1148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 2~4 个杠杆点，撬动整个推进格局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Breakthrough Strategy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六部分中的  /  6 / 6</a:t>
            </a:r>
            <a:endParaRPr lang="en-US" sz="11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精力有限，杠杆点不同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时间和精力是有限的，你需要知道先动哪里、怎么动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40233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4023360" cy="41148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叶云已经完成的事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六张核心人物的深度画像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三阶九梯定位（每个人现在的位置）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91440" cy="914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需求-能给对照表（每个人需要什么、能给什么）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分析做得很充分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4023360" cy="2651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920240"/>
            <a:ext cx="4023360" cy="411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920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但现实问题是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514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她不可能同时推进六个人、做六件事。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她需要知道：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先动哪里？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813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怎么动？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1056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谁是最值得投入的杠杆点？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这一部分的任务：从分析成果里找到 2~4 个真正的杠杆点，并为每个点制定可执行的第一步。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/ 170</a:t>
            </a:r>
            <a:endParaRPr lang="en-US" sz="8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叶云的两个杠杆点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真正的杠杆点只有两个 —— 其他人物以这两个点的突破为支点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40233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杠杆点 #1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→ B2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一个人撬动 15 家门店的情绪走向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孙伟的态度变化会带动整个门店群体的情绪走向 ——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如果他从 C2 转为 B2，其他店长的消极信号来源就会消失 ——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657600" cy="25603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 这是一件以一当十的事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40233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920240"/>
            <a:ext cx="4023360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杠杆点 #2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→ A2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4632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大区总经理是所有人都在读的信号源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赵磊在关键时刻的模糊态度，是整个推进松散的信号来源 ——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840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如果他从 A3 变成 A2，哪怕只是几次会议明确表态，整个华北区推进节奏会立刻改变。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4297680"/>
            <a:ext cx="3657600" cy="25603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297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 信号源级的影响力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 / 170</a:t>
            </a:r>
            <a:endParaRPr lang="en-US" sz="8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向支持者要资源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 A 级人群 —— 他们是你已经拥有的资产，要主动使用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57400"/>
            <a:ext cx="155448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投入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03120" y="2057400"/>
            <a:ext cx="6583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103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让他们知道，他们的行动在哪里最有效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4231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已经在主动帮你 —— 让他们打最该打的仗，不用你亲自上。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55448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接受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103120" y="2926080"/>
            <a:ext cx="6583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9718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主动告诉他们「我需要你在 X 件事上帮我」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291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愿意配合，但需要你推；他不知道你最需要他在哪里发力。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155448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顺从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03120" y="3794760"/>
            <a:ext cx="6583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38404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重点投入的「低垂果实」 —— 顾虑被解决，可转化为 A2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41605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是当前最值得重点投入的层级；转化成本低、杠杆大。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大多数人犯的错：只是感谢他们的支持，而没有主动使用这些支持的力量。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 / 170</a:t>
            </a:r>
            <a:endParaRPr lang="en-US" sz="8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替中立者添价值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 B 级人群 —— 他们只是暂时没有足够理由站在你这边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57400"/>
            <a:ext cx="1554480" cy="7772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犹豫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03120" y="2057400"/>
            <a:ext cx="6583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1031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性价比最高的转化目标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3774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只差一个「让他觉得这件事和自己有关」的切入点 —— 他已经在观望，一次击中真实诉求的沟通往往就够。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554480" cy="7772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无感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103120" y="2926080"/>
            <a:ext cx="6583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9718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需要先激活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32461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让他看见「这件事和他有什么关系」 —— 他不知道这件事和他有关 —— 你的任务是让他看见这个关系。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1554480" cy="7772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冷漠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03120" y="3794760"/>
            <a:ext cx="6583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38404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需要先了解真实原因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41148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找到他保持距离的根源 —— 有时候 B3 背后有过去的经历和隐性的顾虑，找到根源比任何说服都有效。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级不是你的敌人，他们只是暂时没有足够的理由站在你这边 —— 你的任务是帮他们找到这个理由。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 / 170</a:t>
            </a:r>
            <a:endParaRPr lang="en-US" sz="8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替反对者解难题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 C 级人群 —— 反对通常不是认知有误，而是有真实的担忧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57400"/>
            <a:ext cx="155448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怀疑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03120" y="2057400"/>
            <a:ext cx="6583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1031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用数据和逻辑回应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37744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正面应对，不要绕开他的质疑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6060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的质疑是有依据的 —— 你需要拿出同样有依据的回应。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55448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抗拒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03120" y="2926080"/>
            <a:ext cx="6583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9718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找到利益顾虑，设计双赢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2461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让他觉得「对我也有好处，或至少不损害我」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4747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的反对根源不在逻辑层；叶云帮孙伟设计「缓冲期」是典型案例。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155448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破坏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103120" y="3794760"/>
            <a:ext cx="6583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8404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借力打力，或重新评估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41148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需要更高层力量介入，或更深的组织政治分析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43434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如果是真 C3，超出一般项目推进范围；先评估是否被错判为 C3。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 / 170</a:t>
            </a:r>
            <a:endParaRPr lang="en-US" sz="8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找连锁效应人物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问：谁的状态改变，会带动最多的人跟着改变？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在六到八个核心人物里，有没有某个人，他的转变会产生「一石激起千层浪」的效果？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977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73152" cy="10972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群体意见领袖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他是某个群体的意见领袖，他一旦表态，集体态度会跟着转变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2834640"/>
            <a:ext cx="3977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834640"/>
            <a:ext cx="73152" cy="10972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信息枢纽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246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他是信息枢纽，他的立场变化让观望者重新校准方向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 这类人是杠杆系数最高的破局点 —— 撬动他，等于间接撬动了一大批人。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 孙伟 = 撬动 1 人 → 影响 15 家门店长 = 杠杆系数最高。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 / 170</a:t>
            </a:r>
            <a:endParaRPr lang="en-US" sz="8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评估转化成本与收益比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问：谁从当前状态变到目标状态，成本最小、收益最大？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57400"/>
            <a:ext cx="3977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397764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转化成本低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9144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对方目前是 B2（犹豫），只差一个切中要害的触发点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9144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你和对方已有基础信任，无需从零建立关系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91440" cy="91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03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你能给的价值，恰好是对方最需要的（高匹配度）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057400"/>
            <a:ext cx="3977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057400"/>
            <a:ext cx="3977640" cy="4572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转化成本高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2057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834640"/>
            <a:ext cx="91440" cy="9144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对方目前是 C3（主动破坏），涉及深层组织政治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337560"/>
            <a:ext cx="91440" cy="9144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双方之前有过摩擦或不信任积累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840480"/>
            <a:ext cx="91440" cy="9144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703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你能给的价值，和对方真正在意的事偏差大（低匹配度）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不是不做高成本的事 —— 而是在资源有限的情况下，先从成本最低、收益最高的地方开始。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 / 170</a:t>
            </a:r>
            <a:endParaRPr lang="en-US" sz="8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分析时间窗口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问：未来一到两个月内，有没有关键时间节点？谁需要在那个节点之前被布局？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有没有人即将面临一个关键节点，那个节点之前如果你没有布局，机会窗口就关闭了？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977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017520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880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重要决策会议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即将召开的关键决策会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834640"/>
            <a:ext cx="3977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3017520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2880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年终考核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对「项目成果的可见度」特别敏感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3977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794760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预算周期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新的预算周期开启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611880"/>
            <a:ext cx="3977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794760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人事变动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组织内即将发生的人事变动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在正确的时间节点做正确的动作，效果可以是平时的五倍；做错时间，效果打折甚至适得其反。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 / 170</a:t>
            </a:r>
            <a:endParaRPr lang="en-US" sz="8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识别联盟路径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问：谁可以作为「桥梁」帮你影响其他人？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有没有人，你自己直接沟通效果有限，但可以借助他信任的某个人去传递影响力？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6974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269748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2834640"/>
            <a:ext cx="137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26974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834640"/>
            <a:ext cx="2697480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8346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1546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支持者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1840" y="3474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老店长田中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2834640"/>
            <a:ext cx="137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126480" y="2834640"/>
            <a:ext cx="26974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834640"/>
            <a:ext cx="2697480" cy="2743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8346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31546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目标人物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3474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联盟策略是最常被低估的破局路径。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你影响 A1 → A1 影响目标人物 —— 整个链条的成本，远比直接沟通要低，而且效果好得多。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 / 170</a:t>
            </a:r>
            <a:endParaRPr lang="en-US" sz="8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破局策略输出模板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每个破局点一份，2~4 份填到完整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32004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目标人物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8745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破局的具体对象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32004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671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167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 → 目标定位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1671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支持的跃迁方向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32004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5973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4597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破局点理由（四步判断）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245973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连锁效应 / 成本收益 / 时间窗口 / 联盟路径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52344"/>
            <a:ext cx="32004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5234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27523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他最在乎的（来自深度画像）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75234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回到第三部分画像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44952"/>
            <a:ext cx="32004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4495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30449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我能给他的核心价值（来自需求映射）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30449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回到第五部分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32004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375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33375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具体沟通策略与切入方式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33375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如何开口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630168"/>
            <a:ext cx="32004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6301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" y="36301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关键行动步骤（第一步要具体）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6301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什么时候、做什么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22776"/>
            <a:ext cx="32004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2277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39227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时间节点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40480" y="392277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需要在什么时间前完成突破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215384"/>
            <a:ext cx="32004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1538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" y="42153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成功标志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0" y="421538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如何判断这个破局点突破了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关键行动步骤必须具体到「第一步是什么」 —— 不是「加强沟通」，而是「下周二午饭」。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 / 170</a:t>
            </a:r>
            <a:endParaRPr lang="en-US" sz="8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策略示例：孙伟破局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破局点 #1 · 连锁效应 + 联盟路径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2286000" cy="34747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目标人物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874520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874520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老店长孙伟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2286000" cy="34747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585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 → 目标定位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2258568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258568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抗拒  →  B2 犹豫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2286000" cy="34747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4261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破局理由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2642616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2642616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撬动 1 人 → 影响 15 家门店长（连锁效应最高）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26664"/>
            <a:ext cx="2286000" cy="34747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2666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他最在乎的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3026664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3026664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历史数据「操作弹性」的暴露风险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10712"/>
            <a:ext cx="2286000" cy="34747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107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我能给他的核心价值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3410712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3410712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设计「历史数据过渡缓冲期」，免除审计风险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关键行动步骤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41605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 本周内与孙伟一对一沟通，专门讲清过渡缓冲期的设计；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3891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 请田中先生（非正式场合）传递系统对店长的具体价值；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46177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  一个月内观察到孙伟在店长沟通会上的表态转中性，即破局成功。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/ 170</a:t>
            </a:r>
            <a:endParaRPr lang="en-US" sz="8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策略示例：赵磊破局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破局点 #2 · 信号源点 + KPI 连接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2286000" cy="34747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目标人物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874520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874520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大区总经理赵磊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2286000" cy="34747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585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 → 目标定位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2258568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258568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顺从  →  A2 接受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2286000" cy="34747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4261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破局理由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2642616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2642616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信号源 —— 基层都在读他的信号；时间窗口恰好赶上他的年度汇报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26664"/>
            <a:ext cx="2286000" cy="34747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2666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他最在乎的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3026664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3026664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年度数字化汇报的可见成果；KPI 上有故事可讲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10712"/>
            <a:ext cx="2286000" cy="347472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107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我能给他的核心价值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3410712"/>
            <a:ext cx="5852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3410712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把系统上线做成他年度数字化汇报的可见成果；帮他准备汇报素材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关键行动步骤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41605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 把统报系统的进度包装成赵磊的「数字化领先指标」，列入他的汇报材料；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3891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 在月度经营会上，请赵磊做 5 分钟的项目进展分享；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46177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  全区大会前提前与赵磊对齐发言口径，确保关键节点有明确表态。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 / 170</a:t>
            </a:r>
            <a:endParaRPr lang="en-US" sz="8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联盟策略：一个被低估的破局路径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 A1 级支持者的影响力，去影响 B2 和 C1 人群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4023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信息的可信度和传递者的关系权重直接挂钩。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你说好话，对方半信半疑；信任的人说同样的话，可信度大幅提升。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874520"/>
            <a:ext cx="4023360" cy="365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桥梁人物的四个条件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395728"/>
            <a:ext cx="7315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他是 A1 或 A2 级支持者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7315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542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他和你的目标人物有良好的私下关系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2816352"/>
            <a:ext cx="7315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752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对你的项目有足够了解，能传递准确信息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3026664"/>
            <a:ext cx="73152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9626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愿意在非正式场合帮你自然地提到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8229600" cy="1417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联盟路径分析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我可以借力的桥梁人物是：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794760"/>
            <a:ext cx="42976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他和哪个目标人物有良好关系：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4087368"/>
            <a:ext cx="42976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3342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我需要告诉他传递的核心信息是：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97680" y="4379976"/>
            <a:ext cx="42976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 / 170</a:t>
            </a:r>
            <a:endParaRPr lang="en-US" sz="8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叶云最终策略复盘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四个破局点，每个都有具体的路径、行动和结果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12801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1874520"/>
            <a:ext cx="14630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目标人物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146304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246888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0" y="1874520"/>
            <a:ext cx="155448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874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1280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240280"/>
            <a:ext cx="1133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 连锁效应点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2240280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224028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孙伟 C2→B2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240280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224028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 + 联盟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240280"/>
            <a:ext cx="2468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24028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设计历史数据过渡缓冲期；请田中先生非正式传话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0" y="2240280"/>
            <a:ext cx="1554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2240280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孙伟态度从主动消极变为中立，门店群体情绪好转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128016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2834640"/>
            <a:ext cx="1133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 信号源点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37360" y="2834640"/>
            <a:ext cx="146304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10512" y="283464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赵磊 A3→A2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2834640"/>
            <a:ext cx="146304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283464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直接，找到 KPI 连接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834640"/>
            <a:ext cx="246888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83464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把系统上线做成赵磊年度数字化汇报的可见成果；帮他准备汇报素材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2320" y="2834640"/>
            <a:ext cx="155448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2834640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赵磊在第四个月的全区会议上明确表态，基层立刻响应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429000"/>
            <a:ext cx="1280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429000"/>
            <a:ext cx="1133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#3 技术守门人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3429000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10512" y="342900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陈静（维持 A1）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0" y="3429000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3552" y="342900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持续管理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429000"/>
            <a:ext cx="2468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342900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每周同步需求稳定性；给 IT 预留合理排期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132320" y="3429000"/>
            <a:ext cx="1554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05472" y="3429000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技术推进节奏稳定，陈静成为主动解决问题的盟友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4023360"/>
            <a:ext cx="128016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4023360"/>
            <a:ext cx="1133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#4 理性质疑者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37360" y="4023360"/>
            <a:ext cx="146304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10512" y="402336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王建国 C1→B1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0" y="4023360"/>
            <a:ext cx="146304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73552" y="402336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逻辑回应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4023360"/>
            <a:ext cx="246888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402336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提供误差率历史数据；设计财务校验层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32320" y="4023360"/>
            <a:ext cx="1554480" cy="594360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05472" y="4023360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王建国停止提出阻断性质疑，预算审批顺利完成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 / 170</a:t>
            </a:r>
            <a:endParaRPr lang="en-US" sz="8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/  破局策略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动态管理：分析一次，管理持续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分析不是一次就永久有效的 —— 人的立场会变化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分析是一次完成的；管理是持续进行的。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人的立场会随项目进展、外部事件和利益变化而改变：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977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六个月前 A2  →  今天 B2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可能因为一件你不知道的事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3200400"/>
            <a:ext cx="3977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六个月前 B2  →  今天 A1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可能因为你成功的一次沟通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真正会用这套工具的人，会把利益相关方分析变成持续习惯 ——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每月一次 / 关键节点前，重新评估每个人的状态，调整策略，识别新相关方。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· 授课PPT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 / 170</a:t>
            </a:r>
            <a:endParaRPr lang="en-US" sz="8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 /  总结收尾  ·  知识地图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全程知识框架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六部分  ·  一张从"看见"到"破局"的完整地图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利益相关方深度分析完整框架   方案质量  ×  对人的格局理解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08760" y="1874520"/>
            <a:ext cx="0" cy="18288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74520"/>
            <a:ext cx="0" cy="18288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1874520"/>
            <a:ext cx="0" cy="18288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1874520"/>
            <a:ext cx="0" cy="150876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874520"/>
            <a:ext cx="0" cy="150876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1874520"/>
            <a:ext cx="0" cy="150876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3200400"/>
            <a:ext cx="576072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57400"/>
            <a:ext cx="246888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·  认知激活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2468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看见盲区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697480"/>
            <a:ext cx="365760" cy="18288"/>
          </a:xfrm>
          <a:prstGeom prst="rect">
            <a:avLst/>
          </a:prstGeom>
          <a:solidFill>
            <a:srgbClr val="B89A92"/>
          </a:solidFill>
          <a:ln w="12700">
            <a:solidFill>
              <a:srgbClr val="B89A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乘法关系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看不见的地图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直觉盲区自测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37560" y="2057400"/>
            <a:ext cx="2468880" cy="320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全景扫描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2377440"/>
            <a:ext cx="2468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六维穷举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2697480"/>
            <a:ext cx="365760" cy="18288"/>
          </a:xfrm>
          <a:prstGeom prst="rect">
            <a:avLst/>
          </a:prstGeom>
          <a:solidFill>
            <a:srgbClr val="B89A92"/>
          </a:solidFill>
          <a:ln w="12700">
            <a:solidFill>
              <a:srgbClr val="B89A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六维扫描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权力-利益矩阵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6~8人核心清单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2057400"/>
            <a:ext cx="246888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深度画像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2377440"/>
            <a:ext cx="2468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五维分析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2697480"/>
            <a:ext cx="365760" cy="18288"/>
          </a:xfrm>
          <a:prstGeom prst="rect">
            <a:avLst/>
          </a:prstGeom>
          <a:solidFill>
            <a:srgbClr val="B89A92"/>
          </a:solidFill>
          <a:ln w="12700">
            <a:solidFill>
              <a:srgbClr val="B89A9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基本定位/岗位利益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个人诉求/态度预判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沟通协作要点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383280"/>
            <a:ext cx="2468880" cy="320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三阶九梯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703320"/>
            <a:ext cx="2468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精准定位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365760" cy="18288"/>
          </a:xfrm>
          <a:prstGeom prst="rect">
            <a:avLst/>
          </a:prstGeom>
          <a:solidFill>
            <a:srgbClr val="B89A92"/>
          </a:solidFill>
          <a:ln w="12700">
            <a:solidFill>
              <a:srgbClr val="B89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069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A1-A2-A3 / B1-B2-B3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C1-C2-C3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看行为/交叉验证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37560" y="3383280"/>
            <a:ext cx="246888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·  需求映射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337560" y="3703320"/>
            <a:ext cx="2468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价值交换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29000" y="4023360"/>
            <a:ext cx="365760" cy="18288"/>
          </a:xfrm>
          <a:prstGeom prst="rect">
            <a:avLst/>
          </a:prstGeom>
          <a:solidFill>
            <a:srgbClr val="B89A92"/>
          </a:solidFill>
          <a:ln w="12700">
            <a:solidFill>
              <a:srgbClr val="B89A9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4069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我需要什么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我能给什么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价值交换非说服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17920" y="3383280"/>
            <a:ext cx="2468880" cy="320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·  破局策略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3703320"/>
            <a:ext cx="2468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杠杆与执行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4023360"/>
            <a:ext cx="365760" cy="18288"/>
          </a:xfrm>
          <a:prstGeom prst="rect">
            <a:avLst/>
          </a:prstGeom>
          <a:solidFill>
            <a:srgbClr val="B89A92"/>
          </a:solidFill>
          <a:ln w="12700">
            <a:solidFill>
              <a:srgbClr val="B89A9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4069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三原则/四步法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联盟路径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动态管理持续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526280"/>
            <a:ext cx="73152" cy="2926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5262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看见，是找到破局口的第一步。  你现在手里有地图了。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 ·  授课PPT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 / 170</a:t>
            </a:r>
            <a:endParaRPr lang="en-US" sz="8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 /  总结收尾  ·  检验标准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一个月后的检验标准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真正能验证这套分析有没有用, 是一次"我预见到了"的时刻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4572000" cy="219456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73152" cy="21945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预见不等于能完全避免,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但预见让你有准备, 而不是猝不及防。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383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课程核心金句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1554480"/>
            <a:ext cx="640080" cy="6400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已预见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80760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阻力出现时, 你能清晰定位它在框架中的位置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2313432"/>
            <a:ext cx="640080" cy="64008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313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已准备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80760" y="26334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你已经有了应对方案, 不是临时抱佛脚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3072384"/>
            <a:ext cx="640080" cy="6400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30723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80760" y="3090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已行动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80760" y="339242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按计划推进, 而不是被推着走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86200"/>
            <a:ext cx="73152" cy="7772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9502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判断信号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160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当一个阻力出现, 你能在 10 秒内说出: 这是哪个相关方, 属于三阶九梯的哪一阶, 触发了画像中的哪条利益——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4074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那么这套分析已经内化成了你的项目本能, 而不只是文档里的表格。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 ·  授课PPT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 / 170</a:t>
            </a:r>
            <a:endParaRPr lang="en-US" sz="8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 /  总结收尾  ·  完整产出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0" y="201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DELIVERABLES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你的完整策略报告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走完六个部分, 你手里有一套可以直接用在你真实项目上的分析底稿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822960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508760"/>
            <a:ext cx="0" cy="384048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508760"/>
            <a:ext cx="0" cy="384048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508760"/>
            <a:ext cx="0" cy="384048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0876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1508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来自部分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1508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508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89280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92808"/>
            <a:ext cx="4572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8928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全景穷举清单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18928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18928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确保没有遗漏任何重要角色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72200" y="18928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276856"/>
            <a:ext cx="822960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276856"/>
            <a:ext cx="45720" cy="38404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27685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权力-利益矩阵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" y="22768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22768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快速锁定最需要投入的人群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22768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66090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660904"/>
            <a:ext cx="4572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66090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6~8张深度画像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" y="266090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26609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把感性印象变成有依据的岗位分析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6609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044952"/>
            <a:ext cx="822960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044952"/>
            <a:ext cx="45720" cy="38404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044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支持度分布图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" y="30449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30449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精确知道每个人现在站在哪里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30449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42900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429000"/>
            <a:ext cx="4572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4290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需求-能给对照表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" y="34290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20440" y="3429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清楚你需要什么、能给什么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3429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813048"/>
            <a:ext cx="8229600" cy="384048"/>
          </a:xfrm>
          <a:prstGeom prst="rect">
            <a:avLst/>
          </a:prstGeom>
          <a:solidFill>
            <a:srgbClr val="F2E1D9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813048"/>
            <a:ext cx="45720" cy="38404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81304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2~4份破局策略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" y="38130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520440" y="3813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知道从哪里下手、第一步是什么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72200" y="3813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这不是课堂练习, 是你真实项目的分析底稿  ·  拿回去可以直接使用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 ·  授课PPT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315200" y="4937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 / 170</a:t>
            </a:r>
            <a:endParaRPr lang="en-US" sz="8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3840480" cy="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 ·  QUOTES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57200" cy="45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Sentences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六句  ·  带你走完六年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548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课程核心金句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06240" y="960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sentences to remember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527048"/>
            <a:ext cx="292608" cy="29260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14813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项目失败, 大多不是方案问题, 是对「人的地图」的无知。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17373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第一部分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2029968"/>
            <a:ext cx="292608" cy="292608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029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19842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你对利益相关方的「初步印象」, 几乎一定是不完整的。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22402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第一部分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06240" y="2532888"/>
            <a:ext cx="292608" cy="29260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2532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487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看清人, 不是为了评价人, 是为了找对杠杆。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27432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总论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0" y="3035808"/>
            <a:ext cx="292608" cy="292608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9900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支持度是看行为, 不是听表态。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3246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第四部分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3538728"/>
            <a:ext cx="292608" cy="29260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34930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价值交换, 不是说服。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37490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第五部分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06240" y="4041648"/>
            <a:ext cx="292608" cy="292608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4041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17720" y="39959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看见, 是找到破局口的第一步。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17720" y="42519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第六部分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06240" y="4617720"/>
            <a:ext cx="457200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46817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看清人  ·  找破局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46817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/ 170</a:t>
            </a:r>
            <a:endParaRPr lang="en-US" sz="8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 /  总结收尾  ·  行动号召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回去之后的三个动作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不是"以后再做"  ·  是今天, 本周, 下周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26974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269748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234440" y="16459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锁定一个真实项目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365760" cy="274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346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在脑子里选一个你正在推进、或者即将启动的具体项目。整个分析框架, 都只对真实项目有效。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2697480" cy="4114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69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Tip: 写下来, 贴在看得到的地方。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73552" y="1508760"/>
            <a:ext cx="26974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3552" y="1508760"/>
            <a:ext cx="2697480" cy="5486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050792" y="16459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56432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 6~8 个核心人物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56432" y="2697480"/>
            <a:ext cx="365760" cy="274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28346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用六维扫描, 列出所有相关方;再用权力-利益矩阵, 筛出 6~8 个核心。给每个写一张画像卡。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73552" y="4069080"/>
            <a:ext cx="2697480" cy="4114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4069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Tip: 画像卡先草稿, 越具体越好。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9904" y="1508760"/>
            <a:ext cx="26974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9A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9904" y="1508760"/>
            <a:ext cx="269748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867144" y="16459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72784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完成一个破局动作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72784" y="2697480"/>
            <a:ext cx="365760" cy="274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28346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从四步判断里挑 1~2 个杠杆点, 完成第一个具体沟通——不是"加强沟通", 而是约一次具体的对话。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9904" y="4069080"/>
            <a:ext cx="2697480" cy="411480"/>
          </a:xfrm>
          <a:prstGeom prst="rect">
            <a:avLst/>
          </a:prstGeom>
          <a:solidFill>
            <a:srgbClr val="F2E1D9"/>
          </a:solidFill>
          <a:ln w="12700">
            <a:solidFill>
              <a:srgbClr val="F2E1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4069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Tip: 第一步要小, 小到不会失败。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分析是一次完成的, 管理是持续进行的。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937760"/>
            <a:ext cx="8412480" cy="0"/>
          </a:xfrm>
          <a:prstGeom prst="line">
            <a:avLst/>
          </a:prstGeom>
          <a:noFill/>
          <a:ln w="6350">
            <a:solidFill>
              <a:srgbClr val="B89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6519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 ·  授课PPT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0" y="49651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 / 170</a:t>
            </a:r>
            <a:endParaRPr lang="en-US" sz="8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5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749040"/>
            <a:ext cx="3657600" cy="137160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2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1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看清人  ·  找破局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D4A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看见, 是找到破局口的第一步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06240" y="3246120"/>
            <a:ext cx="731520" cy="36576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clearly  ·  Find leverage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利益相关方深度实战  ·  行动学习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4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/ 170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170</Slides>
  <Notes>170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170</vt:i4>
      </vt:variant>
    </vt:vector>
  </HeadingPairs>
  <TitlesOfParts>
    <vt:vector size="1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</vt:vector>
  </TitlesOfParts>
  <Company>行动学习课程组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利益相关方深度实战 授课PPT</dc:title>
  <dc:subject>PptxGenJS Presentation</dc:subject>
  <dc:creator>行动学习2026</dc:creator>
  <cp:lastModifiedBy>行动学习2026</cp:lastModifiedBy>
  <cp:revision>1</cp:revision>
  <dcterms:created xsi:type="dcterms:W3CDTF">2026-06-01T05:02:45Z</dcterms:created>
  <dcterms:modified xsi:type="dcterms:W3CDTF">2026-06-01T05:02:45Z</dcterms:modified>
</cp:coreProperties>
</file>