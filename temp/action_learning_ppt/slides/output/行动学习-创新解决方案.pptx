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</p:sldIdLst>
  <p:notesMasterIdLst>
    <p:notesMasterId r:id="rId17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notesMaster" Target="notesMasters/notesMaster1.xml"/><Relationship Id="rId171" Type="http://schemas.openxmlformats.org/officeDocument/2006/relationships/presProps" Target="presProps.xml"/><Relationship Id="rId172" Type="http://schemas.openxmlformats.org/officeDocument/2006/relationships/viewProps" Target="viewProps.xml"/><Relationship Id="rId173" Type="http://schemas.openxmlformats.org/officeDocument/2006/relationships/theme" Target="theme/theme1.xml"/><Relationship Id="rId1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行动学习  /  Action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713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课程编号  AL-2026-01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创新解决方案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不是要创新，是要找到真正有效的解法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09728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种系统方法  /  </a:t>
            </a:r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份实操文档  /  </a:t>
            </a:r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</a:t>
            </a:r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页授课内容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授课版本  /  第二版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0" y="914400"/>
            <a:ext cx="1645920" cy="16459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286000"/>
            <a:ext cx="1097280" cy="109728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3108960"/>
            <a:ext cx="640080" cy="6400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0" y="4023360"/>
            <a:ext cx="146304" cy="146304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0" y="4023360"/>
            <a:ext cx="146304" cy="146304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4023360"/>
            <a:ext cx="146304" cy="146304"/>
          </a:xfrm>
          <a:prstGeom prst="ellipse">
            <a:avLst/>
          </a:prstGeom>
          <a:solidFill>
            <a:srgbClr val="D4C5B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 /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  / 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你走到这里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你做了不少事才走到这里。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目标建立  /  对事分析  /  利益相关方梳理  ——  三个模块下来，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700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消耗了相当的精力，手里有了一批初步方案。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少则 </a:t>
            </a:r>
            <a:pPr algn="l" indent="0" marL="0">
              <a:buNone/>
            </a:pPr>
            <a:r>
              <a:rPr lang="en-US" sz="2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5-6</a:t>
            </a:r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    多则 </a:t>
            </a:r>
            <a:pPr algn="l" indent="0" marL="0">
              <a:buNone/>
            </a:pPr>
            <a:r>
              <a:rPr lang="en-US" sz="2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10-20</a:t>
            </a:r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4572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这是正常的。认真做完前面的分析之后，方案会自然涌现出来。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0" y="5486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12" name="Shape 1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导言与课程地图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  / 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但感觉不够劲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方案看起来都对，但全部做了，问题会有些改善 —— 改变局面？没那么有把握。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060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2606040" cy="10972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你的感受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方案看起来都对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但感觉不够劲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27432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改变局面没把握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965960"/>
            <a:ext cx="26060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965960"/>
            <a:ext cx="2606040" cy="109728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194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这种感受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往往是准确的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3749040"/>
            <a:ext cx="27432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3840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不够努力或不够聪明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1965960"/>
            <a:ext cx="26060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1965960"/>
            <a:ext cx="2606040" cy="109728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2194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原因在于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所有方案都来自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同一套假设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3749040"/>
            <a:ext cx="27432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840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如果你能想到，问题早该解决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导言与课程地图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  / 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课程目的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GOAL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3246120"/>
            <a:ext cx="54864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一个目的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17520" y="1463040"/>
            <a:ext cx="18288" cy="256032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463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帮你系统地找到更好的解法。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2194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不否定常规方案的前提下，找到那些你还没想到、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5420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但做了很可能真正改变局面的解法。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3200400"/>
            <a:ext cx="1645920" cy="41148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3200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不否定常规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74920" y="3200400"/>
            <a:ext cx="1645920" cy="4114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3200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系统地找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3200400"/>
            <a:ext cx="1645920" cy="411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3200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真正有效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不是替代你的方案，而是补全你的方案。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导言与课程地图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  / 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这不是一门「学创新」的课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你不需要想出什么前所未有的东西。突破性解法，大多来自三件事。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377440" cy="23774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574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突破性解法的三种来源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1965960"/>
            <a:ext cx="5303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965960"/>
            <a:ext cx="91440" cy="75895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103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02336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0" y="2148840"/>
            <a:ext cx="18288" cy="41148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057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一个被当成约束的假设其实不成立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08960" y="2779776"/>
            <a:ext cx="5303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2779776"/>
            <a:ext cx="91440" cy="75895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91693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023360" y="28712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0" y="2962656"/>
            <a:ext cx="18288" cy="41148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87121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把其他领域已成熟的原理重新应用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08960" y="3593592"/>
            <a:ext cx="5303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3593592"/>
            <a:ext cx="91440" cy="75895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37307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023360" y="36850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029200" y="3776472"/>
            <a:ext cx="18288" cy="41148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36850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把现有的几种方向组合出新效果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可学习  /  可操作  /  有结构  ——  不依赖灵感，不依赖天赋。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导言与课程地图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  / 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核心论断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突破，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645920" y="22860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不是想得更多，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45920" y="30175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而是换一套假设。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645920" y="4023360"/>
            <a:ext cx="54864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9502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行动学习 · 创新解决方案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457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731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06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导言与课程地图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  / 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你会产出什么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完成这套课程的工作之后，你会有四样具体的东西。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99339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1993392" cy="365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89304" y="2468880"/>
            <a:ext cx="329184" cy="329184"/>
          </a:xfrm>
          <a:prstGeom prst="ellipse">
            <a:avLst/>
          </a:prstGeom>
          <a:solidFill>
            <a:srgbClr val="F5F0EC"/>
          </a:solidFill>
          <a:ln w="19050">
            <a:solidFill>
              <a:srgbClr val="B823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9304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方案分类表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71016" y="3383280"/>
            <a:ext cx="36576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52044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标记哪些可直接保留、哪些需深化、哪些关键领域完全空白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9464" y="1920240"/>
            <a:ext cx="199339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9464" y="1920240"/>
            <a:ext cx="1993392" cy="3657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6" name="Text 14"/>
          <p:cNvSpPr/>
          <p:nvPr/>
        </p:nvSpPr>
        <p:spPr>
          <a:xfrm>
            <a:off x="2569464" y="19202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01568" y="2468880"/>
            <a:ext cx="329184" cy="329184"/>
          </a:xfrm>
          <a:prstGeom prst="ellipse">
            <a:avLst/>
          </a:prstGeom>
          <a:solidFill>
            <a:srgbClr val="F5F0EC"/>
          </a:solidFill>
          <a:ln w="19050">
            <a:solidFill>
              <a:srgbClr val="B823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06624" y="29260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突破性方向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83280" y="3383280"/>
            <a:ext cx="36576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1" name="Text 19"/>
          <p:cNvSpPr/>
          <p:nvPr/>
        </p:nvSpPr>
        <p:spPr>
          <a:xfrm>
            <a:off x="2734056" y="352044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通过结构化方法找到的，有明确理由相信「做了会有真正不同」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81728" y="1920240"/>
            <a:ext cx="199339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1920240"/>
            <a:ext cx="1993392" cy="36576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4" name="Text 22"/>
          <p:cNvSpPr/>
          <p:nvPr/>
        </p:nvSpPr>
        <p:spPr>
          <a:xfrm>
            <a:off x="4681728" y="19202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13832" y="2468880"/>
            <a:ext cx="329184" cy="329184"/>
          </a:xfrm>
          <a:prstGeom prst="ellipse">
            <a:avLst/>
          </a:prstGeom>
          <a:solidFill>
            <a:srgbClr val="F5F0EC"/>
          </a:solidFill>
          <a:ln w="19050">
            <a:solidFill>
              <a:srgbClr val="B823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18888" y="29260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方案组合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95544" y="3383280"/>
            <a:ext cx="36576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52044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包含保留的常规方案和新突破方向，有先后顺序与可行性路径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93992" y="1920240"/>
            <a:ext cx="199339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93992" y="1920240"/>
            <a:ext cx="1993392" cy="365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2" name="Text 30"/>
          <p:cNvSpPr/>
          <p:nvPr/>
        </p:nvSpPr>
        <p:spPr>
          <a:xfrm>
            <a:off x="6793992" y="19202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6096" y="2468880"/>
            <a:ext cx="329184" cy="329184"/>
          </a:xfrm>
          <a:prstGeom prst="ellipse">
            <a:avLst/>
          </a:prstGeom>
          <a:solidFill>
            <a:srgbClr val="F5F0EC"/>
          </a:solidFill>
          <a:ln w="19050">
            <a:solidFill>
              <a:srgbClr val="B823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6096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31152" y="29260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依据说明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607808" y="3383280"/>
            <a:ext cx="36576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7" name="Text 35"/>
          <p:cNvSpPr/>
          <p:nvPr/>
        </p:nvSpPr>
        <p:spPr>
          <a:xfrm>
            <a:off x="6958584" y="352044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能说清楚「这些方案为什么会有效」，而不只是「感觉不错」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可能最重要的是 —— 你能说出「为什么有效」，而不只是「感觉不错」。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40" name="Shape 3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07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导言与课程地图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  /  Course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0" y="868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CHAPTERS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六份文档，按顺序读下来，每章的产出是下一章的起点。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777240" cy="13258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371600" y="2057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看清常规方案的天花板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理解为什么常规方案有上限，以及上限的四种来源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73552" y="187452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3552" y="1874520"/>
            <a:ext cx="777240" cy="13258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3273552" y="22402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187952" y="2057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系统盘点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87952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把现有方案分类，识别覆盖空白，确定突破重点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9904" y="187452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9904" y="1874520"/>
            <a:ext cx="777240" cy="132588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9" name="Text 17"/>
          <p:cNvSpPr/>
          <p:nvPr/>
        </p:nvSpPr>
        <p:spPr>
          <a:xfrm>
            <a:off x="6089904" y="22402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004304" y="2057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换一套假设思考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04304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方法一：问题重构  |  方法二：假设挑战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64992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64992"/>
            <a:ext cx="777240" cy="13258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73075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371600" y="35478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换一个视角思考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0050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方法三：外部视角  |  方法四：逆向思维  |  方法五：组合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73552" y="3364992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73552" y="3364992"/>
            <a:ext cx="777240" cy="13258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9" name="Text 27"/>
          <p:cNvSpPr/>
          <p:nvPr/>
        </p:nvSpPr>
        <p:spPr>
          <a:xfrm>
            <a:off x="3273552" y="373075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187952" y="35478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从候选到落地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87952" y="40050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方案评估三维框架  +  方案组合设计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9904" y="3364992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9904" y="3364992"/>
            <a:ext cx="777240" cy="132588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34" name="Text 32"/>
          <p:cNvSpPr/>
          <p:nvPr/>
        </p:nvSpPr>
        <p:spPr>
          <a:xfrm>
            <a:off x="6089904" y="373075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7004304" y="35478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写在最后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04304" y="40050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整体回顾、核心心法、回到原点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导言与课程地图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  /  Final Word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在开始之前记住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不因为思维的局限，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463040" y="2377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错过真正有效的解法。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1463040" y="3383280"/>
            <a:ext cx="54864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33101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这套文档的目标不是「一定要产出创新方案」，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3611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而是「不因为思维的局限，错过真正有效的解法」。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走完之后，最终方案里可能绝大多数仍是优化版常规方案，少数才是真正的新方向 —— 这完全没问题。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目的始终是解决问题，不是创新而创新。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09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导言与课程地图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000" kern="0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8288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看清常规方案的天花板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74720" y="27432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理解为什么常规方案有上限，以及上限的四种来源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3474720"/>
            <a:ext cx="54864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不是要创新，是要找到真正有效的解法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先回答一个问题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想象三个月后，你把方案都推进了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你有多大把握说：问题会真正改变？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43200"/>
            <a:ext cx="73152" cy="15544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把握 高于 70%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很可能你手里已经有了真正有效的解法。本章的诊断会验证这一点。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7432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743200"/>
            <a:ext cx="73152" cy="1554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把握 低于 50%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这种感觉很可能是准确的——不是你不够努力，而是方案里缺少某种东西。本章帮你看清楚缺的是什么。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/ 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努力了八个月，投诉率为什么只降了 12%？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30175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任务背景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客户体验团队接到任务：半年内把客户投诉量降低 30%。团队非常认真地工作了。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137160" cy="13716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331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全员投诉处理技巧培训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377440"/>
            <a:ext cx="137160" cy="13716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331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投诉回复 SLA 从 72 小时压缩到 24 小时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2377440"/>
            <a:ext cx="137160" cy="13716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331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建立每周的投诉分析会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880360"/>
            <a:ext cx="137160" cy="13716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增设专门的客诉处理岗位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2880360"/>
            <a:ext cx="137160" cy="13716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上线满意度调研系统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611880"/>
            <a:ext cx="7680960" cy="64008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611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六个月后：</a:t>
            </a:r>
            <a:pPr algn="l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投诉量下降了 12%</a:t>
            </a:r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/    目标：</a:t>
            </a:r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团队困惑 —— 每一项措施都执行得很扎实，方向也没有错。但数字就是不到位。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/  CASE  ·  下半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偶然的深入分析发现了什么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291840" cy="2743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以上的投诉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来自账单环节的系统性问题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（系统 bug · 错误显示额外费用）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417320"/>
            <a:ext cx="4754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1417320"/>
            <a:ext cx="4754880" cy="9144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这家公司的问题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19202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账单有时错误地显示额外费用，是系统 bug 导致。每次都需要人工核实，流程繁琐，用户体验极差。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2697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它从一开始就被挡在了外面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30175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所有方案都在回答「如何更好地处理投诉」，但没有一个方案在问「这些投诉为什么发生」。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297680"/>
            <a:ext cx="73152" cy="5029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976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  </a:t>
            </a:r>
            <a:pPr algn="l"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不是团队不努力，不是方向完全错误 —— 所有的努力都在问题定义的范围之内打转。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为什么会这样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团队犯了什么错？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5943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他们的方案没有一个是错的 —— 每一条都有道理，都来自真实的行业经验。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问题出在「思考框架」上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2286000" cy="7315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投诉是客服问题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1800000">
            <a:off x="2834640" y="2971800"/>
            <a:ext cx="182880" cy="182880"/>
          </a:xfrm>
          <a:prstGeom prst="rtTriangle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0" y="2697480"/>
            <a:ext cx="2286000" cy="7315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改进客服流程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思考框架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321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0" y="2697480"/>
            <a:ext cx="2286000" cy="73152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培训、SLA、例会...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方案涌现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在这个框架里，所有的方案都会在「如何把客服做得更好」这个方向上涌现。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不在这个框架里的原因</a:t>
            </a:r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（账单系统 bug）</a:t>
            </a:r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永远不会出现在方案清单里。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核心论断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常规方案的天花板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不是因为人不够努力，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而是因为所有人都在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同一套假设里思考。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4297680"/>
            <a:ext cx="274320" cy="2743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找到更好的解法，需要先看见这套假设。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  / 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常规方案的四种天花板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它们以四种固定的形式出现 —— 识别自己的方案属于哪种类型，是找到突破口的第一步。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91440" cy="13258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在问题的定义范围内找答案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问题被怎么定义，方案就在那个框架内涌现。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78308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783080"/>
            <a:ext cx="91440" cy="13258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57784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把假设当成约束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「做不到」的判断从来没被认真测试过。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46120"/>
            <a:ext cx="91440" cy="132588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37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46304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只在熟悉的解法空间里找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所有方案都是行业已知做法，没有外部借鉴。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246120"/>
            <a:ext cx="91440" cy="13258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337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57784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只解决了症状，没动系统条件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点方案短期有效，停止推进就回来。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 01  /  CEILING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在问题的定义范围内找答案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840480" cy="914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问题的定义本身，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就已经把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最好的答案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挡在了外面。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这是思维的自然运作方式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19659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我们总是在接受了问题定义之后，开始寻找答案 —— 这不是思维偷懒，而是思维的自然运作方式。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926080"/>
            <a:ext cx="4114800" cy="16916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开篇案例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383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问题被定义为「投诉处理效率」，于是所有方案都是「如何更快、更好地处理投诉」。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账单系统问题，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297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从来没有机会进入视野。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/  CEILING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投诉案例 —— 重新看一遍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问题被定义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「降低投诉量」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554480"/>
            <a:ext cx="365760" cy="36576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方案涌现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全部在「投诉处理」框架内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554480"/>
            <a:ext cx="365760" cy="365760"/>
          </a:xfrm>
          <a:prstGeom prst="ellipse">
            <a:avLst/>
          </a:prstGeom>
          <a:solidFill>
            <a:srgbClr val="3D3D3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投诉量只降了 12%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1728216"/>
            <a:ext cx="22860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0" y="1728216"/>
            <a:ext cx="246888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1728216"/>
            <a:ext cx="22860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377440"/>
            <a:ext cx="8229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377440"/>
            <a:ext cx="91440" cy="18288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偶然发现的真正根源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60%+ 的投诉</a:t>
            </a:r>
            <a:pPr algn="l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来自账单环节的系统问题 ——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账单系统 bug 错误地显示额外费用，每次都需要人工核实，流程繁琐。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3703320"/>
            <a:ext cx="7680960" cy="45720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如果当初把问题定义为「</a:t>
            </a:r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为什么这么多投诉</a:t>
            </a:r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」，账单 bug 一开始就会进入视野。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  /  问题定义方式决定方案方向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/  CEILING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另一个例子 —— 员工流失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32461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一个团队想解决「员工流失率高」的问题，于是做了：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2468880" cy="54864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148840"/>
            <a:ext cx="274320" cy="27432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1214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加薪方案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2011680"/>
            <a:ext cx="2468880" cy="54864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2148840"/>
            <a:ext cx="274320" cy="27432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1214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福利改善方案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2011680"/>
            <a:ext cx="2468880" cy="54864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2148840"/>
            <a:ext cx="274320" cy="27432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1214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文化建设方案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2743200"/>
            <a:ext cx="768096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880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后来发现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246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228600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的离职发生在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8600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 6 个月内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7724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根本原因：入职培训体系不完善、新人无法在短期内胜任工作。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问题定义把解法范围框定在了「留住已经不满意的人」，而不是「帮新人快速成功」。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识别特征  /  CEILING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问自己一个问题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你的方案全部在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「如何把 X 做得更好」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114800" y="3017520"/>
            <a:ext cx="9144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而没有一个方案在问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「X 是真正的问题，还是一个症状？」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206240" y="4434840"/>
            <a:ext cx="73152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20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 02  /  CEILING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把假设当成约束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每个组织都有一批「大家都知道的事」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「这件事没法变」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92024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20240"/>
            <a:ext cx="73152" cy="54864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「那个部门不会配合」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0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「上面不会批」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256032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2560320"/>
            <a:ext cx="73152" cy="54864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560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「这个系统改起来太复杂」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13258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这些「常识」在日常运作中节省了大量的沟通成本 ——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但其中很多是历史形成的假设，早就不一定成立了，但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没有人去验证过。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21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  /  CEILING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真约束 vs 假约束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区分真约束和假约束的方法很简单：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6B0F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4023360" cy="5029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真约束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有具体的、现实的原因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91440" cy="9144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法规限制（必须遵守）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91440" cy="9144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安全条件（物理约束）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91440" cy="9144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物理规律（做不到）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91440" cy="9144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明确的成本上限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828800"/>
            <a:ext cx="402336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23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828800"/>
            <a:ext cx="4023360" cy="5029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假约束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只有「一直以来都这样」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「大家都知道不行」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291840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「IT 部门不配合」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657600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「上面不会批」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4023360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「从来没人这么做过」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572000"/>
            <a:ext cx="73152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572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假约束是「印象」和「集体记忆」，不是事实。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22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/  CEILING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「IT 部门不配合」—— 一个假约束的故事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31089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故事的起点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一个团队想推进某个改进项目，但一开始就有人说：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「IT 部门从来不配合这类需求」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于是所有方案都绕开了那个方向 ——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768096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46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但事实是：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611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当他们真正去和 IT 沟通时，IT 说这个需求其实不复杂，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如果之前提出来，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早就可以做了。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「IT 不配合」这件事，没有人去验证过。它只是一个印象，一个几年前某次经历留下的集体记忆。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23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识别特征  /  CEILING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看方案清单里「没有出现」的东西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你有一些方案「没有出现」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0" y="2331720"/>
            <a:ext cx="9144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原因是有人（或者你自己）觉得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「那个方向不可能」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7315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但这个判断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从来没有被认真测试过。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 03  /  CEILING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只在熟悉的解法空间里找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每个人提出的方案，都来自他的经历和知识范围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91440" cy="12801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熟悉的好处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在某个行业待了十年的人，提方案时知道哪些坑、可行性高、有路径依赖。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9659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65960"/>
            <a:ext cx="91440" cy="12801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熟悉的代价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3317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其他行业里已经成熟解决了的问题，在这里依然作为「新挑战」存在。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不是问题不一样 ——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是两个人群只在自己熟悉的解法空间里找答案。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/  CEILING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预测设备故障 —— 制造业 vs 航空业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5029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</a:t>
            </a:r>
            <a:pPr algn="l"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「预测设备故障」—— 制造业长期头疼，用了很多传统方法收效甚微。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402336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传统方法收效甚微；从业者在行业内部已知做法里寻找。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不知道航空业几十年前就解决了这个问题。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103120"/>
            <a:ext cx="4023360" cy="4572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航空业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几十年前已成熟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完整的预测性维护体系 —— 通过大量传感器数据建立故障预测模型。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原理通用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931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但经验没主动流向制造业 —— 两个行业之间几乎没有流动。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两个行业的从业者各自只在自己熟悉的解法空间里找答案。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识别特征  /  CEILING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翻翻你的方案清单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你的方案清单里，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所有方案都是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你所在行业里「已知的做法」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0" y="3520440"/>
            <a:ext cx="9144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没有一个方案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来自其他领域的经验移植。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206240" y="4617720"/>
            <a:ext cx="73152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27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 04  /  CEILING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只解决了症状，没动产生症状的系统条件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6400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很多常规方案是「</a:t>
            </a:r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点方案</a:t>
            </a:r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 —— 精准地解决一个具体的表象问题，但没有处理产生这个表象问题的系统原因。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7680960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651760"/>
            <a:ext cx="201168" cy="201168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926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做了有改善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2651760"/>
            <a:ext cx="201168" cy="20116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数月后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改善速度停滞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28432" y="2651760"/>
            <a:ext cx="201168" cy="201168"/>
          </a:xfrm>
          <a:prstGeom prst="ellipse">
            <a:avLst/>
          </a:prstGeom>
          <a:solidFill>
            <a:srgbClr val="3D3D3D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再后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问题回来了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点方案不是没有效果，而是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效果不持续。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28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/  CEILING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跨部门协作效率低 —— 会议的宿命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32461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某部门跨部门协作效率低。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团队的解法（点方案）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468880"/>
            <a:ext cx="7680960" cy="50292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688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增加定期例会，建立沟通规范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108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例会变成了走过场，协作效率又回到了原来。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794760"/>
            <a:ext cx="768096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31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根本原因（从未被触碰）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两个部门之间的绩效考核体系完全对立 —— 协作行为对任何一方都没有激励，甚至有惩罚。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  /  系统条件不改变，点方案无法持续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29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识别特征  /  CEILING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看效果能否持续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你的方案做了会有效果，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但效果维持需要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持续的人工推动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0" y="3520440"/>
            <a:ext cx="9144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一旦停止，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问题就回来了。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828800" y="4617720"/>
            <a:ext cx="5486400" cy="27432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4617720"/>
            <a:ext cx="54864" cy="2743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4617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根本机制没有被改变。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整合视图  /  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四种天花板的整合视图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011680" cy="457200"/>
          </a:xfrm>
          <a:prstGeom prst="rect">
            <a:avLst/>
          </a:prstGeom>
          <a:solidFill>
            <a:srgbClr val="6B0F0F"/>
          </a:solidFill>
          <a:ln w="12700">
            <a:solidFill>
              <a:srgbClr val="F5F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417320"/>
            <a:ext cx="2011680" cy="457200"/>
          </a:xfrm>
          <a:prstGeom prst="rect">
            <a:avLst/>
          </a:prstGeom>
          <a:solidFill>
            <a:srgbClr val="6B0F0F"/>
          </a:solidFill>
          <a:ln w="12700">
            <a:solidFill>
              <a:srgbClr val="F5F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2011680" cy="457200"/>
          </a:xfrm>
          <a:prstGeom prst="rect">
            <a:avLst/>
          </a:prstGeom>
          <a:solidFill>
            <a:srgbClr val="6B0F0F"/>
          </a:solidFill>
          <a:ln w="12700">
            <a:solidFill>
              <a:srgbClr val="F5F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1417320"/>
            <a:ext cx="2011680" cy="457200"/>
          </a:xfrm>
          <a:prstGeom prst="rect">
            <a:avLst/>
          </a:prstGeom>
          <a:solidFill>
            <a:srgbClr val="6B0F0F"/>
          </a:solidFill>
          <a:ln w="12700">
            <a:solidFill>
              <a:srgbClr val="F5F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45720" cy="45720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问题定义范围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被假设限制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熟悉的解法空间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点方案未触系统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方案都问「如何做更好」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判断「做不到」未测试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全部是行业已知做法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短期有效，停止就回来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788920"/>
            <a:ext cx="8183880" cy="45720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 / 员工流失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1460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部门不配合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628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制造业 vs 航空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跨部门协作会议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重构问题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1460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测试假设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2628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跨行业迁移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动系统条件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1874520"/>
            <a:ext cx="8229600" cy="1828800"/>
          </a:xfrm>
          <a:prstGeom prst="rect">
            <a:avLst/>
          </a:prstGeom>
          <a:ln w="12700">
            <a:solidFill>
              <a:srgbClr val="D4C5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31920"/>
            <a:ext cx="91440" cy="77724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使用方法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拿出你的方案清单，对每条方案用 4 个问题打勾 —— 知道它在哪个类型卡住，才能定向补充。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31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 /  EXERCISE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现在轮到你了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你的方案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卡在哪里？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114800" y="3200400"/>
            <a:ext cx="9144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目的不是批评你现有的方案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而是找出它们属于哪种类型 —— 知道哪个区域需要补充。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4251960"/>
            <a:ext cx="457200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所需材料：你之前产出的方案清单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32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四个诊断问题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对每一条方案，问这 4 个问题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一条方案可以属于多种类型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91440" cy="13258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这个方案是在原有的问题定义框架内运作的，还是它本身在挑战问题是如何定义的？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691640"/>
            <a:ext cx="91440" cy="13258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068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148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这个方案的设计，是否接受了某个「做不到」的前提 —— 而这个前提其实从来没有被认真测试过？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54680"/>
            <a:ext cx="91440" cy="13258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46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这个方案来自你所在行业或团队内部的已知做法，还是来自某个外部经验的借鉴？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31546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3154680"/>
            <a:ext cx="91440" cy="13258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246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06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天花板四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这个方案解决的是症状，还是产生症状的根本机制？如果停止推进，问题会不会重新出现？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答「是」就在对应格打勾 —— 知道类型，才能定向补。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33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工作表模板  /  TEMPLATE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诊断记录表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对每条方案用 4 个问题打勾 —— 一条方案可以属于多种类型。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291840" cy="411480"/>
          </a:xfrm>
          <a:prstGeom prst="rect">
            <a:avLst/>
          </a:prstGeom>
          <a:solidFill>
            <a:srgbClr val="6B0F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方案简述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691640"/>
            <a:ext cx="1234440" cy="411480"/>
          </a:xfrm>
          <a:prstGeom prst="rect">
            <a:avLst/>
          </a:prstGeom>
          <a:solidFill>
            <a:srgbClr val="6B0F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6916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1691640"/>
            <a:ext cx="1234440" cy="411480"/>
          </a:xfrm>
          <a:prstGeom prst="rect">
            <a:avLst/>
          </a:prstGeom>
          <a:solidFill>
            <a:srgbClr val="6B0F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6916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1234440" cy="411480"/>
          </a:xfrm>
          <a:prstGeom prst="rect">
            <a:avLst/>
          </a:prstGeom>
          <a:solidFill>
            <a:srgbClr val="6B0F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916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52360" y="1691640"/>
            <a:ext cx="1234440" cy="411480"/>
          </a:xfrm>
          <a:prstGeom prst="rect">
            <a:avLst/>
          </a:prstGeom>
          <a:solidFill>
            <a:srgbClr val="6B0F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6916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3291840" cy="411480"/>
          </a:xfrm>
          <a:prstGeom prst="rect">
            <a:avLst/>
          </a:prstGeom>
          <a:solidFill>
            <a:srgbClr val="F5F0EC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（示例）增设周末客服班次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2103120"/>
            <a:ext cx="1234440" cy="411480"/>
          </a:xfrm>
          <a:prstGeom prst="rect">
            <a:avLst/>
          </a:prstGeom>
          <a:solidFill>
            <a:srgbClr val="F5F0EC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103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103120"/>
            <a:ext cx="1234440" cy="411480"/>
          </a:xfrm>
          <a:prstGeom prst="rect">
            <a:avLst/>
          </a:prstGeom>
          <a:solidFill>
            <a:srgbClr val="F5F0EC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103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103120"/>
            <a:ext cx="1234440" cy="411480"/>
          </a:xfrm>
          <a:prstGeom prst="rect">
            <a:avLst/>
          </a:prstGeom>
          <a:solidFill>
            <a:srgbClr val="F5F0EC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103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2103120"/>
            <a:ext cx="1234440" cy="411480"/>
          </a:xfrm>
          <a:prstGeom prst="rect">
            <a:avLst/>
          </a:prstGeom>
          <a:solidFill>
            <a:srgbClr val="F5F0EC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103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51460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0" y="251460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251460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251460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251460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92608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0" y="292608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292608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292608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0" y="292608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33756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49040" y="333756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83480" y="333756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33756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52360" y="333756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74904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49040" y="374904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83480" y="374904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374904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52360" y="374904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1605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49040" y="416052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83480" y="416052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17920" y="416052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52360" y="416052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1691640"/>
            <a:ext cx="8229600" cy="2880360"/>
          </a:xfrm>
          <a:prstGeom prst="rect">
            <a:avLst/>
          </a:prstGeom>
          <a:ln w="12700">
            <a:solidFill>
              <a:srgbClr val="6B0F0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53" name="Shape 51"/>
          <p:cNvSpPr/>
          <p:nvPr/>
        </p:nvSpPr>
        <p:spPr>
          <a:xfrm>
            <a:off x="457200" y="4617720"/>
            <a:ext cx="54864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4617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示例解读见下一页 —— 标注三个一点也不丢人，这恰恰说明这个方向需要深化或补充。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56" name="Shape 54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34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 /  EXAMPLE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示例：增设周日客服班次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32004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降低客户投诉量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其中一个方案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增设周末客服班次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代入诊断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 4 个问题，看它属于哪种天花板。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417320"/>
            <a:ext cx="4389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600200"/>
            <a:ext cx="365760" cy="365760"/>
          </a:xfrm>
          <a:prstGeom prst="ellipse">
            <a:avLst/>
          </a:prstGeom>
          <a:solidFill>
            <a:srgbClr val="B8232C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7830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在「投诉处理」的原始定义框架内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2203704"/>
            <a:ext cx="4389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2386584"/>
            <a:ext cx="365760" cy="365760"/>
          </a:xfrm>
          <a:prstGeom prst="ellipse">
            <a:avLst/>
          </a:prstGeom>
          <a:solidFill>
            <a:srgbClr val="F5F0EC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2040" y="22768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56946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没有「做不到」的假设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2990088"/>
            <a:ext cx="4389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3172968"/>
            <a:ext cx="365760" cy="365760"/>
          </a:xfrm>
          <a:prstGeom prst="ellipse">
            <a:avLst/>
          </a:prstGeom>
          <a:solidFill>
            <a:srgbClr val="B8232C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9204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3558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来自行业通行做法，不是外部借鉴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3776472"/>
            <a:ext cx="4389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3959352"/>
            <a:ext cx="365760" cy="365760"/>
          </a:xfrm>
          <a:prstGeom prst="ellipse">
            <a:avLst/>
          </a:prstGeom>
          <a:solidFill>
            <a:srgbClr val="B8232C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92040" y="3849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天花板四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41422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解决响应速度而非投诉根源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663440"/>
            <a:ext cx="54864" cy="2286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6634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标注三个一点也不丢人 —— 这恰恰说明这个方向需要深化或补充。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35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完成之后  /  HOW TO READ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读懂你的诊断结果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哪种天花板在你的清单里出现次数最多？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打钩最集中的类型，说明你的思考在那个维度有固定的局限。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这不是坏事，知道了才能针对性地补。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743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哪种几乎没有出现？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3931920" cy="77724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474720"/>
            <a:ext cx="73152" cy="7772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 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你在那个维度确实已经有了覆盖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3931920" cy="77724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474720"/>
            <a:ext cx="73152" cy="77724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更常见  /  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749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那种类型的方案根本没出现在清单里 —— 你从来没在那个方向上想过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更关键的问题 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对事分析里识别出的重要突破口，方案清单里有没有任何一条在朝它努力？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36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一个常见发现  /  FINDING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大多数人做完诊断会发现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几乎所有方案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都集中在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3383280" cy="10058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在原有问题定义内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274320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846320" y="2743200"/>
            <a:ext cx="3383280" cy="100584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来自行业已知做法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天花板二 </a:t>
            </a:r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（被假设限制了方向）和 </a:t>
            </a:r>
            <a:pPr algn="ctr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天花板四 </a:t>
            </a:r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（只解决了症状）的方案极少，甚至没有。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这不是个人失误，而是人在面对复杂问题时的自然反应。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4617720"/>
            <a:ext cx="73152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37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认知松绑  /  UNBUNDLE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找一个「更创新」的方案？不必。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你要找的不是「新奇」，而是「有效」。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4023360" cy="4572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你们以前没做过的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有些「没做过的方案」，放到整个行业看，其实已经是惯常做法。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02336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23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783080"/>
            <a:ext cx="4023360" cy="4572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做了之后问题会真正改变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有些看似不新奇的方案，只是重新组合了现有的元素，但效果完全不同。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两件事有交集，但不是同一件事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突破性解法 = 方法，不是天赋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挑战一个大家以为不能动的假设 / 把其他领域成熟的原理引入 / 把独立方向组合出新效果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38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核心认知  /  CORE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常规方案不是因为不够好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才有天花板，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而是因为它们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全部来自同一套思考框架。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0" y="3520440"/>
            <a:ext cx="9144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天花板有四种来源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问题定义的边界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402336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被当作约束的假设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402336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熟悉的解法空间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402336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1228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点方案对系统原因的忽视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识别你的方案属于哪种类型 —— 是找到突破口的第一步。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39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看清常规方案的天花板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000" kern="0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7373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系统盘点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474720" y="26517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看清你手里有什么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3383280"/>
            <a:ext cx="54864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3657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在找新方案之前，先把现有方案整理清楚。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02  /  导  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先停下来，看看你手里有什么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4000" dirty="0"/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第一章的诊断帮你看到了方案的局限来源。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2560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接下来你可能会想：那就直接去找新方案吧。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80160" y="3566160"/>
            <a:ext cx="54864" cy="6400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等一下。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先把现有方案，认真整理一遍。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41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 /  为什么要盘点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这件事比听起来更重要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4023360" cy="365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可能已有真正有效的方案，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只是被淹没在大量『还行但不够』的方案里，没有被识别出来。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应该被保留，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而不是在『找新方案』的冲动里被一起推翻。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64592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645920"/>
            <a:ext cx="4023360" cy="3657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找准创新工作的重点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对事分析里的关键突破口，哪些已有解法、哪些完全空白——空白才是创新重点。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把能量投到对的位置。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盘点不是为了评判，而是为了知道把能量投到哪里。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42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 一个常见的误解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条方案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291840"/>
            <a:ext cx="365760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749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6576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条高质量方案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914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数量≠质量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大量平庸的方案不等于高质量的方案集。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稀释注意力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9496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让真正有潜力的想法淹没在噪音里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904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掩盖覆盖维度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9496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条同向的方案 ≠ 覆盖更广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49040" y="3749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陷入数量游戏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9496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让你以为『已尽力』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43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核心视角转换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从『数量游戏』跳到『覆盖质量』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73152" cy="292608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数量思维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条全部针对同一类问题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广度：窄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337560"/>
            <a:ext cx="274320" cy="82296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3337560"/>
            <a:ext cx="274320" cy="82296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Shape 11"/>
          <p:cNvSpPr/>
          <p:nvPr/>
        </p:nvSpPr>
        <p:spPr>
          <a:xfrm>
            <a:off x="1417320" y="3337560"/>
            <a:ext cx="274320" cy="82296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3337560"/>
            <a:ext cx="274320" cy="82296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条  ·  全部同向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645920"/>
            <a:ext cx="73152" cy="29260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√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覆盖思维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7492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条针对不同类问题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广度：宽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74920" y="3337560"/>
            <a:ext cx="457200" cy="8229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3" name="Shape 21"/>
          <p:cNvSpPr/>
          <p:nvPr/>
        </p:nvSpPr>
        <p:spPr>
          <a:xfrm>
            <a:off x="5623560" y="3337560"/>
            <a:ext cx="457200" cy="8229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4" name="Shape 22"/>
          <p:cNvSpPr/>
          <p:nvPr/>
        </p:nvSpPr>
        <p:spPr>
          <a:xfrm>
            <a:off x="6172200" y="3337560"/>
            <a:ext cx="457200" cy="82296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5" name="Shape 23"/>
          <p:cNvSpPr/>
          <p:nvPr/>
        </p:nvSpPr>
        <p:spPr>
          <a:xfrm>
            <a:off x="6720840" y="3337560"/>
            <a:ext cx="457200" cy="8229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6" name="Shape 24"/>
          <p:cNvSpPr/>
          <p:nvPr/>
        </p:nvSpPr>
        <p:spPr>
          <a:xfrm>
            <a:off x="7269480" y="3337560"/>
            <a:ext cx="457200" cy="8229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  ·  覆盖 5 个不同方向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在正确的地方有足够的深度，比数字重要。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44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FRAMEWORK  /  分类框架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三类方案，三种处理方式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2651760" cy="5486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直接保留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方向对、依据扎实、资源可达，保留并推进即可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6459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645920"/>
            <a:ext cx="2651760" cy="54864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645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645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二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方向对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6616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深度不足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方向正确但力度不足或路径不完整，需要在同一方向上深化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6459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45920"/>
            <a:ext cx="2651760" cy="54864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645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0" y="1645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9224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关键空白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9224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应该有但没有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对事分析里的关键突破口，现有方案中完全没有覆盖的方向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636008"/>
            <a:ext cx="54864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每类方案需要不同的处理方式。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45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  01  /  有效方案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第一类方案：有效，直接保留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这类方案具备以下三个条件，就直接推进，不需要创新。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4572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方向对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针对对事分析中识别出来的真实、关键的影响因素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3566160" y="2834640"/>
            <a:ext cx="4572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可推进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3474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在当前资源和权限范围内可以推进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0116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6492240" y="2834640"/>
            <a:ext cx="4572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有依据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3474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有类似情境的成功案例支撑，或清晰的因果逻辑可说明『做了为什么有效』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结论：对这类方案，不需要创新，推进就好。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46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REMINDER  /  态度提醒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关于第一类方案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不要为了创新而创新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把好方案推翻。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73152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如果一个方案基础扎实、方向清晰，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那它就是好方案，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不需要因为『看起来太常规』而怀疑它。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47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  02  /  方向对，深度不足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第二类方案：方向对，但力度不足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方向是对的，但按现有设计执行，效果会有限。常见的三种形态：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2651760" cy="54864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方案太浅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只处理了表象问题，没有触及根本原因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011680"/>
            <a:ext cx="2651760" cy="54864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29768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方案太碎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解决了几个局部问题，但彼此之间没有系统性联系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0116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011680"/>
            <a:ext cx="2651760" cy="54864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22376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依赖人工推动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形不成机制，一旦停止推动，问题就回来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54864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这类方案需要的是『深化』，不是放弃或替换。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48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 KEY  /  处理方式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关于第二类方案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方向经过验证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真正要做的是在同一方向上找到更系统、更能持续的解法。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3520440"/>
            <a:ext cx="1828800" cy="4572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8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  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不是放弃，不是替换——是在正确方向上加力度、加机制。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49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  03  /  关键空白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第三类：关键突破口是空白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第三类不是你手里已有方案的一种类型，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而是你手里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0292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『应该有但没有』的方向。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对事分析里识别为重要突破口的关键领域，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在现有方案里完全没有对应的解法——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没有一条方案在朝那个方向努力。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54864" cy="32004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这个空白，才是真正需要结构化创新方法填补的地方。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1508760"/>
            <a:ext cx="29260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现有方案覆盖图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057400"/>
            <a:ext cx="1188720" cy="10058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0574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0" y="2057400"/>
            <a:ext cx="1188720" cy="100584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20574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方向B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3154680"/>
            <a:ext cx="1188720" cy="100584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3154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方向C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98080" y="3154680"/>
            <a:ext cx="1188720" cy="100584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31546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863840" y="29718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23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5216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关键空白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50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 EMPTY  /  为什么是空白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为什么关键突破口没有对应方案？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两种原因，对应两种处理路径。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233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4023360" cy="36576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 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『做不到』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感觉做不到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4572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『做不到』是否真的成立？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3657600" cy="77724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第三章方法二：假设挑战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验证这个『做不到』是否真的成立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920240"/>
            <a:ext cx="40233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920240"/>
            <a:ext cx="4023360" cy="3657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 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『不知从哪入手』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0" y="2423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不知道从哪里下手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3063240"/>
            <a:ext cx="4572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如何打开新的方向？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3657600"/>
            <a:ext cx="3657600" cy="77724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第三章方法一：问题重构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或外部视角打开新的方向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第三类空白的处理：分清原因，再选择对应的创新方法。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51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  /  整合视图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三类方案对比表</a:t>
            </a:r>
            <a:endParaRPr lang="en-US" sz="2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37744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20116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判定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处理方式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0F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有效、依据扎实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直接保留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推进执行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0F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方向对，深度不足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在原方向上深化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问题重构 / 假设挑战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0F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关键突破口是空白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结构化创新填补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分清原因，选方法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54864" cy="4572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分类结果决定你在第三章里应该重点用哪些方法、往哪个方向发力。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Shape 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52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EXERCISE  /  练习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 方案盘点练习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对你现有的所有初步方案做完整分类，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同时结合对事分析的突破口，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明确标出第三类的覆盖空白。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749040"/>
            <a:ext cx="54864" cy="9144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所需材料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方案清单 + 对事分析的关键突破口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37490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3749040"/>
            <a:ext cx="54864" cy="9144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逐条方案判断类型，填入分类表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7490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749040"/>
            <a:ext cx="54864" cy="9144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产出用途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决定第三章的方法选择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53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  /  分类表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方案分类表 · 模板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 逐条方案判断类型，填入下表；第三类要写明具体的空白是什么。</a:t>
            </a:r>
            <a:endParaRPr lang="en-US" sz="13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265176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32004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方案简述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(一/二/三)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判断理由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(方向是否对？深度是否够？能否持续？)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下一步处理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（示例）增设周末客服班次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方向对，提升响应速度，但未触及投诉产生根源，停止则衰减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追问投诉主要来源，深化至根因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 * 的空格为示例，可按自己的方案数复制。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54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 CASE  /  示例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降低客户投诉量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示例：增设周末客服班次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1206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91440" cy="28803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方案背景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周日是客户来电的高峰时段，人手不足导致响应慢。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743200"/>
            <a:ext cx="466344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分类判断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154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第二类 —— 方向对，提升响应能力，但只解决了表象。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749040"/>
            <a:ext cx="466344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判断理由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160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执行后有效但无法持续，停止则效果衰减。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2160" y="1691640"/>
            <a:ext cx="2834640" cy="28803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需要追问：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2606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投诉的主要来源是什么？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35040" y="3520440"/>
            <a:ext cx="4572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找到根本改善方向，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深化至根因。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启示：方案分类不只是标签，而是『下一步该做什么』的判断依据。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55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  /  专项记录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第三类覆盖空白 · 专项记录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对事分析中明确标出的突破口，在现有方案里完全没有覆盖的，单独列在这里。</a:t>
            </a:r>
            <a:endParaRPr lang="en-US" sz="12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269748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未覆盖的关键突破口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为什么没有对应方案（原因）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需要通过什么方法探索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如：产品使用门槛过高导致用户流失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感觉做不到 · 不敢挑战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假设挑战：验证『做不到』是否成立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636008"/>
            <a:ext cx="54864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这是第三章的工作重心。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56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  /  读懂结果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读懂你的分类结果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做完分类后，先看一下整体的分布。这个分布本身就是一个重要的信号。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2194560"/>
            <a:ext cx="320040" cy="320040"/>
          </a:xfrm>
          <a:prstGeom prst="ellipse">
            <a:avLst/>
          </a:prstGeom>
          <a:solidFill>
            <a:srgbClr val="B823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第一类很少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320040" cy="320040"/>
          </a:xfrm>
          <a:prstGeom prst="ellipse">
            <a:avLst/>
          </a:prstGeom>
          <a:solidFill>
            <a:srgbClr val="B823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874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2606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第二类多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32120" y="2194560"/>
            <a:ext cx="320040" cy="320040"/>
          </a:xfrm>
          <a:prstGeom prst="ellipse">
            <a:avLst/>
          </a:prstGeom>
          <a:solidFill>
            <a:srgbClr val="B823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874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606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第三类空白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80960" y="2194560"/>
            <a:ext cx="320040" cy="320040"/>
          </a:xfrm>
          <a:prstGeom prst="ellipse">
            <a:avLst/>
          </a:prstGeom>
          <a:solidFill>
            <a:srgbClr val="B823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874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03720" y="2606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一/二全包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46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真正有扎实依据的不多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931920"/>
            <a:ext cx="3657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需要把『真的成立』说清楚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06040" y="315468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3246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方向对但都停留在表象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3931920"/>
            <a:ext cx="3657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在原方向上深化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15468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246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关键影响因素完全没触及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931920"/>
            <a:ext cx="3657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外部视角 / 假设挑战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315468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246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覆盖良好，深度欠缺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3931920"/>
            <a:ext cx="3657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提升第二类的深度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下一页：四种分布详细解读。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57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DISTRIBUTION  01  /  第一类很少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如果第一类很少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36576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已有方案中，真正有扎实依据的不多。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2057400"/>
            <a:ext cx="54864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接下来重点不只是找新方案，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560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还需要把已有方案里哪些真的成立说清楚。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2336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回看方案依据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哪些真的有因果逻辑支撑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2336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把『为什么有效』讲清楚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建立方案的判断标准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2336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找新方案前先打地基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扎实的『一』决定整体质量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58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DISTRIBUTION  02  /  第二类为主体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如果第二类是主体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你在正确的方向上，但都停留在解决表象的层面。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11430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方向对  ·  但只到表象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方案都触及了正确的方向，但都停留在浅层——处理了表象，没有触到根因。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46120"/>
            <a:ext cx="73152" cy="12801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下一步：在原方向上找到更根本、更能持续的解法。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推荐方法：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03120" y="4114800"/>
            <a:ext cx="1828800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问题重构（方法一）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4114800"/>
            <a:ext cx="1828800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假设挑战（方法二）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——对这类方案尤其有用。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59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DISTRIBUTION  03  /  第三类空白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如果第三类有大片空白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有一些关键的影响因素在你的方案里根本没有被触及。通常有两种原因：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2651760" cy="54864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240280"/>
            <a:ext cx="640080" cy="640080"/>
          </a:xfrm>
          <a:prstGeom prst="ellipse">
            <a:avLst/>
          </a:prstGeom>
          <a:solidFill>
            <a:srgbClr val="3D3D3D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 KNOW  HOW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不知道怎么做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大家都没找到路径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01168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011680"/>
            <a:ext cx="2651760" cy="54864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2240280"/>
            <a:ext cx="640080" cy="64008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56616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  CAN'T  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觉得做不到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6616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用『做不到』回避了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01168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011680"/>
            <a:ext cx="2651760" cy="54864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0" y="2240280"/>
            <a:ext cx="640080" cy="64008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922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BREAKTHROUGH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需要用方法突破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9224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是创新工作的真正主战场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83280" y="4617720"/>
            <a:ext cx="2651760" cy="2743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4617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需要结构化创新方法填补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60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CONNECTION  /  前后呼应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第二章与第一章诊断的关系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两次诊断，互相印证。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第一章看到的天花板，会在这次分类里表现为清晰的空白。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3108960"/>
            <a:ext cx="9144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所有方案都没挑战过『做不到』的假设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（天花板二）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没有一个方案来自行业外的借鉴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（天花板三）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两次诊断，互相印证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61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365760" y="2103120"/>
            <a:ext cx="45720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 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系统盘点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看清你手里有什么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640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核心认知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188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盘点方案不是统计数量，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而是检查覆盖质量。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383280" y="2788920"/>
            <a:ext cx="1737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3291840"/>
            <a:ext cx="8229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直接保留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12080" y="2788920"/>
            <a:ext cx="1737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第二类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0" y="3291840"/>
            <a:ext cx="8229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原方向深化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40880" y="2788920"/>
            <a:ext cx="1737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第三类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3291840"/>
            <a:ext cx="8229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结构化创新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分类结果，决定你在第三章里应该用哪些方法、往哪里发力。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62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DELIVERABLES  /  产出物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第二章结束时，你应该有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带着这两份东西，进入第三章。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402336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  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完整的方案分类表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4572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每条方案都有：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明确的类型（一/二/三）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7216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21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判断理由（方向/深度/持续性）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01421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014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下一步的处理动作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92024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920240"/>
            <a:ext cx="4023360" cy="4572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  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📑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4632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覆盖空白清单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846320" y="3017520"/>
            <a:ext cx="4572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对应你的关键突破口，标明：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429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哪些方向在现有方案里完全空白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37216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66360" y="3721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空白背后的原因（不知道 / 做不到）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401421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66360" y="4014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需要用哪种方法去探索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617720"/>
            <a:ext cx="54864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带着这两份东西，进入第三章。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63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系统盘点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000" kern="0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 /  UPPER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8288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换一套假设思考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74720" y="27432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问题重构 + 假设挑战 —— 专门对付思维框架本身的两种方法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3474720"/>
            <a:ext cx="54864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大多数突破不是想出新奇主意，而是发现「大家以为不能动但其实可以」的假设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开始之前  /  1 分钟自检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先做一个快速自检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勾选符合你当前状态的选项。勾选越多，越说明问题出在思维框架本身。</a:t>
            </a:r>
            <a:endParaRPr lang="en-US" sz="12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2606040"/>
        </p:xfrm>
        <a:graphic>
          <a:graphicData uri="http://schemas.openxmlformats.org/drawingml/2006/table">
            <a:tbl>
              <a:tblPr/>
              <a:tblGrid>
                <a:gridCol w="731520"/>
                <a:gridCol w="640080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符合？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232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01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我手里有很多方案，但感觉它们「都差不多」，想不出真正不同的方向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6B0F0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□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232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02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我能想到的解法，好像都是这个行业里已经有人在做的事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6B0F0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□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232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03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有一些方向感觉很关键，但因为「做不到」，所以没有进入方案清单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6B0F0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□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232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04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我的方案执行下去会有效果，但感觉只是短期改善，无法改变根本状况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6B0F0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□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232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05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我们在这个问题上已经讨论了很久，大家的想法越来越趋同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6B0F0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□</a:t>
                      </a:r>
                      <a:endParaRPr lang="en-US" sz="2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434840"/>
            <a:ext cx="274320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所有方案都来自同一套思考方式，自然也都被同一套假设所约束。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65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自检结果  /  解读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你面对的不是「缺少方案」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思维框架本身的局限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所有的方案都来自同一套思考方式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自然也都被同一套假设所约束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0" y="4572000"/>
            <a:ext cx="54864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这一章专门处理这件事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66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  /  根本原因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为什么找不到更好的解法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方案盘点后的处境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你正面对第二类和第三类方案：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73152" cy="6858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方向对但深度不够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679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方向没错，但只能做表面改善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73152" cy="6858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关键领域完全空白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最重要的方向上根本没有解法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不是因为不够努力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也不是因为不够聪明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2880360"/>
            <a:ext cx="36576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而是因为：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你在一套特定的假设框架里思考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框架决定了你会考虑什么，也决定了你看不到什么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这一章介绍两种方法，专门针对「框架本身」下手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67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两种方法  /  专门对付框架本身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两种方法概览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这两种方法在实际工作中产出突破的频率最高，也是最被忽视的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4023360" cy="5486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问题重构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4572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改变问题是怎么被定义的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从而打开被封闭的解法空间。问题怎么问，决定了你能看到什么。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关键词：表述 / 切入 / 重新定义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40233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828800"/>
            <a:ext cx="4023360" cy="54864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假设挑战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45720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把隐含的假设显性化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区分哪些是真正的约束，哪些只是从来没被测试过的假设。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关键词：约束 / 溯源 / 测试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68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一  /  METHOD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改变问题是怎么被定义的，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从而打开被封闭的解法空间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0" y="3291840"/>
            <a:ext cx="91440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问题怎么问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决定了你能看到什么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一种几乎被所有团队忽略的突破方法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69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  /  为什么问题定义本身是障碍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为什么问题的定义本身是一个障碍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720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问题被定义的方式，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本身就在决定你能看到什么解法。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36576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改变问题的表述方式，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解法的可能性会完全不同。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同一个现实，多个解法空间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下面用一个思维实验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感受一下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303520" y="24231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423160"/>
            <a:ext cx="548640" cy="5029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423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原问题定义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306324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3063240"/>
            <a:ext cx="548640" cy="5029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3063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3063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重构定义之一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0" y="370332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3703320"/>
            <a:ext cx="548640" cy="5029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703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重构定义之二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下一页开始  /  三个问题定义，三组完全不同的解法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70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思维实验  /  1 / 3  ·  原问题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2336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5" name="Shape 3"/>
          <p:cNvSpPr/>
          <p:nvPr/>
        </p:nvSpPr>
        <p:spPr>
          <a:xfrm>
            <a:off x="4251960" y="457200"/>
            <a:ext cx="109728" cy="109728"/>
          </a:xfrm>
          <a:prstGeom prst="ellipse">
            <a:avLst/>
          </a:prstGeom>
          <a:solidFill>
            <a:srgbClr val="D4C5BE"/>
          </a:solidFill>
          <a:ln/>
        </p:spPr>
      </p:sp>
      <p:sp>
        <p:nvSpPr>
          <p:cNvPr id="6" name="Shape 4"/>
          <p:cNvSpPr/>
          <p:nvPr/>
        </p:nvSpPr>
        <p:spPr>
          <a:xfrm>
            <a:off x="4480560" y="457200"/>
            <a:ext cx="109728" cy="109728"/>
          </a:xfrm>
          <a:prstGeom prst="ellipse">
            <a:avLst/>
          </a:prstGeom>
          <a:solidFill>
            <a:srgbClr val="D4C5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设备报障场景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面对的问题：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「如何更快地处理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员工的 IT 设备报障请求？」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4206240" y="3474720"/>
            <a:ext cx="73152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在这个问题定义下，你会想到：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 IT 人员  ·  自助服务台  ·  优化报障流程  ·  智能客服处理初级问题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方向没错，但解法空间被锁在「处理速度」这一个维度里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71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思维实验  /  2 / 3  ·  换一个定义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23360" y="457200"/>
            <a:ext cx="109728" cy="109728"/>
          </a:xfrm>
          <a:prstGeom prst="ellipse">
            <a:avLst/>
          </a:prstGeom>
          <a:solidFill>
            <a:srgbClr val="D4C5BE"/>
          </a:solidFill>
          <a:ln/>
        </p:spPr>
      </p:sp>
      <p:sp>
        <p:nvSpPr>
          <p:cNvPr id="5" name="Shape 3"/>
          <p:cNvSpPr/>
          <p:nvPr/>
        </p:nvSpPr>
        <p:spPr>
          <a:xfrm>
            <a:off x="425196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6" name="Shape 4"/>
          <p:cNvSpPr/>
          <p:nvPr/>
        </p:nvSpPr>
        <p:spPr>
          <a:xfrm>
            <a:off x="4480560" y="457200"/>
            <a:ext cx="109728" cy="109728"/>
          </a:xfrm>
          <a:prstGeom prst="ellipse">
            <a:avLst/>
          </a:prstGeom>
          <a:solidFill>
            <a:srgbClr val="D4C5B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现在换一个定义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「如何减少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设备报障的频率？」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206240" y="3154680"/>
            <a:ext cx="73152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解法空间完全变了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384048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加强设备维护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384048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提升采购标准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84048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预防性使用指导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维度从「处理速度」切换到「源头减少」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72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思维实验  /  3 / 3  ·  再换一个定义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23360" y="457200"/>
            <a:ext cx="109728" cy="109728"/>
          </a:xfrm>
          <a:prstGeom prst="ellipse">
            <a:avLst/>
          </a:prstGeom>
          <a:solidFill>
            <a:srgbClr val="D4C5BE"/>
          </a:solidFill>
          <a:ln/>
        </p:spPr>
      </p:sp>
      <p:sp>
        <p:nvSpPr>
          <p:cNvPr id="5" name="Shape 3"/>
          <p:cNvSpPr/>
          <p:nvPr/>
        </p:nvSpPr>
        <p:spPr>
          <a:xfrm>
            <a:off x="4251960" y="457200"/>
            <a:ext cx="109728" cy="109728"/>
          </a:xfrm>
          <a:prstGeom prst="ellipse">
            <a:avLst/>
          </a:prstGeom>
          <a:solidFill>
            <a:srgbClr val="D4C5BE"/>
          </a:solidFill>
          <a:ln/>
        </p:spPr>
      </p:sp>
      <p:sp>
        <p:nvSpPr>
          <p:cNvPr id="6" name="Shape 4"/>
          <p:cNvSpPr/>
          <p:nvPr/>
        </p:nvSpPr>
        <p:spPr>
          <a:xfrm>
            <a:off x="448056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再换一次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「如何设计工作环境，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让员工设备出问题时损失最小？」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206240" y="3154680"/>
            <a:ext cx="73152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又是完全不同的方向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3840480"/>
            <a:ext cx="1828800" cy="5486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云端工作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3840480"/>
            <a:ext cx="1828800" cy="5486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备用设备池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840480"/>
            <a:ext cx="1828800" cy="5486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关键数据自动备份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三个问题定义，三组完全不同的解法 —— 但都在描述同一个现实情况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73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核心论断  /  CORE CLAIM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0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1645920" y="15544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问题的表述方式，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45920" y="22860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决定了你看到的解法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1645920" y="3291840"/>
            <a:ext cx="731520" cy="457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3474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改变问题怎么问，解法的可能性会完全不同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三个问题定义，三组完全不同的解法方向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74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方法一  /  三个重构方向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三个重构方向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改变问题的表述方式有三种基本动作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2606040" cy="6400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往深走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从表象到本质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" cy="27432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不断追问「为什么」，找到产生症状的原因而非症状本身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78308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783080"/>
            <a:ext cx="2606040" cy="6400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783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16052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UP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往上走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2900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从解决问题到消除问题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9000" y="3383280"/>
            <a:ext cx="365760" cy="27432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追问最终目标，从更高层次的入口看问题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178308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1783080"/>
            <a:ext cx="2606040" cy="64008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783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4944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LATERAL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横向移动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改变对象或切入点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3383280"/>
            <a:ext cx="365760" cy="27432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改变「谁在做」或「在哪个环节做」，重新定义问题的边界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三个方向都改变的是问题的切入位置，目标本身没变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75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一  /  往深走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方向一  /  往深走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从表象到本质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22860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当你在解决一个问题的时候，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你处理的是症状，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0" y="2834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还是产生症状的原因？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286000" y="3474720"/>
            <a:ext cx="45720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「往深走」 = 不断追问为什么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这个问题是怎么产生的？这个原因背后是什么原因？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系统性原因的解法，才有持续改善效果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76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方向一  /  案例  ·  轨道交通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/  轨道交通 5 个为什么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从「减少晚点」走到「换乘通道设计的容量问题」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828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是什么导致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高峰期晚点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2331720" y="2468880"/>
            <a:ext cx="182880" cy="274320"/>
          </a:xfrm>
          <a:prstGeom prst="rtTriangle">
            <a:avLst/>
          </a:prstGeom>
          <a:solidFill>
            <a:srgbClr val="B8232C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1828800"/>
            <a:ext cx="1828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828800"/>
            <a:ext cx="1828800" cy="365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为什么乘客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无法快速集中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4434840" y="2468880"/>
            <a:ext cx="182880" cy="274320"/>
          </a:xfrm>
          <a:prstGeom prst="rtTriangle">
            <a:avLst/>
          </a:prstGeom>
          <a:solidFill>
            <a:srgbClr val="B8232C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1828800"/>
            <a:ext cx="1828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828800"/>
            <a:ext cx="1828800" cy="365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为什么会有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客流交叉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6537960" y="2468880"/>
            <a:ext cx="182880" cy="274320"/>
          </a:xfrm>
          <a:prstGeom prst="rtTriangle">
            <a:avLst/>
          </a:prstGeom>
          <a:solidFill>
            <a:srgbClr val="B8232C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0" y="1828800"/>
            <a:ext cx="1828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1828800"/>
            <a:ext cx="1828800" cy="365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换乘通道设计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容量不匹配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4023360" cy="91440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症状级解法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增加发车频次  ·  优化乘客广播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3657600"/>
            <a:ext cx="4023360" cy="9144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系统性解法（往深走后）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重新设计换乘通道  ·  调整容量配比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针对结构原因的解法，效果会比「加频次 / 优化广播」持续得多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77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方向一  /  工具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「往深走」的工具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1828800" y="3794760"/>
            <a:ext cx="914400" cy="457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spc="400" kern="0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Whys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用「为什么」连续追问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37760" y="2587752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数字「五」不必机械凑够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971800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852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有时候两三次就到了根本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3355848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2369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有时候需要六七次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739896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36210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关键在于触底 —— 那个「再往下已经没更深原因」的层次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4123944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4005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每次以上一个答案为起点继续追问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数字不重要，到达根本才是目的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78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二  /  往上走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方向二  /  往上走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从解决问题到消除问题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做这件事，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是为了实现什么更高层次的目标？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0" y="3246120"/>
            <a:ext cx="91440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如果从那个更高层次的目标出发，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有没有不需要解决当前问题就能达成的路径？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最高层次的解法，往往最有持续效果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79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方向二  /  案例  ·  设备维护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/  设备维护的三个层次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每往上走一层，问题的定义都在发生根本性的变化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060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2606040" cy="64008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处理问题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如何更快地修复设备故障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274320" cy="27432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6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对应解法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加维修人员 / 缩短响应时间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3108960" y="2788920"/>
            <a:ext cx="164592" cy="274320"/>
          </a:xfrm>
          <a:prstGeom prst="rtTriangle">
            <a:avLst/>
          </a:prstGeom>
          <a:solidFill>
            <a:srgbClr val="B8232C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1783080"/>
            <a:ext cx="26060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783080"/>
            <a:ext cx="2606040" cy="6400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069080" y="1783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减少问题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2900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如何减少设备故障的发生频率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3520440"/>
            <a:ext cx="274320" cy="27432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566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对应解法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预测性维护 / 提升设备质量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5400000">
            <a:off x="5897880" y="2788920"/>
            <a:ext cx="164592" cy="274320"/>
          </a:xfrm>
          <a:prstGeom prst="rtTriangle">
            <a:avLst/>
          </a:prstGeom>
          <a:solidFill>
            <a:srgbClr val="B8232C"/>
          </a:solidFill>
          <a:ln/>
        </p:spPr>
      </p:sp>
      <p:sp>
        <p:nvSpPr>
          <p:cNvPr id="26" name="Shape 24"/>
          <p:cNvSpPr/>
          <p:nvPr/>
        </p:nvSpPr>
        <p:spPr>
          <a:xfrm>
            <a:off x="6035040" y="1783080"/>
            <a:ext cx="26060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783080"/>
            <a:ext cx="2606040" cy="6400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58000" y="1783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消除问题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792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如何设计系统，使单点设备故障不影响整体运营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520440"/>
            <a:ext cx="274320" cy="27432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3566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对应解法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冗余设计 / 模块化架构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从「快点修」到「少发生」到「发生时不重要」 —— 三个层次对应完全不同的解法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80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 三  /  横向移动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方向三  /  横向移动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改变问题的对象或切入点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265176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当前的假设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「谁在做什么」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是唯一可能的方式吗？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36576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三个可改变的方向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76472"/>
            <a:ext cx="73152" cy="73152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改变服务对象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73152" cy="73152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50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改变执行主体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70248"/>
            <a:ext cx="73152" cy="73152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970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改变改善发生的环节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828800"/>
            <a:ext cx="3931920" cy="2651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横向移动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目标能不能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3776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同样达成？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937760" y="3383280"/>
            <a:ext cx="36576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改变人很难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改变环境让人自然做对，往往更可持续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横向移动 = 把「改变人」的问题，转变为「改变环境」的问题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81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方向三  /  案例  ·  培训 vs 工作流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/  培训 vs 工作流设计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·  CASE  STUDY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横向移动  /  改变切入点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原问题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如何提升员工技能培训的效果？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7863840" cy="27432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2788920"/>
            <a:ext cx="365760" cy="164592"/>
          </a:xfrm>
          <a:prstGeom prst="rtTriangle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077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横向移动  /  LATERAL  SHIFT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新问题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如果不是培训员工，而是重新设计工作流程，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让正确的操作成为最省力的操作 —— 能否达到同样甚至更好的结果？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36576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  /  改变人是困难的，改变环境让人自然做出正确行为，往往更可持续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82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整合视图  /  三个方向对比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三个重构方向对比</a:t>
            </a:r>
            <a:endParaRPr lang="en-US" sz="300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7432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329184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核心动作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追问的逻辑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B0F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往深走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从表象到本质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「为什么这个问题会产生？原因背后是什么原因？」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五个为什么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往上走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从解决问题到消除问题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「做这件事最终是为了什么更高层次的目标？」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目标层级拆解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横向移动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改变对象或切入点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「改变「谁在做」或在哪个环节，目标还能达成吗？」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对象/环节置换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三个方向都改变的是问题的切入位置，目标本身没变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Shape 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83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方法一  /  5 步操作流程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问题重构的 5 个操作步骤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按顺序走完这 5 步，你的问题陈述会经历一次完整的重构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写下原问题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把当前的问题陈述写在纸上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75104" y="2029968"/>
            <a:ext cx="118872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1783080"/>
            <a:ext cx="548640" cy="54864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0312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往深走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用「为什么」连续追问 3-5 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66744" y="2029968"/>
            <a:ext cx="118872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1783080"/>
            <a:ext cx="548640" cy="54864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9476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往上走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9476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问「最终为了什么」，找到上一层目标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58384" y="2029968"/>
            <a:ext cx="118872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89320" y="1783080"/>
            <a:ext cx="548640" cy="54864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横向移动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问「改变对象/环节，目标能否达成」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50024" y="2029968"/>
            <a:ext cx="118872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6" name="Shape 24"/>
          <p:cNvSpPr/>
          <p:nvPr/>
        </p:nvSpPr>
        <p:spPr>
          <a:xfrm>
            <a:off x="7680960" y="1783080"/>
            <a:ext cx="548640" cy="54864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7804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对比判断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7804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哪个版本打开的解法空间最大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114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重要提醒  /  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28800" y="41148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问题重构不是推翻目标，而是找到更好的切入点 —— 根本目标没有变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84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 /  重构你的问题陈述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 练习  /  重构你的问题陈述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0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</a:t>
            </a:r>
            <a:endParaRPr lang="en-US" sz="140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这个练习的目的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对你的课题生成多个问题重构版本，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找到能打开最大解法空间的那个表述。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645920" y="3108960"/>
            <a:ext cx="54864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3246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完成本练习后你会得到：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3703320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3611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一份新的问题陈述（可能与最初表述非常不同）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3995928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90448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三个方向的重构对比结果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4288536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419709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判断哪个版本最有价值的结论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完成方式  /  把真实课题填进模板，沿三个方向完成重构，最后做出判断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85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 /  问题重构工作表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问题重构工作表</a:t>
            </a:r>
            <a:endParaRPr lang="en-US" sz="28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200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填写内容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我的原始问题陈述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_______________________________________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往深走  /  第一层为什么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_______________________________________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往深走  /  第二层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_______________________________________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往深走  /  更深一层（可选）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_______________________________________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往上走  /  最终目标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_______________________________________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往上走  /  从目标出发的问题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_______________________________________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823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横向移动  /  改变对象/环节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_______________________________________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0F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主问题陈述（用于方案探索）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_______________________________________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9 个模块后，你会得到经过三个方向重构的新问题陈述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Shape 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86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参考示例  /  IT 设备报障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参考示例  /  IT 设备报障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7315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原始问题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如何更快地处理员工 IT 设备报障请求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6517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2651760" cy="365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往深走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员工设备报障背后，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有哪些是重复发生的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系统性原因？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2286000" cy="27432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  /  老旧机型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  /  充电不规范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2286000"/>
            <a:ext cx="26517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2286000"/>
            <a:ext cx="2651760" cy="3657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往上走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如何减少员工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因设备问题产生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的工作中断时长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3840480"/>
            <a:ext cx="2286000" cy="27432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不只是「快点修」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而是「少修 + 修时影响小」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2286000"/>
            <a:ext cx="26517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2286000"/>
            <a:ext cx="2651760" cy="36576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横向移动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改变设备采购标准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和健康监控机制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能否减少报障？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840480"/>
            <a:ext cx="2286000" cy="27432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不是处理报障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而是改变发生条件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三组完全不同的解法方向，都描述同一个现实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87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重要提醒  /  需要注意的地方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一个需要注意的地方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重构之后，回头检验指标设计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问题重构之后，有时候会发现：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4023360" cy="365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为什么会有这种发现？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问题的切入点变了，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衡量改善的维度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也应该相应调整。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60604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606040"/>
            <a:ext cx="4023360" cy="3657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如果发现了，怎么做？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227832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不要强行用旧指标衡量新方向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639312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值得回头重新检验指标设计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4050792"/>
            <a:ext cx="91440" cy="914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指标的更新是方案探索的一部分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根本目标没变，变的只是入口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88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二  /  METHOD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假设挑战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每一个「做不到」背后，都有一个假设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 vs 假设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88920"/>
            <a:ext cx="4023360" cy="365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你验证过的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78892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788920"/>
            <a:ext cx="4023360" cy="3657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没验证过却当成事实使用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「根本没有人真正尝试过」的假设，往往就是突破口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89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方法二  /  隐形的「不可能清单」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每个组织里都有的「不可能清单」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这些判断在日常工作中运作得如此顺畅，以至于大家把它们当成了事实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325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011680"/>
            <a:ext cx="411480" cy="41148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某部门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不会配合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74520" y="1828800"/>
            <a:ext cx="1325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2011680"/>
            <a:ext cx="411480" cy="41148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2514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27889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争取不到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828800"/>
            <a:ext cx="1325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2011680"/>
            <a:ext cx="411480" cy="41148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2514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27889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不会批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828800"/>
            <a:ext cx="1325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2011680"/>
            <a:ext cx="411480" cy="41148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2514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这个系统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7889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改不了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1828800"/>
            <a:ext cx="1325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2011680"/>
            <a:ext cx="411480" cy="41148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72200" y="2514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合规要求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72200" y="27889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不允许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43800" y="1828800"/>
            <a:ext cx="13258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2011680"/>
            <a:ext cx="411480" cy="41148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3" name="Text 31"/>
          <p:cNvSpPr/>
          <p:nvPr/>
        </p:nvSpPr>
        <p:spPr>
          <a:xfrm>
            <a:off x="80010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89520" y="2514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时间框架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27889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来不及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假设挑战要做的事：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把这些隐含的假设显性化，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然后系统地问：哪些是真的不能动？哪些只是看起来不能动？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90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/  没有人去真正问过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案例  /  质检部门的真实想法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·  CASE  STUDY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制造企业  /  新质检流程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  质检部门肯定不配合，他们从来不愿意在现有 SOP 以外做任何事  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于是方案设计从一开始就在绕开质检部门的参与。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786384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后来有人建议：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先去和质检部门负责人谈一次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对话之后的结果让大家吃惊：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质检部门不仅不反对，还有一长串他们一直想改但没有推动力量的流程问题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36576" cy="32004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  /  「质检部门不配合」是 3 年前一个项目留下的沉积印象，没人真正测试过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91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案例启示  / 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0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164592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它只是一个沉积下来的印象，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21031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被当成了不可改变的事实。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645920" y="2926080"/>
            <a:ext cx="54864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31089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没有人去测试过这个假设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45920" y="36576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年前的项目负责人早就离职了，部门的整体文化也已经变了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真正的突破，往往不是想出新奇的主意，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而是发现「大家以为不能动但其实可以」的假设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92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方法二  /  3 步操作流程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假设挑战的三步操作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把隐含的假设显性化，区分真约束和假约束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060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260604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穷举做不到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列出所有「无法改变」「无法突破」「无法获得」的判断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27432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不加评判，先穷举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 / 软 / 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rot="5400000">
            <a:off x="3108960" y="3017520"/>
            <a:ext cx="164592" cy="274320"/>
          </a:xfrm>
          <a:prstGeom prst="rtTriangle">
            <a:avLst/>
          </a:prstGeom>
          <a:solidFill>
            <a:srgbClr val="B8232C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1783080"/>
            <a:ext cx="26060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783080"/>
            <a:ext cx="260604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溯源每一条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9000" y="2788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判断的来源是什么？明确的法规？内部政策？某人的说法？历史印象？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3794760"/>
            <a:ext cx="27432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近期有人真正尝试过吗？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找到源头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rot="5400000">
            <a:off x="5897880" y="3017520"/>
            <a:ext cx="164592" cy="274320"/>
          </a:xfrm>
          <a:prstGeom prst="rtTriangle">
            <a:avLst/>
          </a:prstGeom>
          <a:solidFill>
            <a:srgbClr val="B8232C"/>
          </a:solidFill>
          <a:ln/>
        </p:spPr>
      </p:sp>
      <p:sp>
        <p:nvSpPr>
          <p:cNvPr id="24" name="Shape 22"/>
          <p:cNvSpPr/>
          <p:nvPr/>
        </p:nvSpPr>
        <p:spPr>
          <a:xfrm>
            <a:off x="6035040" y="1783080"/>
            <a:ext cx="26060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783080"/>
            <a:ext cx="260604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 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分类标记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17920" y="2788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硬约束（接受）/ 软约束（成本问题，进入利益相关方分析）/ 假约束（突破口）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794760"/>
            <a:ext cx="27432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假约束 → 设计验证实验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三类标记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完成三步后，带着「假约束清单 + 验证实验设计」进入第三章（下）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93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第三章（上）换一套假设思考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000" kern="0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7373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换一个视角思考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74720" y="2651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外部视角 · 逆向思维 · 组合创新 —— 三种切换框架的方法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3291840"/>
            <a:ext cx="54864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3429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方法三  外部视角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3749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方法四  逆向思维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4069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方法五  组合创新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4526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当正向思维走到头，从框架之外找答案</a:t>
            </a:r>
            <a:endParaRPr lang="en-US" sz="11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方法三  ·  EXTERNAL PERSPECTIVE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外部视角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人人为之解释的奇怪，最值得追问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在一个系统里待久了，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你会把"奇怪"，解释成"正常"。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45720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外部人的价值，恰恰在于他们没有这些解释的包袱。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这一节介绍三种结构化的方式，帮你人为地制造"局外人视角"。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95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外部视角  ·  为什么内部人看不到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局部理性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在系统内部看起来都有道理，从外部看起来完全不可理解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402336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内部人看到的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每一个奇怪的做法背后，都有一个内部的理由
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每一个明显的不合理，都有"但我们这里不一样"的解释
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所有人都在用一套"局部合理解释"消解异常
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011680"/>
            <a:ext cx="4023360" cy="4572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外部人看到的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6060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看到奇怪的地方，会觉得"奇怪"
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不会立刻找到内部理由把这种奇怪感消化掉
</a:t>
            </a:r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保留"奇怪感"，是发现问题的起点
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96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外部视角  ·  三种结构化形式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制造"局外人视角"的三种方式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560320" cy="73152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陌生人审计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3657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切换角色扮演，把自己当第一天报到的新员工或外部顾问。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适用：团队对不合理已经习以为常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554480"/>
            <a:ext cx="2560320" cy="7315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35661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跨行业原理迁移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66160" y="2880360"/>
            <a:ext cx="3657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抽象化问题 → 找结构相似的外部场景 → 提取底层原理 → 重建。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适用：感觉其他行业有成熟解法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55448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554480"/>
            <a:ext cx="2560320" cy="73152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492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极端用户视角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92240" y="2880360"/>
            <a:ext cx="3657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找到体验最极端、最被边缘化的人，看他们暴露的系统断点。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适用：一直在为平均用户优化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97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形式一  ·  STRANGER AUDIT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陌生人审计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不需要真的找一个外部人 —— 切换一种角色扮演就够了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937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73152" cy="2743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怎么操作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把自己想象成"第一天来报到的新员工"
</a:t>
            </a:r>
            <a:pPr algn="l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或者"来做独立评估的外部顾问"
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带着这个身份，重新看工作流程、问题现场、解决方案
</a:t>
            </a:r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只记录"感觉奇怪的地方"，暂时不允许解释
</a:t>
            </a:r>
            <a:pPr algn="l"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（关键规则，下一页讲）
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完成记录后再回头审视这些"奇怪的地方"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1965960"/>
            <a:ext cx="3108960" cy="2743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内部人在这个练习中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最容易犯的错是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607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一边记录"奇怪感"，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一边立刻给它找到一个内部理由。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0720" y="4114800"/>
            <a:ext cx="3657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然后奇怪感就消失了。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98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陌生人审计  ·  关键规则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只记录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不解释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4114800" y="3566160"/>
            <a:ext cx="91440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解释是后来的事，记录是现在的事。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这条规则是关键 —— 没有它，奇怪感会在解释的瞬间被消化掉。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99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  · 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一个物流公司的发现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陌生人审计练习中，有人记下了这一条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54864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9384"/>
            <a:ext cx="8229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奇怪的是，每批货物发出去之前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要填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三份格式几乎一样的表单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0352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我做了两年从来没想过为什么是三份而不是一份。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4114800"/>
            <a:ext cx="36576" cy="4114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9776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三份表单是三个不同年代不同系统遗留的，早就可以合并。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这个发现后来变成了一个节省大量重复人工的流程优化方案。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陌生人审计  ·  四个引导问题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用这四个问题引导你的记录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每一个都值得认真想一想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548640" cy="11887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9202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一个完全不懂这个行业的人，走进来之后，会对哪些流程环节感到困惑？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548640" cy="11887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8288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9240" y="19202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哪些步骤，当你用"我来解释给你听"的方式说出来时，听起来其实有点荒谬？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548640" cy="11887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004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2918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如果重新设计，从零开始，有哪些当前的做法你不会保留？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00400"/>
            <a:ext cx="548640" cy="11887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32004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49240" y="32918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哪些问题，外部人会立刻问出来，而内部人早就停止问了？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形式二  ·  CROSS-INDUSTRY TRANSFER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跨行业原理迁移（升级版）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不是搬运具体方案，而是提取底层原理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4023360" cy="4572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最常见的错法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直接去看别人的做法，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然后想"能不能用在我们这里"。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3657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成功率很低 —— 任何方案背后都有一整套匹配条件，条件变了方案不一定还有效。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96596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965960"/>
            <a:ext cx="402336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真正有效的做法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提取底层原理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而不是搬运具体方案。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3520440"/>
            <a:ext cx="3657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657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需要三步：抽象化问题 → 寻找场景 → 提取原理，在自己的场景里重建。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跨行业迁移  ·  两个版本的差异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升级版 vs 原始版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差距在于：操作的是方案，还是原理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4023360" cy="4572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搬运具体方案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直接去看别人怎么做
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想"能不能用在我们这里"
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关注操作步骤本身
</a:t>
            </a:r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条件不匹配时方案失效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920240"/>
            <a:ext cx="402336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提取底层原理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9718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抽象化问题到与行业无关的层面
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找"结构相似"的外部场景
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提取"为什么有效"的原理
</a:t>
            </a:r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在自己的资源和约束里重建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跨行业迁移  ·  三步操作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升级版跨行业迁移的三步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做好第一步，是整个跨行业借鉴能否有效的关键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2651760" cy="7315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抽象化问题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把行业特定问题提炼为通用表述，去掉所有行业词汇，只保留本质结构。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9659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965960"/>
            <a:ext cx="2651760" cy="73152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352044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寻找场景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哪些行业或领域在解决类似结构的问题？找 2~3 个"结构相似"的场景。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965960"/>
            <a:ext cx="2651760" cy="73152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640080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提取原理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不是复制方案，而是问"它为什么有效"，然后在自己的场景里重建。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关键步骤 —— 抽象化做得不到位，后面找到的外部案例就无法真正迁移过来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98932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  ·  抽象化示例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从具体到通用 —— 四个例子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去掉所有行业特定的词汇，只保留问题的本质结构</a:t>
            </a:r>
            <a:endParaRPr lang="en-US" sz="1400" dirty="0"/>
          </a:p>
        </p:txBody>
      </p:sp>
      <p:graphicFrame>
        <p:nvGraphicFramePr>
          <p:cNvPr id="10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260604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原始的具体问题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抽象化后的通用问题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如何在高峰期提升轨道交通的运载效率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0F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如何在固定基础设施容量下，在需求峰值时期最大化吞吐量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如何提高员工对新系统的使用率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0F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如何推动大规模人群采纳一种对他们来说陌生的新行为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如何降低客服人员处理复杂问题的出错率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0F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如何在高认知负荷的决策场景中系统性地减少人为错误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如何减少设备意外停机导致的生产损失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0F0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如何提前识别系统故障信号并在失效发生前介入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572000"/>
            <a:ext cx="36576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做好这一步，是整个跨行业借鉴能否有效的关键。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105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跨行业迁移  ·  STEP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 · 寻找场景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哪些行业在解决类似结构的问题？找 2~3 个就够了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这个通用问题，哪些行业或领域在解决，而且有相对成熟的做法？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抽象后的问题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在固定基础设施容量下，在需求峰值时期最大化吞吐量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27432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外部场景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航空业的机场时刻管理 / 酒店业的 Revenue Management / 急诊室的分诊流量管理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抽象后的问题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推动大规模人群采纳陌生的新行为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931920"/>
            <a:ext cx="27432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外部场景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公共卫生领域的行为干预 / 互联网产品的 onboarding 设计 / 金融产品的普惠化推广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106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跨行业迁移  ·  STEP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 · 提取原理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不是复制方案，而是问"它为什么有效"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2651760" cy="7315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为什么有效？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27432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提取这个外部方案的底层逻辑 —— 它背后的作用原理是什么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9659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965960"/>
            <a:ext cx="2651760" cy="7315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5204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在我的场景里是否成立？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20440" y="3291840"/>
            <a:ext cx="27432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原理是否依赖于某些我这里没有的先决条件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965960"/>
            <a:ext cx="2651760" cy="7315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40080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如何在我的资源约束下重建？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0" y="3291840"/>
            <a:ext cx="27432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用我的资源和约束条件，实现同样逻辑的具体路径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从这里产出的不是"直接抄方案"，而是"从原理出发，找到在自己场景里实现同样逻辑的具体路径"。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107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完整案例  ·  轨道交通  ·  上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完整案例：轨道交通（上）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从原始问题到抽象化，再到外部场景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77724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  ·  原始问题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如何在高峰期提升轨道交通运载效率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27157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17520"/>
            <a:ext cx="73152" cy="7772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  ·  抽象化后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如何在固定基础设施容量下最大化峰值吞吐量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7680" y="3813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60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  ·  外部场景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Revenue Management（航空和酒店业的动态需求分配体系）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108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完整案例  ·  轨道交通  ·  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完整案例：轨道交通（下）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从外部原理，到本地重建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11887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需求平移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通过价格机制和提前购买激励，把需求从峰值时段向两侧平移，使总需求曲线从集中尖峰变成相对平缓的分布。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回到轨道交通 —— 可能的路径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03320"/>
            <a:ext cx="2560320" cy="54864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峰值差异化票价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用价格激励人主动避峰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370332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3703320"/>
            <a:ext cx="2560320" cy="54864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错峰上下班项目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与主要雇主合作，从需求源头改变需求曲线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370332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703320"/>
            <a:ext cx="2560320" cy="54864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周期性票价优惠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让非高峰时段的性价比更高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109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形式三  ·  EXTREME USERS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极端用户视角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被系统设计最边缘化的人，往往暴露最根本的缺陷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谁是这个问题中体验最极端的人 —— 体验最差的、需求最特殊的、被现有设计最边缘化的？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26080"/>
            <a:ext cx="73152" cy="9144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17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极端用户的需求放大了所有普通用户也有但程度较低的需求。他们遇到的问题是所有人都有但大多数人能忍受的问题的集中体现。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典型例子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轨道交通 × 轮椅乘客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下一页详解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极端用户  ·  关键洞察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轨道交通 × 轮椅乘客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修复极端用户的断点，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往往改善所有用户的体验。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00400"/>
            <a:ext cx="73152" cy="13716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91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轮椅使用者的乘车体验会暴露大量断点：电梯是否永远可用？站台和列车间隙？上车时的协助安排？换乘路径的无障碍替代？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这些断点在设计之初被忽略，是因为设计是按"普通乘客"模式优化的。修复它们之后，往往会发现对所有乘客的体验都有改善 —— 因为这些缺陷是系统设计的根本性问题。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111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极端用户  ·  三个引导问题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找到你的极端用户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用这三个问题找出你课题里被忽视的群体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777240" cy="8686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谁是体验最差的群体？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331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他们面对的困境是其他人感受不到的，还是其他人也有但程度更轻？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34640"/>
            <a:ext cx="777240" cy="8686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3464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17320" y="2926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当前方案为谁设计？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291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谁被完全排除在设计考量之外？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94760"/>
            <a:ext cx="777240" cy="8686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9476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17320" y="38862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满足他们会顺带解决什么？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251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有没有一个群体的需求被满足后，会顺带解决其他大多数人的某个隐性痛点？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 ·  选择一种形式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如何选择使用哪种形式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三种形式对应不同的卡点情况 —— 选最适合你课题的那一种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陌生人审计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适用卡点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团队在这个问题上工作了很久，对很多不合理已经习以为常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27432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77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停下来，保留奇怪感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92024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920240"/>
            <a:ext cx="256032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跨行业原理迁移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适用卡点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788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感觉其他行业可能有成熟的解法，但不知道怎么移植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3931920"/>
            <a:ext cx="27432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3977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先抽象化，再找场景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192024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920240"/>
            <a:ext cx="256032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极端用户视角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适用卡点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788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一直在为平均用户优化，但效果遇到瓶颈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3931920"/>
            <a:ext cx="27432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977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找到被边缘化的群体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可以选择一种深度完成，也可以快速过三种，再选最有收获的那种深化。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113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方法四  ·  REVERSED THINKING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逆向思维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当正向思维走到头，从问题的反面进入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"什么会让事情更糟"，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我们往往判断得更清晰。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45720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正向思维的路走到头了，最有效的方法不是更努力地正向想，而是切换方向。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三种反转方式：目标反转 · 受益方反转 · 流程反转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114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逆向思维  ·  认知事实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为什么反方向更清晰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不是"反正统"，而是利用了一个认知事实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我们对"什么会让事情更糟"的判断，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往往比对"什么会让事情更好"的判断更清晰、更具体。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474720"/>
            <a:ext cx="73152" cy="1188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更具体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列出让问题更严重的做法，思路是确定性的 —— 而"怎么改善"往往模糊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4747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3474720"/>
            <a:ext cx="73152" cy="1188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更有行动力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3977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负面清单里每一条都指向一个明确的行为，反转之后立刻变成可执行的改善方向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115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反转一  ·  GOAL REVERSAL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目标反转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把"我们怎么解决 X"，反转成"我们怎么让 X 更严重"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77724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"我们怎么解决 X 问题？"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"我们怎么让 X 问题更严重？"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80360"/>
            <a:ext cx="402336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检查当前实际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对照列出的"让问题更严重的做法"，看你们当前正在做哪些。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这种发现非常有价值 —— 它往往揭示了当前努力"事倍功半"的原因。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880360"/>
            <a:ext cx="402336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反转成改善方向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把"让问题更严重"的做法反过来，就是改善的方向。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反转之后的方向，有时候会指向一些在正向思考里完全不会出现的行动。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116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目标反转  · 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案例：新员工入职 3 个月内离职率高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反转后的问题：怎么才能让新员工更快地想离职？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560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让问题更严重的做法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入职第一天就把最难的任务压过来
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不给新员工介绍任何背景信息
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让新员工完全靠自己摸索，没人指导
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在大家都不认识时要求在会议上发表观点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560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828800"/>
            <a:ext cx="2560320" cy="4572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当前实际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37744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检查一下：上面这些有没有在做？
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（很多时候答案是"有一部分"）
</a:t>
            </a:r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这种发现非常有价值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2560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828800"/>
            <a:ext cx="256032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反转成改善方向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有结构的入职引导期
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从相对容易的任务开始建立信心
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配备入职导师
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在新员工熟悉环境前不暴露在高压评判场景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117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反转二  ·  BENEFICIARY REVERSAL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受益方反转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在当前这个有问题的状态里，谁在获益？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哪怕是无意识地、间接地获益 —— 这个人往往是你推进方案路上真正的阻力来源。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73152" cy="9144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718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这个阻力在常规的利益相关方分析里很容易被忽视 —— 他不会公开反对，而是以各种方式让推进变慢。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77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把他的利益也纳入方案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找到一个对他也有利的解法方式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97764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977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352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在策略设计上绕过他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在推进路径上规避他的影响范围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118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受益方反转  ·  记录模板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受益方反转记录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谁可能在无意中从"问题持续存在"的状态中获益？</a:t>
            </a:r>
            <a:endParaRPr lang="en-US" sz="140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237744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16459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姓名 / 角色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获益方式（哪怕很间接）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是否在利益相关方分析里？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处理策略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 是   □ 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 纳入  □ 绕过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 是   □ 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 纳入  □ 绕过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 是   □ 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□ 纳入  □ 绕过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434840"/>
            <a:ext cx="36576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具体想法：针对这个人的策略思路 —— 把他/她的利益也纳入方案设计，或在推进策略上绕过他/她的影响范围。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119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反转三  ·  PROCESS REVERSAL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流程反转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把当前流程画出来，从最后一步开始往前看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777240" cy="88696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777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哪个步骤是结果最不可缺的前提？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286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从最终结果倒推 —— 这个步骤在当前流程里处于什么位置？它是不是应该更靠前？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52928"/>
            <a:ext cx="82296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52928"/>
            <a:ext cx="777240" cy="886968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52928"/>
            <a:ext cx="777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2944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有没有可以并行的串行步骤？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2644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有没有两个步骤其实可以同时进行，但因为流程设计的惯性被设计成了先后顺序？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串行改并行，往往是提升流程效率最直接的方式。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31336"/>
            <a:ext cx="82296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31336"/>
            <a:ext cx="777240" cy="88696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31336"/>
            <a:ext cx="777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17320" y="392277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有没有"一直有"但说不清为什么的步骤？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24281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试着追问：这一步最初是为了解决什么问题？现在还有那个问题吗？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有时候流程里有些步骤是历史积累的，早就失去了它最初存在的理由。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120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流程反转  ·  记录模板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流程反转记录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从结果倒推，重新审视流程的步骤、顺序和必要性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73152" cy="7772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当前流程的主要步骤（3~7 步）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步骤1：______ → 步骤2：______ → 步骤3：______ → 步骤4：______ → 最终结果：______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43200"/>
            <a:ext cx="73152" cy="77724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88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从结果倒推：哪个步骤是实现结果最不可缺的前提？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它目前处于流程的第几步？应该更靠前吗？_______________________________________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11880"/>
            <a:ext cx="73152" cy="7772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可以并行的步骤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可以并行的是步骤___和步骤___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前提条件：____________________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61188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611880"/>
            <a:ext cx="73152" cy="77724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说不清为什么需要的步骤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怀疑的步骤：____________________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最初为解决什么问题？还存在吗？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121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 ·  对你的课题应用目标反转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练习：目标反转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建议从目标反转开始 —— 它最容易上手，通常也最快出结果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57200" y="2423160"/>
            <a:ext cx="8229600" cy="36576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73152" cy="5486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我的目标问题（正向）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____________________________________________________________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21031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14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反转成：怎么让这个问题更严重？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让问题更严重的做法（尽量多列，不加评判）：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____________________________________________________________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____________________________________________________________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____________________________________________________________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____________________________________________________________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____________________________________________________________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122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方法五  ·  COMBINATION INNOVATION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组合创新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大多数有效的创新，是重新组装而不是无中生有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两个方案组合起来，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效果超过它们各自单独的效果之和？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457200" cy="36576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这不是在贬低这类创新 —— 重新组合是最可靠的创新方式，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因为每个组成部分的有效性都已经在其他地方得到了验证，只有组合本身是新的。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123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组合创新  ·  一种被忽视的思路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重新组装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面对十几二十条方案，有一种思路很容易被忽视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12801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这些方案里，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有没有两个或几个组合在一起，效果会超过它们各自单独的效果之和？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组合不只是在"做加法" —— 真正的组合，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是让每个方案的价值在另一个方案的支撑下被放大。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下一页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124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强制组合  ·  三个判断标准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判断一个组合是否有价值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任意取两个来自完全不同类别的方案，强制问：1+1&gt;2？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777240" cy="8229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1920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障碍消除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1671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组合后，有没有某个方案的障碍被另一个方案的推进消除了？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24231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A 创造了方案 B 成功的条件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88920"/>
            <a:ext cx="777240" cy="8229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8892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2834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效果持续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0815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组合后，有没有某个方案的效果变得更可持续了？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33375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B 让方案 A 的成果不会随着时间衰减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03320"/>
            <a:ext cx="777240" cy="8229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0332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3749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路径合并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9959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组合之后，是否能同时解决两个原本需要分别处理的子问题？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4251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合并了解决路径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组合创新  ·  特别有价值的一类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与利益相关方组合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一个技术方案 + 一个利益相关方的资源与影响力 = 组合创新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如果某个关键利益相关方的支持或参与，能让一个原本可行性有限的方案变得完全可行 —— 这本身就是一种组合创新。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8229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73152" cy="17830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71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从你的利益相关方分析里找：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有没有一个利益相关方，他参与某个方案的推进，会让这个方案的可信度产生完全不同的结果？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7947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他的参与，是否会让资源获取变得更顺畅？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2062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他的参与，是否会让其他相关方的接受度发生明显变化？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 ·  强制组合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练习：强制组合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选两个方向不同的方案，强制想象它们同时推进时会发生什么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4023360" cy="3657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A（简述）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4023360" cy="3657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B（简述）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8229600" cy="18745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A 和 B 同时实施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会如何影响 B 的推进效果？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会如何影响 A 的效果可持续性？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组合后，有没有 1+1&gt;2 的可能？为什么？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____________________________________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127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  ·  工具，不是答案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辅助：工具，不是答案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不能替代前面五种方法 —— 它也处于同样的"常规解法"框架里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12801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给出的方案，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通常也是"最常见的做法"。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383280"/>
            <a:ext cx="73152" cy="12801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的"训练数据"来自已有的文字记录，而最多文字记录的，恰恰是最常见的方法。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最有价值的使用方式，是在你用方法一到五完成了框架层面的突破之后，用它来快速填充候选内容。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128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  ·  三种有效场景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三种有效的 AI 使用场景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在你用方法一到五完成框架突破之后，再让 AI 帮你填充内容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5603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2560320" cy="73152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生成跨行业案例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在完成方法三第一步（问题抽象化）之后，用 AI 搜索有类似结构的外部案例。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2194560" cy="777240"/>
          </a:xfrm>
          <a:prstGeom prst="rect">
            <a:avLst/>
          </a:prstGeom>
          <a:solidFill>
            <a:srgbClr val="FAF7F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22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参考提示词结构：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39867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我在解决这样一个问题：[抽象化后的问题]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请给我列举 5~8 个其他行业的典型案例，以及每个案例背后的底层逻辑。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874520"/>
            <a:ext cx="25603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874520"/>
            <a:ext cx="2560320" cy="7315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56616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假约束验证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把一条"做不到"的判断提交给 AI，请它从反方向挑战这个判断。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3794760"/>
            <a:ext cx="2194560" cy="777240"/>
          </a:xfrm>
          <a:prstGeom prst="rect">
            <a:avLst/>
          </a:prstGeom>
          <a:solidFill>
            <a:srgbClr val="FAF7F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822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参考提示词结构：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0" y="39867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我们认为"[某条约束]"是无法改变的。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请告诉我：这个判断在什么情况下可能不成立？有没有其他组织克服了类似限制？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09360" y="1874520"/>
            <a:ext cx="25603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874520"/>
            <a:ext cx="2560320" cy="73152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49224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问题重构的灵感激发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当你自己的重构视角遇到瓶颈时，用 AI 生成更多视角供选择。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3794760"/>
            <a:ext cx="2194560" cy="777240"/>
          </a:xfrm>
          <a:prstGeom prst="rect">
            <a:avLst/>
          </a:prstGeom>
          <a:solidFill>
            <a:srgbClr val="FAF7F4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822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参考提示词结构：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83680" y="39867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以下是我们正在解决的问题：[当前问题陈述]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请给我五种完全不同的方式来重新表述这个问题，每种应指向不同类型的解法方向。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129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8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  ·  三个注意事项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AI 的几个注意事项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加速但不承担判断 —— 关键决策仍需要你自己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777240" cy="88696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777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19202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跨行业案例需自己验证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1945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生成的跨行业案例需要你自己验证其真实性，不能直接作为事实依据引用。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可能虚构看似合理但实际不存在的案例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82296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52928"/>
            <a:ext cx="777240" cy="886968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52928"/>
            <a:ext cx="777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28986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假约束判断结合实际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1729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对"假约束"的判断基于通用规律，不了解你的具体组织情境。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34472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你需要结合实际情况自己确认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31336"/>
            <a:ext cx="82296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31336"/>
            <a:ext cx="777240" cy="88696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31336"/>
            <a:ext cx="777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17320" y="387705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输出也要做质量评估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15137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的输出结果，要放进第二章的"方案分类"流程里做质量评估，而不是因为"AI 说的"就直接采纳。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442569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来源不构成自动背书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第三章（下）换一个视角思考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600" kern="0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 /  第四 + 五章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0" y="18288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从候选到落地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0" y="27432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用依据收敛选择，用系统思维设计组合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3474720"/>
            <a:ext cx="54864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发散之后要收敛，列表之上要组合</a:t>
            </a:r>
            <a:endParaRPr lang="en-US" sz="11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章节导言  / 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发散之后要收敛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你手里现在有了什么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73152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原有方案深化来的方向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73152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12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问题重构找到的新入口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42616"/>
            <a:ext cx="73152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968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打破假约束后的新可能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73152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80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跨行业原理迁移的方案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10712"/>
            <a:ext cx="73152" cy="2743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64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几个方向的重新组合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3840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现在最大的风险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凭感觉选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「看起来最有冲击力」的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3017520"/>
            <a:ext cx="4572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「最可能真正有效」的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收敛需要一个可以依靠的框架 —— 不然你会花大量时间在「感觉怎么样」上，而不是「依据是什么」上。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132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常见陷阱  /  Trap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创意感 ≠ 有效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91440" cy="23774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一个团队经历了一整天的方案探索，产出了很多有意思的候选方向。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会发生什么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大家最兴奋地讨论那个最有创意感的方案，花了大量时间在「听起来很酷」的方向上 ——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7680960" cy="64008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最后发现：</a:t>
            </a:r>
            <a:pPr algn="l" indent="0" marL="0">
              <a:buNone/>
            </a:pPr>
            <a:r>
              <a:rPr lang="en-US" sz="15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这个方向有效性最难验证，可行性也存疑。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23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真正能改变局面的：</a:t>
            </a:r>
            <a:pPr algn="l" indent="0" marL="0">
              <a:buNone/>
            </a:pPr>
            <a:r>
              <a:rPr lang="en-US" sz="13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那个「看起来不够有趣」的方向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4023360"/>
            <a:ext cx="4023360" cy="6400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4023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评估框架：让决策基于依据，而不是感觉。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133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评估框架  / 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每个候选方案，用三个维度来评估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600200" y="2788920"/>
            <a:ext cx="3657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做了这件事，目标会动吗？动多少？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554480"/>
            <a:ext cx="2651760" cy="4572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434840" y="2788920"/>
            <a:ext cx="3657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200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在当前约束下，能真正推进吗？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55448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554480"/>
            <a:ext cx="2651760" cy="4572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2648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突破性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269480" y="2788920"/>
            <a:ext cx="36576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200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相比常规方案，真正的不同是什么？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三维评估 + 可行性筛选 → 决定每个方案的位置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134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  /  Dimension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365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73152" cy="9144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做了这件事，目标会动吗？动多少？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从一个方案的 三个角度 检查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对应指标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它和你的指标体系有对应吗？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38328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3520440"/>
            <a:ext cx="365760" cy="36576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支撑依据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成功案例或清晰因果逻辑？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38328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520440"/>
            <a:ext cx="365760" cy="36576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vs 行动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处理根因还是症状？可持续吗？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135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有效性的三种检查  /  Three Angles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一个方案是否有效，问这三件事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它针对的是哪个引领性指标？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75564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如果找不到与对事分析中指标体系的对应关系，需要认真想一下 —— 这个方案究竟在解决什么问题？没有对应指标的方案，可能在解决一个并不是那么重要的问题。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640080" cy="6400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4688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它有没有支撑性的依据？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80720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可以是类似情境的成功案例（哪怕来自其他行业），也可以是清晰的因果逻辑 —— 做了 A，为什么会导致 B，为什么 B 会让指标改善？依据链条说不清楚，方案的有效性就值得怀疑。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5204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它在处理根本原因，还是症状？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85876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效果是一次性的，还是可以持续的？能够形成持续运作机制的方案，比需要持续推动才能维持效果的方案，有效性更高。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136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核心论断  /  Key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从「做什么」到「形成什么机制」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机制型方案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spc="6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优先于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行动型方案。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54864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能够形成持续运作机制的方案，比需要持续推动才能维持效果的方案，有效性更高。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137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维度二  /  Dimension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365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73152" cy="9144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在当前的资源、权限、时间约束下，能真正推进吗？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一个常被忽视的关键点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00400"/>
            <a:ext cx="91440" cy="13716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可行性不能单独评估，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必须结合利益相关方分析。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很多「看起来不可行」的方案，其实只是「目前没有关键利益相关方的支持」。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138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  /  Feasibility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可行性受限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不是「这个方案不可行」的结论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4864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是「需要先解决利益相关方问题」的信号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把可行性受限的好方案直接划掉，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是最常见的决策失误之一。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139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  /  Dimension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365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突破性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73152" cy="9144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相比现有的常规方案，真正的不同在哪里？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为什么这次会有效？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这个维度是专门防止 ——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13258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把常规方案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包装成创新方案。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突破性低 = 没改变问题入口或系统条件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140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判断突破性  /  Three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判断突破性的三个问题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594360" cy="59436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17320" y="1508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如果三年前有人想到这个方案，为什么没有做？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874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如果答案是「不知道，可能只是被遗漏了」—— 那这只是个被忽视的常规方案，不是真正突破性的方向。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79192"/>
            <a:ext cx="594360" cy="59436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791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17320" y="25877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它改变的是症状，还是产生症状的系统条件？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95351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改变系统条件的方案，才是真正有突破性的。改症状是治标，改系统条件才是治本。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75304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58184"/>
            <a:ext cx="594360" cy="59436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581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17320" y="36667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做了这个方案，哪些其他问题会顺带被解决？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03250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真正有系统性的方案会产生「顺带解决」的效应 —— 它改变的是更底层的条件，而不只是一个表面的问题。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141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评估矩阵  /  Matrix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 × 突破性 = 方案定位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突破性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691640"/>
            <a:ext cx="338328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691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改变了问题入口或系统条件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0" y="1691640"/>
            <a:ext cx="3383280" cy="45720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91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148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在现有框架内，常规方向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914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 效 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36576" cy="17373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4" name="Shape 12"/>
          <p:cNvSpPr/>
          <p:nvPr/>
        </p:nvSpPr>
        <p:spPr>
          <a:xfrm>
            <a:off x="1463040" y="2468880"/>
            <a:ext cx="33832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6B0F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2880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优先推进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468880"/>
            <a:ext cx="33832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29200" y="2880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保留推进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463040" y="3383280"/>
            <a:ext cx="33832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23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3794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设计验证实验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3383280"/>
            <a:ext cx="33832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C5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29200" y="3794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暂不投入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5F0E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提示：可行性是筛选条件，不是打分维度 —— 先用可行性筛选，再进矩阵。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142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矩阵象限  /  ★★★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365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★★★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三星方案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高有效性  +  高突破性  =  优先推进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91440" cy="13716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这是你在这个模块里要找的东西 ——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有依据，能真正改变局面，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区别于当前常规方案的方向。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它往往就是 ——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第二章识别的第三类（覆盖空白）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48840" y="4023360"/>
            <a:ext cx="1554480" cy="548640"/>
          </a:xfrm>
          <a:prstGeom prst="rect">
            <a:avLst/>
          </a:prstGeom>
          <a:solidFill>
            <a:srgbClr val="F5F0EC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402336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第三章方法填补的新方向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4023360"/>
            <a:ext cx="1554480" cy="548640"/>
          </a:xfrm>
          <a:prstGeom prst="rect">
            <a:avLst/>
          </a:prstGeom>
          <a:solidFill>
            <a:srgbClr val="F5F0EC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4023360"/>
            <a:ext cx="1554480" cy="54864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★★★三星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143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矩阵象限  /  ★★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365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二星方案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高有效性  +  低突破性  =  有效且扎实的常规方案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65960"/>
            <a:ext cx="91440" cy="137160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这类方案应该被保留 ——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它们对应的正是你第二章里的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「第一类：有效直接保留」。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不要因为不够新，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就放弃它们。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144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矩阵象限  /  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365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一星方案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有效性待验证  +  高突破性  =  设计验证实验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65960"/>
            <a:ext cx="91440" cy="12801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这种情况的出现，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通常不是因为方案本身没价值，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而是因果逻辑还没有说清楚。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处理方式：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不是直接放弃，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而是设计一个最小可验证的实验。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145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 /  Exercise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评估你的候选方案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92608" cy="292608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把你的候选方案（来自第三章发散 + 第二章保留的第一类）逐一进行评估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92608" cy="292608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240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先做可行性筛选 —— 可行性高的进入矩阵；可行性受限的，先放进「可行性提升路径」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92608" cy="292608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697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对进入矩阵的方案做 ★★★ / ★★ / ★ / ✗ 的判断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292608" cy="292608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54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先各自独立填写，不要互相讨论，15~20 分钟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292608" cy="292608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611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完成后两人一组互相分享 —— 重点讨论有分歧的地方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 关于「有效性」的常见困惑 —— 见下一页示例。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146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工作表  /  Worksheet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候选方案评估表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286000" cy="411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方案简述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463040"/>
            <a:ext cx="914400" cy="411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1463040"/>
            <a:ext cx="1463040" cy="411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463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受限需谁改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1463040"/>
            <a:ext cx="914400" cy="411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914400" cy="411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1463040"/>
            <a:ext cx="1005840" cy="411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1463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87452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187452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187452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187452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87452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1874520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25856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225856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225856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225856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25856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2258568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64261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264261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2642616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0" y="264261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264261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9440" y="264261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02666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302666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0" y="302666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0640" y="302666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302666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3026664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410712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0" y="341071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0" y="341071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20640" y="341071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341071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49440" y="3410712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79476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0" y="379476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0" y="379476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20640" y="379476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35040" y="379476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49440" y="3794760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 示例行参考：见下一页（账单异常自动检测）。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可行性「受限」≠ 直接划掉：记录需要谁改变立场、什么策略推动。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56" name="Shape 54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147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 / 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示例：账单异常自动检测机制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286000" cy="411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方案简述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417320"/>
            <a:ext cx="914400" cy="411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417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1417320"/>
            <a:ext cx="1463040" cy="411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417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受限需谁改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1417320"/>
            <a:ext cx="914400" cy="411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417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914400" cy="411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417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1417320"/>
            <a:ext cx="1005840" cy="4114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1417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82880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账单异常自动检测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0" y="182880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182880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IT部门负责人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182880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182880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182880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★★★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为什么这样评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3063240"/>
            <a:ext cx="73152" cy="4114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可行性：受限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26080" y="30632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 IT 部门支持，当前立场不明确 —— 先推进利益相关方工作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566160"/>
            <a:ext cx="73152" cy="4114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566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有效性：高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26080" y="35661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账单问题是 60% 投诉的根源；解决根源比解决处理速度效果更持续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069080"/>
            <a:ext cx="73152" cy="4114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069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突破性：高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926080" y="40690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现有方案完全没有触碰账单问题 —— 改变的是问题入口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 ★★★ —— 但需先推进利益相关方工作，让可行性发生改变。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42" name="Shape 4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148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受限方案  /  Constrained Option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不要放弃，找到让它变得可行的路径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31089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37360" y="1627632"/>
            <a:ext cx="6766560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可行性受限的原因：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7772400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需要哪个利益相关方改变立场：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 / 角色：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2807208"/>
            <a:ext cx="6126480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当前立场：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3127248"/>
            <a:ext cx="6126480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可能的策略（回到利益相关方分析）：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7772400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前置条件：做什么之后，可行性会改变？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160520"/>
            <a:ext cx="7772400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对每个因可行性受限而暂时无法进入矩阵的 ★★★ 方案，做以上记录。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149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 /  Chapter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为什么需要「组合」而不是「列表」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评估之后，你有一些被筛选出来的方案。把它们列成一张表，看起来像是完成了 ——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但这张表还不是方案组合。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23160"/>
            <a:ext cx="4023360" cy="4572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每条方案是独立的 ——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每条方案解决自己的那个问题。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可能改了这里，坏了那里。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42316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423160"/>
            <a:ext cx="402336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方案之间是系统的 ——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有前后顺序、有互相依赖、有合力。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产生单个方案无法实现的效果。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现实中的问题是系统性的，单个方案往往效果有限。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150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核心区别  /  Difference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 ≠ 组合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2880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1554480"/>
            <a:ext cx="320040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1554480"/>
            <a:ext cx="3200400" cy="4572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1828800" cy="502920"/>
          </a:xfrm>
          <a:prstGeom prst="rect">
            <a:avLst/>
          </a:prstGeom>
          <a:solidFill>
            <a:srgbClr val="F5F0EC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方案关系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201168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相互独立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201168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互相依赖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1828800" cy="502920"/>
          </a:xfrm>
          <a:prstGeom prst="rect">
            <a:avLst/>
          </a:prstGeom>
          <a:solidFill>
            <a:srgbClr val="F5F0EC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时序安排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251460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/ 同时推进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0" y="251460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有先后顺序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828800" cy="502920"/>
          </a:xfrm>
          <a:prstGeom prst="rect">
            <a:avLst/>
          </a:prstGeom>
          <a:solidFill>
            <a:srgbClr val="F5F0EC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合力方向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301752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各自指向不同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0" y="301752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指向同一目标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1828800" cy="502920"/>
          </a:xfrm>
          <a:prstGeom prst="rect">
            <a:avLst/>
          </a:prstGeom>
          <a:solidFill>
            <a:srgbClr val="F5F0EC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变更风险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0" y="352044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改了这里坏了那里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0" y="352044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整体协同演进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把方案放在一起做三个一致性检查 —— 把列表升级为组合。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151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一致性检查 01  /  Check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365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检查一：方案之间是否互相支撑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有没有方案 A 的成功依赖方案 B 先完成？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556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这种依赖关系决定了时序安排。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640080" cy="6400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34440" y="24231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有没有方案 A 和方案 C 同时推进会产生冲突？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76148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冲突可能来自资源争夺（同一批人），也可能来自方向矛盾（假设不兼容）。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640080" cy="6400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34440" y="34290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所有方案的合力，是不是指向同一个目标？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76732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还是各自指向不同的方向，只是出现在同一张纸上？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合力 &gt; 单点 ——  三个问题问完，方案的相互关系就清楚了。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152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一致性检查 02  /  Check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365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检查二：方案与指标的覆盖关系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把你的所有引领性指标列出来，对照每个方案能影响哪些指标。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91440" cy="24688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覆盖空白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有没有某个指标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完全没有方案对应？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如果有 ——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需要补充方案，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或者接受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「这个指标我们目前没有能力覆盖」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92024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920240"/>
            <a:ext cx="91440" cy="246888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 资源不均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有没有某个指标被过多方案同时覆盖，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而另一个关键指标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只有一个弱的方案？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如果是这样 ——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资源分配可能不均衡。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指标的覆盖 = 组合的完整性。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153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一致性检查 03  /  Check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0" y="3657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检查三：时序安排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不是所有方案都可以同时推进，也不是等一切准备好再启动。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457200" cy="11887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打基础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短期优先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必须先做，为后续创造条件。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9202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920240"/>
            <a:ext cx="457200" cy="11887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92024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25780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快速见效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短期优先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短期内建立信心、验证方向。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46120"/>
            <a:ext cx="457200" cy="11887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461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05156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依赖前期积累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中期延伸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需要等基础完成才能推进。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2461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246120"/>
            <a:ext cx="457200" cy="11887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2461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525780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依赖相关方立场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中期延伸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需要等关键人立场转变。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把这四类方案分别归入不同时间段，就形成了组合的逻辑结构。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154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最终模板  /  Final Template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最终方案组合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1463040" cy="105156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个月内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打基础的方案  +  ■ 快速见效的方案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1508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[方案名]  →  目的 / 创造条件 / 验证假设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[方案名]  →  目的 / 创造条件 / 验证假设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2286000"/>
            <a:ext cx="6400800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23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14600"/>
            <a:ext cx="1463040" cy="105156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3~12 个月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依赖积累 + ■ 依赖相关方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[方案名]  →  依赖前提 / 立场变化 / 当前策略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[方案名]  →  依赖前提 / 立场变化 / 当前策略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03120" y="3429000"/>
            <a:ext cx="6400800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657600"/>
            <a:ext cx="1463040" cy="9144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搁置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3657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有效但当前不可行（记录改变条件）  /  ■ 可行但影响有限（保留记录）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这份组合 = 你进入行动策略阶段的核心输入。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155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写在最后  /  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你现在有了什么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完成这套文档的工作之后，你有了一份不只是「事项清单」的方案组合。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说清楚为什么进来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它针对的是哪个影响因素，解决的是什么层次的问题，有什么依据支撑它会有效。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0574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148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说清楚为什么这时做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哪些要先做，哪些要后做，哪些需要某些前提条件 —— 顺序背后的逻辑。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说清楚哪些暂时不做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以及什么情况下会重新考虑 —— 这不是失败，而是战略选择。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383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7784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说清楚这组方案与你的分析之间的联系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794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不是头脑风暴产出的感觉不错的想法，而是从对事分析的突破口出发。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这就是「做了会真正改变局面」的方案组合。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156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能说清楚  /  Clarity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一份好的方案组合，「暂时不做」与「要做」同样重要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你能说清楚 ——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每条方案为什么进来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30428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针对哪个影响因素 / 解决什么层次 / 有什么依据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463040" y="27432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每条方案为什么这时做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08152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哪些先 / 哪些后 / 哪些需要什么前提条件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1463040" y="35204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哪些暂时不做 + 什么情况会重新考虑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8587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战略选择，不是失败 —— 记录条件的变化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最重要的是 —— 这组方案和你的分析之间的联系。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157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  /  Core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3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 第四、五章核心认知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评估不是筛掉创意，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而是把感觉换成依据。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54864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可行性受限不是放弃的理由，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而是回到利益相关方分析的信号。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54864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方案组合的价值，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在于它们放在一起形成了一个指向同一目标、互相支撑、有合理时序的系统。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158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  /  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完成这套文档，你应该带走以下产出物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600200" cy="5486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方案分类表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3246120"/>
            <a:ext cx="32004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1554480"/>
            <a:ext cx="1600200" cy="5486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1554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240280" y="219456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问题重构/假设审计表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88920" y="3246120"/>
            <a:ext cx="32004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6" name="Text 14"/>
          <p:cNvSpPr/>
          <p:nvPr/>
        </p:nvSpPr>
        <p:spPr>
          <a:xfrm>
            <a:off x="2240280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1554480"/>
            <a:ext cx="1600200" cy="5486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1554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31920" y="219456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外部视角/逆向思维记录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80560" y="3246120"/>
            <a:ext cx="32004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0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3212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1554480"/>
            <a:ext cx="1600200" cy="5486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5" name="Text 23"/>
          <p:cNvSpPr/>
          <p:nvPr/>
        </p:nvSpPr>
        <p:spPr>
          <a:xfrm>
            <a:off x="5532120" y="1554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623560" y="219456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候选方案评估表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3246120"/>
            <a:ext cx="32004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8" name="Text 26"/>
          <p:cNvSpPr/>
          <p:nvPr/>
        </p:nvSpPr>
        <p:spPr>
          <a:xfrm>
            <a:off x="5623560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2376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1554480"/>
            <a:ext cx="1600200" cy="54864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1554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315200" y="219456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最终方案组合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863840" y="3246120"/>
            <a:ext cx="32004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0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这五份东西，加上目标体系、对事分析、利益相关方分析 ——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构成一个完整的、有内在逻辑联系的课题推进方案。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159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写给最后  /  One Last Thing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你不需要等所有方案都确定好了再出发。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好的方案组合是在行动中不断校准的，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不是在桌子前完全想清楚的。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4572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你现在有了一个足够扎实的起点 ——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带着它出发，然后根据真实推进中看到的情况，持续调整。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写给最后一个页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160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第四五章 从候选到落地</a:t>
            </a:r>
            <a:endParaRPr lang="en-US" sz="9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写在最后  / 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我们一起走过的路 ——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从看清天花板，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到走出一条真正有效的解法。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114800" y="3794760"/>
            <a:ext cx="91440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 → 换假设 → 换视角 → 评估 → 组合 → 出发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不是要创新，是要找到真正有效的解法。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161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写在最后</a:t>
            </a:r>
            <a:endParaRPr lang="en-US" sz="9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方法回顾  /  Five Methods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五种重新思考的方法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当常规方向走不通时，你还有这些方法可以尝试。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1600200" cy="7315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问题重构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3246120"/>
            <a:ext cx="32004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往深走 / 往上走 / 横向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48840" y="192024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8840" y="1920240"/>
            <a:ext cx="1600200" cy="7315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19202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240280" y="2743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假设挑战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88920" y="3246120"/>
            <a:ext cx="32004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8" name="Text 16"/>
          <p:cNvSpPr/>
          <p:nvPr/>
        </p:nvSpPr>
        <p:spPr>
          <a:xfrm>
            <a:off x="2240280" y="33375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做不到清单 / 重新审视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4114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第三章上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0" y="192024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1920240"/>
            <a:ext cx="1600200" cy="7315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19202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931920" y="2743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外部视角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480560" y="3246120"/>
            <a:ext cx="32004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33375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陌生人 / 跨行业 / 极端用户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0" y="4114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第三章下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32120" y="192024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1920240"/>
            <a:ext cx="1600200" cy="7315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19202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623560" y="2743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逆向思维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172200" y="3246120"/>
            <a:ext cx="32004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2" name="Text 30"/>
          <p:cNvSpPr/>
          <p:nvPr/>
        </p:nvSpPr>
        <p:spPr>
          <a:xfrm>
            <a:off x="5623560" y="33375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受益方 / 流程反转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4114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第三章下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23760" y="192024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1920240"/>
            <a:ext cx="1600200" cy="7315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0" y="19202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315200" y="2743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组合创新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863840" y="3246120"/>
            <a:ext cx="320040" cy="27432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0" y="33375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重新组装 / 强制组合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0" y="4114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每一种方法的本质 —— 都是跳出同一套假设。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43" name="Shape 41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162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写在最后</a:t>
            </a:r>
            <a:endParaRPr lang="en-US" sz="9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核心心法  /  Heart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带走这套课的全部心法。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不是因为人不够努力，而是所有人都在同一套假设里思考。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97280" y="3383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评估不是筛掉创意，而是把感觉换成依据。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823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97280" y="3931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方案组合的价值，在于它们放在一起形成了一个系统。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 把它们记在心里，比记在笔记里更重要。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163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写在最后</a:t>
            </a:r>
            <a:endParaRPr lang="en-US" sz="9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回到原点  /  Back to Origin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0" b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4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不是要创新，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而是要找到真正有效的解法。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914400" y="3611880"/>
            <a:ext cx="548640" cy="54864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这是这门课的核心，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也是这 168 页的全部意义。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164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写在最后</a:t>
            </a:r>
            <a:endParaRPr lang="en-US" sz="9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出发  /  Go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带着方案组合，出发。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91440" cy="18288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一份不只是「事项清单」的方案组合 ——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每条方案为什么进来、为什么这时做、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哪些暂时不做 ——  全部说得清楚。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带着它进入最终行动策略的制定 ——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带着方案组合，进入最终行动策略的制定。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好的方案组合，是在行动中不断校准的，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不是在桌子前完全想清楚的。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956048"/>
            <a:ext cx="2743200" cy="18288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4956048"/>
            <a:ext cx="2743200" cy="18288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92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  /  165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49926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写在最后</a:t>
            </a:r>
            <a:endParaRPr lang="en-US" sz="9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731520"/>
            <a:ext cx="128016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1097280"/>
            <a:ext cx="731520" cy="7315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0" y="2194560"/>
            <a:ext cx="457200" cy="457200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D4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AL-2026-01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回到原点 ——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不是要创新，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而是要找到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真正有效的解法。</a:t>
            </a:r>
            <a:endParaRPr lang="en-US" sz="50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45720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行动学习 · 创新解决方案</a:t>
            </a:r>
            <a:endParaRPr lang="en-US" sz="13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课程闭环  /  The Complete Path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 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走过的路，构成的回路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075688"/>
            <a:ext cx="868680" cy="54864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看清天花板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40280" y="1828800"/>
            <a:ext cx="548640" cy="5486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88920" y="2075688"/>
            <a:ext cx="868680" cy="54864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4" name="Text 12"/>
          <p:cNvSpPr/>
          <p:nvPr/>
        </p:nvSpPr>
        <p:spPr>
          <a:xfrm>
            <a:off x="187452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系统盘点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0" y="1828800"/>
            <a:ext cx="548640" cy="54864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06240" y="2075688"/>
            <a:ext cx="868680" cy="54864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换一套假设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1828800"/>
            <a:ext cx="548640" cy="5486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23560" y="2075688"/>
            <a:ext cx="868680" cy="54864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换一个视角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6B0F0F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40880" y="2075688"/>
            <a:ext cx="868680" cy="54864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第四+五章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评估与组合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09560" y="1828800"/>
            <a:ext cx="548640" cy="548640"/>
          </a:xfrm>
          <a:prstGeom prst="ellipse">
            <a:avLst/>
          </a:prstGeom>
          <a:solidFill>
            <a:srgbClr val="B8232C"/>
          </a:solidFill>
          <a:ln/>
        </p:spPr>
      </p:sp>
      <p:sp>
        <p:nvSpPr>
          <p:cNvPr id="32" name="Text 30"/>
          <p:cNvSpPr/>
          <p:nvPr/>
        </p:nvSpPr>
        <p:spPr>
          <a:xfrm>
            <a:off x="79095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54380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43800" y="2743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出发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3657600"/>
            <a:ext cx="457200" cy="36576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794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B823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不是分析本身，而是带着方案真正改变局面 ——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这是终点，也是新的起点。</a:t>
            </a:r>
            <a:endParaRPr lang="en-US" sz="16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5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4630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00" kern="0" dirty="0">
                <a:solidFill>
                  <a:srgbClr val="D4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页  /  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3716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474720" y="2286000"/>
            <a:ext cx="548640" cy="45720"/>
          </a:xfrm>
          <a:prstGeom prst="rect">
            <a:avLst/>
          </a:prstGeom>
          <a:solidFill>
            <a:srgbClr val="B8232C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2468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感谢你 168 页的同行。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2926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感谢你的认真、你的思考、你的行动 ——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3246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也感谢所有让这门课成为可能的人 ——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愿意面对真问题的人，都是勇敢的人。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4023360"/>
            <a:ext cx="914400" cy="36576"/>
          </a:xfrm>
          <a:prstGeom prst="rect">
            <a:avLst/>
          </a:prstGeom>
          <a:solidFill>
            <a:srgbClr val="D4C5BE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4114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创新解决方案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4434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授课版本  /  第二版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168</Slides>
  <Notes>168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168</vt:i4>
      </vt:variant>
    </vt:vector>
  </HeadingPairs>
  <TitlesOfParts>
    <vt:vector size="1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</vt:vector>
  </TitlesOfParts>
  <Company>行动学习2026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行动学习 - 创新解决方案</dc:title>
  <dc:subject>不是要创新，是要找到真正有效的解法</dc:subject>
  <dc:creator>罗宏伟</dc:creator>
  <cp:lastModifiedBy>罗宏伟</cp:lastModifiedBy>
  <cp:revision>1</cp:revision>
  <dcterms:created xsi:type="dcterms:W3CDTF">2026-06-01T05:24:25Z</dcterms:created>
  <dcterms:modified xsi:type="dcterms:W3CDTF">2026-06-01T05:24:25Z</dcterms:modified>
</cp:coreProperties>
</file>