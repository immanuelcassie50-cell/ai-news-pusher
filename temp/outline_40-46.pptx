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680000">
            <a:off x="761933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 rot="-1680000">
            <a:off x="6857781" y="4206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02920" y="685800"/>
            <a:ext cx="384048" cy="384048"/>
          </a:xfrm>
          <a:prstGeom prst="ellipse">
            <a:avLst/>
          </a:prstGeom>
          <a:solidFill>
            <a:srgbClr val="F7F4EC"/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85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4984" y="7315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AD3F6E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" y="7315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55448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AD3F6E">
                    <a:alpha val="1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</a:t>
            </a:r>
            <a:endParaRPr lang="en-US" sz="19000" dirty="0"/>
          </a:p>
        </p:txBody>
      </p:sp>
      <p:sp>
        <p:nvSpPr>
          <p:cNvPr id="9" name="Text 7"/>
          <p:cNvSpPr/>
          <p:nvPr/>
        </p:nvSpPr>
        <p:spPr>
          <a:xfrm>
            <a:off x="3931920" y="1691640"/>
            <a:ext cx="7756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给内训师和管理者的应用指南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931920" y="2331720"/>
            <a:ext cx="7756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方法迁移：从课堂到组织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本模块你将能做到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3246120"/>
            <a:ext cx="77568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4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把课程工具迁移到实际管理场景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4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识别组织内的四类信任塌陷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4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在现场触发可落地的行动计划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罗宏伟老师 版权所有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组织信任管理　·　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680000">
            <a:off x="761933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 rot="-1680000">
            <a:off x="6857781" y="4206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课程全景：三个模块的收成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9069" y="2240280"/>
            <a:ext cx="822960" cy="822960"/>
          </a:xfrm>
          <a:prstGeom prst="ellipse">
            <a:avLst/>
          </a:prstGeom>
          <a:solidFill>
            <a:srgbClr val="F7F4EC"/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9069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开场框架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05805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五根柱子撑起信任结构 / 四类塌陷定位组织病灶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8218" y="187452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84368" y="2240280"/>
            <a:ext cx="822960" cy="822960"/>
          </a:xfrm>
          <a:prstGeom prst="ellipse">
            <a:avLst/>
          </a:prstGeom>
          <a:solidFill>
            <a:srgbClr val="F7F4EC"/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4368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1098" y="329184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案例拆解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6818" y="3749040"/>
            <a:ext cx="305805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遇见小面 · 福喜 · 瑞幸 · AI转型 / 真实企业的信任崩塌路径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73517" y="1874520"/>
            <a:ext cx="3515258" cy="42062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19666" y="2240280"/>
            <a:ext cx="822960" cy="822960"/>
          </a:xfrm>
          <a:prstGeom prst="ellipse">
            <a:avLst/>
          </a:prstGeom>
          <a:solidFill>
            <a:srgbClr val="F7F4EC"/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9666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56397" y="329184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工具落地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02117" y="3749040"/>
            <a:ext cx="305805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体检表：五维打分 / 七问：追问机制 / 迁移清单：落地步骤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罗宏伟老师 版权所有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组织信任管理　·　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680000">
            <a:off x="761933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 rot="-1680000">
            <a:off x="6857781" y="4206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信任的三层关系：画布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组织内的三类信任触点，一张纸看清楚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" y="1837944"/>
            <a:ext cx="3618890" cy="1970532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27141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对客户的信任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6402" y="1837944"/>
            <a:ext cx="3618890" cy="1970532"/>
          </a:xfrm>
          <a:prstGeom prst="roundRect">
            <a:avLst>
              <a:gd name="adj" fmla="val 2784"/>
            </a:avLst>
          </a:prstGeom>
          <a:solidFill>
            <a:srgbClr val="EFE9DA"/>
          </a:solidFill>
          <a:ln w="19050">
            <a:solidFill>
              <a:srgbClr val="A97E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0138" y="196596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31538" y="2365553"/>
            <a:ext cx="3728618" cy="728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05858" y="3197657"/>
            <a:ext cx="3179978" cy="582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能力可靠是信任的基石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5021" y="1837944"/>
            <a:ext cx="3618890" cy="1970532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19050">
            <a:solidFill>
              <a:srgbClr val="2E7D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8757" y="196596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8757" y="2331720"/>
            <a:ext cx="327141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程序公平是信任的保障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" y="3918204"/>
            <a:ext cx="3618890" cy="1970532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4622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411980"/>
            <a:ext cx="327141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对员工的信任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86402" y="3918204"/>
            <a:ext cx="3618890" cy="1970532"/>
          </a:xfrm>
          <a:prstGeom prst="roundRect">
            <a:avLst>
              <a:gd name="adj" fmla="val 2784"/>
            </a:avLst>
          </a:prstGeom>
          <a:solidFill>
            <a:srgbClr val="EFE9DA"/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0138" y="404622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31538" y="4445813"/>
            <a:ext cx="3728618" cy="728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505858" y="5277917"/>
            <a:ext cx="3179978" cy="582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责任承担是信任的兑现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15021" y="3918204"/>
            <a:ext cx="3618890" cy="1970532"/>
          </a:xfrm>
          <a:prstGeom prst="roundRect">
            <a:avLst>
              <a:gd name="adj" fmla="val 2784"/>
            </a:avLst>
          </a:prstGeom>
          <a:solidFill>
            <a:srgbClr val="FFFFFF"/>
          </a:solidFill>
          <a:ln w="19050">
            <a:solidFill>
              <a:srgbClr val="B34A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8757" y="4046220"/>
            <a:ext cx="32714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88757" y="4411980"/>
            <a:ext cx="3271418" cy="130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对伙伴的信任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6080760"/>
            <a:ext cx="11185855" cy="502920"/>
          </a:xfrm>
          <a:prstGeom prst="roundRect">
            <a:avLst>
              <a:gd name="adj" fmla="val 10909"/>
            </a:avLst>
          </a:prstGeom>
          <a:solidFill>
            <a:srgbClr val="EDEBE3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08076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每一格都是行动起点：先选一个最近、最痛的触点切入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罗宏伟老师 版权所有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组织信任管理　·　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680000">
            <a:off x="761933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 rot="-1680000">
            <a:off x="6857781" y="4206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组织信任的四个坑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556434" cy="4206240"/>
          </a:xfrm>
          <a:prstGeom prst="roundRect">
            <a:avLst>
              <a:gd name="adj" fmla="val 357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69657" y="2240280"/>
            <a:ext cx="822960" cy="822960"/>
          </a:xfrm>
          <a:prstGeom prst="ellipse">
            <a:avLst/>
          </a:prstGeom>
          <a:solidFill>
            <a:srgbClr val="F7F4EC"/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69657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把信任当宣传任务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09923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贴海报、喊口号、开大会——情绪过去了，信任还在原地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79394" y="1874520"/>
            <a:ext cx="2556434" cy="4206240"/>
          </a:xfrm>
          <a:prstGeom prst="roundRect">
            <a:avLst>
              <a:gd name="adj" fmla="val 357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46131" y="2240280"/>
            <a:ext cx="822960" cy="822960"/>
          </a:xfrm>
          <a:prstGeom prst="ellipse">
            <a:avLst/>
          </a:prstGeom>
          <a:solidFill>
            <a:srgbClr val="F7F4EC"/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6131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2274" y="329184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把合规当全部正当性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7994" y="3749040"/>
            <a:ext cx="209923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以为通过了审计就等于获得了信任，合规是底线而非上限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5868" y="1874520"/>
            <a:ext cx="2556434" cy="4206240"/>
          </a:xfrm>
          <a:prstGeom prst="roundRect">
            <a:avLst>
              <a:gd name="adj" fmla="val 357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2604" y="2240280"/>
            <a:ext cx="822960" cy="822960"/>
          </a:xfrm>
          <a:prstGeom prst="ellipse">
            <a:avLst/>
          </a:prstGeom>
          <a:solidFill>
            <a:srgbClr val="F7F4EC"/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2604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38748" y="329184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只在危机后讨论信任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84468" y="3749040"/>
            <a:ext cx="209923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出事了才想起信任建设，平时觉得可有可无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32341" y="1874520"/>
            <a:ext cx="2556434" cy="4206240"/>
          </a:xfrm>
          <a:prstGeom prst="roundRect">
            <a:avLst>
              <a:gd name="adj" fmla="val 3577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99078" y="2240280"/>
            <a:ext cx="822960" cy="822960"/>
          </a:xfrm>
          <a:prstGeom prst="ellipse">
            <a:avLst/>
          </a:prstGeom>
          <a:solidFill>
            <a:srgbClr val="F7F4EC"/>
          </a:solidFill>
          <a:ln w="19050">
            <a:solidFill>
              <a:srgbClr val="AD3F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9078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15221" y="3291840"/>
            <a:ext cx="21906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把员工沉默当认同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60941" y="3749040"/>
            <a:ext cx="209923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没人提意见不等于大家都认可，可能是防御性沉默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罗宏伟老师 版权所有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组织信任管理　·　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680000">
            <a:off x="761933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 rot="-1680000">
            <a:off x="6857781" y="4206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02920" y="594360"/>
            <a:ext cx="384048" cy="384048"/>
          </a:xfrm>
          <a:prstGeom prst="ellipse">
            <a:avLst/>
          </a:prstGeom>
          <a:solidFill>
            <a:srgbClr val="F7F4EC"/>
          </a:solidFill>
          <a:ln w="19050">
            <a:solidFill>
              <a:srgbClr val="4F5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4984" y="6400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4F5FB5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" y="6400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设计选择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防御心理管理：四个设计选择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63840" y="109728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0" b="1" dirty="0">
                <a:solidFill>
                  <a:srgbClr val="EFE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</a:t>
            </a:r>
            <a:endParaRPr lang="en-US" sz="210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■"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案例做远近搭配 —— 远的案例降低代入防御，近的案例触发真实反思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■"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讲机制不讲人品 —— 讨论系统问题而非个人道德，避免现场对抗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■"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收尾故意不点名 —— 给当事人留台阶，保留后续改变的空间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Char char="■"/>
            </a:pPr>
            <a:r>
              <a:rPr lang="en-US" sz="1500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只给问题不给结论 —— 让学员自己得出答案，接受度高于被告知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罗宏伟老师 版权所有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组织信任管理　·　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680000">
            <a:off x="761933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 rot="-1680000">
            <a:off x="6857781" y="4206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0584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E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271455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E9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280160" y="2286000"/>
            <a:ext cx="963137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企业真正要管理的，不是舆情，而是权力。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393192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信任问题的本质是权力结构问题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罗宏伟老师 版权所有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组织信任管理　·　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680000">
            <a:off x="761933" y="11887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 rot="-1680000">
            <a:off x="6857781" y="42062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A97AB">
                    <a:alpha val="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-1097280" y="3749040"/>
            <a:ext cx="4206240" cy="4206240"/>
          </a:xfrm>
          <a:prstGeom prst="ellipse">
            <a:avLst/>
          </a:prstGeom>
          <a:solidFill>
            <a:srgbClr val="EFE9DA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103120"/>
            <a:ext cx="92656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3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463040" y="3063240"/>
            <a:ext cx="92656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信任不能被要求，只能被赢得——从下一次真实互动开始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00120" y="3593592"/>
            <a:ext cx="768096" cy="768096"/>
          </a:xfrm>
          <a:prstGeom prst="ellipse">
            <a:avLst/>
          </a:prstGeom>
          <a:solidFill>
            <a:srgbClr val="F7F4EC"/>
          </a:solidFill>
          <a:ln w="12700">
            <a:solidFill>
              <a:srgbClr val="A97E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120" y="35935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7E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5960" y="3593592"/>
            <a:ext cx="768096" cy="768096"/>
          </a:xfrm>
          <a:prstGeom prst="ellipse">
            <a:avLst/>
          </a:prstGeom>
          <a:solidFill>
            <a:srgbClr val="F7F4EC"/>
          </a:solidFill>
          <a:ln w="12700">
            <a:solidFill>
              <a:srgbClr val="2E7D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5960" y="35935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11800" y="3593592"/>
            <a:ext cx="768096" cy="768096"/>
          </a:xfrm>
          <a:prstGeom prst="ellipse">
            <a:avLst/>
          </a:prstGeom>
          <a:solidFill>
            <a:srgbClr val="F7F4EC"/>
          </a:solidFill>
          <a:ln w="12700">
            <a:solidFill>
              <a:srgbClr val="B34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1800" y="35935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4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17640" y="3593592"/>
            <a:ext cx="768096" cy="768096"/>
          </a:xfrm>
          <a:prstGeom prst="ellipse">
            <a:avLst/>
          </a:prstGeom>
          <a:solidFill>
            <a:srgbClr val="F7F4EC"/>
          </a:solidFill>
          <a:ln w="12700">
            <a:solidFill>
              <a:srgbClr val="4F5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35935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5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23480" y="3593592"/>
            <a:ext cx="768096" cy="768096"/>
          </a:xfrm>
          <a:prstGeom prst="ellipse">
            <a:avLst/>
          </a:prstGeom>
          <a:solidFill>
            <a:srgbClr val="F7F4EC"/>
          </a:solidFill>
          <a:ln w="12700">
            <a:solidFill>
              <a:srgbClr val="AD3F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3480" y="359359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3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89204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主讲人 · 版权：罗宏伟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罗宏伟老师 版权所有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A82">
                    <a:alpha val="6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组织信任管理　·　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2026-08-17T12:56:28Z</dcterms:created>
  <dcterms:modified xsi:type="dcterms:W3CDTF">2026-08-17T12:56:28Z</dcterms:modified>
</cp:coreProperties>
</file>