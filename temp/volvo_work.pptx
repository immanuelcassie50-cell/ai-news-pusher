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"各位师傅，兄弟们，大家上午好！欢迎来到咱们云南磷化矿山部门的内训现场。今天咱们不讲虚的，就聊聊咱们天天摸、天天开的沃尔沃</a:t>
            </a:r>
            <a:r>
              <a:rPr lang="en-US" altLang="zh-CN" dirty="0"/>
              <a:t>A40F</a:t>
            </a:r>
            <a:r>
              <a:rPr lang="zh-CN" altLang="en-US" dirty="0"/>
              <a:t>铰接卡车。这门课叫‘保命排故’实战巡检法。为什么加上‘保命’这两个字？因为出车前的那十分钟，往往就决定了咱们下班回家，是站着走回去，还是躺着被抬回去。今天，咱们就把老师傅压箱底的实战手艺，原原本本地给大家带回家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咱们今天的课分四步走：首先，用两个真实的事故给大家提个醒，看看‘带病作业’到底有多大代价；第二部分，教大家一套‘把身体变成传感器’的实战巡检法；第三部分，讲发现隐患后怎么定级、怎么闭环处置；最后，给大家一张能直接揣在兜里带走的行动清单。全是干货，大家精神集中点，咱们马上进入正题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"大家看大屏幕，这起事故就发生在</a:t>
            </a:r>
            <a:r>
              <a:rPr lang="zh-CN" altLang="en-US" dirty="0"/>
              <a:t>某矿区，可以说是触目惊心。早上7点10分，早班司机为了抢时间，没做点检直接打火出车。到了7点35分，重载上半坡的时候，只听‘咔嚓’一声巨响，前后车架竟然直接分离了！大家闭上眼睛想想那个画面，几十吨的重车在半坡上突然‘断腰’，失控下滑，司机在驾驶室里得有多绝望？事后一查，原因简单得让人叹气：铰接销的锁止卡子失效，开口销断了，销子直接脱出来了。</a:t>
            </a:r>
            <a:endParaRPr lang="zh-CN" altLang="en-US" dirty="0"/>
          </a:p>
          <a:p>
            <a:r>
              <a:rPr lang="zh-CN" altLang="en-US" dirty="0"/>
              <a:t>这起事故的代价是什么？装载机在坑下苦等，破碎站断粮40分钟，当班产量直接砍掉三分之一，最后半坡叫拖车，折腾了整整一个上午。师傅们，如果出车前他愿意花两分钟，用手去摇一摇那个卡子，看一眼开口销，这几万块的损失和半坡的惊险，是不是就完全避免了？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"咱们再来看第二个案例，这个更可怕，叫‘盲开报废’。当时液压管有点渗漏，司机其实看见了，但他心存侥幸，心里想‘没事，漏得不厉害，再跑两百米，把这趟矿拉完再说’。</a:t>
            </a:r>
            <a:endParaRPr lang="zh-CN" altLang="en-US" dirty="0"/>
          </a:p>
          <a:p>
            <a:r>
              <a:rPr lang="zh-CN" altLang="en-US" dirty="0"/>
              <a:t>结果呢？高压油管在行驶中直接爆裂！大家知道高压油的压力有多大吗？它像子弹一样直接射穿了驾驶室玻璃，司机瞬间视线受阻、惊慌失措，整车直接撞墙报废。</a:t>
            </a:r>
            <a:endParaRPr lang="zh-CN" altLang="en-US" dirty="0"/>
          </a:p>
          <a:p>
            <a:r>
              <a:rPr lang="zh-CN" altLang="en-US" dirty="0"/>
              <a:t>大家一定要记住一句话：渗漏从来不是小事。每一次‘再跑两百米’的侥幸，都是把命押给下一次的爆裂。咱们常说，挨骂不要紧，没命全白搭！车报废了，那是矿山的财产损失；但人要是伤了、没了，家里的老婆孩子谁来管？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"结合刚才这两个血淋淋的教训，咱们来对号入座，看看咱们一线司机平时最常犯的三个要命毛病，大家听听看自己或者身边的兄弟有没有中枪。</a:t>
            </a:r>
            <a:endParaRPr lang="zh-CN" altLang="en-US" dirty="0"/>
          </a:p>
          <a:p>
            <a:r>
              <a:rPr lang="zh-CN" altLang="en-US" dirty="0"/>
              <a:t>第一，不绕车。懒得查，凭感觉。出车直接跳过点检流程，铰接销松没松、轮胎螺丝紧不紧，全靠运气。代价就是停产、叫拖车。</a:t>
            </a:r>
            <a:endParaRPr lang="zh-CN" altLang="en-US" dirty="0"/>
          </a:p>
          <a:p>
            <a:r>
              <a:rPr lang="zh-CN" altLang="en-US" dirty="0"/>
              <a:t>第二，带病作业。渗漏不报，跑完再说。发现车底有油迹、听见异响，心里默念‘跑完这趟再说’，结果小毛病硬生生拖成了大事故。</a:t>
            </a:r>
            <a:endParaRPr lang="zh-CN" altLang="en-US" dirty="0"/>
          </a:p>
          <a:p>
            <a:r>
              <a:rPr lang="zh-CN" altLang="en-US" dirty="0"/>
              <a:t>第三，心存侥幸。抢产量，拼节奏。为了赶当班那几车矿，强行跑完最后一趟，把命押给概率。万一出事，代价就是终身轮椅、家庭破碎。</a:t>
            </a:r>
            <a:endParaRPr lang="zh-CN" altLang="en-US" dirty="0"/>
          </a:p>
          <a:p>
            <a:r>
              <a:rPr lang="zh-CN" altLang="en-US" dirty="0"/>
              <a:t>兄弟们，咱们今天坐在这里，目的只有一个：把脑子里的‘凭感觉’，变成手里的‘凭流程’；把‘靠运气’，变成‘靠肌肉记忆’。让标准动作，成为咱们的保命符。"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"那学完这门课，大家能带走什么？以前咱们出车是‘碰运气’，听见异响装没听见；学完之后，咱们出车前10分钟就是标准的肌肉动作，五感雷达全员在线，隐患看见就停，当班不抛锚，下班全须全尾回家。</a:t>
            </a:r>
            <a:endParaRPr lang="zh-CN" altLang="en-US" dirty="0"/>
          </a:p>
          <a:p>
            <a:r>
              <a:rPr lang="zh-CN" altLang="en-US" dirty="0"/>
              <a:t>今天我会给大家四样法宝：一套10分钟的绕车</a:t>
            </a:r>
            <a:r>
              <a:rPr lang="en-US" altLang="zh-CN" dirty="0"/>
              <a:t>SOP，</a:t>
            </a:r>
            <a:r>
              <a:rPr lang="zh-CN" altLang="en-US" dirty="0"/>
              <a:t>一个听声闻味的五感雷达，一个渗漏三看定级法，还有一张能打印带在车上的速查表。保证大家学完就能用，用了就保命。"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"好，刚才咱们看了血淋淋的教训。那到底怎么防？接下来进入第一部分：实战巡检法。咱们要把自己的身体，变成最灵敏的故障传感器。先看出车前这关键的十分钟。"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兄弟们，出车前这十分钟，咱们怎么转？记住四个字：‘逆时针绕’。大家可能会问，顺时针不行吗？为什么非得逆时针？这是全行业老师傅拿经验甚至教训换来的共识。从驾驶室左侧后视镜起步，左后、左前、正前、右前、右后，最后回到驾驶室。大家想想，咱们矿车的驾驶室在左边，从左边开始，视线是最顺的。路径固定了，你的视野就不会漏，新老司机用的都是同一套</a:t>
            </a:r>
            <a:r>
              <a:rPr lang="en-US" altLang="zh-CN" dirty="0"/>
              <a:t>SOP，</a:t>
            </a:r>
            <a:r>
              <a:rPr lang="zh-CN" altLang="en-US" dirty="0"/>
              <a:t>形成肌肉记忆，闭着眼都不会落下一颗螺丝。</a:t>
            </a:r>
            <a:endParaRPr lang="zh-CN" altLang="en-US" dirty="0"/>
          </a:p>
          <a:p>
            <a:r>
              <a:rPr lang="zh-CN" altLang="en-US" dirty="0"/>
              <a:t>绕车的时候，手里别空着，兜里揣块白抹布，或者一张白纸巾。干嘛用？探伤！机油尺拔出来擦一下，液压缸杆抹一下，加油口内壁蹭一下。咱们不看别的，就看颜色。金属粉末、乳化进水，在白底子上一秒钟就现原形。这比你在心里嘀咕‘感觉油还行’要靠谱一万倍。大家记住，出车前这十分钟的绕车，省的是半坡叫拖车的三个小时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"逆时针绕车，走到哪最关键？毫无疑问，是中间这个‘铰接腰’。这可是咱们</a:t>
            </a:r>
            <a:r>
              <a:rPr lang="en-US" altLang="zh-CN" dirty="0"/>
              <a:t>A40F</a:t>
            </a:r>
            <a:r>
              <a:rPr lang="zh-CN" altLang="en-US" dirty="0"/>
              <a:t>的命门！大家回想一下开场那个‘断腰’的事故，几十吨的车在半坡上断裂，就是这里出了问题。</a:t>
            </a:r>
            <a:endParaRPr lang="zh-CN" altLang="en-US" dirty="0"/>
          </a:p>
          <a:p>
            <a:r>
              <a:rPr lang="zh-CN" altLang="en-US" dirty="0"/>
              <a:t>查铰接腰，咱们死磕四件套：第一，铰接销和锁止卡子。别只用眼睛看，上手摇一摇！卡子松没松？变形没变形？开口销断没断？第二，轴承旷量。左右晃一晃铰接腰，感觉间隙大不大，超限了立马报修。第三，转向油缸。看看油缸杆有没有拉伤，接头紧不紧，活塞行程正不正常。</a:t>
            </a:r>
            <a:endParaRPr lang="zh-CN" altLang="en-US" dirty="0"/>
          </a:p>
          <a:p>
            <a:r>
              <a:rPr lang="zh-CN" altLang="en-US" dirty="0"/>
              <a:t>师傅们，开口销断了这种事儿，绕车时随手一摸、一眼就能看出来。千万别嫌麻烦，觉得‘昨天刚看过，今天肯定没事’。机械这东西，疲劳断裂就是一瞬间的事。你在这里多花十秒钟，半坡上就不会有几十吨的车砸下来的危险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"刚才说了白抹布，具体怎么查‘三油两水’？大家看屏幕上的对比图，正常和异常一目了然。</a:t>
            </a:r>
            <a:endParaRPr lang="zh-CN" altLang="en-US" dirty="0"/>
          </a:p>
          <a:p>
            <a:r>
              <a:rPr lang="zh-CN" altLang="en-US" dirty="0"/>
              <a:t>机油正常是金黄透明的，手捻着没颗粒。如果一擦发黑，还有颗粒，那就是金属粉末混进去了，说明发动机里面在异常磨损，随时可能拉缸！</a:t>
            </a:r>
            <a:endParaRPr lang="zh-CN" altLang="en-US" dirty="0"/>
          </a:p>
          <a:p>
            <a:r>
              <a:rPr lang="zh-CN" altLang="en-US" dirty="0"/>
              <a:t>液压油正常是澄清的黄色，有拉丝感。如果变成乳白色，那是混进水或者空气了，液压系统会没劲。</a:t>
            </a:r>
            <a:endParaRPr lang="zh-CN" altLang="en-US" dirty="0"/>
          </a:p>
          <a:p>
            <a:r>
              <a:rPr lang="zh-CN" altLang="en-US" dirty="0"/>
              <a:t>防冻液和冷却水，正常是清澈的。如果浑浊、有油花，说明缸垫漏了，机油串进水里了。</a:t>
            </a:r>
            <a:endParaRPr lang="zh-CN" altLang="en-US" dirty="0"/>
          </a:p>
          <a:p>
            <a:r>
              <a:rPr lang="zh-CN" altLang="en-US" dirty="0"/>
              <a:t>柴油如果有水珠，那就是油水分离器失效了。</a:t>
            </a:r>
            <a:endParaRPr lang="zh-CN" altLang="en-US" dirty="0"/>
          </a:p>
          <a:p>
            <a:r>
              <a:rPr lang="zh-CN" altLang="en-US" dirty="0"/>
              <a:t>大家看，白底子一衬托，什么妖魔鬼怪都藏不住。以后别再说‘我看油还行’，拿纸一擦，颜色不会撒谎！这招学会了，你就是车队里的‘油液专家’。"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"绕完一圈，上车打火。注意，打火后的前30秒，别急着松手刹，咱们要做三件事：听、盯、扫。</a:t>
            </a:r>
            <a:endParaRPr lang="zh-CN" altLang="en-US" dirty="0"/>
          </a:p>
          <a:p>
            <a:r>
              <a:rPr lang="zh-CN" altLang="en-US" dirty="0"/>
              <a:t>第一，听声辨位。听柴油机的‘突突’声均不均匀？有没有金属敲缸的声音？转向液压有没有‘嘶嘶’的啸叫？有杂音，说明有漏气或者磨损。</a:t>
            </a:r>
            <a:endParaRPr lang="zh-CN" altLang="en-US" dirty="0"/>
          </a:p>
          <a:p>
            <a:r>
              <a:rPr lang="zh-CN" altLang="en-US" dirty="0"/>
              <a:t>第二，盯死机油压力灯。这是保命的灯！正常情况3秒内必须熄灭。如果一直亮或者闪烁，说明机油泵或者油路有问题，这时候挂挡走车，发动机直接就拉缸报废了。</a:t>
            </a:r>
            <a:endParaRPr lang="zh-CN" altLang="en-US" dirty="0"/>
          </a:p>
          <a:p>
            <a:r>
              <a:rPr lang="zh-CN" altLang="en-US" dirty="0"/>
              <a:t>第三，扫一眼仪表。气压够不够5</a:t>
            </a:r>
            <a:r>
              <a:rPr lang="en-US" altLang="zh-CN" dirty="0"/>
              <a:t>bar？</a:t>
            </a:r>
            <a:r>
              <a:rPr lang="zh-CN" altLang="en-US" dirty="0"/>
              <a:t>水温、电压正不正常？一圈扫下来，心里有底了，再挂挡起步。"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"为了方便大家记，我把刚才说的做成了这张一分钟判断表。</a:t>
            </a:r>
            <a:endParaRPr lang="zh-CN" altLang="en-US" dirty="0"/>
          </a:p>
          <a:p>
            <a:r>
              <a:rPr lang="zh-CN" altLang="en-US" dirty="0"/>
              <a:t>听声音：均匀的突突声是正常的；敲缸声、嗤嗤啸叫、嘶嘶啸叫，甚至咯噔嘎吱响，只要听见，第一反应就是熄火或者停车检查。</a:t>
            </a:r>
            <a:endParaRPr lang="zh-CN" altLang="en-US" dirty="0"/>
          </a:p>
          <a:p>
            <a:r>
              <a:rPr lang="zh-CN" altLang="en-US" dirty="0"/>
              <a:t>看机油灯：记住一个死理——3秒内不熄灭，绝不挂挡！一直亮就立刻熄火，闪烁就检查传感器，启动后再亮就赶紧靠边。</a:t>
            </a:r>
            <a:endParaRPr lang="zh-CN" altLang="en-US" dirty="0"/>
          </a:p>
          <a:p>
            <a:r>
              <a:rPr lang="zh-CN" altLang="en-US" dirty="0"/>
              <a:t>这张表大家拍个照，或者一会儿课后找我打印出来贴在驾驶室里，打火的时候扫一眼，心里就有谱了。"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"好，咱们来快速回顾一下出车前这‘十分钟避险’。大家记住6个词，刻进肌肉里：</a:t>
            </a:r>
            <a:endParaRPr lang="zh-CN" altLang="en-US" dirty="0"/>
          </a:p>
          <a:p>
            <a:r>
              <a:rPr lang="zh-CN" altLang="en-US" dirty="0"/>
              <a:t>第一，逆时针，保证不漏点；</a:t>
            </a:r>
            <a:endParaRPr lang="zh-CN" altLang="en-US" dirty="0"/>
          </a:p>
          <a:p>
            <a:r>
              <a:rPr lang="zh-CN" altLang="en-US" dirty="0"/>
              <a:t>第二，铰接腰，死磕四件套；</a:t>
            </a:r>
            <a:endParaRPr lang="zh-CN" altLang="en-US" dirty="0"/>
          </a:p>
          <a:p>
            <a:r>
              <a:rPr lang="zh-CN" altLang="en-US" dirty="0"/>
              <a:t>第三，白抹布，看清三油两水；</a:t>
            </a:r>
            <a:endParaRPr lang="zh-CN" altLang="en-US" dirty="0"/>
          </a:p>
          <a:p>
            <a:r>
              <a:rPr lang="zh-CN" altLang="en-US" dirty="0"/>
              <a:t>第四，听音，30秒出结论；</a:t>
            </a:r>
            <a:endParaRPr lang="zh-CN" altLang="en-US" dirty="0"/>
          </a:p>
          <a:p>
            <a:r>
              <a:rPr lang="zh-CN" altLang="en-US" dirty="0"/>
              <a:t>第五，盯压力，3秒不亮绿灯不走车；</a:t>
            </a:r>
            <a:endParaRPr lang="zh-CN" altLang="en-US" dirty="0"/>
          </a:p>
          <a:p>
            <a:r>
              <a:rPr lang="zh-CN" altLang="en-US" dirty="0"/>
              <a:t>第六，扫仪表，一眼扫完。</a:t>
            </a:r>
            <a:endParaRPr lang="zh-CN" altLang="en-US" dirty="0"/>
          </a:p>
          <a:p>
            <a:r>
              <a:rPr lang="zh-CN" altLang="en-US" dirty="0"/>
              <a:t>这6个动作做扎实了，半坡上就绝对不会叫你拖车！大家能不能做到？"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"兄弟们，车开起来的时候，眼睛得死死盯着路况，那靠什么查故障？靠耳朵和鼻子！大家记住八个字：‘听见就停，闻到就停’。</a:t>
            </a:r>
            <a:endParaRPr lang="zh-CN" altLang="en-US" dirty="0"/>
          </a:p>
          <a:p>
            <a:r>
              <a:rPr lang="zh-CN" altLang="en-US" dirty="0"/>
              <a:t>听觉抓什么？转弯的时候，中间铰接腰要是发出‘嘎吱嘎吱’的干磨声，那是缺油了；要是‘咔咔’的金属撞击声，那是销子旷量了，随时可能断！还有底盘的‘哐当’声，轴承的‘嗡鸣’声，只要声音不对，别犹豫，靠边！</a:t>
            </a:r>
            <a:endParaRPr lang="zh-CN" altLang="en-US" dirty="0"/>
          </a:p>
          <a:p>
            <a:r>
              <a:rPr lang="zh-CN" altLang="en-US" dirty="0"/>
              <a:t>嗅觉抓什么？鼻子有时候比仪表还灵。闻到焦糊味，可能是刹车过热或者离合打滑；闻到柴油味，坏了，油管漏了滴到高温排气管上了，这极易起火！闻到甜味，那是防冻液漏了；闻到焦橡胶味，皮带或者线束出问题了。</a:t>
            </a:r>
            <a:endParaRPr lang="zh-CN" altLang="en-US" dirty="0"/>
          </a:p>
          <a:p>
            <a:r>
              <a:rPr lang="zh-CN" altLang="en-US" dirty="0"/>
              <a:t>兄弟们，听到异响不停，就是把命押给下一次爆裂；闻到异味不止，就是把事故留给晚班的兄弟。"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"咱们把‘听’单独拿出来细说，特别是转弯的时候，这一耳朵的事能救命。</a:t>
            </a:r>
            <a:endParaRPr lang="zh-CN" altLang="en-US" dirty="0"/>
          </a:p>
          <a:p>
            <a:r>
              <a:rPr lang="zh-CN" altLang="en-US" dirty="0"/>
              <a:t>大家看这张表，嘎吱干磨声，赶紧找地方打黄油；咔咔撞击声，别开了，立刻报修；咯噔沉闷响，可能是传动螺栓松了；嗡鸣共振，轴承发卡。</a:t>
            </a:r>
            <a:endParaRPr lang="zh-CN" altLang="en-US" dirty="0"/>
          </a:p>
          <a:p>
            <a:r>
              <a:rPr lang="zh-CN" altLang="en-US" dirty="0"/>
              <a:t>听到这些声音，第一动作是什么？大家跟我念一遍四步诀：减速、靠边、停车、汇报！先把车稳住，别慌，然后再去想是不是自己听错了。记住，宁可错停，不可错放。"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"再来说说‘闻’。老师傅为什么厉害？因为他们的鼻子‘灵’。</a:t>
            </a:r>
            <a:endParaRPr lang="zh-CN" altLang="en-US" dirty="0"/>
          </a:p>
          <a:p>
            <a:r>
              <a:rPr lang="zh-CN" altLang="en-US" dirty="0"/>
              <a:t>刚才说了四种致命气味：焦糊味、柴油味、防冻液的甜味、焦橡胶味。这里我要特别强调一下柴油味和防冻液甜味。这两种液体要是漏到了几百度高温的排气管上，那是会瞬间起火的！</a:t>
            </a:r>
            <a:endParaRPr lang="zh-CN" altLang="en-US" dirty="0"/>
          </a:p>
          <a:p>
            <a:r>
              <a:rPr lang="zh-CN" altLang="en-US" dirty="0"/>
              <a:t>所以，一旦闻到这两种味道，三个‘绝对不’：绝对不闻着继续开，绝对不抽烟点火，绝对不抱侥幸心理。马上停车熄火，打开发动机盖查管线。别嫌麻烦，车烧了是小事，人困在里面就全完了。"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"除了听和闻，咱们还有两样武器：手和身体。也就是触觉和体感。</a:t>
            </a:r>
            <a:endParaRPr lang="zh-CN" altLang="en-US" dirty="0"/>
          </a:p>
          <a:p>
            <a:r>
              <a:rPr lang="zh-CN" altLang="en-US" dirty="0"/>
              <a:t>先说触觉，休息间隙下车，怎么测温？记住，用手背，别用手心！为什么？手心皮厚容易误判，而且万一太烫，手背能本能地缩回来，手心一抓可能就烫出水泡了。摸哪里？摸轮毂、摸液压油箱。微热正常，发烫就要警惕，烫得缩手，立刻报修，轴承肯定发卡了。</a:t>
            </a:r>
            <a:endParaRPr lang="zh-CN" altLang="en-US" dirty="0"/>
          </a:p>
          <a:p>
            <a:r>
              <a:rPr lang="zh-CN" altLang="en-US" dirty="0"/>
              <a:t>再说体感。司机就是车的第一仪表。方向盘异常抖动，低速抖是轮胎螺栓松了，高速抖是传动轴问题；刹车踩下去发软、往下沉，那是管路进空气或者漏油了；重载的时候车总是往一边跑偏，那是制动器拖滞。你的身体感觉不对劲，那就是车在向你求救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"这页是咱们矿车驾驶员的‘双体温计’实操指南，大家可以拿出手机拍个照。</a:t>
            </a:r>
            <a:endParaRPr lang="zh-CN" altLang="en-US" dirty="0"/>
          </a:p>
          <a:p>
            <a:r>
              <a:rPr lang="zh-CN" altLang="en-US" dirty="0"/>
              <a:t>手背试温，记住四个梯度：40度以下微温，正常；40到60度偏热，留个心眼；60到80度发烫，减速检查；超过80度烫手，立刻报修。切记，不要在刚跑完重载的热车状态下，直接伸手去摸排气管那些致命高温区，安全第一。</a:t>
            </a:r>
            <a:endParaRPr lang="zh-CN" altLang="en-US" dirty="0"/>
          </a:p>
          <a:p>
            <a:r>
              <a:rPr lang="zh-CN" altLang="en-US" dirty="0"/>
              <a:t>体感判断，如果是下坡的时候感觉方向偏重，或者刹车偏软，很可能是转向系统进气或者单边管路堵塞。这时候千万别硬撑，赶紧找避险车道或者安全地带停下来。"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"好，行驶中的‘五感雷达’咱们过了一遍。大家把这4个字刻在脑子里：听、闻、触、感。</a:t>
            </a:r>
            <a:endParaRPr lang="zh-CN" altLang="en-US" dirty="0"/>
          </a:p>
          <a:p>
            <a:r>
              <a:rPr lang="zh-CN" altLang="en-US" dirty="0"/>
              <a:t>听嘎吱咔咔，闻焦糊柴油，触轮毂温度，感方向刹车。</a:t>
            </a:r>
            <a:endParaRPr lang="zh-CN" altLang="en-US" dirty="0"/>
          </a:p>
          <a:p>
            <a:r>
              <a:rPr lang="zh-CN" altLang="en-US" dirty="0"/>
              <a:t>五感在线，故障就能看见；故障看见了，咱们就能上班不抛锚，下班见家人！大家说，这四招能不能保住咱们的饭碗和命？（互动停顿，等待学员回应）能！那就把它变成咱们的本能！"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"发现车底有油迹，怎么判断严不严重？老师傅有个‘三看定级法’。</a:t>
            </a:r>
            <a:endParaRPr lang="zh-CN" altLang="en-US" dirty="0"/>
          </a:p>
          <a:p>
            <a:r>
              <a:rPr lang="zh-CN" altLang="en-US" dirty="0"/>
              <a:t>第一，看材质。漏的是啥？机油、液压油还是防冻液？看材质就能知道是哪个系统出了问题。</a:t>
            </a:r>
            <a:endParaRPr lang="zh-CN" altLang="en-US" dirty="0"/>
          </a:p>
          <a:p>
            <a:r>
              <a:rPr lang="zh-CN" altLang="en-US" dirty="0"/>
              <a:t>第二，看速度。是慢慢渗，还是一滴一滴往下掉，或者是成股往外喷？看速度就能定紧急级别。</a:t>
            </a:r>
            <a:endParaRPr lang="zh-CN" altLang="en-US" dirty="0"/>
          </a:p>
          <a:p>
            <a:r>
              <a:rPr lang="zh-CN" altLang="en-US" dirty="0"/>
              <a:t>第三，看部位。漏在管路接头，还是油缸轴端？看部位就能决定处置流程。</a:t>
            </a:r>
            <a:endParaRPr lang="zh-CN" altLang="en-US" dirty="0"/>
          </a:p>
          <a:p>
            <a:r>
              <a:rPr lang="zh-CN" altLang="en-US" dirty="0"/>
              <a:t>大家记住一句口诀：‘看材质找系统，看速度定级别，看部位走流程’。这三步做完，你心里就有谱了，该报修报修，该干活干活，绝不瞎耽误功夫。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"先说第一看：辨材质。怎么辨？不用高科技，靠手感和鼻子。</a:t>
            </a:r>
            <a:endParaRPr lang="zh-CN" altLang="en-US" dirty="0"/>
          </a:p>
          <a:p>
            <a:r>
              <a:rPr lang="zh-CN" altLang="en-US" dirty="0"/>
              <a:t>机油摸起来是‘滑’的，金黄或者黑褐色，有点微臭；</a:t>
            </a:r>
            <a:endParaRPr lang="zh-CN" altLang="en-US" dirty="0"/>
          </a:p>
          <a:p>
            <a:r>
              <a:rPr lang="zh-CN" altLang="en-US" dirty="0"/>
              <a:t>液压油摸起来是‘黏’的，两根手指一搓，能拉出丝来，这是它最大的特点；</a:t>
            </a:r>
            <a:endParaRPr lang="zh-CN" altLang="en-US" dirty="0"/>
          </a:p>
          <a:p>
            <a:r>
              <a:rPr lang="zh-CN" altLang="en-US" dirty="0"/>
              <a:t>防冻液摸起来也是黏滑的，但它有个致命特征——‘甜’！闻起来有明显的甜味。但兄弟们千万记住，防冻液有毒，绝对不能放嘴里尝！闻到甜味，立马去查暖风水箱或者发动机缸垫。</a:t>
            </a:r>
            <a:endParaRPr lang="zh-CN" altLang="en-US" dirty="0"/>
          </a:p>
          <a:p>
            <a:r>
              <a:rPr lang="zh-CN" altLang="en-US" dirty="0"/>
              <a:t>掌握了‘机油滑、液压油黏、防冻液甜’，你就能一秒锁定漏点系统。"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"材质认清了，接下来看速度，定级别。咱们把渗漏分三级：渗、滴、漏。</a:t>
            </a:r>
            <a:endParaRPr lang="zh-CN" altLang="en-US" dirty="0"/>
          </a:p>
          <a:p>
            <a:r>
              <a:rPr lang="en-US" altLang="zh-CN" dirty="0"/>
              <a:t>L1</a:t>
            </a:r>
            <a:r>
              <a:rPr lang="zh-CN" altLang="en-US" dirty="0"/>
              <a:t>级别是‘渗’，表面有油膜，但不往下滴。这种不用慌，记在点检本上，车还能继续干。</a:t>
            </a:r>
            <a:endParaRPr lang="zh-CN" altLang="en-US" dirty="0"/>
          </a:p>
          <a:p>
            <a:r>
              <a:rPr lang="en-US" altLang="zh-CN" dirty="0"/>
              <a:t>L2</a:t>
            </a:r>
            <a:r>
              <a:rPr lang="zh-CN" altLang="en-US" dirty="0"/>
              <a:t>级别是‘滴’，30秒内能滴下一滴。这就得警惕了，马上报修，跟调度说一声，只能安排跑短途，千万别拉重载跑长途。</a:t>
            </a:r>
            <a:endParaRPr lang="zh-CN" altLang="en-US" dirty="0"/>
          </a:p>
          <a:p>
            <a:r>
              <a:rPr lang="en-US" altLang="zh-CN" dirty="0"/>
              <a:t>L3</a:t>
            </a:r>
            <a:r>
              <a:rPr lang="zh-CN" altLang="en-US" dirty="0"/>
              <a:t>级别是‘漏’，成股喷溅！兄弟们，遇到这种情况，什么产量、什么罚款，统统靠边站！立刻靠边熄火！</a:t>
            </a:r>
            <a:endParaRPr lang="zh-CN" altLang="en-US" dirty="0"/>
          </a:p>
          <a:p>
            <a:r>
              <a:rPr lang="zh-CN" altLang="en-US" dirty="0"/>
              <a:t>这里我要特别警告一点：如果是高压液压油泄漏，喷射出来的油线就像刀子一样，能直接射穿皮肤打进血管里，造成坏死甚至截肢！所以，看到高压油管漏油，任何人绝对不能靠近喷射范围，更不能用手去堵！接触了必须马上就医。记住，挨骂不要紧，没命全白搭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"除了看漏油，还得盯仪表。仪表灯亮了怎么办？记住四个字：‘红停黄看’。</a:t>
            </a:r>
            <a:endParaRPr lang="zh-CN" altLang="en-US" dirty="0"/>
          </a:p>
          <a:p>
            <a:r>
              <a:rPr lang="zh-CN" altLang="en-US" dirty="0"/>
              <a:t>红灯是致命灯，比如机油压力低、制动气压低于5</a:t>
            </a:r>
            <a:r>
              <a:rPr lang="en-US" altLang="zh-CN" dirty="0"/>
              <a:t>bar。</a:t>
            </a:r>
            <a:r>
              <a:rPr lang="zh-CN" altLang="en-US" dirty="0"/>
              <a:t>只要红灯亮，给你3秒钟，立刻靠边熄火，绝不能心存侥幸‘再跑两百米’。黄灯是警告灯，比如水温偏高，这时候要减速观察。</a:t>
            </a:r>
            <a:endParaRPr lang="zh-CN" altLang="en-US" dirty="0"/>
          </a:p>
          <a:p>
            <a:r>
              <a:rPr lang="zh-CN" altLang="en-US" dirty="0"/>
              <a:t>万一在行驶中突然遇到严重故障，比如转向失灵、刹车失灵，怎么办？把大屏幕上的‘避险七步诀’刻在脑子里：稳方向、选地点、缓减速、拉制动、人撤离、快上报、等救援。</a:t>
            </a:r>
            <a:endParaRPr lang="zh-CN" altLang="en-US" dirty="0"/>
          </a:p>
          <a:p>
            <a:r>
              <a:rPr lang="zh-CN" altLang="en-US" dirty="0"/>
              <a:t>特别注意第五步‘人撤离’！车坏了是矿山的财产，命是你自己的。车停稳后，人赶紧撤离到安全地带，千万别留在驾驶室里或者车道上瞎折腾。"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"为了方便大家实操，我把前面讲的‘听、闻、看’的所有异常信号，整理成了这张《异常信号速查表》。</a:t>
            </a:r>
            <a:endParaRPr lang="zh-CN" altLang="en-US" dirty="0"/>
          </a:p>
          <a:p>
            <a:r>
              <a:rPr lang="zh-CN" altLang="en-US" dirty="0"/>
              <a:t>大家现在就可以拿出手机拍个照，课后找我打印出来，过个塑，直接放在驾驶室的遮阳板上或者贴在仪表盘旁边。</a:t>
            </a:r>
            <a:endParaRPr lang="zh-CN" altLang="en-US" dirty="0"/>
          </a:p>
          <a:p>
            <a:r>
              <a:rPr lang="zh-CN" altLang="en-US" dirty="0"/>
              <a:t>遇到嘎吱声、焦糊味、机油发黑、红灯亮，不用去回忆课件，直接对照表上的‘司机动作’执行。不确定就是不确定，宁可错停，不可错放！"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兄弟们，干完一个重载班，把车停稳，很多人拔了钥匙就走。千万别！这时候车里的涡轮增压器温度高达几百度，你直接熄火，机油不循环了，涡轮瞬间就能烧死！记住，重载停车后，必须挂空挡、松刹车，让车怠速运转2分钟。这2分钟不是浪费，是让润滑油给涡轮降温，保的是几万块的总成。</a:t>
            </a:r>
            <a:endParaRPr lang="zh-CN" altLang="en-US" dirty="0"/>
          </a:p>
          <a:p>
            <a:r>
              <a:rPr lang="zh-CN" altLang="en-US" dirty="0"/>
              <a:t>等水温油压稳了，熄火。这时候别急着去食堂，拿上你的白抹布，绕车再转一圈。干嘛？做‘对比复查’。出车前铰接腰是干净的，现在有没有新增的裂纹？油缸杆有没有新拉伤？轮胎螺栓摸一摸烫不烫？这收车后的两分钟二次点检，查的是这一趟跑下来的‘内伤’。早发现，早报修，绝不把隐患留给明天的自己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"复查完了，接下来是交接班。很多兄弟嫌麻烦，扔下钥匙就走，结果第二天车坏了，调度一问‘昨天谁开的？’，你百口莫辩，这就叫替别人背锅！</a:t>
            </a:r>
            <a:endParaRPr lang="zh-CN" altLang="en-US" dirty="0"/>
          </a:p>
          <a:p>
            <a:r>
              <a:rPr lang="zh-CN" altLang="en-US" dirty="0"/>
              <a:t>咱们怎么保护自己？两招：纸面签字，口头交底。</a:t>
            </a:r>
            <a:endParaRPr lang="zh-CN" altLang="en-US" dirty="0"/>
          </a:p>
          <a:p>
            <a:r>
              <a:rPr lang="zh-CN" altLang="en-US" dirty="0"/>
              <a:t>交接单上，新增渗漏、异响、维修需求，有就是有，没有就是无，白纸黑字签上名。口头交接时，记住四个要点：说症状（比如起步刹车软）、说位置（前桥还是后桥）、说频次（是偶发还是一直这样）、说处置（我已经报修了还是待修）。</a:t>
            </a:r>
            <a:endParaRPr lang="zh-CN" altLang="en-US" dirty="0"/>
          </a:p>
          <a:p>
            <a:r>
              <a:rPr lang="zh-CN" altLang="en-US" dirty="0"/>
              <a:t>兄弟们，用流程保护自己，把车况明明白白交给下一班，这是对兄弟负责，更是保全自己。不背锅，才能安安心心下班。"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"兄弟们，咱们今天的课快结束了。大家回想一下，刚上课的时候，咱们看那两起事故，心里是什么滋味？</a:t>
            </a:r>
            <a:endParaRPr lang="zh-CN" altLang="en-US" dirty="0"/>
          </a:p>
          <a:p>
            <a:r>
              <a:rPr lang="zh-CN" altLang="en-US" dirty="0"/>
              <a:t>很多人觉得，点检是矿上要求我做的，是‘要我检’。但今天咱们算了一笔账：短期看，掌握了五感雷达，你这半个月绝对不抛锚、不挨骂；中期看，半年下来，标准化动作成了肌肉记忆，你就是车队里‘最懂车’的设备专家，班组最稳的顶梁柱。</a:t>
            </a:r>
            <a:endParaRPr lang="zh-CN" altLang="en-US" dirty="0"/>
          </a:p>
          <a:p>
            <a:r>
              <a:rPr lang="zh-CN" altLang="en-US" dirty="0"/>
              <a:t>但最重要的，是长期价值。产量是矿山的，命是你自己的！面对产量的压力，面对调度的催促，咱们得守住自己的安全红线。咱们学这套实战巡检法，不是为了应付检查，而是为了每天下班的时候，能全须全尾地推开家门，听见老婆喊你吃饭，看见孩子扑进你怀里。从‘要我检’到‘我要安’，这才是咱们今天坐在这里的最终目的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"为了让大家把今天学的真本事带走，我给大家准备了这张《</a:t>
            </a:r>
            <a:r>
              <a:rPr lang="en-US" altLang="zh-CN" dirty="0"/>
              <a:t>A40F</a:t>
            </a:r>
            <a:r>
              <a:rPr lang="zh-CN" altLang="en-US" dirty="0"/>
              <a:t>一线司机行动清单》。</a:t>
            </a:r>
            <a:endParaRPr lang="zh-CN" altLang="en-US" dirty="0"/>
          </a:p>
          <a:p>
            <a:r>
              <a:rPr lang="zh-CN" altLang="en-US" dirty="0"/>
              <a:t>上面总结了出车前的10分钟7步法，还有咱们今天念叨了一整天的核心口诀：‘渗滴漏逐级定，红黄绿逐灯判，听闻触感五感在线’，还有那句保命的‘减速、靠边、停车、汇报’。</a:t>
            </a:r>
            <a:endParaRPr lang="zh-CN" altLang="en-US" dirty="0"/>
          </a:p>
          <a:p>
            <a:r>
              <a:rPr lang="zh-CN" altLang="en-US" dirty="0"/>
              <a:t>大家现在拿出手机拍个照，或者课后找助教领一张过塑的卡片，就放在驾驶室遮阳板上。遇到拿不准的，抬头看一眼。让这张清单，替老师傅在旁边盯着你、护着你。"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"最后，我想把屏幕上这句话送给大家：‘产量是矿山的，命是你自己的’。</a:t>
            </a:r>
            <a:endParaRPr lang="zh-CN" altLang="en-US" dirty="0"/>
          </a:p>
          <a:p>
            <a:r>
              <a:rPr lang="zh-CN" altLang="en-US" dirty="0"/>
              <a:t>愿咱们云南磷化的每一位兄弟，每天出车平平安安，下班全须全尾！今天的课就到这里，谢谢大家，祝大家当班顺利，安全回家！"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" name="Text 1"/>
          <p:cNvSpPr/>
          <p:nvPr/>
        </p:nvSpPr>
        <p:spPr>
          <a:xfrm>
            <a:off x="5029200" y="4114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云南磷化 · 矿山部门 · 一线内训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37160" cy="23774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" name="Text 3"/>
          <p:cNvSpPr/>
          <p:nvPr/>
        </p:nvSpPr>
        <p:spPr>
          <a:xfrm>
            <a:off x="822960" y="132588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沃尔沃A40F铰接卡车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7772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“保命排故”</a:t>
            </a: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实战巡检法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老师傅经验萃取 · 老师傅带回家的实战手艺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7772400" cy="0"/>
          </a:xfrm>
          <a:prstGeom prst="line">
            <a:avLst/>
          </a:prstGeom>
          <a:noFill/>
          <a:ln w="1270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06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  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46227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操作工 / 班组长 / 维保员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4206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  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446227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矿山一线 · 现场实操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20624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  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446227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 · 接地气 · 可带走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内部培训资料 · 仅供教学使用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6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8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" name="Shape 3"/>
          <p:cNvSpPr/>
          <p:nvPr/>
        </p:nvSpPr>
        <p:spPr>
          <a:xfrm>
            <a:off x="457200" y="15544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685800" y="1719072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开场代入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15798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案例冲击 · 痛点共鸣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P03 — P07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36118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两起真实事故切入，让学员明白'为什么必须检'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54480"/>
            <a:ext cx="73152" cy="1508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4" name="Text 12"/>
          <p:cNvSpPr/>
          <p:nvPr/>
        </p:nvSpPr>
        <p:spPr>
          <a:xfrm>
            <a:off x="4937760" y="1719072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1737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实战巡检法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215798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模块一 · 发现隐患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P09 — P22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6118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出车前10分钟 + 行驶中五感雷达，把身体变成传感器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91840"/>
            <a:ext cx="73152" cy="1508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1" name="Text 19"/>
          <p:cNvSpPr/>
          <p:nvPr/>
        </p:nvSpPr>
        <p:spPr>
          <a:xfrm>
            <a:off x="685800" y="3456432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828800" y="347472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风险处置闭环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389534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模块二 · 守住红线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160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P24 — P32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407408"/>
            <a:ext cx="36118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异常定级 + 收车护身符，从'检出来'到'闭环掉'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918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291840"/>
            <a:ext cx="73152" cy="1508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8" name="Text 26"/>
          <p:cNvSpPr/>
          <p:nvPr/>
        </p:nvSpPr>
        <p:spPr>
          <a:xfrm>
            <a:off x="4937760" y="3456432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080760" y="347472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价值升华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80760" y="389534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收尾 · 从'要我检'到'我要安'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60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P33 — P35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407408"/>
            <a:ext cx="36118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短期 / 中期 / 长期三层价值，外加一张可带走清单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" name="Text 1"/>
          <p:cNvSpPr/>
          <p:nvPr/>
        </p:nvSpPr>
        <p:spPr>
          <a:xfrm>
            <a:off x="274320" y="128016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开场代入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205740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两起事故，带你看清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“带病作业”的致命代价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0" y="3520440"/>
            <a:ext cx="914400" cy="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657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「产量是矿山的，命是你自己的」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40690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出车前的十分钟，决定了下班回家是站着还是躺着。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案例一 · 断腰停产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铰接销脱落 · 半坡叫拖车 · 全矿断粮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092440" y="228600"/>
            <a:ext cx="640080" cy="64008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8092440" y="228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SCENE  ·  半坡铰接点断裂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18872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1" name="Shape 9"/>
          <p:cNvSpPr/>
          <p:nvPr/>
        </p:nvSpPr>
        <p:spPr>
          <a:xfrm>
            <a:off x="777240" y="1554480"/>
            <a:ext cx="914400" cy="320040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12" name="Text 10"/>
          <p:cNvSpPr/>
          <p:nvPr/>
        </p:nvSpPr>
        <p:spPr>
          <a:xfrm>
            <a:off x="640080" y="269748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前车架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828800"/>
            <a:ext cx="1280160" cy="1097280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14" name="Text 12"/>
          <p:cNvSpPr/>
          <p:nvPr/>
        </p:nvSpPr>
        <p:spPr>
          <a:xfrm>
            <a:off x="2606040" y="2971800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后车架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2057400"/>
            <a:ext cx="640080" cy="64008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6" name="Text 14"/>
          <p:cNvSpPr/>
          <p:nvPr/>
        </p:nvSpPr>
        <p:spPr>
          <a:xfrm>
            <a:off x="1874520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828800" y="2697480"/>
            <a:ext cx="365760" cy="457200"/>
          </a:xfrm>
          <a:prstGeom prst="line">
            <a:avLst/>
          </a:prstGeom>
          <a:noFill/>
          <a:ln w="12700">
            <a:solidFill>
              <a:srgbClr val="E8873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铰接销脱出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56432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司机未做点检，重载上坡时铰接腰“断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1188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事故经过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1481328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Incident Timeline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1874520"/>
            <a:ext cx="274320" cy="27432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23" name="Shape 21"/>
          <p:cNvSpPr/>
          <p:nvPr/>
        </p:nvSpPr>
        <p:spPr>
          <a:xfrm>
            <a:off x="4434840" y="2148840"/>
            <a:ext cx="0" cy="246888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28800"/>
            <a:ext cx="822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07:10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82880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早班司机未做点检直接出车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2441448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7" name="Shape 25"/>
          <p:cNvSpPr/>
          <p:nvPr/>
        </p:nvSpPr>
        <p:spPr>
          <a:xfrm>
            <a:off x="4434840" y="2715768"/>
            <a:ext cx="0" cy="246888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395728"/>
            <a:ext cx="822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07:35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39572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半坡重载上坡，铰接销锁止卡子失效，销子脱出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3008376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1" name="Text 29"/>
          <p:cNvSpPr/>
          <p:nvPr/>
        </p:nvSpPr>
        <p:spPr>
          <a:xfrm>
            <a:off x="4663440" y="2962656"/>
            <a:ext cx="822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07:36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962656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前后车架分离，车辆失控下滑，被迫停车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事故代价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399592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 Summary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7" name="Text 35"/>
          <p:cNvSpPr/>
          <p:nvPr/>
        </p:nvSpPr>
        <p:spPr>
          <a:xfrm>
            <a:off x="621792" y="429768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1.5h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600200" y="4297680"/>
            <a:ext cx="1554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装载机苦等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42976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4297680"/>
            <a:ext cx="73152" cy="5943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1" name="Text 39"/>
          <p:cNvSpPr/>
          <p:nvPr/>
        </p:nvSpPr>
        <p:spPr>
          <a:xfrm>
            <a:off x="3547872" y="429768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40min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26280" y="4297680"/>
            <a:ext cx="1554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破碎站断粮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42976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297680"/>
            <a:ext cx="73152" cy="5943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45" name="Text 43"/>
          <p:cNvSpPr/>
          <p:nvPr/>
        </p:nvSpPr>
        <p:spPr>
          <a:xfrm>
            <a:off x="6473952" y="429768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1/3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452360" y="4297680"/>
            <a:ext cx="1554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当班产量直接砍掉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案例二 · 盲开报废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液压管渗漏 · 高压油射穿挡墙 · 整车报废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092440" y="228600"/>
            <a:ext cx="640080" cy="64008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8092440" y="228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6576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SCENE  ·  高压油管爆裂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2286000" cy="9601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1" name="Shape 9"/>
          <p:cNvSpPr/>
          <p:nvPr/>
        </p:nvSpPr>
        <p:spPr>
          <a:xfrm>
            <a:off x="777240" y="1627632"/>
            <a:ext cx="914400" cy="292608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12" name="Text 10"/>
          <p:cNvSpPr/>
          <p:nvPr/>
        </p:nvSpPr>
        <p:spPr>
          <a:xfrm>
            <a:off x="777240" y="162763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驾驶室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1627632"/>
            <a:ext cx="1325880" cy="292608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14" name="Shape 12"/>
          <p:cNvSpPr/>
          <p:nvPr/>
        </p:nvSpPr>
        <p:spPr>
          <a:xfrm>
            <a:off x="137160" y="2834640"/>
            <a:ext cx="320040" cy="32004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5" name="Shape 13"/>
          <p:cNvSpPr/>
          <p:nvPr/>
        </p:nvSpPr>
        <p:spPr>
          <a:xfrm>
            <a:off x="210312" y="2907792"/>
            <a:ext cx="173736" cy="173736"/>
          </a:xfrm>
          <a:prstGeom prst="ellipse">
            <a:avLst/>
          </a:prstGeom>
          <a:solidFill>
            <a:srgbClr val="C9A876"/>
          </a:solidFill>
        </p:spPr>
      </p:sp>
      <p:sp>
        <p:nvSpPr>
          <p:cNvPr id="16" name="Shape 14"/>
          <p:cNvSpPr/>
          <p:nvPr/>
        </p:nvSpPr>
        <p:spPr>
          <a:xfrm>
            <a:off x="914400" y="2834640"/>
            <a:ext cx="320040" cy="32004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7" name="Shape 15"/>
          <p:cNvSpPr/>
          <p:nvPr/>
        </p:nvSpPr>
        <p:spPr>
          <a:xfrm>
            <a:off x="987552" y="2907792"/>
            <a:ext cx="173736" cy="173736"/>
          </a:xfrm>
          <a:prstGeom prst="ellipse">
            <a:avLst/>
          </a:prstGeom>
          <a:solidFill>
            <a:srgbClr val="C9A876"/>
          </a:solidFill>
        </p:spPr>
      </p:sp>
      <p:sp>
        <p:nvSpPr>
          <p:cNvPr id="18" name="Shape 16"/>
          <p:cNvSpPr/>
          <p:nvPr/>
        </p:nvSpPr>
        <p:spPr>
          <a:xfrm>
            <a:off x="1691640" y="2834640"/>
            <a:ext cx="320040" cy="32004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9" name="Shape 17"/>
          <p:cNvSpPr/>
          <p:nvPr/>
        </p:nvSpPr>
        <p:spPr>
          <a:xfrm>
            <a:off x="1764792" y="2907792"/>
            <a:ext cx="173736" cy="173736"/>
          </a:xfrm>
          <a:prstGeom prst="ellipse">
            <a:avLst/>
          </a:prstGeom>
          <a:solidFill>
            <a:srgbClr val="C9A876"/>
          </a:solidFill>
        </p:spPr>
      </p:sp>
      <p:sp>
        <p:nvSpPr>
          <p:cNvPr id="20" name="Shape 18"/>
          <p:cNvSpPr/>
          <p:nvPr/>
        </p:nvSpPr>
        <p:spPr>
          <a:xfrm>
            <a:off x="1417320" y="1600200"/>
            <a:ext cx="274320" cy="18288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1554480"/>
            <a:ext cx="274320" cy="22860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1508760"/>
            <a:ext cx="274320" cy="27432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1463040"/>
            <a:ext cx="274320" cy="32004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1417320"/>
            <a:ext cx="274320" cy="36576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1325880"/>
            <a:ext cx="164592" cy="164592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6" name="Shape 24"/>
          <p:cNvSpPr/>
          <p:nvPr/>
        </p:nvSpPr>
        <p:spPr>
          <a:xfrm>
            <a:off x="2514600" y="1234440"/>
            <a:ext cx="109728" cy="109728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7" name="Shape 25"/>
          <p:cNvSpPr/>
          <p:nvPr/>
        </p:nvSpPr>
        <p:spPr>
          <a:xfrm>
            <a:off x="3291840" y="1554480"/>
            <a:ext cx="411480" cy="1554480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28" name="Text 26"/>
          <p:cNvSpPr/>
          <p:nvPr/>
        </p:nvSpPr>
        <p:spPr>
          <a:xfrm>
            <a:off x="3291840" y="3127248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挡墙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渗漏未报修，高压油射穿玻璃，车辆撞墙报废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1188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事故链  INCIDENT CHAIN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97680" y="1691640"/>
            <a:ext cx="411480" cy="41148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2" name="Text 30"/>
          <p:cNvSpPr/>
          <p:nvPr/>
        </p:nvSpPr>
        <p:spPr>
          <a:xfrm>
            <a:off x="4297680" y="16916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46320" y="16459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16459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司机无视液压管渗漏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98848" y="2103120"/>
            <a:ext cx="0" cy="4572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2148840"/>
            <a:ext cx="411480" cy="41148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7" name="Text 35"/>
          <p:cNvSpPr/>
          <p:nvPr/>
        </p:nvSpPr>
        <p:spPr>
          <a:xfrm>
            <a:off x="4297680" y="21488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21031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带病作业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21031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心存侥幸继续出车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98848" y="2560320"/>
            <a:ext cx="0" cy="4572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2606040"/>
            <a:ext cx="411480" cy="41148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2" name="Text 40"/>
          <p:cNvSpPr/>
          <p:nvPr/>
        </p:nvSpPr>
        <p:spPr>
          <a:xfrm>
            <a:off x="4297680" y="26060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46320" y="25603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油管爆裂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26480" y="25603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高压油喷射驾驶室玻璃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98848" y="3017520"/>
            <a:ext cx="0" cy="4572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3063240"/>
            <a:ext cx="411480" cy="41148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7" name="Text 45"/>
          <p:cNvSpPr/>
          <p:nvPr/>
        </p:nvSpPr>
        <p:spPr>
          <a:xfrm>
            <a:off x="4297680" y="30632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846320" y="301752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撞墙报废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26480" y="30175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整车失控，事故定损报废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97680" y="36118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一次渗漏 → 一根油管 → 一台矿车报废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52" name="Shape 50"/>
          <p:cNvSpPr/>
          <p:nvPr/>
        </p:nvSpPr>
        <p:spPr>
          <a:xfrm>
            <a:off x="365760" y="4069080"/>
            <a:ext cx="137160" cy="7772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3" name="Text 51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挨骂不要紧，没命全白搭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渗漏从不是小事，每一次“再跑两百米”的侥幸，都是把命押给下一次的爆裂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一线司机最常犯的三个要命问题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日常点检不是“走形式”，出车前十分钟，决定了下班回家是站着还是躺着。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63040"/>
            <a:ext cx="27432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9" name="Shape 7"/>
          <p:cNvSpPr/>
          <p:nvPr/>
        </p:nvSpPr>
        <p:spPr>
          <a:xfrm>
            <a:off x="594360" y="1627632"/>
            <a:ext cx="548640" cy="54864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594360" y="16276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不绕车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9659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懒得查 · 凭感觉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23774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出车跳过点检流程，铰接销、轮胎松动、漏油渗水全靠运气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023360"/>
            <a:ext cx="274320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5" name="Text 13"/>
          <p:cNvSpPr/>
          <p:nvPr/>
        </p:nvSpPr>
        <p:spPr>
          <a:xfrm>
            <a:off x="576072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代价：停产 · 拖车 · 全矿断粮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146304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463040"/>
            <a:ext cx="27432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8" name="Shape 16"/>
          <p:cNvSpPr/>
          <p:nvPr/>
        </p:nvSpPr>
        <p:spPr>
          <a:xfrm>
            <a:off x="3502152" y="1627632"/>
            <a:ext cx="548640" cy="54864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9" name="Text 17"/>
          <p:cNvSpPr/>
          <p:nvPr/>
        </p:nvSpPr>
        <p:spPr>
          <a:xfrm>
            <a:off x="3502152" y="16276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42232" y="16002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带病作业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42232" y="19659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渗漏不报 · 跑完再说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2152" y="2468880"/>
            <a:ext cx="23774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发现渗漏、异响、报警，心中默念“再跑两百米”，结果小毛病变成大事故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9272" y="4023360"/>
            <a:ext cx="274320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4" name="Text 22"/>
          <p:cNvSpPr/>
          <p:nvPr/>
        </p:nvSpPr>
        <p:spPr>
          <a:xfrm>
            <a:off x="3483864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代价：油管爆裂 · 撞墙 · 整车报废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27064" y="146304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7064" y="1463040"/>
            <a:ext cx="27432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7" name="Shape 25"/>
          <p:cNvSpPr/>
          <p:nvPr/>
        </p:nvSpPr>
        <p:spPr>
          <a:xfrm>
            <a:off x="6409944" y="1627632"/>
            <a:ext cx="548640" cy="54864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8" name="Text 26"/>
          <p:cNvSpPr/>
          <p:nvPr/>
        </p:nvSpPr>
        <p:spPr>
          <a:xfrm>
            <a:off x="6409944" y="16276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50024" y="16002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心存侥幸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50024" y="19659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抢产量 · 拼节奏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9944" y="2468880"/>
            <a:ext cx="23774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为了赶当班产量，强行跑完最后一趟，把命押给概率，把家押给运气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27064" y="4023360"/>
            <a:ext cx="274320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6391656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代价：脊椎骨折 · 终身轮椅 · 家庭破碎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4572000"/>
            <a:ext cx="7955280" cy="41148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5" name="Text 33"/>
          <p:cNvSpPr/>
          <p:nvPr/>
        </p:nvSpPr>
        <p:spPr>
          <a:xfrm>
            <a:off x="502920" y="457200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课程目的：把“凭感觉“变成“凭流程”，把“靠运气“变成“靠肌肉记忆”。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这门课能帮你带走什么？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学之前的状态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凭经验、图省事、靠运气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点检走过场，出车碰运气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听见异响装没听见，报警亮了再跑两百米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事故面前只能认倒霉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6576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1" name="Text 9"/>
          <p:cNvSpPr/>
          <p:nvPr/>
        </p:nvSpPr>
        <p:spPr>
          <a:xfrm>
            <a:off x="4434840" y="19933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87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4" name="Text 12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课程学完之后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流程上墙，肌肉记忆替我守门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出车前10分钟形成肌肉动作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五感雷达全员在线，隐患看见就停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当班不抛锚，下班全须全尾回家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带走四样东西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Take-aways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54864" cy="13716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0" name="Text 18"/>
          <p:cNvSpPr/>
          <p:nvPr/>
        </p:nvSpPr>
        <p:spPr>
          <a:xfrm>
            <a:off x="594360" y="4114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44348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绕车SOP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846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10分钟避险排查链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87752" y="39776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3977640"/>
            <a:ext cx="54864" cy="13716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5" name="Text 23"/>
          <p:cNvSpPr/>
          <p:nvPr/>
        </p:nvSpPr>
        <p:spPr>
          <a:xfrm>
            <a:off x="2724912" y="4114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24912" y="44348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五感雷达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24912" y="4846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听声/闻味/触感/体感清单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18304" y="39776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3977640"/>
            <a:ext cx="54864" cy="13716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0" name="Text 28"/>
          <p:cNvSpPr/>
          <p:nvPr/>
        </p:nvSpPr>
        <p:spPr>
          <a:xfrm>
            <a:off x="4855464" y="4114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55464" y="44348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渗漏三看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55464" y="4846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辨材质·定级别·快速决策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48856" y="39776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3977640"/>
            <a:ext cx="54864" cy="13716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5" name="Text 33"/>
          <p:cNvSpPr/>
          <p:nvPr/>
        </p:nvSpPr>
        <p:spPr>
          <a:xfrm>
            <a:off x="6986016" y="4114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86016" y="44348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速查表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86016" y="4846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现场对照打印带走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" name="Text 1"/>
          <p:cNvSpPr/>
          <p:nvPr/>
        </p:nvSpPr>
        <p:spPr>
          <a:xfrm>
            <a:off x="5943600" y="1280160"/>
            <a:ext cx="3200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943600" y="33832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实战巡检法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把身体变成故障传感器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97280" cy="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212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一、出车前十分钟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逆时针绕车、白抹布探伤、听音辨位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二、行驶中五感雷达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听觉 · 嗅觉 · 触觉 · 体感，隐患看见就停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/>
          <p:nvPr/>
        </p:nvSpPr>
        <p:spPr>
          <a:xfrm>
            <a:off x="274320" y="548640"/>
            <a:ext cx="3657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01 · 第一节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18872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155448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“十分钟避险”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4805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绕车一圈的实战排查链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3108960"/>
            <a:ext cx="731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9" name="Shape 7"/>
          <p:cNvSpPr/>
          <p:nvPr/>
        </p:nvSpPr>
        <p:spPr>
          <a:xfrm>
            <a:off x="4480560" y="333756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4480560" y="33375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33756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逆时针绕车 + 白抹布探伤【核心方法】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79476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3" name="Text 11"/>
          <p:cNvSpPr/>
          <p:nvPr/>
        </p:nvSpPr>
        <p:spPr>
          <a:xfrm>
            <a:off x="4480560" y="37947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启动怠速的“听音辨位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43484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出车前的十分钟，省的是半坡叫拖车的三个小时，更是保住全须全尾回家。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  核心方法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逆时针绕车 + 白抹布探伤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【核心方法】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为什么是“逆时针”？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457200" cy="3657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1" name="Text 9"/>
          <p:cNvSpPr/>
          <p:nvPr/>
        </p:nvSpPr>
        <p:spPr>
          <a:xfrm>
            <a:off x="548640" y="187452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全行业一线老师傅共识：从驾驶室左侧后视镜方向起步，沿车辆左后、左前、正前、右前、右后回到驾驶室。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视野统一：不漏点位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路径固定：养成肌肉记忆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启动一致：新老司机一个SOP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65760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“白抹布”是什么？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858768"/>
            <a:ext cx="36576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一张白纸巾、一根棉纱—— 擦拭机油尺、液压缸杆、加油口内壁。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6" name="Text 14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一句话：一秒看清金属粉末 / 乳化进水，比凭感觉靠谱。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逆时针绕车 · 四步核心蹲查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618488"/>
            <a:ext cx="457200" cy="3657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9" name="Shape 17"/>
          <p:cNvSpPr/>
          <p:nvPr/>
        </p:nvSpPr>
        <p:spPr>
          <a:xfrm>
            <a:off x="4663440" y="18288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947672"/>
            <a:ext cx="402336" cy="402336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21" name="Text 19"/>
          <p:cNvSpPr/>
          <p:nvPr/>
        </p:nvSpPr>
        <p:spPr>
          <a:xfrm>
            <a:off x="4800600" y="1947672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90195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左后角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157984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看轮胎磨损、轮毂螺栓、液压油箱外观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54203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660904"/>
            <a:ext cx="402336" cy="402336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6" name="Text 24"/>
          <p:cNvSpPr/>
          <p:nvPr/>
        </p:nvSpPr>
        <p:spPr>
          <a:xfrm>
            <a:off x="4800600" y="2660904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61518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871216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死磕铰接销、锁止卡子、转向油缸（下页详）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25526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374136"/>
            <a:ext cx="402336" cy="402336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1" name="Text 29"/>
          <p:cNvSpPr/>
          <p:nvPr/>
        </p:nvSpPr>
        <p:spPr>
          <a:xfrm>
            <a:off x="4800600" y="3374136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328416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左前 + 正前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584448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前桥、转向拉杆、各油管接头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68496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087368"/>
            <a:ext cx="402336" cy="402336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6" name="Text 34"/>
          <p:cNvSpPr/>
          <p:nvPr/>
        </p:nvSpPr>
        <p:spPr>
          <a:xfrm>
            <a:off x="4800600" y="4087368"/>
            <a:ext cx="4023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404164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右后回驾驶室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429768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另一侧轮胎、燃油箱、排气管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4754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 全程10分钟以内；熟手≤7分钟，新手≤12分钟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1.1.1  死磕“铰接腰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逆时针绕车的重中之重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【实战】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0700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铰接腰结构示意图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1371600" cy="7315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1" name="Text 9"/>
          <p:cNvSpPr/>
          <p:nvPr/>
        </p:nvSpPr>
        <p:spPr>
          <a:xfrm>
            <a:off x="731520" y="24688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前车架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691640"/>
            <a:ext cx="1371600" cy="731520"/>
          </a:xfrm>
          <a:prstGeom prst="rect">
            <a:avLst/>
          </a:prstGeom>
          <a:solidFill>
            <a:srgbClr val="3A5A78"/>
          </a:solidFill>
        </p:spPr>
      </p:sp>
      <p:sp>
        <p:nvSpPr>
          <p:cNvPr id="13" name="Text 11"/>
          <p:cNvSpPr/>
          <p:nvPr/>
        </p:nvSpPr>
        <p:spPr>
          <a:xfrm>
            <a:off x="7040880" y="246888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后车架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1645920"/>
            <a:ext cx="640080" cy="2286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5" name="Text 13"/>
          <p:cNvSpPr/>
          <p:nvPr/>
        </p:nvSpPr>
        <p:spPr>
          <a:xfrm>
            <a:off x="2011680" y="1892808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转向油缸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182880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7" name="Shape 15"/>
          <p:cNvSpPr/>
          <p:nvPr/>
        </p:nvSpPr>
        <p:spPr>
          <a:xfrm>
            <a:off x="4160520" y="1920240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8" name="Text 16"/>
          <p:cNvSpPr/>
          <p:nvPr/>
        </p:nvSpPr>
        <p:spPr>
          <a:xfrm>
            <a:off x="3703320" y="23317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铰接销 + 锁止卡子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783080"/>
            <a:ext cx="14630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819656"/>
            <a:ext cx="292608" cy="292608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1" name="Shape 19"/>
          <p:cNvSpPr/>
          <p:nvPr/>
        </p:nvSpPr>
        <p:spPr>
          <a:xfrm>
            <a:off x="5349240" y="1819656"/>
            <a:ext cx="292608" cy="292608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2" name="Shape 20"/>
          <p:cNvSpPr/>
          <p:nvPr/>
        </p:nvSpPr>
        <p:spPr>
          <a:xfrm>
            <a:off x="5760720" y="1819656"/>
            <a:ext cx="292608" cy="292608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3" name="Text 21"/>
          <p:cNvSpPr/>
          <p:nvPr/>
        </p:nvSpPr>
        <p:spPr>
          <a:xfrm>
            <a:off x="4754880" y="21945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轴承旷量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2057400"/>
            <a:ext cx="164592" cy="0"/>
          </a:xfrm>
          <a:prstGeom prst="line">
            <a:avLst/>
          </a:prstGeom>
          <a:noFill/>
          <a:ln w="19050">
            <a:solidFill>
              <a:srgbClr val="E88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1627632"/>
            <a:ext cx="164592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26280" y="1627632"/>
            <a:ext cx="22860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65760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017520"/>
            <a:ext cx="548640" cy="1463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9" name="Text 27"/>
          <p:cNvSpPr/>
          <p:nvPr/>
        </p:nvSpPr>
        <p:spPr>
          <a:xfrm>
            <a:off x="365760" y="3017520"/>
            <a:ext cx="5486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51560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铰接销锁止卡子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474720"/>
            <a:ext cx="1965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用手摇晃锁止卡子，确认无松动、变形、锈蚀；开口销完整无断裂。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27832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27832" y="3017520"/>
            <a:ext cx="548640" cy="1463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4" name="Text 32"/>
          <p:cNvSpPr/>
          <p:nvPr/>
        </p:nvSpPr>
        <p:spPr>
          <a:xfrm>
            <a:off x="3227832" y="3017520"/>
            <a:ext cx="5486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913632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轴承旷量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13632" y="3474720"/>
            <a:ext cx="1965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左右晃动铰接腰，判断间隙≤规定值（按车型手册），超限立即报修。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9904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9904" y="3017520"/>
            <a:ext cx="548640" cy="1463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9" name="Text 37"/>
          <p:cNvSpPr/>
          <p:nvPr/>
        </p:nvSpPr>
        <p:spPr>
          <a:xfrm>
            <a:off x="6089904" y="3017520"/>
            <a:ext cx="5486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75704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转向油缸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75704" y="3474720"/>
            <a:ext cx="1965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目视油缸杆无拉伤、渗油；接头紧固，活塞行程正常无卡滞。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3" name="Text 41"/>
          <p:cNvSpPr/>
          <p:nvPr/>
        </p:nvSpPr>
        <p:spPr>
          <a:xfrm>
            <a:off x="457200" y="457200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案例：某车开口销断裂未发现，重载上坡时销子脱出，险些造成前后车架分离的碾压事故 —— 这是绕车时随手一查就能发现的事。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1.1.2  白抹布查“三油两水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一秒看清金属粉末与乳化进水，杜绝凭感觉猜油质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【判断标准】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0" y="1828800"/>
            <a:ext cx="178308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92024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白抹布工具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2331720"/>
            <a:ext cx="1234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2468880"/>
            <a:ext cx="960120" cy="960120"/>
          </a:xfrm>
          <a:prstGeom prst="rect">
            <a:avLst/>
          </a:prstGeom>
          <a:solidFill>
            <a:srgbClr val="F5F3EE"/>
          </a:solidFill>
          <a:ln w="3810">
            <a:solidFill>
              <a:srgbClr val="3A5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520440"/>
            <a:ext cx="1508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白纸巾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4300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143000"/>
            <a:ext cx="2057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5" name="Text 13"/>
          <p:cNvSpPr/>
          <p:nvPr/>
        </p:nvSpPr>
        <p:spPr>
          <a:xfrm>
            <a:off x="457200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 Oil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600200"/>
            <a:ext cx="187452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8" name="Text 16"/>
          <p:cNvSpPr/>
          <p:nvPr/>
        </p:nvSpPr>
        <p:spPr>
          <a:xfrm>
            <a:off x="502920" y="16916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9202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金黄透明 · 手捻无颗粒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1874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1" name="Text 19"/>
          <p:cNvSpPr/>
          <p:nvPr/>
        </p:nvSpPr>
        <p:spPr>
          <a:xfrm>
            <a:off x="502920" y="23774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6060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发黑：金属粉末混入 → 内磨损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42032" y="114300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1143000"/>
            <a:ext cx="2057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5" name="Text 23"/>
          <p:cNvSpPr/>
          <p:nvPr/>
        </p:nvSpPr>
        <p:spPr>
          <a:xfrm>
            <a:off x="2633472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33472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Hydraulic Oil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33472" y="1600200"/>
            <a:ext cx="187452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28" name="Text 26"/>
          <p:cNvSpPr/>
          <p:nvPr/>
        </p:nvSpPr>
        <p:spPr>
          <a:xfrm>
            <a:off x="2679192" y="16916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79192" y="19202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澄清黄 · 拉丝感明显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3472" y="2286000"/>
            <a:ext cx="1874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1" name="Text 29"/>
          <p:cNvSpPr/>
          <p:nvPr/>
        </p:nvSpPr>
        <p:spPr>
          <a:xfrm>
            <a:off x="2679192" y="23774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79192" y="26060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乳白：混入空气或水 → 油温异常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18304" y="114300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1143000"/>
            <a:ext cx="2057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5" name="Text 33"/>
          <p:cNvSpPr/>
          <p:nvPr/>
        </p:nvSpPr>
        <p:spPr>
          <a:xfrm>
            <a:off x="4809744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9744" y="11430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Coolant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9744" y="1600200"/>
            <a:ext cx="187452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8" name="Text 36"/>
          <p:cNvSpPr/>
          <p:nvPr/>
        </p:nvSpPr>
        <p:spPr>
          <a:xfrm>
            <a:off x="4855464" y="16916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5464" y="19202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绿/红/蓝 · 透明无杂质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2286000"/>
            <a:ext cx="1874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1" name="Text 39"/>
          <p:cNvSpPr/>
          <p:nvPr/>
        </p:nvSpPr>
        <p:spPr>
          <a:xfrm>
            <a:off x="4855464" y="23774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55464" y="260604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浑浊/有油花：缸垫漏水或机油混入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1546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154680"/>
            <a:ext cx="2057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45" name="Text 43"/>
          <p:cNvSpPr/>
          <p:nvPr/>
        </p:nvSpPr>
        <p:spPr>
          <a:xfrm>
            <a:off x="457200" y="315468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315468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Fuel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611880"/>
            <a:ext cx="187452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48" name="Text 46"/>
          <p:cNvSpPr/>
          <p:nvPr/>
        </p:nvSpPr>
        <p:spPr>
          <a:xfrm>
            <a:off x="502920" y="3703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393192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清亮浅黄 · 无水珠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297680"/>
            <a:ext cx="1874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1" name="Text 49"/>
          <p:cNvSpPr/>
          <p:nvPr/>
        </p:nvSpPr>
        <p:spPr>
          <a:xfrm>
            <a:off x="502920" y="438912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浑浊有水：油水分离器失效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42032" y="31546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42032" y="3154680"/>
            <a:ext cx="2057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55" name="Text 53"/>
          <p:cNvSpPr/>
          <p:nvPr/>
        </p:nvSpPr>
        <p:spPr>
          <a:xfrm>
            <a:off x="2633472" y="315468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冷却水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633472" y="315468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Cooling Water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633472" y="3611880"/>
            <a:ext cx="187452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58" name="Text 56"/>
          <p:cNvSpPr/>
          <p:nvPr/>
        </p:nvSpPr>
        <p:spPr>
          <a:xfrm>
            <a:off x="2679192" y="370332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679192" y="393192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清澈 · 无油花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33472" y="4297680"/>
            <a:ext cx="1874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61" name="Text 59"/>
          <p:cNvSpPr/>
          <p:nvPr/>
        </p:nvSpPr>
        <p:spPr>
          <a:xfrm>
            <a:off x="2679192" y="438912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异常⚠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79192" y="4617720"/>
            <a:ext cx="17830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有油渍：机油/液压油渗入冷却系统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64" name="Shape 6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65" name="Text 6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  启动怠速的“听音辨位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上车打火30秒内的三件事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【概念】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7772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Shape 8"/>
          <p:cNvSpPr/>
          <p:nvPr/>
        </p:nvSpPr>
        <p:spPr>
          <a:xfrm>
            <a:off x="594360" y="1353312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41732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听声辨位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打火后30秒内，听柴油机的“突突”声与转向液压的“嘶嘶”声。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237744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26974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观察要点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均匀突突 → 正常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金属敲缸声 → 内部磨损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嗤嗤啸叫 → 漏气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嘶嘶啸叫 → 管路进气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1188720"/>
            <a:ext cx="2743200" cy="7772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9" name="Shape 17"/>
          <p:cNvSpPr/>
          <p:nvPr/>
        </p:nvSpPr>
        <p:spPr>
          <a:xfrm>
            <a:off x="3502152" y="1353312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3502152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50792" y="141732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盯死机油压力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56432" y="21031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机油压力灯必须3秒内熄灭，不亮绿灯绝不挂挡。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56432" y="2606040"/>
            <a:ext cx="237744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456432" y="26974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观察要点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56432" y="297180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 = 机油泵或油路故障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闪 = 传感器接触不良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熄 = 正常，可挂挡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未熄还亮 → 立刻熄火报修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1188720"/>
            <a:ext cx="2743200" cy="7772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8" name="Shape 26"/>
          <p:cNvSpPr/>
          <p:nvPr/>
        </p:nvSpPr>
        <p:spPr>
          <a:xfrm>
            <a:off x="6409944" y="1353312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6409944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▣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58584" y="141732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扫一眼仪表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64224" y="21031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气压、油量、水温、电压、刹车气压指示器逐项扫视。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64224" y="2606040"/>
            <a:ext cx="237744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364224" y="26974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观察要点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64224" y="297180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气压 5bar+ → 可启动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油量足 → 不断油熄火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水温在中线 → 节温器正常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电压 24V+ → 发电机工作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1.2.1 + 1.2.2  听音辨位 × 机油压力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一分钟判断表 · 打火即知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【实操对照】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5720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572000" cy="4572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457200" y="11887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1.2.1  听声辨位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5720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12" name="Text 10"/>
          <p:cNvSpPr/>
          <p:nvPr/>
        </p:nvSpPr>
        <p:spPr>
          <a:xfrm>
            <a:off x="502920" y="178308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突突 · 均匀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78308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7830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金属敲缸声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14884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活塞/轴承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熄火报修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45720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19" name="Text 17"/>
          <p:cNvSpPr/>
          <p:nvPr/>
        </p:nvSpPr>
        <p:spPr>
          <a:xfrm>
            <a:off x="502920" y="2514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嗤嗤啸叫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251460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进气/排气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查漏气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嘶嘶液压啸叫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288036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液压管路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28803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进气或渗漏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5720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26" name="Text 24"/>
          <p:cNvSpPr/>
          <p:nvPr/>
        </p:nvSpPr>
        <p:spPr>
          <a:xfrm>
            <a:off x="502920" y="324612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咯噔 / 嘎吱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3246120"/>
            <a:ext cx="1463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铰接/传动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24612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立即停车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4920" y="118872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1188720"/>
            <a:ext cx="370332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1" name="Text 29"/>
          <p:cNvSpPr/>
          <p:nvPr/>
        </p:nvSpPr>
        <p:spPr>
          <a:xfrm>
            <a:off x="5166360" y="1188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1.2.2  盯死机油压力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57800" y="1828800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525780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852160" y="182880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3秒内必须熄灭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2286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否则绝不挂挡！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57800" y="2697480"/>
            <a:ext cx="338328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7" name="Text 35"/>
          <p:cNvSpPr/>
          <p:nvPr/>
        </p:nvSpPr>
        <p:spPr>
          <a:xfrm>
            <a:off x="5257800" y="269748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灯状态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26974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26974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57800" y="2971800"/>
            <a:ext cx="3383280" cy="384048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41" name="Text 39"/>
          <p:cNvSpPr/>
          <p:nvPr/>
        </p:nvSpPr>
        <p:spPr>
          <a:xfrm>
            <a:off x="5257800" y="2971800"/>
            <a:ext cx="822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297180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熄灭（3秒内）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95160" y="2971800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 · 可挂挡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355848"/>
            <a:ext cx="822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一直亮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3355848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立刻熄火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95160" y="3355848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机油泵/油路故障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7800" y="3739896"/>
            <a:ext cx="3383280" cy="384048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48" name="Text 46"/>
          <p:cNvSpPr/>
          <p:nvPr/>
        </p:nvSpPr>
        <p:spPr>
          <a:xfrm>
            <a:off x="5257800" y="3739896"/>
            <a:ext cx="822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闪烁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0760" y="3739896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熄火检查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95160" y="3739896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传感器接触不良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4123944"/>
            <a:ext cx="822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启动后再亮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4123944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立刻靠边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95160" y="4123944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油路堵塞/油量不足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本节要点回顾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出车前“十分钟避险”——6个词刻进肌肉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【回顾】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全队一个SOP，视野统一不漏点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258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卡子 / 销子 / 轴承 / 油缸，死磕四件套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258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白抹布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三油两水看颜色，金属粉末一眼就见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8211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3547872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听音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" y="4187952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敲缸、漏气、啸叫，30秒内出结论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44952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18211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29000" y="3547872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盯压力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29000" y="4187952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3秒不亮绿灯，绝不挂挡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044952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18211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09360" y="3547872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扫仪表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309360" y="4187952"/>
            <a:ext cx="2377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气压 / 油量 / 水温 / 电压，一眼扫完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出车前的“十分钟”，换来的是半坡“不叫拖车”，更是“全须全尾回家”。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/>
          <p:nvPr/>
        </p:nvSpPr>
        <p:spPr>
          <a:xfrm>
            <a:off x="274320" y="548640"/>
            <a:ext cx="3657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01 · 第二节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18872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行驶中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155448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“五感雷达”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4805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把身体变成故障传感器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3108960"/>
            <a:ext cx="731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9" name="Shape 7"/>
          <p:cNvSpPr/>
          <p:nvPr/>
        </p:nvSpPr>
        <p:spPr>
          <a:xfrm>
            <a:off x="4480560" y="333756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4480560" y="33375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33756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听觉 · 嗅觉的异常捕捉【重点】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79476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3" name="Text 11"/>
          <p:cNvSpPr/>
          <p:nvPr/>
        </p:nvSpPr>
        <p:spPr>
          <a:xfrm>
            <a:off x="4480560" y="379476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触觉 · 体感的隐患预警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43484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五感在线 = 故障看见 = 上班不抛锚 = 下班见家人。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  听觉与嗅觉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异常捕捉·听见就停·闻到就停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【重点】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069080" cy="5943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♪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1307592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2.1.1  听 · 听觉捕获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901952"/>
            <a:ext cx="3703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转弯时捕捉中间“嘎吱”干磨声（缺油）与“咔咔”金属撞击声（销子旷量），听到必停。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70332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2651760"/>
            <a:ext cx="370332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5" name="Text 13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声音/气味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651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651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可能的故障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703320" cy="393192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19" name="Text 17"/>
          <p:cNvSpPr/>
          <p:nvPr/>
        </p:nvSpPr>
        <p:spPr>
          <a:xfrm>
            <a:off x="594360" y="2971800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嘎吱 干磨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2971800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971800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铰接腰缺油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364992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咔咔 撞击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364992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364992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销子旷量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58184"/>
            <a:ext cx="3703320" cy="393192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26" name="Text 24"/>
          <p:cNvSpPr/>
          <p:nvPr/>
        </p:nvSpPr>
        <p:spPr>
          <a:xfrm>
            <a:off x="594360" y="3758184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哐当 异响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758184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758184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底盘螺栓松动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151376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嗡鸣 共振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4151376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4151376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轴承发卡 / 齿轮磨损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18872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188720"/>
            <a:ext cx="4069080" cy="5943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4" name="Text 32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▣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49240" y="1307592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2.1.2  闻 · 嗅觉捕获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92040" y="1901952"/>
            <a:ext cx="3703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敏锐捕捉刹车过热的焦糊味、柴油漏到排气管的柴油味、暖风水箱渗漏的防冻液甜味。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2560320"/>
            <a:ext cx="3703320" cy="0"/>
          </a:xfrm>
          <a:prstGeom prst="line">
            <a:avLst/>
          </a:prstGeom>
          <a:noFill/>
          <a:ln w="6350">
            <a:solidFill>
              <a:srgbClr val="C9A87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651760"/>
            <a:ext cx="370332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9" name="Text 37"/>
          <p:cNvSpPr/>
          <p:nvPr/>
        </p:nvSpPr>
        <p:spPr>
          <a:xfrm>
            <a:off x="4892040" y="265176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声音/气味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2651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26517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可能的故障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2971800"/>
            <a:ext cx="3703320" cy="393192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43" name="Text 41"/>
          <p:cNvSpPr/>
          <p:nvPr/>
        </p:nvSpPr>
        <p:spPr>
          <a:xfrm>
            <a:off x="4937760" y="2971800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焦糊味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2971800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2971800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刹车过热 / 离合打滑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364992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柴油味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3364992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29400" y="3364992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油管渗漏 → 排气管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92040" y="3758184"/>
            <a:ext cx="3703320" cy="393192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50" name="Text 48"/>
          <p:cNvSpPr/>
          <p:nvPr/>
        </p:nvSpPr>
        <p:spPr>
          <a:xfrm>
            <a:off x="4937760" y="3758184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防冻液甜味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55080" y="3758184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29400" y="3758184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暖风水箱渗漏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37760" y="4151376"/>
            <a:ext cx="146304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焦橡胶味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5080" y="4151376"/>
            <a:ext cx="27432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629400" y="4151376"/>
            <a:ext cx="196596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皮带打滑 / 线束短路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7" name="Text 55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原则：听到异响不停 = 把命押给下一次的爆裂；闻到异味不止 = 把事故留给晚班的人。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2.1.1  听铰接异响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 → 故障对照表 · 转弯时一耳朵的事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9520" y="228600"/>
            <a:ext cx="137160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589520" y="2286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【实操对照】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9" name="Text 7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异常声音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1887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来源系统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1887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可能原因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司机动作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691640"/>
            <a:ext cx="91440" cy="5486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5" name="Text 13"/>
          <p:cNvSpPr/>
          <p:nvPr/>
        </p:nvSpPr>
        <p:spPr>
          <a:xfrm>
            <a:off x="502920" y="169164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嘎吱 · 干磨声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169164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 · 转动处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69164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缺油 / 黄油失效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764792"/>
            <a:ext cx="2560320" cy="40233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9" name="Text 17"/>
          <p:cNvSpPr/>
          <p:nvPr/>
        </p:nvSpPr>
        <p:spPr>
          <a:xfrm>
            <a:off x="6126480" y="1764792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立即停车加油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286000"/>
            <a:ext cx="91440" cy="5486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2" name="Text 20"/>
          <p:cNvSpPr/>
          <p:nvPr/>
        </p:nvSpPr>
        <p:spPr>
          <a:xfrm>
            <a:off x="502920" y="228600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咔咔 · 撞击声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228600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 · 转动处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28600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销子旷量 / 卡子松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359152"/>
            <a:ext cx="2560320" cy="40233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6" name="Text 24"/>
          <p:cNvSpPr/>
          <p:nvPr/>
        </p:nvSpPr>
        <p:spPr>
          <a:xfrm>
            <a:off x="6126480" y="2359152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立即停车报修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880360"/>
            <a:ext cx="91440" cy="5486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9" name="Text 27"/>
          <p:cNvSpPr/>
          <p:nvPr/>
        </p:nvSpPr>
        <p:spPr>
          <a:xfrm>
            <a:off x="502920" y="288036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咯噔 · 沉闷响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288036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传动 / 后桥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288036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螺栓松动 / 半轴旷量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953512"/>
            <a:ext cx="2560320" cy="40233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6126480" y="2953512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减速靠边检查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47472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474720"/>
            <a:ext cx="91440" cy="5486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6" name="Text 34"/>
          <p:cNvSpPr/>
          <p:nvPr/>
        </p:nvSpPr>
        <p:spPr>
          <a:xfrm>
            <a:off x="502920" y="34747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嗡鸣 · 共振声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347472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 / 齿轮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34747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轴承发卡 / 啮合异常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547872"/>
            <a:ext cx="2560320" cy="40233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0" name="Text 38"/>
          <p:cNvSpPr/>
          <p:nvPr/>
        </p:nvSpPr>
        <p:spPr>
          <a:xfrm>
            <a:off x="6126480" y="3547872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听声加重 → 停车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2976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7083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听到异响 → 第一动作：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4663440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4" name="Text 42"/>
          <p:cNvSpPr/>
          <p:nvPr/>
        </p:nvSpPr>
        <p:spPr>
          <a:xfrm>
            <a:off x="502920" y="46634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" y="46634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417320" y="4663440"/>
            <a:ext cx="137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A7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08760" y="4663440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8" name="Text 46"/>
          <p:cNvSpPr/>
          <p:nvPr/>
        </p:nvSpPr>
        <p:spPr>
          <a:xfrm>
            <a:off x="1508760" y="46634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801368" y="46634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423160" y="4663440"/>
            <a:ext cx="137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A7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14600" y="4663440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52" name="Text 50"/>
          <p:cNvSpPr/>
          <p:nvPr/>
        </p:nvSpPr>
        <p:spPr>
          <a:xfrm>
            <a:off x="2514600" y="46634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807208" y="46634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429000" y="4663440"/>
            <a:ext cx="137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A7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520440" y="4663440"/>
            <a:ext cx="274320" cy="27432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56" name="Text 54"/>
          <p:cNvSpPr/>
          <p:nvPr/>
        </p:nvSpPr>
        <p:spPr>
          <a:xfrm>
            <a:off x="3520440" y="46634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13048" y="46634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06240" y="4370832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右键记忆口诀：减速→靠边→停车→汇报，先把车稳住，再想是不是误会。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60" name="Text 5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2.1.2  闻致命气味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气味 → 风险对照 · 鼻子比仪表更灵敏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9520" y="228600"/>
            <a:ext cx="137160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589520" y="2286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【实操对照】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9" name="Text 7"/>
          <p:cNvSpPr/>
          <p:nvPr/>
        </p:nvSpPr>
        <p:spPr>
          <a:xfrm>
            <a:off x="365760" y="11887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异常气味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1887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来源系统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1887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可能原因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司机动作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691640"/>
            <a:ext cx="91440" cy="52120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5" name="Text 13"/>
          <p:cNvSpPr/>
          <p:nvPr/>
        </p:nvSpPr>
        <p:spPr>
          <a:xfrm>
            <a:off x="502920" y="1691640"/>
            <a:ext cx="1828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焦糊味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1691640"/>
            <a:ext cx="164592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 / 离合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691640"/>
            <a:ext cx="2011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过热抱死 / 离合打滑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755648"/>
            <a:ext cx="2560320" cy="38404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9" name="Text 17"/>
          <p:cNvSpPr/>
          <p:nvPr/>
        </p:nvSpPr>
        <p:spPr>
          <a:xfrm>
            <a:off x="6126480" y="1755648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立刻靠边停车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58568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258568"/>
            <a:ext cx="91440" cy="52120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2" name="Text 20"/>
          <p:cNvSpPr/>
          <p:nvPr/>
        </p:nvSpPr>
        <p:spPr>
          <a:xfrm>
            <a:off x="502920" y="2258568"/>
            <a:ext cx="1828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2258568"/>
            <a:ext cx="164592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供油 / 油管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258568"/>
            <a:ext cx="2011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渗漏到排气管 → 起火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322576"/>
            <a:ext cx="2560320" cy="38404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6" name="Text 24"/>
          <p:cNvSpPr/>
          <p:nvPr/>
        </p:nvSpPr>
        <p:spPr>
          <a:xfrm>
            <a:off x="6126480" y="23225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熄火，查油管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825496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825496"/>
            <a:ext cx="91440" cy="52120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9" name="Text 27"/>
          <p:cNvSpPr/>
          <p:nvPr/>
        </p:nvSpPr>
        <p:spPr>
          <a:xfrm>
            <a:off x="502920" y="2825496"/>
            <a:ext cx="1828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防冻液甜味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2825496"/>
            <a:ext cx="164592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暖风水箱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2825496"/>
            <a:ext cx="2011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防冻液渗漏到排气管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889504"/>
            <a:ext cx="2560320" cy="38404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6126480" y="2889504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停车，查水箱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392424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392424"/>
            <a:ext cx="91440" cy="52120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6" name="Text 34"/>
          <p:cNvSpPr/>
          <p:nvPr/>
        </p:nvSpPr>
        <p:spPr>
          <a:xfrm>
            <a:off x="502920" y="3392424"/>
            <a:ext cx="1828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焦橡胶 / 塑料味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3392424"/>
            <a:ext cx="164592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皮带 / 线束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3392424"/>
            <a:ext cx="20116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皮带打滑 / 线束短路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456432"/>
            <a:ext cx="2560320" cy="384048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0" name="Text 38"/>
          <p:cNvSpPr/>
          <p:nvPr/>
        </p:nvSpPr>
        <p:spPr>
          <a:xfrm>
            <a:off x="6126480" y="345643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停车，查电路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02336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148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鼻子变灵，是老师傅的基本功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" y="4526280"/>
            <a:ext cx="1417320" cy="365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4" name="Text 42"/>
          <p:cNvSpPr/>
          <p:nvPr/>
        </p:nvSpPr>
        <p:spPr>
          <a:xfrm>
            <a:off x="502920" y="452628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✘ 不闻继续开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57400" y="4526280"/>
            <a:ext cx="1417320" cy="365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6" name="Text 44"/>
          <p:cNvSpPr/>
          <p:nvPr/>
        </p:nvSpPr>
        <p:spPr>
          <a:xfrm>
            <a:off x="2057400" y="452628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✘ 不抽烟明火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11880" y="4526280"/>
            <a:ext cx="1417320" cy="36576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8" name="Text 46"/>
          <p:cNvSpPr/>
          <p:nvPr/>
        </p:nvSpPr>
        <p:spPr>
          <a:xfrm>
            <a:off x="3611880" y="452628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✘ 不抱侥幸心理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40680" y="4526280"/>
            <a:ext cx="320040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50" name="Text 48"/>
          <p:cNvSpPr/>
          <p:nvPr/>
        </p:nvSpPr>
        <p:spPr>
          <a:xfrm>
            <a:off x="5440680" y="45262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立即停车熄火 + 报修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  触觉与体感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休息间隙的“手背试温” + 行车的“体感”判断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【概念】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069080" cy="6400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3840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2.2.1  手背试温法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防烫缩手，限时30秒内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731520" cy="731520"/>
          </a:xfrm>
          <a:prstGeom prst="ellipse">
            <a:avLst/>
          </a:prstGeom>
          <a:solidFill>
            <a:srgbClr val="3A5A78"/>
          </a:solidFill>
        </p:spPr>
      </p:sp>
      <p:sp>
        <p:nvSpPr>
          <p:cNvPr id="13" name="Text 11"/>
          <p:cNvSpPr/>
          <p:nvPr/>
        </p:nvSpPr>
        <p:spPr>
          <a:xfrm>
            <a:off x="640080" y="3035808"/>
            <a:ext cx="731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2423160"/>
            <a:ext cx="548640" cy="45720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5" name="Text 13"/>
          <p:cNvSpPr/>
          <p:nvPr/>
        </p:nvSpPr>
        <p:spPr>
          <a:xfrm>
            <a:off x="1417320" y="2889504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2651760"/>
            <a:ext cx="91440" cy="0"/>
          </a:xfrm>
          <a:prstGeom prst="line">
            <a:avLst/>
          </a:prstGeom>
          <a:noFill/>
          <a:ln w="19050">
            <a:solidFill>
              <a:srgbClr val="E88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2860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测温要点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560320"/>
            <a:ext cx="219456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轮毂微热（≤40℃）→ 正常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明显发烫（&gt;60℃）→ 轴承发卡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烫手缩手 → 立即报修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液压油箱手感烫 → 散热器堵塞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379476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0" name="Text 18"/>
          <p:cNvSpPr/>
          <p:nvPr/>
        </p:nvSpPr>
        <p:spPr>
          <a:xfrm>
            <a:off x="502920" y="4434840"/>
            <a:ext cx="3794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原则：手背试温 &gt; 手心，手心太厚容易误判。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188720"/>
            <a:ext cx="406908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3" name="Text 21"/>
          <p:cNvSpPr/>
          <p:nvPr/>
        </p:nvSpPr>
        <p:spPr>
          <a:xfrm>
            <a:off x="4846320" y="1188720"/>
            <a:ext cx="3840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2.2.2  体感察失控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驾驶中的方向盘 + 脚感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3794760" cy="50292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26" name="Shape 24"/>
          <p:cNvSpPr/>
          <p:nvPr/>
        </p:nvSpPr>
        <p:spPr>
          <a:xfrm>
            <a:off x="4846320" y="2331720"/>
            <a:ext cx="54864" cy="5029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7" name="Text 25"/>
          <p:cNvSpPr/>
          <p:nvPr/>
        </p:nvSpPr>
        <p:spPr>
          <a:xfrm>
            <a:off x="4937760" y="2331720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23317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异常抖动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33172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转向系统 / 轮胎动平衡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80360"/>
            <a:ext cx="3794760" cy="50292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31" name="Shape 29"/>
          <p:cNvSpPr/>
          <p:nvPr/>
        </p:nvSpPr>
        <p:spPr>
          <a:xfrm>
            <a:off x="4846320" y="2880360"/>
            <a:ext cx="54864" cy="5029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2" name="Text 30"/>
          <p:cNvSpPr/>
          <p:nvPr/>
        </p:nvSpPr>
        <p:spPr>
          <a:xfrm>
            <a:off x="4937760" y="2880360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刹车脚感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288036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变软下沉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88036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刹车进空气 / 管路渗漏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429000"/>
            <a:ext cx="3794760" cy="50292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36" name="Shape 34"/>
          <p:cNvSpPr/>
          <p:nvPr/>
        </p:nvSpPr>
        <p:spPr>
          <a:xfrm>
            <a:off x="4846320" y="3429000"/>
            <a:ext cx="54864" cy="5029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7" name="Text 35"/>
          <p:cNvSpPr/>
          <p:nvPr/>
        </p:nvSpPr>
        <p:spPr>
          <a:xfrm>
            <a:off x="4937760" y="3429000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重载跑偏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342900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制动拖滞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42900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制动器卡滞 / 间隙失当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160520"/>
            <a:ext cx="3794760" cy="5029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41" name="Text 39"/>
          <p:cNvSpPr/>
          <p:nvPr/>
        </p:nvSpPr>
        <p:spPr>
          <a:xfrm>
            <a:off x="4846320" y="4160520"/>
            <a:ext cx="3794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司机是车的“第一仪表”，体感比任何传感器都灵敏。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2.2.1 + 2.2.2  手背试温 × 体感判断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矿车驾驶员的“双体温计”——手背+脚心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【实操对照】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2.2.1  手背试温 温度梯度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64008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2" name="Text 10"/>
          <p:cNvSpPr/>
          <p:nvPr/>
        </p:nvSpPr>
        <p:spPr>
          <a:xfrm>
            <a:off x="502920" y="18288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≤40℃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1993392"/>
            <a:ext cx="2560320" cy="91440"/>
          </a:xfrm>
          <a:prstGeom prst="rect">
            <a:avLst/>
          </a:prstGeom>
          <a:solidFill>
            <a:srgbClr val="1F3A5F">
              <a:alpha val="4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188720" y="182880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微温 · 正常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331720"/>
            <a:ext cx="640080" cy="41148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6" name="Text 14"/>
          <p:cNvSpPr/>
          <p:nvPr/>
        </p:nvSpPr>
        <p:spPr>
          <a:xfrm>
            <a:off x="502920" y="233172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40-60℃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2496312"/>
            <a:ext cx="2240280" cy="91440"/>
          </a:xfrm>
          <a:prstGeom prst="rect">
            <a:avLst/>
          </a:prstGeom>
          <a:solidFill>
            <a:srgbClr val="C9A876">
              <a:alpha val="4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188720" y="233172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偏热 · 持续观察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640080" cy="411480"/>
          </a:xfrm>
          <a:prstGeom prst="rect">
            <a:avLst/>
          </a:prstGeom>
          <a:solidFill>
            <a:srgbClr val="D8A03F"/>
          </a:solidFill>
        </p:spPr>
      </p:sp>
      <p:sp>
        <p:nvSpPr>
          <p:cNvPr id="20" name="Text 18"/>
          <p:cNvSpPr/>
          <p:nvPr/>
        </p:nvSpPr>
        <p:spPr>
          <a:xfrm>
            <a:off x="502920" y="283464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60-80℃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8720" y="2999232"/>
            <a:ext cx="1920240" cy="91440"/>
          </a:xfrm>
          <a:prstGeom prst="rect">
            <a:avLst/>
          </a:prstGeom>
          <a:solidFill>
            <a:srgbClr val="D8A03F">
              <a:alpha val="4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188720" y="28346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发烫 · 减速检查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64008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4" name="Text 22"/>
          <p:cNvSpPr/>
          <p:nvPr/>
        </p:nvSpPr>
        <p:spPr>
          <a:xfrm>
            <a:off x="502920" y="333756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&gt;80℃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8720" y="3502152"/>
            <a:ext cx="1600200" cy="91440"/>
          </a:xfrm>
          <a:prstGeom prst="rect">
            <a:avLst/>
          </a:prstGeom>
          <a:solidFill>
            <a:srgbClr val="E8873A">
              <a:alpha val="4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188720" y="33375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烫手缩手 · 立即报修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114800"/>
            <a:ext cx="393192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8" name="Text 26"/>
          <p:cNvSpPr/>
          <p:nvPr/>
        </p:nvSpPr>
        <p:spPr>
          <a:xfrm>
            <a:off x="502920" y="4114800"/>
            <a:ext cx="3931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老师傅经验：休息间隙摸一下，三秒判断，不要在热车状态下伸手。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188720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88720"/>
            <a:ext cx="406908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1" name="Text 29"/>
          <p:cNvSpPr/>
          <p:nvPr/>
        </p:nvSpPr>
        <p:spPr>
          <a:xfrm>
            <a:off x="4846320" y="11887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2.2.2  体感决策 方向盘 / 脚感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1828800"/>
            <a:ext cx="3794760" cy="320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3" name="Text 31"/>
          <p:cNvSpPr/>
          <p:nvPr/>
        </p:nvSpPr>
        <p:spPr>
          <a:xfrm>
            <a:off x="4846320" y="182880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方向盘抖动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2194560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19456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低速抖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2322576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9456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轮胎动平衡 / 螺栓松动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487168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E887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487168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高速抖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615184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48716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传动轴 / 前轮定位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834640"/>
            <a:ext cx="3794760" cy="320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43" name="Text 41"/>
          <p:cNvSpPr/>
          <p:nvPr/>
        </p:nvSpPr>
        <p:spPr>
          <a:xfrm>
            <a:off x="4846320" y="283464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刹车脚感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3200400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E887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20040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发软下沉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3328416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20040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进空气 / 油管渗漏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0" y="3493008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E887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3493008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硬且方向跑偏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621024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49300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单边管路堵塞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3840480"/>
            <a:ext cx="3794760" cy="320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53" name="Text 51"/>
          <p:cNvSpPr/>
          <p:nvPr/>
        </p:nvSpPr>
        <p:spPr>
          <a:xfrm>
            <a:off x="4846320" y="384048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重载跑偏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0" y="4206240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E887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20624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始终偏一侧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9360" y="4334256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420624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制动器拖滞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4498848"/>
            <a:ext cx="1280160" cy="256032"/>
          </a:xfrm>
          <a:prstGeom prst="rect">
            <a:avLst/>
          </a:prstGeom>
          <a:solidFill>
            <a:srgbClr val="F5F3EE"/>
          </a:solidFill>
          <a:ln w="6350">
            <a:solidFill>
              <a:srgbClr val="E887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4498848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下坡偏重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9360" y="4626864"/>
            <a:ext cx="182880" cy="0"/>
          </a:xfrm>
          <a:prstGeom prst="line">
            <a:avLst/>
          </a:prstGeom>
          <a:noFill/>
          <a:ln w="12700">
            <a:solidFill>
              <a:srgbClr val="C9A8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449884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转向系统进气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63" name="Text 6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本节要点回顾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行驶中“五感雷达”——4个词挂耳朵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【回顾】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01168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1143000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♪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关键信号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17373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嘎吱 / 咔咔 / 咯噔 / 嗡鸣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201168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6" name="Text 14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转弯必听，听到必停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42032" y="118872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1188720"/>
            <a:ext cx="201168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9" name="Text 17"/>
          <p:cNvSpPr/>
          <p:nvPr/>
        </p:nvSpPr>
        <p:spPr>
          <a:xfrm>
            <a:off x="3319272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▣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542032" y="169164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542032" y="21945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Olfactory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79192" y="25603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关键信号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2834640"/>
            <a:ext cx="17373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焦糊 / 柴油 / 防冻液甜 / 橡胶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4023360"/>
            <a:ext cx="201168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5" name="Text 23"/>
          <p:cNvSpPr/>
          <p:nvPr/>
        </p:nvSpPr>
        <p:spPr>
          <a:xfrm>
            <a:off x="2633472" y="402336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鼻子比仪表灵，闻到即查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18304" y="118872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1188720"/>
            <a:ext cx="201168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8" name="Text 26"/>
          <p:cNvSpPr/>
          <p:nvPr/>
        </p:nvSpPr>
        <p:spPr>
          <a:xfrm>
            <a:off x="5495544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✋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718304" y="169164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718304" y="21945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Tactile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25603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关键信号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2834640"/>
            <a:ext cx="17373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轮毂 / 液压油箱 / 排气管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18304" y="4023360"/>
            <a:ext cx="201168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4" name="Text 32"/>
          <p:cNvSpPr/>
          <p:nvPr/>
        </p:nvSpPr>
        <p:spPr>
          <a:xfrm>
            <a:off x="4809744" y="402336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手背试温，三秒判断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94576" y="118872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4576" y="1188720"/>
            <a:ext cx="201168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7" name="Text 35"/>
          <p:cNvSpPr/>
          <p:nvPr/>
        </p:nvSpPr>
        <p:spPr>
          <a:xfrm>
            <a:off x="7671816" y="1325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🚗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894576" y="169164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6894576" y="21945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Body Sense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31736" y="25603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关键信号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31736" y="2834640"/>
            <a:ext cx="17373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方向盘 / 刹车脚感 / 跑偏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94576" y="4023360"/>
            <a:ext cx="2011680" cy="6400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3" name="Text 41"/>
          <p:cNvSpPr/>
          <p:nvPr/>
        </p:nvSpPr>
        <p:spPr>
          <a:xfrm>
            <a:off x="6986016" y="402336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身体第一仪表，体感到位不慌乱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45" name="Text 43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听、闻、触、感——四个动作挂耳朵，五感在线 = 全须全尾回家。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" name="Text 1"/>
          <p:cNvSpPr/>
          <p:nvPr/>
        </p:nvSpPr>
        <p:spPr>
          <a:xfrm>
            <a:off x="274320" y="128016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风险处置闭环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0" y="2423160"/>
            <a:ext cx="5029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守住红线，从“检出来”到“闭环掉”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1097280" cy="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383280"/>
            <a:ext cx="5212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三、异常定级与“红线”停机决策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渗漏三看、仪表红停黄看、避险七步诀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四、收车“护身符”：交接记录与自我保护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涡轮降温、复查对比、写进交接单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/>
          <p:nvPr/>
        </p:nvSpPr>
        <p:spPr>
          <a:xfrm>
            <a:off x="274320" y="548640"/>
            <a:ext cx="3657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02 · 第三节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2801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异常定级与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“红线”停机决策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480560" y="27889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事故面前，判断比速度更重要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3337560"/>
            <a:ext cx="731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9" name="Shape 7"/>
          <p:cNvSpPr/>
          <p:nvPr/>
        </p:nvSpPr>
        <p:spPr>
          <a:xfrm>
            <a:off x="4480560" y="352044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4480560" y="352044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5204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渗漏“三看”定级法【核心方法】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97764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3" name="Text 11"/>
          <p:cNvSpPr/>
          <p:nvPr/>
        </p:nvSpPr>
        <p:spPr>
          <a:xfrm>
            <a:off x="4480560" y="397764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9776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仪表“红停黄看”与避险七步诀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57200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宁可错停，绝不心存侥幸“再跑两百米”。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  核心方法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渗漏“三看”定级法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【核心方法】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7772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280160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5840" y="129844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看材质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23774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机油滑、液压油黏（拉丝）、防冻液甜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237744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5" name="Text 13"/>
          <p:cNvSpPr/>
          <p:nvPr/>
        </p:nvSpPr>
        <p:spPr>
          <a:xfrm>
            <a:off x="548640" y="27432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判断漏点系统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11887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188720"/>
            <a:ext cx="2743200" cy="7772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8" name="Text 16"/>
          <p:cNvSpPr/>
          <p:nvPr/>
        </p:nvSpPr>
        <p:spPr>
          <a:xfrm>
            <a:off x="3410712" y="1280160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13632" y="129844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看速度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13632" y="16459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FAST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2103120"/>
            <a:ext cx="23774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 · 滴 · 漏，三级升级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56432" y="2743200"/>
            <a:ext cx="23774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3" name="Text 21"/>
          <p:cNvSpPr/>
          <p:nvPr/>
        </p:nvSpPr>
        <p:spPr>
          <a:xfrm>
            <a:off x="3456432" y="27432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判断紧急程度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1344" y="11887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1188720"/>
            <a:ext cx="2743200" cy="7772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6" name="Text 24"/>
          <p:cNvSpPr/>
          <p:nvPr/>
        </p:nvSpPr>
        <p:spPr>
          <a:xfrm>
            <a:off x="6318504" y="1280160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21424" y="129844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看部位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21424" y="16459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2103120"/>
            <a:ext cx="23774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管路、接头、油缸、轴端、阀块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64224" y="2743200"/>
            <a:ext cx="237744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1" name="Text 29"/>
          <p:cNvSpPr/>
          <p:nvPr/>
        </p:nvSpPr>
        <p:spPr>
          <a:xfrm>
            <a:off x="6364224" y="27432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判断处置流程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3" name="Shape 31"/>
          <p:cNvSpPr/>
          <p:nvPr/>
        </p:nvSpPr>
        <p:spPr>
          <a:xfrm>
            <a:off x="365760" y="3520440"/>
            <a:ext cx="137160" cy="1463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4" name="Text 32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老师傅一句口诀：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95020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看材质找系统 · 看速度定级别 · 看部位走流程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4498848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三看做完，看事故成本 → 三级定级 → 立行决策。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3.1.1  辨材质口诀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机油滑 · 液压油黏 · 防冻液甜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040880" y="22860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【核心方法】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3" name="Text 11"/>
          <p:cNvSpPr/>
          <p:nvPr/>
        </p:nvSpPr>
        <p:spPr>
          <a:xfrm>
            <a:off x="502920" y="2240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手感滑腻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6" name="Text 14"/>
          <p:cNvSpPr/>
          <p:nvPr/>
        </p:nvSpPr>
        <p:spPr>
          <a:xfrm>
            <a:off x="502920" y="26060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606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金黄 / 黑褐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9" name="Text 17"/>
          <p:cNvSpPr/>
          <p:nvPr/>
        </p:nvSpPr>
        <p:spPr>
          <a:xfrm>
            <a:off x="502920" y="2971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气味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微臭 · 不溶水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22" name="Text 20"/>
          <p:cNvSpPr/>
          <p:nvPr/>
        </p:nvSpPr>
        <p:spPr>
          <a:xfrm>
            <a:off x="502920" y="33375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柴油机 · 变速箱 · 后桥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2743200" cy="8686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5" name="Text 23"/>
          <p:cNvSpPr/>
          <p:nvPr/>
        </p:nvSpPr>
        <p:spPr>
          <a:xfrm>
            <a:off x="502920" y="400507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老师傅提示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24688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机身底部渗漏，常见于放油螺栓、滤清器、缸垫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1188720"/>
            <a:ext cx="274320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29" name="Text 27"/>
          <p:cNvSpPr/>
          <p:nvPr/>
        </p:nvSpPr>
        <p:spPr>
          <a:xfrm>
            <a:off x="3273552" y="12801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液压油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73552" y="169164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黏（拉丝）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3410712" y="224028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2" name="Text 30"/>
          <p:cNvSpPr/>
          <p:nvPr/>
        </p:nvSpPr>
        <p:spPr>
          <a:xfrm>
            <a:off x="3410712" y="2240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13632" y="224028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拉丝感强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0712" y="260604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5" name="Text 33"/>
          <p:cNvSpPr/>
          <p:nvPr/>
        </p:nvSpPr>
        <p:spPr>
          <a:xfrm>
            <a:off x="3410712" y="26060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13632" y="2606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澄清黄 / 棕红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10712" y="297180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8" name="Text 36"/>
          <p:cNvSpPr/>
          <p:nvPr/>
        </p:nvSpPr>
        <p:spPr>
          <a:xfrm>
            <a:off x="3410712" y="2971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气味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13632" y="297180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无味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10712" y="333756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41" name="Text 39"/>
          <p:cNvSpPr/>
          <p:nvPr/>
        </p:nvSpPr>
        <p:spPr>
          <a:xfrm>
            <a:off x="3410712" y="33375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13632" y="33375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举升油缸 · 转向油缸 · 泵阀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73552" y="3977640"/>
            <a:ext cx="2743200" cy="8686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4" name="Text 42"/>
          <p:cNvSpPr/>
          <p:nvPr/>
        </p:nvSpPr>
        <p:spPr>
          <a:xfrm>
            <a:off x="3410712" y="400507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老师傅提示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10712" y="4206240"/>
            <a:ext cx="24688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油缸杆 / 接头处最常见；白抹布擦拭可见拉丝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81344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1188720"/>
            <a:ext cx="274320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48" name="Text 46"/>
          <p:cNvSpPr/>
          <p:nvPr/>
        </p:nvSpPr>
        <p:spPr>
          <a:xfrm>
            <a:off x="6181344" y="12801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181344" y="169164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6318504" y="224028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51" name="Text 49"/>
          <p:cNvSpPr/>
          <p:nvPr/>
        </p:nvSpPr>
        <p:spPr>
          <a:xfrm>
            <a:off x="6318504" y="2240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手感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21424" y="224028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黏稠 · 滑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18504" y="260604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54" name="Text 52"/>
          <p:cNvSpPr/>
          <p:nvPr/>
        </p:nvSpPr>
        <p:spPr>
          <a:xfrm>
            <a:off x="6318504" y="26060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21424" y="2606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 / 红 / 蓝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18504" y="297180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57" name="Text 55"/>
          <p:cNvSpPr/>
          <p:nvPr/>
        </p:nvSpPr>
        <p:spPr>
          <a:xfrm>
            <a:off x="6318504" y="2971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气味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21424" y="297180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明显甜味（不可品尝）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18504" y="3337560"/>
            <a:ext cx="45720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60" name="Text 58"/>
          <p:cNvSpPr/>
          <p:nvPr/>
        </p:nvSpPr>
        <p:spPr>
          <a:xfrm>
            <a:off x="6318504" y="33375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21424" y="333756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发动机冷却系统 · 暖风水箱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81344" y="3977640"/>
            <a:ext cx="2743200" cy="8686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63" name="Text 61"/>
          <p:cNvSpPr/>
          <p:nvPr/>
        </p:nvSpPr>
        <p:spPr>
          <a:xfrm>
            <a:off x="6318504" y="400507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老师傅提示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18504" y="4206240"/>
            <a:ext cx="24688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闻到甜味→立即查水箱；缸垫漏时白抹布上有油花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66" name="Shape 6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67" name="Text 6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3.1.2  定级别决策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 · 滴 · 漏 —— 三级定级，一眼看懂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【正反对比】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9144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365760" y="12801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 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形成油膜 · 缓慢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💧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377440" cy="5029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4" name="Text 12"/>
          <p:cNvSpPr/>
          <p:nvPr/>
        </p:nvSpPr>
        <p:spPr>
          <a:xfrm>
            <a:off x="548640" y="27889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记报继续干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记录位置、油量，纳入日常点检台账，可继续作业。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188720"/>
            <a:ext cx="2743200" cy="91440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8" name="Text 16"/>
          <p:cNvSpPr/>
          <p:nvPr/>
        </p:nvSpPr>
        <p:spPr>
          <a:xfrm>
            <a:off x="3273552" y="12801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 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73552" y="1737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滴落可数 · 30秒内一滴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21945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💧💧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456432" y="2788920"/>
            <a:ext cx="2377440" cy="5029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22" name="Text 20"/>
          <p:cNvSpPr/>
          <p:nvPr/>
        </p:nvSpPr>
        <p:spPr>
          <a:xfrm>
            <a:off x="3456432" y="27889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报修跑短途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342900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立刻报告调度与机修，安排短距离作业，避免长重载。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1188720"/>
            <a:ext cx="2743200" cy="9144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6" name="Text 24"/>
          <p:cNvSpPr/>
          <p:nvPr/>
        </p:nvSpPr>
        <p:spPr>
          <a:xfrm>
            <a:off x="6181344" y="12801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 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81344" y="1737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成股喷溅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1344" y="21945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💧💧💧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364224" y="2788920"/>
            <a:ext cx="2377440" cy="5029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0" name="Text 28"/>
          <p:cNvSpPr/>
          <p:nvPr/>
        </p:nvSpPr>
        <p:spPr>
          <a:xfrm>
            <a:off x="6364224" y="27889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立刻停机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4224" y="342900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立刻靠边熄火；严防高压油射穿皮肤，禁止继续作业。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高压油射穿皮肤：高处液压油泄漏时，身体任何部位都不能靠近喷射范围；接触即就医，不可拖延。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3.2  仪表“红停黄看”× 避险七步诀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认准致命红灯 + 七字口诀护你到路边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【核心方法】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致命红灯：3秒内靠边熄火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2" name="Text 10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机油压力低 / 熄火后仍亮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5" name="Text 13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制动气压 &lt; 5bar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3840480" cy="164592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18" name="Text 16"/>
          <p:cNvSpPr/>
          <p:nvPr/>
        </p:nvSpPr>
        <p:spPr>
          <a:xfrm>
            <a:off x="502920" y="2606040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三秒内靠边熄火，绝不心存侥幸“再跑两百米”。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188720"/>
            <a:ext cx="4114800" cy="45720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21" name="Text 19"/>
          <p:cNvSpPr/>
          <p:nvPr/>
        </p:nvSpPr>
        <p:spPr>
          <a:xfrm>
            <a:off x="4800600" y="1188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黄灯亮：减速观察，必要时停车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783080"/>
            <a:ext cx="228600" cy="274320"/>
          </a:xfrm>
          <a:prstGeom prst="rect">
            <a:avLst/>
          </a:prstGeom>
          <a:solidFill>
            <a:srgbClr val="F2A900"/>
          </a:solidFill>
        </p:spPr>
      </p:sp>
      <p:sp>
        <p:nvSpPr>
          <p:cNvPr id="23" name="Text 21"/>
          <p:cNvSpPr/>
          <p:nvPr/>
        </p:nvSpPr>
        <p:spPr>
          <a:xfrm>
            <a:off x="4800600" y="178308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1783080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水温偏高 / 油压波动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783080"/>
            <a:ext cx="228600" cy="274320"/>
          </a:xfrm>
          <a:prstGeom prst="rect">
            <a:avLst/>
          </a:prstGeom>
          <a:solidFill>
            <a:srgbClr val="F2A900"/>
          </a:solidFill>
        </p:spPr>
      </p:sp>
      <p:sp>
        <p:nvSpPr>
          <p:cNvPr id="26" name="Text 24"/>
          <p:cNvSpPr/>
          <p:nvPr/>
        </p:nvSpPr>
        <p:spPr>
          <a:xfrm>
            <a:off x="6766560" y="178308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1783080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电压偏低（&lt;24V）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194560"/>
            <a:ext cx="228600" cy="274320"/>
          </a:xfrm>
          <a:prstGeom prst="rect">
            <a:avLst/>
          </a:prstGeom>
          <a:solidFill>
            <a:srgbClr val="F2A900"/>
          </a:solidFill>
        </p:spPr>
      </p:sp>
      <p:sp>
        <p:nvSpPr>
          <p:cNvPr id="29" name="Text 27"/>
          <p:cNvSpPr/>
          <p:nvPr/>
        </p:nvSpPr>
        <p:spPr>
          <a:xfrm>
            <a:off x="4800600" y="219456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2194560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转向助力减弱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194560"/>
            <a:ext cx="228600" cy="274320"/>
          </a:xfrm>
          <a:prstGeom prst="rect">
            <a:avLst/>
          </a:prstGeom>
          <a:solidFill>
            <a:srgbClr val="F2A900"/>
          </a:solidFill>
        </p:spPr>
      </p:sp>
      <p:sp>
        <p:nvSpPr>
          <p:cNvPr id="32" name="Text 30"/>
          <p:cNvSpPr/>
          <p:nvPr/>
        </p:nvSpPr>
        <p:spPr>
          <a:xfrm>
            <a:off x="6766560" y="2194560"/>
            <a:ext cx="228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2194560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空滤堵塞提示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6" name="Text 34"/>
          <p:cNvSpPr/>
          <p:nvPr/>
        </p:nvSpPr>
        <p:spPr>
          <a:xfrm>
            <a:off x="502920" y="29718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避险七步诀 —— 老师傅保命口诀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8" name="Text 36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1480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稳方向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80606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672046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2" name="Text 40"/>
          <p:cNvSpPr/>
          <p:nvPr/>
        </p:nvSpPr>
        <p:spPr>
          <a:xfrm>
            <a:off x="1672046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34886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选地点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04011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95451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6" name="Text 44"/>
          <p:cNvSpPr/>
          <p:nvPr/>
        </p:nvSpPr>
        <p:spPr>
          <a:xfrm>
            <a:off x="2795451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658291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缓减速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27417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918857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50" name="Text 48"/>
          <p:cNvSpPr/>
          <p:nvPr/>
        </p:nvSpPr>
        <p:spPr>
          <a:xfrm>
            <a:off x="3918857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781697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拉制动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950823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042263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54" name="Text 52"/>
          <p:cNvSpPr/>
          <p:nvPr/>
        </p:nvSpPr>
        <p:spPr>
          <a:xfrm>
            <a:off x="5042263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905103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人撤离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074229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165669" y="361188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58" name="Text 56"/>
          <p:cNvSpPr/>
          <p:nvPr/>
        </p:nvSpPr>
        <p:spPr>
          <a:xfrm>
            <a:off x="6165669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028509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快上报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197634" y="37033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289074" y="3611880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62" name="Text 60"/>
          <p:cNvSpPr/>
          <p:nvPr/>
        </p:nvSpPr>
        <p:spPr>
          <a:xfrm>
            <a:off x="7289074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151914" y="4114800"/>
            <a:ext cx="112340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等救援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65" name="Text 6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挨骂不要紧，没命全白搭 —— 案例：某司机抢产量强行跑，重载下坡转向漏光撞挡墙，脊椎骨折终身轮椅。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可打印带走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异常信号速查表 · 现象→原因→动作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228600"/>
            <a:ext cx="19202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6858000" y="2286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【异常信号速查表】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9" name="Text 7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1887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可能原因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司机动作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365760" y="1554480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4" name="Text 12"/>
          <p:cNvSpPr/>
          <p:nvPr/>
        </p:nvSpPr>
        <p:spPr>
          <a:xfrm>
            <a:off x="457200" y="1554480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嘎吱 干磨声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554480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铰接腰缺油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 + 靠边 + 加黄油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773936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8" name="Text 16"/>
          <p:cNvSpPr/>
          <p:nvPr/>
        </p:nvSpPr>
        <p:spPr>
          <a:xfrm>
            <a:off x="457200" y="1773936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咔咔 撞击声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773936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销子旷量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773936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 + 停车 + 报修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93392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365760" y="1993392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3" name="Text 21"/>
          <p:cNvSpPr/>
          <p:nvPr/>
        </p:nvSpPr>
        <p:spPr>
          <a:xfrm>
            <a:off x="457200" y="1993392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咯噔 沉闷响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1993392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传动螺栓松动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1993392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 + 靠边 + 检查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212848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7" name="Text 25"/>
          <p:cNvSpPr/>
          <p:nvPr/>
        </p:nvSpPr>
        <p:spPr>
          <a:xfrm>
            <a:off x="457200" y="2212848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嗡鸣 共振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2212848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轴承发卡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212848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听声加重→停车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432304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365760" y="2432304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2" name="Text 30"/>
          <p:cNvSpPr/>
          <p:nvPr/>
        </p:nvSpPr>
        <p:spPr>
          <a:xfrm>
            <a:off x="457200" y="2432304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焦糊味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2432304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刹车过热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2432304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靠边停车 + 查刹车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651760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6" name="Text 34"/>
          <p:cNvSpPr/>
          <p:nvPr/>
        </p:nvSpPr>
        <p:spPr>
          <a:xfrm>
            <a:off x="457200" y="2651760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柴油味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2651760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供油渗漏→排气管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2651760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熄火 + 查油管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871216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365760" y="2871216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1" name="Text 39"/>
          <p:cNvSpPr/>
          <p:nvPr/>
        </p:nvSpPr>
        <p:spPr>
          <a:xfrm>
            <a:off x="457200" y="2871216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防冻液甜味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2871216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暖风水箱渗漏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2871216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停车 + 查水箱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090672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5" name="Text 43"/>
          <p:cNvSpPr/>
          <p:nvPr/>
        </p:nvSpPr>
        <p:spPr>
          <a:xfrm>
            <a:off x="457200" y="3090672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机油发黑 + 颗粒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3090672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内部磨损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60720" y="3090672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停机 + 取样化验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310128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Shape 47"/>
          <p:cNvSpPr/>
          <p:nvPr/>
        </p:nvSpPr>
        <p:spPr>
          <a:xfrm>
            <a:off x="365760" y="3310128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0" name="Text 48"/>
          <p:cNvSpPr/>
          <p:nvPr/>
        </p:nvSpPr>
        <p:spPr>
          <a:xfrm>
            <a:off x="457200" y="3310128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机油压力灯不灭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0" y="3310128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机油泵 / 油路故障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60720" y="3310128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立刻熄火 + 报修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529584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4" name="Text 52"/>
          <p:cNvSpPr/>
          <p:nvPr/>
        </p:nvSpPr>
        <p:spPr>
          <a:xfrm>
            <a:off x="457200" y="3529584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制动气压 &lt;5bar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00400" y="3529584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气路漏气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60720" y="3529584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三秒靠边 + 熄火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3749040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Shape 56"/>
          <p:cNvSpPr/>
          <p:nvPr/>
        </p:nvSpPr>
        <p:spPr>
          <a:xfrm>
            <a:off x="365760" y="3749040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9" name="Text 57"/>
          <p:cNvSpPr/>
          <p:nvPr/>
        </p:nvSpPr>
        <p:spPr>
          <a:xfrm>
            <a:off x="457200" y="3749040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水温报警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00400" y="3749040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节温器 / 水泵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760720" y="3749040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怠速降温 + 停车检查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3968496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63" name="Text 61"/>
          <p:cNvSpPr/>
          <p:nvPr/>
        </p:nvSpPr>
        <p:spPr>
          <a:xfrm>
            <a:off x="457200" y="3968496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方向盘抖动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200400" y="3968496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转向 / 动平衡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60720" y="3968496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 + 查轮胎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" y="4187952"/>
            <a:ext cx="8412480" cy="2194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Shape 65"/>
          <p:cNvSpPr/>
          <p:nvPr/>
        </p:nvSpPr>
        <p:spPr>
          <a:xfrm>
            <a:off x="365760" y="4187952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68" name="Text 66"/>
          <p:cNvSpPr/>
          <p:nvPr/>
        </p:nvSpPr>
        <p:spPr>
          <a:xfrm>
            <a:off x="457200" y="4187952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刹车发软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00400" y="4187952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进空气 / 渗漏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760720" y="4187952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停车 + 排气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4407408"/>
            <a:ext cx="54864" cy="219456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2" name="Text 70"/>
          <p:cNvSpPr/>
          <p:nvPr/>
        </p:nvSpPr>
        <p:spPr>
          <a:xfrm>
            <a:off x="457200" y="4407408"/>
            <a:ext cx="2606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轮毂手背发烫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200400" y="4407408"/>
            <a:ext cx="2423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轴承发卡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760720" y="4407408"/>
            <a:ext cx="2971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立即报修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76" name="Text 7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现场对照打印带走 · 不确定就是不确定，宁可错停，不可错放。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/>
          <p:nvPr/>
        </p:nvSpPr>
        <p:spPr>
          <a:xfrm>
            <a:off x="274320" y="548640"/>
            <a:ext cx="3657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MODULE 02 · 第四节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2801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护身符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480560" y="27889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交接记录与自我保护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3337560"/>
            <a:ext cx="731520" cy="457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9" name="Shape 7"/>
          <p:cNvSpPr/>
          <p:nvPr/>
        </p:nvSpPr>
        <p:spPr>
          <a:xfrm>
            <a:off x="4480560" y="352044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4480560" y="352044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5204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涡轮降温与新增渗漏复查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977640"/>
            <a:ext cx="457200" cy="32004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3" name="Text 11"/>
          <p:cNvSpPr/>
          <p:nvPr/>
        </p:nvSpPr>
        <p:spPr>
          <a:xfrm>
            <a:off x="4480560" y="397764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9776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填写记录与口头交接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57200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一天收尾对得起一天拼命的自己，结尾留给接班的人，也留给自己。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  涡轮降温 × 新增渗漏复查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重载停车后两分钟的“二次点检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【流程闭环】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4.1.1  涡轮降温流程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2" name="Text 10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7830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重载停车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车辆停放在通风、坚实的位置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2920" y="2542032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7" name="Text 15"/>
          <p:cNvSpPr/>
          <p:nvPr/>
        </p:nvSpPr>
        <p:spPr>
          <a:xfrm>
            <a:off x="502920" y="25420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49631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挂空挡 · 松刹车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81635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让传动 / 制动系统自然散热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999232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2920" y="3255264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2" name="Text 20"/>
          <p:cNvSpPr/>
          <p:nvPr/>
        </p:nvSpPr>
        <p:spPr>
          <a:xfrm>
            <a:off x="502920" y="32552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20954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怠速 2 分钟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52958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保持润滑油循环冷却涡轮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712464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2920" y="3968496"/>
            <a:ext cx="457200" cy="45720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27" name="Text 25"/>
          <p:cNvSpPr/>
          <p:nvPr/>
        </p:nvSpPr>
        <p:spPr>
          <a:xfrm>
            <a:off x="502920" y="3968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92277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观察水温 / 油压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4281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稳定后熄火断电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1188720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188720"/>
            <a:ext cx="406908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2" name="Text 30"/>
          <p:cNvSpPr/>
          <p:nvPr/>
        </p:nvSpPr>
        <p:spPr>
          <a:xfrm>
            <a:off x="4846320" y="11887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4.1.2  新增渗漏复查对照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1783080"/>
            <a:ext cx="3794760" cy="2743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4" name="Text 32"/>
          <p:cNvSpPr/>
          <p:nvPr/>
        </p:nvSpPr>
        <p:spPr>
          <a:xfrm>
            <a:off x="4846320" y="17830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检查部位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178308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178308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收车后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2057400"/>
            <a:ext cx="3794760" cy="329184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38" name="Text 36"/>
          <p:cNvSpPr/>
          <p:nvPr/>
        </p:nvSpPr>
        <p:spPr>
          <a:xfrm>
            <a:off x="4846320" y="2057400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铰接腰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2057400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干净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2057400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对比看裂纹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2386584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液压管路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386584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无渗漏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2386584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看新增渗点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2715768"/>
            <a:ext cx="3794760" cy="329184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45" name="Text 43"/>
          <p:cNvSpPr/>
          <p:nvPr/>
        </p:nvSpPr>
        <p:spPr>
          <a:xfrm>
            <a:off x="4846320" y="2715768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油缸杆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2715768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无拉痕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2715768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看新增拉伤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044952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轮胎螺栓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3044952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齐全紧固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3044952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听异响 / 摸温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374136"/>
            <a:ext cx="3794760" cy="329184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52" name="Text 50"/>
          <p:cNvSpPr/>
          <p:nvPr/>
        </p:nvSpPr>
        <p:spPr>
          <a:xfrm>
            <a:off x="4846320" y="3374136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油底壳 / 桥包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0" y="3374136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无渗漏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3374136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对比油迹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46320" y="3703320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排气 / 吊耳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3703320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无裂纹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3703320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对比焊缝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4032504"/>
            <a:ext cx="3794760" cy="329184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59" name="Text 57"/>
          <p:cNvSpPr/>
          <p:nvPr/>
        </p:nvSpPr>
        <p:spPr>
          <a:xfrm>
            <a:off x="4846320" y="4032504"/>
            <a:ext cx="1371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燃油箱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17920" y="4032504"/>
            <a:ext cx="1188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无渗漏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06640" y="4032504"/>
            <a:ext cx="1234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看油位变化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63" name="Text 6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  填写记录 × 口头交接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用流程保护自己，不替别人背锅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【流程闭环】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收车交接单 · 必填项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12" name="Text 10"/>
          <p:cNvSpPr/>
          <p:nvPr/>
        </p:nvSpPr>
        <p:spPr>
          <a:xfrm>
            <a:off x="502920" y="17830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车牌 / 车型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17830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云磷-XXXX · A40F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1488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当班司机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14884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________（签名）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1148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17" name="Text 15"/>
          <p:cNvSpPr/>
          <p:nvPr/>
        </p:nvSpPr>
        <p:spPr>
          <a:xfrm>
            <a:off x="50292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接班司机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5146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________（签名）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出车时间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288036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____:____ / ____:____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41148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22" name="Text 20"/>
          <p:cNvSpPr/>
          <p:nvPr/>
        </p:nvSpPr>
        <p:spPr>
          <a:xfrm>
            <a:off x="502920" y="324612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新增渗漏点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24612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☐ 无   ☐ 有（部位：____）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异响记录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36118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☐ 无   ☐ 有（部位：____）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114800" cy="365760"/>
          </a:xfrm>
          <a:prstGeom prst="rect">
            <a:avLst/>
          </a:prstGeom>
          <a:solidFill>
            <a:srgbClr val="F5F3EE"/>
          </a:solidFill>
        </p:spPr>
      </p:sp>
      <p:sp>
        <p:nvSpPr>
          <p:cNvPr id="27" name="Text 25"/>
          <p:cNvSpPr/>
          <p:nvPr/>
        </p:nvSpPr>
        <p:spPr>
          <a:xfrm>
            <a:off x="502920" y="39776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维修需求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397764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☐ 无   ☐ 有（描述：____）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3434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 / 钥匙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43434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☐ 已交   ☐ 待交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188720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88720"/>
            <a:ext cx="406908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Text 31"/>
          <p:cNvSpPr/>
          <p:nvPr/>
        </p:nvSpPr>
        <p:spPr>
          <a:xfrm>
            <a:off x="4846320" y="11887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交接四要点 · 口头 + 纸面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35" name="Text 33"/>
          <p:cNvSpPr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0680" y="18288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说症状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2103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跑一段后方向盘抖 / 起步刹车软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2286000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46320" y="2542032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0" name="Text 38"/>
          <p:cNvSpPr/>
          <p:nvPr/>
        </p:nvSpPr>
        <p:spPr>
          <a:xfrm>
            <a:off x="4846320" y="25420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2542032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说位置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40680" y="2816352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前桥 / 铰接 / 后桥 / 升举油缸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74920" y="2999232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46320" y="3255264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45" name="Text 43"/>
          <p:cNvSpPr/>
          <p:nvPr/>
        </p:nvSpPr>
        <p:spPr>
          <a:xfrm>
            <a:off x="4846320" y="32552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0680" y="3255264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说频次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40680" y="3529584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刚出现 / 偶发 / 持续加重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74920" y="3712464"/>
            <a:ext cx="0" cy="210312"/>
          </a:xfrm>
          <a:prstGeom prst="line">
            <a:avLst/>
          </a:prstGeom>
          <a:noFill/>
          <a:ln w="12700">
            <a:solidFill>
              <a:srgbClr val="C9A87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846320" y="3968496"/>
            <a:ext cx="457200" cy="457200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50" name="Text 48"/>
          <p:cNvSpPr/>
          <p:nvPr/>
        </p:nvSpPr>
        <p:spPr>
          <a:xfrm>
            <a:off x="4846320" y="3968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440680" y="3968496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说处置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40680" y="4242816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报修 / 待修 / 已处置（已做：____）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46320" y="4572000"/>
            <a:ext cx="3794760" cy="27432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54" name="Text 52"/>
          <p:cNvSpPr/>
          <p:nvPr/>
        </p:nvSpPr>
        <p:spPr>
          <a:xfrm>
            <a:off x="4846320" y="4572000"/>
            <a:ext cx="3794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用流程保护自己，不替别人背锅。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收尾·价值升华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从“要我检”到“我要安”——三层递进的价值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7" name="Text 5"/>
          <p:cNvSpPr/>
          <p:nvPr/>
        </p:nvSpPr>
        <p:spPr>
          <a:xfrm>
            <a:off x="7315200" y="228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【价值阶梯】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2743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40480"/>
            <a:ext cx="274320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10" name="Text 8"/>
          <p:cNvSpPr/>
          <p:nvPr/>
        </p:nvSpPr>
        <p:spPr>
          <a:xfrm>
            <a:off x="502920" y="38404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 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3913632"/>
            <a:ext cx="54864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2468880" y="3913632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0-30天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不抛锚 · 不挨骂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246888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掌握五感雷达与渗漏定级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当班产量稳定，出勤率提升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避免日常抛锚带来的拖车费用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383280"/>
            <a:ext cx="27432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383280"/>
            <a:ext cx="2743200" cy="4114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8" name="Text 16"/>
          <p:cNvSpPr/>
          <p:nvPr/>
        </p:nvSpPr>
        <p:spPr>
          <a:xfrm>
            <a:off x="3337560" y="33832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33832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 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3456432"/>
            <a:ext cx="54864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303520" y="3456432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1-6月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8404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设备专家 · 班组最稳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4224528"/>
            <a:ext cx="24688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摒弃“凭经验、图省事”侥幸心理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标准化巡检刻进肌肉记忆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成为车队里“最懂车”的老师傅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26080"/>
            <a:ext cx="2743200" cy="41148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26" name="Text 24"/>
          <p:cNvSpPr/>
          <p:nvPr/>
        </p:nvSpPr>
        <p:spPr>
          <a:xfrm>
            <a:off x="6172200" y="292608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29260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 期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2999232"/>
            <a:ext cx="54864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8138160" y="2999232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5年+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33832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全须全尾 · 家人等你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3767328"/>
            <a:ext cx="24688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产量是矿山的，命是你自己的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面对产量压力坚决守住安全红线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每天全须全尾回家见老婆孩子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8412480" cy="45720"/>
          </a:xfrm>
          <a:prstGeom prst="rect">
            <a:avLst/>
          </a:prstGeom>
          <a:solidFill>
            <a:srgbClr val="C9A876"/>
          </a:solidFill>
        </p:spPr>
      </p:sp>
      <p:sp>
        <p:nvSpPr>
          <p:cNvPr id="33" name="Shape 31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4" name="Text 32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价值的本质，是把“凭运气”换成“凭流程”，把“靠侥幸”换成“靠肌肉记忆”。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结业带走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A40F 一线司机行动清单 · 现场可对照打印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出车前 10 分钟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78308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逆时针绕车一圈（左后→左前→正前→右前→右后→驾驶室）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2128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1284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167128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蹲查铰接销、锁止卡子、轴承旷量、转向油缸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59689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9689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551176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白抹布查三油两水（机油/液压油/防冻液 + 柴油/水）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8094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8094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935224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听柴油机突突声均匀，无敲缸/啸叫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36499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499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319272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机油压力灯3秒内熄灭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490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703320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气压表≥5bar，水温/电压/油量正常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13308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7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087368"/>
            <a:ext cx="3520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随车工具、灭火器、应急包齐备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937760"/>
            <a:ext cx="4114800" cy="16459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3" name="Shape 31"/>
          <p:cNvSpPr/>
          <p:nvPr/>
        </p:nvSpPr>
        <p:spPr>
          <a:xfrm>
            <a:off x="4709160" y="1188720"/>
            <a:ext cx="40690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188720"/>
            <a:ext cx="4069080" cy="45720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5" name="Text 33"/>
          <p:cNvSpPr/>
          <p:nvPr/>
        </p:nvSpPr>
        <p:spPr>
          <a:xfrm>
            <a:off x="4846320" y="118872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核心口诀 · 关键时刻喊出来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178308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7" name="Text 35"/>
          <p:cNvSpPr/>
          <p:nvPr/>
        </p:nvSpPr>
        <p:spPr>
          <a:xfrm>
            <a:off x="4846320" y="17830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17830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渗·滴·漏，逐级定级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19456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0" name="Text 38"/>
          <p:cNvSpPr/>
          <p:nvPr/>
        </p:nvSpPr>
        <p:spPr>
          <a:xfrm>
            <a:off x="4846320" y="21945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12080" y="21945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红·黄·绿，逐灯判断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60604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3" name="Text 41"/>
          <p:cNvSpPr/>
          <p:nvPr/>
        </p:nvSpPr>
        <p:spPr>
          <a:xfrm>
            <a:off x="4846320" y="26060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26060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听·闻·触·感，五感在线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6" name="Text 44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12080" y="301752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减速→靠边→停车→汇报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49" name="Text 47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12080" y="342900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稳方向·选地点·缓减速·拉制动·人撤离·快上报·等救援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84048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2" name="Text 50"/>
          <p:cNvSpPr/>
          <p:nvPr/>
        </p:nvSpPr>
        <p:spPr>
          <a:xfrm>
            <a:off x="4846320" y="38404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12080" y="38404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用流程保护自己，不替别人背锅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4251960"/>
            <a:ext cx="274320" cy="274320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55" name="Text 53"/>
          <p:cNvSpPr/>
          <p:nvPr/>
        </p:nvSpPr>
        <p:spPr>
          <a:xfrm>
            <a:off x="4846320" y="42519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12080" y="42519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挨骂不要紧，没命全白搭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58" name="Text 5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73A"/>
          </a:solidFill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产量是矿山的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命是你自己的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E88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面对产量压力 · 坚决守住安全红线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从“要我检”到“我要安”——每天全须全尾，回家见老婆孩子。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C9A8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沃尔沃A40F铰接卡车  ·  保命排故  ·  实战巡检法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E887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云南磷化 · 矿山部门  ·  一线内训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73A"/>
          </a:solidFill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7600</Words>
  <Application>WPS 演示</Application>
  <PresentationFormat>On-screen Show (16:9)</PresentationFormat>
  <Paragraphs>1735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沃尔沃A40F铰接卡车保命排故实战巡检法</dc:title>
  <dc:creator>云南磷化·矿山部门</dc:creator>
  <dc:subject>PptxGenJS Presentation</dc:subject>
  <cp:lastModifiedBy>小柴胡</cp:lastModifiedBy>
  <cp:revision>3</cp:revision>
  <dcterms:created xsi:type="dcterms:W3CDTF">2026-08-13T05:24:00Z</dcterms:created>
  <dcterms:modified xsi:type="dcterms:W3CDTF">2026-08-14T07:28:46Z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31DE8B3DC1AA4B129BCD5C25DFD180A3_12</vt:lpwstr>
  </property>
  <property fmtid="{D5CDD505-2E9C-101B-9397-08002B2CF9AE}" pid="3" name="KSOProductBuildVer">
    <vt:lpwstr>2052-12.1.0.28043</vt:lpwstr>
  </property>
</Properties>
</file>