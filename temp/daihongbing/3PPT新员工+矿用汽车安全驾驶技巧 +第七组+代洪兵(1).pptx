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大家好，今天这堂课不是讲怎么开车，而是讲怎么活下来。 矿用汽车不是普通货车——它一车能装上百吨，一个操作失误，就是两条人命。去年肃北和本溪两起事故，都是新司机用公路思维开矿卡酿成的悲剧。从今天起，请把‘我有驾照’这句话彻底删掉，我们重新学怎么在矿区活下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这门课分为四个部分： 首先，重塑认知——看清矿区和公路的本质不同； 然后，划清十条安全红线——哪些事绝对不能做； 接着，学会事故后的正确处置与复盘； 最后，掌握日常维保判断能力，让隐患止于未发。整套逻辑，就是从‘不敢错’到‘不会错’再到‘不必错’。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现在我们来看第一部分：矿区驾驶认知重塑。 这不是技术升级，而是思维切换——必须把公路驾驶的惯性彻底清零，建立专属于矿区的生存逻辑。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先看两条人命的教训。 肃北事故里，司机倒车发现方向不对，没停车反而猛踩油门，结果冲下挡墙；本溪事故中，司机下车前没熄火、没拉手刹，溜车后徒手去挡……几十吨的矿卡，人力根本挡不住。 核心就一句话：在矿区，同样的动作，公路上可能没事，这里就是生死线。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为什么？因为矿区有三大本质区别：路是土的、坡是陡的、弯是急的；车是巨无霸、盲区大得看不见轮胎；后果是不可逆的——一次失误，没有重来。 而新员工常掉进三个坑：以为有驾照就能开、觉得慢点就没事、盲目相信老经验。这些想法，恰恰最危险。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再看我们蒙西自己的事故——‘5·21’侧翻。 司机卸完渣，没确认车厢完全落位就起步转弯，结果重心过高直接翻车。 表面是操作违规，背后是点检流于形式。习惯性违章没人提醒、没人纠正，小疏忽就滚成了大灾难。安全，真正在乎的是细节。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接下来，我们划出十条安全红线。 这不是规定清单，而是用生命换来的底线——每一条背后，都有真实血泪案例。守住它们，就是守住自己活着下班的权利。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先说行驶中的四条保命线。 空挡滑行？刹车会热衰竭失灵；严重超载？刹车变长、轮胎爆裂、车架变形；弯道超车？车身长重心高，一个侧滑就是翻车；无视仪表报警？红灯亮了还硬跑，等于亲手报废发动机或制动系统。这些不是‘可能出事’，是‘必然出事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再看停车检修的三条生死线。 坡道停车？一旦溜车，人力挡不住；设备运转时伸手检修？高压油能射穿皮肤，旋转部件瞬间致残；车厢没复位就开？重心悬空，过个坑就可能侧翻。记住：矿卡没有‘差不多’，只有‘全到位’或‘别动’。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最后是人员状态的三条底线。 疲劳、酒后？反应慢0.5秒，就可能错过救命操作；不系安全带？侧翻时你就是第一个被甩出去的人；关监控？等于蒙眼开百吨重车——倒车影像、雷达、载重监测，不是摆设，是你的第二双眼睛。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第三部分：事故处置与复盘。 出了事，慌乱和隐瞒比事故本身更致命。真正关键的，不是‘怎么开好’，而是‘出事了怎么收住’。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处置只有三步：确保安全、立即上报、保护现场。 第一步，立刻撤离到安全区——远离火源、坍塌点、溜车路径；第二步，马上报调度、打120，严禁私送伤员；第三步，原地守护现场，等专业队伍到场——不挪车、不清理、不补救。这三步，是保命、保证据、保责任厘清的生命链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再看四大致命错误：徒手挡车、加油硬扛、瞒报毁证、带病运行。 本溪司机挡车、肃北司机加油，都是用常识对抗物理规律；新疆案例瞒报拆解，责任人被判刑；银漫矿业非法改装+超员，22条命没了。所有悲剧，都始于一个‘我以为没事’。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第四部分：日常维保与判断。 高手司机和普通司机的区别，不在开得多快，而在看得多细、判得多准、养得多勤。这是保命、保收入、保职业的底层能力。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三阶段点检法：出车前绕车实勘——摸轮胎、查油管、拧螺栓；行车中听音观表——异响、水温、油压，异常震动就是预警信号；收车后清渣查损——散热器清泥、制动鼓测温、磨损件记录。点检不是走过场，是给车做体检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故障判断有两个标准：红线故障必须停，一般磨损可跑完本班。 制动气压掉、机油灯亮、轮胎开裂——立刻熄火；空调不凉、小渗漏——记下来，收车再修。分清轻重缓急，既不冒险，也不误工。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打黄油不是‘挤几枪’就行。 找得全：按图索骥，一个润滑点都不能漏；注得到：清洁油嘴、垂直顶紧、慢压到新油溢出；不损坏：防过压打爆油封，防污染粘灰变成研磨膏。润滑不到位，磨损就加速，隐患就埋下。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课程最后，我们升华一下。 安全驾驶不是应付检查，而是对自己生命的郑重承诺，对家人幸福的坚实托付，更是职业尊严的起点。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它有三级价值：短期保命——每天平安回家；中期保收入——规范驾驶少抛锚，全班组绩效才有保障；长期保职业——设备完好率高、不出事、懂保养，你就是班组最靠得住的技术骨干。安全，是职业成长的第一块基石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安全重于泰山，规范成就专业。 请把每一条规程，练成肌肉记忆；把每一次点检，当成必修功课。我们不是在为公司开车，是在为自己、为家人、为未来开车。 愿大家在蒙西煤矿这个大家庭里，高高兴兴上班来，平平安安回家去。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谢谢大家。 祝每位新同事，手稳、心静、平安。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0F77B9">
                <a:alpha val="74901"/>
                <a:lumMod val="75000"/>
              </a:srgbClr>
            </a:gs>
            <a:gs pos="47699">
              <a:srgbClr val="1D9DED">
                <a:alpha val="100000"/>
              </a:srgbClr>
            </a:gs>
            <a:gs pos="100000">
              <a:srgbClr val="1D9DED">
                <a:alpha val="100000"/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96738" y="0"/>
            <a:ext cx="11695262" cy="6858002"/>
            <a:chOff x="496738" y="0"/>
            <a:chExt cx="11695262" cy="6858002"/>
          </a:xfrm>
        </p:grpSpPr>
        <p:sp>
          <p:nvSpPr>
            <p:cNvPr id="3" name="AutoShape 3"/>
            <p:cNvSpPr/>
            <p:nvPr/>
          </p:nvSpPr>
          <p:spPr>
            <a:xfrm>
              <a:off x="533607" y="0"/>
              <a:ext cx="3481653" cy="1309606"/>
            </a:xfrm>
            <a:custGeom>
              <a:avLst/>
              <a:gdLst/>
              <a:ahLst/>
              <a:cxnLst/>
              <a:rect l="l" t="t" r="r" b="b"/>
              <a:pathLst>
                <a:path w="3481653" h="1309606">
                  <a:moveTo>
                    <a:pt x="0" y="0"/>
                  </a:moveTo>
                  <a:lnTo>
                    <a:pt x="313355" y="0"/>
                  </a:lnTo>
                  <a:lnTo>
                    <a:pt x="867994" y="771074"/>
                  </a:lnTo>
                  <a:cubicBezTo>
                    <a:pt x="1078205" y="1063315"/>
                    <a:pt x="1485522" y="1129814"/>
                    <a:pt x="1777763" y="919603"/>
                  </a:cubicBezTo>
                  <a:lnTo>
                    <a:pt x="3056221" y="0"/>
                  </a:lnTo>
                  <a:lnTo>
                    <a:pt x="3481653" y="0"/>
                  </a:lnTo>
                  <a:lnTo>
                    <a:pt x="1886472" y="1147423"/>
                  </a:lnTo>
                  <a:cubicBezTo>
                    <a:pt x="1500257" y="1425230"/>
                    <a:pt x="961963" y="1337349"/>
                    <a:pt x="684158" y="951135"/>
                  </a:cubicBezTo>
                  <a:close/>
                </a:path>
              </a:pathLst>
            </a:custGeom>
            <a:gradFill>
              <a:gsLst>
                <a:gs pos="0">
                  <a:srgbClr val="1D9DED">
                    <a:alpha val="41960"/>
                  </a:srgbClr>
                </a:gs>
                <a:gs pos="100000">
                  <a:srgbClr val="1D9DED">
                    <a:alpha val="10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5829300" y="259536"/>
              <a:ext cx="6362700" cy="6598466"/>
            </a:xfrm>
            <a:custGeom>
              <a:avLst/>
              <a:gdLst/>
              <a:ahLst/>
              <a:cxnLst/>
              <a:rect l="l" t="t" r="r" b="b"/>
              <a:pathLst>
                <a:path w="6156316" h="6384435">
                  <a:moveTo>
                    <a:pt x="4490618" y="374"/>
                  </a:moveTo>
                  <a:cubicBezTo>
                    <a:pt x="4767028" y="-7759"/>
                    <a:pt x="5042410" y="117089"/>
                    <a:pt x="5216039" y="358472"/>
                  </a:cubicBezTo>
                  <a:lnTo>
                    <a:pt x="6156316" y="1665671"/>
                  </a:lnTo>
                  <a:lnTo>
                    <a:pt x="6156316" y="6384435"/>
                  </a:lnTo>
                  <a:lnTo>
                    <a:pt x="1881823" y="6384435"/>
                  </a:lnTo>
                  <a:lnTo>
                    <a:pt x="162183" y="3993745"/>
                  </a:lnTo>
                  <a:cubicBezTo>
                    <a:pt x="-115623" y="3607532"/>
                    <a:pt x="-27741" y="3069237"/>
                    <a:pt x="358472" y="2791431"/>
                  </a:cubicBezTo>
                  <a:lnTo>
                    <a:pt x="4013725" y="162183"/>
                  </a:lnTo>
                  <a:cubicBezTo>
                    <a:pt x="4158555" y="58006"/>
                    <a:pt x="4324772" y="5253"/>
                    <a:pt x="4490618" y="374"/>
                  </a:cubicBezTo>
                  <a:close/>
                </a:path>
              </a:pathLst>
            </a:custGeom>
            <a:gradFill>
              <a:gsLst>
                <a:gs pos="0">
                  <a:srgbClr val="1D9DED">
                    <a:alpha val="41960"/>
                  </a:srgbClr>
                </a:gs>
                <a:gs pos="100000">
                  <a:srgbClr val="1D9DED">
                    <a:alpha val="10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112043" y="540876"/>
              <a:ext cx="6079957" cy="6317125"/>
            </a:xfrm>
            <a:custGeom>
              <a:avLst/>
              <a:gdLst/>
              <a:ahLst/>
              <a:cxnLst/>
              <a:rect l="l" t="t" r="r" b="b"/>
              <a:pathLst>
                <a:path w="5882744" h="6112220">
                  <a:moveTo>
                    <a:pt x="4206501" y="289"/>
                  </a:moveTo>
                  <a:cubicBezTo>
                    <a:pt x="4419655" y="-5983"/>
                    <a:pt x="4632016" y="90294"/>
                    <a:pt x="4765909" y="276436"/>
                  </a:cubicBezTo>
                  <a:lnTo>
                    <a:pt x="5882744" y="1829091"/>
                  </a:lnTo>
                  <a:lnTo>
                    <a:pt x="5882744" y="6112220"/>
                  </a:lnTo>
                  <a:lnTo>
                    <a:pt x="1921606" y="6112220"/>
                  </a:lnTo>
                  <a:lnTo>
                    <a:pt x="125068" y="3614624"/>
                  </a:lnTo>
                  <a:cubicBezTo>
                    <a:pt x="-89162" y="3316796"/>
                    <a:pt x="-21392" y="2901691"/>
                    <a:pt x="276436" y="2687461"/>
                  </a:cubicBezTo>
                  <a:lnTo>
                    <a:pt x="3838746" y="125068"/>
                  </a:lnTo>
                  <a:cubicBezTo>
                    <a:pt x="3950432" y="44732"/>
                    <a:pt x="4078609" y="4052"/>
                    <a:pt x="4206501" y="289"/>
                  </a:cubicBezTo>
                  <a:close/>
                </a:path>
              </a:pathLst>
            </a:custGeom>
            <a:blipFill rotWithShape="1">
              <a:blip r:embed="rId2">
                <a:alphaModFix amt="100000"/>
                <a:alphaModFix amt="100000"/>
              </a:blip>
              <a:stretch>
                <a:fillRect l="-27925" r="-27925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496738" y="1773536"/>
              <a:ext cx="474364" cy="474364"/>
            </a:xfrm>
            <a:prstGeom prst="donut">
              <a:avLst>
                <a:gd name="adj" fmla="val 17607"/>
              </a:avLst>
            </a:prstGeom>
            <a:solidFill>
              <a:srgbClr val="1D9DE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1D9DED">
                <a:alpha val="100000"/>
                <a:lumMod val="50000"/>
              </a:srgbClr>
            </a:gs>
            <a:gs pos="99000">
              <a:srgbClr val="1D9DED">
                <a:alpha val="100000"/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5513364"/>
            <a:ext cx="12192000" cy="1344636"/>
            <a:chOff x="0" y="5513364"/>
            <a:chExt cx="12192000" cy="1344636"/>
          </a:xfrm>
        </p:grpSpPr>
        <p:sp>
          <p:nvSpPr>
            <p:cNvPr id="3" name="AutoShape 3"/>
            <p:cNvSpPr/>
            <p:nvPr/>
          </p:nvSpPr>
          <p:spPr>
            <a:xfrm>
              <a:off x="0" y="5513364"/>
              <a:ext cx="12192000" cy="1344636"/>
            </a:xfrm>
            <a:custGeom>
              <a:avLst/>
              <a:gdLst/>
              <a:ahLst/>
              <a:cxnLst/>
              <a:rect l="l" t="t" r="r" b="b"/>
              <a:pathLst>
                <a:path w="12192000" h="1344636">
                  <a:moveTo>
                    <a:pt x="0" y="0"/>
                  </a:moveTo>
                  <a:lnTo>
                    <a:pt x="33819" y="16709"/>
                  </a:lnTo>
                  <a:cubicBezTo>
                    <a:pt x="1201292" y="528192"/>
                    <a:pt x="3478270" y="875413"/>
                    <a:pt x="6096000" y="875413"/>
                  </a:cubicBezTo>
                  <a:cubicBezTo>
                    <a:pt x="8713730" y="875413"/>
                    <a:pt x="10990708" y="528192"/>
                    <a:pt x="12158181" y="16709"/>
                  </a:cubicBezTo>
                  <a:lnTo>
                    <a:pt x="12192000" y="0"/>
                  </a:lnTo>
                  <a:lnTo>
                    <a:pt x="12192000" y="1344636"/>
                  </a:lnTo>
                  <a:lnTo>
                    <a:pt x="0" y="1344636"/>
                  </a:lnTo>
                  <a:close/>
                </a:path>
              </a:pathLst>
            </a:custGeom>
            <a:gradFill>
              <a:gsLst>
                <a:gs pos="0">
                  <a:srgbClr val="1D9DED">
                    <a:alpha val="14901"/>
                  </a:srgbClr>
                </a:gs>
                <a:gs pos="100000">
                  <a:srgbClr val="F0B034">
                    <a:alpha val="14901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6054064"/>
              <a:ext cx="12192000" cy="803936"/>
            </a:xfrm>
            <a:custGeom>
              <a:avLst/>
              <a:gdLst/>
              <a:ahLst/>
              <a:cxnLst/>
              <a:rect l="l" t="t" r="r" b="b"/>
              <a:pathLst>
                <a:path w="12192000" h="803936">
                  <a:moveTo>
                    <a:pt x="0" y="0"/>
                  </a:moveTo>
                  <a:lnTo>
                    <a:pt x="374491" y="52753"/>
                  </a:lnTo>
                  <a:cubicBezTo>
                    <a:pt x="1879965" y="251345"/>
                    <a:pt x="3889238" y="372604"/>
                    <a:pt x="6096000" y="372604"/>
                  </a:cubicBezTo>
                  <a:cubicBezTo>
                    <a:pt x="8302762" y="372604"/>
                    <a:pt x="10312035" y="251345"/>
                    <a:pt x="11817509" y="52753"/>
                  </a:cubicBezTo>
                  <a:lnTo>
                    <a:pt x="12192000" y="0"/>
                  </a:lnTo>
                  <a:lnTo>
                    <a:pt x="12192000" y="803936"/>
                  </a:lnTo>
                  <a:lnTo>
                    <a:pt x="0" y="803936"/>
                  </a:lnTo>
                  <a:close/>
                </a:path>
              </a:pathLst>
            </a:custGeom>
            <a:gradFill>
              <a:gsLst>
                <a:gs pos="0">
                  <a:srgbClr val="1D9DED">
                    <a:alpha val="100000"/>
                  </a:srgbClr>
                </a:gs>
                <a:gs pos="100000">
                  <a:srgbClr val="F0B034">
                    <a:alpha val="10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>
          <a:gsLst>
            <a:gs pos="0">
              <a:srgbClr val="0A507B">
                <a:alpha val="100000"/>
                <a:lumMod val="50000"/>
              </a:srgbClr>
            </a:gs>
            <a:gs pos="47699">
              <a:srgbClr val="1D9DED">
                <a:alpha val="100000"/>
              </a:srgbClr>
            </a:gs>
            <a:gs pos="100000">
              <a:srgbClr val="1D9DED">
                <a:alpha val="74901"/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 flipH="1">
            <a:off x="0" y="0"/>
            <a:ext cx="12192000" cy="6858001"/>
            <a:chOff x="1" y="0"/>
            <a:chExt cx="12192000" cy="6858001"/>
          </a:xfrm>
        </p:grpSpPr>
        <p:sp>
          <p:nvSpPr>
            <p:cNvPr id="3" name="AutoShape 3"/>
            <p:cNvSpPr/>
            <p:nvPr/>
          </p:nvSpPr>
          <p:spPr>
            <a:xfrm>
              <a:off x="1" y="4580618"/>
              <a:ext cx="1026033" cy="2277382"/>
            </a:xfrm>
            <a:custGeom>
              <a:avLst/>
              <a:gdLst/>
              <a:ahLst/>
              <a:cxnLst/>
              <a:rect l="l" t="t" r="r" b="b"/>
              <a:pathLst>
                <a:path w="1026033" h="2277382">
                  <a:moveTo>
                    <a:pt x="0" y="0"/>
                  </a:moveTo>
                  <a:lnTo>
                    <a:pt x="877104" y="1219374"/>
                  </a:lnTo>
                  <a:cubicBezTo>
                    <a:pt x="1100320" y="1529694"/>
                    <a:pt x="1066436" y="1946935"/>
                    <a:pt x="816888" y="2217296"/>
                  </a:cubicBezTo>
                  <a:lnTo>
                    <a:pt x="748935" y="2277382"/>
                  </a:lnTo>
                  <a:lnTo>
                    <a:pt x="0" y="2277382"/>
                  </a:lnTo>
                  <a:lnTo>
                    <a:pt x="0" y="1518256"/>
                  </a:lnTo>
                  <a:close/>
                </a:path>
              </a:pathLst>
            </a:custGeom>
            <a:solidFill>
              <a:srgbClr val="F0B03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533607" y="0"/>
              <a:ext cx="3481653" cy="1309606"/>
            </a:xfrm>
            <a:custGeom>
              <a:avLst/>
              <a:gdLst/>
              <a:ahLst/>
              <a:cxnLst/>
              <a:rect l="l" t="t" r="r" b="b"/>
              <a:pathLst>
                <a:path w="3481653" h="1309606">
                  <a:moveTo>
                    <a:pt x="0" y="0"/>
                  </a:moveTo>
                  <a:lnTo>
                    <a:pt x="313355" y="0"/>
                  </a:lnTo>
                  <a:lnTo>
                    <a:pt x="867994" y="771074"/>
                  </a:lnTo>
                  <a:cubicBezTo>
                    <a:pt x="1078205" y="1063315"/>
                    <a:pt x="1485522" y="1129814"/>
                    <a:pt x="1777763" y="919603"/>
                  </a:cubicBezTo>
                  <a:lnTo>
                    <a:pt x="3056221" y="0"/>
                  </a:lnTo>
                  <a:lnTo>
                    <a:pt x="3481653" y="0"/>
                  </a:lnTo>
                  <a:lnTo>
                    <a:pt x="1886472" y="1147423"/>
                  </a:lnTo>
                  <a:cubicBezTo>
                    <a:pt x="1500257" y="1425230"/>
                    <a:pt x="961963" y="1337349"/>
                    <a:pt x="684158" y="951135"/>
                  </a:cubicBezTo>
                  <a:close/>
                </a:path>
              </a:pathLst>
            </a:custGeom>
            <a:solidFill>
              <a:srgbClr val="1D9DE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6035684" y="473566"/>
              <a:ext cx="6156317" cy="6384435"/>
              <a:chOff x="6035684" y="473566"/>
              <a:chExt cx="6156317" cy="6384435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035684" y="473566"/>
                <a:ext cx="6156316" cy="6384435"/>
              </a:xfrm>
              <a:custGeom>
                <a:avLst/>
                <a:gdLst/>
                <a:ahLst/>
                <a:cxnLst/>
                <a:rect l="l" t="t" r="r" b="b"/>
                <a:pathLst>
                  <a:path w="6156316" h="6384435">
                    <a:moveTo>
                      <a:pt x="4490618" y="374"/>
                    </a:moveTo>
                    <a:cubicBezTo>
                      <a:pt x="4767028" y="-7759"/>
                      <a:pt x="5042410" y="117089"/>
                      <a:pt x="5216039" y="358472"/>
                    </a:cubicBezTo>
                    <a:lnTo>
                      <a:pt x="6156316" y="1665671"/>
                    </a:lnTo>
                    <a:lnTo>
                      <a:pt x="6156316" y="6384435"/>
                    </a:lnTo>
                    <a:lnTo>
                      <a:pt x="1881823" y="6384435"/>
                    </a:lnTo>
                    <a:lnTo>
                      <a:pt x="162183" y="3993745"/>
                    </a:lnTo>
                    <a:cubicBezTo>
                      <a:pt x="-115623" y="3607532"/>
                      <a:pt x="-27741" y="3069237"/>
                      <a:pt x="358472" y="2791431"/>
                    </a:cubicBezTo>
                    <a:lnTo>
                      <a:pt x="4013725" y="162183"/>
                    </a:lnTo>
                    <a:cubicBezTo>
                      <a:pt x="4158555" y="58006"/>
                      <a:pt x="4324772" y="5253"/>
                      <a:pt x="4490618" y="374"/>
                    </a:cubicBezTo>
                    <a:close/>
                  </a:path>
                </a:pathLst>
              </a:cu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6309257" y="745780"/>
                <a:ext cx="5882744" cy="6112220"/>
              </a:xfrm>
              <a:custGeom>
                <a:avLst/>
                <a:gdLst/>
                <a:ahLst/>
                <a:cxnLst/>
                <a:rect l="l" t="t" r="r" b="b"/>
                <a:pathLst>
                  <a:path w="5882744" h="6112220">
                    <a:moveTo>
                      <a:pt x="4206501" y="289"/>
                    </a:moveTo>
                    <a:cubicBezTo>
                      <a:pt x="4419655" y="-5983"/>
                      <a:pt x="4632016" y="90294"/>
                      <a:pt x="4765909" y="276436"/>
                    </a:cubicBezTo>
                    <a:lnTo>
                      <a:pt x="5882744" y="1829091"/>
                    </a:lnTo>
                    <a:lnTo>
                      <a:pt x="5882744" y="6112220"/>
                    </a:lnTo>
                    <a:lnTo>
                      <a:pt x="1921606" y="6112220"/>
                    </a:lnTo>
                    <a:lnTo>
                      <a:pt x="125068" y="3614624"/>
                    </a:lnTo>
                    <a:cubicBezTo>
                      <a:pt x="-89162" y="3316796"/>
                      <a:pt x="-21392" y="2901691"/>
                      <a:pt x="276436" y="2687461"/>
                    </a:cubicBezTo>
                    <a:lnTo>
                      <a:pt x="3838746" y="125068"/>
                    </a:lnTo>
                    <a:cubicBezTo>
                      <a:pt x="3950432" y="44732"/>
                      <a:pt x="4078609" y="4052"/>
                      <a:pt x="4206501" y="289"/>
                    </a:cubicBezTo>
                    <a:close/>
                  </a:path>
                </a:pathLst>
              </a:custGeom>
              <a:blipFill rotWithShape="1">
                <a:blip r:embed="rId2">
                  <a:alphaModFix amt="100000"/>
                  <a:alphaModFix amt="100000"/>
                </a:blip>
                <a:stretch>
                  <a:fillRect l="-27925" r="-27925"/>
                </a:stretch>
              </a:blip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8" name="AutoShape 8"/>
            <p:cNvSpPr/>
            <p:nvPr/>
          </p:nvSpPr>
          <p:spPr>
            <a:xfrm>
              <a:off x="496738" y="1773536"/>
              <a:ext cx="474364" cy="474364"/>
            </a:xfrm>
            <a:prstGeom prst="donut">
              <a:avLst>
                <a:gd name="adj" fmla="val 17607"/>
              </a:avLst>
            </a:prstGeom>
            <a:solidFill>
              <a:srgbClr val="1D9DE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1D9DED">
                <a:alpha val="100000"/>
                <a:lumMod val="50000"/>
              </a:srgbClr>
            </a:gs>
            <a:gs pos="99000">
              <a:srgbClr val="1D9DED">
                <a:alpha val="100000"/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5513364"/>
            <a:ext cx="12192000" cy="1344636"/>
            <a:chOff x="0" y="5513364"/>
            <a:chExt cx="12192000" cy="1344636"/>
          </a:xfrm>
        </p:grpSpPr>
        <p:sp>
          <p:nvSpPr>
            <p:cNvPr id="3" name="AutoShape 3"/>
            <p:cNvSpPr/>
            <p:nvPr/>
          </p:nvSpPr>
          <p:spPr>
            <a:xfrm>
              <a:off x="0" y="5513364"/>
              <a:ext cx="12192000" cy="1344636"/>
            </a:xfrm>
            <a:custGeom>
              <a:avLst/>
              <a:gdLst/>
              <a:ahLst/>
              <a:cxnLst/>
              <a:rect l="l" t="t" r="r" b="b"/>
              <a:pathLst>
                <a:path w="12192000" h="1344636">
                  <a:moveTo>
                    <a:pt x="0" y="0"/>
                  </a:moveTo>
                  <a:lnTo>
                    <a:pt x="33819" y="16709"/>
                  </a:lnTo>
                  <a:cubicBezTo>
                    <a:pt x="1201292" y="528192"/>
                    <a:pt x="3478270" y="875413"/>
                    <a:pt x="6096000" y="875413"/>
                  </a:cubicBezTo>
                  <a:cubicBezTo>
                    <a:pt x="8713730" y="875413"/>
                    <a:pt x="10990708" y="528192"/>
                    <a:pt x="12158181" y="16709"/>
                  </a:cubicBezTo>
                  <a:lnTo>
                    <a:pt x="12192000" y="0"/>
                  </a:lnTo>
                  <a:lnTo>
                    <a:pt x="12192000" y="1344636"/>
                  </a:lnTo>
                  <a:lnTo>
                    <a:pt x="0" y="1344636"/>
                  </a:lnTo>
                  <a:close/>
                </a:path>
              </a:pathLst>
            </a:custGeom>
            <a:gradFill>
              <a:gsLst>
                <a:gs pos="0">
                  <a:srgbClr val="1D9DED">
                    <a:alpha val="14901"/>
                  </a:srgbClr>
                </a:gs>
                <a:gs pos="100000">
                  <a:srgbClr val="F0B034">
                    <a:alpha val="14901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6054064"/>
              <a:ext cx="12192000" cy="803936"/>
            </a:xfrm>
            <a:custGeom>
              <a:avLst/>
              <a:gdLst/>
              <a:ahLst/>
              <a:cxnLst/>
              <a:rect l="l" t="t" r="r" b="b"/>
              <a:pathLst>
                <a:path w="12192000" h="803936">
                  <a:moveTo>
                    <a:pt x="0" y="0"/>
                  </a:moveTo>
                  <a:lnTo>
                    <a:pt x="374491" y="52753"/>
                  </a:lnTo>
                  <a:cubicBezTo>
                    <a:pt x="1879965" y="251345"/>
                    <a:pt x="3889238" y="372604"/>
                    <a:pt x="6096000" y="372604"/>
                  </a:cubicBezTo>
                  <a:cubicBezTo>
                    <a:pt x="8302762" y="372604"/>
                    <a:pt x="10312035" y="251345"/>
                    <a:pt x="11817509" y="52753"/>
                  </a:cubicBezTo>
                  <a:lnTo>
                    <a:pt x="12192000" y="0"/>
                  </a:lnTo>
                  <a:lnTo>
                    <a:pt x="12192000" y="803936"/>
                  </a:lnTo>
                  <a:lnTo>
                    <a:pt x="0" y="803936"/>
                  </a:lnTo>
                  <a:close/>
                </a:path>
              </a:pathLst>
            </a:custGeom>
            <a:gradFill>
              <a:gsLst>
                <a:gs pos="0">
                  <a:srgbClr val="1D9DED">
                    <a:alpha val="100000"/>
                  </a:srgbClr>
                </a:gs>
                <a:gs pos="100000">
                  <a:srgbClr val="F0B034">
                    <a:alpha val="10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1D9DED">
                <a:alpha val="100000"/>
                <a:lumMod val="50000"/>
              </a:srgbClr>
            </a:gs>
            <a:gs pos="99000">
              <a:srgbClr val="1D9DED">
                <a:alpha val="100000"/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1D9DED">
                <a:alpha val="100000"/>
                <a:lumMod val="50000"/>
              </a:srgbClr>
            </a:gs>
            <a:gs pos="99000">
              <a:srgbClr val="1D9DED">
                <a:alpha val="100000"/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409690"/>
            <a:ext cx="8640346" cy="448310"/>
          </a:xfrm>
          <a:custGeom>
            <a:avLst/>
            <a:gdLst/>
            <a:ahLst/>
            <a:cxnLst/>
            <a:rect l="l" t="t" r="r" b="b"/>
            <a:pathLst>
              <a:path w="8640346" h="448310">
                <a:moveTo>
                  <a:pt x="0" y="0"/>
                </a:moveTo>
                <a:lnTo>
                  <a:pt x="8640346" y="0"/>
                </a:lnTo>
                <a:lnTo>
                  <a:pt x="8451432" y="448310"/>
                </a:lnTo>
                <a:lnTo>
                  <a:pt x="0" y="448310"/>
                </a:lnTo>
                <a:close/>
              </a:path>
            </a:pathLst>
          </a:custGeom>
          <a:gradFill>
            <a:gsLst>
              <a:gs pos="0">
                <a:srgbClr val="1D9DED">
                  <a:alpha val="100000"/>
                </a:srgbClr>
              </a:gs>
              <a:gs pos="100000">
                <a:srgbClr val="1D9DED">
                  <a:alpha val="50196"/>
                </a:srgbClr>
              </a:gs>
            </a:gsLst>
            <a:lin ang="10800000"/>
          </a:gra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8676104" y="6409690"/>
            <a:ext cx="3515896" cy="448310"/>
          </a:xfrm>
          <a:custGeom>
            <a:avLst/>
            <a:gdLst/>
            <a:ahLst/>
            <a:cxnLst/>
            <a:rect l="l" t="t" r="r" b="b"/>
            <a:pathLst>
              <a:path w="3515896" h="448310">
                <a:moveTo>
                  <a:pt x="188914" y="0"/>
                </a:moveTo>
                <a:lnTo>
                  <a:pt x="3515896" y="0"/>
                </a:lnTo>
                <a:lnTo>
                  <a:pt x="3515896" y="448310"/>
                </a:lnTo>
                <a:lnTo>
                  <a:pt x="0" y="448310"/>
                </a:lnTo>
                <a:close/>
              </a:path>
            </a:pathLst>
          </a:custGeom>
          <a:gradFill>
            <a:gsLst>
              <a:gs pos="0">
                <a:srgbClr val="1D9DED">
                  <a:alpha val="100000"/>
                </a:srgbClr>
              </a:gs>
              <a:gs pos="100000">
                <a:srgbClr val="1D9DED">
                  <a:alpha val="50196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  <p:cxnSp>
        <p:nvCxnSpPr>
          <p:cNvPr id="4" name="Connector 4"/>
          <p:cNvCxnSpPr/>
          <p:nvPr/>
        </p:nvCxnSpPr>
        <p:spPr>
          <a:xfrm>
            <a:off x="2846319" y="1500188"/>
            <a:ext cx="0" cy="4278312"/>
          </a:xfrm>
          <a:prstGeom prst="line">
            <a:avLst/>
          </a:prstGeom>
          <a:ln w="3175">
            <a:solidFill>
              <a:srgbClr val="F0F0F0">
                <a:alpha val="50196"/>
              </a:srgbClr>
            </a:solidFill>
            <a:prstDash val="solid"/>
            <a:headEnd type="none"/>
            <a:tailEnd type="none"/>
          </a:ln>
        </p:spPr>
      </p:cxnSp>
      <p:sp>
        <p:nvSpPr>
          <p:cNvPr id="5" name="AutoShape 5"/>
          <p:cNvSpPr/>
          <p:nvPr/>
        </p:nvSpPr>
        <p:spPr>
          <a:xfrm>
            <a:off x="1851756" y="4862833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FFFFFF">
              <a:alpha val="54901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gradFill>
          <a:gsLst>
            <a:gs pos="0">
              <a:srgbClr val="0F77B9">
                <a:alpha val="74901"/>
                <a:lumMod val="75000"/>
              </a:srgbClr>
            </a:gs>
            <a:gs pos="47699">
              <a:srgbClr val="1D9DED">
                <a:alpha val="100000"/>
              </a:srgbClr>
            </a:gs>
            <a:gs pos="100000">
              <a:srgbClr val="1D9DED">
                <a:alpha val="100000"/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96738" y="0"/>
            <a:ext cx="11695262" cy="6858002"/>
            <a:chOff x="496738" y="0"/>
            <a:chExt cx="11695262" cy="6858002"/>
          </a:xfrm>
        </p:grpSpPr>
        <p:sp>
          <p:nvSpPr>
            <p:cNvPr id="3" name="AutoShape 3"/>
            <p:cNvSpPr/>
            <p:nvPr/>
          </p:nvSpPr>
          <p:spPr>
            <a:xfrm>
              <a:off x="533607" y="0"/>
              <a:ext cx="3481653" cy="1309606"/>
            </a:xfrm>
            <a:custGeom>
              <a:avLst/>
              <a:gdLst/>
              <a:ahLst/>
              <a:cxnLst/>
              <a:rect l="l" t="t" r="r" b="b"/>
              <a:pathLst>
                <a:path w="3481653" h="1309606">
                  <a:moveTo>
                    <a:pt x="0" y="0"/>
                  </a:moveTo>
                  <a:lnTo>
                    <a:pt x="313355" y="0"/>
                  </a:lnTo>
                  <a:lnTo>
                    <a:pt x="867994" y="771074"/>
                  </a:lnTo>
                  <a:cubicBezTo>
                    <a:pt x="1078205" y="1063315"/>
                    <a:pt x="1485522" y="1129814"/>
                    <a:pt x="1777763" y="919603"/>
                  </a:cubicBezTo>
                  <a:lnTo>
                    <a:pt x="3056221" y="0"/>
                  </a:lnTo>
                  <a:lnTo>
                    <a:pt x="3481653" y="0"/>
                  </a:lnTo>
                  <a:lnTo>
                    <a:pt x="1886472" y="1147423"/>
                  </a:lnTo>
                  <a:cubicBezTo>
                    <a:pt x="1500257" y="1425230"/>
                    <a:pt x="961963" y="1337349"/>
                    <a:pt x="684158" y="951135"/>
                  </a:cubicBezTo>
                  <a:close/>
                </a:path>
              </a:pathLst>
            </a:custGeom>
            <a:gradFill>
              <a:gsLst>
                <a:gs pos="0">
                  <a:srgbClr val="1D9DED">
                    <a:alpha val="41960"/>
                  </a:srgbClr>
                </a:gs>
                <a:gs pos="100000">
                  <a:srgbClr val="1D9DED">
                    <a:alpha val="10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5829300" y="259536"/>
              <a:ext cx="6362700" cy="6598466"/>
            </a:xfrm>
            <a:custGeom>
              <a:avLst/>
              <a:gdLst/>
              <a:ahLst/>
              <a:cxnLst/>
              <a:rect l="l" t="t" r="r" b="b"/>
              <a:pathLst>
                <a:path w="6156316" h="6384435">
                  <a:moveTo>
                    <a:pt x="4490618" y="374"/>
                  </a:moveTo>
                  <a:cubicBezTo>
                    <a:pt x="4767028" y="-7759"/>
                    <a:pt x="5042410" y="117089"/>
                    <a:pt x="5216039" y="358472"/>
                  </a:cubicBezTo>
                  <a:lnTo>
                    <a:pt x="6156316" y="1665671"/>
                  </a:lnTo>
                  <a:lnTo>
                    <a:pt x="6156316" y="6384435"/>
                  </a:lnTo>
                  <a:lnTo>
                    <a:pt x="1881823" y="6384435"/>
                  </a:lnTo>
                  <a:lnTo>
                    <a:pt x="162183" y="3993745"/>
                  </a:lnTo>
                  <a:cubicBezTo>
                    <a:pt x="-115623" y="3607532"/>
                    <a:pt x="-27741" y="3069237"/>
                    <a:pt x="358472" y="2791431"/>
                  </a:cubicBezTo>
                  <a:lnTo>
                    <a:pt x="4013725" y="162183"/>
                  </a:lnTo>
                  <a:cubicBezTo>
                    <a:pt x="4158555" y="58006"/>
                    <a:pt x="4324772" y="5253"/>
                    <a:pt x="4490618" y="374"/>
                  </a:cubicBezTo>
                  <a:close/>
                </a:path>
              </a:pathLst>
            </a:custGeom>
            <a:gradFill>
              <a:gsLst>
                <a:gs pos="0">
                  <a:srgbClr val="1D9DED">
                    <a:alpha val="41960"/>
                  </a:srgbClr>
                </a:gs>
                <a:gs pos="100000">
                  <a:srgbClr val="1D9DED">
                    <a:alpha val="10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112043" y="540876"/>
              <a:ext cx="6079957" cy="6317125"/>
            </a:xfrm>
            <a:custGeom>
              <a:avLst/>
              <a:gdLst/>
              <a:ahLst/>
              <a:cxnLst/>
              <a:rect l="l" t="t" r="r" b="b"/>
              <a:pathLst>
                <a:path w="5882744" h="6112220">
                  <a:moveTo>
                    <a:pt x="4206501" y="289"/>
                  </a:moveTo>
                  <a:cubicBezTo>
                    <a:pt x="4419655" y="-5983"/>
                    <a:pt x="4632016" y="90294"/>
                    <a:pt x="4765909" y="276436"/>
                  </a:cubicBezTo>
                  <a:lnTo>
                    <a:pt x="5882744" y="1829091"/>
                  </a:lnTo>
                  <a:lnTo>
                    <a:pt x="5882744" y="6112220"/>
                  </a:lnTo>
                  <a:lnTo>
                    <a:pt x="1921606" y="6112220"/>
                  </a:lnTo>
                  <a:lnTo>
                    <a:pt x="125068" y="3614624"/>
                  </a:lnTo>
                  <a:cubicBezTo>
                    <a:pt x="-89162" y="3316796"/>
                    <a:pt x="-21392" y="2901691"/>
                    <a:pt x="276436" y="2687461"/>
                  </a:cubicBezTo>
                  <a:lnTo>
                    <a:pt x="3838746" y="125068"/>
                  </a:lnTo>
                  <a:cubicBezTo>
                    <a:pt x="3950432" y="44732"/>
                    <a:pt x="4078609" y="4052"/>
                    <a:pt x="4206501" y="289"/>
                  </a:cubicBezTo>
                  <a:close/>
                </a:path>
              </a:pathLst>
            </a:custGeom>
            <a:blipFill rotWithShape="1">
              <a:blip r:embed="rId2">
                <a:alphaModFix amt="100000"/>
                <a:alphaModFix amt="100000"/>
              </a:blip>
              <a:stretch>
                <a:fillRect l="-27925" r="-27925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496738" y="1773536"/>
              <a:ext cx="474364" cy="474364"/>
            </a:xfrm>
            <a:prstGeom prst="donut">
              <a:avLst>
                <a:gd name="adj" fmla="val 17607"/>
              </a:avLst>
            </a:prstGeom>
            <a:solidFill>
              <a:srgbClr val="1D9DE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701" y="1089024"/>
            <a:ext cx="5448300" cy="23399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 w="19050"/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矿用汽车安全驾驶技巧</a:t>
            </a:r>
            <a:r>
              <a:rPr lang="zh-CN" altLang="en-US" sz="5400" b="1" i="0">
                <a:ln w="19050"/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与分享</a:t>
            </a:r>
            <a:endParaRPr lang="zh-CN" altLang="en-US" sz="5400" b="1" i="0">
              <a:ln w="19050"/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47701" y="3610953"/>
            <a:ext cx="5448300" cy="701040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新员工入职必修课：从公路思维到矿区实战的保命指南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47701" y="4392297"/>
            <a:ext cx="5448300" cy="33127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200" b="0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报告人：代洪兵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caed9d6-c0d5-402d-a13c-963d60d56e8c"/>
          <p:cNvGrpSpPr/>
          <p:nvPr/>
        </p:nvGrpSpPr>
        <p:grpSpPr>
          <a:xfrm rot="0">
            <a:off x="0" y="1130300"/>
            <a:ext cx="12192000" cy="4305311"/>
            <a:chOff x="0" y="1130300"/>
            <a:chExt cx="12192000" cy="4305311"/>
          </a:xfrm>
        </p:grpSpPr>
        <p:sp>
          <p:nvSpPr>
            <p:cNvPr id="3" name="AutoShape 3"/>
            <p:cNvSpPr/>
            <p:nvPr/>
          </p:nvSpPr>
          <p:spPr>
            <a:xfrm>
              <a:off x="0" y="3406786"/>
              <a:ext cx="12192000" cy="1076060"/>
            </a:xfrm>
            <a:prstGeom prst="rect">
              <a:avLst/>
            </a:prstGeom>
            <a:solidFill>
              <a:srgbClr val="1D9DED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60400" y="3944816"/>
              <a:ext cx="10858500" cy="0"/>
            </a:xfrm>
            <a:prstGeom prst="straightConnector1">
              <a:avLst/>
            </a:prstGeom>
            <a:ln w="6350">
              <a:gradFill>
                <a:gsLst>
                  <a:gs pos="0">
                    <a:srgbClr val="1D9DED">
                      <a:alpha val="0"/>
                    </a:srgbClr>
                  </a:gs>
                  <a:gs pos="100000">
                    <a:srgbClr val="1D9DED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triangl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660400" y="3650127"/>
              <a:ext cx="2568077" cy="1785484"/>
              <a:chOff x="430475" y="3650127"/>
              <a:chExt cx="2568077" cy="1785484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411803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1D9DED">
                      <a:alpha val="100000"/>
                      <a:lumMod val="60000"/>
                      <a:lumOff val="40000"/>
                    </a:srgbClr>
                  </a:gs>
                  <a:gs pos="75000">
                    <a:srgbClr val="1D9DED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grpSp>
            <p:nvGrpSpPr>
              <p:cNvPr id="7" name="Group 7"/>
              <p:cNvGrpSpPr/>
              <p:nvPr/>
            </p:nvGrpSpPr>
            <p:grpSpPr>
              <a:xfrm rot="0">
                <a:off x="430475" y="4236631"/>
                <a:ext cx="2568077" cy="1198980"/>
                <a:chOff x="1670227" y="4601292"/>
                <a:chExt cx="2568077" cy="1198980"/>
              </a:xfrm>
            </p:grpSpPr>
            <p:sp>
              <p:nvSpPr>
                <p:cNvPr id="8" name="TextBox 8"/>
                <p:cNvSpPr txBox="1"/>
                <p:nvPr/>
              </p:nvSpPr>
              <p:spPr>
                <a:xfrm>
                  <a:off x="1670227" y="5090848"/>
                  <a:ext cx="2568077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矿区驾驶认知重塑</a:t>
                  </a:r>
                  <a:endParaRPr lang="en-US" sz="1100"/>
                </a:p>
              </p:txBody>
            </p:sp>
            <p:sp>
              <p:nvSpPr>
                <p:cNvPr id="9" name="AutoShape 9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1D9DED">
                          <a:alpha val="0"/>
                        </a:srgbClr>
                      </a:gs>
                      <a:gs pos="100000">
                        <a:srgbClr val="1D9DE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10" name="Group 10"/>
            <p:cNvGrpSpPr/>
            <p:nvPr/>
          </p:nvGrpSpPr>
          <p:grpSpPr>
            <a:xfrm rot="0">
              <a:off x="2694819" y="2441361"/>
              <a:ext cx="2568077" cy="1795270"/>
              <a:chOff x="2091348" y="2441361"/>
              <a:chExt cx="2568077" cy="179527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3088485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F0B034">
                      <a:alpha val="100000"/>
                      <a:lumMod val="60000"/>
                      <a:lumOff val="40000"/>
                    </a:srgbClr>
                  </a:gs>
                  <a:gs pos="75000">
                    <a:srgbClr val="F0B034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grpSp>
            <p:nvGrpSpPr>
              <p:cNvPr id="12" name="Group 12"/>
              <p:cNvGrpSpPr/>
              <p:nvPr/>
            </p:nvGrpSpPr>
            <p:grpSpPr>
              <a:xfrm rot="0">
                <a:off x="2091348" y="2441361"/>
                <a:ext cx="2568077" cy="1205891"/>
                <a:chOff x="1663877" y="5316110"/>
                <a:chExt cx="2568077" cy="1205891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1663877" y="5316110"/>
                  <a:ext cx="2568077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十条安全红线</a:t>
                  </a:r>
                  <a:endParaRPr lang="en-US" sz="1100"/>
                </a:p>
              </p:txBody>
            </p:sp>
            <p:sp>
              <p:nvSpPr>
                <p:cNvPr id="14" name="AutoShape 14"/>
                <p:cNvSpPr/>
                <p:nvPr/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1D9DED">
                          <a:alpha val="0"/>
                        </a:srgbClr>
                      </a:gs>
                      <a:gs pos="100000">
                        <a:srgbClr val="1D9DE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sp>
          <p:nvSpPr>
            <p:cNvPr id="15" name="AutoShape 15"/>
            <p:cNvSpPr/>
            <p:nvPr/>
          </p:nvSpPr>
          <p:spPr>
            <a:xfrm>
              <a:off x="666750" y="1130300"/>
              <a:ext cx="10858500" cy="100291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</p:sp>
        <p:grpSp>
          <p:nvGrpSpPr>
            <p:cNvPr id="16" name="Group 16"/>
            <p:cNvGrpSpPr/>
            <p:nvPr/>
          </p:nvGrpSpPr>
          <p:grpSpPr>
            <a:xfrm rot="0">
              <a:off x="4729238" y="3650127"/>
              <a:ext cx="2568077" cy="1785484"/>
              <a:chOff x="3751497" y="3650127"/>
              <a:chExt cx="2568077" cy="178548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765167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1D9DED">
                      <a:alpha val="100000"/>
                      <a:lumMod val="60000"/>
                      <a:lumOff val="40000"/>
                    </a:srgbClr>
                  </a:gs>
                  <a:gs pos="75000">
                    <a:srgbClr val="1D9DED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 rot="0">
                <a:off x="3751497" y="4236631"/>
                <a:ext cx="2568077" cy="1198980"/>
                <a:chOff x="1670227" y="4601292"/>
                <a:chExt cx="2568077" cy="1198980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1670227" y="5090848"/>
                  <a:ext cx="2568077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事故处置与复盘</a:t>
                  </a:r>
                  <a:endParaRPr lang="en-US" sz="1100"/>
                </a:p>
              </p:txBody>
            </p:sp>
            <p:sp>
              <p:nvSpPr>
                <p:cNvPr id="20" name="AutoShape 20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1D9DED">
                          <a:alpha val="0"/>
                        </a:srgbClr>
                      </a:gs>
                      <a:gs pos="100000">
                        <a:srgbClr val="1D9DE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1" name="Group 21"/>
            <p:cNvGrpSpPr/>
            <p:nvPr/>
          </p:nvGrpSpPr>
          <p:grpSpPr>
            <a:xfrm rot="0">
              <a:off x="6763657" y="2441361"/>
              <a:ext cx="2568077" cy="1795270"/>
              <a:chOff x="5444712" y="2441361"/>
              <a:chExt cx="2568077" cy="17952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441849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F0B034">
                      <a:alpha val="100000"/>
                      <a:lumMod val="60000"/>
                      <a:lumOff val="40000"/>
                    </a:srgbClr>
                  </a:gs>
                  <a:gs pos="75000">
                    <a:srgbClr val="F0B034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grpSp>
            <p:nvGrpSpPr>
              <p:cNvPr id="23" name="Group 23"/>
              <p:cNvGrpSpPr/>
              <p:nvPr/>
            </p:nvGrpSpPr>
            <p:grpSpPr>
              <a:xfrm rot="0">
                <a:off x="5444712" y="2441361"/>
                <a:ext cx="2568077" cy="1205891"/>
                <a:chOff x="1663877" y="5316110"/>
                <a:chExt cx="2568077" cy="1205891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1663877" y="5316110"/>
                  <a:ext cx="2568077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日常维保与判断</a:t>
                  </a:r>
                  <a:endParaRPr lang="en-US" sz="1100"/>
                </a:p>
              </p:txBody>
            </p:sp>
            <p:sp>
              <p:nvSpPr>
                <p:cNvPr id="25" name="AutoShape 25"/>
                <p:cNvSpPr/>
                <p:nvPr/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1D9DED">
                          <a:alpha val="0"/>
                        </a:srgbClr>
                      </a:gs>
                      <a:gs pos="100000">
                        <a:srgbClr val="1D9DE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6" name="Group 26"/>
            <p:cNvGrpSpPr/>
            <p:nvPr/>
          </p:nvGrpSpPr>
          <p:grpSpPr>
            <a:xfrm rot="0">
              <a:off x="8798076" y="3650127"/>
              <a:ext cx="2568077" cy="1785484"/>
              <a:chOff x="7127744" y="3650127"/>
              <a:chExt cx="2568077" cy="1785484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8118531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1D9DED">
                      <a:alpha val="100000"/>
                      <a:lumMod val="60000"/>
                      <a:lumOff val="40000"/>
                    </a:srgbClr>
                  </a:gs>
                  <a:gs pos="75000">
                    <a:srgbClr val="1D9DED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 rot="0">
                <a:off x="7127744" y="4236631"/>
                <a:ext cx="2568077" cy="1198980"/>
                <a:chOff x="1670227" y="4601292"/>
                <a:chExt cx="2568077" cy="1198980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>
                  <a:off x="1670227" y="5090848"/>
                  <a:ext cx="2568077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课程总结与升华</a:t>
                  </a:r>
                  <a:endParaRPr lang="en-US" sz="1100"/>
                </a:p>
              </p:txBody>
            </p:sp>
            <p:sp>
              <p:nvSpPr>
                <p:cNvPr id="30" name="AutoShape 30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1D9DED">
                          <a:alpha val="0"/>
                        </a:srgbClr>
                      </a:gs>
                      <a:gs pos="100000">
                        <a:srgbClr val="1D9DE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</p:grpSp>
      <p:sp>
        <p:nvSpPr>
          <p:cNvPr id="31" name="TextBox 3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65334" y="3057549"/>
            <a:ext cx="5253566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矿区驾驶认知重塑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265334" y="3654178"/>
            <a:ext cx="5253566" cy="11049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打破公路驾驶惯性，建立矿区作业专属安全认知体系，是每位新员工的第一课。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0377c2f-7f24-46b9-9935-606b3c5848ef"/>
          <p:cNvGrpSpPr/>
          <p:nvPr/>
        </p:nvGrpSpPr>
        <p:grpSpPr>
          <a:xfrm rot="0">
            <a:off x="0" y="1130300"/>
            <a:ext cx="12192000" cy="5727699"/>
            <a:chOff x="0" y="1130300"/>
            <a:chExt cx="12192000" cy="5727699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660400" y="2593227"/>
              <a:ext cx="3200941" cy="2987152"/>
              <a:chOff x="660400" y="1264716"/>
              <a:chExt cx="3200941" cy="2987152"/>
            </a:xfrm>
          </p:grpSpPr>
          <p:grpSp>
            <p:nvGrpSpPr>
              <p:cNvPr id="4" name="Group 4"/>
              <p:cNvGrpSpPr/>
              <p:nvPr/>
            </p:nvGrpSpPr>
            <p:grpSpPr>
              <a:xfrm rot="0">
                <a:off x="660400" y="1917411"/>
                <a:ext cx="3200941" cy="2334457"/>
                <a:chOff x="2160260" y="5060500"/>
                <a:chExt cx="5749931" cy="2076442"/>
              </a:xfrm>
            </p:grpSpPr>
            <p:sp>
              <p:nvSpPr>
                <p:cNvPr id="5" name="TextBox 5"/>
                <p:cNvSpPr txBox="1"/>
                <p:nvPr/>
              </p:nvSpPr>
              <p:spPr>
                <a:xfrm>
                  <a:off x="2160260" y="5607725"/>
                  <a:ext cx="5749931" cy="152921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司机倒车时未调整方向，反而加大油门，导致车辆越过挡墙翻滚。司机未系安全带，被甩出驾驶室坠亡。</a:t>
                  </a:r>
                  <a:endParaRPr lang="en-US" sz="1100"/>
                </a:p>
              </p:txBody>
            </p:sp>
            <p:sp>
              <p:nvSpPr>
                <p:cNvPr id="6" name="TextBox 6"/>
                <p:cNvSpPr txBox="1"/>
                <p:nvPr/>
              </p:nvSpPr>
              <p:spPr>
                <a:xfrm>
                  <a:off x="2160260" y="5060500"/>
                  <a:ext cx="5749929" cy="5472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肃北煤矿侧翻事故</a:t>
                  </a:r>
                  <a:endParaRPr lang="en-US" sz="1100"/>
                </a:p>
              </p:txBody>
            </p:sp>
          </p:grpSp>
          <p:sp>
            <p:nvSpPr>
              <p:cNvPr id="7" name="TextBox 7"/>
              <p:cNvSpPr txBox="1"/>
              <p:nvPr/>
            </p:nvSpPr>
            <p:spPr>
              <a:xfrm>
                <a:off x="1824566" y="1264716"/>
                <a:ext cx="872608" cy="578980"/>
              </a:xfrm>
              <a:prstGeom prst="roundRect">
                <a:avLst>
                  <a:gd name="adj" fmla="val 20000"/>
                </a:avLst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0">
              <a:off x="4489179" y="2593227"/>
              <a:ext cx="3200941" cy="2987153"/>
              <a:chOff x="4489179" y="1264716"/>
              <a:chExt cx="3200941" cy="2987153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4489179" y="2532634"/>
                <a:ext cx="3200941" cy="17192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司机停车未熄火、未拉手刹即下车，发现溜车后徒手阻挡，被数十吨矿卡挤压致死。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489179" y="1917412"/>
                <a:ext cx="3200940" cy="61522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本溪矿业溜车事故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653345" y="1264716"/>
                <a:ext cx="872608" cy="578980"/>
              </a:xfrm>
              <a:prstGeom prst="roundRect">
                <a:avLst>
                  <a:gd name="adj" fmla="val 20000"/>
                </a:avLst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8317959" y="2593227"/>
              <a:ext cx="3200941" cy="2987153"/>
              <a:chOff x="8317959" y="1264716"/>
              <a:chExt cx="3200941" cy="2987153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8317959" y="2532634"/>
                <a:ext cx="3200941" cy="17192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矿区不是公路，同样的操作在公路上可能没事，在矿上就是生死线。必须彻底摒弃公路驾驶旧有习惯。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317959" y="1917413"/>
                <a:ext cx="3200940" cy="61522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核心警示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82125" y="1264716"/>
                <a:ext cx="872608" cy="578980"/>
              </a:xfrm>
              <a:prstGeom prst="roundRect">
                <a:avLst>
                  <a:gd name="adj" fmla="val 20000"/>
                </a:avLst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0" y="6235700"/>
              <a:ext cx="12192000" cy="62229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0400" y="1130300"/>
              <a:ext cx="10858500" cy="63199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lnSpc>
                  <a:spcPct val="100000"/>
                </a:lnSpc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肃北与本溪事故案例深度剖析</a:t>
              </a:r>
              <a:endParaRPr lang="en-US" sz="110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两条人命的教训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727b422-0cb8-4e5c-a0b2-afb4040b47ae"/>
          <p:cNvGrpSpPr/>
          <p:nvPr/>
        </p:nvGrpSpPr>
        <p:grpSpPr>
          <a:xfrm rot="0">
            <a:off x="0" y="0"/>
            <a:ext cx="12192000" cy="5740399"/>
            <a:chOff x="0" y="0"/>
            <a:chExt cx="12192000" cy="5740399"/>
          </a:xfrm>
        </p:grpSpPr>
        <p:sp>
          <p:nvSpPr>
            <p:cNvPr id="3" name="TextBox 3"/>
            <p:cNvSpPr txBox="1"/>
            <p:nvPr/>
          </p:nvSpPr>
          <p:spPr>
            <a:xfrm flipH="1">
              <a:off x="660397" y="1712467"/>
              <a:ext cx="3244338" cy="2109444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1D9DE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三大本质区别与三大认知陷阱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0" y="0"/>
              <a:ext cx="12192000" cy="5740399"/>
              <a:chOff x="0" y="0"/>
              <a:chExt cx="12192000" cy="5740399"/>
            </a:xfrm>
          </p:grpSpPr>
          <p:sp>
            <p:nvSpPr>
              <p:cNvPr id="5" name="AutoShape 5"/>
              <p:cNvSpPr/>
              <p:nvPr/>
            </p:nvSpPr>
            <p:spPr>
              <a:xfrm flipH="1">
                <a:off x="4429778" y="1701798"/>
                <a:ext cx="3392624" cy="4038601"/>
              </a:xfrm>
              <a:prstGeom prst="rect">
                <a:avLst/>
              </a:prstGeom>
              <a:solidFill>
                <a:srgbClr val="2F2F2F">
                  <a:alpha val="50196"/>
                </a:srgbClr>
              </a:solidFill>
              <a:ln w="6350">
                <a:solidFill>
                  <a:srgbClr val="1D9DED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4597236" y="3073398"/>
                <a:ext cx="3034993" cy="7485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三大本质区别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597236" y="3821911"/>
                <a:ext cx="3034993" cy="12326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FFFFFF">
                        <a:alpha val="70196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路况复杂无铺装，坡道多、弯道急；车辆体量与盲区巨大，车身长、重心高；事故后果不可逆，一次失误即致命。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597236" y="2146632"/>
                <a:ext cx="3034993" cy="86311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4800" b="1" i="0">
                    <a:solidFill>
                      <a:srgbClr val="1D9DE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7526225" y="5181540"/>
                <a:ext cx="94566" cy="235863"/>
              </a:xfrm>
              <a:prstGeom prst="chevron">
                <a:avLst>
                  <a:gd name="adj" fmla="val 76821"/>
                </a:avLst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 rot="13500000" flipH="1">
                <a:off x="749637" y="3923782"/>
                <a:ext cx="1740255" cy="1737196"/>
              </a:xfrm>
              <a:custGeom>
                <a:avLst/>
                <a:gdLst/>
                <a:ahLst/>
                <a:cxnLst/>
                <a:rect l="l" t="t" r="r" b="b"/>
                <a:pathLst>
                  <a:path w="2659" h="2659">
                    <a:moveTo>
                      <a:pt x="1329" y="2659"/>
                    </a:moveTo>
                    <a:lnTo>
                      <a:pt x="2659" y="1329"/>
                    </a:lnTo>
                    <a:lnTo>
                      <a:pt x="2282" y="952"/>
                    </a:lnTo>
                    <a:lnTo>
                      <a:pt x="1572" y="1662"/>
                    </a:lnTo>
                    <a:lnTo>
                      <a:pt x="1572" y="0"/>
                    </a:lnTo>
                    <a:lnTo>
                      <a:pt x="1087" y="0"/>
                    </a:lnTo>
                    <a:lnTo>
                      <a:pt x="1087" y="1662"/>
                    </a:lnTo>
                    <a:lnTo>
                      <a:pt x="377" y="952"/>
                    </a:lnTo>
                    <a:lnTo>
                      <a:pt x="0" y="1329"/>
                    </a:lnTo>
                    <a:lnTo>
                      <a:pt x="1329" y="2659"/>
                    </a:lnTo>
                    <a:close/>
                  </a:path>
                </a:pathLst>
              </a:cu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0" y="0"/>
                <a:ext cx="12192000" cy="136163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1028699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028699"/>
                    </a:lnTo>
                    <a:lnTo>
                      <a:pt x="0" y="1028699"/>
                    </a:lnTo>
                    <a:close/>
                  </a:path>
                </a:pathLst>
              </a:cu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 rot="0">
              <a:off x="8126276" y="1701798"/>
              <a:ext cx="3392624" cy="4038601"/>
              <a:chOff x="8126276" y="1701798"/>
              <a:chExt cx="3392624" cy="4038601"/>
            </a:xfrm>
          </p:grpSpPr>
          <p:sp>
            <p:nvSpPr>
              <p:cNvPr id="13" name="AutoShape 13"/>
              <p:cNvSpPr/>
              <p:nvPr/>
            </p:nvSpPr>
            <p:spPr>
              <a:xfrm flipH="1">
                <a:off x="8126276" y="1701798"/>
                <a:ext cx="3392624" cy="4038601"/>
              </a:xfrm>
              <a:prstGeom prst="rect">
                <a:avLst/>
              </a:prstGeom>
              <a:solidFill>
                <a:srgbClr val="1D9DED">
                  <a:alpha val="100000"/>
                </a:srgbClr>
              </a:solidFill>
              <a:ln w="6350">
                <a:solidFill>
                  <a:srgbClr val="1D9DED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295384" y="3073399"/>
                <a:ext cx="3034993" cy="7485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新员工三大认知陷阱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295384" y="3821913"/>
                <a:ext cx="3034993" cy="12326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“我有驾照就能开”：矿卡操作逻辑完全不同；“慢慢开就没事”：事故多源于判断错误；“老师傅都这么干”：经验不等于安全。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95384" y="2146634"/>
                <a:ext cx="3034993" cy="86311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4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11222723" y="5181541"/>
                <a:ext cx="94566" cy="235863"/>
              </a:xfrm>
              <a:prstGeom prst="chevron">
                <a:avLst>
                  <a:gd name="adj" fmla="val 76821"/>
                </a:avLst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矿区与公路区别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a50e49d-bbdc-40ba-b05a-c932b100c480"/>
          <p:cNvGrpSpPr/>
          <p:nvPr/>
        </p:nvGrpSpPr>
        <p:grpSpPr>
          <a:xfrm rot="0">
            <a:off x="660399" y="1496060"/>
            <a:ext cx="11531601" cy="4638040"/>
            <a:chOff x="660399" y="1496060"/>
            <a:chExt cx="11531601" cy="4638040"/>
          </a:xfrm>
        </p:grpSpPr>
        <p:sp>
          <p:nvSpPr>
            <p:cNvPr id="3" name="AutoShape 3"/>
            <p:cNvSpPr/>
            <p:nvPr/>
          </p:nvSpPr>
          <p:spPr>
            <a:xfrm>
              <a:off x="1401465" y="2894731"/>
              <a:ext cx="10790535" cy="0"/>
            </a:xfrm>
            <a:prstGeom prst="straightConnector1">
              <a:avLst/>
            </a:prstGeom>
            <a:ln w="12700">
              <a:solidFill>
                <a:srgbClr val="1D9DED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399" y="1496060"/>
              <a:ext cx="10858500" cy="5253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蒙西煤矿“5·21”较大运输事故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801663" y="2587661"/>
              <a:ext cx="2961815" cy="3546439"/>
              <a:chOff x="801663" y="2221901"/>
              <a:chExt cx="2961815" cy="3546439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094395" y="2221901"/>
                <a:ext cx="614141" cy="614141"/>
              </a:xfrm>
              <a:prstGeom prst="ellipse">
                <a:avLst/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01663" y="3321236"/>
                <a:ext cx="2961815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事故经过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01663" y="4041237"/>
                <a:ext cx="2961815" cy="17271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司机李某驾驶矿卡在排土场卸渣后，未确认车厢完全复位便起步行驶，车辆在转弯时因重心过高发生侧翻。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4679374" y="2587661"/>
              <a:ext cx="2961815" cy="3546439"/>
              <a:chOff x="801663" y="2221901"/>
              <a:chExt cx="2961815" cy="354643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094395" y="2221901"/>
                <a:ext cx="614141" cy="614141"/>
              </a:xfrm>
              <a:prstGeom prst="ellipse">
                <a:avLst/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01663" y="3321236"/>
                <a:ext cx="2961815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事故原因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1663" y="4041237"/>
                <a:ext cx="2961815" cy="17271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直接原因是司机违反操作规程，未确保车厢复位；间接原因是点检不到位，未能发现并纠正习惯性违章。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8557085" y="2587661"/>
              <a:ext cx="2961815" cy="3546439"/>
              <a:chOff x="801663" y="2221901"/>
              <a:chExt cx="2961815" cy="3546439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094395" y="2221901"/>
                <a:ext cx="614141" cy="614141"/>
              </a:xfrm>
              <a:prstGeom prst="ellipse">
                <a:avLst/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01663" y="3321236"/>
                <a:ext cx="2961815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血的教训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1663" y="4041237"/>
                <a:ext cx="2961815" cy="17271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一次看似微小的疏忽，因未及时发现并纠正，最终酿成车毁人亡的惨剧。安全无小事，细节定生死。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本矿事故警示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65334" y="3057549"/>
            <a:ext cx="5253566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十条安全红线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265334" y="3654178"/>
            <a:ext cx="5253566" cy="11049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掌握矿用汽车安全驾驶的禁止性规范与核心底线，这些红线是用生命换来的教训。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0e60f69-1441-43e6-8d68-e18cff1f76eb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AutoShape 3"/>
            <p:cNvSpPr/>
            <p:nvPr/>
          </p:nvSpPr>
          <p:spPr>
            <a:xfrm flipH="1">
              <a:off x="3382757" y="2513013"/>
              <a:ext cx="2713245" cy="3621087"/>
            </a:xfrm>
            <a:prstGeom prst="rect">
              <a:avLst/>
            </a:prstGeom>
            <a:ln w="6350">
              <a:solidFill>
                <a:srgbClr val="FFFFFF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593725"/>
            </a:xfrm>
            <a:prstGeom prst="rect">
              <a:avLst/>
            </a:prstGeom>
            <a:solidFill>
              <a:srgbClr val="1D9DE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严禁空挡滑行、严重超载、弯道超车、无视仪表报警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727656" y="1925223"/>
              <a:ext cx="2596954" cy="4208877"/>
              <a:chOff x="727656" y="1925223"/>
              <a:chExt cx="2596954" cy="4208877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727658" y="3635604"/>
                <a:ext cx="2596952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重载下坡必须挂低速挡，利用发动机牵阻制动。空挡滑行全靠刹车，会导致刹车片过热“热衰退”后失灵。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27656" y="2617258"/>
                <a:ext cx="259694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严禁空挡滑行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27657" y="1925223"/>
                <a:ext cx="259694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1D9DE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3440901" y="1925223"/>
              <a:ext cx="2596954" cy="4053937"/>
              <a:chOff x="3440901" y="1925223"/>
              <a:chExt cx="2596954" cy="4053937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3440903" y="3635604"/>
                <a:ext cx="2596952" cy="2343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超载是刹车距离变长、制动失灵、轮胎爆裂的首要原因，同时会引发车辆结构损坏。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440901" y="2617258"/>
                <a:ext cx="259694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严禁严重超载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440902" y="1925223"/>
                <a:ext cx="259694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1D9DE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6154146" y="1925223"/>
              <a:ext cx="2596954" cy="4208876"/>
              <a:chOff x="6154146" y="1925223"/>
              <a:chExt cx="2596954" cy="4208876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154148" y="3635603"/>
                <a:ext cx="2596952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矿卡车身长重心高，弯道视线差，急转弯或超车极易导致车辆失控侧翻。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154146" y="2617258"/>
                <a:ext cx="259694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严禁弯道超车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154147" y="1925223"/>
                <a:ext cx="259694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1D9DE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8867390" y="1925223"/>
              <a:ext cx="2596954" cy="4208877"/>
              <a:chOff x="8867390" y="1925223"/>
              <a:chExt cx="2596954" cy="4208877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867392" y="3635604"/>
                <a:ext cx="2596952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机油压力、制动气压、水温过高等红色报警出现，必须立即停车熄火检查，强行作业将报废核心总成。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67390" y="2617258"/>
                <a:ext cx="259694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严禁无视仪表报警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67391" y="1925223"/>
                <a:ext cx="259694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1D9DE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行驶中的四条保命线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a797dc5-c90b-407e-aa81-07ae260fad4d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AutoShape 3"/>
            <p:cNvSpPr/>
            <p:nvPr/>
          </p:nvSpPr>
          <p:spPr>
            <a:xfrm>
              <a:off x="660400" y="1130300"/>
              <a:ext cx="10858500" cy="1717040"/>
            </a:xfrm>
            <a:prstGeom prst="roundRect">
              <a:avLst>
                <a:gd name="adj" fmla="val 12525"/>
              </a:avLst>
            </a:prstGeom>
            <a:solidFill>
              <a:srgbClr val="1D9DE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920" y="1249680"/>
              <a:ext cx="10647679" cy="147828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lnSpc>
                  <a:spcPct val="120000"/>
                </a:lnSpc>
                <a:defRPr/>
              </a:pPr>
              <a:r>
                <a:rPr lang="en-US" sz="2400" b="1" i="0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严禁坡道停车、运转时检修、车厢未复位行驶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734996" y="2931940"/>
              <a:ext cx="3040780" cy="3202160"/>
              <a:chOff x="734996" y="2931940"/>
              <a:chExt cx="3040780" cy="320216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734996" y="3638327"/>
                <a:ext cx="3040780" cy="7688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严禁坡道停车或检修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34996" y="4407140"/>
                <a:ext cx="3040780" cy="17269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重载车在坡道驻车，一旦制动失效发生溜车，人力无法阻挡，后果不堪设想。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34996" y="2931940"/>
                <a:ext cx="1246370" cy="70638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4606558" y="2931940"/>
              <a:ext cx="3040780" cy="3202160"/>
              <a:chOff x="734996" y="2931940"/>
              <a:chExt cx="3040780" cy="320216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734996" y="3638327"/>
                <a:ext cx="3040780" cy="7688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严禁设备运转时检修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34996" y="4407140"/>
                <a:ext cx="3040780" cy="17269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高压液压油能穿透皮肤，旋转部件会造成严重机械伤害，严禁将身体或工具伸入危险区域。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34996" y="2931940"/>
                <a:ext cx="1246370" cy="70638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8478120" y="2931940"/>
              <a:ext cx="3040780" cy="3202160"/>
              <a:chOff x="734996" y="2931940"/>
              <a:chExt cx="3040780" cy="3202160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734996" y="3638327"/>
                <a:ext cx="3040780" cy="7688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严禁车厢未复位行驶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34996" y="4407140"/>
                <a:ext cx="3040780" cy="17269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卸料后必须确认车厢完全落位并锁定。举升车厢行驶重心过高，转弯或颠簸时极易侧翻。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34996" y="2931940"/>
                <a:ext cx="1246370" cy="70638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停车检修三条生死线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9359adb-7aa7-4de6-b1db-e10321fd37bb"/>
          <p:cNvGrpSpPr/>
          <p:nvPr/>
        </p:nvGrpSpPr>
        <p:grpSpPr>
          <a:xfrm rot="0"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AutoShape 3"/>
            <p:cNvSpPr/>
            <p:nvPr/>
          </p:nvSpPr>
          <p:spPr>
            <a:xfrm>
              <a:off x="0" y="1130300"/>
              <a:ext cx="12192000" cy="57277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 rot="0">
              <a:off x="660399" y="1130300"/>
              <a:ext cx="10858501" cy="4435953"/>
              <a:chOff x="660399" y="1130300"/>
              <a:chExt cx="10858501" cy="4435953"/>
            </a:xfrm>
          </p:grpSpPr>
          <p:grpSp>
            <p:nvGrpSpPr>
              <p:cNvPr id="5" name="Group 5"/>
              <p:cNvGrpSpPr/>
              <p:nvPr/>
            </p:nvGrpSpPr>
            <p:grpSpPr>
              <a:xfrm rot="0">
                <a:off x="673102" y="2767531"/>
                <a:ext cx="10845798" cy="568680"/>
                <a:chOff x="5901815" y="2502853"/>
                <a:chExt cx="10845798" cy="568680"/>
              </a:xfrm>
            </p:grpSpPr>
            <p:sp>
              <p:nvSpPr>
                <p:cNvPr id="6" name="AutoShape 6"/>
                <p:cNvSpPr/>
                <p:nvPr/>
              </p:nvSpPr>
              <p:spPr>
                <a:xfrm>
                  <a:off x="5984170" y="3071533"/>
                  <a:ext cx="10649143" cy="0"/>
                </a:xfrm>
                <a:prstGeom prst="straightConnector1">
                  <a:avLst/>
                </a:prstGeom>
                <a:ln w="12700">
                  <a:solidFill>
                    <a:srgbClr val="2F2F2F">
                      <a:alpha val="50196"/>
                      <a:lumMod val="10000"/>
                      <a:lumOff val="9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5901815" y="2502853"/>
                  <a:ext cx="4800598" cy="52322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严禁疲劳或酒后驾驶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13601012" y="2502853"/>
                  <a:ext cx="3146601" cy="52322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r">
                    <a:defRPr/>
                  </a:pPr>
                  <a:r>
                    <a:rPr lang="en-US" sz="1800" b="1" i="0">
                      <a:solidFill>
                        <a:srgbClr val="1D9DED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01</a:t>
                  </a:r>
                  <a:endParaRPr lang="en-US" sz="1100"/>
                </a:p>
              </p:txBody>
            </p:sp>
          </p:grpSp>
          <p:grpSp>
            <p:nvGrpSpPr>
              <p:cNvPr id="9" name="Group 9"/>
              <p:cNvGrpSpPr/>
              <p:nvPr/>
            </p:nvGrpSpPr>
            <p:grpSpPr>
              <a:xfrm rot="0">
                <a:off x="673102" y="3882552"/>
                <a:ext cx="10845798" cy="568680"/>
                <a:chOff x="5901815" y="2502853"/>
                <a:chExt cx="10845798" cy="568680"/>
              </a:xfrm>
            </p:grpSpPr>
            <p:sp>
              <p:nvSpPr>
                <p:cNvPr id="10" name="AutoShape 10"/>
                <p:cNvSpPr/>
                <p:nvPr/>
              </p:nvSpPr>
              <p:spPr>
                <a:xfrm>
                  <a:off x="5984170" y="3071533"/>
                  <a:ext cx="10649143" cy="0"/>
                </a:xfrm>
                <a:prstGeom prst="straightConnector1">
                  <a:avLst/>
                </a:prstGeom>
                <a:ln w="12700">
                  <a:solidFill>
                    <a:srgbClr val="2F2F2F">
                      <a:alpha val="50196"/>
                      <a:lumMod val="10000"/>
                      <a:lumOff val="9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5901815" y="2502853"/>
                  <a:ext cx="4800598" cy="52322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严禁不系安全带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13601012" y="2502853"/>
                  <a:ext cx="3146601" cy="52322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</p:grpSp>
          <p:grpSp>
            <p:nvGrpSpPr>
              <p:cNvPr id="13" name="Group 13"/>
              <p:cNvGrpSpPr/>
              <p:nvPr/>
            </p:nvGrpSpPr>
            <p:grpSpPr>
              <a:xfrm rot="0">
                <a:off x="673102" y="4997573"/>
                <a:ext cx="10845798" cy="568680"/>
                <a:chOff x="5901815" y="2502853"/>
                <a:chExt cx="10845798" cy="568680"/>
              </a:xfrm>
            </p:grpSpPr>
            <p:sp>
              <p:nvSpPr>
                <p:cNvPr id="14" name="AutoShape 14"/>
                <p:cNvSpPr/>
                <p:nvPr/>
              </p:nvSpPr>
              <p:spPr>
                <a:xfrm>
                  <a:off x="5984170" y="3071533"/>
                  <a:ext cx="10649143" cy="0"/>
                </a:xfrm>
                <a:prstGeom prst="straightConnector1">
                  <a:avLst/>
                </a:prstGeom>
                <a:ln w="12700">
                  <a:solidFill>
                    <a:srgbClr val="2F2F2F">
                      <a:alpha val="50196"/>
                      <a:lumMod val="10000"/>
                      <a:lumOff val="9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5901815" y="2502853"/>
                  <a:ext cx="4800598" cy="52322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严禁关闭安全监控</a:t>
                  </a:r>
                  <a:endParaRPr lang="en-US" sz="1100"/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3601012" y="2502853"/>
                  <a:ext cx="3146601" cy="52322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r">
                    <a:defRPr/>
                  </a:pPr>
                  <a:r>
                    <a:rPr lang="en-US" sz="1800" b="1" i="0">
                      <a:solidFill>
                        <a:srgbClr val="1D9DED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1100"/>
                </a:p>
              </p:txBody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660399" y="1130300"/>
                <a:ext cx="10858500" cy="84686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严禁疲劳驾驶、不系安全带、关闭监控系统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人员状态三条底线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65334" y="3057549"/>
            <a:ext cx="5253566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事故处置与复盘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265334" y="3654178"/>
            <a:ext cx="5253566" cy="11049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掌握事故后的正确处置链条，避免因盲目施救或瞒报导致损失扩大，甚至面临刑事追责。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509be7d-cf47-444d-9348-4ac43a655864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61595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确保安全、立即上报、保护现场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887412" y="2336381"/>
              <a:ext cx="0" cy="3035719"/>
            </a:xfrm>
            <a:prstGeom prst="line">
              <a:avLst/>
            </a:prstGeom>
            <a:ln w="6350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660400" y="1900237"/>
              <a:ext cx="10858500" cy="1116218"/>
              <a:chOff x="660400" y="1608137"/>
              <a:chExt cx="10858500" cy="1116218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0400" y="1608137"/>
                <a:ext cx="454025" cy="453485"/>
              </a:xfrm>
              <a:prstGeom prst="ellipse">
                <a:avLst/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135860" y="1649292"/>
                <a:ext cx="10383040" cy="371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第一步：确保自身安全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35860" y="2023459"/>
                <a:ext cx="10383040" cy="70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迅速撤离至安全地带，远离可能发生火灾、二次坍塌或溜车的危险区域。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60400" y="3459059"/>
              <a:ext cx="10858500" cy="1116218"/>
              <a:chOff x="660400" y="3166959"/>
              <a:chExt cx="10858500" cy="111621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60400" y="3166959"/>
                <a:ext cx="454025" cy="453485"/>
              </a:xfrm>
              <a:prstGeom prst="ellipse">
                <a:avLst/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5860" y="3208114"/>
                <a:ext cx="10383040" cy="371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第二步：立即上报求援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35860" y="3582281"/>
                <a:ext cx="10383040" cy="70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第一时间向调度室报告准确位置与伤情，拨打120急救电话，严禁私自送医。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660400" y="5017882"/>
              <a:ext cx="10858500" cy="1116218"/>
              <a:chOff x="660400" y="4725782"/>
              <a:chExt cx="10858500" cy="111621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60400" y="4725782"/>
                <a:ext cx="454025" cy="453485"/>
              </a:xfrm>
              <a:prstGeom prst="ellipse">
                <a:avLst/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35860" y="4766937"/>
                <a:ext cx="10383040" cy="371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第三步：保护事故现场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35860" y="5141104"/>
                <a:ext cx="10383040" cy="70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专业救援队伍到达前维持现场原状，坚决执行不瞒报、不破坏、不私自处置原则。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正确处置三步链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fa2fd2f-84a6-46b9-8f50-b8c202acf2b8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329331"/>
              <a:ext cx="10858500" cy="100704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复盘真实案例中的致命错误，警钟长鸣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757235" y="1130300"/>
              <a:ext cx="918633" cy="67865"/>
            </a:xfrm>
            <a:prstGeom prst="rect">
              <a:avLst/>
            </a:prstGeom>
            <a:solidFill>
              <a:srgbClr val="1D9DE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757235" y="2592868"/>
              <a:ext cx="5025498" cy="1558941"/>
              <a:chOff x="757235" y="2592868"/>
              <a:chExt cx="5025498" cy="1558941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757235" y="2632665"/>
                <a:ext cx="614365" cy="614192"/>
              </a:xfrm>
              <a:prstGeom prst="rect">
                <a:avLst/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73200" y="2592868"/>
                <a:ext cx="4309533" cy="5518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错误一：徒手挡车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473200" y="3144760"/>
                <a:ext cx="4309533" cy="10070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本溪案例中，司机发现溜车后徒手阻挡，这是极其致命的错误判断，人力无法抗衡数十吨矿卡。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493402" y="2592868"/>
              <a:ext cx="5025498" cy="1558941"/>
              <a:chOff x="6493402" y="2592868"/>
              <a:chExt cx="5025498" cy="1558941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493402" y="2632665"/>
                <a:ext cx="614365" cy="614192"/>
              </a:xfrm>
              <a:prstGeom prst="rect">
                <a:avLst/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209367" y="2592868"/>
                <a:ext cx="4309533" cy="5518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错误二：加大油门硬来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209367" y="3144760"/>
                <a:ext cx="4309533" cy="10070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肃北案例中，车身倾斜后应停车调整，司机却加油门强行操作，加速了侧翻坠亡。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757235" y="4575159"/>
              <a:ext cx="5025498" cy="1558941"/>
              <a:chOff x="757235" y="4575159"/>
              <a:chExt cx="5025498" cy="155894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757235" y="4614956"/>
                <a:ext cx="614365" cy="614192"/>
              </a:xfrm>
              <a:prstGeom prst="rect">
                <a:avLst/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473200" y="4575159"/>
                <a:ext cx="4309533" cy="5518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错误三：瞒报破坏现场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473200" y="5127051"/>
                <a:ext cx="4309533" cy="10070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新疆红沙泉案例中，不报120、私送伤员、伪造死因、拆解驾驶室，最终导致责任人被追究刑事责任。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6493402" y="4575159"/>
              <a:ext cx="5025498" cy="1558941"/>
              <a:chOff x="6493402" y="4575159"/>
              <a:chExt cx="5025498" cy="1558941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493402" y="4614956"/>
                <a:ext cx="614365" cy="614192"/>
              </a:xfrm>
              <a:prstGeom prst="rect">
                <a:avLst/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209367" y="4575159"/>
                <a:ext cx="4309533" cy="5518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错误四：带病运行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209367" y="5127051"/>
                <a:ext cx="4309533" cy="10070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银漫矿业案例中，使用报废车辆、非法改装、严重超员，最终导致制动系统崩溃，22人死亡。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四大致命错误复盘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65334" y="3057549"/>
            <a:ext cx="5253566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日常维保与判断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265334" y="3654178"/>
            <a:ext cx="5253566" cy="11049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从“只管开”到“会看会判会养”，将隐患消灭在萌芽状态，是保命、保收入、保职业的核心。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dda91216-dd35-424d-b56d-300e54e9bbc4"/>
          <p:cNvGrpSpPr/>
          <p:nvPr/>
        </p:nvGrpSpPr>
        <p:grpSpPr>
          <a:xfrm rot="0">
            <a:off x="660399" y="1130298"/>
            <a:ext cx="10858500" cy="4178586"/>
            <a:chOff x="660399" y="1130298"/>
            <a:chExt cx="10858500" cy="4178586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298"/>
              <a:ext cx="10858500" cy="90170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出车前、行车中、收车后全流程闭环检查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2783594"/>
              <a:ext cx="3495286" cy="2525290"/>
              <a:chOff x="660400" y="2783594"/>
              <a:chExt cx="3495286" cy="2525290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2783594"/>
                <a:ext cx="3495286" cy="2411407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68580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852688" y="2870698"/>
                <a:ext cx="2136754" cy="896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出车前“绕车实勘”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852688" y="3766698"/>
                <a:ext cx="2136754" cy="127097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重点排查轮胎裂纹与气压、液压管线渗漏、传动轴及转向拉杆螺栓松动，严禁仅看外观不摸不试。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56882" y="3251200"/>
                <a:ext cx="1095806" cy="205768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5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4341692" y="2783594"/>
              <a:ext cx="3495600" cy="2525290"/>
              <a:chOff x="4341692" y="2783594"/>
              <a:chExt cx="3495600" cy="2525290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4341692" y="2783594"/>
                <a:ext cx="3495600" cy="2411407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68580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5533980" y="2870698"/>
                <a:ext cx="2136754" cy="896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行车中“听音观表”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533980" y="3766698"/>
                <a:ext cx="2136754" cy="127097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密切监听发动机与底盘异响，监控水温、油压等仪表数据波动，感知车身异常震动。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438174" y="3251200"/>
                <a:ext cx="1095806" cy="205768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5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8023299" y="2783594"/>
              <a:ext cx="3495600" cy="2525290"/>
              <a:chOff x="8023299" y="2783594"/>
              <a:chExt cx="3495600" cy="252529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8023299" y="2783594"/>
                <a:ext cx="3495600" cy="2411407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68580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215587" y="2870698"/>
                <a:ext cx="2136754" cy="896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收车后“清渣查损”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215587" y="3766696"/>
                <a:ext cx="2136754" cy="127097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彻底清理散热器及底盘积存的泥石渣土，复查制动鼓温度与磨损件状态，并如实记录交接。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119781" y="3251200"/>
                <a:ext cx="1095806" cy="205768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5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三阶段标准点检法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bf56e22-7d38-4764-b35b-c14088dffd71"/>
          <p:cNvGrpSpPr/>
          <p:nvPr/>
        </p:nvGrpSpPr>
        <p:grpSpPr>
          <a:xfrm rot="0">
            <a:off x="660399" y="1130300"/>
            <a:ext cx="10858501" cy="4983798"/>
            <a:chOff x="660399" y="1130300"/>
            <a:chExt cx="10858501" cy="4983798"/>
          </a:xfrm>
        </p:grpSpPr>
        <p:sp>
          <p:nvSpPr>
            <p:cNvPr id="3" name="TextBox 3"/>
            <p:cNvSpPr txBox="1"/>
            <p:nvPr/>
          </p:nvSpPr>
          <p:spPr>
            <a:xfrm>
              <a:off x="679450" y="1130300"/>
              <a:ext cx="10833100" cy="958548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准确区分“必须停”与“可跑完本班”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399" y="2272165"/>
              <a:ext cx="5201454" cy="3841933"/>
              <a:chOff x="660400" y="2272165"/>
              <a:chExt cx="2041331" cy="3841933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3424427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1D9DED">
                      <a:alpha val="100000"/>
                    </a:srgbClr>
                  </a:gs>
                  <a:gs pos="100000">
                    <a:srgbClr val="F0B034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660400" y="2272165"/>
                <a:ext cx="2041330" cy="1033388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1D9DED">
                            <a:alpha val="100000"/>
                          </a:srgbClr>
                        </a:gs>
                        <a:gs pos="100000">
                          <a:srgbClr val="F0B034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73100" y="3595453"/>
                <a:ext cx="2028631" cy="797007"/>
              </a:xfrm>
              <a:prstGeom prst="rect">
                <a:avLst/>
              </a:prstGeom>
              <a:noFill/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必须立即停机的红线故障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73100" y="4404828"/>
                <a:ext cx="2028631" cy="1709270"/>
              </a:xfrm>
              <a:prstGeom prst="rect">
                <a:avLst/>
              </a:prstGeom>
              <a:noFill/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涉及制动、转向、结构开裂、火灾风险的故障，如制动气压持续下降、机油压力亮红灯、轮胎严重开裂等。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317446" y="2291056"/>
              <a:ext cx="5201454" cy="3819916"/>
              <a:chOff x="2864693" y="2291056"/>
              <a:chExt cx="2041331" cy="3819916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2864693" y="3427752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1D9DED">
                      <a:alpha val="100000"/>
                    </a:srgbClr>
                  </a:gs>
                  <a:gs pos="100000">
                    <a:srgbClr val="F0B034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864693" y="3598471"/>
                <a:ext cx="2041331" cy="793989"/>
              </a:xfrm>
              <a:prstGeom prst="rect">
                <a:avLst/>
              </a:prstGeom>
              <a:noFill/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可谨慎完成当班的一般磨损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864693" y="2291056"/>
                <a:ext cx="2041330" cy="1033388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1D9DED">
                            <a:alpha val="100000"/>
                          </a:srgbClr>
                        </a:gs>
                        <a:gs pos="100000">
                          <a:srgbClr val="F0B034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864693" y="4408172"/>
                <a:ext cx="2041331" cy="1702800"/>
              </a:xfrm>
              <a:prstGeom prst="rect">
                <a:avLst/>
              </a:prstGeom>
              <a:noFill/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非安全类小故障，如非关键部位轻微渗漏、空调制冷减弱等，不影响即时安全，可记录后待收车处理。</a:t>
                </a:r>
                <a:endParaRPr lang="en-US" sz="1100"/>
              </a:p>
            </p:txBody>
          </p:sp>
        </p:grpSp>
      </p:grpSp>
      <p:sp>
        <p:nvSpPr>
          <p:cNvPr id="14" name="TextBox 1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红线故障判断标准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996222c-f3e4-4e13-baa5-9a7181e76617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AutoShape 3"/>
            <p:cNvSpPr/>
            <p:nvPr/>
          </p:nvSpPr>
          <p:spPr>
            <a:xfrm>
              <a:off x="2323534" y="3539068"/>
              <a:ext cx="0" cy="637645"/>
            </a:xfrm>
            <a:prstGeom prst="line">
              <a:avLst/>
            </a:prstGeom>
            <a:ln w="6350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oval"/>
            </a:ln>
          </p:spPr>
        </p:sp>
        <p:sp>
          <p:nvSpPr>
            <p:cNvPr id="4" name="AutoShape 4"/>
            <p:cNvSpPr/>
            <p:nvPr/>
          </p:nvSpPr>
          <p:spPr>
            <a:xfrm>
              <a:off x="6096000" y="3539068"/>
              <a:ext cx="0" cy="637645"/>
            </a:xfrm>
            <a:prstGeom prst="line">
              <a:avLst/>
            </a:prstGeom>
            <a:ln w="6350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oval"/>
            </a:ln>
          </p:spPr>
        </p:sp>
        <p:sp>
          <p:nvSpPr>
            <p:cNvPr id="5" name="AutoShape 5"/>
            <p:cNvSpPr/>
            <p:nvPr/>
          </p:nvSpPr>
          <p:spPr>
            <a:xfrm>
              <a:off x="9834220" y="3539068"/>
              <a:ext cx="0" cy="637645"/>
            </a:xfrm>
            <a:prstGeom prst="line">
              <a:avLst/>
            </a:prstGeom>
            <a:ln w="6350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oval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400" y="1130300"/>
              <a:ext cx="10858500" cy="127556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找得全、注得到、不损坏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660400" y="2762578"/>
              <a:ext cx="3348477" cy="3371522"/>
              <a:chOff x="660400" y="2762578"/>
              <a:chExt cx="3348477" cy="3371522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660400" y="2762578"/>
                <a:ext cx="3348477" cy="776490"/>
              </a:xfrm>
              <a:prstGeom prst="chevron">
                <a:avLst>
                  <a:gd name="adj" fmla="val 26898"/>
                </a:avLst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400" y="4278354"/>
                <a:ext cx="3348477" cy="5801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找得全：按图索骥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60400" y="4858534"/>
                <a:ext cx="3348477" cy="12755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对照润滑图表，确保覆盖转向节主销、悬挂球头、车厢铰接轴等所有关键点，不凭记忆。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4415413" y="2762578"/>
              <a:ext cx="3348477" cy="3371522"/>
              <a:chOff x="4415413" y="2762578"/>
              <a:chExt cx="3348477" cy="3371522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415413" y="2762578"/>
                <a:ext cx="3348477" cy="776490"/>
              </a:xfrm>
              <a:prstGeom prst="chevron">
                <a:avLst>
                  <a:gd name="adj" fmla="val 26898"/>
                </a:avLst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415413" y="4278354"/>
                <a:ext cx="3348477" cy="5801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注得到：清洁对准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15413" y="4858534"/>
                <a:ext cx="3348477" cy="12755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注油前清洁油嘴，枪嘴垂直顶紧，匀速慢压，以新油从缝隙溢出为完成标准，不只看枪数。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8170422" y="2762578"/>
              <a:ext cx="3348477" cy="3371522"/>
              <a:chOff x="8170422" y="2762578"/>
              <a:chExt cx="3348477" cy="3371522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170422" y="2762578"/>
                <a:ext cx="3348477" cy="776490"/>
              </a:xfrm>
              <a:prstGeom prst="chevron">
                <a:avLst>
                  <a:gd name="adj" fmla="val 26898"/>
                </a:avLst>
              </a:pr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170422" y="4278354"/>
                <a:ext cx="3348477" cy="5801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不损坏：防过压防污染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170422" y="4858534"/>
                <a:ext cx="3348477" cy="12755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严禁暴力加压，防止打爆油封；打完及时擦拭，防止黄油粘灰形成研磨膏，加速磨损。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打黄油标准操作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65334" y="3057549"/>
            <a:ext cx="5253566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课程总结与升华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265334" y="3654178"/>
            <a:ext cx="5253566" cy="11049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安全驾驶不仅是遵守制度，更是对自己生命的承诺，对家庭的责任，对职业生涯的守护。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276d366-362a-4562-9dbd-b7c2c1d68a46"/>
          <p:cNvGrpSpPr/>
          <p:nvPr/>
        </p:nvGrpSpPr>
        <p:grpSpPr>
          <a:xfrm rot="0">
            <a:off x="660399" y="1130299"/>
            <a:ext cx="10858501" cy="5003800"/>
            <a:chOff x="660399" y="1130299"/>
            <a:chExt cx="10858501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299"/>
              <a:ext cx="10858500" cy="9000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0B03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从保命到保收入再到保职业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2316564"/>
              <a:ext cx="3386981" cy="3817535"/>
              <a:chOff x="660400" y="2316564"/>
              <a:chExt cx="3386981" cy="3817535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2316564"/>
                <a:ext cx="3386981" cy="3817535"/>
              </a:xfrm>
              <a:prstGeom prst="roundRect">
                <a:avLst>
                  <a:gd name="adj" fmla="val 6000"/>
                </a:avLst>
              </a:prstGeom>
              <a:solidFill>
                <a:srgbClr val="F0B03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660400" y="3245552"/>
                <a:ext cx="3386979" cy="517609"/>
              </a:xfrm>
              <a:custGeom>
                <a:avLst/>
                <a:gdLst/>
                <a:ahLst/>
                <a:cxnLst/>
                <a:rect l="l" t="t" r="r" b="b"/>
                <a:pathLst>
                  <a:path w="2938632" h="436972">
                    <a:moveTo>
                      <a:pt x="883186" y="231774"/>
                    </a:moveTo>
                    <a:lnTo>
                      <a:pt x="1114861" y="231774"/>
                    </a:lnTo>
                    <a:lnTo>
                      <a:pt x="1114861" y="436972"/>
                    </a:lnTo>
                    <a:lnTo>
                      <a:pt x="883186" y="436972"/>
                    </a:lnTo>
                    <a:close/>
                    <a:moveTo>
                      <a:pt x="0" y="231774"/>
                    </a:moveTo>
                    <a:lnTo>
                      <a:pt x="188255" y="231774"/>
                    </a:lnTo>
                    <a:lnTo>
                      <a:pt x="188255" y="436972"/>
                    </a:lnTo>
                    <a:lnTo>
                      <a:pt x="0" y="436972"/>
                    </a:lnTo>
                    <a:close/>
                    <a:moveTo>
                      <a:pt x="2736402" y="231675"/>
                    </a:moveTo>
                    <a:lnTo>
                      <a:pt x="2938632" y="231675"/>
                    </a:lnTo>
                    <a:lnTo>
                      <a:pt x="2938632" y="436972"/>
                    </a:lnTo>
                    <a:lnTo>
                      <a:pt x="2736402" y="436972"/>
                    </a:lnTo>
                    <a:close/>
                    <a:moveTo>
                      <a:pt x="2041489" y="97"/>
                    </a:moveTo>
                    <a:lnTo>
                      <a:pt x="2273197" y="97"/>
                    </a:lnTo>
                    <a:lnTo>
                      <a:pt x="2273197" y="231675"/>
                    </a:lnTo>
                    <a:lnTo>
                      <a:pt x="2504751" y="231675"/>
                    </a:lnTo>
                    <a:lnTo>
                      <a:pt x="2504751" y="436972"/>
                    </a:lnTo>
                    <a:lnTo>
                      <a:pt x="2273103" y="436972"/>
                    </a:lnTo>
                    <a:lnTo>
                      <a:pt x="2273103" y="231772"/>
                    </a:lnTo>
                    <a:lnTo>
                      <a:pt x="2041490" y="231772"/>
                    </a:lnTo>
                    <a:lnTo>
                      <a:pt x="2041490" y="436972"/>
                    </a:lnTo>
                    <a:lnTo>
                      <a:pt x="1809812" y="436972"/>
                    </a:lnTo>
                    <a:lnTo>
                      <a:pt x="1809812" y="231675"/>
                    </a:lnTo>
                    <a:lnTo>
                      <a:pt x="2041489" y="231675"/>
                    </a:lnTo>
                    <a:close/>
                    <a:moveTo>
                      <a:pt x="1578123" y="97"/>
                    </a:moveTo>
                    <a:lnTo>
                      <a:pt x="1809808" y="97"/>
                    </a:lnTo>
                    <a:lnTo>
                      <a:pt x="1809808" y="231774"/>
                    </a:lnTo>
                    <a:lnTo>
                      <a:pt x="1578123" y="231774"/>
                    </a:lnTo>
                    <a:close/>
                    <a:moveTo>
                      <a:pt x="1114861" y="97"/>
                    </a:moveTo>
                    <a:lnTo>
                      <a:pt x="1346537" y="97"/>
                    </a:lnTo>
                    <a:lnTo>
                      <a:pt x="1346537" y="231774"/>
                    </a:lnTo>
                    <a:lnTo>
                      <a:pt x="1578123" y="231774"/>
                    </a:lnTo>
                    <a:lnTo>
                      <a:pt x="1578123" y="436972"/>
                    </a:lnTo>
                    <a:lnTo>
                      <a:pt x="1346443" y="436972"/>
                    </a:lnTo>
                    <a:lnTo>
                      <a:pt x="1346443" y="231774"/>
                    </a:lnTo>
                    <a:lnTo>
                      <a:pt x="1114861" y="231774"/>
                    </a:lnTo>
                    <a:close/>
                    <a:moveTo>
                      <a:pt x="651510" y="97"/>
                    </a:moveTo>
                    <a:lnTo>
                      <a:pt x="883185" y="97"/>
                    </a:lnTo>
                    <a:lnTo>
                      <a:pt x="883185" y="231774"/>
                    </a:lnTo>
                    <a:lnTo>
                      <a:pt x="651510" y="231774"/>
                    </a:lnTo>
                    <a:close/>
                    <a:moveTo>
                      <a:pt x="188255" y="97"/>
                    </a:moveTo>
                    <a:lnTo>
                      <a:pt x="419931" y="97"/>
                    </a:lnTo>
                    <a:lnTo>
                      <a:pt x="419931" y="231774"/>
                    </a:lnTo>
                    <a:lnTo>
                      <a:pt x="651510" y="231774"/>
                    </a:lnTo>
                    <a:lnTo>
                      <a:pt x="651510" y="436972"/>
                    </a:lnTo>
                    <a:lnTo>
                      <a:pt x="419836" y="436972"/>
                    </a:lnTo>
                    <a:lnTo>
                      <a:pt x="419836" y="231774"/>
                    </a:lnTo>
                    <a:lnTo>
                      <a:pt x="188255" y="231774"/>
                    </a:lnTo>
                    <a:close/>
                    <a:moveTo>
                      <a:pt x="2504752" y="0"/>
                    </a:moveTo>
                    <a:lnTo>
                      <a:pt x="2736402" y="0"/>
                    </a:lnTo>
                    <a:lnTo>
                      <a:pt x="2736402" y="231675"/>
                    </a:lnTo>
                    <a:lnTo>
                      <a:pt x="2504752" y="231675"/>
                    </a:lnTo>
                    <a:close/>
                  </a:path>
                </a:pathLst>
              </a:cu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53942" y="2455310"/>
                <a:ext cx="2999897" cy="72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111111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短期：守住生命底线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53942" y="3837154"/>
                <a:ext cx="2999897" cy="216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111111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严格遵守操作规程，是确保每天平安下班回家的唯一保障。每一条红线都是用生命换来的教训。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4396160" y="2316564"/>
              <a:ext cx="3386981" cy="3817535"/>
              <a:chOff x="4396160" y="2316564"/>
              <a:chExt cx="3386981" cy="3817535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4396160" y="2316564"/>
                <a:ext cx="3386981" cy="3817535"/>
              </a:xfrm>
              <a:prstGeom prst="roundRect">
                <a:avLst>
                  <a:gd name="adj" fmla="val 6000"/>
                </a:avLst>
              </a:prstGeom>
              <a:solidFill>
                <a:srgbClr val="F0B03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4396160" y="3245552"/>
                <a:ext cx="3386979" cy="517609"/>
              </a:xfrm>
              <a:custGeom>
                <a:avLst/>
                <a:gdLst/>
                <a:ahLst/>
                <a:cxnLst/>
                <a:rect l="l" t="t" r="r" b="b"/>
                <a:pathLst>
                  <a:path w="2938632" h="436972">
                    <a:moveTo>
                      <a:pt x="883186" y="231774"/>
                    </a:moveTo>
                    <a:lnTo>
                      <a:pt x="1114861" y="231774"/>
                    </a:lnTo>
                    <a:lnTo>
                      <a:pt x="1114861" y="436972"/>
                    </a:lnTo>
                    <a:lnTo>
                      <a:pt x="883186" y="436972"/>
                    </a:lnTo>
                    <a:close/>
                    <a:moveTo>
                      <a:pt x="0" y="231774"/>
                    </a:moveTo>
                    <a:lnTo>
                      <a:pt x="188255" y="231774"/>
                    </a:lnTo>
                    <a:lnTo>
                      <a:pt x="188255" y="436972"/>
                    </a:lnTo>
                    <a:lnTo>
                      <a:pt x="0" y="436972"/>
                    </a:lnTo>
                    <a:close/>
                    <a:moveTo>
                      <a:pt x="2736402" y="231675"/>
                    </a:moveTo>
                    <a:lnTo>
                      <a:pt x="2938632" y="231675"/>
                    </a:lnTo>
                    <a:lnTo>
                      <a:pt x="2938632" y="436972"/>
                    </a:lnTo>
                    <a:lnTo>
                      <a:pt x="2736402" y="436972"/>
                    </a:lnTo>
                    <a:close/>
                    <a:moveTo>
                      <a:pt x="2041489" y="97"/>
                    </a:moveTo>
                    <a:lnTo>
                      <a:pt x="2273197" y="97"/>
                    </a:lnTo>
                    <a:lnTo>
                      <a:pt x="2273197" y="231675"/>
                    </a:lnTo>
                    <a:lnTo>
                      <a:pt x="2504751" y="231675"/>
                    </a:lnTo>
                    <a:lnTo>
                      <a:pt x="2504751" y="436972"/>
                    </a:lnTo>
                    <a:lnTo>
                      <a:pt x="2273103" y="436972"/>
                    </a:lnTo>
                    <a:lnTo>
                      <a:pt x="2273103" y="231772"/>
                    </a:lnTo>
                    <a:lnTo>
                      <a:pt x="2041490" y="231772"/>
                    </a:lnTo>
                    <a:lnTo>
                      <a:pt x="2041490" y="436972"/>
                    </a:lnTo>
                    <a:lnTo>
                      <a:pt x="1809812" y="436972"/>
                    </a:lnTo>
                    <a:lnTo>
                      <a:pt x="1809812" y="231675"/>
                    </a:lnTo>
                    <a:lnTo>
                      <a:pt x="2041489" y="231675"/>
                    </a:lnTo>
                    <a:close/>
                    <a:moveTo>
                      <a:pt x="1578123" y="97"/>
                    </a:moveTo>
                    <a:lnTo>
                      <a:pt x="1809808" y="97"/>
                    </a:lnTo>
                    <a:lnTo>
                      <a:pt x="1809808" y="231774"/>
                    </a:lnTo>
                    <a:lnTo>
                      <a:pt x="1578123" y="231774"/>
                    </a:lnTo>
                    <a:close/>
                    <a:moveTo>
                      <a:pt x="1114861" y="97"/>
                    </a:moveTo>
                    <a:lnTo>
                      <a:pt x="1346537" y="97"/>
                    </a:lnTo>
                    <a:lnTo>
                      <a:pt x="1346537" y="231774"/>
                    </a:lnTo>
                    <a:lnTo>
                      <a:pt x="1578123" y="231774"/>
                    </a:lnTo>
                    <a:lnTo>
                      <a:pt x="1578123" y="436972"/>
                    </a:lnTo>
                    <a:lnTo>
                      <a:pt x="1346443" y="436972"/>
                    </a:lnTo>
                    <a:lnTo>
                      <a:pt x="1346443" y="231774"/>
                    </a:lnTo>
                    <a:lnTo>
                      <a:pt x="1114861" y="231774"/>
                    </a:lnTo>
                    <a:close/>
                    <a:moveTo>
                      <a:pt x="651510" y="97"/>
                    </a:moveTo>
                    <a:lnTo>
                      <a:pt x="883185" y="97"/>
                    </a:lnTo>
                    <a:lnTo>
                      <a:pt x="883185" y="231774"/>
                    </a:lnTo>
                    <a:lnTo>
                      <a:pt x="651510" y="231774"/>
                    </a:lnTo>
                    <a:close/>
                    <a:moveTo>
                      <a:pt x="188255" y="97"/>
                    </a:moveTo>
                    <a:lnTo>
                      <a:pt x="419931" y="97"/>
                    </a:lnTo>
                    <a:lnTo>
                      <a:pt x="419931" y="231774"/>
                    </a:lnTo>
                    <a:lnTo>
                      <a:pt x="651510" y="231774"/>
                    </a:lnTo>
                    <a:lnTo>
                      <a:pt x="651510" y="436972"/>
                    </a:lnTo>
                    <a:lnTo>
                      <a:pt x="419836" y="436972"/>
                    </a:lnTo>
                    <a:lnTo>
                      <a:pt x="419836" y="231774"/>
                    </a:lnTo>
                    <a:lnTo>
                      <a:pt x="188255" y="231774"/>
                    </a:lnTo>
                    <a:close/>
                    <a:moveTo>
                      <a:pt x="2504752" y="0"/>
                    </a:moveTo>
                    <a:lnTo>
                      <a:pt x="2736402" y="0"/>
                    </a:lnTo>
                    <a:lnTo>
                      <a:pt x="2736402" y="231675"/>
                    </a:lnTo>
                    <a:lnTo>
                      <a:pt x="2504752" y="231675"/>
                    </a:lnTo>
                    <a:close/>
                  </a:path>
                </a:pathLst>
              </a:cu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589702" y="2455310"/>
                <a:ext cx="2999897" cy="72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111111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中期：保障班组收入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589702" y="3837154"/>
                <a:ext cx="2999897" cy="216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111111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规范驾驶减少抛锚，就是保障全班组的计件绩效与当班整体收入。车停一天，全班组收入都受影响。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8131919" y="2316564"/>
              <a:ext cx="3386981" cy="3817535"/>
              <a:chOff x="8131919" y="2316564"/>
              <a:chExt cx="3386981" cy="3817535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8131919" y="2316564"/>
                <a:ext cx="3386981" cy="3817535"/>
              </a:xfrm>
              <a:prstGeom prst="roundRect">
                <a:avLst>
                  <a:gd name="adj" fmla="val 6000"/>
                </a:avLst>
              </a:prstGeom>
              <a:solidFill>
                <a:srgbClr val="F0B03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8131919" y="3245552"/>
                <a:ext cx="3386979" cy="517609"/>
              </a:xfrm>
              <a:custGeom>
                <a:avLst/>
                <a:gdLst/>
                <a:ahLst/>
                <a:cxnLst/>
                <a:rect l="l" t="t" r="r" b="b"/>
                <a:pathLst>
                  <a:path w="2938632" h="436972">
                    <a:moveTo>
                      <a:pt x="883186" y="231774"/>
                    </a:moveTo>
                    <a:lnTo>
                      <a:pt x="1114861" y="231774"/>
                    </a:lnTo>
                    <a:lnTo>
                      <a:pt x="1114861" y="436972"/>
                    </a:lnTo>
                    <a:lnTo>
                      <a:pt x="883186" y="436972"/>
                    </a:lnTo>
                    <a:close/>
                    <a:moveTo>
                      <a:pt x="0" y="231774"/>
                    </a:moveTo>
                    <a:lnTo>
                      <a:pt x="188255" y="231774"/>
                    </a:lnTo>
                    <a:lnTo>
                      <a:pt x="188255" y="436972"/>
                    </a:lnTo>
                    <a:lnTo>
                      <a:pt x="0" y="436972"/>
                    </a:lnTo>
                    <a:close/>
                    <a:moveTo>
                      <a:pt x="2736402" y="231675"/>
                    </a:moveTo>
                    <a:lnTo>
                      <a:pt x="2938632" y="231675"/>
                    </a:lnTo>
                    <a:lnTo>
                      <a:pt x="2938632" y="436972"/>
                    </a:lnTo>
                    <a:lnTo>
                      <a:pt x="2736402" y="436972"/>
                    </a:lnTo>
                    <a:close/>
                    <a:moveTo>
                      <a:pt x="2041489" y="97"/>
                    </a:moveTo>
                    <a:lnTo>
                      <a:pt x="2273197" y="97"/>
                    </a:lnTo>
                    <a:lnTo>
                      <a:pt x="2273197" y="231675"/>
                    </a:lnTo>
                    <a:lnTo>
                      <a:pt x="2504751" y="231675"/>
                    </a:lnTo>
                    <a:lnTo>
                      <a:pt x="2504751" y="436972"/>
                    </a:lnTo>
                    <a:lnTo>
                      <a:pt x="2273103" y="436972"/>
                    </a:lnTo>
                    <a:lnTo>
                      <a:pt x="2273103" y="231772"/>
                    </a:lnTo>
                    <a:lnTo>
                      <a:pt x="2041490" y="231772"/>
                    </a:lnTo>
                    <a:lnTo>
                      <a:pt x="2041490" y="436972"/>
                    </a:lnTo>
                    <a:lnTo>
                      <a:pt x="1809812" y="436972"/>
                    </a:lnTo>
                    <a:lnTo>
                      <a:pt x="1809812" y="231675"/>
                    </a:lnTo>
                    <a:lnTo>
                      <a:pt x="2041489" y="231675"/>
                    </a:lnTo>
                    <a:close/>
                    <a:moveTo>
                      <a:pt x="1578123" y="97"/>
                    </a:moveTo>
                    <a:lnTo>
                      <a:pt x="1809808" y="97"/>
                    </a:lnTo>
                    <a:lnTo>
                      <a:pt x="1809808" y="231774"/>
                    </a:lnTo>
                    <a:lnTo>
                      <a:pt x="1578123" y="231774"/>
                    </a:lnTo>
                    <a:close/>
                    <a:moveTo>
                      <a:pt x="1114861" y="97"/>
                    </a:moveTo>
                    <a:lnTo>
                      <a:pt x="1346537" y="97"/>
                    </a:lnTo>
                    <a:lnTo>
                      <a:pt x="1346537" y="231774"/>
                    </a:lnTo>
                    <a:lnTo>
                      <a:pt x="1578123" y="231774"/>
                    </a:lnTo>
                    <a:lnTo>
                      <a:pt x="1578123" y="436972"/>
                    </a:lnTo>
                    <a:lnTo>
                      <a:pt x="1346443" y="436972"/>
                    </a:lnTo>
                    <a:lnTo>
                      <a:pt x="1346443" y="231774"/>
                    </a:lnTo>
                    <a:lnTo>
                      <a:pt x="1114861" y="231774"/>
                    </a:lnTo>
                    <a:close/>
                    <a:moveTo>
                      <a:pt x="651510" y="97"/>
                    </a:moveTo>
                    <a:lnTo>
                      <a:pt x="883185" y="97"/>
                    </a:lnTo>
                    <a:lnTo>
                      <a:pt x="883185" y="231774"/>
                    </a:lnTo>
                    <a:lnTo>
                      <a:pt x="651510" y="231774"/>
                    </a:lnTo>
                    <a:close/>
                    <a:moveTo>
                      <a:pt x="188255" y="97"/>
                    </a:moveTo>
                    <a:lnTo>
                      <a:pt x="419931" y="97"/>
                    </a:lnTo>
                    <a:lnTo>
                      <a:pt x="419931" y="231774"/>
                    </a:lnTo>
                    <a:lnTo>
                      <a:pt x="651510" y="231774"/>
                    </a:lnTo>
                    <a:lnTo>
                      <a:pt x="651510" y="436972"/>
                    </a:lnTo>
                    <a:lnTo>
                      <a:pt x="419836" y="436972"/>
                    </a:lnTo>
                    <a:lnTo>
                      <a:pt x="419836" y="231774"/>
                    </a:lnTo>
                    <a:lnTo>
                      <a:pt x="188255" y="231774"/>
                    </a:lnTo>
                    <a:close/>
                    <a:moveTo>
                      <a:pt x="2504752" y="0"/>
                    </a:moveTo>
                    <a:lnTo>
                      <a:pt x="2736402" y="0"/>
                    </a:lnTo>
                    <a:lnTo>
                      <a:pt x="2736402" y="231675"/>
                    </a:lnTo>
                    <a:lnTo>
                      <a:pt x="2504752" y="231675"/>
                    </a:lnTo>
                    <a:close/>
                  </a:path>
                </a:pathLst>
              </a:custGeom>
              <a:solidFill>
                <a:srgbClr val="1D9D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325461" y="2455310"/>
                <a:ext cx="2999897" cy="72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111111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长期：成就职业口碑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25461" y="3837154"/>
                <a:ext cx="2999897" cy="216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111111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懂保养、不出事的司机设备完好率高，是班组里最靠谱的人，更能成为矿区不可或缺的技术骨干。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三级价值递进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1ddf6d0-257d-4854-b683-8247c3aaf29c"/>
          <p:cNvGrpSpPr/>
          <p:nvPr/>
        </p:nvGrpSpPr>
        <p:grpSpPr>
          <a:xfrm rot="0"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AutoShape 3"/>
            <p:cNvSpPr/>
            <p:nvPr/>
          </p:nvSpPr>
          <p:spPr>
            <a:xfrm>
              <a:off x="0" y="4029075"/>
              <a:ext cx="12192000" cy="2828925"/>
            </a:xfrm>
            <a:custGeom>
              <a:avLst/>
              <a:gdLst/>
              <a:ahLst/>
              <a:cxnLst/>
              <a:rect l="l" t="t" r="r" b="b"/>
              <a:pathLst>
                <a:path w="12192000" h="165100">
                  <a:moveTo>
                    <a:pt x="0" y="0"/>
                  </a:moveTo>
                  <a:lnTo>
                    <a:pt x="12192000" y="0"/>
                  </a:lnTo>
                  <a:lnTo>
                    <a:pt x="12192000" y="165100"/>
                  </a:lnTo>
                  <a:lnTo>
                    <a:pt x="0" y="165100"/>
                  </a:lnTo>
                  <a:close/>
                </a:path>
              </a:pathLst>
            </a:custGeom>
            <a:solidFill>
              <a:srgbClr val="1D9DE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399" y="1130300"/>
              <a:ext cx="10858500" cy="65707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安全重于泰山，规范成就专业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11302901" y="3811325"/>
              <a:ext cx="432000" cy="432000"/>
            </a:xfrm>
            <a:prstGeom prst="plaque">
              <a:avLst>
                <a:gd name="adj" fmla="val 50000"/>
              </a:avLst>
            </a:prstGeom>
            <a:solidFill>
              <a:srgbClr val="F0B03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660399" y="1918955"/>
              <a:ext cx="10858500" cy="1899849"/>
              <a:chOff x="660399" y="1918955"/>
              <a:chExt cx="10858500" cy="1899849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60399" y="3026804"/>
                <a:ext cx="10858500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将安全规范内化为本能，是对自己和家庭最大的负责。我们不仅是在为公司工作，更是在为自己的生命和未来工作。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399" y="1918955"/>
                <a:ext cx="10858500" cy="65707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1D9DE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399" y="2596556"/>
                <a:ext cx="10858500" cy="4302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核心承诺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660399" y="4234251"/>
              <a:ext cx="10858502" cy="1899849"/>
              <a:chOff x="660399" y="4234251"/>
              <a:chExt cx="10858502" cy="189984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60399" y="5342100"/>
                <a:ext cx="10858502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愿大家在蒙西煤矿这个大家庭里，高高兴兴上班来，平平安安回家去，与家人共享每一个幸福的明天。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60399" y="4234251"/>
                <a:ext cx="10858502" cy="65707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60399" y="4911852"/>
                <a:ext cx="10858502" cy="4302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美好祝愿</a:t>
                </a:r>
                <a:endParaRPr lang="en-US" sz="1100"/>
              </a:p>
            </p:txBody>
          </p:sp>
        </p:grpSp>
      </p:grpSp>
      <p:sp>
        <p:nvSpPr>
          <p:cNvPr id="14" name="TextBox 1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结束语与祝福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701" y="1462647"/>
            <a:ext cx="5448300" cy="23399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ln w="19050"/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ccee116-0301-406b-9d2a-43952d35b00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0ccee116-0301-406b-9d2a-43952d35b00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2457</Words>
  <Application>WPS 演示</Application>
  <PresentationFormat>On-screen Show (4:3)</PresentationFormat>
  <Paragraphs>318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0ccee116-0301-406b-9d2a-43952d35b005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遇见</cp:lastModifiedBy>
  <cp:revision>5</cp:revision>
  <dcterms:created xsi:type="dcterms:W3CDTF">2006-08-16T00:00:00Z</dcterms:created>
  <dcterms:modified xsi:type="dcterms:W3CDTF">2026-08-14T07:06:13Z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B3C4BF0365C441F6BB24FCBCD49BFD4C_13</vt:lpwstr>
  </property>
  <property fmtid="{D5CDD505-2E9C-101B-9397-08002B2CF9AE}" pid="3" name="KSOProductBuildVer">
    <vt:lpwstr>2052-12.1.0.28043</vt:lpwstr>
  </property>
</Properties>
</file>