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</p:sldIdLst>
  <p:notesMasterIdLst>
    <p:notesMasterId r:id="rId1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95360" y="-2377440"/>
            <a:ext cx="5943600" cy="5943600"/>
          </a:xfrm>
          <a:prstGeom prst="ellipse">
            <a:avLst/>
          </a:prstGeom>
          <a:solidFill>
            <a:srgbClr val="A97E2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5FB5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阜丰集团 · 内训师项目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 AI 赋能课程开发与完美授课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50392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四天三晚，从经验萃到独立授课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3749040"/>
            <a:ext cx="960120" cy="960120"/>
          </a:xfrm>
          <a:prstGeom prst="ellipse">
            <a:avLst/>
          </a:prstGeom>
          <a:solidFill>
            <a:srgbClr val="A97E2F">
              <a:alpha val="14000"/>
            </a:srgbClr>
          </a:solidFill>
          <a:ln w="25400">
            <a:solidFill>
              <a:srgbClr val="A97E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21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2103120" y="3749040"/>
            <a:ext cx="960120" cy="960120"/>
          </a:xfrm>
          <a:prstGeom prst="ellipse">
            <a:avLst/>
          </a:prstGeom>
          <a:solidFill>
            <a:srgbClr val="4F5FB5">
              <a:alpha val="14000"/>
            </a:srgbClr>
          </a:solidFill>
          <a:ln w="25400">
            <a:solidFill>
              <a:srgbClr val="4F5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721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337560" y="3749040"/>
            <a:ext cx="960120" cy="960120"/>
          </a:xfrm>
          <a:prstGeom prst="ellipse">
            <a:avLst/>
          </a:prstGeom>
          <a:solidFill>
            <a:srgbClr val="2E7D70">
              <a:alpha val="14000"/>
            </a:srgbClr>
          </a:solidFill>
          <a:ln w="25400">
            <a:solidFill>
              <a:srgbClr val="2E7D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721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960120" cy="960120"/>
          </a:xfrm>
          <a:prstGeom prst="ellipse">
            <a:avLst/>
          </a:prstGeom>
          <a:solidFill>
            <a:srgbClr val="AD3F6E">
              <a:alpha val="14000"/>
            </a:srgbClr>
          </a:solidFill>
          <a:ln w="25400">
            <a:solidFill>
              <a:srgbClr val="AD3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721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5806440" y="3749040"/>
            <a:ext cx="960120" cy="960120"/>
          </a:xfrm>
          <a:prstGeom prst="ellipse">
            <a:avLst/>
          </a:prstGeom>
          <a:solidFill>
            <a:srgbClr val="B34A28">
              <a:alpha val="14000"/>
            </a:srgbClr>
          </a:solidFill>
          <a:ln w="25400">
            <a:solidFill>
              <a:srgbClr val="B34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3721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6868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· 罗宏伟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  · 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四天三晚地图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从课题到课程包，从萃到演到评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 · 萃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715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角色升级与心态重建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3075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67588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课题拆解与课程定位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470916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908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关键事件访谈与经验识别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产出：课题定位表 + 访谈录音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 · 设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720840" y="278892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26680" y="2715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大纲生成与课件框架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20840" y="374904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73075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26680" y="367588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案例开发与情境测试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720840" y="470916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6908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讲师手册 · 学员手册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2084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产出：课程包初稿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16152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5272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 · 说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2527280" y="278892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52728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533120" y="2715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说人话内容转化法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2527280" y="374904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527280" y="373075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533120" y="367588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四步教学设计与逐字稿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2527280" y="470916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527280" y="46908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33120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微课拆解与脚本实操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252728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产出：逐字稿 + 微课脚本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796796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833372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 · 演+评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8333720" y="278892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833372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9339560" y="2715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百问百答与异议演练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8333720" y="374904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8333720" y="373075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339560" y="367588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跨组评审 · 代表展示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18333720" y="4709160"/>
            <a:ext cx="868680" cy="402336"/>
          </a:xfrm>
          <a:prstGeom prst="roundRect">
            <a:avLst>
              <a:gd name="adj" fmla="val 20455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8333720" y="46908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9339560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课程包交付与结营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833372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产出：完整课程包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  ·  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A97E2F">
              <a:alpha val="13000"/>
            </a:srgbClr>
          </a:solidFill>
          <a:ln w="38100">
            <a:solidFill>
              <a:srgbClr val="A97E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2926080"/>
          </a:xfrm>
          <a:prstGeom prst="ellipse">
            <a:avLst/>
          </a:prstGeom>
          <a:ln w="12700">
            <a:solidFill>
              <a:srgbClr val="A97E2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萃：经验萃取与精准定位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95604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从模糊经验到结构化知识，从好想法到可传授课程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4261104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4114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掌握课题三步定位法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4736592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45902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理解关键事件访谈核心要点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5212080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0657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能够识别与验证高价值经验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1-1  ·  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我们一起走过的五年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2019-2024：版权课时代，方法论沉淀，AI辅助工具引入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2025：Agent级工具出现，能直接产出完整的讲师手册和授课PPT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2026：但让它真正站得住、讲得明白——这件事，还是要靠人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 ·  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内训师为什么需要 AI 赋能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阜丰核心骨干：生产、研发、技术、营销——带着实战经验来，带着课程走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能做什么：文档生成、素材整理、课件排版——速度提升5-10倍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不能做什么：判断业务准确性、确保教学有效性——这些必须留在人手里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经验是问出来的，AI替不了。好的访谈不是问答题，是引导被访者自己发现问题。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访谈是萃的核心能力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文档，我可以放心交给 AI；但让它真正站得住、讲得明白，这件事我还是想跟你们的人，一起坐下来练。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阜丰集团内训师项目核心定位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 · 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做执行，人做判断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 AI：文档初稿、素材摘要、课件排版、多版本迭代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留给人：业务准确性判断、教学有效性评估、真实问题诊断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最佳实践：AI出初稿，人来终审；AI给选项，人做选择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1-4  ·  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内训师的三项核心能力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9966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317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NaN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访谈判断力 + 产出验证力 + 现场表达力</a:t>
            </a:r>
            <a:endParaRPr lang="en-US" sz="NaN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这三种能力，AI替不了，只能练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  · 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萃的关键：访谈判断力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访谈目的：还原真实场景，挖掘隐性经验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三类关键问题：背景（当时什么情况）→ 做法（具体怎么做的）→ 结果（带来了什么）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判断标准：经验是否可验证、做法是否可复制、结果是否可衡量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1-6  · 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萃的保障：产出验证力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验证方式：专家评审会、同行交叉验证、实际应用测试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验证问题：这个做法在什么条件下有效？失效的场景是什么？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辅助：输入经验描述，AI生成验证问题和边界条件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1-7  · 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萃的收尾：现场表达力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五步法：开（1分钟）→ 点（3分钟）→ 铺（5分钟）→ 收（1分钟）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表达公式：冲突场景 + 关键决策 + 结果复盘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现场演练：每人5分钟演讲 + 组内反馈 + 优化建议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 · 续  · 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A97E2F">
              <a:alpha val="13000"/>
            </a:srgbClr>
          </a:solidFill>
          <a:ln w="38100">
            <a:solidFill>
              <a:srgbClr val="A97E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2926080"/>
          </a:xfrm>
          <a:prstGeom prst="ellipse">
            <a:avLst/>
          </a:prstGeom>
          <a:ln w="12700">
            <a:solidFill>
              <a:srgbClr val="A97E2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 · 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精准定位：萃的第一步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95604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找准问题，明确边界——好的课题定位是课程成功的一半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4261104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4114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掌握课题三步定位法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4736592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45902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能够撰写清晰的课程定位陈述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5212080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0657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理解AI辅助定位的工具和方法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1-8  · 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三步定位法：萃的第一步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第一步：问题聚焦——学员的真实困惑是什么？不是「要讲什么」，是「学员学了能解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第二步：受众明确——谁听？他们的背景、痛点、期待是什么？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第三步：目标具体——学完能做到什么？用可观察的行为描述学习目标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1-9  · 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课题定位陈述公式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9966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317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NaN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经过本课程学习，学员能够在【真实场景】下【做到什么具体行为】</a:t>
            </a:r>
            <a:endParaRPr lang="en-US" sz="NaN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这个句式，是课程开发的起点，也是终点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1-10  · 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萃的核心：从模糊经验到结构化知识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什么是关键事件：高难度、高价值、可复制的工作经历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3D框架：Difficulty（难度）× Difference（差异）× 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萃取产出：一步做对是什么、常见错误是什么、关键细节是什么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1-11  · 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A97E2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课题定位实战练习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用三步定位法写下自己的课题名称和定位陈述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32613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69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2438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AI辅助扩写：输入定位，AI输出3个延伸方向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18338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74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010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组内互评：定位是否清晰、边界是否明确、受众是否具体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504063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314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9583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修正定稿：明确最终课题定位陈述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97E2F">
              <a:alpha val="12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分钟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97E2F">
              <a:alpha val="12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每位学员产出一个课题定位陈述初稿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act-ext-1  ·  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A97E2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关键事件访谈实战练习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三人小组分组，确定访谈者和被访者角色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723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访谈者按三问法框架：背景到做法到结果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追问细节：最大的挑战、怎么克服的、结果如何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4439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AI辅助记录与分析，识别关键经验点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5212080"/>
            <a:ext cx="384048" cy="384048"/>
          </a:xfrm>
          <a:prstGeom prst="ellipse">
            <a:avLst/>
          </a:prstGeom>
          <a:solidFill>
            <a:srgbClr val="A97E2F">
              <a:alpha val="16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1297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组内分享：识别出的高价值经验是否可验证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97E2F">
              <a:alpha val="12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97E2F">
              <a:alpha val="12000"/>
            </a:srgbClr>
          </a:solidFill>
          <a:ln w="15240">
            <a:solidFill>
              <a:srgbClr val="A97E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每组完成一组完整访谈录音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1-12  ·  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第一章小结：萃的四大要点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三步定位法：问题聚焦、受众明确、目标具体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757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761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3761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04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3D框架：高难度、高价值、可复制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650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654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0654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访谈判断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3397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追问细节、验证边界、区分事实与感觉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543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547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7547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290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专家评审、交叉验证、应用测试三位一体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d-1  · 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 · 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萃的底层逻辑：经验资产化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经验资产化的三层含义：显性化（隐性经验→显性记录）、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内训师的终极价值：不是自己会做，是能让别人也会做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萃的核心障碍：经验太熟了反而说不清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d-2  ·  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萃的三种方法对比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459480" cy="40690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281940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27645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适用：高难度、高价值项目型经验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优点：深度挖掘，细节丰富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缺点：耗时，依赖访谈技巧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3880" y="2057400"/>
            <a:ext cx="3459480" cy="40690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3920" y="2331720"/>
            <a:ext cx="281940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93920" y="2313432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流程穿越法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1352" y="3017520"/>
            <a:ext cx="27645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适用：标准化流程型经验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优点：结构清晰，覆盖面广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缺点：难捕捉隐性决策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99120" y="2057400"/>
            <a:ext cx="3459480" cy="40690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19160" y="2331720"/>
            <a:ext cx="281940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19160" y="2313432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复盘提炼法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6592" y="3017520"/>
            <a:ext cx="27645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适用：项目结束后的经验总结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优点：真实、反思深刻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缺点：依赖复盘质量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  ·  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4F5FB5">
              <a:alpha val="13000"/>
            </a:srgbClr>
          </a:solidFill>
          <a:ln w="38100">
            <a:solidFill>
              <a:srgbClr val="4F5F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2926080"/>
          </a:xfrm>
          <a:prstGeom prst="ellipse">
            <a:avLst/>
          </a:prstGeom>
          <a:ln w="12700">
            <a:solidFill>
              <a:srgbClr val="4F5FB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设为先：学习目标与内容开发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95604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逆向设计，以终为始；先定目标，再建内容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4261104"/>
            <a:ext cx="128016" cy="128016"/>
          </a:xfrm>
          <a:prstGeom prst="ellipse">
            <a:avLst/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4114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掌握逆向设计三阶段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4736592"/>
            <a:ext cx="128016" cy="128016"/>
          </a:xfrm>
          <a:prstGeom prst="ellipse">
            <a:avLst/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45902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能够用五步法生成课程大纲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5212080"/>
            <a:ext cx="128016" cy="128016"/>
          </a:xfrm>
          <a:prstGeom prst="ellipse">
            <a:avLst/>
          </a:prstGeom>
          <a:solidFill>
            <a:srgbClr val="4F5FB5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0657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能够设计情境测试与案例教学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2-1  · 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Day1晚间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第一天下午 · 晚间活动安排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晚间模块：三人小组关键事件访谈实操 + Workbuddy工具介绍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工具介绍：Workbuddy的AI辅助调研功能演示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产出：关键事件访谈录音 + 经验萃取初稿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2-2  · 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逆向设计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课程大纲生成的逆向设计逻辑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传统顺序：内容 → 教学 → 目标（正向设计）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逆向顺序：目标 → 教学 → 内容（逆向设计）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三阶段：确定预期结果 → 决定评估证据 → 设计学习体验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 · 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五步成纲法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9966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317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NaN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课题定位陈述 → 学习目标 → 教学活动 → 评估方式 → 大纲定稿</a:t>
            </a:r>
            <a:endParaRPr lang="en-US" sz="NaN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每一步都有AI辅助工具支持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2-4  ·  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课件框架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9步成课法：从大纲到课件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第1-3步：搭架子——封面、目录、学习目标页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第4-6步：填内容——知识点、案例、练习题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第7-9步：收尾巴——小结、作业、结束页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课件不是用来读的，是用来引导的。好的课件让学员跟着走，差的课件让学员跟着念。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课件设计的核心原则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  ·  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案例开发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好案例是课程的灵魂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STAR案例法：Situation（情境）× Task（任务）× Actio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案例三要素：有冲突（两难选择）、有细节（关键动作）、有结果（成败证据）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AI辅助：从工作日志、复盘报告、会议纪要中识别高价值STAR素材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2-6  ·  29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4F5FB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STAR案例撰写练习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4F5FB5">
              <a:alpha val="16000"/>
            </a:srgbClr>
          </a:solidFill>
          <a:ln w="15240">
            <a:solidFill>
              <a:srgbClr val="4F5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选定一个工作中的关键事件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326130"/>
            <a:ext cx="384048" cy="384048"/>
          </a:xfrm>
          <a:prstGeom prst="ellipse">
            <a:avLst/>
          </a:prstGeom>
          <a:solidFill>
            <a:srgbClr val="4F5FB5">
              <a:alpha val="16000"/>
            </a:srgbClr>
          </a:solidFill>
          <a:ln w="15240">
            <a:solidFill>
              <a:srgbClr val="4F5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69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2438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按STAR框架填写四个要素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183380"/>
            <a:ext cx="384048" cy="384048"/>
          </a:xfrm>
          <a:prstGeom prst="ellipse">
            <a:avLst/>
          </a:prstGeom>
          <a:solidFill>
            <a:srgbClr val="4F5FB5">
              <a:alpha val="16000"/>
            </a:srgbClr>
          </a:solidFill>
          <a:ln w="15240">
            <a:solidFill>
              <a:srgbClr val="4F5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74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010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组内分享：案例是否有冲突、有细节、有结果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5040630"/>
            <a:ext cx="384048" cy="384048"/>
          </a:xfrm>
          <a:prstGeom prst="ellipse">
            <a:avLst/>
          </a:prstGeom>
          <a:solidFill>
            <a:srgbClr val="4F5FB5">
              <a:alpha val="16000"/>
            </a:srgbClr>
          </a:solidFill>
          <a:ln w="15240">
            <a:solidFill>
              <a:srgbClr val="4F5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314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9583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AI辅助优化：丰富细节，凸显冲突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4F5FB5">
              <a:alpha val="12000"/>
            </a:srgbClr>
          </a:solidFill>
          <a:ln w="15240">
            <a:solidFill>
              <a:srgbClr val="4F5F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分钟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4F5FB5">
              <a:alpha val="12000"/>
            </a:srgbClr>
          </a:solidFill>
          <a:ln w="15240">
            <a:solidFill>
              <a:srgbClr val="4F5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每组产出一个完整STAR案例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2-7  · 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情境测试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ABCD情境测试设计法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A（Audience）——学习者：明确谁来做这个测试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B（Business scenario）——业务情境：还原真实工作场景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C（Challenge）——核心挑战：设计决策点或两难选择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D（Decision standard）——判断标准：明确什么是对错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2-8  · 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讲师手册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讲师手册：课程的导航仪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核心内容：课程目标、教学流程、时间分配、关键话术、异常处理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AI辅助生成：输入课件内容，AI输出讲师话术初稿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核心原则：每页课件配套一页讲师指引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2-9  ·  32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学员手册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学员手册：课堂的辅助器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核心内容：知识要点、工具模板、案例全文、练习题、参考资料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设计原则：课堂记重点，手册有全文；做减法，不做加法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AI辅助：输入课件，AI输出精简版学员手册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2-10  · 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测试题：检验学习效果的工具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三种类型：记忆题（知不知道）、理解题（懂不懂）、应用题（会不会用）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设计原则：每题对应一个学习目标，每个目标至少一题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AI辅助：输入学习目标，AI生成对应测试题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2-11  ·  34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第二天上午小结：设为先要点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逆向设计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→ 教学 → 内容，确保学了能用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757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761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3761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五步成纲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04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定位陈述到大纲定稿，AI辅助每一步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650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654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0654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STAR案例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3397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情境+任务+行动+结果，还原真实场景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543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547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7547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ABCD测试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290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学习者+情境+挑战+标准，检验真能力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d-3  ·  35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· 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设为先的底层逻辑：逆向设计思维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正向设计的陷阱：教了很多，学员没学到——因为教的顺序不一定等于学的顺序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成人学习的三个特点：经验优先、问题导向、立即应用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逆向设计三问：我希望学员学完后能做什么？凭什么证明他们学到了？如何帮助他们学到？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d-4  ·  36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课件与讲师手册的关系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给学员看——视觉引导、结构呈现、案例展示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原则：简洁清晰，不要堆砌文字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650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654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0654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讲师手册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3397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给讲师用——流程指引、话术支撑、异常处理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原则：每页课件配套一页指引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18304" y="1554480"/>
            <a:ext cx="2743200" cy="2743200"/>
          </a:xfrm>
          <a:prstGeom prst="ellipse">
            <a:avLst/>
          </a:prstGeom>
          <a:solidFill>
            <a:srgbClr val="2E7D70">
              <a:alpha val="12000"/>
            </a:srgbClr>
          </a:solidFill>
          <a:ln w="2540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18304" y="1481328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第一天晚间活动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52578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 · 说为王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1s1b  ·  38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上午 9:00-12:00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第一天上午：角色升级与心态重建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内训师的三个角色转变：从操作者到赋能者 / 从执行者到设计者 / 从个人到组织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心态重建：内训师的核心价值不在于自己会做，在于能让别人也会做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阜丰的期待：带着实战经验来，带着课程走——这不是额外任务，是核心职责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1s2b  ·  39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下午 14:00-17:00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第一天下午：三种萃取方法详解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关键事件分析法：适合高难度、高价值、不可重复的项目型经验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流程穿越法：适合标准化、可复制、需大面积推广的流程型经验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复盘提炼法：适合项目结束后、有完整记录的回顾型经验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1s3b  ·  40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晚间 18:30-21:30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第一天晚间：访谈技巧与常见误区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访谈的三个常见误区：问得太泛（答不到点）、问得太急（没给思考时间）、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访谈记录的AI辅助整理：语音转文字 → 关键段落标注 → 经验点提取 → 结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当晚产出：每人整理好自己的关键事件访谈记录初稿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2s1b  ·  41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上午 9:00-12:00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第二天上午：五步成纲法实操细节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第一步：输入课题定位陈述，AI生成3套目标方案——人选择最优或组合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第二步：针对每个目标，AI展开为具体行为指标——可观察、可衡量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第三步：为每个行为指标设计教学活动——工作坊/案例/演练/讲授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2s2b  ·  42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下午 14:00-17:00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第二天下午：STAR案例与ABCD测试实操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STAR案例撰写常见问题：S和T太笼统（没有具体情境）、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ABCD测试的第四个维度D（Decision）：判断标准要前置——学员做之前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阜丰案例要求：必须来自阜丰真实情境——生产/研发/技术/营销一线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2s3b  ·  43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晚间 18:30-21:30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第二天晚间：讲师手册与测试题设计细节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讲师手册的三个核心模块：流程指引（时间轴）/ 话术支撑（每页配套）/ 异常处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学员手册的精简原则：课堂记重点 / 手册有全文 / 做减法不做加法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测试题的三种类型与适用场景：记忆题（开场测）/ 理解题（中间测）/ 应用题（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3s1b  ·  44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Day3 上午 9:00-12:00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第三天上午：说人话转化实操细节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模式一实操：从阜丰专业术语出发，找生活中的对应比喻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模式二实操：先收集3个真实案例，让学员自己归纳出概念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模式三实操：先问学员「你们平时怎么做」，再引出新方法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3s2b  ·  45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Day3 下午 14:00-17:00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第三天下午：逐字稿与四步教学深度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逐字稿的时间块结构：开场3分钟（钩子+目标）/ 核心15分钟（1个观点+1个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四步教学设计的AI辅助：为每个知识点，AI自动生成四步设计建议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四步配四技：提问激活 / 类比关联 / 图示辅助 / 测试强化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3s3b  · 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Day3 晚间 18:30-21:30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第三天晚间：微课设计三种逻辑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时间线逻辑：过去→现在→未来 / 问题→原因→解决方案——适合流程类内容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问题解决逻辑：问题是什么→为什么存在→怎么解决——适合方法论类内容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案例贯穿逻辑：故事引入→理论提炼→应用场景——适合技能类内容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4s1b  ·  47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Day4 上午 9:00-12:00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第四天上午：百问百答与异议应对详解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AI生成百问百答的输入：课程目标 / 核心概念 / 常见误区——输出高频问题清单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异议应对四步法：认同（我理解你的顾虑）→追问（能具体说说吗）→转化（其实这个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阜丰内训师常见异议类型：「这个在我们车间不适用」/ 「工人理解不了这些」/ 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4s2b  ·  48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Day4 下午 14:00-17:00 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第四天下午：评审与交付细节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评审的四个维度：需求精准度30% / 内容有效性30% / 设计科学性20%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评审工具包移交：评审清单 / 评分量表 / 反馈模板 / 奖项设置——移交各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结营后的跟进：候选人回基地后，贵司自行组织正式评审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1s1  ·  49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上午 9:00-12:00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第一天上午：角色升级与课题拆解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9:00-9:30 开场：内训师角色升级导入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9:30-10:30 课题拆解三步法实战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10:30-10:45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 课程定位表撰写 + AI辅助扩写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1s2  ·  50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下午 14:00-17:00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第一天下午：关键事件访谈与经验萃取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14:00-15:00 三种萃取方法讲解与演示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15:00-16:30 经验识别与高价值经验判断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16:30-16:45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16:45-17:00 当日复盘与明日预告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1s3  ·  51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晚间 18:30-21:30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第一天晚间：三人小组关键事件访谈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18:30-19:30 Workbuddy工具完整介绍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19:30-21:00 三人小组关键事件访谈实操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21:00-21:30 访谈素材整理与初步萃取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2s1  ·  52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上午 9:00-12:00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第二天上午：大纲生成与课件框架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9:00-9:30 昨日要点回顾 + 今日目标宣导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9:30-10:30 逆向设计三阶段讲解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10:30-10:45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 五步成纲法实战 + AI辅助生成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2s2  ·  53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下午 14:00-17:00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第二天下午：案例开发与情境测试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14:00-15:00 STAR案例法深度讲解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15:00-16:00 情境测试案例设计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16:00-16:15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16:15-17:00 案例路演与互评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2s3  ·  54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晚间 18:30-21:30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第二天晚间：讲师手册与学员手册完善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18:30-19:30 讲师手册撰写规范与AI辅助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19:30-20:30 学员手册精简原则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20:30-21:30 测试题库设计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3s1  ·  55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Day3 上午 9:00-12:00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第三天上午：说人话内容转化法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9:00-9:30 昨日回顾 + 语言陷阱自查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9:30-10:30 四种转化模式讲解与案例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10:30-10:45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 四种转化模式实操练习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3s2  ·  56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Day3 下午 14:00-17:00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第三天下午：四步教学设计与逐字稿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14:00-15:00 四步教学设计法深度讲解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15:00-16:00 逐字稿撰写与AI辅助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16:00-16:15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16:15-17:00 核心话术打磨与互评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3s3  ·  57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Day3 晚间 18:30-21:30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第三天晚间：微课拆解与跨组练习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18:30-19:30 微课拆解三种逻辑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19:30-20:30 5-8人一组微课脚本实操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20:30-21:30 跨组练习与巡场点评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4s1  ·  58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Day4 上午 9:00-12:00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第四天上午：百问百答与异议演练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9:00-9:30 Day4目标宣导 + 任务卡发放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9:30-10:30 AI生成学员视角百问百答清单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10:30-10:45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 跨组异议演练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4s2  ·  59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Day4 下午 14:00-17:00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第四天下午：跨组评审与代表展示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14:00-15:00 跨组模拟评审第一轮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15:00-16:00 跨组模拟评审第二轮 + 代表展示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16:00-16:15 茶歇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16:15-16:45 课程包最终确认与结营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570585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52297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16:45-17:00 阜丰集团内训师战队正式结营</a:t>
            </a:r>
            <a:endParaRPr lang="en-US" sz="1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  ·  60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2E7D70">
              <a:alpha val="13000"/>
            </a:srgbClr>
          </a:solidFill>
          <a:ln w="38100">
            <a:solidFill>
              <a:srgbClr val="2E7D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2926080"/>
          </a:xfrm>
          <a:prstGeom prst="ellipse">
            <a:avLst/>
          </a:prstGeom>
          <a:ln w="12700">
            <a:solidFill>
              <a:srgbClr val="2E7D7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说为王：内容转化与教学设计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95604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说人话，是课程转化的核心；四步法，是教学设计的框架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4261104"/>
            <a:ext cx="128016" cy="128016"/>
          </a:xfrm>
          <a:prstGeom prst="ellipse">
            <a:avLst/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4114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掌握「说人话」四种转化模式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4736592"/>
            <a:ext cx="128016" cy="128016"/>
          </a:xfrm>
          <a:prstGeom prst="ellipse">
            <a:avLst/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45902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能够用四步法设计教学活动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5212080"/>
            <a:ext cx="128016" cy="128016"/>
          </a:xfrm>
          <a:prstGeom prst="ellipse">
            <a:avLst/>
          </a:prstGeom>
          <a:solidFill>
            <a:srgbClr val="2E7D70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0657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能够撰写逐字稿并设计微课脚本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  ·  61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Day3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第三天：说为王——今天要做什么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上午模块一：「说人话」内容转化法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上午模块二：四步教学设计法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下午模块三：逐字稿撰写与微课脚本设计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3-2  ·  62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语言陷阱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内训师四大语言禁区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照本宣科：全程念PPT，学员早知道你要说什么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空洞说教：正确的废话，听起来都对，但记不住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专业堆砌：满嘴术语，学员听得懂算我输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逻辑混乱：想到哪讲到哪，学员跟不住你的思路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3-3  ·  63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「说人话」内容转化法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9966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317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NaN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四种转化模式，把专业语言变成学员语言</a:t>
            </a:r>
            <a:endParaRPr lang="en-US" sz="NaN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内容再专业，讲不清也白搭；讲清的前提是转化的能力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 ·  64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从生活到专业：用生活比喻解码专业概念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核心公式：生活场景（学员熟悉）× 专业原理（我们要教）= 理解加速器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操作要点：先讲生活场景，再引出专业概念，最后验证理解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案例示范：「供应链」是什么——把它比作「河流」，上游是供应商，下游是客户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 ·  65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从现象到概念：先给案例，再给定义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核心公式：3个案例（现象）× 1个共性提炼（概念）= 真正理解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操作要点：案例要有代表性，共性提炼要有学员参与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案例示范：讲「沉没成本」，先讲三个故事，再问「它们的共同点是什么」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  ·  66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从已知到未知：连接旧知，引入新知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核心公式：旧知（学员会）× 新知（我们要教）= 知识桥梁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操作要点：先激活旧知，再展示新知与旧知的联系，最后强调差异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案例示范：讲「复盘」，先问「你们平时怎么做复盘」，再引出「结构化复盘四步法」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3-7  ·  67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从正确到错误：先错后对，对比冲击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核心公式：错误做法（学员常犯）× 正确做法（我们要教）= 深刻记忆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操作要点：先展示常见错误，让学员「啊，原来我一直做错了」，再给正确做法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案例示范：讲「沟通技巧」，先展示三种常见错误沟通方式，再给正确示范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 ·  68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「说人话」四种模式对比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生活→专业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用熟悉比喻陌生，核心是「像什么」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757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761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3761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现象→概念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04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先案例后归纳，核心是「怎么来的」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650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654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0654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已知→未知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3397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连接旧知引新知，核心是「什么关系」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543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547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7547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正确→错误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290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先错后对对比，核心是「怎么改」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7D7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学员不需要知道概念是什么，他们需要知道遇到什么情况该用什么概念。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2E7D7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「说人话」的核心目标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3-9  ·  70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四步教学设计：让学员从「听不懂」到「学得会」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第一步：激活旧知——用提问、案例、情景唤醒学员已有经验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第二步：关联新知——展示新知与旧知的联系，让新知有落脚点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第三步：辅助理解——用案例、比喻、图示让抽象概念具象化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3-10  ·  71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四步法（续）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四步教学设计：让学员从「学得会」到「能记住」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第四步：强化记忆——通过重复、练习、检验让学习成果固化和迁移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四步配四技：提问激活、类比关联、图示辅助、测试强化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AI辅助：为每个知识点，自动生成四步教学设计建议</a:t>
            </a:r>
            <a:endParaRPr lang="en-US"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3-11  ·  72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E7D7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四步教学设计实战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选定一个自己的课程知识点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32613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69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2438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用四步法设计教学流程（激活→关联→理解→强化）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1833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74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010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为每一步配上具体方法和工具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504063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314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9583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组内交叉评审，模拟试讲3分钟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2E7D70">
              <a:alpha val="12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分钟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2E7D70">
              <a:alpha val="12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每组产出一个知识点的四步教学设计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act-ext-3  ·  73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E7D7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说人话转化练习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选定自己课题中的一个核心概念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723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用四种转化模式各写一版转化稿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组内朗读：哪一版最能被听懂、记得住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4439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选出最佳版本，说明理由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52120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1297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AI辅助优化：丰富比喻，完善细节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2E7D70">
              <a:alpha val="12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分钟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2E7D70">
              <a:alpha val="12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每人产出一份自己的课题内容转化稿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3-12  ·  74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逐字稿撰写：写出来才能讲清楚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逐字稿价值：语言精准、时间可控、风险前置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逐字稿结构：开场3分钟 → 核心内容15分钟 → 结尾2分钟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AI辅助：根据大纲和素材，AI生成逐字稿初稿，人负责润色和试讲调整</a:t>
            </a:r>
            <a:endParaRPr lang="en-US" sz="1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3-13  ·  75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现场表达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现场表达力：顺人性说人话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眼神：环顾全场，每个区域停留3秒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手势：上三下三，禁忌叉腰背手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走动：主动走下讲台，靠近学员区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声音：关键句停顿三秒，制造节奏感</a:t>
            </a:r>
            <a:endParaRPr lang="en-US" sz="17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3-14  ·  76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现场示范：课程开场30秒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示范1：开场钩子「我叫XXX，今天和大家聊一个能多赚20%的事」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示范2：枯燥概念「KPI就像汽车的仪表盘，没它你不知道开多快」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示范3：课堂过渡「刚才是WHY，接下来是HOW，动手时间到了」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示范4：课程收尾「今天三个工具，拿去试一周，回来谢我」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3-15  ·  77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E7D7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微课拆解实操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分组领取一段5分钟微课视频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723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识别每个30秒的节奏节点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记录转化手法的使用时机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4439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输出该微课的骨架图+亮点标注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5212080"/>
            <a:ext cx="384048" cy="384048"/>
          </a:xfrm>
          <a:prstGeom prst="ellipse">
            <a:avLst/>
          </a:prstGeom>
          <a:solidFill>
            <a:srgbClr val="2E7D70">
              <a:alpha val="16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1297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小组代表分享，导师当场点评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2E7D70">
              <a:alpha val="12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 晚间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2E7D70">
              <a:alpha val="12000"/>
            </a:srgbClr>
          </a:solidFill>
          <a:ln w="15240">
            <a:solidFill>
              <a:srgbClr val="2E7D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掌握3分钟微课的结构拆解与脚本设计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3-16  ·  78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第三天小结：说为王要点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说人话四模式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生活→专业 / 现象→概念 / 已知→未知 / 正确→错误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757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761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3761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四步教学法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04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激活旧知 → 关联新知 → 辅助理解 → 强化记忆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650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654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0654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3397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时间块先行，AI出初稿，人来润色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543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547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7547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微课脚本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290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3分钟一个知识点，脚本+分镜+字幕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d-5  ·  79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 · 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说人话的底层逻辑：认知迁移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学习的本质：新知识只有挂到已有认知上，才能真正被吸收——这是认知迁移理论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四种转化模式对应四种认知迁移路径：近迁移/远迁移/顺迁移/逆迁移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内训师的语言能力 = 专业深度 x 转化能力 x 表达技巧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18304" y="1554480"/>
            <a:ext cx="2743200" cy="2743200"/>
          </a:xfrm>
          <a:prstGeom prst="ellipse">
            <a:avLst/>
          </a:prstGeom>
          <a:solidFill>
            <a:srgbClr val="2E7D70">
              <a:alpha val="12000"/>
            </a:srgbClr>
          </a:solidFill>
          <a:ln w="2540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18304" y="1481328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 10 分钟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52578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 · 演收官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  ·  81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AD3F6E">
              <a:alpha val="13000"/>
            </a:srgbClr>
          </a:solidFill>
          <a:ln w="38100">
            <a:solidFill>
              <a:srgbClr val="AD3F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2926080"/>
          </a:xfrm>
          <a:prstGeom prst="ellipse">
            <a:avLst/>
          </a:prstGeom>
          <a:ln w="12700">
            <a:solidFill>
              <a:srgbClr val="AD3F6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演收官：演练实战与课程包产出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95604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百问百答、异议应对、跨组评审、完美交付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4261104"/>
            <a:ext cx="128016" cy="128016"/>
          </a:xfrm>
          <a:prstGeom prst="ellipse">
            <a:avLst/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4114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掌握百问百答生成方法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4736592"/>
            <a:ext cx="128016" cy="128016"/>
          </a:xfrm>
          <a:prstGeom prst="ellipse">
            <a:avLst/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45902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学会处理跨组异议与课程包质量复核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5212080"/>
            <a:ext cx="128016" cy="128016"/>
          </a:xfrm>
          <a:prstGeom prst="ellipse">
            <a:avLst/>
          </a:prstGeom>
          <a:solidFill>
            <a:srgbClr val="AD3F6E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0657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完成跨组模拟评审与代表展示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4-1  ·  82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Day4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第四天：演收官——今天要做什么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上午模块一：AI生成「学员视角百问百答清单」+ 跨组异议演练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上午模块二：课程包全项质量复核，两两互查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下午模块三：跨组模拟评审，分组压缩走一遍说课+试讲+现场提问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4-2  ·  83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百问百答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百问百答生成：AI辅助的学员视角清单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AI辅助生成Questions Bank：输入课程目标，AI批量生成高频问题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三类问题分层：基础题（是什么）/ 进阶题（为什么）/ 实战题（怎么做）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异议预判与应答话术：「如果学员说XXX，你可以这样回应...」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生成后人工校验与补充：AI是助手，最终答案权在讲师</a:t>
            </a:r>
            <a:endParaRPr lang="en-US" sz="17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4-3  ·  84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跨组异议演练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演练规则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A组派代表扮演刁难学员，B组讲师应答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757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761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3761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高频异议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04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「这个不实用」「我们情况不一样」「没时间做」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650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654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0654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应答四步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3397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认同→追问→转化→行动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543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547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7547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290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态度/逻辑/话术/效果四维打分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4-4  ·  85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课程包质量复核：五件套完整性检查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五件套：PPT课件 / 讲师手册 / 学员手册 / 工具包 / 考核题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内容一致性核对：目标→内容→案例→练习是否对齐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时长合理性验证：每个模块的时间分配是否可行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AI使用合规性审查：版权/署名/数据安全是否规范</a:t>
            </a:r>
            <a:endParaRPr lang="en-US" sz="1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D3F6E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好的课程是设计出来的，更是打磨出来的。演练是检验课程包的唯一标准。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AD3F6E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第四天核心逻辑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D3F6E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好的课程是设计出来的，更是打磨出来的。每一轮演练都是在为正式登台做准备。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AD3F6E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演练是检验课程包的唯一标准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  ·  88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AD3F6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跨组模拟评审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每组派1名代表进行8分钟课程展示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32613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69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2438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其他组按照评审工具包打分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18338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74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010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评委现场提问，代表即兴应答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504063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314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95833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汇总分数，公布排名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D3F6E">
              <a:alpha val="12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4 下午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D3F6E">
              <a:alpha val="12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模拟真实评审场景，各组交叉评分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act-ext-2  ·  89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5669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AD3F6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 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课程包质量互查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两两小组互查：一人课程包，一人审核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723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五件套完整性检查：PPT/讲师手册/学员手册/工具包/考核题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内容一致性核对：目标到内容到案例到练习是否对齐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4439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发现的问题记录在复核清单上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5212080"/>
            <a:ext cx="384048" cy="384048"/>
          </a:xfrm>
          <a:prstGeom prst="ellipse">
            <a:avLst/>
          </a:prstGeom>
          <a:solidFill>
            <a:srgbClr val="AD3F6E">
              <a:alpha val="16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1297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当场反馈，被查组记录改进点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21488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D3F6E">
              <a:alpha val="12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 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697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分钟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2062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AD3F6E">
              <a:alpha val="12000"/>
            </a:srgbClr>
          </a:solidFill>
          <a:ln w="15240">
            <a:solidFill>
              <a:srgbClr val="AD3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每组产出一份复核后的课程包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tool-1  ·  90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 · 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萃的AI辅助工具链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Workbuddy：关键事件访谈记录与分析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ChatGPT/Claude：经验描述的结构化扩展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AI验证问题生成器：经验描述到验证问题清单</a:t>
            </a:r>
            <a:endParaRPr lang="en-US" sz="17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tool-2  ·  91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· 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设的AI辅助工具链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5FB5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AI大纲生成器：课题定位到课程大纲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PPT框架生成：Workbuddy直出PPT框架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F5FB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AI案例挖掘：从工作文档中识别STAR素材</a:t>
            </a:r>
            <a:endParaRPr lang="en-US" sz="17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tool-3  ·  92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 · 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说的AI辅助工具链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AI逐字稿生成：根据大纲和素材生成初稿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AI语言转化器：专业术语到生活比喻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AI教学设计建议：为每个知识点生成四步设计</a:t>
            </a:r>
            <a:endParaRPr lang="en-US" sz="17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tool-4  ·  93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 · 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演的AI辅助工具链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AI百问百答生成：课程目标到学员视角高频问题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AI异议模拟：模拟刁难学员的提问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AI试讲反馈：录音到内容结构分析到改进建议</a:t>
            </a:r>
            <a:endParaRPr lang="en-US" sz="17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tool-5  ·  94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 · 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评的AI辅助工具链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B34A28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AI评审清单生成：课程大纲到20项评审检查点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AI评分辅助：试讲录音到四维度初步评分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AI反馈模板生成：评审记录到结构化改进建议</a:t>
            </a:r>
            <a:endParaRPr lang="en-US" sz="17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4-6  ·  95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代表展示与当场校准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展示三要素：内容完整 / 表达流畅 / 互动自然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评委提问环节：考验应变能力与专业深度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当场校准反馈：指出亮点与改进点，可立刻修改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9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最终版课程包定稿：提交最终版本，进入移交流程</a:t>
            </a:r>
            <a:endParaRPr lang="en-US" sz="1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4-7  ·  96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第四天小结：演收官要点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百问百答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AI生成清单，人工校验与补充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757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761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3761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异议演练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04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认同→追问→转化→行动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650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654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0654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质量复核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3397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五件套完整性与内容一致性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543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547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7547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代表展示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290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8分钟展示+评委提问+当场校准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d-6  ·  97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D3F6E">
              <a:alpha val="15000"/>
            </a:srgbClr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 · 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演练的底层逻辑：心理安全与刻意练习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D3F6E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演练的必要性：真实课堂的复杂度是演练的10倍——不演练就上台，是在拿学员时间赌博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跨组演练的价值：模拟真实评审环境，暴露课程包的盲区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D3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代表展示的意义：不是比谁讲得好，是展示课程包的质量</a:t>
            </a:r>
            <a:endParaRPr lang="en-US" sz="17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d-7  ·  98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 · 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评审的底层逻辑：标准即质量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B34A28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没有标准就没有质量：模糊的质量观是课程开发的最大敌人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阜丰评审标准的四个维度：需求精准度/内容有效性/设计科学性/交付可行性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评审工具包的意义：把隐性经验变成显性标准，把个人判断变成组织能力</a:t>
            </a:r>
            <a:endParaRPr lang="en-US" sz="17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18304" y="1554480"/>
            <a:ext cx="2743200" cy="2743200"/>
          </a:xfrm>
          <a:prstGeom prst="ellipse">
            <a:avLst/>
          </a:prstGeom>
          <a:solidFill>
            <a:srgbClr val="2E7D70">
              <a:alpha val="12000"/>
            </a:srgbClr>
          </a:solidFill>
          <a:ln w="2540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18304" y="1481328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模块休息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52578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成果与评审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  ·  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B34A28">
              <a:alpha val="13000"/>
            </a:srgbClr>
          </a:solidFill>
          <a:ln w="38100">
            <a:solidFill>
              <a:srgbClr val="B34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2926080"/>
          </a:xfrm>
          <a:prstGeom prst="ellipse">
            <a:avLst/>
          </a:prstGeom>
          <a:ln w="12700">
            <a:solidFill>
              <a:srgbClr val="B34A2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成果与评审：课程包结构与评审标准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95604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三层结构、五件套交付、四项评审标准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4261104"/>
            <a:ext cx="128016" cy="128016"/>
          </a:xfrm>
          <a:prstGeom prst="ellipse">
            <a:avLst/>
          </a:prstGeom>
          <a:solidFill>
            <a:srgbClr val="B3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4114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理解课程包三层结构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4736592"/>
            <a:ext cx="128016" cy="128016"/>
          </a:xfrm>
          <a:prstGeom prst="ellipse">
            <a:avLst/>
          </a:prstGeom>
          <a:solidFill>
            <a:srgbClr val="B3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45902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掌握重点/中等/轻量级投入项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5212080"/>
            <a:ext cx="128016" cy="128016"/>
          </a:xfrm>
          <a:prstGeom prst="ellipse">
            <a:avLst/>
          </a:prstGeom>
          <a:solidFill>
            <a:srgbClr val="B34A28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0657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熟悉四项评审标准与评审工具包</a:t>
            </a:r>
            <a:endParaRPr lang="en-US" sz="15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34A28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成果是最好的老师，评审是最好的镜子。用标准照镜子，让课程包经得起检验。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B34A28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评审不是终点，而是下一轮迭代的起点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  ·  102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课程包三层结构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459480" cy="40690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281940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27645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 / 教学目标 / 核心内容框架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这是课程的根基，决定价值上限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3880" y="2057400"/>
            <a:ext cx="3459480" cy="40690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3920" y="2331720"/>
            <a:ext cx="281940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93920" y="2313432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1352" y="3017520"/>
            <a:ext cx="27645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PPT课件 / 讲师手册 / 学员手册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这是直接交付学员的成品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9120" y="2057400"/>
            <a:ext cx="3459480" cy="40690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19160" y="2331720"/>
            <a:ext cx="281940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19160" y="2313432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6592" y="3017520"/>
            <a:ext cx="27645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工具包 / 案例库 / 考核题库 / 素材包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这是课程的弹药库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5-2  ·  103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重点投入项（评审重心）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75460" y="2487168"/>
            <a:ext cx="1005840" cy="1005840"/>
          </a:xfrm>
          <a:prstGeom prst="ellipse">
            <a:avLst/>
          </a:prstGeom>
          <a:solidFill>
            <a:srgbClr val="B34A28">
              <a:alpha val="15000"/>
            </a:srgbClr>
          </a:solidFill>
          <a:ln w="25400">
            <a:solidFill>
              <a:srgbClr val="B34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546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课程目标设计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决定课程价值天花板，是最值得投入的部分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388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00700" y="2487168"/>
            <a:ext cx="1005840" cy="1005840"/>
          </a:xfrm>
          <a:prstGeom prst="ellipse">
            <a:avLst/>
          </a:prstGeom>
          <a:solidFill>
            <a:srgbClr val="B34A28">
              <a:alpha val="15000"/>
            </a:srgbClr>
          </a:solidFill>
          <a:ln w="25400">
            <a:solidFill>
              <a:srgbClr val="B34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070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4820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案例与场景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3964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真实案例=课程生命线，必须来自阜丰真实情境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9912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25940" y="2487168"/>
            <a:ext cx="1005840" cy="1005840"/>
          </a:xfrm>
          <a:prstGeom prst="ellipse">
            <a:avLst/>
          </a:prstGeom>
          <a:solidFill>
            <a:srgbClr val="B34A28">
              <a:alpha val="15000"/>
            </a:srgbClr>
          </a:solidFill>
          <a:ln w="25400">
            <a:solidFill>
              <a:srgbClr val="B34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594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7344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教学流程设计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6488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起承转合的节奏设计，让学员全程不掉线</a:t>
            </a:r>
            <a:endParaRPr lang="en-US" sz="13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5-3  ·  104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中等投入项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75460" y="2487168"/>
            <a:ext cx="1005840" cy="1005840"/>
          </a:xfrm>
          <a:prstGeom prst="ellipse">
            <a:avLst/>
          </a:prstGeom>
          <a:solidFill>
            <a:srgbClr val="4F5FB5">
              <a:alpha val="15000"/>
            </a:srgbClr>
          </a:solidFill>
          <a:ln w="25400">
            <a:solidFill>
              <a:srgbClr val="4F5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546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PPT视觉设计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符合品牌规范，清晰美观即可，不必过度设计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388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00700" y="2487168"/>
            <a:ext cx="1005840" cy="1005840"/>
          </a:xfrm>
          <a:prstGeom prst="ellipse">
            <a:avLst/>
          </a:prstGeom>
          <a:solidFill>
            <a:srgbClr val="4F5FB5">
              <a:alpha val="15000"/>
            </a:srgbClr>
          </a:solidFill>
          <a:ln w="25400">
            <a:solidFill>
              <a:srgbClr val="4F5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070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4820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讲师话术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3964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核心话术提前打磨，其他部分临场发挥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9912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25940" y="2487168"/>
            <a:ext cx="1005840" cy="1005840"/>
          </a:xfrm>
          <a:prstGeom prst="ellipse">
            <a:avLst/>
          </a:prstGeom>
          <a:solidFill>
            <a:srgbClr val="4F5FB5">
              <a:alpha val="15000"/>
            </a:srgbClr>
          </a:solidFill>
          <a:ln w="25400">
            <a:solidFill>
              <a:srgbClr val="4F5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594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7344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互动设计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6488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关键节点设计互动，不需全程高密度</a:t>
            </a:r>
            <a:endParaRPr lang="en-US" sz="13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5-4  ·  105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轻量级项（AI直出+人工核验）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75460" y="2487168"/>
            <a:ext cx="1005840" cy="1005840"/>
          </a:xfrm>
          <a:prstGeom prst="ellipse">
            <a:avLst/>
          </a:prstGeom>
          <a:solidFill>
            <a:srgbClr val="A97E2F">
              <a:alpha val="15000"/>
            </a:srgbClr>
          </a:solidFill>
          <a:ln w="25400">
            <a:solidFill>
              <a:srgbClr val="A97E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546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素材装饰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图标/插图适度即可，不追求花哨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388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00700" y="2487168"/>
            <a:ext cx="1005840" cy="1005840"/>
          </a:xfrm>
          <a:prstGeom prst="ellipse">
            <a:avLst/>
          </a:prstGeom>
          <a:solidFill>
            <a:srgbClr val="A97E2F">
              <a:alpha val="15000"/>
            </a:srgbClr>
          </a:solidFill>
          <a:ln w="25400">
            <a:solidFill>
              <a:srgbClr val="A97E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070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4820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完整台词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3964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不需要逐字稿，熟悉核心逻辑即可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99120" y="2103120"/>
            <a:ext cx="3459480" cy="393192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25940" y="2487168"/>
            <a:ext cx="1005840" cy="1005840"/>
          </a:xfrm>
          <a:prstGeom prst="ellipse">
            <a:avLst/>
          </a:prstGeom>
          <a:solidFill>
            <a:srgbClr val="A97E2F">
              <a:alpha val="15000"/>
            </a:srgbClr>
          </a:solidFill>
          <a:ln w="25400">
            <a:solidFill>
              <a:srgbClr val="A97E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5940" y="2459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73440" y="370332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过度包装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64880" y="4251960"/>
            <a:ext cx="272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形式服务于内容，不做无效的视觉堆砌</a:t>
            </a:r>
            <a:endParaRPr lang="en-US" sz="13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把好钢用在刀刃上，把时间花在价值最高的地方。优先级思维是内训师的底层能力。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轻重缓急，是内训师的核心判断力</a:t>
            </a:r>
            <a:endParaRPr lang="en-US" sz="15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5-5  ·  107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四项评审标准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374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B34A28">
              <a:alpha val="18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需求精准度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1988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课程目标是否对准真实业务痛点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781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06140" y="2377440"/>
            <a:ext cx="25374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80460" y="2697480"/>
            <a:ext cx="566928" cy="566928"/>
          </a:xfrm>
          <a:prstGeom prst="ellipse">
            <a:avLst/>
          </a:prstGeom>
          <a:solidFill>
            <a:srgbClr val="B34A28">
              <a:alpha val="18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04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80460" y="342900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内容有效性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80460" y="3977640"/>
            <a:ext cx="1988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知识点是否准确，案例是否能说明问题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2531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63640" y="2377440"/>
            <a:ext cx="25374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697480"/>
            <a:ext cx="566928" cy="566928"/>
          </a:xfrm>
          <a:prstGeom prst="ellipse">
            <a:avLst/>
          </a:prstGeom>
          <a:solidFill>
            <a:srgbClr val="B34A28">
              <a:alpha val="18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342900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设计科学性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3977640"/>
            <a:ext cx="1988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教学流程是否符合成人学习规律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8281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21140" y="2377440"/>
            <a:ext cx="25374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95460" y="2697480"/>
            <a:ext cx="566928" cy="566928"/>
          </a:xfrm>
          <a:prstGeom prst="ellipse">
            <a:avLst/>
          </a:prstGeom>
          <a:solidFill>
            <a:srgbClr val="B34A28">
              <a:alpha val="18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54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95460" y="3429000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交付可行性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95460" y="3977640"/>
            <a:ext cx="1988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讲师能否在实际场景中顺利交付</a:t>
            </a:r>
            <a:endParaRPr lang="en-US" sz="12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5-6  ·  108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评审工具包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评审清单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20项检查点，逐项打勾确认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757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761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3761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评分量表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04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四维度各25分，总分100分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650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654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0654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反馈模板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3397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亮点/改进点/行动项三段式反馈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5430" y="2057400"/>
            <a:ext cx="2503170" cy="40690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5470" y="2331720"/>
            <a:ext cx="186309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75470" y="23134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奖项设置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2902" y="3017520"/>
            <a:ext cx="18082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最佳课程奖 / 最佳呈现奖 / 最具实战奖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5-7  ·  109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四维度评分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评审四维度：课程包完整度 20%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B34A28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达标制检查，不逐项细抠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五件套：PPT / 讲师手册 / 学员手册 / 工具包 / 考核题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检查方法：逐件打勾，两两互查</a:t>
            </a:r>
            <a:endParaRPr lang="en-US" sz="17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  ·  110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四维度评分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评审四维度：内容质量与业务判断力 30%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B34A28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核心问题：案例/情境测试是否真实可用，有没有AI编造的细节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判断标准：业务判断逻辑是否自洽，参数是否真实可信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阜丰特色：必须来自阜丰真实情境，不是通用案例</a:t>
            </a:r>
            <a:endParaRPr lang="en-US" sz="17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5-9  ·  111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四维度评分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评审四维度：现场表达 30%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B34A28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四项检验：听得懂 / 记得住 / 不失真 / 说人话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不是演讲比赛，不比口才，比的是传达有效性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评审方式：抽样试讲，评委现场打分</a:t>
            </a:r>
            <a:endParaRPr lang="en-US" sz="17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  ·  112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B34A28">
              <a:alpha val="15000"/>
            </a:srgbClr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四维度评分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评审四维度：异议应对与互动 20%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B34A28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评审方式：现场提问环节的临场反应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高频异议类型：「不实用」「情况不同」「太理论化」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3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应答四步：认同→追问→转化→行动</a:t>
            </a:r>
            <a:endParaRPr lang="en-US" sz="17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18304" y="1554480"/>
            <a:ext cx="2743200" cy="2743200"/>
          </a:xfrm>
          <a:prstGeom prst="ellipse">
            <a:avLst/>
          </a:prstGeom>
          <a:solidFill>
            <a:srgbClr val="2E7D70">
              <a:alpha val="12000"/>
            </a:srgbClr>
          </a:solidFill>
          <a:ln w="2540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18304" y="1481328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 10 分钟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52578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压轴 · 价值总结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压轴  ·  114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A97E2F">
              <a:alpha val="13000"/>
            </a:srgbClr>
          </a:solidFill>
          <a:ln w="38100">
            <a:solidFill>
              <a:srgbClr val="A97E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2926080"/>
          </a:xfrm>
          <a:prstGeom prst="ellipse">
            <a:avLst/>
          </a:prstGeom>
          <a:ln w="12700">
            <a:solidFill>
              <a:srgbClr val="A97E2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价值总结：五步闭环与AI赋能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95604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萃-设-说-演-评五步闭环，AI赋能每一步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4261104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4114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回顾萃-设-说-演-评五步闭环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4736592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45902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明确AI在每个环节的价值定位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5212080"/>
            <a:ext cx="128016" cy="128016"/>
          </a:xfrm>
          <a:prstGeom prst="ellipse">
            <a:avLst/>
          </a:prstGeom>
          <a:solidFill>
            <a:srgbClr val="A97E2F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0657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建立持续迭代的课程开发思维</a:t>
            </a:r>
            <a:endParaRPr lang="en-US" sz="15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model-1  ·  115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AI赋能课程开发五步法 · 模型图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 → 设 → 说 → 演 → 评，五步闭环，AI赋能每一步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12464" y="1051560"/>
            <a:ext cx="4754880" cy="4754880"/>
          </a:xfrm>
          <a:prstGeom prst="ellipse">
            <a:avLst/>
          </a:prstGeom>
          <a:ln w="17780">
            <a:solidFill>
              <a:srgbClr val="8A97AB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358384" y="1051560"/>
            <a:ext cx="1188720" cy="1188720"/>
          </a:xfrm>
          <a:prstGeom prst="ellipse">
            <a:avLst/>
          </a:prstGeom>
          <a:solidFill>
            <a:srgbClr val="A97E2F">
              <a:alpha val="15000"/>
            </a:srgbClr>
          </a:solidFill>
          <a:ln w="27940">
            <a:solidFill>
              <a:srgbClr val="A97E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8384" y="102412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4901184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0" y="2606040"/>
            <a:ext cx="1188720" cy="1188720"/>
          </a:xfrm>
          <a:prstGeom prst="ellipse">
            <a:avLst/>
          </a:prstGeom>
          <a:solidFill>
            <a:srgbClr val="4F5FB5">
              <a:alpha val="15000"/>
            </a:srgbClr>
          </a:solidFill>
          <a:ln w="27940">
            <a:solidFill>
              <a:srgbClr val="4F5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57860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955280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内容开发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5074920"/>
            <a:ext cx="1188720" cy="1188720"/>
          </a:xfrm>
          <a:prstGeom prst="ellipse">
            <a:avLst/>
          </a:prstGeom>
          <a:solidFill>
            <a:srgbClr val="2E7D70">
              <a:alpha val="15000"/>
            </a:srgbClr>
          </a:solidFill>
          <a:ln w="27940">
            <a:solidFill>
              <a:srgbClr val="2E7D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50474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949440" y="6281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学习设计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5074920"/>
            <a:ext cx="1188720" cy="1188720"/>
          </a:xfrm>
          <a:prstGeom prst="ellipse">
            <a:avLst/>
          </a:prstGeom>
          <a:solidFill>
            <a:srgbClr val="AD3F6E">
              <a:alpha val="15000"/>
            </a:srgbClr>
          </a:solidFill>
          <a:ln w="27940">
            <a:solidFill>
              <a:srgbClr val="AD3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50474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3383280" y="6281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演练验证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2606040"/>
            <a:ext cx="1188720" cy="1188720"/>
          </a:xfrm>
          <a:prstGeom prst="ellipse">
            <a:avLst/>
          </a:prstGeom>
          <a:solidFill>
            <a:srgbClr val="B34A28">
              <a:alpha val="15000"/>
            </a:srgbClr>
          </a:solidFill>
          <a:ln w="27940">
            <a:solidFill>
              <a:srgbClr val="B34A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57860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2377440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240280"/>
            <a:ext cx="1645920" cy="365760"/>
          </a:xfrm>
          <a:prstGeom prst="line">
            <a:avLst/>
          </a:prstGeom>
          <a:noFill/>
          <a:ln w="25400">
            <a:solidFill>
              <a:srgbClr val="4F5FB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95360" y="3749040"/>
            <a:ext cx="-640080" cy="1188720"/>
          </a:xfrm>
          <a:prstGeom prst="line">
            <a:avLst/>
          </a:prstGeom>
          <a:noFill/>
          <a:ln w="25400">
            <a:solidFill>
              <a:srgbClr val="2E7D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0" y="5303520"/>
            <a:ext cx="-2651760" cy="0"/>
          </a:xfrm>
          <a:prstGeom prst="line">
            <a:avLst/>
          </a:prstGeom>
          <a:noFill/>
          <a:ln w="25400">
            <a:solidFill>
              <a:srgbClr val="AD3F6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0" y="3749040"/>
            <a:ext cx="-640080" cy="1188720"/>
          </a:xfrm>
          <a:prstGeom prst="line">
            <a:avLst/>
          </a:prstGeom>
          <a:noFill/>
          <a:ln w="25400">
            <a:solidFill>
              <a:srgbClr val="B34A2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66160" y="2240280"/>
            <a:ext cx="1737360" cy="-548640"/>
          </a:xfrm>
          <a:prstGeom prst="line">
            <a:avLst/>
          </a:prstGeom>
          <a:noFill/>
          <a:ln w="25400">
            <a:solidFill>
              <a:srgbClr val="A97E2F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model-2  ·  116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内训师能力模型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三种核心能力，缺一不可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9824" y="1188720"/>
            <a:ext cx="1371600" cy="1371600"/>
          </a:xfrm>
          <a:prstGeom prst="ellipse">
            <a:avLst/>
          </a:prstGeom>
          <a:solidFill>
            <a:srgbClr val="A97E2F">
              <a:alpha val="15000"/>
            </a:srgbClr>
          </a:solidFill>
          <a:ln w="27940">
            <a:solidFill>
              <a:srgbClr val="A97E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9824" y="1161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4992624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访谈判断力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0" y="3017520"/>
            <a:ext cx="1371600" cy="1371600"/>
          </a:xfrm>
          <a:prstGeom prst="ellipse">
            <a:avLst/>
          </a:prstGeom>
          <a:solidFill>
            <a:srgbClr val="4F5FB5">
              <a:alpha val="15000"/>
            </a:srgbClr>
          </a:solidFill>
          <a:ln w="27940">
            <a:solidFill>
              <a:srgbClr val="4F5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29900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8229600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学习设计力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9824" y="4846320"/>
            <a:ext cx="1371600" cy="1371600"/>
          </a:xfrm>
          <a:prstGeom prst="ellipse">
            <a:avLst/>
          </a:prstGeom>
          <a:solidFill>
            <a:srgbClr val="AD3F6E">
              <a:alpha val="15000"/>
            </a:srgbClr>
          </a:solidFill>
          <a:ln w="27940">
            <a:solidFill>
              <a:srgbClr val="AD3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48188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4992624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现场表达力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017520"/>
            <a:ext cx="1371600" cy="1371600"/>
          </a:xfrm>
          <a:prstGeom prst="ellipse">
            <a:avLst/>
          </a:prstGeom>
          <a:solidFill>
            <a:srgbClr val="2E7D70">
              <a:alpha val="15000"/>
            </a:srgbClr>
          </a:solidFill>
          <a:ln w="27940">
            <a:solidFill>
              <a:srgbClr val="2E7D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9900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737360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内容转化力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9824" y="3017520"/>
            <a:ext cx="914400" cy="914400"/>
          </a:xfrm>
          <a:prstGeom prst="ellipse">
            <a:avLst/>
          </a:prstGeom>
          <a:solidFill>
            <a:srgbClr val="B34A28">
              <a:alpha val="15000"/>
            </a:srgbClr>
          </a:solidFill>
          <a:ln w="27940">
            <a:solidFill>
              <a:srgbClr val="B34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29900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992624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评审迭代力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2286000"/>
            <a:ext cx="1645920" cy="548640"/>
          </a:xfrm>
          <a:prstGeom prst="line">
            <a:avLst/>
          </a:prstGeom>
          <a:noFill/>
          <a:ln w="25400">
            <a:solidFill>
              <a:srgbClr val="4F5F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63840" y="3657600"/>
            <a:ext cx="-1371600" cy="1005840"/>
          </a:xfrm>
          <a:prstGeom prst="line">
            <a:avLst/>
          </a:prstGeom>
          <a:noFill/>
          <a:ln w="25400">
            <a:solidFill>
              <a:srgbClr val="AD3F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0" y="4206240"/>
            <a:ext cx="-3200400" cy="-457200"/>
          </a:xfrm>
          <a:prstGeom prst="line">
            <a:avLst/>
          </a:prstGeom>
          <a:noFill/>
          <a:ln w="25400">
            <a:solidFill>
              <a:srgbClr val="2E7D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74720" y="3657600"/>
            <a:ext cx="1371600" cy="-1005840"/>
          </a:xfrm>
          <a:prstGeom prst="line">
            <a:avLst/>
          </a:prstGeom>
          <a:noFill/>
          <a:ln w="25400">
            <a:solidFill>
              <a:srgbClr val="A97E2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cmp-3  ·  117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好的课程包 vs 差的课程包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好的课程包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目标精准：学完能解决什么问题，清清楚楚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案例真实：来自阜丰真实情境，经得起追问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设计科学：符合成人学习规律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8650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654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0654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差的课程包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3397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目标模糊：提升认知/增强意识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案例通用：网上搜的，放之四海皆准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设计自嗨：教了很多，学员没学到</a:t>
            </a:r>
            <a:endParaRPr lang="en-US" sz="11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cmp-4  ·  118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 vs 纯人工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纯人工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优势：判断精准，内容深刻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劣势：速度慢，精力有限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适用：核心判断环节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650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654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0654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3397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优势：速度快，扩展广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劣势：判断不足，需人核验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适用：初稿生成、素材扩展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cmp-5  ·  119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 vs 外部讲师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内训师优势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真实情境：阜丰一线经验，不是网上搜的案例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痛点精准：知道阜丰人的卡点在哪里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信任度高：学员是同事，不是外人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650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654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0654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外部讲师劣势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3397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案例通用：放之四海皆准，不接地气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距离感：学员不会把真实困惑说出来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成本高：单次授课，无法持续迭代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cmp-6  ·  120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好的演练 vs 差的演练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好的演练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目标明确：练的是课程包，不是演讲能力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反馈具体：指出哪个环节有问题，怎么改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环境真实：模拟真实评审，不搞表演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6500" y="2057400"/>
            <a:ext cx="53721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6540" y="2331720"/>
            <a:ext cx="4732020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06540" y="231343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差的演练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33972" y="30175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目标模糊：人人上台，点评泛泛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反馈抽象：讲得很好（然后没有然后）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环境失真：同事捧场，不暴露真问题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deep-1  ·  121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 · 案例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萃的阜丰案例：从阜丰来，到阜丰去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阜丰核心骨干的经验来自：生产（发酵工艺/质量控制）/ 研发（产品开发/实验设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萃的阜丰标准：这个经验在哪个阜丰场景下验证过？参数是否真实？适用边界是什么？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萃的产出形式：经验定位表 / 关键事件访谈录音 / 经验萃取结构化文档</a:t>
            </a:r>
            <a:endParaRPr lang="en-US" sz="17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deep-2  ·  122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2E7D70">
              <a:alpha val="15000"/>
            </a:srgbClr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 · 阜丰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说的阜丰标准：阜丰人能听懂、记得住、用得上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2E7D70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阜丰人的语言习惯：务实、直接、接地气——不喜欢绕弯子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阜丰场景的语言转化示例：「卓越绩效模式」→ 「怎么让各个部门配合得更好」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7D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阜丰人的记忆规律：数字比文字好记 / 故事比道理好记 / 自己的事比别人的事好记</a:t>
            </a:r>
            <a:endParaRPr lang="en-US" sz="17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内训师的价值不在于自己有多厉害，在于能让多少阜丰人变得厉害。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阜丰内训师的核心使命</a:t>
            </a:r>
            <a:endParaRPr lang="en-US" sz="15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一个阜丰人学会了，意味着阜丰的生产线/实验室/车间/客户现场多了一个能把经验讲清楚的人。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内训师是经验的放大器</a:t>
            </a:r>
            <a:endParaRPr lang="en-US" sz="15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steps-1  ·  125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4F5FB5">
              <a:alpha val="15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AI辅助课程开发标准流程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4F5FB5">
              <a:alpha val="18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AI辅助调研+访谈+经验萃取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34640" y="2377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2697480"/>
            <a:ext cx="566928" cy="566928"/>
          </a:xfrm>
          <a:prstGeom prst="ellipse">
            <a:avLst/>
          </a:prstGeom>
          <a:solidFill>
            <a:srgbClr val="4F5FB5">
              <a:alpha val="18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0896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3977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AI生成大纲+人校准结构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8231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120640" y="2377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2697480"/>
            <a:ext cx="566928" cy="566928"/>
          </a:xfrm>
          <a:prstGeom prst="ellipse">
            <a:avLst/>
          </a:prstGeom>
          <a:solidFill>
            <a:srgbClr val="4F5FB5">
              <a:alpha val="18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9496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977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AI生成逐字稿+人润色试讲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6831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406640" y="2377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2697480"/>
            <a:ext cx="566928" cy="566928"/>
          </a:xfrm>
          <a:prstGeom prst="ellipse">
            <a:avLst/>
          </a:prstGeom>
          <a:solidFill>
            <a:srgbClr val="4F5FB5">
              <a:alpha val="18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68096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80960" y="3977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AI生成问答+人模拟实战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5431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692640" y="2377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66960" y="2697480"/>
            <a:ext cx="566928" cy="566928"/>
          </a:xfrm>
          <a:prstGeom prst="ellipse">
            <a:avLst/>
          </a:prstGeom>
          <a:solidFill>
            <a:srgbClr val="4F5FB5">
              <a:alpha val="18000"/>
            </a:srgbClr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696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96696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66960" y="3977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AI辅助评分+人终审质量</a:t>
            </a:r>
            <a:endParaRPr lang="en-US" sz="12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final-1  ·  126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四天三晚，我们一起走过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9966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317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NaN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阜丰集团内训师战队，带着完整课程包，回到各自基地</a:t>
            </a:r>
            <a:endParaRPr lang="en-US" sz="NaN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第五年，我们依然想着比去年再往前一点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  ·  127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五步闭环全景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929384" cy="40690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1289304" cy="457200"/>
          </a:xfrm>
          <a:prstGeom prst="roundRect">
            <a:avLst>
              <a:gd name="adj" fmla="val 20000"/>
            </a:avLst>
          </a:prstGeom>
          <a:solidFill>
            <a:srgbClr val="A97E2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萃取：AI辅助调研，提炼经验，精准定位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人在判断，AI在执行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43784" y="2057400"/>
            <a:ext cx="1929384" cy="40690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2331720"/>
            <a:ext cx="1289304" cy="457200"/>
          </a:xfrm>
          <a:prstGeom prst="roundRect">
            <a:avLst>
              <a:gd name="adj" fmla="val 20000"/>
            </a:avLst>
          </a:prstGeom>
          <a:solidFill>
            <a:srgbClr val="4F5FB5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163824" y="231343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91256" y="3017520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设计：AI生成框架，人校准结构，场景落地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人在创意，AI在扩展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38928" y="2057400"/>
            <a:ext cx="1929384" cy="40690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58968" y="2331720"/>
            <a:ext cx="1289304" cy="457200"/>
          </a:xfrm>
          <a:prstGeom prst="roundRect">
            <a:avLst>
              <a:gd name="adj" fmla="val 20000"/>
            </a:avLst>
          </a:prstGeom>
          <a:solidFill>
            <a:srgbClr val="2E7D7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58968" y="231343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017520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表达：AI提供话术，人注入灵魂，四步教学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人在演绎，AI在辅助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34072" y="2057400"/>
            <a:ext cx="1929384" cy="40690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9050">
            <a:solidFill>
              <a:srgbClr val="AD3F6E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54112" y="2331720"/>
            <a:ext cx="1289304" cy="457200"/>
          </a:xfrm>
          <a:prstGeom prst="roundRect">
            <a:avLst>
              <a:gd name="adj" fmla="val 20000"/>
            </a:avLst>
          </a:prstGeom>
          <a:solidFill>
            <a:srgbClr val="AD3F6E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54112" y="231343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81544" y="3017520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演练：AI生成问答，人模拟实战，百问百答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人在演练，AI在对练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29216" y="2057400"/>
            <a:ext cx="1929384" cy="40690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49256" y="2331720"/>
            <a:ext cx="1289304" cy="457200"/>
          </a:xfrm>
          <a:prstGeom prst="roundRect">
            <a:avLst>
              <a:gd name="adj" fmla="val 20000"/>
            </a:avLst>
          </a:prstGeom>
          <a:solidFill>
            <a:srgbClr val="B34A28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49256" y="231343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76688" y="3017520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评审：AI辅助评分，人把关质量，持续迭代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人在终审，AI在比对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AI是杠杆，放大的是内训师的专业能力。不是AI取代人，是会用AI的人取代不会用AI的人。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4F5FB5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AI赋能的核心逻辑</a:t>
            </a:r>
            <a:endParaRPr lang="en-US" sz="15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6-2  ·  129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我想留给每一位候选人的东西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A97E2F">
                    <a:alpha val="7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</a:t>
            </a:r>
            <a:endParaRPr lang="en-US" sz="300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对企业：一支具备判断力和现场表达力的认证内训师队伍，核心业务判断经验资产化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对候选人：企业认证内训师资格，一套持续可用的方法，后续自己接着用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2793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97E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对阜丰：从问出问题，到判断清楚，再到讲得明白，再到能扛住独立评审</a:t>
            </a:r>
            <a:endParaRPr lang="en-US" sz="17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最好的课程永远在下一版。今天结业，明天开课，迭代永无止境。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8C682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持续迭代，让课程包越来越值钱</a:t>
            </a:r>
            <a:endParaRPr lang="en-US" sz="15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6-3  ·  131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475488" cy="475488"/>
          </a:xfrm>
          <a:prstGeom prst="ellipse">
            <a:avLst/>
          </a:prstGeom>
          <a:solidFill>
            <a:srgbClr val="A97E2F">
              <a:alpha val="15000"/>
            </a:srgbClr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赋能结束，行动开始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9966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A97E2F"/>
            </a:solidFill>
            <a:prstDash val="solid"/>
          </a:ln>
          <a:effectLst>
            <a:outerShdw sx="100000" sy="100000" kx="0" ky="0" algn="bl" rotWithShape="0" blurRad="114300" dist="38100" dir="5400000">
              <a:srgbClr val="2231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317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NaN" b="1" dirty="0">
                <a:solidFill>
                  <a:srgbClr val="8C6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阜丰集团内训师战队正式出征</a:t>
            </a:r>
            <a:endParaRPr lang="en-US" sz="NaN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带着五天的成果回到岗位，用AI赋能你的第一批学员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 · AI 赋能课程开发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97E2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阜丰之道，在于人；内训之光，在于传。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966960" y="4206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A97E2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感谢每一位内训师的投入与付出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2026-08-22T07:41:09Z</dcterms:created>
  <dcterms:modified xsi:type="dcterms:W3CDTF">2026-08-22T07:41:09Z</dcterms:modified>
</cp:coreProperties>
</file>