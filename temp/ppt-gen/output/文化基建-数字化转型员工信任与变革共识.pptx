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变革认知与信任基础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理解变革本质，建立变革中的信任根基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743200" cy="18288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为什么要变革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外部压力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市场竞争加剧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技术迭代加速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客户需求变化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内部困境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效率瓶颈显现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成本持续上升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创新能力不足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生存命题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不变，则淘汰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变革，才有机会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主动优于被动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变革不是选择题，而是生存题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数字化转型的本质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 ≠ 技术升级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 = 业务转型 + 组织转型 + 人的转型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26517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42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业务转型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流程数字化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客户体验重构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468880"/>
            <a:ext cx="26517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542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组织转型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31546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架构扁平化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团队自组织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文化再塑造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468880"/>
            <a:ext cx="26517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542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人的转型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能力升级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思维转变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行为习惯更新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变革失败不是小概率事件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的数字化转型项目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未能实现预期目标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0" y="1097280"/>
            <a:ext cx="4846320" cy="3474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主要原因（员工视角）：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3360" y="182880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18288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缺乏清晰的变革愿景与意义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237744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3774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员工不理解为什么要变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292608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926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信任缺失，沟通不足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347472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3474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变革疲劳，参与感低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0" y="402336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4023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领导言行不一致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信任：变革成败的隐藏变量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变革冰山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可见：战略、流程、技术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840480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3840480" cy="23774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隐藏：信任、恐惧、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惯性、意义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信任公式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 = 可信度 × 可靠度 × 亲密度 ÷ 自我导向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11887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450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能力与专业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11887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450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11887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450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亲密度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4160520"/>
            <a:ext cx="11887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450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自我导向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私心程度（÷）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任一要素为0，信任即崩塌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变革中的信任损耗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观望期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03120" y="1097280"/>
            <a:ext cx="658368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325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消息不明，员工猜测各种可能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64592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2103120"/>
            <a:ext cx="658368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3317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收到坏消息，怀疑管理层动机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645920" cy="8229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冷漠期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03120" y="3108960"/>
            <a:ext cx="658368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3375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反复失望，参与意愿下降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64592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43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失信期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103120" y="4114800"/>
            <a:ext cx="658368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4343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彻底不信任，所有信息被怀疑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信任一旦崩塌，重建成本是建立时的3-5倍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变革中的员工典型心理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恐惧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担心能力跟不上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担心岗位被替代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不清楚为什么变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不清楚怎么变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对变革方式不满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对管理层有怨气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😔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现有工作方式被否定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原有经验价值下降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🤔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等方向明确再说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不想第一个冲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已经经历多次变革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变革疲劳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变革曲线与应对策略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震惊期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收到变革消息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097280"/>
            <a:ext cx="201168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消极应对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097280"/>
            <a:ext cx="201168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开始尝试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01168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逐步接受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097280"/>
            <a:ext cx="164592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内化期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成为常态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1554480"/>
            <a:ext cx="201168" cy="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1554480"/>
            <a:ext cx="201168" cy="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1554480"/>
            <a:ext cx="201168" cy="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1554480"/>
            <a:ext cx="164592" cy="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194560"/>
            <a:ext cx="8229600" cy="2560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各阶段领导力应对要点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2834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震惊期：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28346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一对一沟通，了解担忧，提供明确的时间表和预期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2186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抵触期：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32186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不打压情绪，允许表达，用数据和案例说话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6027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探索期：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37360" y="360273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提供培训和资源，允许失败，鼓励创新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9867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适应期：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37360" y="398678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认可进步，分享成功案例，强化新的工作方式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3708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内化期：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37360" y="43708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充分授权，表彰标杆，纳入绩效考核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变革中的三组关键关系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 ↔ 员工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心理契约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组织承诺发展的机会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员工承诺投入与贡献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91440" cy="11887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 ↔ 员工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信任关系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6060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管理者言行一致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员工愿意跟随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91440" cy="11887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变革目标 ↔ 个人利益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利益对齐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9319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让员工看到关联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让变革与己相关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三组关系中任何一组断裂，变革都将受阻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变革中管理者的关键行为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愿景、意义、时间表、支持资源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68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听进去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主动询问、倾听担忧、不打断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做榜样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率先使用新系统、公开学新技能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097280"/>
            <a:ext cx="73152" cy="10972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给反馈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及时肯定、及时纠偏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2331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331720"/>
            <a:ext cx="73152" cy="10972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担责任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出了问题先承担、不甩锅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566160"/>
            <a:ext cx="73152" cy="10972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703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有耐心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0060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允许适应期、不急于求成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练习：我的变革感知画像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任务：回顾一次你经历过的组织变革，填写以下内容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变革启动时，你的第一反应是什么？（震惊/好奇/抵触/担忧…）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当时你最担心的是什么？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变革过程中，什么事情最影响你对变革的态度？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回过头看，什么样的沟通或支持是你当时最需要的？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51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时间：10分钟  |  形式：个人反思后小组分享（3人一组）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变革的本质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5943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技术升级只是表象，组织与人的转型才是核心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286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失败的教训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965960"/>
            <a:ext cx="5943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70%的变革失败，员工信任缺失是隐藏原因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286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信任的脆弱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926080"/>
            <a:ext cx="5943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信任建立需要时间，崩塌却在一瞬间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2286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员工的心理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3886200"/>
            <a:ext cx="5943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恐惧、困惑、抵触、失落——都是正常反应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进入第二部分：员工变革心理画像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员工变革心理画像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不同员工对变革的不同反应，背后的原因是什么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743200" cy="18288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员工变革心态类型图谱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变革心态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变革认知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4343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94960" y="4343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188720"/>
            <a:ext cx="2743200" cy="1828800"/>
          </a:xfrm>
          <a:prstGeom prst="rect">
            <a:avLst/>
          </a:prstGeom>
          <a:solidFill>
            <a:srgbClr val="8B0000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开拓者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主动拥抱变革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期待变革带来的机会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188720"/>
            <a:ext cx="2743200" cy="1828800"/>
          </a:xfrm>
          <a:prstGeom prst="rect">
            <a:avLst/>
          </a:prstGeom>
          <a:solidFill>
            <a:srgbClr val="C41E3A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理解变革意义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愿意跟随行动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017520"/>
            <a:ext cx="2743200" cy="1828800"/>
          </a:xfrm>
          <a:prstGeom prst="rect">
            <a:avLst/>
          </a:prstGeom>
          <a:solidFill>
            <a:srgbClr val="4A4A4A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8404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质疑变革必要性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担心失去现有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3017520"/>
            <a:ext cx="2743200" cy="1828800"/>
          </a:xfrm>
          <a:prstGeom prst="rect">
            <a:avLst/>
          </a:prstGeom>
          <a:solidFill>
            <a:srgbClr val="D4D4D4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观望者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0" y="38404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等待明确信号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跟随者：变革的主体力量（40-50%）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3152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理解变革的必要性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73152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愿意配合行动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73152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需要明确的指引和支持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73152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对不确定性有担忧但能接受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如何管理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73152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清晰说明变革对他们的具体影响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73152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提供充分的培训和过渡支持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73152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定期反馈进展，增强信心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73152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表彰进步，建立安全感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关键：跟随者是变革成功的决定性人群，需要重点投入沟通和支持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抵触者：需要特别关注（15-20%）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为什么会抵触？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过去的变革失败留下阴影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担心能力跟不上被淘汰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既得利益受损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信息不对称，不理解为什么变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如何应对？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73152" cy="2743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一对一沟通，了解真实担忧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73152" cy="2743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对症下药，解决核心顾虑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606040"/>
            <a:ext cx="73152" cy="2743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用数据和案例回应质疑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73152" cy="2743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允许表达，不打压不贴标签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注意：抵触者 ≠ 反对者，大多数抵触源于合理的担忧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251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策略：先理解，再引导；先共情，再说服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练习：员工变革心态画像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任务：根据你所在组织的数字化转型项目，识别四类员工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描述你观察到的开拓者特征（至少3个）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描述你观察到的跟随者特征（至少3个）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识别最容易产生抵触的群体，说明原因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列出3个激活观望者的具体策略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51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时间：15分钟  |  形式：小组讨论（4人一组）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四类心态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621792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20700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开拓者、跟随者、抵触者、观望者——各类有不同特征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01168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21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差异化管理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920240"/>
            <a:ext cx="621792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12140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不能用同一套策略应对所有人，需要差异化沟通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01168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358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抵触有因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834640"/>
            <a:ext cx="621792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03580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大多数抵触源于合理担忧，先理解再引导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201168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50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观望可转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68880" y="3749040"/>
            <a:ext cx="621792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395020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观望者是最容易被转化的群体，树立标杆是关键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进入第三部分：变革共识建立策略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变革共识建立策略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如何建立转型共识，让员工与组织同频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743200" cy="18288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变革愿景设计：让方向清晰可见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好愿景的三个标准：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7724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94560" y="16916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员工能说清楚变革后的样子是什么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77724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94560" y="26974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员工能从愿景中看到自己的位置和价值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77724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03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94560" y="37033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员工相信这个愿景是可以实现的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坏愿景的特征：模糊、遥远、与员工无关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"为什么"沟通：变革的必要性、紧迫性与价值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员工最想知道的三个问题：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为什么要变？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不变会有什么后果？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1463040"/>
            <a:ext cx="457200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回答好这个问题，变革就成功了一半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6576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为什么不能等一等？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2560320"/>
            <a:ext cx="457200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回答好这个问题，变革就成功了一半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6576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为什么是这样？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为什么选择这个方向？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3657600"/>
            <a:ext cx="457200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回答好这个问题，变革就成功了一半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利益相关方分析：谁需要被影响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不同群体需要不同的沟通策略：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高管层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战略意义、竞争格局、投资回报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8288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2402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执行路径、资源支持、考核变化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8288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一线员工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926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工作影响、技能要求、发展机会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8288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技术团队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3611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技术可行性、架构选择、时间表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8288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外部伙伴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42976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合作模式、责任边界、过渡安排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利益相关方影响力-利益矩阵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005840"/>
            <a:ext cx="3840480" cy="3200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606040"/>
            <a:ext cx="3840480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1005840"/>
            <a:ext cx="0" cy="320040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高影响力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低影响力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731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高利益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731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低利益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280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重点管理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280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保持满意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定期告知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持续观察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策略指引：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1463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重点管理：主动沟通，优先解决关切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保持满意：定期通报，维护关系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2468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定期告知：信息透明，避免猜疑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持续观察：建立预警机制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早期成功案例的放大策略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0" cy="16459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核心原则：先让一小部分人成功，然后让所有人看见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早期成功案例的作用：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证明变革方向是正确的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给犹豫者信心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建立变革的可信度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放大策略：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选择可复制的试点，而非最大的项目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配备充足资源确保试点成功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及时收集数据，用事实说话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组织现场参观，让亲历者分享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共识建立的四个层次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1005840"/>
            <a:ext cx="64008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234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知道变革要发生，了解基本内容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371600" cy="8229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28800" y="1965960"/>
            <a:ext cx="64008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2194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理解变革的原因和对自己的影响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3716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认同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64008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3154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从心里认可变革的方向和价值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3716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828800" y="3886200"/>
            <a:ext cx="64008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4114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愿意主动投入，积极推动变革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每个层次需要的沟通深度和参与方式不同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从知情到承诺：沟通策略演变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告知 → 理解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097280"/>
            <a:ext cx="5486400" cy="10058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方法：多渠道传播、FAQ文档、答疑会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28600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→ 认同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5486400" cy="10058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方法：一对一沟通、案例分享、让员工提问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28600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认同 → 承诺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3474720"/>
            <a:ext cx="5486400" cy="10058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方法：参与式规划、授权决策、表彰激励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关键：不能跳过层次，每个层次都需要时间和投入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变革沟通计划设计要点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03120" y="1005840"/>
            <a:ext cx="612648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234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重要节点每周一次，稳定期每月一次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64592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1965960"/>
            <a:ext cx="612648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194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全员大会+部门小会+个人一对一结合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03120" y="2926080"/>
            <a:ext cx="612648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154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进展+问题+下一步+需要支持的地方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64592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103120" y="3886200"/>
            <a:ext cx="612648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4114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设立匿名反馈渠道，认真回应每条意见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原则：说清楚、不隐瞒、有回应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练习：设计一个部门的变革沟通方案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0" cy="3200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任务要求：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选定一个你熟悉的部门或团队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分析该部门员工最关心的三个问题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设计一个为期4周的沟通计划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包括：沟通频率、渠道、内容、反馈机制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时间：15分钟  |  形式：小组讨论后选代表分享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信任维护与沟通机制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持续维护员工信任的方法与机制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743200" cy="18288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变革中的信任要素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信任建立后，如果不去维护，信任会慢慢侵蚀。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59436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说的和做的一致，承诺的兑现了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8288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透明性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86000" y="2240280"/>
            <a:ext cx="59436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信息及时通报，不隐瞒问题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8288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可及性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286000" y="3108960"/>
            <a:ext cx="59436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员工能容易地获得信息和支持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8288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回应性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286000" y="3977640"/>
            <a:ext cx="59436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对员工的问题和担忧及时反馈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信任维护是持续的过程，不能一劳永逸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持续沟通机制设计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沟通的四个维度：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716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1508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定期（周/月）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想起来再说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3716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23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多渠道覆盖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只发邮件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3716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有数据有故事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只说好的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3716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4114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有回应有追踪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发完就算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好机制让员工感到被持续关注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员工参与机制设计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让员工成为变革的参与者，而非被动接受者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716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15544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员工代表参与讨论，听取意见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3716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2423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员工参与方案设计和问题解决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3716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32918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员工主导部分变革模块的推进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3716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41605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员工与管理层共同决策关键事项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参与度越高，承诺度越高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案例：挫折后的信任修复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0" cy="3200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某制造企业MES项目延期三个月，项目经理采取的策略：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1907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召开全员会议，坦诚说明延期原因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134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邀请一线员工代表参与问题分析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077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调整上线计划，承诺更现实的时间节点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021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每周发送项目进展报告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结果：员工理解并接受了调整，项目最终成功上线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练习：设计信任维护计划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0" cy="3200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任务要求：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针对你组织的一个具体变革项目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设计一个持续沟通机制的框架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包括：沟通渠道、频率、内容、反馈机制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预判可能出现的信任危机场景，准备应对策略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时间：15分钟  |  形式：小组讨论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信任要素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一致性、透明性、可及性、回应性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8288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沟通机制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057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频率稳定、渠道多元、内容有数据、反馈闭环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8288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透明度原则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2926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知道什么说什么，不知道明确告知时间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8288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员工参与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7947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从知情到共创，参与度越高承诺度越高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进入第五部分：变革韧性文化建设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变革韧性文化建设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如何让组织拥有持续变革的能力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743200" cy="18288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什么是变革韧性文化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0" cy="13716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变革韧性文化 = 组织在变革中快速适应、持续学习、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从挫折中恢复并变得更强的能力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28600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157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快速适应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2560320"/>
            <a:ext cx="548640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715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能够迅速感知变化并调整策略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28600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38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3383280"/>
            <a:ext cx="548640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3538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从每次变革中提取经验教训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228600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3616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恢复成长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0" y="4206240"/>
            <a:ext cx="548640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43616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遭遇挫折后能复原并变得更强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变革疲劳的预防与应对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当员工经历多次变革后，可能出现以下症状：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对变革消息本能抵触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参与意愿显著下降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工作投入度降低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负面情绪蔓延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1371600"/>
            <a:ext cx="4114800" cy="3200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预防策略：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205740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011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控制变革节奏，避免同时推进多个项目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60604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560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给员工留出恢复期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15468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及时庆祝阶段性胜利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70332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657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高层领导公开认可员工付出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变革中的心理安全感建设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心理安全感 = 员工相信可以自由表达想法、承认错误、提出问题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而不用担心被惩罚或被羞辱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表达安全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员工可以提出不同意见而不会被穿小鞋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73736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920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试错安全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创新失败不会被追责，而是被当作学习机会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0040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83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求助安全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员工可以承认自己不知道而不会丢脸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20040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383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质疑安全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员工可以挑战权威，只要是基于事实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学习型变革文化建设的四个抓手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52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576072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2527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变革后有系统的复盘机制，不是追责而是找原因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01168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58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经验萃取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68880" y="2011680"/>
            <a:ext cx="576072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2585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把个人经验转化为组织知识，可复制传承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01168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64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标杆学习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8880" y="3017520"/>
            <a:ext cx="576072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2644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内部标杆案例的识别、宣传、推广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201168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70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468880" y="4023360"/>
            <a:ext cx="576072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42702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把改进变成日常工作习惯，而非运动式推进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变革大使体系的建设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0" cy="10972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变革大使（Change Champion）的定义：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在组织各部门中遴选并培养的变革推动者，他们既是变革的先行者，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也是连接管理层与员工的桥梁，帮助传递信息、收集反馈、带动同侪。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选拔标准：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部门内有影响力，能带动同侪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对变革持开放态度，有一定抗压能力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沟通能力强，愿意扮演桥梁角色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有一定的时间投入意愿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269748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6974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第一时间学习理解变革政策和方案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20040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2004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向部门同事传递准确信息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70332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7033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收集同侪的反馈和担忧向上传递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20624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以身作则带动部门参与变革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练习：变革文化诊断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0" cy="3474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任务：评估你组织的变革文化现状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对照以下四个维度，给组织打分（1-5分）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心理安全：员工敢于表达不同意见吗？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学习导向：组织能从变革中总结经验吗？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适应性：组织对变化的响应速度如何？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韧性水平：经历挫折后组织恢复能力如何？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识别你组织变革文化最强的1个方面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识别最需要改善的1个方面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每个人提出1条具体改善建议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时间：15分钟  |  形式：小组讨论（4人一组）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韧性文化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64008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188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让组织具备持续适应、持续学习、持续成长的能力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8288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疲劳预防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1874520"/>
            <a:ext cx="64008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控制节奏、留出恢复期、及时庆祝胜利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8288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2743200"/>
            <a:ext cx="64008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926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表达、试错、求助、质疑都要安全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18288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大使体系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0" y="3611880"/>
            <a:ext cx="64008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37947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培养变革大使，发挥桥梁和带动作用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进入第六部分：变革领导力与利益相关方管理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变革领导力与利益相关方管理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变革中管理者的角色定位与关键能力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743200" cy="18288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数字化转型领导力的五个层次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发号施令，要求服从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73152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解释原因，争取认同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731520" cy="6400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邀请讨论，采纳意见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731520" cy="6400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明确目标，放手执行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73152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51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040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描绘未来，感召同行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更高层次的领导力并不否定较低层次，而是在不同场景下灵活运用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变革中管理者的六个关键角色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737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设计变革愿景和路径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17373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传递信息，解答疑惑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提供资源和情感支撑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51760" cy="17373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化解冲突，推动协作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926080"/>
            <a:ext cx="2651760" cy="1737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跟踪进展，及时干预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651760" cy="17373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调动积极性，庆祝胜利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不同利益相关方的管理策略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52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CEO/高管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347472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252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定期汇报进展，争取资源承诺，关注战略一致性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252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报喜也报忧，保持透明度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01168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58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中层管理者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2011680"/>
            <a:ext cx="347472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258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赋能支持，解决冲突，让他们成为推动者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201168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2585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充分沟通，给予决策权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01168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64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一线员工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3017520"/>
            <a:ext cx="347472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3264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倾听担忧，及时反馈，让员工有参与感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301752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264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真诚沟通，允许质疑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201168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70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技术团队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68880" y="4023360"/>
            <a:ext cx="347472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4270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尊重专业，提供资源，共商技术方案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402336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2702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平等合作，共同决策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变革中的冲突管理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冲突的常见来源：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资源争夺：变革需要投入，影响既有业务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权力调整：谁主导、谁配合的利益博弈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理念差异：对变革方向的不同理解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7315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节奏分歧：有人觉得太快，有人觉得太慢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114800" cy="38404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冲突管理策略：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66420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识别冲突根源，不只看表面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1945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25856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让各方充分表达，不急于评判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78892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85292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寻找共同利益点作为突破口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3832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4472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对分歧点寻求妥协方案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9776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04164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建立持续对话机制，防止反复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高效变革团队的建设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变革团队的最佳构成：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高管，支持背书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64592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有决策权的领导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64592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业务、技术骨干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64592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支持角色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HR、PMO等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4114800" cy="38404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团队运作原则：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020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每周例会同步进展和问题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明确决策机制和升级路径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69748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核心成员全职或高比例投入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24612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定期复盘，及时调整策略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794760"/>
            <a:ext cx="73152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高层定期参与，提供指导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练习：变革领导力自我评估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0" cy="3474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任务：对照六个关键角色，给自己打分（1-5分）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设计师：你设计的变革愿景有多清晰？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沟通者：你传递信息的频率和效果如何？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支持者：你给团队提供的支持够不够？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协调者：你化解冲突的能力如何？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监督者：你跟踪进展的机制有没有？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激励者：你调动积极性的方法有哪些？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时间：10分钟  |  形式：个人反思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领导力层次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576072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2070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从命令到愿景，灵活运用不同层次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01168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21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六种角色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920240"/>
            <a:ext cx="576072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1214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设计师、沟通者、支持者、协调者、监督者、激励者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01168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358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834640"/>
            <a:ext cx="576072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0358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针对不同群体制定差异化策略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201168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50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冲突管理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68880" y="3749040"/>
            <a:ext cx="576072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39502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识别根源、寻求共同点、建立对话机制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进入第七部分：综合演练与行动计划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综合演练与行动计划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将所学知识应用于真实变革场景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743200" cy="18288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案例分析：问题诊断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讨论问题：这个项目出了什么问题？运用课程中的哪些理论来分析？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81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信任视角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481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员工对管理层缺乏信任，担心变革会损害自身利益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8288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128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心理视角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210312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212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员工经历多次变革，产生变革疲劳和抵触心理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8288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44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共识视角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0" y="283464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29443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员工不理解为什么要换系统，没有建立变革共识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18288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75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沟通视角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356616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36758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项目组只注重技术实现，沟通严重不足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18288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07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利益视角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0" y="429768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44074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员工没有看到新系统对自身的好处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案例分析：解决方案设计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讨论问题：如果你是这个项目的变革负责人，你会怎么做？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（1-2周）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371600"/>
            <a:ext cx="6126480" cy="10058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6002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开展员工座谈会，了解真实担忧；启动变革沟通会，说明变革原因和计划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64592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（3-4周）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2560320"/>
            <a:ext cx="6126480" cy="10058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27889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选择2-3个试点车间，树立早期成功案例；为员工提供充分培训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64592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（持续）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3749040"/>
            <a:ext cx="6126480" cy="10058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39776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建立持续沟通机制，定期反馈进展；及时表彰进步，激励员工参与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行动计划模板：我的变革管理计划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我负责的变革项目/场景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502920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描述：_______________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我将如何建立变革共识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502920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策略：_______________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74320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我将如何维护员工信任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560320"/>
            <a:ext cx="502920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机制：_______________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274320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我将如何管理利益相关方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3337560"/>
            <a:ext cx="502920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策略：_______________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274320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我需要提升的关键能力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4114800"/>
            <a:ext cx="502920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能力：_______________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课程总复习：文化基建七要素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4754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9692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变革认知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9692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理解变革本质，信任是成功的基础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1097280" cy="4754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员工心理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5361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识别四类心态，差异化管理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1097280" cy="4754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214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共识建立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清晰愿景，回答为什么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1097280" cy="4754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883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26700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信任维护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2670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透明沟通，持续反馈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1097280" cy="4754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552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32369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韧性文化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2369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心理安全，学习导向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097280" cy="4754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221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3803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领导力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17520" y="380390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六种角色，灵活运用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1097280" cy="4754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45920" y="43708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017520" y="43708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学以致用，制定计划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核心洞见回顾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信任是数字化转型成功的第一要素——没有信任，一切变革努力都是建立在沙丘上的房子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751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员工不是变革的阻力，而是变革成功的贡献者——关键是让他们参与进来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797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61518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变革共识不是一次性建立，而是需要持续沟通和验证的动态过程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84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41985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心理安全感让员工敢于尝试、敢于犯错、敢于提出不同意见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89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2245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变革领导者的六种角色需要根据情境灵活切换，没有一种角色是万能的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实用工具清单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10972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变革共识检查表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评估团队对变革的理解和认同程度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3657600" cy="10972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00584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员工心态识别卡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快速识别员工处于哪种变革心态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657600" cy="10972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信任度评估问卷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定期评估组织内的信任水平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286000"/>
            <a:ext cx="3657600" cy="10972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28600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沟通效果反馈表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评估沟通是否达到预期效果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3657600" cy="10972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利益相关方地图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识别并管理关键利益相关方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566160"/>
            <a:ext cx="3657600" cy="10972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56616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变革行动检查表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确保变革措施落地执行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变革共识检查表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员工能清晰说明为什么要进行这次变革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员工理解变革后的未来愿景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3591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员工相信变革对组织有利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999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员工相信变革对自己有利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6393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员工知道自己在变革中的角色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2793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员工认同变革的时间安排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使用建议：每项打分1-5分，低于3分的需要重点加强沟通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员工心态识别四象限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相信变革，理解原因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积极参与，主动传播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114800" cy="1828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005840"/>
            <a:ext cx="41148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观望者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理解变革，但有疑虑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需要更多信息和证明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411480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90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不相信变革，认为会失败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需要重点关注和引导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4114800" cy="1828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3017520"/>
            <a:ext cx="4114800" cy="4572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090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不理解变革，也不表达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需要主动沟通和参与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信任维护机制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透明沟通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信息公开，不隐瞒问题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及时通报进展和挑战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承认不足，不粉饰太平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365760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00584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兑现承诺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说到做到，言出必行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承诺要谨慎，承诺必履行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无法兑现时主动说明原因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65760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尊重员工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尊重员工的意见和感受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认可员工的贡献和价值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保护员工的尊严和权益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365760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292608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持续反馈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定期收集员工反馈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反馈要有回应和行动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持续改进沟通方式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利益相关方管理地图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828800"/>
          </a:xfrm>
          <a:prstGeom prst="rect">
            <a:avLst/>
          </a:prstGeom>
          <a:solidFill>
            <a:srgbClr val="FAFAFA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高影响力-高利益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项目发起人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核心管理层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1828800"/>
          </a:xfrm>
          <a:prstGeom prst="rect">
            <a:avLst/>
          </a:prstGeom>
          <a:solidFill>
            <a:srgbClr val="FAFAFA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高影响力-低利益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IT部门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外部顾问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828800"/>
          </a:xfrm>
          <a:prstGeom prst="rect">
            <a:avLst/>
          </a:prstGeom>
          <a:solidFill>
            <a:srgbClr val="FAFAFA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4114800" cy="4114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99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低影响力-高利益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一线员工代表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HR部门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926080"/>
            <a:ext cx="4114800" cy="1828800"/>
          </a:xfrm>
          <a:prstGeom prst="rect">
            <a:avLst/>
          </a:prstGeom>
          <a:solidFill>
            <a:srgbClr val="FAFAFA"/>
          </a:solidFill>
          <a:ln w="254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926080"/>
            <a:ext cx="4114800" cy="4114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999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低影响力-低利益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行政支持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后勤部门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变革领导力自我评估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沟通能力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清晰表达变革愿景，积极倾听员工声音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0" y="96012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96012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96012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0" y="96012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96012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言行一致，兑现承诺，保护员工利益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173736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7406640" y="173736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173736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173736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173736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有效处理变革中的矛盾和分歧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251460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6640" y="251460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7680960" y="251460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0" y="251460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0" y="251460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团队激励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8600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调动团队积极性，认可和鼓励进步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329184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8" name="Shape 26"/>
          <p:cNvSpPr/>
          <p:nvPr/>
        </p:nvSpPr>
        <p:spPr>
          <a:xfrm>
            <a:off x="7406640" y="329184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0" y="329184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7955280" y="329184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329184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适应能力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2860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灵活调整策略应对变化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32320" y="406908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406908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6" name="Shape 34"/>
          <p:cNvSpPr/>
          <p:nvPr/>
        </p:nvSpPr>
        <p:spPr>
          <a:xfrm>
            <a:off x="7680960" y="4069080"/>
            <a:ext cx="22860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7" name="Shape 35"/>
          <p:cNvSpPr/>
          <p:nvPr/>
        </p:nvSpPr>
        <p:spPr>
          <a:xfrm>
            <a:off x="7955280" y="406908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0" y="4069080"/>
            <a:ext cx="22860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评分标准：1=完全不符合，5=完全符合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小组讨论：变革场景模拟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讨论时间：20分钟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场景设定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某公司启动CRM系统替换项目，你是项目负责人。项目启动一个月后，销售部门员工对新系统抵触情绪严重，业绩出现下滑。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10515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560320"/>
            <a:ext cx="73152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员工抵触的根源是什么？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你将如何建立变革共识？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你将如何维护员工信任？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你的具体行动计划是什么？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749040"/>
            <a:ext cx="73152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输出要求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每个小组形成一份简短的变革管理计划，包含：问题诊断、解决策略、行动步骤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案例分享与点评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每组分享时间：5分钟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904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你们发现了哪些问题？运用了哪些理论？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591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策略设计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你们的解决方案是什么？为什么这样设计？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278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你们的具体步骤是什么？时间线如何？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965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点评反馈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讲师和同学提问，优秀策略分享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课程核心收获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认知升级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理解数字化转型不仅是技术升级，更是人的变革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方法工具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掌握变革共识建立、信任维护、心态识别的具体方法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实战能力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能够诊断变革问题，设计解决方案，制定行动计划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领导力提升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理解变革领导者的六种角色，提升综合领导力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课后应用计划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005840"/>
            <a:ext cx="658368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2344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回顾课程笔记，选择一个实际变革场景进行诊断分析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64592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1965960"/>
            <a:ext cx="658368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1945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应用所学方法，启动或优化实际变革项目的变革管理工作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64592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三个月内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2926080"/>
            <a:ext cx="658368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1546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复盘变革管理效果，总结经验教训，形成个人方法论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64592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03120" y="3886200"/>
            <a:ext cx="658368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4114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分享经验，帮助他人，不断迭代优化变革管理能力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变革沟通计划模板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沟通对象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沟通内容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全体员工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变革愿景和原因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全员大会、邮件通知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推进阶段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部门负责人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进展和挑战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周例会、部门沟通会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攻坚阶段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一线员工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具体问题和反馈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一对一访谈、现场座谈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收尾阶段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全体员工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成果展示和感谢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表彰大会、通报文件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信任度评估指标体系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沟通信任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信息透明度评分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沟通及时性评分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反馈响应度评分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365760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00584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能力信任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专业能力认可度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决策质量评分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问题解决能力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65760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善意信任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关心员工程度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利益保护评分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承诺兑现率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365760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292608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整体信任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总体信任度评分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愿意追随程度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推荐给他人意愿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心理安全感评估量表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Q1. 我可以在团队中表达不同意见而不用担心被嘲笑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78040" y="96012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98755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0" y="96012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98755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18120" y="96012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98755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38160" y="96012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98755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58200" y="96012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98755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Q2. 如果我犯了错误，会被追究责任而不是被帮助学习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3736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176479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173736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176479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18120" y="173736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176479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173736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176479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58200" y="173736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176479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Q3. 团队成员之间可以相互支持和帮助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78040" y="251460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254203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251460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254203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18120" y="251460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7818120" y="254203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251460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254203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58200" y="251460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458200" y="254203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Q4. 我可以自由表达真实的担忧和想法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78040" y="329184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9" name="Text 37"/>
          <p:cNvSpPr/>
          <p:nvPr/>
        </p:nvSpPr>
        <p:spPr>
          <a:xfrm>
            <a:off x="7178040" y="331927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98080" y="329184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0" y="331927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18120" y="329184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7818120" y="331927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329184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5" name="Text 43"/>
          <p:cNvSpPr/>
          <p:nvPr/>
        </p:nvSpPr>
        <p:spPr>
          <a:xfrm>
            <a:off x="8138160" y="331927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58200" y="329184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331927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Q5. 团队鼓励尝试和创新，即使可能失败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178040" y="406908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0" name="Text 48"/>
          <p:cNvSpPr/>
          <p:nvPr/>
        </p:nvSpPr>
        <p:spPr>
          <a:xfrm>
            <a:off x="7178040" y="409651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98080" y="4069080"/>
            <a:ext cx="256032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2" name="Text 50"/>
          <p:cNvSpPr/>
          <p:nvPr/>
        </p:nvSpPr>
        <p:spPr>
          <a:xfrm>
            <a:off x="7498080" y="409651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818120" y="406908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4" name="Text 52"/>
          <p:cNvSpPr/>
          <p:nvPr/>
        </p:nvSpPr>
        <p:spPr>
          <a:xfrm>
            <a:off x="7818120" y="409651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38160" y="406908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6" name="Text 54"/>
          <p:cNvSpPr/>
          <p:nvPr/>
        </p:nvSpPr>
        <p:spPr>
          <a:xfrm>
            <a:off x="8138160" y="409651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458200" y="4069080"/>
            <a:ext cx="256032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8" name="Text 56"/>
          <p:cNvSpPr/>
          <p:nvPr/>
        </p:nvSpPr>
        <p:spPr>
          <a:xfrm>
            <a:off x="8458200" y="409651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评分标准：1=完全不同意，5=完全同意 | 总分&lt;15需要重点关注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员工抵触处理策略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轻度抵触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640080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2344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主动沟通，了解担忧；提供更多信息和支持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82880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中度抵触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1965960"/>
            <a:ext cx="640080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21945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一对一深入交流；邀请参与决策；展示成功案例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82880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重度抵触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2926080"/>
            <a:ext cx="640080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1546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寻求可信中间人帮助；渐进式变革；高层介入支持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82880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集体抵触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0" y="3886200"/>
            <a:ext cx="6400800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41148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暂停推进，重新评估；全员座谈会；利益相关方协同处理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变革团队组建框架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6400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变革领袖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914400"/>
            <a:ext cx="621792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0789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高层管理者，负责战略决策和资源调配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01168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562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变革负责人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691640"/>
            <a:ext cx="621792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8562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全职负责变革项目管理，协调各方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011680" cy="6400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33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变革大使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468880"/>
            <a:ext cx="621792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26334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各部门骨干，传播变革理念，反馈意见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2011680" cy="6400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10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68880" y="3246120"/>
            <a:ext cx="621792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34107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负责员工培训和能力提升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2011680" cy="64008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沟通专员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468880" y="4023360"/>
            <a:ext cx="621792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41879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负责信息发布和反馈收集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变革成功关键因素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241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高层坚定支持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领导层对变革的承诺和参与是成功的第一推动力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9144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824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618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清晰变革愿景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8928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让每个人都理解为什么要变、变向何方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9144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40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276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充分沟通参与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55117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持续的、双向的沟通，让员工参与进来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9144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992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2935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信任文化基础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20954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建立在信任上的变革才能持久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9144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35935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能力建设跟上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86791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培训和发展帮助员工适应新要求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9144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3159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及时认可激励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5262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庆祝进步，认可贡献，维持变革动力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变革大使识别与培养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变革大使的特征：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在团队中有影响力 | 受人尊重和信任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365760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对新事物开放 | 愿意尝试和冒险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5760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沟通能力强 | 善于表达和说服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365760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认可组织 | 对组织有归属感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培养步骤：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选择：对潜在大使进行观察和评估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38728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844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538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邀请：正式邀请他们担任变革大使角色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6849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9227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培训：提供变革知识和沟通技巧培训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06824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5254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3068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授权：赋予他们一定的资源和决策权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90872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36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6908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支持：持续提供信息、工具和支持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变革反馈收集方法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正式渠道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41148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全员调查问卷 | 部门例会反馈 | 定期汇报机制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收集整体趋势和量化数据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8288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非正式渠道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1920240"/>
            <a:ext cx="41148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走廊对话 | 午餐聊天 | 匿名意见箱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了解真实想法和潜在问题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8288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专项渠道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0" y="2926080"/>
            <a:ext cx="41148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一对一访谈 | 焦点小组讨论 | 员工座谈会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深入了解特定问题和建议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8288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数字化渠道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86000" y="3931920"/>
            <a:ext cx="41148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4069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线上反馈平台 | 企业微信匿名区 | 定期推送问卷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4389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方便快捷，保护隐私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变革风险管理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005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发生可能性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影响程度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2376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员工抵触加剧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508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1508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关键人员流失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057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2057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进度延误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预算超支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154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154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外部政策变化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变革健康度仪表盘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118872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变革共识度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160520" y="118872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员工信任度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4231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5160" y="1188720"/>
            <a:ext cx="914400" cy="9144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沟通有效性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4231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1325880" y="3108960"/>
            <a:ext cx="914400" cy="9144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培训覆盖率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160520" y="310896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9184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进度达成率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737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995160" y="3108960"/>
            <a:ext cx="914400" cy="9144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2648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员工满意度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4343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把员工放在中心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不是把技术放在中心，而是把人放在变革的核心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91440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从为什么开始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永远先回答为什么，再讨论做什么和怎么做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4028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信任先行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没有信任基础，所有的变革努力都会打折扣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24028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24028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沟通要过量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你以为沟通够了，其实还差得远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允许试错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把失败当学习，而不是追责的理由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56616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5661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持续投入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114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变革不是项目，而是一个持续的过程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变革管理常见误区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64592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技术导向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164592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人文导向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914400"/>
            <a:ext cx="448056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只关注系统功能，忽略员工感受和适应能力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164592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019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一次性变革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1901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60320" y="1719072"/>
            <a:ext cx="164592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9019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持续迭代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1719072"/>
            <a:ext cx="448056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901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认为项目结束就是变革完成，忽略持续巩固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164592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066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自上而下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27066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0" y="2523744"/>
            <a:ext cx="164592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27066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共同参与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2523744"/>
            <a:ext cx="448056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27066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把员工当执行者，而不是变革的贡献者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164592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5112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信息控制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03120" y="351129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560320" y="3328416"/>
            <a:ext cx="164592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0" y="35112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透明沟通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06240" y="3328416"/>
            <a:ext cx="448056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0" y="35112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以为少说就不会乱，实际上只会增加不信任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33088"/>
            <a:ext cx="164592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159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完美计划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103120" y="43159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560320" y="4133088"/>
            <a:ext cx="164592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43159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快速试错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0" y="4133088"/>
            <a:ext cx="448056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0" y="4315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追求完美方案再行动，错失最佳时机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变革管理能力成长路径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38404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011680" cy="5486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理解变革管理基础概念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能够配合执行变革任务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703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参与变革沟通和反馈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005840"/>
            <a:ext cx="2011680" cy="38404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1005840"/>
            <a:ext cx="201168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独立承担变革项目模块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2697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识别和管理常见变革阻力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3703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有效沟通和培训员工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2011680" cy="38404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005840"/>
            <a:ext cx="201168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主导完整变革项目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处理复杂利益相关方关系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703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建立变革管理流程体系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1005840"/>
            <a:ext cx="2011680" cy="38404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1005840"/>
            <a:ext cx="2011680" cy="54864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设计组织变革战略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2697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辅导高管变革领导力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3703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创新变革管理方法论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推荐阅读与资源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《变革之心》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John Kotter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变革管理的经典之作，强调情感因素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20240"/>
            <a:ext cx="73152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《Leading Change》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John Kotter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变革管理的八步法模型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《The Psychology of Change》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4340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Harvard Business Review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理解员工变革心理的必读 collection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《Switch: How to Change Things》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4340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 &amp; Dan Heath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如何克服变革中的理性与情感障碍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互动环节：变革情景模拟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情景模拟任务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你是一家制造企业的运营总监，公司刚刚决定引入智能制造系统。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这个系统将自动化50%的生产线工作，预计会影响到200名操作工人的岗位。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中层管理团队担心新系统的复杂性，一线员工担心失业，工会已经表达了关切。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你需要设计一个完整的变革管理计划。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任务要求：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诊断：识别关键利益相关方及其主要担忧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策略：设计建立共识和维护信任的具体措施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439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计划：制定分阶段的变革沟通和培训计划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914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风险：识别主要变革风险并准备应对方案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小组讨论：角色扮演指引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角色分配：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2860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变革负责人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28016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4173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推进变革，争取支持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2860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抵触员工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196596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1031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表达担忧，测试变革策略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22860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中立员工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265176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27889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提出实际问题，推动完善方案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22860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支持员工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333756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34747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分享认可，但也要提出建设性意见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228600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HR负责人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0" y="4023360"/>
            <a:ext cx="5943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41605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提供政策支持，平衡各方利益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讨论时间：25分钟 | 演示时间：每组5分钟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变革管理成熟度自测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64592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1: 初始级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502920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097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变革随意、无计划、缺乏系统方法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0-20分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164592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56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2: 可重复级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1719072"/>
            <a:ext cx="502920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9019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有基本流程，但执行不一致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19019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21-40分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164592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6090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3: 已定义级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2523744"/>
            <a:ext cx="502920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27066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有标准流程，全组织一致应用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706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41-60分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164592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655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4: 已管理级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3328416"/>
            <a:ext cx="502920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35112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量化管理，持续监控和优化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5112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61-80分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164592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702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5: 优化级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03120" y="4133088"/>
            <a:ext cx="502920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43159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持续改进，输出最佳实践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43159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81-100分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变革准备度检查清单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领导层准备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914400"/>
            <a:ext cx="27432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高层明确承诺和参与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307592"/>
            <a:ext cx="27432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3075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资源已经到位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700784"/>
            <a:ext cx="27432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7007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时间表已经确定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2286000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组织准备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240280"/>
            <a:ext cx="27432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利益相关方已经识别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33472"/>
            <a:ext cx="27432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2633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沟通计划已经制定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3026664"/>
            <a:ext cx="27432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30266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培训资源已经准备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2286000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员工准备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3566160"/>
            <a:ext cx="27432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员工了解变革原因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3959352"/>
            <a:ext cx="27432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0" y="3959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早期成功案例已经建立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352544"/>
            <a:ext cx="274320" cy="2743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43525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反馈机制已经运行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变革沟通日历规划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9875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987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核心活动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987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08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508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变革前4周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高层预告、调研访谈、利益相关方识别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508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高管一对一、部门会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40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全员大会、愿景宣讲、FAQ发布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全员会、邮件、内网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第3-8周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周进展通报、问题反馈、案例分享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周报、部门会、内网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攻坚期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3703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第9-12周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深度培训、一对一沟通、问题解决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培训、一对一、座谈会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34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第13周+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成果展示、表彰、经验总结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4434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表彰会、案例集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变革阻力深度分析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理性阻力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301752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根源：不理解为什么变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914400"/>
            <a:ext cx="338328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应对：清晰解释变革原因和长远价值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182880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01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情感阻力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1719072"/>
            <a:ext cx="301752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根源：担心失去、害怕失败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719072"/>
            <a:ext cx="338328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应对：同理心倾听，提供安全感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182880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06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利益阻力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0" y="2523744"/>
            <a:ext cx="301752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27066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根源：变革影响切身利益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2523744"/>
            <a:ext cx="338328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27066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应对：寻找双赢方案或合理补偿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28416"/>
            <a:ext cx="182880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11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能力阻力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0" y="3328416"/>
            <a:ext cx="301752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35112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根源：不确定能否适应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328416"/>
            <a:ext cx="338328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35112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应对：充分培训和支持，建立信心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1828800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15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习惯阻力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86000" y="4133088"/>
            <a:ext cx="3017520" cy="685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4315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根源：现有方式更舒适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4133088"/>
            <a:ext cx="338328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43159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应对：渐进过渡，展示新方式的好处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变革发起人角色与责任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倡导变革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公开支持变革愿景，分享变革的紧迫性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91440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调配资源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确保变革所需的人力、财力、时间资源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4028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清除障碍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帮助解决跨部门协调和资源冲突问题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24028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24028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保持关注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持续关注变革进展，在关键时刻介入支持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传递信号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通过行为示范传递高层对变革的重视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566160"/>
            <a:ext cx="3657600" cy="1188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5661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庆祝成功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0" y="4114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认可团队进步，激励持续变革动力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变革代理人网络建设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0" y="2011680"/>
            <a:ext cx="1828800" cy="18288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13716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部门大使A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2103120"/>
            <a:ext cx="0" cy="27432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188720"/>
            <a:ext cx="13716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部门大使B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29400" y="2103120"/>
            <a:ext cx="0" cy="27432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383280"/>
            <a:ext cx="13716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技术骨干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3383280"/>
            <a:ext cx="0" cy="27432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3383280"/>
            <a:ext cx="13716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HR伙伴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3383280"/>
            <a:ext cx="0" cy="27432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网络建设关键原则：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选择有影响力的节点人物 → 赋能培训 → 定期沟通协调 → 授权自主推进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变革疲劳症状与疗法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早期症状（躯体信号）：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情绪耗竭：感到疲惫、无力，对工作失去热情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去人格化：对同事冷漠，用讽刺或嘲讽对待变革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成就感低：觉得自己做的事没有意义，缺乏成就感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干预方法：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73152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休息与恢复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3200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强制变革休息期，给员工恢复时间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73152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意义重塑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657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帮助员工重新连接工作与个人价值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73152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小胜利庆祝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4114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设置可实现的小目标，及时认可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73152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社会支持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572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建立互助小组，分享感受和应对策略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变革愿景故事模板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一个好愿景 = 痛点共鸣 + 未来画面 + 行动号召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痛点描述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6400800" cy="10515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4630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我们正面临[具体挑战]，如果不改变，[负面后果]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8745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例：我们每年在重复性数据录入上花费10000小时，这让我们没有时间做更有价值的工作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82880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未来画面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2560320"/>
            <a:ext cx="6400800" cy="10515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26517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通过[变革方案]，我们将实现[具体目标]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063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例：通过自动化这套流程，我们将节省70%的时间，让每个人都能专注于需要思考的工作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82880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行动号召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3749040"/>
            <a:ext cx="6400800" cy="10515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38404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现在，我们需要你[具体行动]，一起迈向[美好未来]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42519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例：现在，我们需要你积极使用新系统，提出改进建议，一起打造更高效的工作方式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利益相关方沟通矩阵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987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987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987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高层领导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463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战略价值、ROI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定期汇报、战略对齐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中层管理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057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团队绩效、可行性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参与规划、培训赋能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一线员工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工作影响、技能要求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651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充分沟通、培训支持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HR部门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人员配置、薪酬绩效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246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政策协调、定期同步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IT部门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技术实现、系统集成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3840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技术评审、需求对接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外部合作方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7744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商务利益、合作关系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434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4434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合同约定、定期沟通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变革大使荣誉体系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变革新星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0" y="914400"/>
            <a:ext cx="36576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首次参与变革项目并做出贡献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奖励：荣誉证书、纪念品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2860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变革先锋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36576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连续3个月积极参与并带动他人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奖励：公开表彰、优先培训机会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2860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变革领袖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0" y="2926080"/>
            <a:ext cx="36576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主导完成重要变革模块，影响显著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奖励：领导力发展机会、奖金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22860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变革传奇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0" y="3931920"/>
            <a:ext cx="36576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年度变革最佳实践创造者和传播者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奖励：年度盛典表彰、特殊福利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914400"/>
            <a:ext cx="2286000" cy="38404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097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荣誉体系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173736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可见性：公开认可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及时性：快速反馈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多样性：物质+精神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真实性：基于贡献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变革项目时间线与里程碑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0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28A74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W1-2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项目启动、团队组建、基线调研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2103120"/>
            <a:ext cx="365760" cy="365760"/>
          </a:xfrm>
          <a:prstGeom prst="ellipse">
            <a:avLst/>
          </a:prstGeom>
          <a:solidFill>
            <a:srgbClr val="C41E3A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W3-4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880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详细计划、沟通方案、培训设计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0" y="2103120"/>
            <a:ext cx="365760" cy="365760"/>
          </a:xfrm>
          <a:prstGeom prst="ellipse">
            <a:avLst/>
          </a:prstGeom>
          <a:solidFill>
            <a:srgbClr val="D4D4D4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W5-8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880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试点推行、早期成功案例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待启动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0" y="2103120"/>
            <a:ext cx="365760" cy="365760"/>
          </a:xfrm>
          <a:prstGeom prst="ellipse">
            <a:avLst/>
          </a:prstGeom>
          <a:solidFill>
            <a:srgbClr val="D4D4D4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W9-16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2880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全面推广、持续培训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待启动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046720" y="2103120"/>
            <a:ext cx="365760" cy="365760"/>
          </a:xfrm>
          <a:prstGeom prst="ellipse">
            <a:avLst/>
          </a:prstGeom>
          <a:solidFill>
            <a:srgbClr val="D4D4D4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W17-20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2880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成果固化、经验总结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待启动</a:t>
            </a:r>
            <a:endParaRPr lang="en-US" sz="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变革管理与系统集成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914400"/>
            <a:ext cx="68580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3716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变革会影响流程和岗位，需要充分沟通和培训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3716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28800" y="1920240"/>
            <a:ext cx="68580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CRM系统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23774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销售人员使用，客户数据管理方式改变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3716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54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828800" y="2926080"/>
            <a:ext cx="68580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OA系统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338328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审批流程变化，需要部门协调配合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3716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0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828800" y="3931920"/>
            <a:ext cx="6858000" cy="8686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201168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HR系统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43891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绩效考核、岗位调整需要HR深度参与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变革管理投资回报分析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变革管理ROI公式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= （变革收益 - 变革成本 - 变革失败损失）÷ 变革管理投入 × 100%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预期收益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员工效率提升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项目进度达成率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员工满意度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培训投入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2560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沟通时间成本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变革管理资源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关键洞察：研究显示，有效的变革管理可以将变革成功率从30%提升到70%以上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每投入1元的变革管理费用，可以避免约5-10元的变革失败损失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变革后评估复盘模板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1828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原定目标是否达成？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未达成的原因是什么？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有哪些超出预期的成果？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3657600" cy="1828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91440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人员影响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员工反馈如何？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有哪些遗留问题？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需要持续关注的群体？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657600" cy="1828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流程变化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新流程执行情况？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有哪些执行障碍？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需要优化的环节？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3657600" cy="18288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292608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经验教训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成功的关键因素？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可以改进的地方？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对未来变革的建议？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数字化时代的变革管理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一次性大爆炸式变革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914400"/>
            <a:ext cx="457200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持续迭代式变革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自上而下命令式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691640"/>
            <a:ext cx="457200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874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共同参与式变革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65760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纸质沟通加会议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2468880"/>
            <a:ext cx="457200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数字化即时沟通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65760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年度绩效评估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3246120"/>
            <a:ext cx="457200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3429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实时反馈机制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365760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部门墙分隔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4023360"/>
            <a:ext cx="457200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4206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跨职能协作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文化基建：数字化转型推进中不能松手的员工信任与变革共识</dc:title>
  <dc:subject>第11章 数字化转型文化基建</dc:subject>
  <dc:creator>课程开发团队</dc:creator>
  <cp:lastModifiedBy>课程开发团队</cp:lastModifiedBy>
  <cp:revision>1</cp:revision>
  <dcterms:created xsi:type="dcterms:W3CDTF">2026-08-18T12:40:48Z</dcterms:created>
  <dcterms:modified xsi:type="dcterms:W3CDTF">2026-08-18T12:40:48Z</dcterms:modified>
</cp:coreProperties>
</file>