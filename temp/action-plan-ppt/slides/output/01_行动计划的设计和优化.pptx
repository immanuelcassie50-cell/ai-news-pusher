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charts/chart3.xml" ContentType="application/vnd.openxmlformats-officedocument.drawingml.chart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charts/chart4.xml" ContentType="application/vnd.openxmlformats-officedocument.drawingml.chart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</p:sldIdLst>
  <p:notesMasterIdLst>
    <p:notesMasterId r:id="rId1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notesMaster" Target="notesMasters/notesMaster1.xml"/><Relationship Id="rId173" Type="http://schemas.openxmlformats.org/officeDocument/2006/relationships/presProps" Target="presProps.xml"/><Relationship Id="rId174" Type="http://schemas.openxmlformats.org/officeDocument/2006/relationships/viewProps" Target="viewProps.xml"/><Relationship Id="rId175" Type="http://schemas.openxmlformats.org/officeDocument/2006/relationships/theme" Target="theme/theme1.xml"/><Relationship Id="rId17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状态时间占比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1A1A"/>
              </a:solidFill>
              <a:effectLst/>
            </c:spPr>
          </c:dPt>
          <c:dPt>
            <c:idx val="1"/>
            <c:bubble3D val="0"/>
            <c:spPr>
              <a:solidFill>
                <a:srgbClr val="D4A5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规划状态（写计划/思考/设计）</c:v>
                </c:pt>
                <c:pt idx="1">
                  <c:v>执行状态（日常忙碌/被打断/能量低位）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</c:v>
                </c:pt>
                <c:pt idx="1">
                  <c:v>85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执行率</c:v>
                </c:pt>
              </c:strCache>
            </c:strRef>
          </c:tx>
          <c:spPr>
            <a:solidFill>
              <a:srgbClr val="8B1A1A"/>
            </a:solidFill>
            <a:ln w="38100" cap="flat">
              <a:solidFill>
                <a:srgbClr val="8B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8B1A1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8B1A1A"/>
              </a:solidFill>
              <a:ln w="9525" cap="flat">
                <a:solidFill>
                  <a:srgbClr val="8B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第1个月</c:v>
                  </c:pt>
                  <c:pt idx="1">
                    <c:v>第2个月</c:v>
                  </c:pt>
                  <c:pt idx="2">
                    <c:v>第3个月</c:v>
                  </c:pt>
                  <c:pt idx="3">
                    <c:v>第4个月</c:v>
                  </c:pt>
                  <c:pt idx="4">
                    <c:v>第5个月</c:v>
                  </c:pt>
                  <c:pt idx="5">
                    <c:v>第6个月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60</c:v>
                </c:pt>
                <c:pt idx="2">
                  <c:v>30</c:v>
                </c:pt>
                <c:pt idx="3">
                  <c:v>15</c:v>
                </c:pt>
                <c:pt idx="4">
                  <c:v>8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8B1A1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Microsoft YaHe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Microsoft YaHei"/>
              </a:rPr>
              <a:t>一周动机水平变化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动机水平</c:v>
                </c:pt>
              </c:strCache>
            </c:strRef>
          </c:tx>
          <c:spPr>
            <a:solidFill>
              <a:srgbClr val="8B1A1A"/>
            </a:solidFill>
            <a:ln w="38100" cap="flat">
              <a:solidFill>
                <a:srgbClr val="8B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B1A1A"/>
              </a:solidFill>
              <a:ln w="9525" cap="flat">
                <a:solidFill>
                  <a:srgbClr val="8B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周一</c:v>
                  </c:pt>
                  <c:pt idx="1">
                    <c:v>周二</c:v>
                  </c:pt>
                  <c:pt idx="2">
                    <c:v>周三</c:v>
                  </c:pt>
                  <c:pt idx="3">
                    <c:v>周四</c:v>
                  </c:pt>
                  <c:pt idx="4">
                    <c:v>周五</c:v>
                  </c:pt>
                  <c:pt idx="5">
                    <c:v>周六</c:v>
                  </c:pt>
                  <c:pt idx="6">
                    <c:v>周日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Microsoft YaHe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Microsoft YaHei"/>
              </a:rPr>
              <a:t>状态越差，做同一件事的「成本」越高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能力成本</c:v>
                </c:pt>
              </c:strCache>
            </c:strRef>
          </c:tx>
          <c:spPr>
            <a:solidFill>
              <a:srgbClr val="B85450"/>
            </a:solidFill>
            <a:ln w="38100" cap="flat">
              <a:solidFill>
                <a:srgbClr val="B854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满精力</c:v>
                  </c:pt>
                  <c:pt idx="1">
                    <c:v>高精力</c:v>
                  </c:pt>
                  <c:pt idx="2">
                    <c:v>正常</c:v>
                  </c:pt>
                  <c:pt idx="3">
                    <c:v>较低</c:v>
                  </c:pt>
                  <c:pt idx="4">
                    <c:v>疲惫</c:v>
                  </c:pt>
                  <c:pt idx="5">
                    <c:v>耗竭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12</c:v>
                </c:pt>
                <c:pt idx="5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8DD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548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26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0" y="21031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执行设计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3657600" y="3108960"/>
            <a:ext cx="27432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让正确的计划真正发生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从「应该做」到「会做」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为什么这门课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三个你可能也问过自己的问题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26517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什么是执行？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≠ 努力。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执行是行为在日常状态下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能可靠发生的设计。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783080"/>
            <a:ext cx="26517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为何失败？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474720" y="288036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失败不是态度问题，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不是能力问题，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是计划在设计时只考虑了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"理想状态的自己"。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783080"/>
            <a:ext cx="26517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589520" y="2057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怎么设计？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288036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0175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从"应该做"转向"会做"。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用行为科学框架 + 设计工具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让任务在糟糕的一天也能发生。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三个问题，对应这门课的三层结构。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你将带走什么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四个产出，都可以直接用于你手上的行动计划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82296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三条可执行性标准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计划风险清单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用来识别"看起来合理、实际很难执行"的任务。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4592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645920"/>
            <a:ext cx="82296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574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577840" y="1783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行为诊断模型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743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理解行为为什么会发生、为什么会断掉。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46120"/>
            <a:ext cx="82296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371600" y="3383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4023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四个行为设计工具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把高风险任务重新设计为"顺人性"的版本。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246120"/>
            <a:ext cx="82296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657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577840" y="3383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77840" y="4023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经过审视的行动计划修订版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把整套方法用在你自己的计划上。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THIS FOR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这门课适合谁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三类人，都有一个共同处境：手上有一份想推动落地的计划。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64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 Leader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Lead / 中层管理者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团队定了计划执行不动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每次复盘都说"下次注意"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03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想推动但不知道从哪下手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691640"/>
            <a:ext cx="265176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691640"/>
            <a:ext cx="26517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764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02336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 / 项目负责人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81635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项目计划很完整但延期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31927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干系人承诺的事难落地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82219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703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流程设计没人遵守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691640"/>
            <a:ext cx="265176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691640"/>
            <a:ext cx="26517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764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 / BP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组织发展 / 培训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281635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想提升组织执行力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31927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培训内容难以转化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822192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703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需要一套可操作的方法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提示：如果你属于其中一类，请把你的实际计划放在手边——这门课会直接用到。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我们的学习路径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从识别 → 理解 → 工具 → 实践，四个部分构成完整的循环。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可执行性标准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P.27-55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7830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78892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8892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模型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8892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P.56-88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93776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四个设计工具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P.89-139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1783080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708660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86600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2880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综合优化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P.140-161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57200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72084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62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P.7-26  →  实战练习  →  模块总结 P.162-170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COURSE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怎么用这门课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五个原则，会影响你从这门课里实际带走多少东西。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1737360"/>
            <a:ext cx="18288" cy="4114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带着计划来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这门课的所有练习，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都直接用在你的实际计划上。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783080"/>
            <a:ext cx="48463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43000" y="2331720"/>
            <a:ext cx="18288" cy="4114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相信直觉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在进入工具之前，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先做自查练习保留真实感受。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43000" y="2926080"/>
            <a:ext cx="18288" cy="4114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慢一点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不要追求一次学会，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先理解逻辑再应用。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43000" y="3520440"/>
            <a:ext cx="18288" cy="4114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反复回到案例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苏敏的案例会反复出现，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每次都揭示不同的问题。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143000" y="4114800"/>
            <a:ext cx="18288" cy="4114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做就比不做强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哪怕只修订了一个任务，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也比你听完整门课却没动强。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4160520"/>
            <a:ext cx="48463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2194560"/>
            <a:ext cx="4572000" cy="21031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学得深，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不如改得动。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4297680" y="3657600"/>
            <a:ext cx="36576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这句话会反复出现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为什么越认真的计划，有时越难落地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从「执行悖论」开始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54864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先从一件很私人的事说起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74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3017520" y="12801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你有没有给自己设定过一个目标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17520" y="19659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坚持了一段时间，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17520" y="2514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最终断掉了？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017520" y="338328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5204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不是因为不在乎，也不是因为不知道怎么做——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而是生活里的某一天它就没发生，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然后又一天，然后"等忙完这段再捡起来"，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然后再也没有捡起来过。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放大的问题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如果连自己想做的事都难坚持——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怎么期望团队执行计划？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个人层面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54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自己想做的事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都这么容易被打断和遗忘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几乎所有人都有这种经历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3931920" cy="2377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团队层面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3017520"/>
            <a:ext cx="274320" cy="274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54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团队里的每一个人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在日复一日的忙碌中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可靠地执行一份计划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这件事，我们真的期望得合理吗？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PARADOX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执行悖论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越认真，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失败得越彻底。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45720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7947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一份完整的计划，会让制定者产生一种"已经完成了"的心理满足感——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完成了想象中的执行，但执行本身还没有发生。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越完整的计划 = 越多的承诺 + 越高的期望 + 越依赖意志力。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TRUTH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数据冲击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研究和实践观察告诉我们一件不太令人舒服的事：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spc="-4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3657600" y="3108960"/>
            <a:ext cx="182880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 个月后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行动计划在 3-6 个月后的实际完成率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不是因为这些计划写得不好，也不是因为这些人不努力——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更令人困惑的是：有时候计划越认真、越详细，失败来得越彻底。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CAUSE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悖论的根源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为什么"完整的计划"会反噬自己？三个相互叠加的机制。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完成想象的执行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写完计划的那一刻，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大脑产生了"已经完成"的错觉。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执行本身尚未发生。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3474720" y="24688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越多的承诺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计划越完整，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任务的"承诺数量"越多。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每一项都在争夺注意力和意志力。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6517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6309360" y="24688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意志力的耗尽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936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意志力是会被耗尽的资源。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依赖意志力维持的计划，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在糟糕的一天就崩了。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这三个机制叠加在一起：好计划反而成了执行最大的敌人。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写计划的你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规划状态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57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当你在写计划时，你处于一种特殊的状态：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37160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4436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37160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644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37160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844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时间充裕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37160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0448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认可价值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37160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全局视野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MODE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规划状态的特征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931920" y="1280160"/>
            <a:ext cx="36576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348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坐在桌前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34840" y="1737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有一段不被打断的时间坐下来思考全局。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3484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高度认可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2331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对这件事有明确的价值判断，相信它重要。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348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理想化假设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34840" y="2926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默认执行时也会保持这种能量水平。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3484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完成感提前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34840" y="3520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写下任务时，大脑已经获得部分满足感。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348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意志力充沛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3484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此刻资源充足，能量高位，决策毫不费力。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31920" y="4526280"/>
            <a:ext cx="475488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5628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这是写计划时的你——但不是你执行时的你。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MODE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执行状态的特征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日程已满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另有两件紧急的事在争夺注意力。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会议密集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今天的会议已经排满整块时间。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邮件未回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有一封没回的邮件还在后台持续消耗精力。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临时问题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520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团队成员找过来解决一个棘手问题。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能量低位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今天不再有规划时的那种清醒和能量。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548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914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执行计划的你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7607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执行状态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760720" y="2011680"/>
            <a:ext cx="457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大多数时候你只是在试图完成当天最紧要的事。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2926080"/>
            <a:ext cx="164592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9443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被打断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3246120"/>
            <a:ext cx="164592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32644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能量低位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3566160"/>
            <a:ext cx="164592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5844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决策疲劳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3886200"/>
            <a:ext cx="164592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9044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邮件未回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4206240"/>
            <a:ext cx="1645920" cy="25603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422452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应急优先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526280"/>
            <a:ext cx="475488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628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规划时设计的任务，默认了这种状态的你也能完成。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规划与执行的鸿沟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你的时间，绝大多数都花在"执行状态"里。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60020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280160" y="24231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28016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执行状态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1600200"/>
            <a:ext cx="4114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计划设计时 VS 计划执行时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54880" y="242316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设计环境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2606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安静、独立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237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9808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被打断、应急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5488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时间预算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2971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整块时间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22376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49808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碎片时间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能量水平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高位充沛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2237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9808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低位耗损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决策成本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0" y="3703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几乎为零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22376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9808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高昂代价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0" y="4160520"/>
            <a:ext cx="41148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写计划的人在 15% 的时间里，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却默认 100% 的执行也能用同样的方式发生。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457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设计问题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不是人的问题。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7315200" cy="18288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行动计划失败，很少是因为"人不努力"或"方向不对"。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大多数时候，是计划在设计上只考虑了"理想状态的自己"，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没有考虑"日常状态的自己"。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vs BEHAVIOR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应该做  vs  会做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两种语言逻辑，背后是两种完全不同的设计思路。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3931920" cy="5486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"应该做"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0896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表达意图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5720" cy="27432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每月与关键利益相关方沟通一次。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45720" cy="27432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定期检查关键指标的进展。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45720" cy="27432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按时推进阶段性评审。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56616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描述了"什么应该发生"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但没有设计"让它发生的条件"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288036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935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691640"/>
            <a:ext cx="393192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7556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"会做"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664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DO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需要设计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743200"/>
            <a:ext cx="4572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每周五 16:00，发 200 字摘要给所有相关方。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108960"/>
            <a:ext cx="4572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周一晨会用 5 分钟检查 3 个核心指标。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474720"/>
            <a:ext cx="4572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每月最后一个周三下午开 90 分钟评审。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4023360"/>
            <a:ext cx="356616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069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时间明确 + 动作具体 + 触发清晰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在糟糕的一天也能可靠发生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LINK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缺失的一环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一件很重要的事：在"正确"和"可执行"之间，存在着一个巨大的鸿沟。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2103120"/>
            <a:ext cx="178308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2103120"/>
            <a:ext cx="178308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正确的计划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目标对、任务全、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逻辑清晰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86200" y="1965960"/>
            <a:ext cx="914400" cy="9144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52044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874520"/>
            <a:ext cx="640080" cy="6400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可执行的计划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在日常状态也能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可靠发生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14800"/>
            <a:ext cx="73152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60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本模块不重新做计划，也不纠正错误目标——那些是之前的内容处理过的。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这里处理的是另一个问题：即便计划已经是"正确"的，它是否也是"可执行"的？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正确的计划很多，可执行的计划不多。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DOES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模块要做的事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你将在这个模块里完成四件事，构成完整的闭环。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659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96596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建立判断标准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能够识别计划里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哪些任务"看起来合理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但实际上很难被执行"。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691640"/>
            <a:ext cx="19659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691640"/>
            <a:ext cx="196596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783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520440" y="19202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理解行为模型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292608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B=MAP 模型，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理解行为为什么会发生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或不发生。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19659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691640"/>
            <a:ext cx="196596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783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669280" y="19202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掌握设计工具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292608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把"高风险"任务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重新设计成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"顺人性"的版本。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1691640"/>
            <a:ext cx="19659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691640"/>
            <a:ext cx="196596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783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818120" y="192024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优化你的计划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40880" y="292608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0175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把整套方法用在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自己的行动计划上，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产出修订版。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从"正确的计划"走向"可执行的计划"——这是本模块唯一的目标。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EXERCISES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关于练习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整个模块的练习，都直接应用到你手上的行动计划。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建议把你的行动计划放在手边。每个练习都会在接下来的内容里直接用到。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真实优先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246888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514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用真实的计划，不要临时虚构。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虚构的计划会得到虚构的洞察。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449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不怕不完美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43000" y="324612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291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凭直觉打分也可以，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不需要完美分析。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真实感受比精确更重要。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反复回来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3000" y="402336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练习之间不独立，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后面的工具会反复用回前面的练习。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194560"/>
            <a:ext cx="3017520" cy="2331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做完练习 ≠ 完成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52160" y="3108960"/>
            <a:ext cx="274320" cy="274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246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练习的价值在于：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让你看见原来没看见的脆弱点，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然后用工具重新设计。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只练不改 = 没练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本模块学习地图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四个部分的核心问题 + 你将带走的东西。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你将带走什么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怎么判断一个任务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是否真的会被执行？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计划风险清单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8229600" cy="54864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模型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852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行为为什么会发生？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什么会阻止它发生？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2852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行为诊断框架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19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四个设计工具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4198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如何重新设计任务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让它更可靠地发生？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4198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四个工具的具体用法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8229600" cy="54864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867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综合优化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9867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如何把前面所有的内容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用在自己的计划上？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39867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经过行为设计审视的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行动计划修订版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628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四个部分彼此不独立：标准告诉你"识别什么"，框架告诉你"为什么会发生"，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工具告诉你"怎么改"，综合优化让你"用起来"。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案例引入：苏敏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一个真实的、典型的行动计划失败现场。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200400" cy="2926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874520"/>
            <a:ext cx="1554480" cy="1554480"/>
          </a:xfrm>
          <a:prstGeom prst="ellipse">
            <a:avLst/>
          </a:prstGeom>
          <a:solidFill>
            <a:srgbClr val="6B0F0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 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项目管理部负责人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4389120"/>
            <a:ext cx="822960" cy="182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一次管理培训后的下午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931920" y="2377440"/>
            <a:ext cx="36576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5146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苏敏是一家科技公司的项目管理部负责人。在一次管理培训结束的当天，她花了整整一个下午，制定了一份她自己非常满意的团队能力提升行动计划。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3520440"/>
            <a:ext cx="2194560" cy="36576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目标清晰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520440"/>
            <a:ext cx="2194560" cy="36576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逻辑合理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3977640"/>
            <a:ext cx="2194560" cy="36576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分工明确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3977640"/>
            <a:ext cx="2194560" cy="36576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她很满意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4480560"/>
            <a:ext cx="4754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问题是：这份"她很满意"的计划，后来怎么样了？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苏敏的计划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计划里有四件核心事，目标清晰、逻辑合理、分工明确。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28016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365760" cy="182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一对一辅导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74520" y="224028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覆盖所有直属下属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做深度发展对话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91640"/>
            <a:ext cx="128016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651760"/>
            <a:ext cx="365760" cy="182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团队复盘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80760" y="224028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集体回顾项目过程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提炼经验教训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08960"/>
            <a:ext cx="128016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46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每双周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4069080"/>
            <a:ext cx="365760" cy="182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跨部门经验交流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874520" y="365760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7452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横向连接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打破信息孤岛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108960"/>
            <a:ext cx="128016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246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63440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4069080"/>
            <a:ext cx="365760" cy="182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个人发展计划更新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080760" y="3657600"/>
            <a:ext cx="27432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结合业务变化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调整个人成长方向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0857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看起来很完美的计划。下面是它后来的故事。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6-MONTH CURVE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个月执行曲线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苏敏的计划在前 6 个月的执行率变化。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4592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645920"/>
            <a:ext cx="3017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90% 到 0%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852160" y="246888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09360" y="2606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52160" y="28072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所有人都比较积极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5216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52160" y="32644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重点项目冲刺挤压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0" y="3520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09360" y="3520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开始默认"先放一放"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5216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3977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基本停止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52160" y="41788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四件事里只有月度复盘勉强维持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6451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这条曲线，是 30-50% 完成率的具体形状。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象征性执行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形态还在，内核已空。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苏敏的应对：加强监督，要求团队主动汇报，并在周会上公开检查进度。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结果：团队开始"象征性执行"。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393192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形态还在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一对一辅导照常召开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复盘会照常进行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汇报和材料照常提交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39319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697480"/>
            <a:ext cx="3931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内核已空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变成了 15 分钟的状态同步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没有真正的辅导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没人愿意说真实问题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451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苏敏很困惑：她已经在认真推动这件事了，为什么还是这样？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开场自查练习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执行脆弱点初判 — 在进入具体工具之前，先对自己的计划做一次直觉性的风险扫描。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任务名称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日常会主动做吗？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启动困难吗？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特别忙时还会发生吗？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402336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从你的行动计划中选 5 个任务，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凭直觉打分，不需要仔细分析。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023360"/>
            <a:ext cx="393192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023360"/>
            <a:ext cx="73152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评分参考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 / 容易 / 会 → 稳健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 / 一般 / 可能 → 有风险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 / 困难 / 不会 → 脆弱点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圈出三列里出现"不会/困难"的任务 — 那就是计划最脆弱的地方。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0" y="1828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可执行性标准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29768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怎么判断一个任务，是否真的会被执行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3337560"/>
            <a:ext cx="54864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 · 五种模式 · 一个检验方法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EXECUTABILITY CRITERIA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从意图到行为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一个简单的区分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40233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意图描述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27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"定期与核心利益相关方保持沟通，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确保他们对项目进展的了解。"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看起来没问题，但不会发生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3657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22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状态好时想起 · 忙时被跳过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2697480"/>
            <a:ext cx="731520" cy="7315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743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55448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627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行为设计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1627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"每周三下午 2 点，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向项目核心干系人发进展摘要"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看到即可执行，无需思考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749040"/>
            <a:ext cx="3657600" cy="457200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822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对象 · 动作 · 完毕标准 全明确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"定期"是意图，"每周三下午2点发摘要"，才是任务。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判断一个任务，能不能被执行的三个问题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这三个问题，分别对应可执行性的三条标准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2514600" y="196596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看完能动手吗？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不需要思考"这是什么意思"，不需要先安排会议讨论如何执行。看完就知道第一个动作是什么。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691640"/>
            <a:ext cx="269748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5349240" y="196596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要开始有多难？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3200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从"决定要做"到"开始第一个实际动作"之间的阻力。距离、工具、协调，每一步都是摩擦。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6916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691640"/>
            <a:ext cx="269748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874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4400" dirty="0"/>
          </a:p>
        </p:txBody>
      </p:sp>
      <p:sp>
        <p:nvSpPr>
          <p:cNvPr id="25" name="Shape 23"/>
          <p:cNvSpPr/>
          <p:nvPr/>
        </p:nvSpPr>
        <p:spPr>
          <a:xfrm>
            <a:off x="8183880" y="196596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普通日子还会发生吗？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09360" y="3200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不是问最好或最坏的日子，是问"普通但有点忙"的那天。这件事还会可靠地发生吗？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问完这三个问题，你就知道这条任务是不是真的"能跑"。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CRITERIA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三条可执行性标准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三条标准，分别从"开始前""启动时""日常里"三个时点做检验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09728" cy="3017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737360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看完能不能动手？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不需思考"这是什么意思"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知道第一步动作是什么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明确完毕的标准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691640"/>
            <a:ext cx="109728" cy="3017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72000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56616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要开始有多难？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338328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物理摩擦：距离、工具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886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认知摩擦：决定、规划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协调摩擦：等待、配合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691640"/>
            <a:ext cx="109728" cy="3017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406640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0" y="2971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普通日子会发生吗？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338328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不依赖最佳状态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886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不消耗超额意志力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2062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忙时仍能可靠发生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三条合一：这个任务，在普通的、有点忙的工作日，能不依赖高意志力自然发生吗？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看完，能不能直接动手？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63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不是"看了能理解"，而是"看了知道第一个动作是什么"。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45720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45720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检验方法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548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METHOD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把这条任务，念给一个完全不了解背景的人听。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73736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他能立刻知道做什么？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33172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他知道做到什么程度？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92608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他知道怎么算做完了？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3703320"/>
            <a:ext cx="3657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三个问题都答得清楚 → 高清晰度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任何一个答不出 → 需要重新设计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清晰度检验：念给陌生人听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这是检验"行动清晰度"最简单也最有效的方法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731520" cy="7315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842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找一个完全不了解你项目背景的人。同事、家人，甚至路人——关键是：他对这件事一无所知。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965960"/>
            <a:ext cx="731520" cy="7315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9842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66160" y="278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念给他听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32461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原原本本念出你的任务描述，不要补充任何解释、不要铺垫背景。一字不差地念。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65960"/>
            <a:ext cx="731520" cy="7315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9842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0" y="2788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看他反应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如果他一脸茫然、需要反问"什么意思"——这就是低清晰度。任务需要重新写。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1800000">
            <a:off x="3172968" y="2834640"/>
            <a:ext cx="10972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800000">
            <a:off x="6007608" y="2834640"/>
            <a:ext cx="10972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9144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三个问题：他知道做什么？做到什么程度？怎么算完成？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任何一项需要反问 = 这条任务的描述不够清晰，需要重写。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正反例子：清晰 vs 不清晰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同一个目标，不同的描述方式，结果天差地别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不清晰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CLEAR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3657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"改善团队内部沟通"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什么叫"改善"？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怎么做？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68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谁来做？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做到什么程度？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看了不知道从哪下手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40233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87452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606040"/>
            <a:ext cx="3657600" cy="640080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"每周五发200字总结"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时间：每周五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动作：发总结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68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对象：项目群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完毕：200字以内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看完即可行动，无需思考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不清晰的任务，会怎么一步步断掉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"想着做"的次数越多，做的次数越少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2024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任务模糊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"改善沟通"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看到任务的瞬间，不知道从哪开始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32888" y="178308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0048" y="192024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70048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想着做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70048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想着"找时间做"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心里挂念，但每天都有更紧急的事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78308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92024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45736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需要先解决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45736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需要先想清楚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45736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需要专注和精力——而这两样最紧缺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84264" y="1783080"/>
            <a:ext cx="1828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1424" y="192024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21424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拖延放弃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21424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再也没做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21424" y="3246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被归类为"等状态好时再做"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1800000">
            <a:off x="2304288" y="2743200"/>
            <a:ext cx="20116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800000">
            <a:off x="4379976" y="2743200"/>
            <a:ext cx="20116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800000">
            <a:off x="6455664" y="2743200"/>
            <a:ext cx="20116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023360"/>
            <a:ext cx="109728" cy="8229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每次想到不清晰的任务，都需要先解决"到底怎么做"——这消耗的专注和精力，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617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恰好是执行时最紧缺的两样。所以"想着做"的次数越多，真正做的次数越少。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365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4008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0" y="2468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要开始，有多难？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0" y="29260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306324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从"决定要做"到"开始第一个实际动作"之间的阻力。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5720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什么是摩擦力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548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摩擦力越低，启动越自然。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摩擦力越高，这件事越依赖"状态好的那天"来执行，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而不是"普通的那天"也能执行。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36576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检验问题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从"决定做"到"动手"，要走几步？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每一步需要什么条件？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每一步的最大障碍是什么？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每多一步摩擦，任务失败概率 +1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三种摩擦：物理 / 认知 / 协调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每一种摩擦，都会消耗启动能量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距离、工具、资源的障碍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需要找特定的人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015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打开特定的系统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6941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准备特定的材料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214884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每一步都是一道门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691640"/>
            <a:ext cx="269748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783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66160" y="2103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执行前需要先决定或规划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297180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"下周复盘讨论什么"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4015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"什么时候合适"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36941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"先做什么后做什么"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4297680"/>
            <a:ext cx="214884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4343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决策疲劳的根源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6916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691640"/>
            <a:ext cx="269748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783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2103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依赖多人配合才能启动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297180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1089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需要对方有空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4015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多日历对齐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6941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等待他人反馈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4297680"/>
            <a:ext cx="214884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343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启动权不在自己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设计行动计划时，要逐一检查：每条任务的摩擦，是哪一种？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经典案例：健身房距离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同样的意愿，不同的物理摩擦，长期坚持率天差地别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方案：离家 5 分钟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24688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长期坚持率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出门就走，5 分钟到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启动几乎无阻力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68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临时起意就能去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状态不好也能坚持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691640"/>
            <a:ext cx="40233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83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方案：离家 45 分钟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66751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长期坚持率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路上来回 1.5 小时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需要提前计划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968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状态不好直接放弃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2611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一个月去不了一两次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同样的意愿，距离（物理的或认知的）会显著影响行为的发生概率。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在一个"普通但不轻松"的周，还会发生吗？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不是问最好的情况，也不是问最坏的，是问：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"正常业务压力下、不是特别轻松也不是特别紧张"，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这件事还会可靠地发生吗？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4572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检验问题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09728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这个任务依赖多少额外精力？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如果需要消耗超出正常水平的意志力——就是设计问题。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24028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状态一般的那天，它会被延后吗？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延后几次后，会被归类为"等状态好时再做"。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38328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5216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等状态好时——那个时刻会来吗？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那个时刻可能永远不会来。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429768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2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 ≠ 意志力问题，是设计问题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稳健性的本质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8229600" cy="15544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09728" cy="1554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稳健性测试的本质，是评估这个任务的发生，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依赖多少的"额外精力"。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投入的额外精力越多，稳健性越低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697480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能执行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52044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状态一般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4069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开始延后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520440"/>
            <a:ext cx="269748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被延后几次后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069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归类为"等状态好时"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那个"等状态好时"——可能永远不会来。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三条合一：一句检验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日常状态的人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PERSON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不依赖高意志力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HEROIC WILL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6517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可靠地完成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RELIABLY DONE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82112" y="20116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08192" y="20116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783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1371600" y="3154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在普通的、有点忙但没有特别崩溃的工作日，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520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能够不依靠特别高的意志力，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或不依靠特别好的运气，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251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自然而然地发生吗？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1/4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重审苏敏的任务 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每周一次一对一辅导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综合风险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777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932688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谈什么？用什么方式？多长时间？未明确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240280"/>
            <a:ext cx="932688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需协调双方时间，想好谈什么，找空间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240280"/>
            <a:ext cx="1981962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项目忙时最容易被"向后推"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109728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74320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最关键的失败点：日常稳健性低。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41605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"等忙完这阵再约"——项目永远忙，这事永远推。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4480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改进方向：固定时间槽（每周三上午）+ 议程模板（每月重点）。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2/4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重审苏敏的任务 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每月团队复盘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9144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综合风险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777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699516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复盘什么？谁组织？用什么格式？未定义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240280"/>
            <a:ext cx="1981962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协调多人日历、提前准备议题、安排会议室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240280"/>
            <a:ext cx="1165860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频率低相对好坚持，但每次执行成本高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109728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中等风险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74320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中等风险，但执行质量不稳定。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41605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开了，但每次"质量"差异大——有时聊得深入，有时草草收场。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4480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改进方向：固定议程模板 + 5分钟文档总结强制产出。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3/4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重审苏敏的任务 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每双周跨部门交流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91440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综合风险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777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699516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谁来分享？分享什么？什么格式？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240280"/>
            <a:ext cx="2215134" cy="36576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跨部门协调，涉及人员最多的任务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240280"/>
            <a:ext cx="2215134" cy="36576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最先被忙碌挤掉的任务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109728" cy="109728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极高风险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74320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三条标准全亮红灯，典型"会自然消亡"任务。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41605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苏敏的6个月曲线里，这条任务第一个断掉。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4480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改进方向：要么取消，要么大幅降级为"月报+季度面对面"。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4/4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重审苏敏的任务 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季度发展计划更新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9144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综合风险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777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699516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"更新"具体指什么？更新哪些内容？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240280"/>
            <a:ext cx="1515618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需与每人单独进行深度对话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691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240280"/>
            <a:ext cx="1165860" cy="365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402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频率低好记，但每次花费时间长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109728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综合判断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中等风险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74320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频率低是优势，但"更新"的模糊性让启动困难。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41605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季度开始时容易推，季度末又赶不上。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4480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改进方向：固定"每季度最后一周"+ 上季度复盘文档作为输入。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四件任务，一件低风险都没有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一对一辅导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2011680"/>
            <a:ext cx="91440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2084832"/>
            <a:ext cx="3200400" cy="128016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2084832"/>
            <a:ext cx="240030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推迟成"找时间"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月度复盘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91440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2542032"/>
            <a:ext cx="3200400" cy="128016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542032"/>
            <a:ext cx="1600200" cy="1280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377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质量不稳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跨部门交流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2926080"/>
            <a:ext cx="914400" cy="27432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0" y="2999232"/>
            <a:ext cx="3200400" cy="128016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2999232"/>
            <a:ext cx="3040380" cy="128016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3个月断掉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季度发展计划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0" y="3383280"/>
            <a:ext cx="91440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0" y="3456432"/>
            <a:ext cx="3200400" cy="128016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3456432"/>
            <a:ext cx="1600200" cy="12801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质量不稳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没有一项是真正低风险。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计划的设计本身，就预埋了后来失败的种子。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这不是苏敏的执行力问题，是设计问题。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五种"看起来合理但难以执行"的任务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在实际的行动计划中，以下五种模式最容易在执行中断掉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627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627632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88136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描述方向但没触发条件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76272" y="1691640"/>
            <a:ext cx="1627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6272" y="1691640"/>
            <a:ext cx="1627632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78308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67712" y="237744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依赖他人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07208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2880360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需先等待别人响应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95344" y="1691640"/>
            <a:ext cx="1627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5344" y="1691640"/>
            <a:ext cx="1627632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178308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86784" y="237744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新增会议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6280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6784" y="2880360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需要大家都参加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1691640"/>
            <a:ext cx="1627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4416" y="1691640"/>
            <a:ext cx="1627632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178308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05856" y="237744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找时间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5352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05856" y="2880360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"在合适的时候"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33488" y="1691640"/>
            <a:ext cx="16276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33488" y="1691640"/>
            <a:ext cx="1627632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1783080"/>
            <a:ext cx="1627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24928" y="2377440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高能量依赖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964424" y="27889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2880360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需专注、创意、精力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03320"/>
            <a:ext cx="109728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共同特征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152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这五种模式看似合理，但都缺少可执行的关键设计：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触发条件模糊、依赖外力、占用大量协调时间、缺乏固定时间、依赖特殊状态。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590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识别这五种模式，是重设计行动计划的第一步。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模式一：意图型任务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描述了方向，但没有触发条件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2801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12064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"定期"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43584" y="2194560"/>
            <a:ext cx="512064" cy="3657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219456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"适时"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47088" y="2194560"/>
            <a:ext cx="841248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2194560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"适时沟通"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79776" y="2194560"/>
            <a:ext cx="841248" cy="3657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9776" y="2194560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"加强关注"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12464" y="2194560"/>
            <a:ext cx="512064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219456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"保持"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15968" y="2194560"/>
            <a:ext cx="841248" cy="3657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2194560"/>
            <a:ext cx="84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"持续做好"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48656" y="2194560"/>
            <a:ext cx="512064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48656" y="219456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"时常"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为什么它不会发生？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20440"/>
            <a:ext cx="109728" cy="118872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写任务时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"定期"听起来很合理，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大家都会点头。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但这是"意图"，不是"任务"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520440"/>
            <a:ext cx="109728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大脑无法识别"适时"到来的那个时刻，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所以这件事很少在正确时机发生。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缺少触发器 = 不会自动发生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模式二：依赖他人配合型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启动需要先等待别人响应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"待某部门确认后推进"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"配合 XX 完成 XX"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"相关部门反馈后开始"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"客户答复后跟进"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为什么它会失败？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33756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需要等对方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对方暂时没空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32888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0048" y="333756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081528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任务挂着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70048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自己先做别的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08576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5736" y="333756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57216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对方忘了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45736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或反馈质量低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84264" y="320040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21424" y="333756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32904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任务消失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21424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在清单里躺尸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rot="1800000">
            <a:off x="2304288" y="3749040"/>
            <a:ext cx="20116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800000">
            <a:off x="4379976" y="3749040"/>
            <a:ext cx="20116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800000">
            <a:off x="6455664" y="3749040"/>
            <a:ext cx="201168" cy="182880"/>
          </a:xfrm>
          <a:prstGeom prst="right_triangl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启动权不在自己 = 这件事不可控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模式三：新增会议型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在已经很满的日历上，加一个需要大家都参加的新会议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"开一个跨部门对齐会"   ·   "组织一次团队季度复盘"   ·   "召集大家讨论下"   ·   "建一个周会机制"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为什么它会失败？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周一至周五 · 上午/下午/晚上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338328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38328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6596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374904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374904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1480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411480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411480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65960" y="4114800"/>
            <a:ext cx="45720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7180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7764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411480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338328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971800" y="3749040"/>
            <a:ext cx="4572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71800" y="3749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7200" y="4617720"/>
            <a:ext cx="182880" cy="1371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5902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已有会议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03120" y="4617720"/>
            <a:ext cx="182880" cy="1371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45902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寻找空档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75120" y="31089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失败机制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675120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协调失败一两次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75120" y="3749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675120" y="3977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会议不再被期待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675120" y="4206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67512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自然消亡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每一个额外会议 = 额外协调成本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模式四："找时间"型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时间不会自己找来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109728" cy="1188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没有固定时间段预留给这件事，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它就会永远在"找时间"的状态里。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忙起来之后，这是最先被放弃的任务类型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"找时间"的真相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7863840" cy="54864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4050792"/>
            <a:ext cx="182880" cy="1828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等有时间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4050792"/>
            <a:ext cx="182880" cy="1828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还没找到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4050792"/>
            <a:ext cx="182880" cy="1828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不是"找时间"——是"留时间"。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模式五：高能量依赖型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需要专注、有创意、精力充沛才能完成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创意工作 · 深度思考 · 战略规划 · 复杂问题解决 · 文章写作 · 设计思考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为什么它会失败？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一周精力波动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822192"/>
            <a:ext cx="457200" cy="7040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3671316"/>
            <a:ext cx="457200" cy="8549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3922776"/>
            <a:ext cx="457200" cy="6035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3621024"/>
            <a:ext cx="457200" cy="90525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4123944"/>
            <a:ext cx="457200" cy="402336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922776"/>
            <a:ext cx="3657600" cy="1828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38039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需高能量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没有设计保障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让他在"高能量状态"下做它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434340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你可能每次都计划"有空且状态好时做"，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但那个时候很少到来。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 DAY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"坏日子测试"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一个可以快速应用的检验方式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16916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09728" cy="1691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想象一个这样的时刻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一个普通的星期三下午，开了一上午会，处理了几件紧急事务，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还有两封邮件没回，现在看到日历提示这件事应该做了。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那个时候，这件事会发生吗？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4023360" cy="1143000"/>
          </a:xfrm>
          <a:prstGeom prst="rect">
            <a:avLst/>
          </a:prstGeom>
          <a:solidFill>
            <a:srgbClr val="8B1A1A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947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会发生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任务设计是稳健的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520440"/>
            <a:ext cx="402336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794760"/>
            <a:ext cx="594360" cy="5943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不会发生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不是人的问题，是任务设计需要调整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未来那个累了的自己，不是懒惰——只是日常状态的正常人。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54480"/>
            <a:ext cx="9144000" cy="2377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好的行动计划，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应该为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"日常状态的人"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而设计。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而不是为"状态最好的那天"的自己设计。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402336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90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为"最好状态"设计 → 失败率高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4526280"/>
            <a:ext cx="4023360" cy="457200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590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为"日常状态"设计 → 真正可执行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练习：三条标准审视你的计划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练习目的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把三条可执行性标准，直接应用到你的行动计划里风险最高的几个任务上，识别出需要重新设计的具体任务。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3591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从你的行动计划里选出 5 个执行风险较高的任务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7249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对每个任务，按三条标准打分：高 / 中 / 低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0906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根据打分，判断优先需要重新设计的任务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三条标准评分表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综合风险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62272"/>
            <a:ext cx="8229600" cy="16459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626864"/>
            <a:ext cx="82296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791456"/>
            <a:ext cx="8229600" cy="164592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对"综合风险=高"的任务，还要进一步分析：失败原因 + 改进方向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第一部分：知识框架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计划的可执行性标准 · 完整知识结构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554480"/>
            <a:ext cx="3657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54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第一部分：可执行性标准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057400"/>
            <a:ext cx="91440" cy="1828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194560"/>
            <a:ext cx="713232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103120"/>
            <a:ext cx="9144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103120"/>
            <a:ext cx="9144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2103120"/>
            <a:ext cx="9144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2103120"/>
            <a:ext cx="91440" cy="228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" y="2377440"/>
            <a:ext cx="16916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" y="2377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核心区分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5740" y="283464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" y="283464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"应该做" ≠ "会做"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5740" y="310896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" y="310896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 = 日常状态的人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5740" y="338328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" y="338328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不依赖高意志力 + 可靠完成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46020" y="2377440"/>
            <a:ext cx="16916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6020" y="2377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91740" y="283464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1740" y="283464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行动清晰度：看完即动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91740" y="310896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1740" y="310896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启动摩擦力：从想到到动手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91740" y="338328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1740" y="338328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日常稳健性：普通日子还能发生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06340" y="2377440"/>
            <a:ext cx="16916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6340" y="2377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五种模式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52060" y="283464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2060" y="283464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意图型 / 依赖他人型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52060" y="310896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2060" y="310896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新增会议型 / 找时间型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52060" y="338328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2060" y="338328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高能量依赖型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292340" y="2377440"/>
            <a:ext cx="16916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2340" y="2377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检验方法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38060" y="283464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8060" y="283464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问问你未来那个累了的自己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38060" y="3108960"/>
            <a:ext cx="1600200" cy="24688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8060" y="310896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——它还会发生吗？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526280"/>
            <a:ext cx="109728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进入第二部分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19456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已经能识别哪些任务是高风险了，接下来：行为到底是在什么条件下发生的？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B=MAP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371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行为为什么会发生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06240" y="19659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为什么它会停止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0624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模型 · 行为发生的三个条件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06240" y="329184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 ≠ 想做 ≠ 会做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先破一个很流行的迷思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计划没执行，问题的根源到底是什么？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流行迷思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态度问题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「意识不够」「态度有问题」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再强调一次这件事有多重要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加强问责和监督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提升思想认识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视角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设计问题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「行为设计没到位」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诊断方向：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10896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M：动机有没有真正建立？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4747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A：这一刻做起来难不难？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84048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794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P：有什么在合适的时机触发？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迷思的盲点：它假设「人只要足够想做，就会做」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知道的陷阱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我们每天都在经历「知道却没做」的时刻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41732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理解它的重要性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3200400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锻炼对身体好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28016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417320"/>
            <a:ext cx="548640" cy="5486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想做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2044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有了意愿和动机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3200400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想今晚去跑步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468880" cy="23774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4173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会做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3093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在那个时刻做到了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69480" y="3200400"/>
            <a:ext cx="36576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穿上鞋走出门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94360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行为的发生有它自己的逻辑 ——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知道了为什么，知道了怎么做，还需要合适的环境与触发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 FOGG · 行为模型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=  M  ×  A  ×  P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023360" y="2286000"/>
            <a:ext cx="109728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06040"/>
            <a:ext cx="1965960" cy="1783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想让其发生的那件事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606040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651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256032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有没有想做的意愿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651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66344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657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此刻做起来有多容易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606040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6517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6766560" y="3383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3657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4023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在正确时机触发行为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  =  动机  ×  容易度  ×  提示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三个要素图解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M × A × P —— 行为发生的三个条件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743200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325880"/>
            <a:ext cx="640080" cy="548640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3136392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这个人有没有想做这件事的意愿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54864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764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对意义的认可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041648"/>
            <a:ext cx="54864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776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对结果的期待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242816"/>
            <a:ext cx="54864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788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情感上的在乎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1143000"/>
            <a:ext cx="2743200" cy="10972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1417320"/>
            <a:ext cx="54864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600200"/>
            <a:ext cx="365760" cy="13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783080"/>
            <a:ext cx="18288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290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4290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136392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在那个具体的时刻，做起来有多容易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94760" y="3840480"/>
            <a:ext cx="54864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7764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需要多少时间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94760" y="4041648"/>
            <a:ext cx="54864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39776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认知负荷大小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94760" y="4242816"/>
            <a:ext cx="54864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41788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物理访问阻力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143000"/>
            <a:ext cx="27432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1417320"/>
            <a:ext cx="457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9248" y="1856232"/>
            <a:ext cx="146304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4008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4008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89520" y="3136392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有没有东西在正确时机触发行为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3840480"/>
            <a:ext cx="54864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37764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系统自动提醒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4041648"/>
            <a:ext cx="54864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39776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环境情境触发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66560" y="4242816"/>
            <a:ext cx="54864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41788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人的记忆提示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三者同时具备 → 行为可靠发生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一个行为要可靠地发生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需要三个条件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146304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1945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71600" y="3063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210312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146304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1945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3474720" y="3063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577840" y="2103120"/>
            <a:ext cx="1463040" cy="1463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21945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5577840" y="3063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3749040"/>
            <a:ext cx="274320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同时具备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不是不够努力，不是态度问题 —— 是三个条件里有一个缺失了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这个模型真正颠覆性的地方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大多数行动计划只处理了一个要素 —— 动机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大多数计划的做法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65760" cy="27432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只告诉大家这件事为什么重要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争取到大家的认可和支持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和 P 没有被设计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行为仍然很难可靠发生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的真相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0000" dirty="0"/>
          </a:p>
        </p:txBody>
      </p:sp>
      <p:sp>
        <p:nvSpPr>
          <p:cNvPr id="18" name="Text 16"/>
          <p:cNvSpPr/>
          <p:nvPr/>
        </p:nvSpPr>
        <p:spPr>
          <a:xfrm>
            <a:off x="6035040" y="17373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0" dirty="0"/>
          </a:p>
        </p:txBody>
      </p:sp>
      <p:sp>
        <p:nvSpPr>
          <p:cNvPr id="19" name="Text 17"/>
          <p:cNvSpPr/>
          <p:nvPr/>
        </p:nvSpPr>
        <p:spPr>
          <a:xfrm>
            <a:off x="7223760" y="17373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36576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动机是必要条件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不是 充分条件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 A 和 P 一起配合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行为才能可靠发生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只解决 M 的计划，相当于给一辆没油的车反复强调目的地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206240" y="640080"/>
            <a:ext cx="457200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777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真实，但不可靠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062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动机确实影响行为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当一个人对一件事高度在乎，他确实会克服更多阻碍去完成它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468880"/>
            <a:ext cx="4572000" cy="18288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606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但动机有一个根本特征：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926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它是波动的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89120" y="342900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9 分，明天 7 分，后天可能 4 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这不是态度问题，是正常的人类状态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40233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下一页：用一张图看动机怎么波动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动机的波动性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正常人的动机水平，在一周之内就会这样变化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一周内典型的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动机曲线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47472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468880" y="22860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 · 中位 · 低谷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好消息时冲上 9 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忙碌时回落到 7 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沮丧时跌到 4 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单纯依赖 M，是不稳定的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188720"/>
            <a:ext cx="4572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graphicFrame>
        <p:nvGraphicFramePr>
          <p:cNvPr id="17" name="Chart 0" descr=""/>
          <p:cNvGraphicFramePr/>
          <p:nvPr/>
        </p:nvGraphicFramePr>
        <p:xfrm>
          <a:off x="4297680" y="1325880"/>
          <a:ext cx="4389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把执行完全建立在高动机上 = 把房子建在沙滩上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一个比喻：沙滩上的房子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把执行完全建立在高动机上，会发生什么？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37744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463040"/>
            <a:ext cx="457200" cy="45720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645920"/>
            <a:ext cx="137160" cy="45720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81991" y="1904551"/>
            <a:ext cx="110378" cy="110378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2011680"/>
            <a:ext cx="45720" cy="137160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4729" y="1904551"/>
            <a:ext cx="-18938" cy="110378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645920"/>
            <a:ext cx="-45720" cy="45720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4729" y="1387289"/>
            <a:ext cx="-18938" cy="-18938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280160"/>
            <a:ext cx="45720" cy="-45720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1991" y="1387289"/>
            <a:ext cx="110378" cy="-18938"/>
          </a:xfrm>
          <a:prstGeom prst="line">
            <a:avLst/>
          </a:prstGeom>
          <a:noFill/>
          <a:ln w="25400">
            <a:solidFill>
              <a:srgbClr val="B854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468880"/>
            <a:ext cx="1371600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2103120"/>
            <a:ext cx="1554480" cy="457200"/>
          </a:xfrm>
          <a:prstGeom prst="triangle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3108960"/>
            <a:ext cx="3657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2743200"/>
            <a:ext cx="27432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2743200"/>
            <a:ext cx="27432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9144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3611880"/>
            <a:ext cx="73152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3611880"/>
            <a:ext cx="4572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3291840"/>
            <a:ext cx="731520" cy="365760"/>
          </a:xfrm>
          <a:prstGeom prst="ellips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好天气时：稳固、美观、似乎完美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风雨来时：结构不稳，潮水一冲就垮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这个比喻的对应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1920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64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波动的动机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423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52160" y="2423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264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好天气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5216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2648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高动机时刻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风雨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52160" y="3429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264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忙碌、压力、低谷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4023360"/>
            <a:ext cx="27432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地基不稳，再漂亮的房子也站不住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 A 和 P 来打地基 —— 让计划在低动机时也能站住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关于动机的常见误解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以为把道理讲清楚了，动机就提升了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一个常见的隐含假设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讲清道理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03120" y="2331720"/>
            <a:ext cx="274320" cy="27432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持续高动机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274320" cy="27432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这种假设忽略了：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动机是情绪化的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今天的理解，不等于明天的行动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疲惫时，道理挡不住惰性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真实情况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理解重要性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92240" y="233172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持续高动机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3200400"/>
            <a:ext cx="27432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现实场景：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你完全知道锻炼对身体好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你完全理解它的重要性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但疲惫的周五晚上，仍然不想去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讲道理可以建立认知，但建立认知 ≠ 建立持续行动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的正确用法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用动机去点燃启动，而不是用动机去维持运转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的最佳用途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点燃启动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65760" cy="36576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帮你克服第一次的惰性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让一个新行为发生一次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在形成节奏之前推一把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适合用 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启动一个新的计划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推动一个从未做过的尝试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不应承担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维持运转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4846320" y="2331720"/>
            <a:ext cx="365760" cy="36576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每周、每天、每次的执行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当外部条件变差时坚持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在状态低谷时仍能发生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不应只用 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靠提醒「这件事很重要」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靠反复宣讲意义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长期重复的任务，需要 A 和 P 承担主要工作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容易度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206240" y="640080"/>
            <a:ext cx="457200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777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在那个具体的时刻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06240" y="1325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做这件事有多容易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4572000" cy="365760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注意：不是「会不会做」，是「这一刻有多容易」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560320"/>
            <a:ext cx="4572000" cy="17373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697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让任务变更容易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 提升动机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0" y="352044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611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更可靠、更持久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886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是最被低估的杠杆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容易度的关键语境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「那个时刻」是什么意思？状态会改变能力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能力不是静态的 —— 它随着当下的状态而变化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疲惫、压力、分心都会让「能力」降低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137160" cy="21031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高状态时刻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专注的周二上午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精力充沛，思路清晰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写出优秀的周报，毫不费力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377440"/>
            <a:ext cx="137160" cy="210312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低状态时刻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下午三点开完一上午会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疲惫、分心、决策疲劳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打开周报模板就已经是极限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低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同一个人、同一个任务 —— 不同的时刻，A 可能差 5 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状态影响图：精力-能力曲线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一个任务的「能力成本」随精力状态变化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在状态好的时候，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再难的任务也显得简单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在状态差的时候，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简单的事也变成障碍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383280" cy="1463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设计的启示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任务设计要假设低状态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把能力成本压到最低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状态好时拓展、高难度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状态差时仅维护、低成本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1188720"/>
            <a:ext cx="4754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graphicFrame>
        <p:nvGraphicFramePr>
          <p:cNvPr id="17" name="Chart 0" descr=""/>
          <p:cNvGraphicFramePr/>
          <p:nvPr/>
        </p:nvGraphicFramePr>
        <p:xfrm>
          <a:off x="4114800" y="128016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让事情变容易，比让人更努力更有效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一个经典的研究发现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运动研究：什么样的健身房让人们真的坚持下来？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更近的那家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容易去的健身房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距离家很近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设备普通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物理摩擦小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实际坚持率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更远的那家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更好的健身房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274320" cy="27432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距离家较远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设备齐全、教练专业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物理摩擦大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383280"/>
            <a:ext cx="365760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实际坚持率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距离的物理摩擦，比对健康的认知程度更能预测实际锻炼行为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的三个维度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「容易」可以从三个角度来衡量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743200" cy="640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645920" y="2423160"/>
            <a:ext cx="36576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做这件事需要多少时间？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时间越长，执行概率越低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启动动作越短，越容易发生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需要预留大块时间的事是高摩擦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143000"/>
            <a:ext cx="2743200" cy="640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34340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认知负荷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617720" y="2423160"/>
            <a:ext cx="36576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需要做多少思考才能开始？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决策越多，越容易拖延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11880" y="361188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需要准备内容、想清楚要谈什么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11880" y="402336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不确定的事情让人回避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1143000"/>
            <a:ext cx="2743200" cy="640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1520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物理阻力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7589520" y="2423160"/>
            <a:ext cx="36576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需要做多少设置、寻找、协调？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320040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需要切换工具、登录系统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361188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需要协调他人、找空间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4023360"/>
            <a:ext cx="73152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路途、等待、形式约束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三维度都低 = 真的容易；任一维度偏高 = 真实阻力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的改善方向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把「容易做」这个事实在设计阶段就建立起来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" cy="10972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173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把启动动作缩短到 2 分钟以内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Two-minute start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任务从「做完整件事」改为「迈出第一步」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201168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「写完周报」→「打开周报模板写下标题」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1965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启动摩擦下降 → 真的开始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31720"/>
            <a:ext cx="822960" cy="10972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3172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41732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预先做好所有需要在开始前做的准备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把所有决策和准备工作提前到任务开始之前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423160"/>
            <a:ext cx="201168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「想好谈什么」→ 提前准备议程模板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执行时不再需要思考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74720"/>
            <a:ext cx="822960" cy="10972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7472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41732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减少需要在执行前做的决定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decisions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把选择移到流程里，不留给当时的自己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3566160"/>
            <a:ext cx="201168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「找时间做」→ 固定每周三下午 2 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决定不在状态差时做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A 比提升 M 更可靠，因为容易度不会随情绪波动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206240" y="640080"/>
            <a:ext cx="457200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777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最被忽视的要素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06240" y="1325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也是最关键的一个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4572000" cy="365760"/>
          </a:xfrm>
          <a:prstGeom prst="rect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反直觉：最容易设计错、最不被讨论、却最关键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560320"/>
            <a:ext cx="4572000" cy="17373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697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Fogg 的观点：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P 实际是最关键的一个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347472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566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在行动计划里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840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几乎所有任务的 P = 人的记忆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P 最关键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一个直接的因果关系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缺乏提示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不发生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 M 很高，A 也不难 —— 没有触发，行为就是不发生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想一想你有多少次：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96596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完全有能力做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3108960"/>
            <a:ext cx="196596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154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383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也完全愿意做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196596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154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383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但没有被提醒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3108960"/>
            <a:ext cx="196596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154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383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或者提醒来得不是时候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结果：M 和 A 都没产生稳定的行为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下一节看 P 的三种类型 —— 可靠性差别巨大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提示的三种类型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可靠性从高到低排列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10515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417320"/>
            <a:ext cx="2743200" cy="640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1828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最可靠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日历提醒、自动化通知、固定系统触发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880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063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Calendar 提前 15 分钟弹窗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 9:00 自动生成的周报模板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88620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不依赖人的记忆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087368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0873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不依赖人的主动性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288536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42885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可重复、零成本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1417320"/>
            <a:ext cx="2743200" cy="6400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环境提示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29000" y="1828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118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特定情境出现时，事情自然被想起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11880" y="2834640"/>
            <a:ext cx="23774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2880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03320" y="3063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每周例会最后 5 分钟 = 更新进度时间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打开电脑看到便签 = 提醒要做什么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0" y="388620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9476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情境本身就是触发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0" y="4087368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94760" y="40873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不需要记忆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0" y="4288536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94760" y="42885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但需要稳定的情境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1417320"/>
            <a:ext cx="2743200" cy="64008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人的记忆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00800" y="18288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最不可靠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836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「我记得要做这件事」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583680" y="2834640"/>
            <a:ext cx="237744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28803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75120" y="3063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「记得要做周报」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「记得和团队成员一对一」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629400" y="388620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6656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依赖记忆容量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29400" y="4087368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766560" y="40873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受信息过载干扰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29400" y="4288536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66560" y="42885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易被新事务冲掉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大多数行动计划的 P = 人的记忆 = 最不可靠的触发器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一个说明 P 重要性的真实场景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张明 —— 一个负责任的项目经理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 · 非常认真负责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301752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71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行动计划里的任务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每周五下午发状态更新邮件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37160" cy="12801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344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2423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完全认可这件事的价值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3317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2331720"/>
            <a:ext cx="137160" cy="12801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2062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2423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1188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完全有能力写这封邮件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3317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331720"/>
            <a:ext cx="137160" cy="128016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1780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0" y="2423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58368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没有任何东西在周五下午提醒他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前两个月只发出去了 30%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的缺失，让高 M 和高 A 都没有产生稳定的行为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几乎所有任务的 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人的记忆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0" y="2194560"/>
            <a:ext cx="182880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而人的记忆，是最不可靠的触发器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017520"/>
            <a:ext cx="27432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日常工作要处理几十件事，记忆很快被冲掉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30175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3017520"/>
            <a:ext cx="27432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状态波动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379476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疲惫、忙碌、焦虑时，记忆首先失灵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0175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017520"/>
            <a:ext cx="27432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情境错位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3794760"/>
            <a:ext cx="274320" cy="2743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想起要做这件事时，往往不是能做的时刻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行动计划的设计者，必须把 P 从「记忆」变成「系统 + 环境」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的综合应用：诊断一个不执行的任务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当一个任务在现实中没有被执行时，按顺序问三个问题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一个不执行的任务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73736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92024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03120"/>
            <a:ext cx="1280160" cy="6400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他理解为什么吗？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2103120"/>
            <a:ext cx="1280160" cy="6400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做起来容易吗？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92024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103120"/>
            <a:ext cx="1280160" cy="6400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有什么触发？可靠吗？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737360" y="320040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8328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先建立意义感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20040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38328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用设计工具降阻力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0" y="320040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38328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429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弱/无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6480" y="3886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重新设计触发器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下一页：三个问题具体问什么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诊断三问详解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/ A / P 各自要追问什么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743200" cy="7772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问什么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他理解为什么要做这件事吗？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这件事对他自己有什么意义？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他有顾虑或抵触吗？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237744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M 低 —— 先建立意义感，连接到对方真实在乎的东西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2377440" cy="228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43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讲道理 ≠ 提升 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143000"/>
            <a:ext cx="2743200" cy="7772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234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434840" y="1325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484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问什么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8620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从开始到完成有多少阻力？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2514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需要多少时间、思考、协调？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8620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状态差的时候能完成吗？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11880" y="3566160"/>
            <a:ext cx="237744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657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A 低 —— 用设计工具降低阻力（拆步骤、预设、减决策）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11880" y="4343400"/>
            <a:ext cx="2377440" cy="228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4343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让事情变更容易 &gt;&gt; 让人更努力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143000"/>
            <a:ext cx="274320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1234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406640" y="1325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0664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问什么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有什么在合适的时机触发？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0" y="2514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这个触发器可靠吗？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0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依赖谁的记忆？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0" y="3566160"/>
            <a:ext cx="237744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657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P 弱/无 —— 重新设计触发器（系统提醒 / 环境嵌入）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83680" y="4343400"/>
            <a:ext cx="2377440" cy="228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4343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记忆 是最大的隐患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下一页：为什么这是「乘法」而不是「加法」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LOGIC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M × A × P 是乘法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不是加法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M=8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B=512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完整三要素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5420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M=8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5420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25420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25420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25420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5420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B=64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25420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任一接近零，整体骤降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723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M=8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30723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94560" y="30723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30723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30723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0723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30723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B=64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0" y="30723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任一接近零，整体骤降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6027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M=1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828800" y="36027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194560" y="36027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91840" y="36027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57600" y="36027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54880" y="36027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20640" y="36027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B=64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83680" y="36027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任一接近零，整体骤降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先问「哪一个最低」，再集中处理那一个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均匀提升所有要素，不如集中处理最薄弱的那一项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苏敏案例 · 1/3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回到苏敏的「每周一对一辅导」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诊断三要素之一：M 动机分析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926080" cy="32004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7/10（大致够）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137160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分析依据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1920240"/>
            <a:ext cx="4754880" cy="11887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做得好的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苏敏和团队成员大多认可一对一辅导的价值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大致有内在动力去执行这件事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没有明显的抵触或顾虑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但要注意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忙碌时 M 会波动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3794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偶尔觉得「最近事太多，能缓一缓就好了」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M 不是主要问题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下一页：A（容易度）分析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苏敏案例 · 2/3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容易度分析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每周一对一的启动，需要做多少事？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926080" cy="32004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容易度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3611880"/>
            <a:ext cx="182880" cy="18288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4/10（中等偏低）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137160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1371600"/>
            <a:ext cx="137160" cy="91440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时间摩擦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048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需要协调两人日历对齐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1645920"/>
            <a:ext cx="1371600" cy="36576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66160" y="2450592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2450592"/>
            <a:ext cx="137160" cy="91440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542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认知摩擦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40480" y="2862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需要提前想好谈什么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2724912"/>
            <a:ext cx="1371600" cy="36576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7249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66160" y="3529584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6160" y="3529584"/>
            <a:ext cx="137160" cy="9144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36210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物理摩擦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840480" y="39410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4169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需要找到合适的空间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3803904"/>
            <a:ext cx="137160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3803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三项加在一起 —— 启动的认知和物理摩擦都比较高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苏敏案例 · 3/3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提示分析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有什么在合适的时机触发一对一？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926080" cy="320040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11880"/>
            <a:ext cx="182880" cy="182880"/>
          </a:xfrm>
          <a:prstGeom prst="ellipse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3611880"/>
            <a:ext cx="182880" cy="182880"/>
          </a:xfrm>
          <a:prstGeom prst="ellipse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1/10（基本缺失）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137160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计划的描述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1920240"/>
            <a:ext cx="475488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「每周一次」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没有具体哪一天、没有固定在日历上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没有的东西：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017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没有具体的日期和时段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33101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没有日历自动提醒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36027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没有环境触发机制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38953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完全依赖苏敏自己记得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 分 —— 这是 B=MAP 里最薄弱的一项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苏敏诊断的综合结论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三要素综合评估 —— 找出最薄弱的那一项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743200" cy="4572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大致够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2834640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团队认可一对一价值，苏敏也有内在动力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次要问题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14300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143000"/>
            <a:ext cx="2743200" cy="4572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434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中等偏低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834640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时间协调、提前准备、找空间 —— 摩擦偏高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次要问题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1143000"/>
            <a:ext cx="2743200" cy="2468880"/>
          </a:xfrm>
          <a:prstGeom prst="rect">
            <a:avLst/>
          </a:prstGeom>
          <a:solidFill>
            <a:srgbClr val="F5F0E8"/>
          </a:solidFill>
          <a:ln w="25400">
            <a:solidFill>
              <a:srgbClr val="6B0F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143000"/>
            <a:ext cx="2743200" cy="45720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基本缺失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2834640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完全依赖记忆，没有任何触发机制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主要问题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的缺失是最主要的问题，其次是 A 的摩擦偏高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仅靠「提醒大家这件事很重要」（提升 M）不能解决根本问题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·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第三部分：四个行为设计工具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每个工具对应 B=MAP 里的一项或多项弱点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201168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Start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80160" y="3355848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把第一步写到极小，让开始不再困难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64592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启动摩擦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33472" y="17830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1783080"/>
            <a:ext cx="201168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2633472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锚定行为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33472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56432" y="3355848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借力已有行为作触发器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16352" y="4023360"/>
            <a:ext cx="164592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· 触发器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9744" y="17830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9744" y="1783080"/>
            <a:ext cx="201168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809744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09744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Reduction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32704" y="3355848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把阻力从执行路径上移除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92624" y="4023360"/>
            <a:ext cx="164592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全流程摩擦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86016" y="178308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86016" y="1783080"/>
            <a:ext cx="2011680" cy="777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6986016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86016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If-Then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08976" y="3355848"/>
            <a:ext cx="36576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68896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预先决定 if-then 减少决策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68896" y="4023360"/>
            <a:ext cx="164592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68896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· 触发器 + 决策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B=MAP 诊断完你的任务后，挑对应的工具去重新设计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练习：B=MAP 诊断工作表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对第一部分识别出的高风险任务，用 B=MAP 逐一诊断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操作：选出 3 个执行风险最高的任务，填入下表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任务名称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M（动机）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0332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A（容易度）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P（提示）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86600" y="22860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最薄弱项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高：认可意义 / 低：有顾虑或抵触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高：启动容易 / 低：需要大量准备协调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有：固定触发机制 / 无：依赖自我记忆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进阶：把诊断结果和同学交换，请对方扮演「挑战者」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这个诊断结果，将直接指导你在第三部分选择对应的设计工具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知识框架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B=MAP 行为模型的知识结构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097280"/>
            <a:ext cx="365760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097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M × A × P 行为模型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0" cy="2743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874520"/>
            <a:ext cx="640080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7452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1874520"/>
            <a:ext cx="0" cy="18288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57400"/>
            <a:ext cx="2286000" cy="5029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· 动机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560320"/>
            <a:ext cx="0" cy="13716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真实但波动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" y="2990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点燃启动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3282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不用于维持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71800" y="2057400"/>
            <a:ext cx="2286000" cy="5029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容易度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0" y="2560320"/>
            <a:ext cx="0" cy="13716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那个时刻的容易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2990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三维度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1800" y="3282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比动机可靠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2057400"/>
            <a:ext cx="2286000" cy="50292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· 提示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2560320"/>
            <a:ext cx="0" cy="13716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最被忽视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2990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三种类型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3282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默认=记忆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657600"/>
            <a:ext cx="0" cy="2743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综合应用 · 诊断步骤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诊断三问 → 找最薄弱项 → 集中处理（乘法逻辑：最低项决定整体水平）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进入第三部分：用四个工具针对弱点重新设计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Design Toolkit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371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四个行为设计工具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206240" y="19659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把诊断变成行动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0624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B=MAP 弱点的四种解决方案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06240" y="329184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诊断完之后，靠什么把任务变得"会做"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工具全景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四个工具 · 四个改善方向 · 对应 B=MAP 的不同弱点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92024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把开始设计得小到不可拒绝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069080"/>
            <a:ext cx="36576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28016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280160"/>
            <a:ext cx="1920240" cy="5486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325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锚定行为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25146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借力已有触发器为新任务创造提示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4069080"/>
            <a:ext cx="365760" cy="73152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28016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280160"/>
            <a:ext cx="1920240" cy="548640"/>
          </a:xfrm>
          <a:prstGeom prst="rect">
            <a:avLst/>
          </a:prstGeom>
          <a:solidFill>
            <a:srgbClr val="C84141"/>
          </a:solidFill>
          <a:ln w="12700">
            <a:solidFill>
              <a:srgbClr val="C841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25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2648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9204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25146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系统性地消除执行路径上的阻力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365760" cy="73152"/>
          </a:xfrm>
          <a:prstGeom prst="rect">
            <a:avLst/>
          </a:prstGeom>
          <a:solidFill>
            <a:srgbClr val="C84141"/>
          </a:solidFill>
          <a:ln w="12700">
            <a:solidFill>
              <a:srgbClr val="C841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28016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1280160"/>
            <a:ext cx="1920240" cy="548640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325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27532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4088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0880" y="25146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预先决定 if-then 消除决策负荷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40880" y="4069080"/>
            <a:ext cx="365760" cy="73152"/>
          </a:xfrm>
          <a:prstGeom prst="rect">
            <a:avLst/>
          </a:prstGeom>
          <a:solidFill>
            <a:srgbClr val="6B0F0F"/>
          </a:solidFill>
          <a:ln w="12700">
            <a:solidFill>
              <a:srgbClr val="6B0F0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可以单独使用，也可以组合使用 · 多数顺人性的任务设计，会同时用到 2-3 个工具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 B=MAP 的对应关系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诊断出弱点之后，对应选择工具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188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核心做法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459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3360" y="1783080"/>
            <a:ext cx="365760" cy="32004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783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针对启动阻力高的任务，把开始设计得小到不可拒绝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2402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240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锚定行为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23360" y="2377440"/>
            <a:ext cx="365760" cy="32004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377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2402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借用已有可靠触发器为新任务创造提示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34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2834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23360" y="2971800"/>
            <a:ext cx="365760" cy="32004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2971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28346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系统性消除执行路径上的物理/认知/协调阻力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3429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023360" y="3566160"/>
            <a:ext cx="365760" cy="32004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3566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429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预先决定 if-then，让大脑在那个时刻无需额外决定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弱（启动难/摩擦大）→ 工具一 + 工具三 · P 弱（缺触发器）→ 工具二 或 工具四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启动动作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Startable 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Ability（容易度）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280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把"开始做这件事"的第一个动作，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设计得小到不可拒绝。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针对启动阻力高的任务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一旦开始，惯性会带人继续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状态不好的时候也能做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4114800"/>
            <a:ext cx="429768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251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"开始"是阻力最大的一步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为什么这件事有效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开始是行动中阻力最大的一步。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一旦开始，惯性往往会把你带着继续完成。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大脑的判断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评估的不是整件事有多麻烦，而是开始那一步有多麻烦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2860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46888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开始是最大阻力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开始的那一步是轻松的，大脑就不太容易拒绝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2860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46888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惯性效应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一旦你做了第一步，很多时候会自然地继续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计划逻辑的翻转：把"开始"从"完成"里分离出来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大脑在评估什么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你的大脑在决定"要不要做这件事"时，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评估的不是整件事有多麻烦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"开始的那一步有多麻烦"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6576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如果开始的那一步是轻松的，大脑不太容易拒绝。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一旦你做了第一步，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很多时候会自然地继续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1280160"/>
            <a:ext cx="3657600" cy="1097280"/>
          </a:xfrm>
          <a:prstGeom prst="ellipse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大脑评估系统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0F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"现在要做的那一步难不难？"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468880"/>
            <a:ext cx="365760" cy="457200"/>
          </a:xfrm>
          <a:prstGeom prst="downArrow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301752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开始那一步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3017520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开始那一步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拖延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一个实验性的发现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"在你去健身房之前，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只需要穿上运动鞋走出门"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这个设计比"计划去健身房锻炼 30 分钟"更能预测实际锻炼行为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393192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常规计划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去健身房锻炼 30 分钟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大脑评估：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需要换衣服 / 出门 / 开车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阻力大 · 容易放弃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3931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穿上运动鞋走出门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大脑评估：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穿鞋出门 · 几乎不抗拒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走出去了 · 顺势继续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"穿鞋走出门"几乎不产生抗拒 · 而一旦你走出去了，大部分时候你会继续走到健身房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新的计划逻辑：把"开始"从"完成"里分离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不是把任务变小，而是把"开始"设计得极小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通常的计划逻辑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 = 完成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把"动作"定义为"完成它"。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73152" cy="73152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完成团队技能评估报告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429000"/>
            <a:ext cx="73152" cy="73152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更新风险跟踪清单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749040"/>
            <a:ext cx="73152" cy="73152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03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完成月度项目经验总结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看到任务 = 看到全部工作量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最小启动动作逻辑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 = 极小的开始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把"开始"从"完成"里分离。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3108960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打开评估模板，填日期和名单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3429000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打开清单，在"上次更新"栏填日期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83480" y="3749040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新建一个文档，写下本月印象最深的事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启动本身几乎没有阻力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意图：做完这一步之后，继续下去的概率大幅上升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怎么定义最小启动动作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需要满足两个条件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具体的物理或认知动作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不是描述"朝向目标前进"，而是一个明确的、可执行的动作。打开文件、发出邀请、填一个字段。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"打开评估模板，填日期"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"开始整理思路"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27432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启动即开始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71600"/>
            <a:ext cx="4023360" cy="5486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85216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状态不好时也能做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057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小到即使在疲惫、忙碌、低能量的状态下，也几乎不会拒绝去做。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"填一个日期"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"完整梳理 10 项内容"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794760"/>
            <a:ext cx="27432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没有借口不做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两个条件缺一不可 · 既要具体，也要小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怎么测试：内心念出法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一个简单但有效的检验标准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"如果你在心里念出这个动作……"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393192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内心第一反应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"好吧这倒是容易，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我可以做"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27432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它就是够小的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377440"/>
            <a:ext cx="40233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内心第一反应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"嗯……等有空再说"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"听起来挺麻烦的"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3840480"/>
            <a:ext cx="274320" cy="36576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它还需要再缩小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第一反应是最真实的信号 · 任何犹豫都需要缩小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原始任务 vs 最小启动动作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把"开始那一步"具象化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原始任务描述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可能的最小启动动作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每月完成团队技能评估报告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打开评估模板文件，填写日期和参与人名单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每双周与关键干系人对齐进展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发出会议邀请，填好标题和时间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定期更新风险跟踪清单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打开风险清单，在"上次更新"栏填入今天日期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828800"/>
            <a:ext cx="36576" cy="16459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03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最小启动动作不是整件事，它只是那个几乎没有阻力的第一步。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一旦你做了这一步，继续下去的概率会大幅上升。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续表见下页 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原始任务 vs 最小启动动作（续）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更多例子 · 找规律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原始任务描述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可能的最小启动动作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每周做一对一辅导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在日历上给本周一对一时间块标上"已确认"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每月写项目经验总结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新建一个文档，写下本月你印象最深的一件事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每天做客户跟进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1089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打开客户列表，把今天能联系的人标红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1828800"/>
            <a:ext cx="36576" cy="19202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37083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97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打开某个文件 · 填入一个字段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437083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4297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发出一个邀请 · 标上一个时间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37083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297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新建一个文档 · 写下第一个字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共同点：都是"只要打开 / 填一个 / 标一个"，不超过 30 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怎么应用到行动计划里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直接把最小启动动作写进任务描述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在每条任务描述中，识别"开始"这一刻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把开始那一步缩小到 30 秒内能完成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把这个最小启动动作直接写进任务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2011680"/>
            <a:ext cx="274320" cy="18288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011680"/>
            <a:ext cx="274320" cy="18288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写法对比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3429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"每月完成团队技能评估报告"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3749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"每月技能评估报告 → 打开评估模板，填入日期和名单"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两个好处：降低启动阻力 · 减少认知摩擦（不需要现场想"怎么开始"）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写进任务描述 · 写进日历备注 · 让"开始"变得明确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· 最小启动动作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一个常见误区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不是分拆任务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 ≠ 把任务分拆成更小的任务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为整件任务设计一个极小的入口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整件任务的目标和完整性不变，只是加了一个几乎零阻力的开始方式。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34640"/>
            <a:ext cx="402336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任务分拆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把任务切成几块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月报 → 写月报 + 月报审批 + 月报分发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任务变多了，不是阻力更小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极小的入口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给任务加一个开始动作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月报 → 第一步：打开模板，填日期和本周标题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任务不变，启动阻力接近 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任务是整件事，启动动作只是入口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Anchoring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Prompt（提示）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280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把一个新任务，"接"在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一个已经稳定发生的行为后面。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借力已有触发器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不为新任务从零创建触发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让"什么时候做"变得明确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4114800"/>
            <a:ext cx="429768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251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 X 之后，做 Y"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核心原则：借力已有触发器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不为新任务从零建立触发，而是接在已有行为后面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新任务没有触发器。你不能为一件从未发生过的事情建立自动触发——至少在短期内不行。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743200"/>
            <a:ext cx="457200" cy="45720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已有行为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找一个已经稳定发生、有可靠触发器的行为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743200"/>
            <a:ext cx="457200" cy="45720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接在后面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把新任务"接"在这个已有行为之后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060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274320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形成自动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新任务被已有行为的触发器自动激活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3291840"/>
            <a:ext cx="274320" cy="182880"/>
          </a:xfrm>
          <a:prstGeom prst="rightArrow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291840"/>
            <a:ext cx="274320" cy="182880"/>
          </a:xfrm>
          <a:prstGeom prst="rightArrow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逻辑：从"创造触发器"变为"借用触发器"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"每次开周会后" → "更新进展看板"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为什么这件事有效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行为之所以会稳定发生，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很大程度上是因为它有一个可靠的触发器。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393192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已有行为 / 习惯 / 固定流程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有内建的触发器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在特定情境下自动激活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7033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不需要每次靠记忆启动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不需要再为它建触发器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86000"/>
            <a:ext cx="4023360" cy="41148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88036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没有触发器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329184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靠记忆或意志力启动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370332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新任务经常被遗忘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需要借助已有触发器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借用一个已经存在的触发器，是新任务最可靠的"启动开关"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锚定公式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一个标准格式 · 让触发器变得明确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"在我完成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1600200"/>
            <a:ext cx="2286000" cy="4114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[已有固定行为]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我会做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2148840"/>
            <a:ext cx="22860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[新任务]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1600200"/>
            <a:ext cx="36576" cy="9144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已有行为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稳定的触发器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被借力的执行项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"在我完成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474720"/>
            <a:ext cx="1097280" cy="274320"/>
          </a:xfrm>
          <a:prstGeom prst="rect">
            <a:avLst/>
          </a:prstGeom>
          <a:solidFill>
            <a:srgbClr val="B85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周一站会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之后，我会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3474720"/>
            <a:ext cx="2286000" cy="274320"/>
          </a:xfrm>
          <a:prstGeom prst="rect">
            <a:avLst/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 5 分钟更新进展看板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时间点变得明确：周一站会结束后的 5 分钟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关键：把"定期"变成"在 X 之后"，时间点立刻明确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选择锚点行为的三个标准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时间地点匹配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09728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9728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不与新任务冲突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91640"/>
            <a:ext cx="13716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1 · 时间地点匹配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锚点发生的时间和地点，需要和新任务合适。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"在那个时刻、那个地点，我做新任务是可行的"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0896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匹配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"每次喝咖啡" → 锚定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任何时候都能做的事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（如：写下 3 件感恩的事）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108960"/>
            <a:ext cx="402336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不匹配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"每次喝咖啡" → 不能锚定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需要电脑和数据的任务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（咖啡店不一定方便操作）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问自己：在那个时刻、那个地点，我能做新任务吗？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选择锚点行为的三个标准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时间地点匹配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0972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9728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不与新任务冲突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91640"/>
            <a:ext cx="13716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2 · 高可靠性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锚点需要几乎每次都会发生，不能是"有时候会做"的行为。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可靠性低的锚点 = 不可靠的触发器 = 新任务仍然不会发生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0896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高可靠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周例会 · 每天早晨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 100% 都会发生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好的锚点候选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108960"/>
            <a:ext cx="402336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低可靠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和某人临时聊天 · 有空时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有时候会做 · 有时候不会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不好的锚点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问自己：这个锚点，10 次里有几次会发生？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选择锚点行为的三个标准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时间地点匹配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09728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972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不与新任务冲突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91640"/>
            <a:ext cx="137160" cy="128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3 · 不与新任务冲突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锚点结束之后，你的认知状态能够承接新任务。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刚结束高压任务 → 不适合再接深度思考任务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0896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合理搭配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周会结束 → 5 分钟进展更新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周会本身是常规节奏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分钟更新是轻量任务 → 匹配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108960"/>
            <a:ext cx="402336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状态冲突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高压谈判结束 → 深度思考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高压后认知资源耗尽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深度思考需要认知余量 → 不匹配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问自己：那个时刻我的状态，适合做新任务吗？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原始任务 vs 锚定后的任务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找到合适的已有行为，把新任务接在后面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原始任务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锚定的行为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每周更新进展看板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周一全体站会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每次站会结束后 5 分钟，当面完成更新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关注关键数据指标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每天早晨打开电脑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2377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每天打开电脑后，先看三个关键指标再做其他事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感知关键干系人情绪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正式会议结束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926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会议结束离开前问：还有什么是你担心但没说的？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每周对下属发展性反馈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每周一对一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474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 5 分钟主动问一个预先准备好的发展性问题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"锚定后"列里，时间点变得非常明确：不是"定期"，而是"在 X 事件后，立刻做 Y"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锚定的明确性 · 时间点变得明确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这种明确性是锚定行为有效的关键部分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模糊的时间点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"定期"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"有空时"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"想起来就做"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触发器不可靠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011680"/>
            <a:ext cx="274320" cy="36576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明确的时间点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 X 之后"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"周会结束后 5 分钟"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"离开会议室之前"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触发器稳定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为什么"明确"这么重要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明确的时间点 = 任务能在那个时刻被激活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模糊的时间点 = 任务在脑里漂浮，没有被任何事件激活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"定期"只是频次，不是触发器；"在 X 之后"才是触发器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锚定的本质：把"何时做"从一个频次变成一个事件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· 锚定行为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常见误用：事件锚定 vs 时间锚定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 X 之后" ≠ "在某个时间点"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不是锚定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"等周会结束有空了"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"有空"不是固定发生的事件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"忙起来就没空了"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触发器不可靠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371600"/>
            <a:ext cx="2743200" cy="4572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时间锚定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"每天下午 2 点"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时间固定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但容易被其他会议拖延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触发器相对可靠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✓✓ 事件锚定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"周会结束后的 5 分钟内"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事件不会被推迟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周会结束 = 一定发生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触发器最可靠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事件锚定往往比时间锚定更可靠 · 事件不会被推迟，而"下午 2 点"会因为其他会议被拖延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03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Friction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Ability（容易度）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280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系统地识别并移除执行路径上的阻力，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让做这件事变得更容易。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物理/访问摩擦 · 工具信息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认知/决策摩擦 · 思考负担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协调/社交摩擦 · 等待他人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4114800"/>
            <a:ext cx="429768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251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"铺平道路"，而不是"强壮腿"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核心原则：铺平道路 vs 强壮腿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当道路足够平坦，普通的腿就够用了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强壮腿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83080"/>
            <a:ext cx="365760" cy="274320"/>
          </a:xfrm>
          <a:prstGeom prst="rtTriangl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783080"/>
            <a:ext cx="365760" cy="274320"/>
          </a:xfrm>
          <a:prstGeom prst="rtTriangl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783080"/>
            <a:ext cx="365760" cy="274320"/>
          </a:xfrm>
          <a:prstGeom prst="rtTriangl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783080"/>
            <a:ext cx="365760" cy="274320"/>
          </a:xfrm>
          <a:prstGeom prst="rtTriangl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大多数人想到的解决方式：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"怎么让人更努力 / 更有意识？"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这种方向的盲点：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人的意志力是有限的资源 · 消耗到一定程度，路线本身就难走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高负荷、低可持续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铺平道路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降低摩擦的方向：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"怎么让这件事本身更容易发生？"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这种方向的力量：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道路平坦 → 普通状态下也能走通 → 不依赖意志力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低负荷、高可持续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逻辑翻转：从"提升执行者"到"改造执行路径"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为什么这件事有效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人们往往走阻力最小的那条路。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不是因为懒惰，而是大脑本能计算"做这件事的代价"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代价不只是能力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还包括时间、注意力、认知负荷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2860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46888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大脑追求效率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本能地选择阻力更小的选项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2860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46888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降低摩擦是顺人性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让正确的路成为最容易的路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这是行为设计领域里一个强有力的发现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943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物理摩擦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认知摩擦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协调摩擦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/ 访问摩擦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做这件事需要的工具、信息或物理条件，是否容易获取？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7889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需要先找到一个特定的文件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7889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需要打开一个不常用的系统并记住密码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需要提前预订会议室或设备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需要先联系某人获取权限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3246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把工具和信息预先放到触手可及的地方 · 建立默认模板 · 减少提前安排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任务执行前需要"找东西"的每一步，都是物理摩擦点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物理摩擦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5943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认知摩擦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协调摩擦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 / 决策摩擦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执行前需要做多少决定？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7889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每次执行前都要想"这次谈什么"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7889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每次都要想"用什么格式"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每次都要想"针对谁"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每次都要想"多长时间"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3246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在计划设计阶段就把这些决定预先做好 · 固定格式、时长、频率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未解决的问题 = 执行时的认知阻力 · 直接导致拖延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物理摩擦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认知摩擦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50292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5943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协调摩擦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 / 社交摩擦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需要先协调多少人才能开始？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7889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启动依赖对方有空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7889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依赖对方的响应速度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依赖双方日历对齐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对方没响应就卡住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3246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把依赖他人的环节提前或独立化 · 提前安排固定时间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"等待对方"的环节越多，任务被卡住的概率越大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943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策略一 · 默认化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把执行方式预先定义好，减少执行时需要做的决定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1371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默认化 = 把"每次都要决定的"变成"已经定好的"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格式固定 · 时长固定 · 频率固定 · 参与方固定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91840"/>
            <a:ext cx="192024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657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每次会议用同一份模板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32918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3291840"/>
            <a:ext cx="192024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3657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分钟，到点结束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2918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291840"/>
            <a:ext cx="192024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657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每周二下午 4 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32918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3291840"/>
            <a:ext cx="1920240" cy="3200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291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3657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固定的 5 个人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"默认化"的具体体现：固定不变的部分越多，执行时越省力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5943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策略二 · 预设化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在执行前，把启动所需的准备工作预先完成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1371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预设化 = 把"执行前需要的准备"提前做完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执行的那个时刻，不需要做任何准备工作，直接进入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每周五提前把下周一一对一的议题框架发给对方 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周一开会时不需要现场想"谈什么"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直接开始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无现场准备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预设的本质：把执行时刻的"决定"挪到上一个时间窗口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5029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594360"/>
            <a:ext cx="320040" cy="3200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502920"/>
            <a:ext cx="26517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59436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594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策略三 · 简化化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评估每一步执行的复杂度，主动问：能更简单吗？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94560"/>
            <a:ext cx="1371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简化化 = 主动挑战"有必要这么复杂吗？"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很多"无法执行"的任务，是因为被设计得比必要的更复杂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383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这一步有必要这么复杂吗？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32918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4290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31920" y="3383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能不能更简单？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32918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429000"/>
            <a:ext cx="365760" cy="3657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66560" y="3383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能不能减少步骤？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简化不是"偷工减料"，而是"去掉不必要的部分"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案例：苏敏的"每月团队复盘"为什么难以执行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摩擦清单 + 改进方向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摩擦清单（为什么做不下去）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1097280" cy="274320"/>
          </a:xfrm>
          <a:prstGeom prst="rect">
            <a:avLst/>
          </a:prstGeom>
          <a:solidFill>
            <a:srgbClr val="C84141"/>
          </a:solidFill>
          <a:ln w="12700">
            <a:solidFill>
              <a:srgbClr val="C841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协调摩擦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需要协调 6 个人的日历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1097280" cy="274320"/>
          </a:xfrm>
          <a:prstGeom prst="rect">
            <a:avLst/>
          </a:prstGeom>
          <a:solidFill>
            <a:srgbClr val="C84141"/>
          </a:solidFill>
          <a:ln w="12700">
            <a:solidFill>
              <a:srgbClr val="C841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认知摩擦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没有固定格式，每次重新设计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41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1097280" cy="27432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物理摩擦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需要提前收集议题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改进方向（怎么铺平道路）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87452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1828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把复盘日期预先固定在每月第二个周五 → 消除协调摩擦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65176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6060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制作一份固定的复盘模板 → 消除认知摩擦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429000"/>
            <a:ext cx="365760" cy="365760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383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每人提前填 1-2 个复盘话题 → 降低启动时认知负荷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一次完整的摩擦分析：识别 → 归类 → 改进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· 降低摩擦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识别摩擦的方法：走一遍执行路径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对于一个高风险任务，做一次"执行路径走查"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执行路径示例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1887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决定要做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7088" y="2075688"/>
            <a:ext cx="146304" cy="13716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920240"/>
            <a:ext cx="11887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找文件/工具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2075688"/>
            <a:ext cx="146304" cy="13716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920240"/>
            <a:ext cx="11887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思考怎么做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90288" y="2075688"/>
            <a:ext cx="146304" cy="13716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20240"/>
            <a:ext cx="11887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找人/协调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61888" y="2075688"/>
            <a:ext cx="146304" cy="13716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920240"/>
            <a:ext cx="11887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开始执行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33488" y="2075688"/>
            <a:ext cx="146304" cy="13716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920240"/>
            <a:ext cx="118872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每一格问自己：这一步有没有可能卡住？卡住后会怎样？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两个关键问题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291840"/>
            <a:ext cx="4572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这一步有没有可能卡住？（缺信息？缺工具？缺别人响应？）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794760"/>
            <a:ext cx="4572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887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如果卡住，接下来会发生什么？是继续推进，还是放弃？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所有可能导致卡住的步骤 = 摩擦点 = 可以设计改进的地方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04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Intention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Prompt（提示）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280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预先决定"什么时候、在哪里、如何"做一件事，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让大脑无需做额外决定，直接行动。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格式："当[情境]，我将[行为]"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Gollwitzer 验证：完成率 2-3 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474720"/>
            <a:ext cx="137160" cy="137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消除决策负荷 + 条件性提示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4114800"/>
            <a:ext cx="429768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251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"If-then planning" · 行为促进工具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核心原则：预先决定 if-then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把"何时做"从现场决定，挪到计划设计阶段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71600" y="1600200"/>
            <a:ext cx="2743200" cy="4114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[具体情境/时间]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，我将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349240" y="1600200"/>
            <a:ext cx="310896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600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[具体行为]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触发情境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高频率 / 可识别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具体行为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377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/ 可执行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474720"/>
            <a:ext cx="2286000" cy="274320"/>
          </a:xfrm>
          <a:prstGeom prst="rect">
            <a:avLst/>
          </a:prstGeom>
          <a:solidFill>
            <a:srgbClr val="B854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周三进展会议结束后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，我会在 10 分钟内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solidFill>
            <a:srgbClr val="8B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更新行动项到项目跟踪表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情境明确 · 行为具体 · 时间边界清晰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关键：把决策从执行时刻，挪到设计时刻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这背后有扎实的研究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731520" cy="731520"/>
          </a:xfrm>
          <a:prstGeom prst="ellipse">
            <a:avLst/>
          </a:prstGeom>
          <a:solidFill>
            <a:srgbClr val="E8C4C0"/>
          </a:solidFill>
          <a:ln w="12700">
            <a:solidFill>
              <a:srgbClr val="E8C4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Gollwitzer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彼得·格尔维策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148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社会心理学家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097280"/>
            <a:ext cx="43891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2-3×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完成率提升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对比仅说"我想做 X"的组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研究历程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4612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if-then planning 格式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246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Gollwitzer 提出 "当[情境]，我做[行为]" 的标准化执行意图格式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61188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跨人群跨任务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36118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数十年的研究，跨越不同人群和任务类型，反复验证有效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977640"/>
            <a:ext cx="274320" cy="27432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行为促进工具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977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被广泛接受为一种有效的行为促进工具，应用于健康、教育、管理等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扎实的实证基础 · 不是直觉，是反复验证的发现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为什么有效 · 机制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机制一 · 消除执行时的决策负荷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当那个时刻到来时，没有需要做的决定，只有需要执行的行为。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没有执行意图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执行时刻需要做：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246120"/>
            <a:ext cx="73152" cy="73152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"要不要现在做？"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73152" cy="73152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"应该从哪里开始？"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73152" cy="73152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"在哪里做合适？"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认知资源被实时决策消耗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37744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有执行意图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执行时刻：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246120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情境已确定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3566160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行为已明确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3886200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直接行动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没有决策消耗 = 没有拖延温床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实时决策是拖延和放弃的温床 · 提前解决 = 现场无需决定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为什么有效 · 机制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机制二 · 创造条件性的提示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"当[情境]"部分把特定情境和特定行为绑定。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当那个情境出现时，行为被自动激活。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743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"周三进展会议结束"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 · 可识别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高频率发生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3017520"/>
            <a:ext cx="548640" cy="274320"/>
          </a:xfrm>
          <a:prstGeom prst="rightArrow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自动激活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2468880"/>
            <a:ext cx="27432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"10 分钟内更新跟踪表"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· 可执行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时间边界清晰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2468880"/>
            <a:ext cx="146304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条件性提示 = 把"记忆 + 意志"的负担，转化为"情境自动激活"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标准格式与"具体"要求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注意"具体"这个词 · 它非常重要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标准格式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"当[具体情境/时间]，我将[具体行为]。"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不是执行意图（模糊）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"当我有空的时候，我会做这件事"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"有空"不是具体情境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"当我有需要解决的问题时，我会找人沟通"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太模糊 · 不可识别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46888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是执行意图（具体）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"当周三进展会议结束后，我会在 10 分钟内..."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情境 + 行为都具体可识别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"如果本周五收到某供应商的反馈邮件..."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触发情境 + 行为明确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"具体" = 情境可识别 + 行为可执行 + 时间边界清晰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正反例子：模糊 vs 具体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组对比 · 看清"具体"和"模糊"的差距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模糊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具体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当我有空的时候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当周三进展会议结束后的 10 分钟内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当我有需要时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当某 KPI 连续两周低于阈值时，在发现当天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记得要做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每个月第一个工作日 9 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处理重要的事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6118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每次汇报日期前两天，打开模板填写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1828800"/>
            <a:ext cx="36576" cy="237744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 = 大脑在执行时仍要决策 · 具体 = 现场无需决策直接行动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普通任务描述 vs 执行意图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把模糊的"定期""及时"转换成具体可识别的执行意图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普通任务描述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371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转换为执行意图后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定期与干系人对齐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每次双周例会结束后，我会向主要干系人发送一条不超过 100 字的进展说明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及时处理风险事项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6974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当某个 KPI 连续两周低于阈值时，我会在发现的当天安排一次 15 分钟原因分析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828800"/>
            <a:ext cx="36576" cy="17373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续表见下页 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观察：转换后都包含"触发条件 + 具体动作 + 时间边界"三要素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普通任务描述 vs 执行意图（续）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更多例子 · 找规律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普通任务描述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371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转换为执行意图后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推进技能培训计划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每个月的第一个工作日，我会检查本月培训计划是否已落地安排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对团队成员给予认可和反馈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606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每次我观察到团队成员有值得表扬的行为时，我会在当天沟通中直接提到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按时完成阶段性汇报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3832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每次汇报日期的前两天，我会收到日历提醒，打开模板填写完成情况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828800"/>
            <a:ext cx="36576" cy="2331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43400"/>
            <a:ext cx="246888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4343400"/>
            <a:ext cx="246888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具体动作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343400"/>
            <a:ext cx="246888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时间边界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 · 执行意图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一个补充提醒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关于"情境"的真实性与可识别性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执行意图的有效性，依赖于"当"后面的情境是真实会出现的、可被识别的。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如果那个情境本身很少出现，或很难被识别，执行意图的效力就会下降。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选择触发情境的两个标准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3931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高频率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每周都会出现的情境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效果更好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周例会 / 早晨打开电脑 / 季度复盘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频繁触发 = 行为稳定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3464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高可识别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容易被当事人注意到的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效果更好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明显的日历事件 / 视觉可见的物品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容易识别 = 自动激活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执行意图的效力 = 情境真实性 × 行为具体性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四个工具 · 选用指南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四个工具的选用指南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 B=MAP 诊断结果，对应选择工具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诊断结果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辅助工具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组合逻辑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28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弱（启动难 / 准备复杂）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8288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最小启动动作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降低摩擦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降低入口阻力 + 系统性消除摩擦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弱（没有可靠触发器）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4231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 锚定行为 或 工具四 执行意图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4231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最小启动动作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423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借力触发器 + 现场直接行动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和 P 都弱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0175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 + 工具四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0175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 作为补充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30175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双重优化（降低 + 触发）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低（负责人有顾虑）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611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先解决 M（沟通意义 / 处理顾虑）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视具体情况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工具不解决动机问题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多数情况下，真正"顺人性"的任务设计，会同时用到 2-3 个工具的组合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苏敏的优化实践 · 案例分析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苏敏把"每周一对一辅导"重新设计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一对一任务的整体重新设计 · 从难执行到高执行率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原始设计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"每周一对一辅导"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"每周" = 频次，不是触发器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没有固定时间，靠协调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10896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没有议程，每次想谈什么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474720"/>
            <a:ext cx="91440" cy="9144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靠记忆启动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启动阻力大 · 经常被推迟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多工具组合方案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83480" y="2331720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固定时间（每周二下午 4 点）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2624328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578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周二早上 9 点日历自动提醒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916936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8712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同时推送本周辅导议题框架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3209544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163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第一件事：对方分享当周挑战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3502152"/>
            <a:ext cx="91440" cy="9144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苏敏先问三个问题（不直接给答案）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 固定 + A 大幅降低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一对一的重新设计：固定时间（解决 P）+ 模板化（解决 A）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苏敏的优化实践 · 多工具组合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拆解：用了哪些工具 · 各自解决什么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一对一辅导的多工具设计逻辑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28016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执行意图（固定时间）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每周二下午 4 点固定为一对一时间（固定时间作为触发器）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31720"/>
            <a:ext cx="1280160" cy="8686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A（认知）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降低摩擦（模板化）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周二早上 9 点日历自动提醒，同时推送当周辅导议题框架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91840"/>
            <a:ext cx="1280160" cy="868680"/>
          </a:xfrm>
          <a:prstGeom prst="rect">
            <a:avLst/>
          </a:prstGeom>
          <a:solidFill>
            <a:srgbClr val="C84141"/>
          </a:solidFill>
          <a:ln w="12700">
            <a:solidFill>
              <a:srgbClr val="C841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A（认知）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执行意图（固定开场）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2024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进入一对一时，第一件事用固定格式开场，进一步降低认知摩擦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固定时间 + A 大幅下降 = 形式简单了 → M 反而因为"真的有效"而提升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苏敏的优化实践 · 优化效果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重新设计后的效果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三个月后 · 一对一辅导的执行率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200400" cy="36576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靠协调 · 靠记忆 · 经常推迟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286000"/>
            <a:ext cx="640080" cy="457200"/>
          </a:xfrm>
          <a:prstGeom prst="rightArrow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874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114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固定时间 + 模板化 + 格式固定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反而因为"真的有效"而提升 · 形式简单带来效果，效果反哺动机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高可靠（固定时间 + 自动提醒）+ A 大幅下降（模板化 + 格式固定）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多工具组合的力量 · 不止解决单一弱点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· 用四个工具重新设计任务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练习：重新设计 3 个任务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本模块迄今最重要的练习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50876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B=MAP 诊断里识别的高风险任务中选 3 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0876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根据主要弱点选合适的工具，可同时用多个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1508760"/>
            <a:ext cx="457200" cy="4572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写出新版本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按照各工具的格式写出重新设计后的任务描述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任务重新设计工作表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原始任务描述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主要弱点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选用的工具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重新设计后的任务描述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520440"/>
            <a:ext cx="786384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611880"/>
            <a:ext cx="786384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813048"/>
            <a:ext cx="786384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014216"/>
            <a:ext cx="786384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写完后做：清晰度检验 + 触发器检验 + 坏日子测试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知识框架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第三部分知识框架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四个行为设计工具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874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1874520" cy="2743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最小启动动作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原理：开始是阻力最大的一步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要求：具体动作 + 状态不好时也能做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用法：把第一步直接写进任务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37460" y="1691640"/>
            <a:ext cx="1874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7460" y="1691640"/>
            <a:ext cx="1874520" cy="2743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746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7460" y="19933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锚定行为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37460" y="226771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37460" y="251460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8900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原理：借用已有可靠行为的触发器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28900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格式："在 X 之后，做 Y"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28900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关键：可靠 + 时地匹配 + 不冲突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1691640"/>
            <a:ext cx="1874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691640"/>
            <a:ext cx="1874520" cy="2743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19933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226771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51460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原理：减少阻力 &gt; 提升努力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三类：物理 / 认知 / 协调摩擦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策略：默认化 · 预设化 · 简化化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97980" y="1691640"/>
            <a:ext cx="1874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97980" y="1691640"/>
            <a:ext cx="1874520" cy="2743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7980" y="1691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97980" y="19933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97980" y="226771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 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97980" y="2514600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89420" y="2606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原理：预先决定"当[情境]，做[行为]"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89420" y="3017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格式："当[情境]，我将[行为]"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89420" y="3429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研究：Gollwitzer · 完成率 2-3 倍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选用逻辑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645920" y="40233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弱 → 工具一+三 | P 弱 → 工具二或四 | A 和 P 都弱 → 工具三+四 | M 弱 → 先处理 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进入第四部分：用这些方法整合优化整份行动计划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Optimization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5544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综合优化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把整份计划过一遍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0" y="292608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从「能用」到「可靠」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 / OPENING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这一部分要做什么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综合实践：把整份计划系统地过一遍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前面三部分，你已经：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建立了识别高风险任务的三条标准（清晰度 / 摩擦力 / 稳健性）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掌握了诊断行为弱点的 B=MAP 框架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797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77977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学习了四个行为设计工具（最小启动 / 锚定 / 降摩擦 / 执行意图）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63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16382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 3 个任务的初步重新设计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502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第四部分的任务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完成一份经过行为设计审视的修订版行动计划——真实可用、能落地。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EXPECTATION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一个关于「多少任务需要重新设计」的现实预期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需要调整的任务占比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2103120" y="24688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大多数行动计划中需要调整的任务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20%–30% 的任务可以基本不动。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它们已经足够具体、触发器可靠、难度适中。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不要期待只调整三五条就结束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从增加执行意图这样的小改动，到彻底重写一条任务这样的大改动——都有。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178308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34640"/>
            <a:ext cx="54864" cy="1783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不要沮丧——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这恰恰说明：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你开始用「真实状态下的执行者」的视角，看待自己的计划了。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这是行为设计真正的开始。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FIVE-STEP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五步优化流程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每一步有对应的问题和工具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15910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591056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识别脆弱点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15568" y="3291840"/>
            <a:ext cx="274320" cy="18288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用「坏日子测试」快速过滤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1988820" y="2862072"/>
            <a:ext cx="109728" cy="164592"/>
          </a:xfrm>
          <a:prstGeom prst="right_triangl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12264" y="1783080"/>
            <a:ext cx="15910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12264" y="1783080"/>
            <a:ext cx="1591056" cy="4572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12264" y="182880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03704" y="2423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03704" y="29260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找主要弱点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70632" y="3291840"/>
            <a:ext cx="274320" cy="18288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34290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看 M/A/P 哪一项最弱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3643884" y="2862072"/>
            <a:ext cx="109728" cy="164592"/>
          </a:xfrm>
          <a:prstGeom prst="right_triangl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67328" y="1783080"/>
            <a:ext cx="15910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67328" y="1783080"/>
            <a:ext cx="1591056" cy="4572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182880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58768" y="2423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58768" y="29260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选工具重写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25696" y="3291840"/>
            <a:ext cx="274320" cy="18288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58768" y="34290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用对应工具重新设计任务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5400000">
            <a:off x="5298948" y="2862072"/>
            <a:ext cx="109728" cy="164592"/>
          </a:xfrm>
          <a:prstGeom prst="right_triangl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22392" y="1783080"/>
            <a:ext cx="15910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22392" y="1783080"/>
            <a:ext cx="1591056" cy="4572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2392" y="182880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13832" y="2423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13832" y="29260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3291840"/>
            <a:ext cx="274320" cy="18288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34290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清晰度 / 摩擦力 / 稳健性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rot="5400000">
            <a:off x="6954012" y="2862072"/>
            <a:ext cx="109728" cy="164592"/>
          </a:xfrm>
          <a:prstGeom prst="right_triangle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77456" y="1783080"/>
            <a:ext cx="15910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77456" y="1783080"/>
            <a:ext cx="1591056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7456" y="182880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68896" y="2423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168896" y="29260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平衡检查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35824" y="3291840"/>
            <a:ext cx="274320" cy="18288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68896" y="34290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 / 比例 / 时间分布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先扫描全局 → 再逐个击破 → 最后回到全局平衡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01 - 02 /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1-2 详解：扫描 + 诊断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从全局到局部：从直觉过滤到精确诊断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2336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556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扫描全局，识别脆弱点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把任务过一遍，用「坏日子测试」做第一轮快速过滤。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普通但不轻松的周，能发生吗？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858768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130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标出所有「不一定」的任务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速度要快。凭直觉和经验判断。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691640"/>
            <a:ext cx="4023360" cy="5029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556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逐一诊断，找主要弱点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对候选列表里的每个任务，用 B=MAP 诊断。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是不是真的建立？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在那个时刻做起来难不难？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触发器是什么？可靠吗？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找出最薄弱的那一项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03 - 05 /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3-5 详解：设计 + 检验 + 全局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从单任务优化到整份计划的平衡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2743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用工具重写任务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根据诊断结果选工具，产出一条新任务描述。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691640"/>
            <a:ext cx="73152" cy="2743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2044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520440" y="32461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清晰度 / 摩擦力 / 稳健性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三条标准里有明显弱项，继续调整。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6916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691640"/>
            <a:ext cx="73152" cy="2743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35508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平衡检查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355080" y="3246120"/>
            <a:ext cx="365760" cy="182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看整份计划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整体负荷、强度比例、时间分布是否合理？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从单条任务的设计，回到整份计划的平衡——这是最后一步的意义。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01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对话一：清晰度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与你的计划的第一次对话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822960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91440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问每一条任务：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一个完全不了解背景的人，看了这条描述，能立刻知道第一个动作是什么吗？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如果「不能」——需要增加具体性：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11880"/>
            <a:ext cx="196596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具体做什么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32888" y="3611880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2888" y="3611880"/>
            <a:ext cx="196596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3703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32888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做到什么程度算完成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3611880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3611880"/>
            <a:ext cx="196596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3703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08576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花多长时间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84264" y="3611880"/>
            <a:ext cx="1965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84264" y="3611880"/>
            <a:ext cx="196596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3703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84264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谁参与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目标：让每条任务在执行时不需要额外的解释和决策。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02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对话二：摩擦力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与你的计划的第二次对话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822960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91440" cy="13716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对执行风险较高的任务，问：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从决定要做，到实际做出第一个动作，之间有几步？每一步有没有可能卡住？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找到可能卡住的环节，逐一处理：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11880"/>
            <a:ext cx="269748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这个环节能取消吗？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无价值的步骤直接砍掉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4408" y="3611880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3611880"/>
            <a:ext cx="269748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37033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41648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能提前完成吗？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把需要现场做的提前做完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71616" y="3611880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3611880"/>
            <a:ext cx="269748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37033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48856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能变成默认吗？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08776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让它不需要决策就发生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目标：移除执行路径上所有不必要的阻力。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03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对话三：触发器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与你的计划的第三次对话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8229600" cy="155448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91440" cy="1554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对每一条任务问三个问题：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这件事靠什么来触发？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这个触发器会在正确的时间可靠地出现吗？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如果触发器失效，这件事还会发生吗？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检查所有「靠记忆」或「找时间」的任务——这是触发器最脆弱的类型。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对这类任务，选用工具建立可靠触发：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5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工具二：锚定行为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43434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854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工具四：执行意图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/ LOGIC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三次对话的顺序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清晰度  →  摩擦力  →  触发器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023360" y="2514600"/>
            <a:ext cx="109728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73152" cy="1783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07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为什么从清晰度开始？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模糊的任务在做摩擦力和触发器分析时无从分析——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你需要先知道这件事到底要做什么，才能讨论怎么让它更容易发生。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这个顺序是有逻辑的——不是凭感觉。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LOAD / WARNING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一个全局的提醒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你的计划整体上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是否超载了？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29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一个超载的计划，即使每条任务都被单独设计得很好，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也仍然会失败——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因为执行所有任务所需要的总时间和精力，超出了负责人实际可以投入的上限。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一个简单的负荷检验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把单任务优化和全局平衡分开看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时间加总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把所有任务的执行时间加总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对应到每周需要额外投入的小时数。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30 分钟 + 1 个 1 小时 + 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每周 ? 小时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4023360" cy="4572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是否现实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问：这个数字现实吗？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283464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对负责人来说可承受？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127248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081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已经包含正常的工作量？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419856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3741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留有应急和休息空间？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如果过高：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4622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优化方向不是继续用工具让每件事更容易——而是减少任务数量。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IS MORE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少即是多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条高可执行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每条都具体、低摩擦、有可靠触发器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45920"/>
            <a:ext cx="40233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条中等可执行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听起来很丰富，实际多在拖延和妥协中执行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6517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条高可执行  &gt;  30 条中等可执行  →  最终拿到更好的结果。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SUMIN / REVISION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苏敏的完整计划修订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4 条任务 → 修订后 3 条任务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原计划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210312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条任务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63093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条任务，每条都更可靠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四个修订方向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03320"/>
            <a:ext cx="19659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每周一对一辅导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重做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32888" y="37033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2888" y="3703320"/>
            <a:ext cx="19659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2888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32888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每月团队复盘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32888" y="4315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8576" y="37033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8576" y="3703320"/>
            <a:ext cx="1965960" cy="54864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08576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双周跨部门交流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08576" y="4315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84264" y="370332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84264" y="3703320"/>
            <a:ext cx="196596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37947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84264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季度发展计划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84264" y="4315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01 /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 1：每周一对一辅导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023360" cy="41148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 计划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每周一对一辅导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（4 个直属下属，每人 30 分钟）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低：需协调时间、想议题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弱：无固定触发器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实际负荷：每周 2 小时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45920"/>
            <a:ext cx="402336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73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 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固定时间 + 模板化议题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改后要点：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90779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8620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每周二、四 16:00 各 2 个（日历锁定）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27355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227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固定议题：进展 / 挑战 / 支持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3931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对方前一天发送主要挑战（预设化）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日历锁定 + 模板化 = 默认化与预设化的组合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02 /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 2：每月团队复盘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023360" cy="41148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 计划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每月一次团队复盘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时间灵活安排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低：协调成本高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低：每次要重设议题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中：月底某天，相对固定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45920"/>
            <a:ext cx="402336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73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 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时间锁定 + 预设化 + 格式固定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改后要点：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90779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8620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每月第二个周五 15-16 点（日历锁定）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27355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227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 3 天每人填 2 条复盘要点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3931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三段式固定格式（10/10/10）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固定时间 + 预设材料 + 固定格式 = 三个工具的组合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03 /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 3：移除「双周跨部门经验交流」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有时候，移除一条任务比保留它更有价值。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诊断后决策：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269748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协调摩擦极高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涉及多个部门时间协调，每次都需要发起约定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21031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2103120"/>
            <a:ext cx="269748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1945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当前阶段优先级不高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相比一对一和复盘，对苏敏来说更次要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21031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2103120"/>
            <a:ext cx="2697480" cy="54864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21945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2514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无法稳定执行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预测大概率会断掉，不如干脆不放在计划里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03320"/>
            <a:ext cx="91440" cy="8686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苏敏决定暂时从计划里移除这条任务，把精力集中在更关键的一对一和复盘上。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160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移除一条不可靠的任务，比保留一条「看起来有但实际没执行」的任务，对计划的整体执行率更有价值。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04 /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 4：季度发展计划更新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023360" cy="41148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 计划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季度发展计划更新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（每季度找时间和下属谈）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弱：完全靠记忆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「找时间」很容易延后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73152" cy="73152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触发器完全不可靠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45920"/>
            <a:ext cx="402336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73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 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固定时间 + 固定问卷 + 执行意图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改后要点：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90779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8620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每季度最后一个月第三周周一发问卷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27355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227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个问题：满意 / 期待 / 发展方向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39312"/>
            <a:ext cx="73152" cy="7315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执行意图：收到回复当天发会议邀约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执行意图把「回复」变成「当天发邀约」的具体动作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修订后的计划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每一条任务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都有可靠的触发器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46120"/>
            <a:ext cx="73152" cy="640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更低的摩擦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4408" y="324612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3246120"/>
            <a:ext cx="73152" cy="640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3246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清晰的最小启动动作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71616" y="324612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3246120"/>
            <a:ext cx="73152" cy="64008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32461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可靠的触发机制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14800"/>
            <a:ext cx="73152" cy="7315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苏敏对这份修订版计划的执行更有信心——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不是因为「我会更努力」，而是因为「这份计划考虑了真实状态下的自己」。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/ COMPREHENSIVE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综合优化练习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全量审视你的行动计划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73152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产出：经过行为设计审视的修订版计划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0280"/>
            <a:ext cx="64008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240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全量脆弱点扫描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快速过所有任务，标出中/高风险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64008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97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697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+ 设计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6974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诊断 → 选工具 → 重新设计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64008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三次对话自检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1546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清晰度 / 摩擦力 / 触发器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11880"/>
            <a:ext cx="64008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118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全局负荷检查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3611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每周投入小时数 + 比例是否合理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69080"/>
            <a:ext cx="64008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690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069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伙伴互审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40690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扮演「普通忙碌执行者」互相反馈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本模块最长的练习，给自己足够时间；时间有限可先做最关键的 5 条。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快速参考卡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带走这张卡：三条标准 + B=MAP + 四个工具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三条标准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陌生人能立刻行动吗？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依赖好状态才能启动？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普通忙碌那天还会发生吗？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554480"/>
            <a:ext cx="2651760" cy="3657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 诊断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动机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有内在意愿吗？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容易度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那一刻做起来难吗？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提示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什么在合适时机触发？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55448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554480"/>
            <a:ext cx="265176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四个工具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22585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降低启动阻力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2606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锚定行为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2852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借已有触发器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32004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降低摩擦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4472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/ 预设 / 简化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794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4041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当[情境]→做[行为]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为「日常状态的自己」设计，而不是为「状态最好的那天的自己」设计。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一个最基本的设计原则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为「日常状态的自己」设计，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而不是为「状态最好的那天的自己」设计。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0" y="3108960"/>
            <a:ext cx="91440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前者能经得住日常考验。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后者只在你精力充沛、状态完美的时刻成立。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4160520"/>
            <a:ext cx="6400800" cy="50292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160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能经得住日常考验的任务，才是真正可执行的任务。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371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模块总结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20624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执行设计的核心逻辑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06240" y="278892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3090672"/>
            <a:ext cx="109728" cy="109728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一个核心思维转变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3502152"/>
            <a:ext cx="109728" cy="109728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三条核心洞见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3913632"/>
            <a:ext cx="109728" cy="109728"/>
          </a:xfrm>
          <a:prstGeom prst="ellipse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一个完整框架图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一个最重要的思维转变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9144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大多数人问的问题：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「这些人为什么没有执行？」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2606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执行设计问的问题：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「这个计划在设计上，是否为执行者提供了足够的支撑？」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从「人的问题」转向「设计的问题」——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你能做的干预就多了——因为设计可以改变，而人的意志力往往很难短期改变。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VS NEW / MINDSET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两种思维方式的对比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023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023360" cy="4572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旧思维 / 人的问题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「为什么没执行？」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意志力不够、不够在乎、态度问题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找「人」哪里出了问题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再强调重要性、加强问责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「只要足够想做，就会做」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645920"/>
            <a:ext cx="4023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45920"/>
            <a:ext cx="402336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新思维 / 设计的问题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「计划哪里没设计好？」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27432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清晰度 / 摩擦 / 触发器的缺失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找「设计」哪里可以改进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用工具重新设计任务描述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B=MAP，三条件缺一不可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不只是方法上的转变——是思维框架上的转变。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这个模块的三条核心洞见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理解这三件事，你的行为设计就有了支柱。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26517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 vs 可执行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6576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290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正确的计划回答「做什么 / 为什么」。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可执行的计划回答「在现实中怎么让它真的发生」。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691640"/>
            <a:ext cx="2651760" cy="91440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B=MAP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74720" y="3291840"/>
            <a:ext cx="36576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4290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行为发生的三个必要条件，缺一不可。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动机必要但不充分；A 和 P 最易被忽视。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691640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691640"/>
            <a:ext cx="2651760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顺人性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09360" y="3291840"/>
            <a:ext cx="365760" cy="18288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4290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不是让人更努力，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而是让环境设计与人的真实行为规律对齐。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下一页：每条洞见的详细展开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01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正确的计划和可执行的计划，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是两件不同的事。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114800" y="3337560"/>
            <a:ext cx="91440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一份正确的计划解决「做什么」和「为什么」的问题；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一份可执行的计划，还解决「在现实中怎么让它真的发生」的问题。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前者是逻辑问题，后者是设计问题。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02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MAP，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是行为发生的三个必要条件。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0" y="3291840"/>
            <a:ext cx="91440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20440"/>
            <a:ext cx="73152" cy="1143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动机是必要的，但不是充分的。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容易度（A）和提示（P），是计划设计最容易忽视、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但往往最能提升执行率的两个杠杆。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03 /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顺人性，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而不是对抗人性。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114800" y="3337560"/>
            <a:ext cx="914400" cy="36576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行为设计的本质，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不是让人更努力，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而是让环境和设计与人的真实行为规律对齐。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全模块知识框架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行动计划·执行设计模块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554480"/>
            <a:ext cx="27432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62856" y="1965960"/>
            <a:ext cx="18288" cy="164592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30552"/>
            <a:ext cx="1554480" cy="36576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304288"/>
            <a:ext cx="6675120" cy="1828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148840"/>
            <a:ext cx="18288" cy="1554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130552"/>
            <a:ext cx="1645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可执行性标准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277063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6974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行动清晰度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309067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启动摩擦力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341071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日常稳健性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2148840"/>
            <a:ext cx="18288" cy="1554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2130552"/>
            <a:ext cx="1645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B=MAP 模型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277063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6974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动机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309067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容易度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4760" y="341071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提示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2148840"/>
            <a:ext cx="18288" cy="1554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2130552"/>
            <a:ext cx="1645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四个设计工具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277063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6974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最小启动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309067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 / 降摩擦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341071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执行意图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909560" y="2148840"/>
            <a:ext cx="18288" cy="15544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2130552"/>
            <a:ext cx="164592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综合优化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78040" y="277063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26974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五步流程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78040" y="309067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三次对话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78040" y="3410712"/>
            <a:ext cx="45720" cy="457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全局平衡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从：人的问题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到：设计的问题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114800"/>
            <a:ext cx="73152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最终原则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152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为「日常状态的自己」设计，而不是为「状态最好的那天的自己」设计。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57200" y="4892040"/>
            <a:ext cx="2286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56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8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16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E8C4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E8C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欢迎提出你的问题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1280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让正确的计划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023360" y="1828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真正发生。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023360" y="2606040"/>
            <a:ext cx="457200" cy="3657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行动计划·执行设计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3566160"/>
            <a:ext cx="4663440" cy="914400"/>
          </a:xfrm>
          <a:prstGeom prst="rect">
            <a:avLst/>
          </a:prstGeom>
          <a:solidFill>
            <a:srgbClr val="F5F0E8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3566160"/>
            <a:ext cx="73152" cy="914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611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我们相信：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好的计划不需要意志力去执行，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114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它是为真实状态的自己而设计的。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行动学习·2026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170</Slides>
  <Notes>170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170</vt:i4>
      </vt:variant>
    </vt:vector>
  </HeadingPairs>
  <TitlesOfParts>
    <vt:vector size="1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行动计划·执行设计</dc:title>
  <dc:subject>PptxGenJS Presentation</dc:subject>
  <dc:creator>罗老师·行动学习2026</dc:creator>
  <cp:lastModifiedBy>罗老师·行动学习2026</cp:lastModifiedBy>
  <cp:revision>1</cp:revision>
  <dcterms:created xsi:type="dcterms:W3CDTF">2026-07-07T01:45:47Z</dcterms:created>
  <dcterms:modified xsi:type="dcterms:W3CDTF">2026-07-07T01:45:47Z</dcterms:modified>
</cp:coreProperties>
</file>