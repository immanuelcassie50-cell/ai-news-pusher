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</p:sldIdLst>
  <p:notesMasterIdLst>
    <p:notesMasterId r:id="rId9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notesMaster" Target="notesMasters/notesMaster1.xml"/><Relationship Id="rId99" Type="http://schemas.openxmlformats.org/officeDocument/2006/relationships/presProps" Target="presProps.xml"/><Relationship Id="rId100" Type="http://schemas.openxmlformats.org/officeDocument/2006/relationships/viewProps" Target="viewProps.xml"/><Relationship Id="rId101" Type="http://schemas.openxmlformats.org/officeDocument/2006/relationships/theme" Target="theme/theme1.xml"/><Relationship Id="rId102" Type="http://schemas.openxmlformats.org/officeDocument/2006/relationships/tableStyles" Target="tableStyles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/Relationships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notesMaster" Target="notesMasters/notesMaster1.xml"/><Relationship Id="rId99" Type="http://schemas.openxmlformats.org/officeDocument/2006/relationships/presProps" Target="presProps.xml"/><Relationship Id="rId100" Type="http://schemas.openxmlformats.org/officeDocument/2006/relationships/viewProps" Target="viewProps.xml"/><Relationship Id="rId101" Type="http://schemas.openxmlformats.org/officeDocument/2006/relationships/theme" Target="theme/theme1.xml"/><Relationship Id="rId102" Type="http://schemas.openxmlformats.org/officeDocument/2006/relationships/tableStyles" Target="tableStyles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097280"/>
            <a:ext cx="73152" cy="2560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循迹创新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以用户为圆心的创新方法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2697480"/>
            <a:ext cx="2743200" cy="0"/>
          </a:xfrm>
          <a:prstGeom prst="line">
            <a:avLst/>
          </a:prstGeom>
          <a:noFill/>
          <a:ln w="19050">
            <a:solidFill>
              <a:srgbClr val="9A8C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从共情到验证的创新实践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206240"/>
            <a:ext cx="137160" cy="1371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133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4133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0" y="914400"/>
            <a:ext cx="1097280" cy="1097280"/>
          </a:xfrm>
          <a:prstGeom prst="rect">
            <a:avLst/>
          </a:prstGeom>
          <a:solidFill>
            <a:srgbClr val="C41E3A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0" y="1188720"/>
            <a:ext cx="914400" cy="914400"/>
          </a:xfrm>
          <a:prstGeom prst="rect">
            <a:avLst/>
          </a:prstGeom>
          <a:solidFill>
            <a:srgbClr val="4A4E69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321040" y="1463040"/>
            <a:ext cx="640080" cy="640080"/>
          </a:xfrm>
          <a:prstGeom prst="rect">
            <a:avLst/>
          </a:prstGeom>
          <a:solidFill>
            <a:srgbClr val="9A8C98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0" y="4389120"/>
            <a:ext cx="914400" cy="73152"/>
          </a:xfrm>
          <a:prstGeom prst="rect">
            <a:avLst/>
          </a:prstGeom>
          <a:solidFill>
            <a:srgbClr val="D4D4D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模块一·循迹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共情洞察，看见真问题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645920"/>
            <a:ext cx="36576" cy="320040"/>
          </a:xfrm>
          <a:prstGeom prst="rect">
            <a:avLst/>
          </a:prstGeom>
          <a:solidFill>
            <a:srgbClr val="9A8C98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55448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模块一·重问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0352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问题重定义，打开可能性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26280" y="1645920"/>
            <a:ext cx="36576" cy="320040"/>
          </a:xfrm>
          <a:prstGeom prst="rect">
            <a:avLst/>
          </a:prstGeom>
          <a:solidFill>
            <a:srgbClr val="9A8C98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模块一·开局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创意构思，做出看得见的样子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" y="3200400"/>
            <a:ext cx="36576" cy="320040"/>
          </a:xfrm>
          <a:prstGeom prst="rect">
            <a:avLst/>
          </a:prstGeom>
          <a:solidFill>
            <a:srgbClr val="9A8C98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310896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模块一·试真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0352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原型测试，拿到真实反馈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26280" y="3200400"/>
            <a:ext cx="36576" cy="320040"/>
          </a:xfrm>
          <a:prstGeom prst="rect">
            <a:avLst/>
          </a:prstGeom>
          <a:solidFill>
            <a:srgbClr val="9A8C98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时代背景与创新困境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 BACKGROUND &amp; INNOVATION DILEMMA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2560320" cy="10972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1828800"/>
            <a:ext cx="731520" cy="731520"/>
          </a:xfrm>
          <a:prstGeom prst="ellipse">
            <a:avLst/>
          </a:prstGeom>
          <a:solidFill>
            <a:srgbClr val="C41E3A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VUCA时代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易变、不确定、复杂、模糊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146304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463040"/>
            <a:ext cx="2560320" cy="10972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1828800"/>
            <a:ext cx="731520" cy="731520"/>
          </a:xfrm>
          <a:prstGeom prst="ellipse">
            <a:avLst/>
          </a:prstGeom>
          <a:solidFill>
            <a:srgbClr val="C41E3A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52044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竞争加剧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2044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产品同质化严重，差异化越来越难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46304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463040"/>
            <a:ext cx="2560320" cy="10972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0" y="1828800"/>
            <a:ext cx="731520" cy="731520"/>
          </a:xfrm>
          <a:prstGeom prst="ellipse">
            <a:avLst/>
          </a:prstGeom>
          <a:solidFill>
            <a:srgbClr val="C41E3A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35508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用户觉醒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5508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消费者主权时代，用户选择权更大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95360" y="1371600"/>
            <a:ext cx="457200" cy="3200400"/>
          </a:xfrm>
          <a:prstGeom prst="rect">
            <a:avLst/>
          </a:prstGeom>
          <a:solidFill>
            <a:srgbClr val="D4D4D4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创新思维的本质转变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TRANSFORMATION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3657600" cy="4572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我知道用户需要什么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专家思维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0" y="1920240"/>
            <a:ext cx="914400" cy="9144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937760" y="137160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640" y="1920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我如何知道用户需要什么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2064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共情思维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两个关键词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931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377440" y="3931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2834640" y="39319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3931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595360" y="1371600"/>
            <a:ext cx="457200" cy="3200400"/>
          </a:xfrm>
          <a:prstGeom prst="rect">
            <a:avLst/>
          </a:prstGeom>
          <a:solidFill>
            <a:srgbClr val="D4D4D4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循迹创新四步法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FOUR-STEP INNOVATION METHOD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40480" y="2377440"/>
            <a:ext cx="1463040" cy="1463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3774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以用户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为圆心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2103120"/>
            <a:ext cx="1645920" cy="914400"/>
          </a:xfrm>
          <a:prstGeom prst="line">
            <a:avLst/>
          </a:prstGeom>
          <a:noFill/>
          <a:ln w="25400">
            <a:solidFill>
              <a:srgbClr val="D4D4D4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 flipH="1">
            <a:off x="5212080" y="2103120"/>
            <a:ext cx="1188720" cy="914400"/>
          </a:xfrm>
          <a:prstGeom prst="line">
            <a:avLst/>
          </a:prstGeom>
          <a:noFill/>
          <a:ln w="25400">
            <a:solidFill>
              <a:srgbClr val="D4D4D4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H="1" flipV="1">
            <a:off x="5212080" y="3383280"/>
            <a:ext cx="1188720" cy="914400"/>
          </a:xfrm>
          <a:prstGeom prst="line">
            <a:avLst/>
          </a:prstGeom>
          <a:noFill/>
          <a:ln w="25400">
            <a:solidFill>
              <a:srgbClr val="D4D4D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 flipV="1">
            <a:off x="2286000" y="3383280"/>
            <a:ext cx="1645920" cy="914400"/>
          </a:xfrm>
          <a:prstGeom prst="line">
            <a:avLst/>
          </a:prstGeom>
          <a:noFill/>
          <a:ln w="25400">
            <a:solidFill>
              <a:srgbClr val="D4D4D4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914400" y="13716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1371600"/>
            <a:ext cx="201168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" y="16002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共情洞察，看见真问题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13716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1371600"/>
            <a:ext cx="201168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16002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86600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重问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37960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问题重定义，打开可能性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32004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0" y="3200400"/>
            <a:ext cx="201168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Shape 23"/>
          <p:cNvSpPr/>
          <p:nvPr/>
        </p:nvSpPr>
        <p:spPr>
          <a:xfrm>
            <a:off x="6537960" y="34290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3474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开局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37960" y="3977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创意构思，做出看得见的样子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4400" y="32004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4400" y="3200400"/>
            <a:ext cx="201168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51560" y="34290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105156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600200" y="3474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试真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51560" y="3977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原型测试，拿到真实反馈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两日课程学习目标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7373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掌握共情访谈与洞察挖掘技巧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18745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77840" y="17373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学会问题重定义与HMW句型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5204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熟练运用SCAMPER等创意工具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54880" y="315468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83480" y="36576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77840" y="35204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具备低成本原型与用户测试能力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595360" y="1371600"/>
            <a:ext cx="457200" cy="3200400"/>
          </a:xfrm>
          <a:prstGeom prst="rect">
            <a:avLst/>
          </a:prstGeom>
          <a:solidFill>
            <a:srgbClr val="D4D4D4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学习方式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APPROACH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2651760" cy="1097280"/>
          </a:xfrm>
          <a:prstGeom prst="rect">
            <a:avLst/>
          </a:prstGeom>
          <a:solidFill>
            <a:srgbClr val="C41E3A">
              <a:alpha val="9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164592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体验式学习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3291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通过真实案例和练习来学习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9000" y="13716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371600"/>
            <a:ext cx="2651760" cy="1097280"/>
          </a:xfrm>
          <a:prstGeom prst="rect">
            <a:avLst/>
          </a:prstGeom>
          <a:solidFill>
            <a:srgbClr val="C41E3A">
              <a:alpha val="9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343400" y="164592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56616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小组协作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3291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团队讨论、角色扮演、互相反馈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13716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371600"/>
            <a:ext cx="2651760" cy="1097280"/>
          </a:xfrm>
          <a:prstGeom prst="rect">
            <a:avLst/>
          </a:prstGeom>
          <a:solidFill>
            <a:srgbClr val="C41E3A">
              <a:alpha val="9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223760" y="164592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44652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即学即用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46520" y="3291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每个模块都有实践环节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73152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FFFFF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73152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共情洞察，看见真问题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0" y="914400"/>
            <a:ext cx="1371600" cy="1371600"/>
          </a:xfrm>
          <a:prstGeom prst="rect">
            <a:avLst/>
          </a:prstGeom>
          <a:solidFill>
            <a:srgbClr val="F5F5F5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1371600"/>
            <a:ext cx="1097280" cy="1097280"/>
          </a:xfrm>
          <a:prstGeom prst="rect">
            <a:avLst/>
          </a:prstGeom>
          <a:solidFill>
            <a:srgbClr val="4A4E69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A4E69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模块一学习目标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256032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201168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理解共情的三个层次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29000" y="164592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645920"/>
            <a:ext cx="256032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434840" y="201168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11880" y="2834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掌握共情访谈的核心技巧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164592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645920"/>
            <a:ext cx="256032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201168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2834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学会使用共情画布工具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什么是共情（Empathy）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914400"/>
          </a:xfrm>
          <a:prstGeom prst="roundRect">
            <a:avLst>
              <a:gd name="adj" fmla="val 6000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设身处地理解他人的感受、想法和处境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43000" y="23774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感受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886200" y="23774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388620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6629400" y="23774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与同情的区别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840480" cy="731520"/>
          </a:xfrm>
          <a:prstGeom prst="roundRect">
            <a:avLst>
              <a:gd name="adj" fmla="val 7500"/>
            </a:avLst>
          </a:prstGeom>
          <a:solidFill>
            <a:srgbClr val="9A8C98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14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同情：我理解你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0" y="4023360"/>
            <a:ext cx="4023360" cy="731520"/>
          </a:xfrm>
          <a:prstGeom prst="roundRect">
            <a:avLst>
              <a:gd name="adj" fmla="val 7500"/>
            </a:avLst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共情：我感受你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共情三个层次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7315200" cy="1005840"/>
          </a:xfrm>
          <a:prstGeom prst="roundRect">
            <a:avLst>
              <a:gd name="adj" fmla="val 5455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25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深层共情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感受内心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用户真正在乎什么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00200" y="2286000"/>
            <a:ext cx="5943600" cy="1005840"/>
          </a:xfrm>
          <a:prstGeom prst="roundRect">
            <a:avLst>
              <a:gd name="adj" fmla="val 5455"/>
            </a:avLst>
          </a:prstGeom>
          <a:solidFill>
            <a:srgbClr val="4A4E69"/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2423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3172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中层共情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3172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倾听言语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2514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用户说了什么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0" y="3383280"/>
            <a:ext cx="4572000" cy="1005840"/>
          </a:xfrm>
          <a:prstGeom prst="roundRect">
            <a:avLst>
              <a:gd name="adj" fmla="val 5455"/>
            </a:avLst>
          </a:prstGeom>
          <a:solidFill>
            <a:srgbClr val="9A8C98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3520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1752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表层共情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017520" y="3886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观察行为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31920" y="3611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用户做了什么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 rot="16200000">
            <a:off x="365760" y="2560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 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097280" cy="411480"/>
          </a:xfrm>
          <a:prstGeom prst="roundRect">
            <a:avLst>
              <a:gd name="adj" fmla="val 8889"/>
            </a:avLst>
          </a:prstGeom>
          <a:solidFill>
            <a:srgbClr val="9A8C9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表层共情：观察行为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731520"/>
          </a:xfrm>
          <a:prstGeom prst="roundRect">
            <a:avLst>
              <a:gd name="adj" fmla="val 7500"/>
            </a:avLst>
          </a:prstGeom>
          <a:solidFill>
            <a:srgbClr val="D4D4D4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通过观察用户的外在行为和行动来理解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观察什么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2468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77440"/>
            <a:ext cx="246888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用户做什么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2377440"/>
            <a:ext cx="2468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2377440"/>
            <a:ext cx="246888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用户如何使用产品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90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2377440"/>
            <a:ext cx="2468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377440"/>
            <a:ext cx="246888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用户的肢体语言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722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Language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4A4E69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434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现场观察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011680" y="443484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4A4E69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011680" y="4434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A/B测试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443484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4A4E69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4434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097280" cy="411480"/>
          </a:xfrm>
          <a:prstGeom prst="roundRect">
            <a:avLst>
              <a:gd name="adj" fmla="val 8889"/>
            </a:avLst>
          </a:prstGeom>
          <a:solidFill>
            <a:srgbClr val="4A4E6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中层共情：倾听言语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731520"/>
          </a:xfrm>
          <a:prstGeom prst="roundRect">
            <a:avLst>
              <a:gd name="adj" fmla="val 7500"/>
            </a:avLst>
          </a:prstGeom>
          <a:solidFill>
            <a:srgbClr val="D4D4D4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通过访谈和对话了解用户的想法和表达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倾听什么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2468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77440"/>
            <a:ext cx="2468880" cy="73152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用户说什么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2377440"/>
            <a:ext cx="2468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2377440"/>
            <a:ext cx="2468880" cy="73152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用户的用词选择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90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Choice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2377440"/>
            <a:ext cx="2468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377440"/>
            <a:ext cx="2468880" cy="73152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用户的表达方式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722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Style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4A4E69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434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一对一访谈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011680" y="443484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4A4E69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011680" y="4434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焦点小组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443484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4A4E69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4434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097280" cy="411480"/>
          </a:xfrm>
          <a:prstGeom prst="roundRect">
            <a:avLst>
              <a:gd name="adj" fmla="val 8889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深层共情：感受内心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731520"/>
          </a:xfrm>
          <a:prstGeom prst="roundRect">
            <a:avLst>
              <a:gd name="adj" fmla="val 7500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理解用户行为背后的情感、动机和未被满足的需求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感受什么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2468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77440"/>
            <a:ext cx="246888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用户真正在乎什么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Concerns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2377440"/>
            <a:ext cx="2468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2377440"/>
            <a:ext cx="246888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用户的情感和价值观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90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Emotions &amp; Values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2377440"/>
            <a:ext cx="2468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377440"/>
            <a:ext cx="246888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用户的痛点和渴望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722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Pains &amp; Desires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434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沉浸式体验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011680" y="443484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011680" y="4434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影子观察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443484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4434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情感映射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三个层次对比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2560320" cy="6400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8872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9A8C98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08760"/>
            <a:ext cx="2560320" cy="32004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536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观察行为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外部可见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697480"/>
            <a:ext cx="201168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"做什么"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20440" y="118872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20440" y="1188720"/>
            <a:ext cx="2560320" cy="6400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5" name="Shape 13"/>
          <p:cNvSpPr/>
          <p:nvPr/>
        </p:nvSpPr>
        <p:spPr>
          <a:xfrm>
            <a:off x="3520440" y="118872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4A4E69"/>
          </a:solidFill>
          <a:ln/>
        </p:spPr>
      </p:sp>
      <p:sp>
        <p:nvSpPr>
          <p:cNvPr id="16" name="Shape 14"/>
          <p:cNvSpPr/>
          <p:nvPr/>
        </p:nvSpPr>
        <p:spPr>
          <a:xfrm>
            <a:off x="3520440" y="1508760"/>
            <a:ext cx="2560320" cy="3200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20440" y="1536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倾听言语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0332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用户自述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94760" y="2697480"/>
            <a:ext cx="201168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"说什么"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0" y="118872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1188720"/>
            <a:ext cx="256032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118872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1508760"/>
            <a:ext cx="2560320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深层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00800" y="1536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感受内心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内在动机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675120" y="2697480"/>
            <a:ext cx="201168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"在乎什么"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080" y="4251960"/>
            <a:ext cx="7863840" cy="548640"/>
          </a:xfrm>
          <a:prstGeom prst="roundRect">
            <a:avLst>
              <a:gd name="adj" fmla="val 10000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297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关键洞察：层次越深，洞察越有价值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共情访谈的目的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280160"/>
          </a:xfrm>
          <a:prstGeom prst="roundRect">
            <a:avLst>
              <a:gd name="adj" fmla="val 7143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不是问用户想要什么解决方案，而是理解他们面临的问题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访谈三大目标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32918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发现用户没说出口的需求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83280" y="310896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32918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理解用户行为背后的原因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310896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32918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找到创新的机会点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共情访谈准备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CHECKLIST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81328"/>
            <a:ext cx="420624" cy="42062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3716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明确访谈目标和问题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80467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212848"/>
            <a:ext cx="420624" cy="42062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1031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选择合适的访谈对象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80467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2944368"/>
            <a:ext cx="420624" cy="42062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834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准备访谈提纲（开放式问题）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80467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675888"/>
            <a:ext cx="420624" cy="42062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566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设定场景和环境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80467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4407408"/>
            <a:ext cx="420624" cy="42062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2976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准备记录工具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共情访谈技巧：提问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技巧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用开放式问题开场（什么、怎样、为什么）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659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避免引导性问题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56032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4688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从具体情境切入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80467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361188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9A8C9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6118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"你喜欢这个功能吗？"（引导）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1148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"你平时怎么使用这个功能？"（开放）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共情访谈技巧：倾听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技巧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全神贯注地听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不要打断用户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46888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774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用沉默引导用户深入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292608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8346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用简短的回应表示理解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8046720" cy="1371600"/>
          </a:xfrm>
          <a:prstGeom prst="roundRect">
            <a:avLst>
              <a:gd name="adj" fmla="val 6667"/>
            </a:avLst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71600" y="3794760"/>
            <a:ext cx="3822192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794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212080" y="3794760"/>
            <a:ext cx="1901952" cy="4572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3429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32320" y="3794760"/>
            <a:ext cx="621792" cy="45720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3429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3794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共情访谈技巧：追问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技巧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5Why追问法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7744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连续问为什么挖掘深层原因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38404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057400"/>
            <a:ext cx="54864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03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情境追问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377440" y="2103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请描述最近一次...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38404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651760"/>
            <a:ext cx="54864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97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情感追问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377440" y="2697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那时候你感觉怎么样？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用户说"太麻烦了"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057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为什么觉得麻烦？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331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麻烦在哪一步？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3063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深入挖掘真正原因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5Why追问法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640080"/>
          </a:xfrm>
          <a:prstGeom prst="roundRect">
            <a:avLst>
              <a:gd name="adj" fmla="val 8571"/>
            </a:avLst>
          </a:prstGeom>
          <a:solidFill>
            <a:srgbClr val="D4D4D4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通过连续追问"为什么"来挖掘问题的根本原因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示例流程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029200" cy="365760"/>
          </a:xfrm>
          <a:prstGeom prst="roundRect">
            <a:avLst>
              <a:gd name="adj" fmla="val 10000"/>
            </a:avLst>
          </a:prstGeom>
          <a:solidFill>
            <a:srgbClr val="9A8C9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0020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"我不想去健身房"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5029200" cy="365760"/>
          </a:xfrm>
          <a:prstGeom prst="roundRect">
            <a:avLst>
              <a:gd name="adj" fmla="val 10000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0020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"因为每次去都很累"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880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5029200" cy="365760"/>
          </a:xfrm>
          <a:prstGeom prst="roundRect">
            <a:avLst>
              <a:gd name="adj" fmla="val 10000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971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0020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"因为要开车半小时"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2918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5029200" cy="365760"/>
          </a:xfrm>
          <a:prstGeom prst="roundRect">
            <a:avLst>
              <a:gd name="adj" fmla="val 10000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00200" y="3383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"因为我家附近没有近的"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703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794760"/>
            <a:ext cx="5029200" cy="365760"/>
          </a:xfrm>
          <a:prstGeom prst="roundRect">
            <a:avLst>
              <a:gd name="adj" fmla="val 10000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794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00200" y="3794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"因为我搬家后没重新找"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1148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206240"/>
            <a:ext cx="5029200" cy="365760"/>
          </a:xfrm>
          <a:prstGeom prst="roundRect">
            <a:avLst>
              <a:gd name="adj" fmla="val 10000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206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0020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"因为我太忙了，没时间研究"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52160" y="21488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3504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时间管理问题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03504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不是健身房问题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17920" y="3657600"/>
            <a:ext cx="1828800" cy="0"/>
          </a:xfrm>
          <a:prstGeom prst="line">
            <a:avLst/>
          </a:prstGeom>
          <a:noFill/>
          <a:ln w="12700">
            <a:solidFill>
              <a:srgbClr val="F5F5F5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解决方案方向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帮用户节省时间或找到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更近的健身房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共情访谈记录要点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18872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用户原话（verbatim）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87452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7830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用户的情绪和语气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256032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4688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用户的行为细节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24612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1546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你的观察和感受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93192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8404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洞察和启发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852160" y="109728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3504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92240" y="1828800"/>
            <a:ext cx="457200" cy="457200"/>
          </a:xfrm>
          <a:prstGeom prst="ellipse">
            <a:avLst/>
          </a:prstGeom>
          <a:solidFill>
            <a:srgbClr val="C41E3A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2560320"/>
            <a:ext cx="457200" cy="457200"/>
          </a:xfrm>
          <a:prstGeom prst="ellipse">
            <a:avLst/>
          </a:prstGeom>
          <a:solidFill>
            <a:srgbClr val="C41E3A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92240" y="3291840"/>
            <a:ext cx="457200" cy="457200"/>
          </a:xfrm>
          <a:prstGeom prst="ellipse">
            <a:avLst/>
          </a:prstGeom>
          <a:solidFill>
            <a:srgbClr val="C41E3A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0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共情画布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8640" y="4434840"/>
            <a:ext cx="8046720" cy="41148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提示：尽量使用用户原话，记录真实的情感和反应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共情画布（Empathy Map）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0" y="2651760"/>
            <a:ext cx="1828800" cy="10972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26517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73152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SEE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用户看到了什么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73152" cy="10972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 HEAR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用户听到了什么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09728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097280"/>
            <a:ext cx="73152" cy="10972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说/做 SAY/DO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用户说什么/做什么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291840"/>
            <a:ext cx="73152" cy="10972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 THINK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840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用户在想什么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329184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3291840"/>
            <a:ext cx="73152" cy="10972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PAIN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3840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用户的痛苦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329184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3291840"/>
            <a:ext cx="73152" cy="10972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 GAIN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2240" y="3840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用户的收获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共情画布使用步骤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280160" cy="18288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5544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确定研究对象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74520" y="1371600"/>
            <a:ext cx="1280160" cy="18288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0" y="15544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65960" y="21488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团队头脑风暴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观察到的行为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54680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91840" y="1371600"/>
            <a:ext cx="1280160" cy="18288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03320" y="15544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3703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83280" y="21488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整合访谈信息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09160" y="1371600"/>
            <a:ext cx="1280160" cy="18288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20640" y="15544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00600" y="21488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识别情感和动机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89320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26480" y="1371600"/>
            <a:ext cx="1280160" cy="18288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37960" y="15544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17920" y="21488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提炼洞察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06640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43800" y="1371600"/>
            <a:ext cx="1280160" cy="18288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55280" y="15544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79552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635240" y="21488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产出用户洞见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347472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D4D4D4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使用提示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39776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团队协作：让不同角色（产品、设计、研发、市场）一起填写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基于事实：从实际观察和访谈中获取信息，避免假设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迭代完善：随着访谈深入，不断更新和修正画布内容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创星小队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1691640"/>
            <a:ext cx="822960" cy="41148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916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3080" y="16916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某在线教育创业团队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286000"/>
            <a:ext cx="822960" cy="41148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2860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22860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K12在线辅导APP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2880360"/>
            <a:ext cx="822960" cy="41148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8803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83080" y="28803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用户留存率低，不知道原因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3291840"/>
            <a:ext cx="758952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429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他们是如何用共情访谈找到答案的？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0" y="388620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3886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下一页：共情访谈发现 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创星小队：共情访谈发现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109728" cy="10515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325880"/>
            <a:ext cx="822960" cy="411480"/>
          </a:xfrm>
          <a:prstGeom prst="roundRect">
            <a:avLst>
              <a:gd name="adj" fmla="val 8889"/>
            </a:avLst>
          </a:prstGeom>
          <a:solidFill>
            <a:srgbClr val="9A8C98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3258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100584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用户说"课程太难了"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0" y="1965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深入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194560"/>
            <a:ext cx="109728" cy="105156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2514600"/>
            <a:ext cx="822960" cy="411480"/>
          </a:xfrm>
          <a:prstGeom prst="roundRect">
            <a:avLst>
              <a:gd name="adj" fmla="val 8889"/>
            </a:avLst>
          </a:prstGeom>
          <a:solidFill>
            <a:srgbClr val="4A4E69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5146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28800" y="219456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用户说"跟不上，想放弃"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0" y="3154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深入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383280"/>
            <a:ext cx="109728" cy="10515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703320"/>
            <a:ext cx="822960" cy="411480"/>
          </a:xfrm>
          <a:prstGeom prst="roundRect">
            <a:avLst>
              <a:gd name="adj" fmla="val 8889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7033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828800" y="338328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用户真正在乎的是"不想在同学面前丢脸"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251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44805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不是课程难度问题，是社交比较问题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创星小队：深层洞察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256032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孩子在乎同伴评价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3280" y="100584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005840"/>
            <a:ext cx="256032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66160" y="1828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在线学习中缺乏比较对象反而更焦虑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05840"/>
            <a:ext cx="256032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需要建立新的学习动力机制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8046720" cy="1463040"/>
          </a:xfrm>
          <a:prstGeom prst="roundRect">
            <a:avLst>
              <a:gd name="adj" fmla="val 5000"/>
            </a:avLst>
          </a:prstGeom>
          <a:solidFill>
            <a:srgbClr val="D4D4D4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后续：基于洞察的产品迭代方向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" y="3867912"/>
            <a:ext cx="137160" cy="1371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3794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引入学习伙伴机制，增加同伴互动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" y="4187952"/>
            <a:ext cx="137160" cy="1371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4114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设计匿名学习圈，减少直接比较焦虑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4507992"/>
            <a:ext cx="137160" cy="1371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4434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建立基于个人进步的评价体系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4A4E6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共情访谈实战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161288"/>
            <a:ext cx="420624" cy="42062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161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051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组队（3-4人/组）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26280" y="105156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61288"/>
            <a:ext cx="420624" cy="42062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161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1051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选择一个熟悉的场景（如：食堂排队）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1938528"/>
            <a:ext cx="420624" cy="42062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1828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轮流扮演访谈者和用户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26280" y="182880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938528"/>
            <a:ext cx="420624" cy="42062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12080" y="1828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用5Why挖掘深层原因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292608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时间：20分钟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练习提示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" y="4279392"/>
            <a:ext cx="137160" cy="1371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42062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选择你真正熟悉的场景，这样更容易深入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4599432"/>
            <a:ext cx="137160" cy="1371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45262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用户可以回忆真实经历，访谈者尝试挖掘深层原因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练习指导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访谈提纲示例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请描述一次你在食堂排队的经历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14884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0574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那时候你在想什么？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274320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6517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你觉得等待时间长吗？为什么？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33756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2461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如果可以改变一件事，你会改变什么？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2976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不要给建议，引导用户自己思考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共情访谈常见错误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61288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61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005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问太多"为什么"变成质问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938528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783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给用户建议或解决方案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715768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15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560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引导用户说出你期望的答案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493008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93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337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只听你想听的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1161288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161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1005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访谈时间过长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78308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1938528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1783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没有记录或记录不完整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256032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2715768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2715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94960" y="2560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把假设当结论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4206240"/>
            <a:ext cx="8046720" cy="594360"/>
          </a:xfrm>
          <a:prstGeom prst="roundRect">
            <a:avLst>
              <a:gd name="adj" fmla="val 9231"/>
            </a:avLst>
          </a:prstGeom>
          <a:solidFill>
            <a:srgbClr val="4A4E69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核心原则：保持好奇心，不评判，不引导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模块一小结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SUMMARY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256032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E3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共情三层次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观察行为 → 倾听言语 → 感受内心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29000" y="141732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417320"/>
            <a:ext cx="256032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E3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1188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访谈技巧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11880" y="2514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开放式提问、深度倾听、5Why追问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41732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417320"/>
            <a:ext cx="256032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E3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9224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2514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共情画布帮助整合洞察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8046720" cy="1234440"/>
          </a:xfrm>
          <a:prstGeom prst="roundRect">
            <a:avLst>
              <a:gd name="adj" fmla="val 7407"/>
            </a:avLst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39319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 — 看见真问题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A4E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C41E3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2194560" cy="459486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从"看见问题"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到"定义问题"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371600" y="36576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6576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 · 重问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0" y="914400"/>
            <a:ext cx="1828800" cy="1828800"/>
          </a:xfrm>
          <a:prstGeom prst="rect">
            <a:avLst/>
          </a:prstGeom>
          <a:solidFill>
            <a:srgbClr val="F5F5F5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0" y="1371600"/>
            <a:ext cx="1371600" cy="1371600"/>
          </a:xfrm>
          <a:prstGeom prst="rect">
            <a:avLst/>
          </a:prstGeom>
          <a:solidFill>
            <a:srgbClr val="C41E3A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5F5F5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4A4E6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模块一检验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91440" cy="10515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29844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100584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共情三个层次的含义是什么？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240280"/>
            <a:ext cx="91440" cy="10515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253288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224028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5Why追问法的核心是什么？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474720"/>
            <a:ext cx="91440" cy="10515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376732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347472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举一个你观察到的"表层问题vs深层需求"的例子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8046720" cy="640080"/>
          </a:xfrm>
          <a:prstGeom prst="roundRect">
            <a:avLst>
              <a:gd name="adj" fmla="val 8571"/>
            </a:avLst>
          </a:prstGeom>
          <a:solidFill>
            <a:srgbClr val="D4D4D4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思考后写下你的答案，准备与大家分享讨论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模块二·重问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474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问题重定义，打开可能性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4114800"/>
            <a:ext cx="1828800" cy="45720"/>
          </a:xfrm>
          <a:prstGeom prst="rect">
            <a:avLst/>
          </a:prstGeom>
          <a:solidFill>
            <a:srgbClr val="D4D4D4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模块二学习目标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256032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182880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理解问题层级金字塔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20440" y="146304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463040"/>
            <a:ext cx="256032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182880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0" y="26517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掌握HMW句型进行问题重定义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0" y="146304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463040"/>
            <a:ext cx="256032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6" name="Shape 14"/>
          <p:cNvSpPr/>
          <p:nvPr/>
        </p:nvSpPr>
        <p:spPr>
          <a:xfrm>
            <a:off x="7360920" y="182880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609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37960" y="26517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学会使用问题选择双轴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问题层级金字塔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3566160" y="1188720"/>
            <a:ext cx="2011680" cy="77724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5" name="Text 3"/>
          <p:cNvSpPr/>
          <p:nvPr/>
        </p:nvSpPr>
        <p:spPr>
          <a:xfrm>
            <a:off x="3566160" y="1188720"/>
            <a:ext cx="2011680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66160" y="1577340"/>
            <a:ext cx="2011680" cy="388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你认为的答案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1965960"/>
            <a:ext cx="3108960" cy="7772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1965960"/>
            <a:ext cx="3108960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0" y="2354580"/>
            <a:ext cx="3108960" cy="388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用户表达的问题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2743200"/>
            <a:ext cx="420624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2743200"/>
            <a:ext cx="4206240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68880" y="3131820"/>
            <a:ext cx="4206240" cy="388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问题的根本原因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20240" y="3520440"/>
            <a:ext cx="530352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1920240" y="3520440"/>
            <a:ext cx="5303520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20240" y="3909060"/>
            <a:ext cx="5303520" cy="388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用户的核心需求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1463040"/>
            <a:ext cx="0" cy="256032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D4D4D4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从解决方案思维 → 问题思维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从症状到根因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1E3A"/>
          </a:solidFill>
          <a:ln/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188720"/>
          <a:ext cx="7315200" cy="2560320"/>
        </p:xfrm>
        <a:graphic>
          <a:graphicData uri="http://schemas.openxmlformats.org/drawingml/2006/table">
            <a:tbl>
              <a:tblPr/>
              <a:tblGrid>
                <a:gridCol w="3200400"/>
                <a:gridCol w="411480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症状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根因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4E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用户不续费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没有感受到价值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4E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用户流失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期望与现实差距大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4E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投诉多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服务响应不及时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4E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功能使用率低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功能与实际需求不匹配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9319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治标不治本，需要找到真正根因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问题的相对性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D4D4D4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一个问题的表述方式决定了解决方案的方向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657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20240"/>
            <a:ext cx="73152" cy="20116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“如何让用户多运动？”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160520" y="26517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920240"/>
            <a:ext cx="3657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920240"/>
            <a:ext cx="73152" cy="2011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5603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“如何让运动变得有趣？”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两个问题完全不同，答案也完全不同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重新定义问题 = 重新定义方向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HMW句型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Might We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Might We = 我们如何能够...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4A4E6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3716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将问题转化为机会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91440" cy="0"/>
          </a:xfrm>
          <a:prstGeom prst="line">
            <a:avLst/>
          </a:prstGeom>
          <a:noFill/>
          <a:ln w="25400">
            <a:solidFill>
              <a:srgbClr val="9A8C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问题转化示例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3474720" cy="640080"/>
          </a:xfrm>
          <a:prstGeom prst="roundRect">
            <a:avLst>
              <a:gd name="adj" fmla="val 8571"/>
            </a:avLst>
          </a:prstGeom>
          <a:solidFill>
            <a:srgbClr val="D4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80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用户留存率低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23360" y="28803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480560" y="288036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2880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我们如何能让用户每天都回来？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3474720" cy="640080"/>
          </a:xfrm>
          <a:prstGeom prst="roundRect">
            <a:avLst>
              <a:gd name="adj" fmla="val 8571"/>
            </a:avLst>
          </a:prstGeom>
          <a:solidFill>
            <a:srgbClr val="D4D4D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033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用户不续费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23360" y="37033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480560" y="370332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3703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我们如何能让用户感受到持续价值？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HMW从何而来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HMW questions come from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共情访谈的洞察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54864" cy="10972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41732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7373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用户痛点分析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54864" cy="10972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74320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0632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问题根因挖掘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2743200"/>
            <a:ext cx="54864" cy="10972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274320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0632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团队讨论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663440" y="2743200"/>
            <a:ext cx="54864" cy="109728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0690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4A4E69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069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关键点：HMW不是拍脑袋，是基于洞察的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好HMW vs 差HMW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HMW vs Bad HMW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 HMW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05740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足够小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331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可在一周内验证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278892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743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足够大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不是简单功能点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352044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聚焦用户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3794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关注用户需求而非产品功能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132588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9A8C98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325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 HMW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63440" y="187452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2057400"/>
            <a:ext cx="320040" cy="3200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如何让产品成功？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49240" y="2350008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D4D4D4"/>
          </a:solidFill>
          <a:ln/>
        </p:spPr>
      </p:sp>
      <p:sp>
        <p:nvSpPr>
          <p:cNvPr id="27" name="Text 25"/>
          <p:cNvSpPr/>
          <p:nvPr/>
        </p:nvSpPr>
        <p:spPr>
          <a:xfrm>
            <a:off x="5349240" y="23500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太大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2788920"/>
            <a:ext cx="320040" cy="3200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49240" y="2743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如何加一个按钮？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49240" y="3081528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D4D4D4"/>
          </a:solidFill>
          <a:ln/>
        </p:spPr>
      </p:sp>
      <p:sp>
        <p:nvSpPr>
          <p:cNvPr id="32" name="Text 30"/>
          <p:cNvSpPr/>
          <p:nvPr/>
        </p:nvSpPr>
        <p:spPr>
          <a:xfrm>
            <a:off x="5349240" y="3081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太小/解决方案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92040" y="3520440"/>
            <a:ext cx="320040" cy="3200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49240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如何让用户开心？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49240" y="3813048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D4D4D4"/>
          </a:solidFill>
          <a:ln/>
        </p:spPr>
      </p:sp>
      <p:sp>
        <p:nvSpPr>
          <p:cNvPr id="37" name="Text 35"/>
          <p:cNvSpPr/>
          <p:nvPr/>
        </p:nvSpPr>
        <p:spPr>
          <a:xfrm>
            <a:off x="5349240" y="38130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太抽象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HMW练习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 Exercise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4A4E6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已知洞察：用户在等待电梯时感到焦虑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任务：请写出3个HMW问题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697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HMW: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920240" y="2697480"/>
            <a:ext cx="6675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D4D4D4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31520" y="333756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337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HMW: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920240" y="3337560"/>
            <a:ext cx="6675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D4D4D4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31520" y="39776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977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HMW: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920240" y="3977640"/>
            <a:ext cx="6675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D4D4D4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8640" y="4572000"/>
            <a:ext cx="8046720" cy="320040"/>
          </a:xfrm>
          <a:prstGeom prst="roundRect">
            <a:avLst>
              <a:gd name="adj" fmla="val 11429"/>
            </a:avLst>
          </a:prstGeom>
          <a:solidFill>
            <a:srgbClr val="D4D4D4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提示：从不同角度切入（技术、体验、情感）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问题选择双轴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SELECTION MATRIX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2743200" cy="1554480"/>
          </a:xfrm>
          <a:prstGeom prst="rect">
            <a:avLst/>
          </a:prstGeom>
          <a:solidFill>
            <a:srgbClr val="2E7D32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1463040"/>
            <a:ext cx="2743200" cy="1554480"/>
          </a:xfrm>
          <a:prstGeom prst="rect">
            <a:avLst/>
          </a:prstGeom>
          <a:solidFill>
            <a:srgbClr val="F9A825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3017520"/>
            <a:ext cx="2743200" cy="1554480"/>
          </a:xfrm>
          <a:prstGeom prst="rect">
            <a:avLst/>
          </a:prstGeom>
          <a:solidFill>
            <a:srgbClr val="1565C0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0" y="3017520"/>
            <a:ext cx="2743200" cy="1554480"/>
          </a:xfrm>
          <a:prstGeom prst="rect">
            <a:avLst/>
          </a:prstGeom>
          <a:solidFill>
            <a:srgbClr val="C41E3A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114800" y="1463040"/>
            <a:ext cx="0" cy="3108960"/>
          </a:xfrm>
          <a:prstGeom prst="line">
            <a:avLst/>
          </a:prstGeom>
          <a:noFill/>
          <a:ln w="19050">
            <a:solidFill>
              <a:srgbClr val="4A4E69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3017520"/>
            <a:ext cx="5486400" cy="0"/>
          </a:xfrm>
          <a:prstGeom prst="line">
            <a:avLst/>
          </a:prstGeom>
          <a:noFill/>
          <a:ln w="19050">
            <a:solidFill>
              <a:srgbClr val="4A4E69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164592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1645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148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影响大 + 易实现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64592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F9A825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1645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规划做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51960" y="2148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影响大 + 难实现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54480" y="320040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1554480" y="3200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少做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影响小 + 易实现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320040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3200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5196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影响小 + 难实现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71600" y="4800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影响范围 (小 → 大)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实现难度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154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(易 → 难)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49440" y="4498848"/>
            <a:ext cx="320040" cy="146304"/>
          </a:xfrm>
          <a:prstGeom prst="rightArrow">
            <a:avLst/>
          </a:prstGeom>
          <a:solidFill>
            <a:srgbClr val="4A4E69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98448" y="1325880"/>
            <a:ext cx="146304" cy="320040"/>
          </a:xfrm>
          <a:prstGeom prst="upArrow">
            <a:avLst/>
          </a:prstGeom>
          <a:solidFill>
            <a:srgbClr val="4A4E69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223760" y="1645920"/>
            <a:ext cx="1645920" cy="2560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选择原则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406640" y="2194560"/>
            <a:ext cx="128016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60920" y="2331720"/>
            <a:ext cx="256032" cy="25603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7360920" y="2331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80960" y="230428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优先做高影响、易实现的问题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60920" y="2834640"/>
            <a:ext cx="256032" cy="25603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7360920" y="2834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80960" y="280720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规划做高影响、难实现的问题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60920" y="3337560"/>
            <a:ext cx="256032" cy="25603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7360920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80960" y="331012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少做低影响、易实现的问题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360920" y="3840480"/>
            <a:ext cx="256032" cy="25603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1" name="Text 39"/>
          <p:cNvSpPr/>
          <p:nvPr/>
        </p:nvSpPr>
        <p:spPr>
          <a:xfrm>
            <a:off x="7360920" y="384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680960" y="381304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不做低影响、难实现的问题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影响力-可行性矩阵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IMPACT-FEASIBILITY MATRIX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11880" y="1371600"/>
            <a:ext cx="2514600" cy="1600200"/>
          </a:xfrm>
          <a:prstGeom prst="rect">
            <a:avLst/>
          </a:prstGeom>
          <a:solidFill>
            <a:srgbClr val="2E7D32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371600"/>
            <a:ext cx="2514600" cy="1600200"/>
          </a:xfrm>
          <a:prstGeom prst="rect">
            <a:avLst/>
          </a:prstGeom>
          <a:solidFill>
            <a:srgbClr val="C41E3A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11880" y="2971800"/>
            <a:ext cx="2514600" cy="1600200"/>
          </a:xfrm>
          <a:prstGeom prst="rect">
            <a:avLst/>
          </a:prstGeom>
          <a:solidFill>
            <a:srgbClr val="1565C0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2971800"/>
            <a:ext cx="2514600" cy="1600200"/>
          </a:xfrm>
          <a:prstGeom prst="rect">
            <a:avLst/>
          </a:prstGeom>
          <a:solidFill>
            <a:srgbClr val="9A8C98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611880" y="1371600"/>
            <a:ext cx="0" cy="3200400"/>
          </a:xfrm>
          <a:prstGeom prst="line">
            <a:avLst/>
          </a:prstGeom>
          <a:noFill/>
          <a:ln w="25400">
            <a:solidFill>
              <a:srgbClr val="4A4E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971800"/>
            <a:ext cx="5029200" cy="0"/>
          </a:xfrm>
          <a:prstGeom prst="line">
            <a:avLst/>
          </a:prstGeom>
          <a:noFill/>
          <a:ln w="25400">
            <a:solidFill>
              <a:srgbClr val="4A4E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86200" y="16002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3886200" y="1627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明星区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8620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立即行动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16002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1627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长期投入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86200" y="32004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886200" y="3227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填充区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见缝插针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71600" y="32004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9A8C98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3227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放弃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51560" y="4846320"/>
            <a:ext cx="5029200" cy="0"/>
          </a:xfrm>
          <a:prstGeom prst="line">
            <a:avLst/>
          </a:prstGeom>
          <a:noFill/>
          <a:ln w="19050">
            <a:solidFill>
              <a:srgbClr val="4A4E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4773168"/>
            <a:ext cx="274320" cy="146304"/>
          </a:xfrm>
          <a:prstGeom prst="rightArrow">
            <a:avLst/>
          </a:prstGeom>
          <a:solidFill>
            <a:srgbClr val="4A4E69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4983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 (难 → 易)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1371600"/>
            <a:ext cx="0" cy="3200400"/>
          </a:xfrm>
          <a:prstGeom prst="line">
            <a:avLst/>
          </a:prstGeom>
          <a:noFill/>
          <a:ln w="19050">
            <a:solidFill>
              <a:srgbClr val="4A4E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1234440"/>
            <a:ext cx="146304" cy="274320"/>
          </a:xfrm>
          <a:prstGeom prst="upArrow">
            <a:avLst/>
          </a:prstGeom>
          <a:solidFill>
            <a:srgbClr val="4A4E69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影响力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(低 → 高)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1463040"/>
            <a:ext cx="228600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四象限行动指南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675120" y="2011680"/>
            <a:ext cx="192024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29400" y="2148840"/>
            <a:ext cx="73152" cy="3657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4" name="Text 32"/>
          <p:cNvSpPr/>
          <p:nvPr/>
        </p:nvSpPr>
        <p:spPr>
          <a:xfrm>
            <a:off x="6766560" y="21305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明星区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52360" y="21305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立即行动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66560" y="23500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高影响+易实现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629400" y="2679192"/>
            <a:ext cx="73152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0" y="266090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问题区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52360" y="266090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长期投入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66560" y="2880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高影响+难实现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629400" y="3209544"/>
            <a:ext cx="73152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2" name="Text 40"/>
          <p:cNvSpPr/>
          <p:nvPr/>
        </p:nvSpPr>
        <p:spPr>
          <a:xfrm>
            <a:off x="6766560" y="319125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填充区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52360" y="319125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见缝插针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66560" y="34107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低影响+易实现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629400" y="3739896"/>
            <a:ext cx="73152" cy="365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6" name="Text 44"/>
          <p:cNvSpPr/>
          <p:nvPr/>
        </p:nvSpPr>
        <p:spPr>
          <a:xfrm>
            <a:off x="6766560" y="3721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消除区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52360" y="3721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放弃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766560" y="39410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低影响+难实现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0" name="Text 4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问题优先级排序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PRIORITY RANKING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246888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169164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先影响大，后影响小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优先解决覆盖面广、影响用户数量多的问题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54680" y="24231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429000" y="141732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417320"/>
            <a:ext cx="246888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69164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6616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先易后难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66160" y="2971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快速解决容易验证的问题，建立信心和进度感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24231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217920" y="141732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417320"/>
            <a:ext cx="246888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169164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5508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先验证后开发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55080" y="2971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用最小成本验证问题真实性，再投入资源开发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160520"/>
            <a:ext cx="7863840" cy="457200"/>
          </a:xfrm>
          <a:prstGeom prst="roundRect">
            <a:avLst>
              <a:gd name="adj" fmla="val 10000"/>
            </a:avLst>
          </a:prstGeom>
          <a:solidFill>
            <a:srgbClr val="4A4E69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160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优先级顺序:  1 → 2 → 3  （先解决 #1，不满足时看 #2，仍不满足看 #3）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32320" y="141732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178040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团队投票决定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案例：创星小队-问题重定义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CASE: PROBLEM REDEFINITION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原始问题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36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如何让用户坚持学习？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548640" cy="640080"/>
          </a:xfrm>
          <a:prstGeom prst="roundRect">
            <a:avLst>
              <a:gd name="adj" fmla="val 10000"/>
            </a:avLst>
          </a:prstGeom>
          <a:solidFill>
            <a:srgbClr val="4A4E6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574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88720" y="2057400"/>
            <a:ext cx="2926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为什么看不到进步？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2651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807208"/>
            <a:ext cx="548640" cy="640080"/>
          </a:xfrm>
          <a:prstGeom prst="roundRect">
            <a:avLst>
              <a:gd name="adj" fmla="val 10000"/>
            </a:avLst>
          </a:prstGeom>
          <a:solidFill>
            <a:srgbClr val="4A4E6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80720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88720" y="2807208"/>
            <a:ext cx="2926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2944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为什么只有在学？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3401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557016"/>
            <a:ext cx="548640" cy="640080"/>
          </a:xfrm>
          <a:prstGeom prst="roundRect">
            <a:avLst>
              <a:gd name="adj" fmla="val 10000"/>
            </a:avLst>
          </a:prstGeom>
          <a:solidFill>
            <a:srgbClr val="4A4E6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55701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88720" y="3557016"/>
            <a:ext cx="2926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36941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为什么没有同学？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2194560"/>
            <a:ext cx="4206240" cy="2194560"/>
          </a:xfrm>
          <a:prstGeom prst="roundRect">
            <a:avLst>
              <a:gd name="adj" fmla="val 4167"/>
            </a:avLst>
          </a:prstGeom>
          <a:solidFill>
            <a:srgbClr val="C41E3A">
              <a:alpha val="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根本原因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269748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2697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产品缺乏社交属性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709160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3749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用户学习动力来自于同伴的比较与陪伴，而非单纯的内容质量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6052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创星小队：HMW生成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CASE: HMW GENERATION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4A4E69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基于洞察：产品缺乏社交属性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1031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我们如何能在没有同学的情况下建立学习动力？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291840"/>
            <a:ext cx="457200" cy="45720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2918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我们如何能让用户看到自己的进步？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480560"/>
            <a:ext cx="457200" cy="45720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4805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我们如何能让学习变得有社交属性？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4023360" cy="2468880"/>
          </a:xfrm>
          <a:prstGeom prst="roundRect">
            <a:avLst>
              <a:gd name="adj" fmla="val 4444"/>
            </a:avLst>
          </a:prstGeom>
          <a:solidFill>
            <a:srgbClr val="C41E3A"/>
          </a:solidFill>
          <a:ln/>
          <a:effectLst>
            <a:outerShdw sx="100000" sy="100000" kx="0" ky="0" algn="bl" rotWithShape="0" blurRad="762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2148840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77840" y="22219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 HMW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2834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我们如何能让学习变得有社交属性？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029200" y="4023360"/>
            <a:ext cx="34747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最直接解决根本问题，且具有可操作性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80960" y="214884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26280" y="2926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创星小队：方案方向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基于HMW产生的解决方案方向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256032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学习小组功能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组队学习，互相监督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146304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463040"/>
            <a:ext cx="256032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6160" y="17373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进步可视化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展示学习轨迹和成就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46304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463040"/>
            <a:ext cx="256032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17373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竞技排行榜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激发竞争动力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8046720" cy="822960"/>
          </a:xfrm>
          <a:prstGeom prst="rect">
            <a:avLst/>
          </a:prstGeom>
          <a:solidFill>
            <a:srgbClr val="4A4E69">
              <a:alpha val="9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657600"/>
            <a:ext cx="73152" cy="8229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后续验证方向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先做MVP测试哪个方向更有效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问题重定义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589520" y="274320"/>
            <a:ext cx="731520" cy="45720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274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25分钟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给定一个常见问题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9808" y="1554480"/>
            <a:ext cx="0" cy="320040"/>
          </a:xfrm>
          <a:prstGeom prst="line">
            <a:avLst/>
          </a:prstGeom>
          <a:noFill/>
          <a:ln w="25400">
            <a:solidFill>
              <a:srgbClr val="D4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92024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用5Why分析根因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9808" y="2377440"/>
            <a:ext cx="0" cy="320040"/>
          </a:xfrm>
          <a:prstGeom prst="line">
            <a:avLst/>
          </a:prstGeom>
          <a:noFill/>
          <a:ln w="25400">
            <a:solidFill>
              <a:srgbClr val="D4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74320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生成3个HMW句型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9808" y="3200400"/>
            <a:ext cx="0" cy="320040"/>
          </a:xfrm>
          <a:prstGeom prst="line">
            <a:avLst/>
          </a:prstGeom>
          <a:noFill/>
          <a:ln w="25400">
            <a:solidFill>
              <a:srgbClr val="D4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56616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用双轴评估优先级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03520" y="1188720"/>
            <a:ext cx="1463040" cy="5486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1188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03520" y="2103120"/>
            <a:ext cx="1463040" cy="54864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5Why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0352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03520" y="3017520"/>
            <a:ext cx="146304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0" y="3017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303520" y="3931920"/>
            <a:ext cx="1463040" cy="5486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0" y="3931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4572000"/>
            <a:ext cx="4114800" cy="365760"/>
          </a:xfrm>
          <a:prstGeom prst="rect">
            <a:avLst/>
          </a:prstGeom>
          <a:solidFill>
            <a:srgbClr val="4A4E69">
              <a:alpha val="1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572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双手互搏：左手问题 → 右手机会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练习场景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804672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371600"/>
            <a:ext cx="1645920" cy="4114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场景设定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某外卖APP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2011680"/>
            <a:ext cx="7315200" cy="640080"/>
          </a:xfrm>
          <a:prstGeom prst="rect">
            <a:avLst/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2011680"/>
            <a:ext cx="73152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0116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用户投诉"送餐太慢"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你的任务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24612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32278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用5Why找到根因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374904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37307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生成HMW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14400" y="425196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42336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选择优先解决哪个HMW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4400" y="4709160"/>
            <a:ext cx="7315200" cy="27432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572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提示：先发散找根因，再聚焦定优先级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参考答案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0574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5Why分析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640080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05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为什么投诉送餐慢？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235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因为等待时间超出预期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389888"/>
            <a:ext cx="0" cy="256032"/>
          </a:xfrm>
          <a:prstGeom prst="line">
            <a:avLst/>
          </a:prstGeom>
          <a:noFill/>
          <a:ln w="25400">
            <a:solidFill>
              <a:srgbClr val="D4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664208"/>
            <a:ext cx="640080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6642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16642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为什么超出预期？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23560" y="1664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因为显示时间和实际时间差太多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048256"/>
            <a:ext cx="0" cy="256032"/>
          </a:xfrm>
          <a:prstGeom prst="line">
            <a:avLst/>
          </a:prstGeom>
          <a:noFill/>
          <a:ln w="25400">
            <a:solidFill>
              <a:srgbClr val="D4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322576"/>
            <a:ext cx="640080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3225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08760" y="23225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为什么有差距？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23560" y="23225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因为骑手数量不够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51560" y="2706624"/>
            <a:ext cx="0" cy="256032"/>
          </a:xfrm>
          <a:prstGeom prst="line">
            <a:avLst/>
          </a:prstGeom>
          <a:noFill/>
          <a:ln w="25400">
            <a:solidFill>
              <a:srgbClr val="D4D4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2980944"/>
            <a:ext cx="640080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9809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08760" y="29809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为什么骑手不够？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23560" y="29809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因为高峰期人手不足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51560" y="3364992"/>
            <a:ext cx="0" cy="256032"/>
          </a:xfrm>
          <a:prstGeom prst="line">
            <a:avLst/>
          </a:prstGeom>
          <a:noFill/>
          <a:ln w="25400">
            <a:solidFill>
              <a:srgbClr val="D4D4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3639312"/>
            <a:ext cx="640080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6393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508760" y="3639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为什么高峰期人手不足？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23560" y="3639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因为运力调度算法有问题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4343400"/>
            <a:ext cx="8046720" cy="640080"/>
          </a:xfrm>
          <a:prstGeom prst="rect">
            <a:avLst/>
          </a:prstGeom>
          <a:solidFill>
            <a:srgbClr val="C41E3A">
              <a:alpha val="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4343400"/>
            <a:ext cx="9144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43434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554480" y="4343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运力调度算法优化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参考答案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0574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HMW生成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73152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188720"/>
            <a:ext cx="411480" cy="411480"/>
          </a:xfrm>
          <a:prstGeom prst="ellipse">
            <a:avLst/>
          </a:prstGeom>
          <a:solidFill>
            <a:srgbClr val="C41E3A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0058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我们如何在等待过程中管理用户预期？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920240"/>
            <a:ext cx="73152" cy="7772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2103120"/>
            <a:ext cx="411480" cy="411480"/>
          </a:xfrm>
          <a:prstGeom prst="ellipse">
            <a:avLst/>
          </a:prstGeom>
          <a:solidFill>
            <a:srgbClr val="C41E3A">
              <a:alpha val="6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19202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我们如何能更准确地预估送达时间？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834640"/>
            <a:ext cx="73152" cy="77724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017520"/>
            <a:ext cx="411480" cy="411480"/>
          </a:xfrm>
          <a:prstGeom prst="ellipse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28346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我们如何在高峰期提高运力？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749040"/>
            <a:ext cx="73152" cy="7772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3931920"/>
            <a:ext cx="411480" cy="411480"/>
          </a:xfrm>
          <a:prstGeom prst="ellipse">
            <a:avLst/>
          </a:prstGeom>
          <a:solidFill>
            <a:srgbClr val="C41E3A">
              <a:alpha val="3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37490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我们如何能让用户感知到效率提升？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8046720" cy="502920"/>
          </a:xfrm>
          <a:prstGeom prst="rect">
            <a:avLst/>
          </a:prstGeom>
          <a:solidFill>
            <a:srgbClr val="4A4E69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572000"/>
            <a:ext cx="73152" cy="5029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572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优先级选择：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148840" y="45720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看团队资源和战略重点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问题重定义常见错误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 IN PROBLEM REDEFINITION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88720" y="137160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直接给解决方案，不分析问题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88720" y="187452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5Why停在第一层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88720" y="237744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HMW太大太泛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88720" y="288036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HMW变成解决方案描述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137160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选择问题时不看影响范围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187452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团队没有共识，各做各的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237744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没有验证就执行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206240"/>
            <a:ext cx="8046720" cy="457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HMW工作卡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 WORK CARD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4A4E6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828800"/>
            <a:ext cx="2926080" cy="10972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57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正面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HMW问题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7432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might we...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写下需要解决的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用户问题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0" y="182880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0" y="1828800"/>
            <a:ext cx="2926080" cy="109728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2057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洞察来源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97680" y="27432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来自哪个用户调研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或访谈记录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7315200" y="228600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团队头脑风暴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问题筛选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卡片式，便于团队讨论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HMW工作卡模板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 WORK CARD TEMPLATE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4A4E6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1828800"/>
            <a:ext cx="50292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HMW问题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0" y="2331720"/>
            <a:ext cx="3108960" cy="0"/>
          </a:xfrm>
          <a:prstGeom prst="line">
            <a:avLst/>
          </a:prstGeom>
          <a:noFill/>
          <a:ln w="190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（写问题）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洞察来源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17520" y="2926080"/>
            <a:ext cx="3108960" cy="0"/>
          </a:xfrm>
          <a:prstGeom prst="line">
            <a:avLst/>
          </a:prstGeom>
          <a:noFill/>
          <a:ln w="1905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（来自哪个用户/访谈）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17520" y="3520440"/>
            <a:ext cx="3108960" cy="0"/>
          </a:xfrm>
          <a:prstGeom prst="line">
            <a:avLst/>
          </a:prstGeom>
          <a:noFill/>
          <a:ln w="190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（高/中/低）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3794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017520" y="4114800"/>
            <a:ext cx="3108960" cy="0"/>
          </a:xfrm>
          <a:prstGeom prst="line">
            <a:avLst/>
          </a:prstGeom>
          <a:noFill/>
          <a:ln w="19050">
            <a:solidFill>
              <a:srgbClr val="D4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（指定）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45920" y="4389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截止日期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017520" y="4709160"/>
            <a:ext cx="3108960" cy="0"/>
          </a:xfrm>
          <a:prstGeom prst="line">
            <a:avLst/>
          </a:prstGeom>
          <a:noFill/>
          <a:ln w="19050">
            <a:solidFill>
              <a:srgbClr val="D4D4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4389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（设定）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0" y="1828800"/>
            <a:ext cx="1828800" cy="2743200"/>
          </a:xfrm>
          <a:prstGeom prst="roundRect">
            <a:avLst>
              <a:gd name="adj" fmla="val 6000"/>
            </a:avLst>
          </a:prstGeom>
          <a:solidFill>
            <a:srgbClr val="D4D4D4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0" y="2286000"/>
            <a:ext cx="914400" cy="640080"/>
          </a:xfrm>
          <a:prstGeom prst="rect">
            <a:avLst/>
          </a:prstGeom>
          <a:solidFill>
            <a:srgbClr val="C41E3A">
              <a:alpha val="8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2286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问题重定义检查清单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REDEFINITION CHECKLIST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是否有共情洞察支撑？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是否用过5Why挖到根因？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HMW是否足够小可测试？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4630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5780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HMW是否足够大有空间？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01168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5780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是否考虑了不同角度？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256032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5780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是否经过团队讨论共识？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8046720" cy="457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提示：在开始解决方案设计前，逐项确认以上检查点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模块二小结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SUMMARY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54864" cy="1645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问题层级金字塔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症状 → 问题 → 根因 → 需求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5544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554480"/>
            <a:ext cx="54864" cy="1645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1188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HMW句型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1188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将问题转化为机会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554480"/>
            <a:ext cx="54864" cy="1645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4652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问题选择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652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影响力 × 可行性矩阵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8046720" cy="777240"/>
          </a:xfrm>
          <a:prstGeom prst="rect">
            <a:avLst/>
          </a:prstGeom>
          <a:solidFill>
            <a:srgbClr val="C41E3A">
              <a:alpha val="9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657600"/>
            <a:ext cx="73152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核心关键词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重问 - 定义正确的问题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4114800" y="914400"/>
            <a:ext cx="54864" cy="320040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80560" y="914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480560" y="1691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开局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480560" y="2743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创意构思，做出看得见的样子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572000"/>
            <a:ext cx="11185855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模块三学习目标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457200" cy="4572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理解系统创意构思 vs 头脑风暴的区别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89320" y="1371600"/>
            <a:ext cx="5303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554480"/>
            <a:ext cx="457200" cy="4572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0840" y="1371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掌握SCAMPER七维度发散方法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5303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606040"/>
            <a:ext cx="457200" cy="4572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4231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学会个人发散与团队发散的结合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89320" y="2423160"/>
            <a:ext cx="5303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606040"/>
            <a:ext cx="457200" cy="4572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24231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掌握点投票与收敛技巧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754880"/>
            <a:ext cx="11185855" cy="27432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什么是创意构思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185855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109728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8016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在问题被清晰定义后，产生大量可能解决方案的过程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5303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971800"/>
            <a:ext cx="731520" cy="73152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971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45920" y="2880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3337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数量优先于质量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80760" y="2651760"/>
            <a:ext cx="5303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2971800"/>
            <a:ext cx="731520" cy="73152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971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269480" y="2880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69480" y="3337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打开思路，找到更多可能性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系统创意构思 vs 传统头脑风暴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474720" cy="4572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1234440"/>
            <a:ext cx="3474720" cy="457200"/>
          </a:xfrm>
          <a:prstGeom prst="rect">
            <a:avLst/>
          </a:prstGeom>
          <a:solidFill>
            <a:srgbClr val="4A4E69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1234440"/>
            <a:ext cx="2468880" cy="457200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1234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传统头脑风暴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1234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系统创意构思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3474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37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0" y="1737360"/>
            <a:ext cx="3474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737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发散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0" y="173736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17373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有框架的发散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3474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774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0" y="2377440"/>
            <a:ext cx="3474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23774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自由联想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0" y="237744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377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借助工具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3474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0175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0" y="3017520"/>
            <a:ext cx="3474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30175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0" y="301752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3017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可覆盖更多维度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3474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657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114800" y="3657600"/>
            <a:ext cx="3474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0" y="3657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熟悉领域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772400" y="365760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3657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突破思维定式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4343400"/>
            <a:ext cx="11185855" cy="4572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3434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结论：系统创意构思更适合创新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SCAMPER七维度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087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" y="146304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154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03120" y="1280160"/>
            <a:ext cx="15087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37460" y="146304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746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48840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48840" y="2606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49040" y="1280160"/>
            <a:ext cx="15087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83380" y="146304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8338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94760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94760" y="2606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94960" y="1280160"/>
            <a:ext cx="15087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29300" y="146304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293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40680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40680" y="2606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040880" y="1280160"/>
            <a:ext cx="15087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75220" y="146304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522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086600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to other use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86600" y="2606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改变用途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686800" y="1280160"/>
            <a:ext cx="15087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21140" y="146304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2114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732520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732520" y="2606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332720" y="1280160"/>
            <a:ext cx="15087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7060" y="146304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6706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0378440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378440" y="2606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57200" y="3657600"/>
            <a:ext cx="11185855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65760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基于现有产品/服务进行改良创新的检核清单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SCAMPER: 替代(Substitute)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114800" cy="54864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问自己：什么可以替代？</a:t>
            </a:r>
            <a:endParaRPr lang="en-US" sz="16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SCAMPER: 组合(Combine)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114800" cy="54864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问自己：什么可以组合？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3832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331720"/>
            <a:ext cx="548640" cy="5486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功能组合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60520" y="2011680"/>
            <a:ext cx="33832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331720"/>
            <a:ext cx="548640" cy="5486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人群组合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63840" y="2011680"/>
            <a:ext cx="33832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2331720"/>
            <a:ext cx="548640" cy="5486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场景组合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11185855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20440"/>
            <a:ext cx="731520" cy="914400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204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520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健身房+咖啡厅 = 健身+社交+工作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SCAMPER: 适配(Adapt)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572000" cy="54864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问自己：如何适配到新场景？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3832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331720"/>
            <a:ext cx="548640" cy="5486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从其他领域借鉴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60520" y="2011680"/>
            <a:ext cx="33832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331720"/>
            <a:ext cx="548640" cy="5486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调整尺寸/规格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63840" y="2011680"/>
            <a:ext cx="33832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2331720"/>
            <a:ext cx="548640" cy="5486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适应新用户群体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11185855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20440"/>
            <a:ext cx="731520" cy="914400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204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520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飞机加油系统 → 应用于新能源汽车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SCAMPER: 修改(Modify)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572000" cy="54864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问自己：如何放大、缩小、改变？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3832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331720"/>
            <a:ext cx="548640" cy="5486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形状/外观改变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60520" y="2011680"/>
            <a:ext cx="33832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331720"/>
            <a:ext cx="548640" cy="5486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功能增强/减弱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63840" y="2011680"/>
            <a:ext cx="33832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2331720"/>
            <a:ext cx="548640" cy="5486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价格调整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11185855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20440"/>
            <a:ext cx="731520" cy="914400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204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520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手机屏幕越来越大 → 折叠屏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SCAMPER: 改变用途(Put to other use)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57600" cy="54864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问自己：还有哪些用途？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3832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331720"/>
            <a:ext cx="548640" cy="5486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是否有新用户？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60520" y="2011680"/>
            <a:ext cx="33832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331720"/>
            <a:ext cx="548640" cy="5486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是否有新场景？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63840" y="2011680"/>
            <a:ext cx="33832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2331720"/>
            <a:ext cx="548640" cy="5486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是否有新价值？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11185855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20440"/>
            <a:ext cx="731520" cy="914400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204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520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信用卡积分 → 航空里程、酒店积分等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SCAMPER: 消除(Eliminate)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57600" cy="54864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问自己：可以去掉什么？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3832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331720"/>
            <a:ext cx="548640" cy="5486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简化流程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60520" y="2011680"/>
            <a:ext cx="33832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331720"/>
            <a:ext cx="548640" cy="5486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减少步骤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63840" y="2011680"/>
            <a:ext cx="33832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2331720"/>
            <a:ext cx="548640" cy="5486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去掉不必要的功能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11185855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20440"/>
            <a:ext cx="731520" cy="914400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204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520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苹果去掉鼠标滚轮 → 触控板手势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SCAMPER: 反向(Reverse)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57600" cy="54864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问自己：反过来会怎样？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3832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331720"/>
            <a:ext cx="548640" cy="5486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顺序反转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60520" y="2011680"/>
            <a:ext cx="33832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331720"/>
            <a:ext cx="548640" cy="5486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角色互换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63840" y="2011680"/>
            <a:ext cx="33832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2331720"/>
            <a:ext cx="548640" cy="5486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负面思考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11185855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20440"/>
            <a:ext cx="731520" cy="914400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204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520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传统购物是选购 → 订阅制电商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SCAMPER检核清单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" cy="475488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1234440"/>
            <a:ext cx="1188720" cy="475488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2344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40280" y="1234440"/>
            <a:ext cx="940277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234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还有什么可以替代？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502920" cy="475488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8308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1783080"/>
            <a:ext cx="1188720" cy="475488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78308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40280" y="1783080"/>
            <a:ext cx="940277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178308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可以和什么组合？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502920" cy="475488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3172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05840" y="2331720"/>
            <a:ext cx="1188720" cy="475488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33172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40280" y="2331720"/>
            <a:ext cx="940277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233172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如何适配新场景？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502920" cy="475488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88036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05840" y="2880360"/>
            <a:ext cx="1188720" cy="475488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288036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240280" y="2880360"/>
            <a:ext cx="940277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0" y="288036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如何放大/缩小？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429000"/>
            <a:ext cx="502920" cy="475488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42900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05840" y="3429000"/>
            <a:ext cx="1188720" cy="475488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342900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改变用途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240280" y="3429000"/>
            <a:ext cx="940277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0" y="342900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还有其他用途吗？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3977640"/>
            <a:ext cx="502920" cy="475488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97764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05840" y="3977640"/>
            <a:ext cx="1188720" cy="475488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5840" y="39776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240280" y="3977640"/>
            <a:ext cx="940277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39776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可以去掉什么？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" y="4526280"/>
            <a:ext cx="502920" cy="475488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52628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005840" y="4526280"/>
            <a:ext cx="1188720" cy="475488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5840" y="452628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240280" y="4526280"/>
            <a:ext cx="940277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77440" y="452628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反过来会怎样？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个人发散 vs 团队发散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29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solidFill>
            <a:srgbClr val="4A4E69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个人发散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365760" cy="3657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深度思考、不受他人影响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365760" cy="36576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468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思维局限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0" y="1280160"/>
            <a:ext cx="5029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1280160"/>
            <a:ext cx="5029200" cy="4572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1280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团队发散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0" y="1920240"/>
            <a:ext cx="365760" cy="3657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多元视角、碰撞火花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0" y="2468880"/>
            <a:ext cx="365760" cy="36576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46520" y="2468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容易受权威影响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11185855" cy="54864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4048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建议：先个人发散，再团队发散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点投票法(Dot Voting)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185855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73152" cy="73152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344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团队成员用有限票数投票选择想法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34747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26080"/>
            <a:ext cx="548640" cy="5486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6517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每人3-5票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51960" y="2651760"/>
            <a:ext cx="34747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2926080"/>
            <a:ext cx="548640" cy="5486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66360" y="26517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可以全部投给一个想法或分散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2651760"/>
            <a:ext cx="34747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2926080"/>
            <a:ext cx="548640" cy="5486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61120" y="26517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不记名投票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11185855" cy="548640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7764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优点：公平、快速、避免争论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点投票操作步骤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474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94460"/>
            <a:ext cx="457200" cy="4572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944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234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将想法写在海报/白板上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234440"/>
            <a:ext cx="3474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394460"/>
            <a:ext cx="457200" cy="4572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3944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234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明确投票数量(3-5票)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234440"/>
            <a:ext cx="3474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394460"/>
            <a:ext cx="457200" cy="4572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13944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32520" y="1234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每人独立思考后投票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3474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354580"/>
            <a:ext cx="457200" cy="4572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354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21945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统计票数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51960" y="2194560"/>
            <a:ext cx="3474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2354580"/>
            <a:ext cx="457200" cy="4572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2354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21945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票数最多的进入下一轮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2194560"/>
            <a:ext cx="3474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2354580"/>
            <a:ext cx="457200" cy="4572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2354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32520" y="21945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可以多轮投票逐步收敛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影响力-可行性矩阵应用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29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2514600" cy="1600200"/>
          </a:xfrm>
          <a:prstGeom prst="rect">
            <a:avLst/>
          </a:prstGeom>
          <a:solidFill>
            <a:srgbClr val="27AE60">
              <a:alpha val="20000"/>
            </a:srgbClr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2514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明星区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（优先做）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71800" y="1280160"/>
            <a:ext cx="2514600" cy="1600200"/>
          </a:xfrm>
          <a:prstGeom prst="rect">
            <a:avLst/>
          </a:prstGeom>
          <a:solidFill>
            <a:srgbClr val="9A8C98">
              <a:alpha val="20000"/>
            </a:srgbClr>
          </a:solidFill>
          <a:ln w="6350">
            <a:solidFill>
              <a:srgbClr val="9A8C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280160"/>
            <a:ext cx="2514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梦想区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2514600" cy="1600200"/>
          </a:xfrm>
          <a:prstGeom prst="rect">
            <a:avLst/>
          </a:prstGeom>
          <a:solidFill>
            <a:srgbClr val="4A4E69">
              <a:alpha val="20000"/>
            </a:srgbClr>
          </a:solidFill>
          <a:ln w="6350">
            <a:solidFill>
              <a:srgbClr val="4A4E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80360"/>
            <a:ext cx="2514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小改善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71800" y="2880360"/>
            <a:ext cx="2514600" cy="1600200"/>
          </a:xfrm>
          <a:prstGeom prst="rect">
            <a:avLst/>
          </a:prstGeom>
          <a:solidFill>
            <a:srgbClr val="C41E3A">
              <a:alpha val="20000"/>
            </a:srgbClr>
          </a:solidFill>
          <a:ln w="635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2880360"/>
            <a:ext cx="2514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 rot="16200000">
            <a:off x="182880" y="2697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100584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71800" y="100584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 rot="5400000">
            <a:off x="5577840" y="2697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" y="1280160"/>
            <a:ext cx="320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" y="2880360"/>
            <a:ext cx="320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60720" y="1280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760720" y="1828800"/>
            <a:ext cx="365760" cy="36576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列出所有创意想法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760720" y="2468880"/>
            <a:ext cx="365760" cy="36576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2468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团队讨论评估每个想法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60720" y="3108960"/>
            <a:ext cx="365760" cy="36576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3108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放到矩阵对应位置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760720" y="3749040"/>
            <a:ext cx="365760" cy="36576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63640" y="3749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选择明星区的想法优先做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创意收敛原则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2606040" cy="54864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0180" y="150876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4018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至少10个想法再收敛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606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280160"/>
            <a:ext cx="2606040" cy="54864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4820" y="150876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482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83280" y="2240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多样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确保想法类型多样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606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280160"/>
            <a:ext cx="2606040" cy="54864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09460" y="150876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0946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0" y="2240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用影响力×可行性评估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61120" y="1280160"/>
            <a:ext cx="2606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1120" y="1280160"/>
            <a:ext cx="2606040" cy="54864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44100" y="150876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4410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052560" y="2240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52560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团队达成共识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383280"/>
            <a:ext cx="11185855" cy="640080"/>
          </a:xfrm>
          <a:prstGeom prst="rect">
            <a:avLst/>
          </a:prstGeom>
          <a:solidFill>
            <a:srgbClr val="9A8C98">
              <a:alpha val="80000"/>
            </a:srgbClr>
          </a:solidFill>
          <a:ln w="6350">
            <a:solidFill>
              <a:srgbClr val="9A8C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3832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注意：不要过早收敛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案例：创星小队的创意构思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185855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640080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887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HMW是：我们如何能让学习变得有社交属性？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SCAMPER发散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411480" cy="36576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423160"/>
            <a:ext cx="10728655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423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用AI替代真人学伴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11480" cy="36576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346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834640"/>
            <a:ext cx="10728655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834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学习+游戏组合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411480" cy="36576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461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246120"/>
            <a:ext cx="10728655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246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适配到成人学习场景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411480" cy="36576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576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3657600"/>
            <a:ext cx="10728655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3657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放大社交元素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411480" cy="36576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690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4069080"/>
            <a:ext cx="10728655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4069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学习数据可视化展示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480560"/>
            <a:ext cx="411480" cy="36576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805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14400" y="4480560"/>
            <a:ext cx="10728655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消除孤独感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892040"/>
            <a:ext cx="411480" cy="36576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892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14400" y="4892040"/>
            <a:ext cx="10728655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4892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 - 从被监督到主动分享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创星小队：方案选择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投票结果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185855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学习小组功能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931920" y="1965960"/>
            <a:ext cx="5486400" cy="22860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0" y="1965960"/>
            <a:ext cx="4389120" cy="2286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17373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11185855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603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AI学伴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31920" y="2788920"/>
            <a:ext cx="5486400" cy="22860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0" y="2788920"/>
            <a:ext cx="3291840" cy="228600"/>
          </a:xfrm>
          <a:prstGeom prst="rect">
            <a:avLst/>
          </a:prstGeom>
          <a:solidFill>
            <a:srgbClr val="4A4E69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0" y="25603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6票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11185855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83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学习成就可视化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31920" y="3611880"/>
            <a:ext cx="5486400" cy="22860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0" y="3611880"/>
            <a:ext cx="2743200" cy="228600"/>
          </a:xfrm>
          <a:prstGeom prst="rect">
            <a:avLst/>
          </a:prstGeom>
          <a:solidFill>
            <a:srgbClr val="4A4E69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33832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5票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11185855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2062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竞技排行榜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931920" y="4434840"/>
            <a:ext cx="5486400" cy="22860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31920" y="4434840"/>
            <a:ext cx="2194560" cy="228600"/>
          </a:xfrm>
          <a:prstGeom prst="rect">
            <a:avLst/>
          </a:prstGeom>
          <a:solidFill>
            <a:srgbClr val="4A4E69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0" y="42062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11185855" cy="54864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6052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选择：学习小组功能优先做MVP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练习：SCAMPER实战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18585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给定一个产品/服务(如:共享单车)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118585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377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用SCAMPER七维度各生成1个想法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1118585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383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用点投票选择最佳方案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11185855" cy="548640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2336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时间：30分钟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1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练习场景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185855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1371600" cy="13716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0" y="13716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医院挂号系统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11680" y="2011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痛点：挂号难、排队久、就医体验差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1185855" cy="914400"/>
          </a:xfrm>
          <a:prstGeom prst="rect">
            <a:avLst/>
          </a:prstGeom>
          <a:solidFill>
            <a:srgbClr val="9A8C98">
              <a:alpha val="80000"/>
            </a:srgbClr>
          </a:solidFill>
          <a:ln w="6350">
            <a:solidFill>
              <a:srgbClr val="9A8C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0"/>
            <a:ext cx="111858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任务：用SCAMPER重新设计这个系统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SCAMPER引导问题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" cy="475488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188720"/>
            <a:ext cx="914400" cy="475488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8872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74520" y="1188720"/>
            <a:ext cx="976853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188720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除了排队，还有什么方式可以挂号？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09928"/>
            <a:ext cx="411480" cy="475488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09928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1709928"/>
            <a:ext cx="914400" cy="475488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0992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74520" y="1709928"/>
            <a:ext cx="976853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1709928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挂号可以和什么结合？如医保、提醒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231136"/>
            <a:ext cx="411480" cy="475488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231136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2231136"/>
            <a:ext cx="914400" cy="475488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23113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2231136"/>
            <a:ext cx="976853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2231136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其他行业的挂号是怎么做的？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752344"/>
            <a:ext cx="411480" cy="475488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752344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2752344"/>
            <a:ext cx="914400" cy="475488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275234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2752344"/>
            <a:ext cx="976853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0" y="275234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如何让挂号流程更快？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273552"/>
            <a:ext cx="411480" cy="475488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27355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14400" y="3273552"/>
            <a:ext cx="914400" cy="475488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327355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改变用途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976853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0" y="3273552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挂号数据还可以用来做什么？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794760"/>
            <a:ext cx="411480" cy="475488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9476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14400" y="3794760"/>
            <a:ext cx="914400" cy="475488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379476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3794760"/>
            <a:ext cx="976853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1680" y="3794760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可以去掉什么环节？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315968"/>
            <a:ext cx="411480" cy="475488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315968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14400" y="4315968"/>
            <a:ext cx="914400" cy="475488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431596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315968"/>
            <a:ext cx="976853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11680" y="4315968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能不能让用户自己选择医生？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1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创意构思常见错误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474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94460"/>
            <a:ext cx="365760" cy="36576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944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234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过早收敛，只想1-2个方案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234440"/>
            <a:ext cx="3474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394460"/>
            <a:ext cx="365760" cy="36576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3944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234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没有个人发散直接团队讨论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234440"/>
            <a:ext cx="3474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394460"/>
            <a:ext cx="365760" cy="36576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13944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41080" y="1234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权威人物的观点主导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057400"/>
            <a:ext cx="3474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217420"/>
            <a:ext cx="365760" cy="36576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2174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057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评价想法时否定太多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2057400"/>
            <a:ext cx="3474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2217420"/>
            <a:ext cx="365760" cy="36576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22174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057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SCAMPER流于形式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2057400"/>
            <a:ext cx="3474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2217420"/>
            <a:ext cx="365760" cy="36576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22174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41080" y="2057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投票时被社交压力影响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880360"/>
            <a:ext cx="3474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3040380"/>
            <a:ext cx="365760" cy="36576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0403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51560" y="2880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选中的方案无法执行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185855" cy="36576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模块三小结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185855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SCAMPER七维度系统发散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11185855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560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先个人后团队的发散流程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11185855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429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点投票+矩阵收敛创意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11185855" cy="64008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7764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关键词：开局 - 做出看得见的样子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模块四小结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原型是学习工具，不是最终产品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用户测试观察行为，不听信言语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三栏法记录，快速迭代优化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931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试真 — 拿到真实反馈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73152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1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73152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400" kern="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结营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两日课程的回顾与行动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0" y="914400"/>
            <a:ext cx="1371600" cy="1371600"/>
          </a:xfrm>
          <a:prstGeom prst="rect">
            <a:avLst/>
          </a:prstGeom>
          <a:solidFill>
            <a:srgbClr val="F5F5F5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1371600"/>
            <a:ext cx="1097280" cy="1097280"/>
          </a:xfrm>
          <a:prstGeom prst="rect">
            <a:avLst/>
          </a:prstGeom>
          <a:solidFill>
            <a:srgbClr val="4A4E69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A4E69"/>
          </a:solidFill>
          <a:ln/>
        </p:spPr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两日课程回顾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四模块学习旅程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38862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73152" cy="1234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0312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共情洞察，看见真问题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38862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417320"/>
            <a:ext cx="73152" cy="123444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重问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问题重定义，打开可能性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38862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834640"/>
            <a:ext cx="73152" cy="123444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开局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10312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创意构思，做出看得见的样子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2834640"/>
            <a:ext cx="38862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834640"/>
            <a:ext cx="73152" cy="1234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试真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26364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原型测试，拿到真实反馈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06240" y="379476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4206240" y="3794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114800" y="33832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3840480"/>
            <a:ext cx="457200" cy="45720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重问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0" y="4206240"/>
            <a:ext cx="457200" cy="45720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开局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11880" y="38404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36118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试真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43400" y="3611880"/>
            <a:ext cx="457200" cy="0"/>
          </a:xfrm>
          <a:prstGeom prst="line">
            <a:avLst/>
          </a:prstGeom>
          <a:noFill/>
          <a:ln w="19050">
            <a:solidFill>
              <a:srgbClr val="D4D4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4069080"/>
            <a:ext cx="0" cy="365760"/>
          </a:xfrm>
          <a:prstGeom prst="line">
            <a:avLst/>
          </a:prstGeom>
          <a:noFill/>
          <a:ln w="19050">
            <a:solidFill>
              <a:srgbClr val="D4D4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86200" y="4206240"/>
            <a:ext cx="457200" cy="0"/>
          </a:xfrm>
          <a:prstGeom prst="line">
            <a:avLst/>
          </a:prstGeom>
          <a:noFill/>
          <a:ln w="19050">
            <a:solidFill>
              <a:srgbClr val="D4D4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11880" y="3611880"/>
            <a:ext cx="0" cy="365760"/>
          </a:xfrm>
          <a:prstGeom prst="line">
            <a:avLst/>
          </a:prstGeom>
          <a:noFill/>
          <a:ln w="19050">
            <a:solidFill>
              <a:srgbClr val="D4D4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循迹创新方法论闭环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持续迭代，以用户为圆心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2377440"/>
            <a:ext cx="1097280" cy="10972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0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以用户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为圆心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05239" y="3587001"/>
            <a:ext cx="1005840" cy="10058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2905239" y="3678441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05239" y="4135641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共情洞察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32921" y="3587001"/>
            <a:ext cx="1005840" cy="10058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2" name="Text 10"/>
          <p:cNvSpPr/>
          <p:nvPr/>
        </p:nvSpPr>
        <p:spPr>
          <a:xfrm>
            <a:off x="5232921" y="3678441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重问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32921" y="4135641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问题重定义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32921" y="1259319"/>
            <a:ext cx="1005840" cy="10058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5" name="Text 13"/>
          <p:cNvSpPr/>
          <p:nvPr/>
        </p:nvSpPr>
        <p:spPr>
          <a:xfrm>
            <a:off x="5232921" y="1350759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32921" y="1807959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创意构思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05239" y="1259319"/>
            <a:ext cx="1005840" cy="10058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2905239" y="1350759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试真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905239" y="1807959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原型测试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1097280"/>
            <a:ext cx="548640" cy="0"/>
          </a:xfrm>
          <a:prstGeom prst="line">
            <a:avLst/>
          </a:prstGeom>
          <a:noFill/>
          <a:ln w="25400">
            <a:solidFill>
              <a:srgbClr val="D4D4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2788920"/>
            <a:ext cx="0" cy="274320"/>
          </a:xfrm>
          <a:prstGeom prst="line">
            <a:avLst/>
          </a:prstGeom>
          <a:noFill/>
          <a:ln w="25400">
            <a:solidFill>
              <a:srgbClr val="D4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4663440"/>
            <a:ext cx="548640" cy="0"/>
          </a:xfrm>
          <a:prstGeom prst="line">
            <a:avLst/>
          </a:prstGeom>
          <a:noFill/>
          <a:ln w="25400">
            <a:solidFill>
              <a:srgbClr val="D4D4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4640" y="2788920"/>
            <a:ext cx="0" cy="274320"/>
          </a:xfrm>
          <a:prstGeom prst="line">
            <a:avLst/>
          </a:prstGeom>
          <a:noFill/>
          <a:ln w="25400">
            <a:solidFill>
              <a:srgbClr val="D4D4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4572000"/>
            <a:ext cx="2743200" cy="411480"/>
          </a:xfrm>
          <a:prstGeom prst="rect">
            <a:avLst/>
          </a:prstGeom>
          <a:solidFill>
            <a:srgbClr val="4A4E69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4572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持续迭代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</a:t>
            </a:r>
            <a:endParaRPr lang="en-US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核心工具回顾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四大工具助力创新实践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201168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373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共情画布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整合洞察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566160"/>
            <a:ext cx="173736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566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模块一·循迹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97280" y="4023360"/>
            <a:ext cx="731520" cy="228600"/>
          </a:xfrm>
          <a:prstGeom prst="rect">
            <a:avLst/>
          </a:prstGeom>
          <a:solidFill>
            <a:srgbClr val="C41E3A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606040" y="1463040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06040" y="1463040"/>
            <a:ext cx="2011680" cy="73152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337560" y="1737360"/>
            <a:ext cx="548640" cy="5486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697480" y="2468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HMW工作卡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9748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问题重定义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0" y="3566160"/>
            <a:ext cx="173736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0" y="3566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模块二·重问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4023360"/>
            <a:ext cx="731520" cy="228600"/>
          </a:xfrm>
          <a:prstGeom prst="rect">
            <a:avLst/>
          </a:prstGeom>
          <a:solidFill>
            <a:srgbClr val="4A4E69">
              <a:alpha val="7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1463040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463040"/>
            <a:ext cx="2011680" cy="7315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0" y="1737360"/>
            <a:ext cx="548640" cy="5486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846320" y="2468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SCAMPER检核清单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4632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创意发散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92040" y="3566160"/>
            <a:ext cx="173736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566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模块三·开局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94960" y="4023360"/>
            <a:ext cx="731520" cy="228600"/>
          </a:xfrm>
          <a:prstGeom prst="rect">
            <a:avLst/>
          </a:prstGeom>
          <a:solidFill>
            <a:srgbClr val="9A8C98">
              <a:alpha val="7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903720" y="1463040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03720" y="1463040"/>
            <a:ext cx="201168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5" name="Shape 33"/>
          <p:cNvSpPr/>
          <p:nvPr/>
        </p:nvSpPr>
        <p:spPr>
          <a:xfrm>
            <a:off x="7635240" y="17373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7635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995160" y="2468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原型测试画布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9516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验证迭代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40880" y="3566160"/>
            <a:ext cx="173736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0" y="3566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模块四·试真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543800" y="4023360"/>
            <a:ext cx="731520" cy="228600"/>
          </a:xfrm>
          <a:prstGeom prst="rect">
            <a:avLst/>
          </a:prstGeom>
          <a:solidFill>
            <a:srgbClr val="C41E3A">
              <a:alpha val="7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行动承诺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让学习成果落地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1645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你回去后要做的第一件事是什么？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057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思考：明天就能开始的具体行动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283464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2788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你要解决的第一个用户问题是什么？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200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思考：从课程案例中受到的启发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3931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你打算如何运用循迹创新方法论？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4343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思考：哪个模块对你最有启发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8046720" cy="594360"/>
          </a:xfrm>
          <a:prstGeom prst="rect">
            <a:avLst/>
          </a:prstGeom>
          <a:solidFill>
            <a:srgbClr val="C41E3A">
              <a:alpha val="9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544568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544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4526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活动：每人写下一句行动承诺，小组分享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行动承诺模板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结构化你的行动承诺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80467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17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行动承诺模板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</a:t>
            </a:r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</a:t>
            </a:r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（时间）之前，我将</a:t>
            </a:r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</a:t>
            </a:r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（具体行动），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以解决</a:t>
            </a:r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</a:t>
            </a:r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（用户问题）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8046720" cy="1280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383280"/>
            <a:ext cx="1097280" cy="36576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83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"在两周内，我将对5名用户进行共情访谈，以了解他们使用产品的真实痛点"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8046720" cy="411480"/>
          </a:xfrm>
          <a:prstGeom prst="rect">
            <a:avLst/>
          </a:prstGeom>
          <a:solidFill>
            <a:srgbClr val="9A8C98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7091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小组分享：每人1分钟，分享你的行动承诺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</a:t>
            </a:r>
            <a:endParaRPr lang="en-US" sz="1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后续资源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持续学习，共同成长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73152" cy="13716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4592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课程资料包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工具模板、电子书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417320"/>
            <a:ext cx="73152" cy="13716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4" name="Shape 12"/>
          <p:cNvSpPr/>
          <p:nvPr/>
        </p:nvSpPr>
        <p:spPr>
          <a:xfrm>
            <a:off x="4983480" y="1783080"/>
            <a:ext cx="640080" cy="64008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80644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练习社群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80644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线上交流、答疑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971800"/>
            <a:ext cx="73152" cy="137160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337560"/>
            <a:ext cx="640080" cy="64008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4592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45920" y="3703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更多实战案例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97180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971800"/>
            <a:ext cx="73152" cy="13716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Shape 24"/>
          <p:cNvSpPr/>
          <p:nvPr/>
        </p:nvSpPr>
        <p:spPr>
          <a:xfrm>
            <a:off x="4983480" y="333756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80644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工具网站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806440" y="3703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原型工具、协作平台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0" y="4023360"/>
            <a:ext cx="23774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4160520"/>
            <a:ext cx="731520" cy="7315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4160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4343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扫码获取资源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rect">
            <a:avLst/>
          </a:prstGeom>
          <a:solidFill>
            <a:srgbClr val="4A4E69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57200"/>
            <a:ext cx="1828800" cy="1828800"/>
          </a:xfrm>
          <a:prstGeom prst="rect">
            <a:avLst/>
          </a:prstGeom>
          <a:solidFill>
            <a:srgbClr val="F5F5F5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感谢参与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循迹创新，与你同行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0" y="3474720"/>
            <a:ext cx="2743200" cy="0"/>
          </a:xfrm>
          <a:prstGeom prst="line">
            <a:avLst/>
          </a:prstGeom>
          <a:noFill/>
          <a:ln w="254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课程开发者：罗宏伟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1" name="Shape 9"/>
          <p:cNvSpPr/>
          <p:nvPr/>
        </p:nvSpPr>
        <p:spPr>
          <a:xfrm>
            <a:off x="-457200" y="4114800"/>
            <a:ext cx="1828800" cy="1828800"/>
          </a:xfrm>
          <a:prstGeom prst="rect">
            <a:avLst/>
          </a:prstGeom>
          <a:solidFill>
            <a:srgbClr val="4A4E69">
              <a:alpha val="20000"/>
            </a:srgbClr>
          </a:solidFill>
          <a:ln/>
        </p:spPr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4A4E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73152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>
                    <a:alpha val="1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73152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工具模板参考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0" y="914400"/>
            <a:ext cx="1371600" cy="1371600"/>
          </a:xfrm>
          <a:prstGeom prst="rect">
            <a:avLst/>
          </a:prstGeom>
          <a:solidFill>
            <a:srgbClr val="F5F5F5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1371600"/>
            <a:ext cx="1097280" cy="1097280"/>
          </a:xfrm>
          <a:prstGeom prst="rect">
            <a:avLst/>
          </a:prstGeom>
          <a:solidFill>
            <a:srgbClr val="C41E3A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41E3A"/>
          </a:solidFill>
          <a:ln/>
        </p:spPr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共情画布模板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用于整合共情访谈的洞察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260604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(SEE)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用户看到了什么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137160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371600"/>
            <a:ext cx="2606040" cy="4572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1508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 (HEAR)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9272" y="1920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用户听到了什么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07024" y="137160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07024" y="1371600"/>
            <a:ext cx="260604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6" name="Text 14"/>
          <p:cNvSpPr/>
          <p:nvPr/>
        </p:nvSpPr>
        <p:spPr>
          <a:xfrm>
            <a:off x="5998464" y="1508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说/做 (SAY/DO)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98464" y="1920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用户说什么/做什么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542032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542032"/>
            <a:ext cx="260604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791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 (THINK)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090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用户在思考什么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02152" y="2724912"/>
            <a:ext cx="205740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3502152" y="272491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907024" y="2542032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07024" y="2542032"/>
            <a:ext cx="2606040" cy="4572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6" name="Text 24"/>
          <p:cNvSpPr/>
          <p:nvPr/>
        </p:nvSpPr>
        <p:spPr>
          <a:xfrm>
            <a:off x="5998464" y="26791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(PAIN)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98464" y="3090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用户的挫折与困难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712464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712464"/>
            <a:ext cx="260604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84962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 (GAIN)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426110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用户的期望与收获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27832" y="3712464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27832" y="3712464"/>
            <a:ext cx="260604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3319272" y="384962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319272" y="426110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目标用户特征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07024" y="3712464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07024" y="3712464"/>
            <a:ext cx="2606040" cy="4572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38" name="Text 36"/>
          <p:cNvSpPr/>
          <p:nvPr/>
        </p:nvSpPr>
        <p:spPr>
          <a:xfrm>
            <a:off x="5998464" y="384962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 (ENV)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998464" y="426110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使用场景与情境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1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HMW工作卡模板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打印后用于团队讨论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17320"/>
            <a:ext cx="256032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63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733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HMW问题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2194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Might We...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我们如何能够...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1965960"/>
            <a:ext cx="0" cy="2468880"/>
          </a:xfrm>
          <a:prstGeom prst="line">
            <a:avLst/>
          </a:prstGeom>
          <a:noFill/>
          <a:ln w="12700">
            <a:solidFill>
              <a:srgbClr val="D4D4D4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383280" y="141732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417320"/>
            <a:ext cx="2560320" cy="4572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463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背面 - 侧1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6733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洞察来源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2011680"/>
            <a:ext cx="2194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洞察来源: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用户访谈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问卷调查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观察研究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数据分析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其他:____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06440" y="1965960"/>
            <a:ext cx="0" cy="2468880"/>
          </a:xfrm>
          <a:prstGeom prst="line">
            <a:avLst/>
          </a:prstGeom>
          <a:noFill/>
          <a:ln w="12700">
            <a:solidFill>
              <a:srgbClr val="D4D4D4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172200" y="141732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417320"/>
            <a:ext cx="2560320" cy="45720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1463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背面 - 侧2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16733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优先级与负责人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2011680"/>
            <a:ext cx="2194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P0 □ P1 □ P2 □ P3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负责人: ________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截止日期: ________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95360" y="1965960"/>
            <a:ext cx="0" cy="2468880"/>
          </a:xfrm>
          <a:prstGeom prst="line">
            <a:avLst/>
          </a:prstGeom>
          <a:noFill/>
          <a:ln w="12700">
            <a:solidFill>
              <a:srgbClr val="D4D4D4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48640" y="4709160"/>
            <a:ext cx="8046720" cy="365760"/>
          </a:xfrm>
          <a:prstGeom prst="rect">
            <a:avLst/>
          </a:prstGeom>
          <a:solidFill>
            <a:srgbClr val="4A4E69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709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使用说明：打印后沿中线对折，正面为HMW问题，背面为讨论记录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SCAMPER检核清单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七个维度检核创意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9659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54864" cy="1508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1031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还有什么可以替代？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1417320"/>
            <a:ext cx="19659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417320"/>
            <a:ext cx="54864" cy="150876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0" y="1554480"/>
            <a:ext cx="457200" cy="45720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91840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21031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可以和什么组合？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417320"/>
            <a:ext cx="19659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417320"/>
            <a:ext cx="54864" cy="1508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0600" y="1554480"/>
            <a:ext cx="457200" cy="45720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21031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如何适配新场景？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20840" y="1417320"/>
            <a:ext cx="19659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20840" y="1417320"/>
            <a:ext cx="54864" cy="1508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0" y="15544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06640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21031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如何放大/缩小/改变？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74420" y="3063240"/>
            <a:ext cx="19659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74420" y="3063240"/>
            <a:ext cx="54864" cy="150876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32" name="Shape 30"/>
          <p:cNvSpPr/>
          <p:nvPr/>
        </p:nvSpPr>
        <p:spPr>
          <a:xfrm>
            <a:off x="1211580" y="3200400"/>
            <a:ext cx="457200" cy="45720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33" name="Text 31"/>
          <p:cNvSpPr/>
          <p:nvPr/>
        </p:nvSpPr>
        <p:spPr>
          <a:xfrm>
            <a:off x="12115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76022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改变用途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11580" y="37490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还有其他用途吗？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131820" y="3063240"/>
            <a:ext cx="19659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31820" y="3063240"/>
            <a:ext cx="54864" cy="150876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8" name="Shape 36"/>
          <p:cNvSpPr/>
          <p:nvPr/>
        </p:nvSpPr>
        <p:spPr>
          <a:xfrm>
            <a:off x="3268980" y="3200400"/>
            <a:ext cx="457200" cy="45720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9" name="Text 37"/>
          <p:cNvSpPr/>
          <p:nvPr/>
        </p:nvSpPr>
        <p:spPr>
          <a:xfrm>
            <a:off x="32689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81762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268980" y="37490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可以去掉什么？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189220" y="3063240"/>
            <a:ext cx="19659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189220" y="3063240"/>
            <a:ext cx="54864" cy="1508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4" name="Shape 42"/>
          <p:cNvSpPr/>
          <p:nvPr/>
        </p:nvSpPr>
        <p:spPr>
          <a:xfrm>
            <a:off x="5326380" y="32004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5" name="Text 43"/>
          <p:cNvSpPr/>
          <p:nvPr/>
        </p:nvSpPr>
        <p:spPr>
          <a:xfrm>
            <a:off x="53263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87502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326380" y="37490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反过来会怎样？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9" name="Text 4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原型测试画布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用户测试的系统化记录工具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7982712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7982712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测试目标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7708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(填写测试想要验证的核心假设)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7982712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267712"/>
            <a:ext cx="7982712" cy="4572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测试任务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633472"/>
            <a:ext cx="7708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(列出用户需要完成的具体任务)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18104"/>
            <a:ext cx="2560320" cy="1399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118104"/>
            <a:ext cx="256032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09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观察记录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438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三栏法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3758184"/>
            <a:ext cx="228600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85800" y="4032504"/>
            <a:ext cx="228600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85800" y="4306824"/>
            <a:ext cx="228600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182112" y="3118104"/>
            <a:ext cx="2560320" cy="1399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82112" y="3118104"/>
            <a:ext cx="256032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3" name="Text 21"/>
          <p:cNvSpPr/>
          <p:nvPr/>
        </p:nvSpPr>
        <p:spPr>
          <a:xfrm>
            <a:off x="3319272" y="3209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发现与洞察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19272" y="3758184"/>
            <a:ext cx="228600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319272" y="4032504"/>
            <a:ext cx="228600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3319272" y="4306824"/>
            <a:ext cx="228600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492240" y="3118104"/>
            <a:ext cx="2971800" cy="1399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92240" y="3118104"/>
            <a:ext cx="297180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320954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改进建议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3758184"/>
            <a:ext cx="269748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629400" y="4032504"/>
            <a:ext cx="269748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629400" y="4306824"/>
            <a:ext cx="269748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548640" y="4590288"/>
            <a:ext cx="2194560" cy="10881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4590288"/>
            <a:ext cx="219456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4681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问题优先级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" y="5001768"/>
            <a:ext cx="32004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500176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50017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严重问题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5276088"/>
            <a:ext cx="320040" cy="22860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52760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7280" y="52760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重要问题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1520" y="5550408"/>
            <a:ext cx="320040" cy="22860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55504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55504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一般问题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" y="5824728"/>
            <a:ext cx="320040" cy="22860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58247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97280" y="5824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轻微问题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880360" y="4590288"/>
            <a:ext cx="5715000" cy="10881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880360" y="4590288"/>
            <a:ext cx="5715000" cy="4572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50" name="Text 48"/>
          <p:cNvSpPr/>
          <p:nvPr/>
        </p:nvSpPr>
        <p:spPr>
          <a:xfrm>
            <a:off x="3017520" y="468172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迭代计划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017520" y="4956048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(基于测试反馈的下一步改进计划)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017520" y="5276088"/>
            <a:ext cx="544068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3017520" y="5504688"/>
            <a:ext cx="544068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5" name="Text 5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1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SCAMPER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- 替代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什么可以被替代？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457200" cy="658368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原材料替代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0391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用不同材料实现相同功能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691640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691640"/>
            <a:ext cx="457200" cy="658368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69164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流程替代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0391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用更高效的方式完成步骤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59736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59736"/>
            <a:ext cx="457200" cy="658368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5973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5511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人员替代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2807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让更合适的人来做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2459736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0" y="2459736"/>
            <a:ext cx="457200" cy="658368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245973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25511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位置替代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2807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改变地点或场景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227832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227832"/>
            <a:ext cx="457200" cy="658368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22783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33192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资源替代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35753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用更易获取的资源代替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224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446227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共享单车替代传统自行车租赁：无桩借还、扫码开锁、GPS定位，重新定义了城市出行方式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SCAMPER工作坊成果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438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小组创新方案展示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2651760" cy="5029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创新方案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基于M修改的手机支付改进方案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743200"/>
            <a:ext cx="2377440" cy="320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7614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亮点: 指纹+面容双识别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09728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29000" y="1097280"/>
            <a:ext cx="2651760" cy="5029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188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17373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创新方案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1965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基于C组合的社区团购模式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66160" y="2743200"/>
            <a:ext cx="2377440" cy="320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27614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亮点: 邻里信任背书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09728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1097280"/>
            <a:ext cx="2651760" cy="5029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188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37960" y="17373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创新方案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37960" y="1965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基于E消除的极简保险产品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37960" y="2743200"/>
            <a:ext cx="2377440" cy="320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27614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亮点: 一键投保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5029200" cy="6400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4747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投票评选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36758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选出最具商业价值的创新方案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0" y="3383280"/>
            <a:ext cx="3017520" cy="64008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0" y="34747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点评反馈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52160" y="36758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导师对各组方案进行专业点评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005840" y="4315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78308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2148840" y="4315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92608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291840" y="4315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06908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434840" y="4315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1208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577840" y="4315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5508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720840" y="4315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9808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863840" y="4315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重组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9" name="Text 4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1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原型设计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Design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用最简单的方式验证想法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03120"/>
            <a:ext cx="54864" cy="1188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原型定义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模拟最终产品的早期版本，用于测试和验证核心假设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10312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103120"/>
            <a:ext cx="54864" cy="1188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原型目的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606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快速获取用户反馈，降低开发风险和不确定性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66160"/>
            <a:ext cx="54864" cy="1188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原型价值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0690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用最小成本验证最大价值，避免无效投入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56616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566160"/>
            <a:ext cx="54864" cy="1188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原型类型谱系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40690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从低保真到高保真，根据需求选择合适层级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7315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572000"/>
            <a:ext cx="274320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63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低保真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0" y="4663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高保真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1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低保真原型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Low-Fidelity Prototype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快速、简单、低成本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✏️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纸笔草图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1214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最快速的表达方式，用手绘草图呈现核心界面和流程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纸质原型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0358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用纸和卡纸制作可交互的立体模型，模拟真实界面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框架线框图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9502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用绘图工具绘制简洁的线框图，呈现布局结构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8288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828800"/>
            <a:ext cx="4114800" cy="32004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240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概念初期 / 想法验证 / 早期沟通 / 设计头脑风暴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9718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2971800"/>
            <a:ext cx="1965960" cy="2743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2971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329184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制作快速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修改方便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成本低廉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聚焦核心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20840" y="29718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20840" y="2971800"/>
            <a:ext cx="1965960" cy="2743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2971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329184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精度有限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体验不真实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难以测试复杂交互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1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中保真原型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Mid-Fidelity Prototype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平衡效率与精度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2651760" cy="54864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数字线框图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使用专业工具绘制标准化线框图，呈现界面布局和元素关系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828800"/>
            <a:ext cx="2651760" cy="54864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2900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交互流程图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834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用流程图工具绘制用户操作路径，清晰展示交互逻辑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828800"/>
            <a:ext cx="2651760" cy="54864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6364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灰度原型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2834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不做颜色装饰，专注布局和交互，突出功能性设计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4114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工具推荐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48056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11680" y="448056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0" y="448056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Axure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448056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Balsamiq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448056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Mockplus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98080" y="448056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XD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10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高保真原型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High-Fidelity Prototype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接近最终产品的体验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188720" y="1965960"/>
            <a:ext cx="27432" cy="5029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视觉设计稿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完整的视觉设计，包含品牌色、字体、图标、间距等所有视觉元素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188720" y="2880360"/>
            <a:ext cx="27432" cy="5029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交互原型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1089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可实际操作的原型，模拟真实用户操作流程和反馈效果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188720" y="3794760"/>
            <a:ext cx="27432" cy="5029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使用真实或接近真实的内容填充，而非占位符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1828800"/>
            <a:ext cx="3657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推荐工具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12080" y="2377440"/>
            <a:ext cx="160020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2423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85232" y="26334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在线协作设计工具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49440" y="2377440"/>
            <a:ext cx="160020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22592" y="2423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22592" y="26334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Mac专业设计工具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212080" y="2971800"/>
            <a:ext cx="160020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30175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XD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85232" y="32278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Adobe创意云组件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949440" y="2971800"/>
            <a:ext cx="160020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22592" y="30175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22592" y="32278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高保真交互原型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212080" y="3566160"/>
            <a:ext cx="160020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85232" y="36118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ProtoPie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85232" y="38221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复杂交互动效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949440" y="3566160"/>
            <a:ext cx="160020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22592" y="36118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22592" y="38221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设计协作平台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10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原型测试方法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让用户验证你的假设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🚶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走廊测试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在走廊或办公区随机邀请路人进行5分钟快速测试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2900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预约测试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邀请目标用户进行有计划的深度测试，获取系统性反馈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6364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远程测试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通过视频会议工具远程进行，不受地理限制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54680"/>
            <a:ext cx="4023360" cy="3200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154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观察要点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用户的第一反应是什么？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用户在哪个步骤卡住了？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用户有哪些困惑或误解？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用户的情绪变化如何？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15468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154680"/>
            <a:ext cx="4023360" cy="32004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3154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记录方法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5661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屏幕录制 + 录音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观察笔记和计时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任务完成率统计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用户主观评分收集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1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原型迭代优化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→ 反馈 → 改进 → 再测试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508760" y="1691640"/>
            <a:ext cx="640080" cy="64008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2606040"/>
            <a:ext cx="640080" cy="64008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242316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08760" y="3520440"/>
            <a:ext cx="640080" cy="64008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606040"/>
            <a:ext cx="640080" cy="64008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再测试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 rot="2700000">
            <a:off x="237744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 rot="8100000">
            <a:off x="11887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200400" y="1554480"/>
            <a:ext cx="54864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554480"/>
            <a:ext cx="54864" cy="1188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反馈收集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19659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定量数据：完成率、错误率、任务时间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定性数据：用户感受、建议、问题描述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2880360"/>
            <a:ext cx="54864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2880360"/>
            <a:ext cx="54864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优先级排序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3246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严重问题 &gt; 核心流程 &gt; 体验优化 &gt; 细节完善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3931920"/>
            <a:ext cx="5486400" cy="914400"/>
          </a:xfrm>
          <a:prstGeom prst="rect">
            <a:avLst/>
          </a:prstGeom>
          <a:solidFill>
            <a:srgbClr val="D9D9D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8328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案例：MVP迭代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4297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最小可行产品 → 投放市场 → 收集反馈 → 快速迭代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10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9202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试真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0" y="1371600"/>
            <a:ext cx="73152" cy="27432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0" y="13716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验证价值的最后一公里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023360" y="2103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验证创新的商业价值和社会价值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23360" y="2743200"/>
            <a:ext cx="47548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23360" y="2743200"/>
            <a:ext cx="4754880" cy="54864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32004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如何验证创新方案真正有效？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2336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模块预览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23360" y="43891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D9D9D9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4389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市场验证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57800" y="43891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D9D9D9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4389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用户验证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43891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D9D9D9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389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商业验证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26680" y="43891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D9D9D9"/>
          </a:solidFill>
          <a:ln/>
        </p:spPr>
      </p:sp>
      <p:sp>
        <p:nvSpPr>
          <p:cNvPr id="21" name="Text 19"/>
          <p:cNvSpPr/>
          <p:nvPr/>
        </p:nvSpPr>
        <p:spPr>
          <a:xfrm>
            <a:off x="7726680" y="4389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价值验证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10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模块四学习目标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试真：验证创新的真实价值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057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掌握用户验证方法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学习定性、定量、混合研究方法，根据场景选择最优验证策略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201168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2057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学会设计验证实验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560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掌握A/B测试、可用性测试等实验设计要点，确保数据可靠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建立数据驱动思维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160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从数据中发现真相，用证据说话而非凭直觉做决策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42900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361188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培养迭代优化能力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0" y="4160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理解Build-Measure-Learn循环，快速验证持续改进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7772400" cy="54864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</a:t>
            </a:r>
            <a:endParaRPr lang="en-US" sz="10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用户验证方法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用数据说话，而非直觉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3736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196596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20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定性研究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141732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4688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用户访谈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85292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焦点小组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23697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实地观察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62102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案例研究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173736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1737360"/>
            <a:ext cx="196596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1920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定量研究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880360" y="2331720"/>
            <a:ext cx="141732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4688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问卷调查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285292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A/B测试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23697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数据分析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362102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行为追踪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73736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737360"/>
            <a:ext cx="196596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920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混合方法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0" y="2331720"/>
            <a:ext cx="141732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4688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三角验证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285292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先定性后定量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23697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定量验证定性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62102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迭代深化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03720" y="173736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03720" y="1737360"/>
            <a:ext cx="196596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6995160" y="1920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方法选择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178040" y="2331720"/>
            <a:ext cx="141732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0" y="24688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资源评估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285292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场景匹配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323697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精度要求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40880" y="362102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时间约束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434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方法选择矩阵：根据研究目标、资源条件、时间约束选择最适合的验证方法组合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10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SCAMPER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- 组合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什么可以组合在一起？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73152" cy="13716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产品组合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将多个产品融合为一个整体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280160"/>
            <a:ext cx="73152" cy="13716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463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功能组合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9202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在一个解决方案中叠加多重功能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26080"/>
            <a:ext cx="73152" cy="13716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08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用户组合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" y="35661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连接不同用户群体实现价值交换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926080"/>
            <a:ext cx="73152" cy="13716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3108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渠道组合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83480" y="35661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打通线上线下多触点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159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经典案例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 + 相机 + 音乐播放器 = 智能手机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2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A/B测试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用数据选择最优方案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A/B测试原理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将用户随机分为A、B两组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A组保持对照，B组引入变量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收集两组关键指标数据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通过统计显著性判断最优方案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实施步骤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确定目标 → 设计方案 → 分配流量 → 收集数据 → 分析结论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样本量计算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统计功效: 80%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置信水平: 95%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最小可检测效应值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每次只测试一个变量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3584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确保流量分配随机均匀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8770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测试周期要足够长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4169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避免新奇效应的影响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73152" cy="36576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成功案例：某电商通过A/B测试优化按钮颜色，点击率提升23%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</a:t>
            </a:r>
            <a:endParaRPr lang="en-US" sz="10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可用性测试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Testing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观察用户真实使用行为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097280" cy="36576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54864" cy="54864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54480"/>
            <a:ext cx="320040" cy="3200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测试类型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755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moderated vs unmoderated | 远程 vs 现场 | 实验室 vs 自然环境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54864" cy="54864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194560"/>
            <a:ext cx="320040" cy="3200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测试任务设计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395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典型任务场景 | 明确完成标准 | 控制任务复杂度 | 避免引导性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54864" cy="54864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834640"/>
            <a:ext cx="320040" cy="3200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观察要点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0358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操作路径 | 错误频率 | 犹豫时间 | 求助行为 | 表情反应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54864" cy="54864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474720"/>
            <a:ext cx="320040" cy="3200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474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3429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指标收集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6758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任务完成率 | 完成时间 | 错误数 | NPS/CSAT评分 | 主观满意度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54864" cy="54864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4114800"/>
            <a:ext cx="320040" cy="3200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4069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结果分析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43159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定量统计 | 定性归因 | 问题分级 | 优先级排序 | 改进建议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572000"/>
            <a:ext cx="7772400" cy="411480"/>
          </a:xfrm>
          <a:prstGeom prst="roundRect">
            <a:avLst>
              <a:gd name="adj" fmla="val 11111"/>
            </a:avLst>
          </a:prstGeom>
          <a:solidFill>
            <a:srgbClr val="C41A1A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核心价值：发现可用性问题，验证设计假设，优化用户体验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</a:t>
            </a:r>
            <a:endParaRPr lang="en-US" sz="10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焦点小组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Group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深入了解用户想法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572768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4475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参与人员选择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6-10人/组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目标用户筛选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688336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多样性考量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072384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避免利益相关者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67128" y="137160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67128" y="1371600"/>
            <a:ext cx="1572768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2212848" y="144475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讨论大纲设计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58568" y="192024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开场暖场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58568" y="2304288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核心议题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58568" y="2688336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深度追问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58568" y="3072384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总结收尾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77056" y="137160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77056" y="1371600"/>
            <a:ext cx="1572768" cy="4572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3922776" y="144475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主持人技巧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68496" y="192024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中立引导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968496" y="2304288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鼓励发言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68496" y="2688336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控制偏离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968496" y="3072384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观察非语言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86984" y="137160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86984" y="1371600"/>
            <a:ext cx="1572768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6"/>
          <p:cNvSpPr/>
          <p:nvPr/>
        </p:nvSpPr>
        <p:spPr>
          <a:xfrm>
            <a:off x="5632704" y="144475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记录与分析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78424" y="192024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全程录音录像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78424" y="2304288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多人编码分析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78424" y="2688336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主题归纳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78424" y="3072384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洞察提炼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96912" y="137160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96912" y="1371600"/>
            <a:ext cx="1572768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5" name="Text 33"/>
          <p:cNvSpPr/>
          <p:nvPr/>
        </p:nvSpPr>
        <p:spPr>
          <a:xfrm>
            <a:off x="7342632" y="144475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88352" y="192024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概念探索阶段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88352" y="2304288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需求澄清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88352" y="2688336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态度调研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88352" y="3072384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创意评估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114800"/>
            <a:ext cx="7772400" cy="457200"/>
          </a:xfrm>
          <a:prstGeom prst="rect">
            <a:avLst/>
          </a:prstGeom>
          <a:solidFill>
            <a:srgbClr val="D9D9D9">
              <a:alpha val="5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优势：互动性强 | 深度挖掘 | 动态探索 | 成本适中    局限：样本有限 | 群体效应 | 主持人偏见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10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行为数据分析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从数据中发现真相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4630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100584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23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埋点采集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日志记录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第三方工具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用户上报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0" y="24688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148840" y="164592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0" y="14630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4028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23160" y="2286000"/>
            <a:ext cx="100584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0" name="Text 18"/>
          <p:cNvSpPr/>
          <p:nvPr/>
        </p:nvSpPr>
        <p:spPr>
          <a:xfrm>
            <a:off x="2240280" y="2423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DAU/WAU/MAU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40280" y="2697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转化率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40280" y="2971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留存率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40280" y="3246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流失率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03320" y="24688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40480" y="164592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34840" y="14630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分析方法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0" y="2286000"/>
            <a:ext cx="100584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0" name="Text 28"/>
          <p:cNvSpPr/>
          <p:nvPr/>
        </p:nvSpPr>
        <p:spPr>
          <a:xfrm>
            <a:off x="3931920" y="2423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漏斗分析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931920" y="2697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路径分析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931920" y="2971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归因分析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931920" y="3246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群组分析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94960" y="24688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532120" y="164592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14630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2356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洞察提炼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806440" y="2286000"/>
            <a:ext cx="100584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40" name="Text 38"/>
          <p:cNvSpPr/>
          <p:nvPr/>
        </p:nvSpPr>
        <p:spPr>
          <a:xfrm>
            <a:off x="5623560" y="2423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趋势发现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23560" y="2697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异常检测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23560" y="2971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相关性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23560" y="3246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因果推断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86600" y="24688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223760" y="164592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818120" y="14630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47" name="Text 45"/>
          <p:cNvSpPr/>
          <p:nvPr/>
        </p:nvSpPr>
        <p:spPr>
          <a:xfrm>
            <a:off x="781812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31520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行动建议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498080" y="2286000"/>
            <a:ext cx="100584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0" y="2423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优先级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15200" y="2697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AB测试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15200" y="2971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迭代计划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15200" y="3246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效果追踪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3886200"/>
            <a:ext cx="7772400" cy="54864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4069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数据驱动决策：用数据验证假设，用证据支撑结论，避免主观臆断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57" name="Text 5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</a:t>
            </a:r>
            <a:endParaRPr lang="en-US" sz="10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试真迭代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0" y="457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Build-Measure-Learn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快速验证，持续优化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737360" y="1463040"/>
            <a:ext cx="2926080" cy="2926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0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0" y="1600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06240" y="2743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4023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7452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83080" y="2560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24688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创业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46304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463040"/>
            <a:ext cx="54864" cy="13716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假设验证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1920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明确待验证假设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148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设计验证实验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3774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收集关键数据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2606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判断假设成立/推翻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17520"/>
            <a:ext cx="54864" cy="13716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08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快速迭代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4747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小步快跑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3703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频繁发布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39319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快速试错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4160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持续优化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0" y="146304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0" y="1463040"/>
            <a:ext cx="54864" cy="13716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何时停止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12080" y="19202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达到预设样本量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12080" y="21488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统计显著性达标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12080" y="23774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发现明确结论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12080" y="2606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资源耗尽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0" y="301752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29200" y="3017520"/>
            <a:ext cx="54864" cy="13716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0" y="3108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风险控制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12080" y="34747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设置止损点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12080" y="37033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控制实验时长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12080" y="3931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监控异常指标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12080" y="41605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准备回滚方案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0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试真实战案例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某创新产品的验证全过程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783080"/>
            <a:ext cx="36576" cy="31089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91640"/>
            <a:ext cx="256032" cy="256032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88720" y="1554480"/>
            <a:ext cx="7498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案例背景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16459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某B2B SaaS产品，用户反馈使用复杂，新用户注册后30日留存率仅15%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88720" y="1554480"/>
            <a:ext cx="45720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377440"/>
            <a:ext cx="256032" cy="256032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77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188720" y="2240280"/>
            <a:ext cx="7498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2331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验证方法选择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23317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通过用户访谈发现核心问题 → 设计可用性测试验证 → 定量问卷确认范围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88720" y="2240280"/>
            <a:ext cx="45720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063240"/>
            <a:ext cx="256032" cy="256032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063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88720" y="2926080"/>
            <a:ext cx="7498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71600" y="3017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测试过程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08960" y="3017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15场可用性测试 | 3轮A/B测试 | 200+份问卷 | 100+条行为数据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88720" y="2926080"/>
            <a:ext cx="45720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749040"/>
            <a:ext cx="256032" cy="256032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749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188720" y="3611880"/>
            <a:ext cx="7498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37160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08960" y="37033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导航结构问题(60%) | 术语理解困难(45%) | 缺少引导(40%) | 功能冗余(30%)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188720" y="3611880"/>
            <a:ext cx="45720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4434840"/>
            <a:ext cx="256032" cy="256032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434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88720" y="4297680"/>
            <a:ext cx="7498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371600" y="4389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决策与结果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108960" y="43891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简化导航 | 重构术语 | 新增引导流程 | 优化后留存率提升至38%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188720" y="4297680"/>
            <a:ext cx="45720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4663440"/>
            <a:ext cx="7772400" cy="0"/>
          </a:xfrm>
          <a:prstGeom prst="roundRect">
            <a:avLst>
              <a:gd name="adj" fmla="val Infinity"/>
            </a:avLst>
          </a:prstGeom>
          <a:solidFill>
            <a:srgbClr val="C41A1A">
              <a:alpha val="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</a:t>
            </a:r>
            <a:endParaRPr lang="en-US" sz="10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模块四总结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试真的关键要点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783080"/>
            <a:ext cx="411480" cy="41148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核心工具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A/B测试：数据驱动的方案选择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4414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可用性测试：观察真实用户行为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64261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焦点小组：深入挖掘用户想法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6459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783080"/>
            <a:ext cx="411480" cy="41148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22402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数据驱动：用证据而非直觉决策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4414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快速迭代：小步快跑持续优化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264261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假设验证：先验假设后证真伪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429000"/>
            <a:ext cx="411480" cy="41148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474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关键成功因素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38862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明确验证目标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0873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选择合适方法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2885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保证样本质量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448970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深入分析洞察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2918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92040" y="3429000"/>
            <a:ext cx="411480" cy="41148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3474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学习成果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937760" y="38862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掌握用户验证全流程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40873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能设计有效的验证实验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0" y="42885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建立数据驱动决策习惯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37760" y="448970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培养持续优化思维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617720"/>
            <a:ext cx="7772400" cy="54864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</a:t>
            </a:r>
            <a:endParaRPr lang="en-US" sz="10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从循迹到试真的创新闭环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023360" y="219456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5603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37360" y="233172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发现创新线索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用户行为分析、市场洞察、需求挖掘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46120" y="31089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566160" y="25603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233172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验证创新方向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3520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原型测试、概念验证、最小可行产品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31089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46520" y="25603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0" y="233172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试真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37960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验证真实价值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3520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A/B测试、可用性测试、数据驱动决策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71600" y="420624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C4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0" y="42062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核心价值：以用户为圆心，循迹发现 → 验证优化 → 试真落地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10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课程知识点回顾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循迹创新方法论全景图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192024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用户洞察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118872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8803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发现用户真实需求与痛点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123444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234440"/>
            <a:ext cx="192024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606040" y="1965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重问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606040" y="2331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HMW问题定义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71800" y="2743200"/>
            <a:ext cx="118872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28803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重新定义有价值的创新问题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234440"/>
            <a:ext cx="192024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754880" y="1965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开局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54880" y="2331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SCAMPER创新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2743200"/>
            <a:ext cx="118872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8803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系统化激发创新解决方案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123444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03720" y="1234440"/>
            <a:ext cx="192024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903720" y="1965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试真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903720" y="2331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验证优化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269480" y="2743200"/>
            <a:ext cx="118872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28803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用数据验证想法持续迭代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206240"/>
            <a:ext cx="9144000" cy="6400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从洞察到验证的完整旅程 — 循迹创新方法论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</a:t>
            </a:r>
            <a:endParaRPr lang="en-US" sz="10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创新方法论闭环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从洞察到验证的完整旅程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566160" y="1280160"/>
            <a:ext cx="2926080" cy="2926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7720" y="868680"/>
            <a:ext cx="822960" cy="8229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7" name="Text 5"/>
          <p:cNvSpPr/>
          <p:nvPr/>
        </p:nvSpPr>
        <p:spPr>
          <a:xfrm>
            <a:off x="4617720" y="868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2331720"/>
            <a:ext cx="822960" cy="8229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9" name="Text 7"/>
          <p:cNvSpPr/>
          <p:nvPr/>
        </p:nvSpPr>
        <p:spPr>
          <a:xfrm>
            <a:off x="6080760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重问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3794760"/>
            <a:ext cx="822960" cy="8229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3794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54680" y="2331720"/>
            <a:ext cx="822960" cy="8229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24231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182880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闭环流程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22860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用户洞察 → 问题定义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创新激发 → 方案生成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验证测试 → 迭代优化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0" y="182880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6948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持续创新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69480" y="22860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螺旋上升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每轮迭代深化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永不停止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持续创新，永无止境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</a:t>
            </a:r>
            <a:endParaRPr lang="en-US" sz="10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SCAMPER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- 适应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如何适应不同场景？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0467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91640"/>
            <a:ext cx="411480" cy="41148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18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场景适应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9202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同一个产品在不同使用场景下的调整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80467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560320"/>
            <a:ext cx="411480" cy="41148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4871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用户适应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788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针对不同用户群体的定制化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0467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429000"/>
            <a:ext cx="411480" cy="41148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355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环境适应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6576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适应温度、湿度、空间等外部条件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0467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4297680"/>
            <a:ext cx="411480" cy="411480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224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文化适应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45262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符合当地习惯、审美、价值观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49884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 咖啡馆适应远程办公场景：提供WiFi、电源插座、安静环境，变成移动办公室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12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创新工具箱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课程核心工具一览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169164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07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用户研究工具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用户访谈提纲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观察记录表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用户旅程地图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同理心地图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73152" cy="16916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207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HMW问题工具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6002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HMW问题转化表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问题分类矩阵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优先级评估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聚焦筛选法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17520"/>
            <a:ext cx="73152" cy="16916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1272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SCAMPER工具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5204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SCAMPER检核表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发散收敛表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组合创新卡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方案评分卡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017520"/>
            <a:ext cx="73152" cy="169164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1272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验证测试工具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83480" y="35204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原型测试脚本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A/B测试方案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用户反馈表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迭代记录表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</a:t>
            </a:r>
            <a:endParaRPr lang="en-US" sz="10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学习资源推荐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深入学习的路径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371600" cy="36576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推荐书籍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《设计思维》- IDEO | 《创新者的窘境》- 克里斯坦森 | 《用户故事地图》- Jeff Patton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393192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在线课程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1737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IDEO U设计思维系列 | Coursera创新管理专项 | 斯坦福d.school公开课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393192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505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工具资源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743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Miro协作白板 | Figma原型设计 | Notion知识管理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377440"/>
            <a:ext cx="393192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24505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实践平台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2743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创新工作坊社群 | 设计冲刺俱乐部 | 创业孵化平台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4988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持续学习，实践为本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10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制定你的行动计划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将学习转化为行动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371600"/>
            <a:ext cx="548640" cy="54864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目标设定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明确你的创新方向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97480" y="1371600"/>
            <a:ext cx="548640" cy="54864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94560" y="2057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行动步骤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2331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拆解具体行动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434840" y="1371600"/>
            <a:ext cx="548640" cy="54864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31920" y="2057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时间节点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2331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设定里程碑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72200" y="1371600"/>
            <a:ext cx="548640" cy="54864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69280" y="2057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资源需求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0" y="2331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准备所需资源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909560" y="1371600"/>
            <a:ext cx="548640" cy="54864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79095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06640" y="2057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成功标准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06640" y="2331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定义衡量指标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2926080"/>
            <a:ext cx="73152" cy="18288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行动计划模板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" y="3383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我的创新目标：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286000" y="33832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在_____个月内，实现_____的改善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第一个行动：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286000" y="37033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具体要做的第一件事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" y="4023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完成时间：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286000" y="40233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____年____月____日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" y="4343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需要的支持：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286000" y="43434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 / 资金 / 工具 / 其他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0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课程评估与反馈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你的收获与建议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828800" cy="36576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学习效果评估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知识掌握程度 | 工具运用能力 | 创新思维提升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55448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1600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满意度调查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课程内容满意度 | 讲师授课满意度 | 整体学习体验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063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改进建议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内容优化建议 | 形式改进建议 | 时间安排建议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83464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301752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3063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持续支持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9204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后续答疑渠道 | 实践辅导支持 | 资源分享计划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4074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"你的反馈是我们持续改进的动力"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</a:t>
            </a:r>
            <a:endParaRPr lang="en-US" sz="10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讲师介绍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2004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463040"/>
            <a:ext cx="1371600" cy="1371600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创新方法论导师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703320"/>
            <a:ext cx="228600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840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循迹创新系列课程开发者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以用户为圆心的创新方法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31920" y="1188720"/>
            <a:ext cx="47548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931920" y="1188720"/>
            <a:ext cx="54864" cy="105156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12801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背景介绍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16002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15年+产品创新经验 | 服务过50+家企业 | 培训学员10000+人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31920" y="2377440"/>
            <a:ext cx="47548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31920" y="2377440"/>
            <a:ext cx="54864" cy="105156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0" y="24688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专业领域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0" y="27889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用户研究与洞察 | 设计思维实践 | 创新管理体系建设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931920" y="3566160"/>
            <a:ext cx="47548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31920" y="3566160"/>
            <a:ext cx="54864" cy="105156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0" y="3657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授课风格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0" y="39776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实战案例丰富 | 方法论+工具并重 | 互动性强接地气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10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循迹创新，与你同行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3017520"/>
            <a:ext cx="2743200" cy="2743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从洞察到验证，从问题到方案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 → 重问 → 开局 → 试真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祝你在创新之路上不断突破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10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工具模板 | 用户旅程地图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附录参考资料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模板说明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用户旅程地图用于可视化用户完成目标的完整过程，帮助发现痛点与机会点。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280160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1737360"/>
            <a:ext cx="1280160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1737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737360"/>
            <a:ext cx="1280160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737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737360"/>
            <a:ext cx="1280160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737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737360"/>
            <a:ext cx="1280160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737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1737360"/>
            <a:ext cx="1280160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1737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1188720" cy="5029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4688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用户行为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737360" y="246888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246888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246888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0" y="246888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0" y="246888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0" y="246888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017520"/>
            <a:ext cx="1188720" cy="5029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017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用户想法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737360" y="301752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301752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0" y="301752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0" y="301752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23760" y="301752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95360" y="301752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566160"/>
            <a:ext cx="1188720" cy="5029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5661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用户情感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737360" y="356616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08960" y="356616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80560" y="356616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52160" y="356616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23760" y="356616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95360" y="356616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4114800"/>
            <a:ext cx="1188720" cy="5029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1148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737360" y="411480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08960" y="411480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80560" y="411480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52160" y="411480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23760" y="411480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95360" y="411480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" y="4663440"/>
            <a:ext cx="1188720" cy="5029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663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机会点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737360" y="466344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108960" y="466344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80560" y="466344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52160" y="466344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23760" y="466344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95360" y="466344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6451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使用建议：选择特定场景/产品，聚焦关键旅程阶段，详细填写每个触点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62" name="Text 6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</a:t>
            </a:r>
            <a:endParaRPr lang="en-US" sz="10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工具模板 | SCAMPER检核表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附录参考资料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Substitute 替代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什么可以替代？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谁可以替代？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在哪里替代？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Combine 组合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017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可以和什么组合？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功能可以叠加吗？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用户可以连接吗？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251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 适应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617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哪里可以适应？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有什么相似？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能借鉴什么？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580644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806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5852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Modify 改变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62179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可以改变什么？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大小/颜色/形状？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可以夸张吗？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100584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2064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Put to other use 其他用途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14173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还有其他用途吗？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可以用在别处吗？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有新的用户群吗？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260604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Eliminate 消除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3017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可以消除什么？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可以简化吗？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可以删除吗？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420624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20640" y="4251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Reverse 反向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0" y="4617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可以反向吗？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可以颠覆吗？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能逆向思考吗？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6451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使用方法：针对每个维度，逐一检核你的产品/服务/流程，记录创新想法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</a:t>
            </a:r>
            <a:endParaRPr lang="en-US" sz="10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工具模板 | HMW问题转化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附录参考资料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 = How might we... (我们如何能够...)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转化步骤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965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收集洞察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从用户研究中发现关键发现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41448" y="2331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60320" y="2103120"/>
            <a:ext cx="1965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5176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17520" y="2194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识别障碍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25603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找到阻碍用户达成目标的障碍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44568" y="2331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2103120"/>
            <a:ext cx="1965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0640" y="2194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HMW转化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5603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将障碍转化为HMW问题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47688" y="2331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66560" y="2103120"/>
            <a:ext cx="1965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23760" y="2194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优先级排序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25603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根据影响力/可行性排序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示例转化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474720"/>
            <a:ext cx="73152" cy="9144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5478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用户洞察：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11680" y="35478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用户反映早餐时间紧张，经常跳过早餐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HMW问题：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011680" y="3840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我们如何能够帮助用户在5分钟内准备好营养早餐？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572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练习模板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103120" y="4572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用户洞察：__________  →  HMW问题：我们如何能够 __________？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</a:t>
            </a:r>
            <a:endParaRPr lang="en-US" sz="10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91440" cy="51435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6459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循迹创新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以用户为圆心的创新方法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课程开发者：罗宏伟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731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课程信息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0" y="1280160"/>
            <a:ext cx="73152" cy="36576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80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1280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 - 用户洞察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783080"/>
            <a:ext cx="73152" cy="36576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783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重问 - HMW问题定义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286000"/>
            <a:ext cx="73152" cy="36576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286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开局 - SCAMPER创新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788920"/>
            <a:ext cx="73152" cy="36576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788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2788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试真 - 验证优化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383280"/>
            <a:ext cx="411480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566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版权声明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3886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本课程内容版权归属罗宏伟所有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未经许可，请勿转载或用于商业用途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4480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联系我们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4709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循迹创新，与你同行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</a:t>
            </a:r>
            <a:endParaRPr lang="en-US" sz="10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SCAMPER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- 修改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0" y="502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如何放大、缩小或改变？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192024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形态修改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改变形状、大小、外观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146304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463040"/>
            <a:ext cx="192024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9748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功能修改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9748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增强、减弱或改变功能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46304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463040"/>
            <a:ext cx="192024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80060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体验修改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0060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优化使用感受和交互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46304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1463040"/>
            <a:ext cx="192024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90372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规模修改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0372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扩大或缩小使用范围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931920"/>
            <a:ext cx="73152" cy="9144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0050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4206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宜家家具的平板包装设计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" y="4526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将拆卸后的家具平板化，大幅减少体积，降低运输成本，改变了整个家具行业的包装标准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SCAMPER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- 其它用途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还能用在什么地方？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527048"/>
            <a:ext cx="420624" cy="420624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27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跨界应用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176479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在不同行业领域使用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67128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167128"/>
            <a:ext cx="54864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276856"/>
            <a:ext cx="420624" cy="420624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2768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258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场景迁移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51460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应用于全然不同的场景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16936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916936"/>
            <a:ext cx="54864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026664"/>
            <a:ext cx="420624" cy="420624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0266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008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价值重塑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26440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挖掘新的价值主张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666744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666744"/>
            <a:ext cx="54864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3776472"/>
            <a:ext cx="420624" cy="420624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7764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37581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用户延展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80160" y="4014216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面向不同的用户群体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20574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" y="280720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355701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2793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 军用技术转民用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455371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GPS定位、互联网、无人机技术最初为军事目的开发，如今广泛应用于民用领域，创造出全新的市场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- 消除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什么可以去除或简化？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功能消除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9202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移除非核心功能，聚焦本质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39776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50876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0" y="15544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环节消除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19202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省略不必要的步骤和流程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39776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29718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复杂度消除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3375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简化操作，降低学习成本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743200"/>
            <a:ext cx="39776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292608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0" y="29718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成本消除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0" y="33375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去除不必要的开支和资源消耗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8229600" cy="8229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4160520"/>
            <a:ext cx="73152" cy="82296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2245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经典案例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4462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苹果移除手机键盘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474720" y="446227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用触摸屏完全替代物理键盘，消除了传统手机的形态限制，开创了智能手机新时代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SCAMPER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- 重组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重新排列会有什么不同？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77640" cy="1325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3977640" cy="54864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80160" y="16459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顺序重组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0116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改变步骤的先后顺序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3977640" cy="1325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9160" y="1417320"/>
            <a:ext cx="3977640" cy="5486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6002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532120" y="16459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结构重组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32120" y="20116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调整组织或产品的架构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977640" cy="1325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926080"/>
            <a:ext cx="3977640" cy="54864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08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280160" y="31546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逻辑重组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352044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重新定义因果关系和推导路径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926080"/>
            <a:ext cx="3977640" cy="1325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709160" y="2926080"/>
            <a:ext cx="3977640" cy="5486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108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532120" y="31546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关系重组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32120" y="352044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改变元素之间的连接和交互方式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22452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 拼车软件的匹配算法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49884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通过算法重新组合乘客的上车点、下车点和行驶路线，实现多人共乘，大幅提升出行效率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0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SCAMPER应用练习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为你的产品进行SCAMPER分析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1417320"/>
            <a:ext cx="594360" cy="5943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选择产品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选定一个你想要改进的产品或服务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123444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417320"/>
            <a:ext cx="594360" cy="5943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43200" y="2148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逐项分析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0" y="25146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针对每个SCAMPER维度提出改进想法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23444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40680" y="1417320"/>
            <a:ext cx="594360" cy="5943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892040" y="2148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记录想法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25146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把每个想法写下来，不做评判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03720" y="123444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89520" y="1417320"/>
            <a:ext cx="594360" cy="5943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040880" y="2148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筛选优化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40880" y="25146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评估可行性，选择最有价值的三个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337560"/>
            <a:ext cx="8229600" cy="10972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 分析模板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749040"/>
            <a:ext cx="1005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749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0080" y="4023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 组合 适应 修改 用途 消除 重组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737360" y="3749040"/>
            <a:ext cx="1005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37360" y="3749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737360" y="4023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 组合 适应 修改 用途 消除 重组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34640" y="3749040"/>
            <a:ext cx="1005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0" y="3749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2834640" y="4023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 组合 适应 修改 用途 消除 重组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931920" y="3749040"/>
            <a:ext cx="1005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0" y="3749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931920" y="4023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 组合 适应 修改 用途 消除 重组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9200" y="3749040"/>
            <a:ext cx="1005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3749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029200" y="4023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 组合 适应 修改 用途 消除 重组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126480" y="3749040"/>
            <a:ext cx="1005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0" y="3749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126480" y="4023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 组合 适应 修改 用途 消除 重组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223760" y="3749040"/>
            <a:ext cx="1005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23760" y="3749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223760" y="4023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 组合 适应 修改 用途 消除 重组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772400" y="3520440"/>
            <a:ext cx="73152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50" name="Text 48"/>
          <p:cNvSpPr/>
          <p:nvPr/>
        </p:nvSpPr>
        <p:spPr>
          <a:xfrm>
            <a:off x="7772400" y="3520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15分钟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52" name="Text 5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0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实战案例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SCAMPER实战案例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0" y="548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某产品创新全过程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2651760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2161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某传统零售企业面临电商冲击，门店客流持续下降，需要寻找数字化转型突破口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14300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143000"/>
            <a:ext cx="2651760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94760" y="12161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SCAMPER分析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17373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通过S替代转型线上、通过C组合打通会员体系、通过E消除中间环节、建立DTC模式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14300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143000"/>
            <a:ext cx="2651760" cy="4572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12161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创新成果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5080" y="17373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建立线上线下一体化会员系统，三个月内会员复购率提升40%，门店客流逆转增长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86100" y="2240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966460" y="2240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050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经验总结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1879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SCAMPER不是一次性工具，而是持续创新的思维方式——每次应用都能发现新的可能性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96</Slides>
  <Notes>96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9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循迹创新：以用户为圆心的创新方法</dc:title>
  <dc:subject>PptxGenJS Presentation</dc:subject>
  <dc:creator>罗宏伟</dc:creator>
  <cp:lastModifiedBy>罗宏伟</cp:lastModifiedBy>
  <cp:revision>1</cp:revision>
  <dcterms:created xsi:type="dcterms:W3CDTF">2026-06-25T07:47:56Z</dcterms:created>
  <dcterms:modified xsi:type="dcterms:W3CDTF">2026-06-25T07:47:56Z</dcterms:modified>
</cp:coreProperties>
</file>