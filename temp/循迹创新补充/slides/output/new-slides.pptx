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- 替代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什么可以被替代？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457200" cy="658368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原材料替代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039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用不同材料实现相同功能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691640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691640"/>
            <a:ext cx="457200" cy="658368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69164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流程替代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0391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用更高效的方式完成步骤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59736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59736"/>
            <a:ext cx="457200" cy="658368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5973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5511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人员替代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807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让更合适的人来做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459736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80560" y="2459736"/>
            <a:ext cx="457200" cy="658368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245973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25511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位置替代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2807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改变地点或场景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27832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227832"/>
            <a:ext cx="457200" cy="658368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2783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319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资源替代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35753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用更易获取的资源代替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224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46227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共享单车替代传统自行车租赁：无桩借还、扫码开锁、GPS定位，重新定义了城市出行方式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- 组合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什么可以组合在一起？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73152" cy="13716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产品组合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将多个产品融合为一个整体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80160"/>
            <a:ext cx="73152" cy="13716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63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功能组合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在一个解决方案中叠加多重功能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26080"/>
            <a:ext cx="73152" cy="13716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08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用户组合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" y="3566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连接不同用户群体实现价值交换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926080"/>
            <a:ext cx="73152" cy="13716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3108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渠道组合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83480" y="3566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打通线上线下多触点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159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经典案例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 + 相机 + 音乐播放器 = 智能手机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- 适应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如何适应不同场景？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0467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18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场景适应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同一个产品在不同使用场景下的调整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0467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560320"/>
            <a:ext cx="411480" cy="41148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4871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用户适应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针对不同用户群体的定制化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80467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429000"/>
            <a:ext cx="411480" cy="41148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355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环境适应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657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适应温度、湿度、空间等外部条件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04672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224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文化适应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4526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符合当地习惯、审美、价值观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988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咖啡馆适应远程办公场景：提供WiFi、电源插座、安静环境，变成移动办公室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 - 修改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0" y="502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如何放大、缩小或改变？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形态修改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改变形状、大小、外观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4630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4630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9748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功能修改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9748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增强、减弱或改变功能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4630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0060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体验修改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0060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优化使用感受和交互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766560" y="1463040"/>
            <a:ext cx="19202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14630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03720" y="2148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规模修改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03720" y="2560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扩大或缩小使用范围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931920"/>
            <a:ext cx="73152" cy="9144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0050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宜家家具的平板包装设计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4526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将拆卸后的家具平板化，大幅减少体积，降低运输成本，改变了整个家具行业的包装标准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- 其它用途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还能用在什么地方？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527048"/>
            <a:ext cx="420624" cy="420624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27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跨界应用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7647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在不同行业领域使用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167128"/>
            <a:ext cx="54864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276856"/>
            <a:ext cx="420624" cy="420624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2768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场景迁移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51460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应用于全然不同的场景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916936"/>
            <a:ext cx="54864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026664"/>
            <a:ext cx="420624" cy="420624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026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008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价值重塑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26440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挖掘新的价值主张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666744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666744"/>
            <a:ext cx="54864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776472"/>
            <a:ext cx="420624" cy="420624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7764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3758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用户延展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401421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面向不同的用户群体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205740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280720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55701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2793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军用技术转民用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55371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GPS定位、互联网、无人机技术最初为军事目的开发，如今广泛应用于民用领域，创造出全新的市场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- 消除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什么可以去除或简化？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5544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功能消除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移除非核心功能，聚焦本质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50876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15544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环节消除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92024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省略不必要的步骤和流程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29718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复杂度消除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337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简化操作，降低学习成本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74320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9260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0" y="297180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成本消除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3337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去除不必要的开支和资源消耗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8229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160520"/>
            <a:ext cx="73152" cy="8229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2245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经典案例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4462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苹果移除手机键盘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74720" y="44622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用触摸屏完全替代物理键盘，消除了传统手机的形态限制，开创了智能手机新时代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- 重组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重新排列会有什么不同？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97764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397764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顺序重组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改变步骤的先后顺序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97764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9160" y="1417320"/>
            <a:ext cx="397764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002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532120" y="164592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结构重组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201168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调整组织或产品的架构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7764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397764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80160" y="31546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逻辑重组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5204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重新定义因果关系和推导路径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3977640" cy="1325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2926080"/>
            <a:ext cx="3977640" cy="5486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32120" y="31546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关系重组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2120" y="352044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改变元素之间的连接和交互方式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245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 拼车软件的匹配算法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49884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通过算法重新组合乘客的上车点、下车点和行驶路线，实现多人共乘，大幅提升出行效率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SCAMPER应用练习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为你的产品进行SCAMPER分析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1417320"/>
            <a:ext cx="594360" cy="5943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选择产品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选定一个你想要改进的产品或服务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23444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417320"/>
            <a:ext cx="594360" cy="5943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逐项分析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25146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针对每个SCAMPER维度提出改进想法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1417320"/>
            <a:ext cx="594360" cy="5943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9204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记录想法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25146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把每个想法写下来，不做评判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3720" y="123444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0" y="1417320"/>
            <a:ext cx="594360" cy="5943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40880" y="2148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筛选优化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40880" y="25146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评估可行性，选择最有价值的三个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8229600" cy="10972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 分析模板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73736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3736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73736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3464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83464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93192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93192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920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02920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12648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12648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223760" y="3749040"/>
            <a:ext cx="10058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3749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223760" y="4023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 组合 适应 修改 用途 消除 重组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772400" y="3520440"/>
            <a:ext cx="73152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0" y="3520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15分钟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52" name="Text 5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实战案例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SCAMPER实战案例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0" y="548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某产品创新全过程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265176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2161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某传统零售企业面临电商冲击，门店客流持续下降，需要寻找数字化转型突破口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1430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143000"/>
            <a:ext cx="265176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94760" y="12161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SCAMPER分析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737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通过S替代转型线上、通过C组合打通会员体系、通过E消除中间环节、建立DTC模式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14300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43000"/>
            <a:ext cx="2651760" cy="4572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12161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创新成果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5080" y="17373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建立线上线下一体化会员系统，三个月内会员复购率提升40%，门店客流逆转增长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86100" y="2240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66460" y="2240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050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经验总结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18795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SCAMPER不是一次性工具，而是持续创新的思维方式——每次应用都能发现新的可能性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SCAMPER工作坊成果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438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小组创新方案展示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创新方案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基于M修改的手机支付改进方案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43200"/>
            <a:ext cx="2377440" cy="320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614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亮点: 指纹+面容双识别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09728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097280"/>
            <a:ext cx="2651760" cy="5029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创新方案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基于C组合的社区团购模式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743200"/>
            <a:ext cx="2377440" cy="320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27614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亮点: 邻里信任背书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09728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1097280"/>
            <a:ext cx="2651760" cy="5029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188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1737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创新方案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19659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基于E消除的极简保险产品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2743200"/>
            <a:ext cx="2377440" cy="320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27614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亮点: 一键投保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50292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474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投票评选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675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选出最具商业价值的创新方案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0" y="3383280"/>
            <a:ext cx="3017520" cy="6400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0" y="3474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点评反馈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3675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导师对各组方案进行专业点评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05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783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148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926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3291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069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434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577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720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9808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863840" y="4315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重组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用最简单的方式验证想法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54864" cy="1188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模拟最终产品的早期版本，用于测试和验证核心假设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103120"/>
            <a:ext cx="54864" cy="1188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原型目的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606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快速获取用户反馈，降低开发风险和不确定性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66160"/>
            <a:ext cx="54864" cy="1188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原型价值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用最小成本验证最大价值，避免无效投入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56616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566160"/>
            <a:ext cx="54864" cy="1188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原型类型谱系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4069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从低保真到高保真，根据需求选择合适层级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7315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572000"/>
            <a:ext cx="274320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低保真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0" y="4663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低保真原型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Low-Fidelity Prototype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快速、简单、低成本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纸笔草图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214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最快速的表达方式，用手绘草图呈现核心界面和流程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纸质原型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0358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用纸和卡纸制作可交互的立体模型，模拟真实界面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框架线框图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9502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用绘图工具绘制简洁的线框图，呈现布局结构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8288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828800"/>
            <a:ext cx="4114800" cy="3200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2240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概念初期 / 想法验证 / 早期沟通 / 设计头脑风暴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9718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971800"/>
            <a:ext cx="1965960" cy="2743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2918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制作快速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修改方便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成本低廉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聚焦核心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0840" y="29718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20840" y="2971800"/>
            <a:ext cx="1965960" cy="2743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297180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329184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精度有限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体验不真实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难以测试复杂交互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中保真原型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Mid-Fidelity Prototype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平衡效率与精度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265176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数字线框图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使用专业工具绘制标准化线框图，呈现界面布局和元素关系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828800"/>
            <a:ext cx="265176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2900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交互流程图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用流程图工具绘制用户操作路径，清晰展示交互逻辑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828800"/>
            <a:ext cx="265176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63640" y="2423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灰度原型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28346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不做颜色装饰，专注布局和交互，突出功能性设计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4114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工具推荐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4805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11680" y="44805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44805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44805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Balsamiq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4805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Mockplus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448056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D9D9D9"/>
          </a:solidFill>
          <a:ln/>
        </p:spPr>
      </p:sp>
      <p:sp>
        <p:nvSpPr>
          <p:cNvPr id="34" name="Text 32"/>
          <p:cNvSpPr/>
          <p:nvPr/>
        </p:nvSpPr>
        <p:spPr>
          <a:xfrm>
            <a:off x="749808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XD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高保真原型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High-Fidelity Prototype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接近最终产品的体验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188720" y="1965960"/>
            <a:ext cx="27432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视觉设计稿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完整的视觉设计，包含品牌色、字体、图标、间距等所有视觉元素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188720" y="2880360"/>
            <a:ext cx="27432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交互原型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1089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可实际操作的原型，模拟真实用户操作流程和反馈效果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188720" y="3794760"/>
            <a:ext cx="27432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使用真实或接近真实的内容填充，而非占位符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182880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推荐工具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237744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423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85232" y="26334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在线协作设计工具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49440" y="237744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22592" y="2423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22592" y="26334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Mac专业设计工具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212080" y="2971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3017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XD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85232" y="3227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Adobe创意云组件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49440" y="297180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3017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22592" y="322783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高保真交互原型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12080" y="356616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5232" y="3611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ProtoPie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85232" y="38221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复杂交互动效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49440" y="3566160"/>
            <a:ext cx="160020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3611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22592" y="382219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设计协作平台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原型测试方法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让用户验证你的假设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🚶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走廊测试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在走廊或办公区随机邀请路人进行5分钟快速测试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2900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预约测试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邀请目标用户进行有计划的深度测试，获取系统性反馈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6364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远程测试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通过视频会议工具远程进行，不受地理限制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402336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154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观察要点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用户的第一反应是什么？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用户在哪个步骤卡住了？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用户有哪些困惑或误解？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用户的情绪变化如何？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154680"/>
            <a:ext cx="4023360" cy="3200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154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记录方法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566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屏幕录制 + 录音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观察笔记和计时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任务完成率统计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用户主观评分收集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原型迭代优化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→ 反馈 → 改进 → 再测试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508760" y="1691640"/>
            <a:ext cx="640080" cy="64008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2606040"/>
            <a:ext cx="640080" cy="64008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08760" y="3520440"/>
            <a:ext cx="640080" cy="64008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3520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606040"/>
            <a:ext cx="640080" cy="64008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再测试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 rot="2700000">
            <a:off x="237744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 rot="8100000">
            <a:off x="11887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0" y="1554480"/>
            <a:ext cx="54864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554480"/>
            <a:ext cx="54864" cy="1188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反馈收集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19659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定量数据：完成率、错误率、任务时间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定性数据：用户感受、建议、问题描述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880360"/>
            <a:ext cx="5486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880360"/>
            <a:ext cx="54864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优先级排序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严重问题 &gt; 核心流程 &gt; 体验优化 &gt; 细节完善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931920"/>
            <a:ext cx="5486400" cy="914400"/>
          </a:xfrm>
          <a:prstGeom prst="rect">
            <a:avLst/>
          </a:prstGeom>
          <a:solidFill>
            <a:srgbClr val="D9D9D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案例：MVP迭代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4297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最小可行产品 → 投放市场 → 收集反馈 → 快速迭代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9202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7432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0" y="1371600"/>
            <a:ext cx="73152" cy="27432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1371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验证价值的最后一公里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02336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验证创新的商业价值和社会价值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23360" y="2743200"/>
            <a:ext cx="4754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0" y="2743200"/>
            <a:ext cx="475488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32004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如何验证创新方案真正有效？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模块预览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43891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市场验证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43891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用户验证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43891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商业验证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26680" y="4389120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4389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价值验证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模块四学习目标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试真：验证创新的真实价值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掌握用户验证方法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学习定性、定量、混合研究方法，根据场景选择最优验证策略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20116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学会设计验证实验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掌握A/B测试、可用性测试等实验设计要点，确保数据可靠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118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建立数据驱动思维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从数据中发现真相，用证据说话而非凭直觉做决策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4290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6118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培养迭代优化能力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4160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理解Build-Measure-Learn循环，快速验证持续改进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777240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用户验证方法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用数据说话，而非直觉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3736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196596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定性研究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14173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688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用户访谈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8529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焦点小组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2369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实地观察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62102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案例研究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73736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737360"/>
            <a:ext cx="196596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定量研究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80360" y="2331720"/>
            <a:ext cx="14173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4688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问卷调查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8529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A/B测试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32369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数据分析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62102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行为追踪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73736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737360"/>
            <a:ext cx="196596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混合方法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29200" y="2331720"/>
            <a:ext cx="14173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4688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三角验证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28529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先定性后定量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2369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定量验证定性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62102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迭代深化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1737360"/>
            <a:ext cx="19659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03720" y="1737360"/>
            <a:ext cx="196596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方法选择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78040" y="2331720"/>
            <a:ext cx="14173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246888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资源评估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285292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场景匹配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32369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精度要求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3621024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时间约束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434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方法选择矩阵：根据研究目标、资源条件、时间约束选择最适合的验证方法组合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用数据选择最优方案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A/B测试原理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将用户随机分为A、B两组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A组保持对照，B组引入变量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收集两组关键指标数据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通过统计显著性判断最优方案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实施步骤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确定目标 → 设计方案 → 分配流量 → 收集数据 → 分析结论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样本量计算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统计功效: 80%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置信水平: 95%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最小可检测效应值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每次只测试一个变量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确保流量分配随机均匀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877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测试周期要足够长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41696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避免新奇效应的影响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73152" cy="3657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成功案例：某电商通过A/B测试优化按钮颜色，点击率提升23%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可用性测试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Testing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观察用户真实使用行为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97280" cy="36576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63040"/>
            <a:ext cx="54864" cy="548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54480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测试类型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755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moderated vs unmoderated | 远程 vs 现场 | 实验室 vs 自然环境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54864" cy="548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194560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测试任务设计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957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典型任务场景 | 明确完成标准 | 控制任务复杂度 | 避免引导性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54864" cy="548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观察要点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035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操作路径 | 错误频率 | 犹豫时间 | 求助行为 | 表情反应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54864" cy="548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474720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指标收集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6758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任务完成率 | 完成时间 | 错误数 | NPS/CSAT评分 | 主观满意度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54864" cy="548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4114800"/>
            <a:ext cx="320040" cy="32004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结果分析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3159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定量统计 | 定性归因 | 问题分级 | 优先级排序 | 改进建议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572000"/>
            <a:ext cx="7772400" cy="411480"/>
          </a:xfrm>
          <a:prstGeom prst="roundRect">
            <a:avLst>
              <a:gd name="adj" fmla="val 11111"/>
            </a:avLst>
          </a:prstGeom>
          <a:solidFill>
            <a:srgbClr val="C41A1A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核心价值：发现可用性问题，验证设计假设，优化用户体验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焦点小组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Group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深入了解用户想法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1572768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447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参与人员选择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6-10人/组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目标用户筛选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多样性考量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07238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避免利益相关者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67128" y="137160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67128" y="1371600"/>
            <a:ext cx="1572768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2212848" y="14447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讨论大纲设计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58568" y="19202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开场暖场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58568" y="230428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核心议题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58568" y="2688336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深度追问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58568" y="307238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总结收尾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77056" y="137160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77056" y="1371600"/>
            <a:ext cx="1572768" cy="4572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3922776" y="14447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主持人技巧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68496" y="19202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中立引导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968496" y="230428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鼓励发言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68496" y="2688336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控制偏离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68496" y="307238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观察非语言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86984" y="137160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86984" y="1371600"/>
            <a:ext cx="1572768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6"/>
          <p:cNvSpPr/>
          <p:nvPr/>
        </p:nvSpPr>
        <p:spPr>
          <a:xfrm>
            <a:off x="5632704" y="14447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记录与分析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78424" y="19202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全程录音录像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78424" y="230428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多人编码分析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78424" y="2688336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主题归纳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78424" y="307238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洞察提炼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96912" y="1371600"/>
            <a:ext cx="1572768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96912" y="1371600"/>
            <a:ext cx="1572768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33"/>
          <p:cNvSpPr/>
          <p:nvPr/>
        </p:nvSpPr>
        <p:spPr>
          <a:xfrm>
            <a:off x="7342632" y="144475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88352" y="19202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概念探索阶段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88352" y="230428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需求澄清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88352" y="2688336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态度调研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88352" y="307238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创意评估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114800"/>
            <a:ext cx="7772400" cy="457200"/>
          </a:xfrm>
          <a:prstGeom prst="rect">
            <a:avLst/>
          </a:prstGeom>
          <a:solidFill>
            <a:srgbClr val="D9D9D9">
              <a:alpha val="5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优势：互动性强 | 深度挖掘 | 动态探索 | 成本适中    局限：样本有限 | 群体效应 | 主持人偏见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43" name="Text 4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行为数据分析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从数据中发现真相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4630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0584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埋点采集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日志记录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第三方工具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用户上报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14884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14630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4028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23160" y="2286000"/>
            <a:ext cx="100584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Text 18"/>
          <p:cNvSpPr/>
          <p:nvPr/>
        </p:nvSpPr>
        <p:spPr>
          <a:xfrm>
            <a:off x="224028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DAU/WAU/MAU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4028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转化率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24028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留存率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40280" y="3246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流失率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0332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048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14630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分析方法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0" y="2286000"/>
            <a:ext cx="100584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漏斗分析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3192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路径分析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3192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归因分析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31920" y="3246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群组分析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9496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53212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14630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2356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洞察提炼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806440" y="2286000"/>
            <a:ext cx="100584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0" name="Text 38"/>
          <p:cNvSpPr/>
          <p:nvPr/>
        </p:nvSpPr>
        <p:spPr>
          <a:xfrm>
            <a:off x="562356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趋势发现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2356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异常检测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2356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相关性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23560" y="3246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因果推断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86600" y="2468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223760" y="16459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818120" y="14630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47" name="Text 45"/>
          <p:cNvSpPr/>
          <p:nvPr/>
        </p:nvSpPr>
        <p:spPr>
          <a:xfrm>
            <a:off x="78181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1520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行动建议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498080" y="2286000"/>
            <a:ext cx="100584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0" y="2423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优先级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AB测试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2971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迭代计划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0" y="3246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效果追踪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3886200"/>
            <a:ext cx="777240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069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数据驱动决策：用数据验证假设，用证据支撑结论，避免主观臆断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57" name="Text 5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试真迭代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0" y="457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Build-Measure-Learn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快速验证，持续优化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1463040"/>
            <a:ext cx="2926080" cy="292608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0624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4023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7452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2560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24688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463040"/>
            <a:ext cx="54864" cy="13716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假设验证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明确待验证假设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148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设计验证实验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377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收集关键数据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606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判断假设成立/推翻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3840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快速迭代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小步快跑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频繁发布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9319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快速试错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持续优化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14630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0" y="1463040"/>
            <a:ext cx="54864" cy="13716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何时停止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19202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达到预设样本量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21488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统计显著性达标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23774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发现明确结论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26060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资源耗尽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30175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0" y="3017520"/>
            <a:ext cx="54864" cy="13716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34747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设置止损点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37033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控制实验时长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0" y="3931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监控异常指标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41605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准备回滚方案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试真实战案例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某创新产品的验证全过程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83080"/>
            <a:ext cx="36576" cy="31089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91640"/>
            <a:ext cx="256032" cy="256032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55448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1645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某B2B SaaS产品，用户反馈使用复杂，新用户注册后30日留存率仅15%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88720" y="1554480"/>
            <a:ext cx="4572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377440"/>
            <a:ext cx="256032" cy="256032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188720" y="224028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验证方法选择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2331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通过用户访谈发现核心问题 → 设计可用性测试验证 → 定量问卷确认范围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188720" y="2240280"/>
            <a:ext cx="4572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063240"/>
            <a:ext cx="256032" cy="256032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63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88720" y="292608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7160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测试过程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3017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15场可用性测试 | 3轮A/B测试 | 200+份问卷 | 100+条行为数据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88720" y="2926080"/>
            <a:ext cx="4572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749040"/>
            <a:ext cx="256032" cy="256032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749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88720" y="361188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37160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3703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导航结构问题(60%) | 术语理解困难(45%) | 缺少引导(40%) | 功能冗余(30%)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188720" y="3611880"/>
            <a:ext cx="4572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731520" y="4434840"/>
            <a:ext cx="256032" cy="256032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434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88720" y="429768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71600" y="4389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决策与结果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108960" y="4389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简化导航 | 重构术语 | 新增引导流程 | 优化后留存率提升至38%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88720" y="4297680"/>
            <a:ext cx="4572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4663440"/>
            <a:ext cx="7772400" cy="0"/>
          </a:xfrm>
          <a:prstGeom prst="roundRect">
            <a:avLst>
              <a:gd name="adj" fmla="val Infinity"/>
            </a:avLst>
          </a:prstGeom>
          <a:solidFill>
            <a:srgbClr val="C41A1A">
              <a:alpha val="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试真的关键要点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783080"/>
            <a:ext cx="411480" cy="41148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核心工具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A/B测试：数据驱动的方案选择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4414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可用性测试：观察真实用户行为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6426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焦点小组：深入挖掘用户想法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6459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783080"/>
            <a:ext cx="411480" cy="41148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数据驱动：用证据而非直觉决策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4414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快速迭代：小步快跑持续优化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6426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假设验证：先验假设后证真伪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429000"/>
            <a:ext cx="411480" cy="41148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474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关键成功因素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3886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明确验证目标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0873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选择合适方法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2885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保证样本质量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4897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深入分析洞察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2918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92040" y="3429000"/>
            <a:ext cx="411480" cy="41148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94960" y="3474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学习成果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37760" y="3886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掌握用户验证全流程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40873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能设计有效的验证实验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42885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建立数据驱动决策习惯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44897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培养持续优化思维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617720"/>
            <a:ext cx="7772400" cy="54864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课程总结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从循迹到试真的创新闭环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023360" y="2194560"/>
            <a:ext cx="1097280" cy="4572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5603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37360" y="233172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发现创新线索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用户行为分析、市场洞察、需求挖掘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46120" y="3108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566160" y="25603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33172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5760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验证创新方向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3520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原型测试、概念验证、最小可行产品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3108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46520" y="25603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0" y="233172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验证真实价值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3520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A/B测试、可用性测试、数据驱动决策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0" y="420624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" y="42062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核心价值：以用户为圆心，循迹发现 → 验证优化 → 试真落地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课程知识点回顾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循迹创新方法论全景图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43200"/>
            <a:ext cx="11887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80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发现用户真实需求与痛点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23444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12344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0604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重问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0604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HMW问题定义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2743200"/>
            <a:ext cx="11887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2880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重新定义有价值的创新问题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344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75488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SCAMPER创新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0640" y="2743200"/>
            <a:ext cx="11887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880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系统化激发创新解决方案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123444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1234440"/>
            <a:ext cx="1920240" cy="7315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90372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03720" y="2331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验证优化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69480" y="2743200"/>
            <a:ext cx="118872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2880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用数据验证想法持续迭代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206240"/>
            <a:ext cx="9144000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从洞察到验证的完整旅程 — 循迹创新方法论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创新方法论闭环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从洞察到验证的完整旅程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66160" y="1280160"/>
            <a:ext cx="2926080" cy="2926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868680"/>
            <a:ext cx="822960" cy="8229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4617720" y="868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2331720"/>
            <a:ext cx="822960" cy="8229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3794760"/>
            <a:ext cx="822960" cy="8229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794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54680" y="2331720"/>
            <a:ext cx="822960" cy="8229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4231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闭环流程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 → 问题定义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创新激发 → 方案生成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验证测试 → 迭代优化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1828800"/>
            <a:ext cx="22860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持续创新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22860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螺旋上升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每轮迭代深化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永不停止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持续创新，永无止境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创新工具箱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课程核心工具一览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691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用户研究工具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用户访谈提纲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观察记录表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用户旅程地图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同理心地图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16916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207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HMW问题工具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HMW问题转化表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问题分类矩阵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优先级评估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聚焦筛选法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73152" cy="1691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127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SCAMPER工具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5204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SCAMPER检核表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发散收敛表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组合创新卡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方案评分卡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0233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017520"/>
            <a:ext cx="73152" cy="169164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127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验证测试工具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83480" y="35204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原型测试脚本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A/B测试方案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用户反馈表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迭代记录表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学习资源推荐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深入学习的路径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371600" cy="36576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39319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推荐书籍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《设计思维》- IDEO | 《创新者的窘境》- 克里斯坦森 | 《用户故事地图》- Jeff Patton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39319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在线课程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IDEO U设计思维系列 | Coursera创新管理专项 | 斯坦福d.school公开课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9319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50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工具资源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Miro协作白板 | Figma原型设计 | Notion知识管理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377440"/>
            <a:ext cx="393192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4505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实践平台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创新工作坊社群 | 设计冲刺俱乐部 | 创业孵化平台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持续学习，实践为本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制定你的行动计划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将学习转化为行动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371600"/>
            <a:ext cx="548640" cy="54864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目标设定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明确你的创新方向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548640" cy="54864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9456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行动步骤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拆解具体行动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434840" y="1371600"/>
            <a:ext cx="548640" cy="54864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3192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时间节点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设定里程碑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72200" y="1371600"/>
            <a:ext cx="548640" cy="54864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资源需求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准备所需资源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909560" y="1371600"/>
            <a:ext cx="548640" cy="54864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79095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0664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成功标准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定义衡量指标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2926080"/>
            <a:ext cx="73152" cy="18288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行动计划模板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我的创新目标：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0" y="33832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在_____个月内，实现_____的改善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" y="3703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第一个行动：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286000" y="3703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具体要做的第一件事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4023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完成时间：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40233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____年____月____日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需要的支持：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86000" y="4343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 / 资金 / 工具 / 其他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课程评估与反馈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你的收获与建议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学习效果评估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知识掌握程度 | 工具运用能力 | 创新思维提升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55448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600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满意度调查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课程内容满意度 | 讲师授课满意度 | 整体学习体验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改进建议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内容优化建议 | 形式改进建议 | 时间安排建议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83464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301752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持续支持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后续答疑渠道 | 实践辅导支持 | 资源分享计划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"你的反馈是我们持续改进的动力"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讲师介绍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004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463040"/>
            <a:ext cx="1371600" cy="1371600"/>
          </a:xfrm>
          <a:prstGeom prst="ellipse">
            <a:avLst/>
          </a:prstGeom>
          <a:solidFill>
            <a:srgbClr val="D9D9D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罗宏伟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创新方法论导师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228600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840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循迹创新系列课程开发者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以用户为圆心的创新方法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1188720"/>
            <a:ext cx="47548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31920" y="1188720"/>
            <a:ext cx="54864" cy="10515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1280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背景介绍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16002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15年+产品创新经验 | 服务过50+家企业 | 培训学员10000+人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31920" y="2377440"/>
            <a:ext cx="47548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2377440"/>
            <a:ext cx="54864" cy="10515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2468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专业领域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27889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用户研究与洞察 | 设计思维实践 | 创新管理体系建设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31920" y="3566160"/>
            <a:ext cx="475488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931920" y="3566160"/>
            <a:ext cx="54864" cy="10515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0" y="3657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授课风格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0" y="3977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实战案例丰富 | 方法论+工具并重 | 互动性强接地气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循迹创新，与你同行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从洞察到验证，从问题到方案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 → 重问 → 开局 → 试真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祝你在创新之路上不断突破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工具模板 | 用户旅程地图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附录参考资料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模板说明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用户旅程地图用于可视化用户完成目标的完整过程，帮助发现痛点与机会点。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28016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1737360"/>
            <a:ext cx="128016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0" name="Text 8"/>
          <p:cNvSpPr/>
          <p:nvPr/>
        </p:nvSpPr>
        <p:spPr>
          <a:xfrm>
            <a:off x="182880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128016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737360"/>
            <a:ext cx="128016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1737360"/>
            <a:ext cx="128016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1737360"/>
            <a:ext cx="1280160" cy="64008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7373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1188720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68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37360" y="24688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24688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24688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24688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24688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0" y="246888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17520"/>
            <a:ext cx="1188720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用户想法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37360" y="30175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30175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80560" y="30175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0" y="30175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30175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95360" y="301752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566160"/>
            <a:ext cx="1188720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566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用户情感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37360" y="3566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8960" y="3566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0560" y="3566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52160" y="3566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3566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0" y="356616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114800"/>
            <a:ext cx="1188720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114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737360" y="41148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08960" y="41148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0" y="41148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52160" y="41148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23760" y="41148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95360" y="41148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4663440"/>
            <a:ext cx="1188720" cy="50292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663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737360" y="46634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08960" y="46634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80560" y="46634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52160" y="46634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23760" y="46634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595360" y="46634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使用建议：选择特定场景/产品，聚焦关键旅程阶段，详细填写每个触点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62" name="Text 6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工具模板 | SCAMPER检核表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附录参考资料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Substitute 替代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什么可以替代？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谁可以替代？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在哪里替代？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Combine 组合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017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可以和什么组合？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功能可以叠加吗？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用户可以连接吗？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 适应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617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哪里可以适应？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有什么相似？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能借鉴什么？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8064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806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5852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Modify 改变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62179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可以改变什么？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大小/颜色/形状？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可以夸张吗？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2064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Put to other use 其他用途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14173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还有其他用途吗？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可以用在别处吗？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有新的用户群吗？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6060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Eliminate 消除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3017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可以消除什么？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可以简化吗？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可以删除吗？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4206240"/>
            <a:ext cx="457200" cy="45720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2064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Reverse 反向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4617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可以反向吗？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可以颠覆吗？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能逆向思考吗？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使用方法：针对每个维度，逐一检核你的产品/服务/流程，记录创新想法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工具模板 | HMW问题转化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附录参考资料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 = How might we... (我们如何能够...)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转化步骤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965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收集洞察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从用户研究中发现关键发现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41448" y="2331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2103120"/>
            <a:ext cx="1965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识别障碍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25603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找到阻碍用户达成目标的障碍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44568" y="2331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2103120"/>
            <a:ext cx="1965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HMW转化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5603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将障碍转化为HMW问题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47688" y="2331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2103120"/>
            <a:ext cx="19659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2194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优先级排序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25603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根据影响力/可行性排序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示例转化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474720"/>
            <a:ext cx="73152" cy="9144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547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用户洞察：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35478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用户反映早餐时间紧张，经常跳过早餐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HMW问题：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011680" y="3840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我们如何能够帮助用户在5分钟内准备好营养早餐？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练习模板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03120" y="4572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用户洞察：__________  →  HMW问题：我们如何能够 __________？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91440" cy="514350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645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以用户为圆心的创新方法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课程开发者：罗宏伟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731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课程信息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0" y="1280160"/>
            <a:ext cx="73152" cy="3657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1280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 - 用户洞察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783080"/>
            <a:ext cx="73152" cy="3657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783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重问 - HMW问题定义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286000"/>
            <a:ext cx="73152" cy="3657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286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开局 - SCAMPER创新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788920"/>
            <a:ext cx="73152" cy="365760"/>
          </a:xfrm>
          <a:prstGeom prst="rect">
            <a:avLst/>
          </a:prstGeom>
          <a:solidFill>
            <a:srgbClr val="C4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788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5216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试真 - 验证优化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383280"/>
            <a:ext cx="4114800" cy="1828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3566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版权声明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886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本课程内容版权归属罗宏伟所有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未经许可，请勿转载或用于商业用途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4480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4709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循迹创新，与你同行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循迹创新：以用户为圆心的创新方法 - 新增内容</dc:title>
  <dc:subject>PptxGenJS Presentation</dc:subject>
  <dc:creator>罗宏伟</dc:creator>
  <cp:lastModifiedBy>罗宏伟</cp:lastModifiedBy>
  <cp:revision>1</cp:revision>
  <dcterms:created xsi:type="dcterms:W3CDTF">2026-06-25T13:38:59Z</dcterms:created>
  <dcterms:modified xsi:type="dcterms:W3CDTF">2026-06-25T13:38:59Z</dcterms:modified>
</cp:coreProperties>
</file>