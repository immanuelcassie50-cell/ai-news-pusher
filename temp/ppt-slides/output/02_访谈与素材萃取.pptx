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高净值客户服务经验萃取工作坊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访谈与素材萃取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学习地图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你在做什么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0" y="1005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带走什么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为什么用访谈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理解访谈逻辑，做好角色准备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访谈视角和心理准备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访谈提问框架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熟悉提问清单和追问技巧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2286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一套三层经验导向的提问工具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访谈演练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两两相互访谈，全程录音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访谈录音 + 关键经验要点记录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素材整理与方向确认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分类整理素材，锁定工具方向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素材分类清单 + 工具开发优先级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4A4A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828800" cy="54864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为什么要用访谈，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而不是让你自己写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写和说，激活的是不同的脑子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写和说，激活的是不同的脑子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激活"整理和美化"机制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写出"应该怎么做"的标准答案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几乎没有真正的服务逻辑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48640" cy="32004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"首先要安抚客户情绪，然后再进行理性分析。"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560320"/>
            <a:ext cx="274320" cy="7315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激活"经验提取"机制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说出"实际上怎么做"的真实过程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携带大量情境化的服务逻辑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548640" cy="320040"/>
          </a:xfrm>
          <a:prstGeom prst="rect">
            <a:avLst/>
          </a:prstGeom>
          <a:solidFill>
            <a:srgbClr val="C75B5B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真实的场景还原，细腻的情绪感知，具体的应对策略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D5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访谈的工作原理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6949440" cy="2011680"/>
          </a:xfrm>
          <a:prstGeom prst="rect">
            <a:avLst/>
          </a:prstGeom>
          <a:solidFill>
            <a:srgbClr val="E8D5D5"/>
          </a:solidFill>
          <a:ln w="25400">
            <a:solidFill>
              <a:srgbClr val="C75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8288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当被问"然后你具体怎么做的"、"你当时是怎么判断的"，脑子来不及整理和审查，说出来的是真实的处理过程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6949440" cy="8229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0233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关键洞察：不是把经验从记忆里"捞出来"，而是通过对话把它"逼出来"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你脑子里真正有的东西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1089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天客户接电话，一上来语气就不对。我第一反应是想跟他解释今天大盘的情况，但我忍住了——因为我听到他中间有一句'你们当时说这个稳的'，这个措辞不是真的在问问题，他是在发泄。我就让他先说，等他说完大概一分半钟，语速慢下来了，我才开口..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这段话里有判断逻辑、有具体行为、有取舍——这才是有价值的服务逻辑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你在访谈里的两个角色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被访谈者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围绕自己的场景定位表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说出自己的真实处理方式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不要整理语言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就像和信任的老同事聊天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按提问清单提问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在说不清楚的地方追问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帮助对方把模糊的直觉变成具体语言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记录关键信息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7680960" cy="2743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访谈提问框架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一套三层经验导向的提问工具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开场提问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定位场景，热身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E8D5D5"/>
          </a:solidFill>
          <a:ln w="25400">
            <a:solidFill>
              <a:srgbClr val="8B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2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你在场景定位表里选的是这个场景——[读出场景名称]。你现在遇到这个情况，大概是怎么处理的？给我讲一个你印象比较深刻的真实案例，不用完整，说关键的几步就行。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目的说明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让被访谈者进入具体情境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避免一开始就说原则和框架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从真实案例切入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三层提问框架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新手易错点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踩过什么坑？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绝对不能做的事？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老手易忽视点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有意识在做的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下意识就做了的？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感觉从哪里来？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致命点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什么话不能说？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什么线不能踩？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围绕新手易错点的提问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刚开始做这类场景的时候，你踩过什么坑，或者见过别人踩什么坑？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如果要提醒一个第一次遇到这个情况的新同事，你会说哪一两件绝对不能做的事？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794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有没有哪一次处理得不好，让你印象特别深刻？当时具体发生了什么？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围绕老手易忽视点的提问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你现在处理这个场景，大概分哪几步？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目的：先让对方说步骤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在你刚才说的这几步里，哪一步你是有意识在做的，哪一步你有点下意识就做了？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目的：区分意识层次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感觉信号与成功直觉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6459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你有没有那种感觉——你知道现在该换方向了，或者知道这次谈话快到某个节点了，但说不太清楚是什么信号让你觉得该切换？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73152" cy="16459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有没有某一次你的服务做得特别好，但你自己也不完全清楚为什么这次效果那么好？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8D5D5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这两个问题旨在挖掘老手的隐性知识——他们知道但说不清、直觉强但逻辑弱的部分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围绕致命点的提问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0058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在这个场景里，有没有某些话或者某些动作，一旦出现，基本上就意味着这次服务很难挽回了？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91440" cy="10058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从合规角度，在这个场景里有哪些绝对不能说的话、不能踩的线？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74720"/>
            <a:ext cx="91440" cy="10058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6118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什么时候你宁可不说，也不愿意冒险说错？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8229600" cy="73152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核心追问技巧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从"感觉"挖出"动作"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E8D5D5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0972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被访谈者最容易说"我就是凭感觉"、"我说不太清楚"。原因：真的没有意识到自己在做什么。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2971800"/>
            <a:ext cx="640080" cy="6400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描述情境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从模糊转向具体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2971800"/>
            <a:ext cx="640080" cy="6400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锁定行为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从感觉转向行动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26480" y="3703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追问逻辑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26480" y="4069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从行为转向判断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追问三步（从模糊到可用）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你能描述一下当时具体发生了什么？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1645920" cy="32004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从模糊转向具体情境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那个时候你做了什么？说了什么？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246120"/>
            <a:ext cx="1645920" cy="32004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从感觉转向行为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你怎么知道要这样做，而不是做别的？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663440"/>
            <a:ext cx="1645920" cy="27432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从行为转向判断逻辑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一个追问案例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E8D5D5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客户的语速开始放慢，开始说"我知道你们也很难"——我判断这时候他已经从质问状态转移到倾诉状态了，这个时候才适合切回配置逻辑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0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7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这种判断逻辑，才是可以被提炼成工具的东西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访谈者最重要的一个动作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8229600" cy="164592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在被访谈者说完一段话之后，重复你听到的最关键那句话，然后问：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6949440" cy="73152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202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"你这里说的[关键词]，能再说具体一点吗？"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重复和确认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让被访谈者感到被认真听见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5B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333756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深挖层次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3840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帮助挖出更深的层次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访谈演练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两两结构化访谈（实操产出）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743200" cy="45720"/>
          </a:xfrm>
          <a:prstGeom prst="rect">
            <a:avLst/>
          </a:prstGeom>
          <a:solidFill>
            <a:srgbClr val="C75B5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两两结构化访谈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找一位搭档，两人分别选了不同的场景定位表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A访谈B，B开着录音，围绕自己的场景讲经验（20-25分钟）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角色互换，B访谈A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访谈者按提问清单提问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被访谈者不要整理语言，不要说"应该怎么做"，说你真实怎么做的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关键：说真实怎么做的，不要说应该怎么做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访谈时间安排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03120"/>
            <a:ext cx="8229600" cy="13716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1554480"/>
            <a:ext cx="45720" cy="41148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A访谈B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20-25分钟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0" y="196596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1554480"/>
            <a:ext cx="45720" cy="411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角色互换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1965960"/>
            <a:ext cx="411480" cy="41148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0" y="1554480"/>
            <a:ext cx="45720" cy="41148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B访谈A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20-25分钟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1965960"/>
            <a:ext cx="411480" cy="41148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1554480"/>
            <a:ext cx="45720" cy="41148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40-50分钟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演练总时长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A访谈B：20-25分钟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B访谈A：20-25分钟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合计：40-50分钟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访谈记录表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被访谈者：______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场景：______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访谈时长：______分钟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记录维度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737360"/>
            <a:ext cx="5943600" cy="45720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737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记录内容（课堂手写）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286000" cy="868680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具体操作步骤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228600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2286000" cy="868680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315468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2286000" cy="868680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23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他说过的原话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402336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（续见下页）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228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访谈记录表（续）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记录维度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5943600" cy="457200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188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记录内容（课堂手写）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2286000" cy="658368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绝对不能说的话/动作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1737360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95728"/>
            <a:ext cx="2286000" cy="658368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95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新手易错点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2395728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54096"/>
            <a:ext cx="2286000" cy="658368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540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老手易忽视的有效动作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3054096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12464"/>
            <a:ext cx="2286000" cy="658368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124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一个完整案例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0" y="3712464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70832"/>
            <a:ext cx="2286000" cy="658368"/>
          </a:xfrm>
          <a:prstGeom prst="rect">
            <a:avLst/>
          </a:prstGeom>
          <a:solidFill>
            <a:srgbClr val="E8D5D5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08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你的补充观察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4370832"/>
            <a:ext cx="5943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提示：尽量记录被访谈者的原话，保留真实细节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访谈结束后，立刻做这件事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8D5D5"/>
          </a:solidFill>
          <a:ln/>
        </p:spPr>
      </p:sp>
      <p:sp>
        <p:nvSpPr>
          <p:cNvPr id="6" name="Shape 4"/>
          <p:cNvSpPr/>
          <p:nvPr/>
        </p:nvSpPr>
        <p:spPr>
          <a:xfrm>
            <a:off x="1691640" y="150876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打开AI工具，把录音上传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8D5D5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50876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转成文字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8D5D5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150876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保存到设备，命名格式：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[你的名字]_[场景名称]_访谈记录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852160" y="18288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推荐工具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2011680" cy="822960"/>
          </a:xfrm>
          <a:prstGeom prst="roundRect">
            <a:avLst/>
          </a:prstGeom>
          <a:solidFill>
            <a:srgbClr val="8B294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通义听悟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017520" y="3383280"/>
            <a:ext cx="2011680" cy="822960"/>
          </a:xfrm>
          <a:prstGeom prst="roundRect">
            <a:avLst/>
          </a:prstGeom>
          <a:solidFill>
            <a:srgbClr val="8B2942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6616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飞书妙记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03520" y="3383280"/>
            <a:ext cx="2011680" cy="822960"/>
          </a:xfrm>
          <a:prstGeom prst="roundRect">
            <a:avLst/>
          </a:prstGeom>
          <a:solidFill>
            <a:srgbClr val="8B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5216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讯飞听见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及时转写，不遗漏细节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重要提醒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录音文字不需要完美，有错别字没关系，关键是完整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明天的AI生成环节会直接用这份文字做输入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1645920"/>
          </a:xfrm>
          <a:prstGeom prst="roundRect">
            <a:avLst>
              <a:gd name="adj" fmla="val 5556"/>
            </a:avLst>
          </a:prstGeom>
          <a:solidFill>
            <a:srgbClr val="E8D5D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为什么完整比准确更重要？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文字越完整，AI生成的初稿质量越好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AI可以帮你修正错误，但无法凭空补全你没说过的内容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8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8288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9144000" cy="18288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素材整理与工具开发方向确认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5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整理访谈素材，明确SOP开发方向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75B5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你现在手里有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109728" cy="13716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你的场景定位表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明确服务方向和目标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88720"/>
            <a:ext cx="109728" cy="13716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645920"/>
            <a:ext cx="457200" cy="45720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5087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你的访谈录音文字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原始素材，完整为王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880360"/>
            <a:ext cx="109728" cy="13716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337560"/>
            <a:ext cx="457200" cy="45720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搭档为你填写的访谈记录表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第三方视角的整理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8D5D5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880360"/>
            <a:ext cx="109728" cy="13716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333756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素材分类清单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即将完成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30632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297680"/>
            <a:ext cx="7680960" cy="36576"/>
          </a:xfrm>
          <a:prstGeom prst="rect">
            <a:avLst/>
          </a:prstGeom>
          <a:solidFill>
            <a:srgbClr val="C75B5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这些素材将进入下一环节：AI辅助SOP生成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四种素材类型和对应的工具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8D5D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你说了"先做什么、再做什么、然后怎样"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234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服务SOP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你说了"我会看什么信号，来决定下一步"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943600" y="219456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SOP判断节点 + 案例过程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8D5D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08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你说了具体怎么表达，包括避开的雷区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943600" y="315468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话术模板（含雷区）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69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8872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情境描述类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你描述了具体的场景和情况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943600" y="41148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8B2942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素材类型 1/4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D5D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你说了"先做什么、再做什么、然后怎样"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工具去向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操作步骤类素材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114800" y="32918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C75B5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3291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AI帮你格式化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772400" y="320040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8B294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20040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229600" cy="36576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AI作用：帮你把步骤格式化成规范的操作流程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素材类型 2/4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8D5D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你说了"我会看什么信号，来决定下一步怎么做"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看什么信号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20040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75B5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743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943600" y="26060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8B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6060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决定行动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工具去向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SOP里"判断节点"的原材料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88620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案例里最有分量的部分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读者价值："哦，原来判断的依据是这个"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素材类型 3/4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E8D5D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</a:t>
            </a:r>
            <a:pPr indent="0" marL="0">
              <a:buNone/>
            </a:pPr>
            <a:r>
              <a:rPr lang="en-US" sz="16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具体的话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，或者说了"</a:t>
            </a:r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绝对不能说这句话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可说的话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具体表达文本...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6060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75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雷区表达...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工具去向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生成话术模板的原材料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17880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75B5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178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41788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雷区提示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读者价值："原来这话要这么说才有效"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素材类型 4/4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情境描述类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8D5D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你说了一个有头有尾的事情经过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7680960" cy="54864"/>
          </a:xfrm>
          <a:prstGeom prst="rect">
            <a:avLst/>
          </a:prstGeom>
          <a:solidFill>
            <a:srgbClr val="E8D5D5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834640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情境背景...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71800" y="2834640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事件发展...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83480" y="2834640"/>
            <a:ext cx="274320" cy="27432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2834640"/>
            <a:ext cx="274320" cy="27432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429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 outcome...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工具去向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生成典型案例的原材料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读者价值："原来这类情况要这么处理"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素材分类练习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把访谈里的原始素材按类型整理出来，确认哪类素材最丰富，指导工具开发方向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素材类型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从你的访谈里摘出来的关键内容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14884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1. 2. 3. 4.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645920" cy="77724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9260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1. 2. 3. 4.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70332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可说的... 绝对不能说...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480560"/>
            <a:ext cx="1645920" cy="77724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情境描述类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448056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案例梗概...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8D5D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提示：每类素材至少写3-5条，越具体越好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工具开发优先级确认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00" cy="50292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工具类型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素材丰富度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1005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开发优先级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7315200" cy="68580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0876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087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服务话术模板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508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丰富/一般/较少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5087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508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必做/选做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7315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94560"/>
            <a:ext cx="2194560" cy="68580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服务操作SOP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丰富/一般/较少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2194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必做/选做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7315200" cy="68580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典型服务案例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丰富/一般/较少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880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880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必做/选做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7315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66160"/>
            <a:ext cx="2194560" cy="685800"/>
          </a:xfrm>
          <a:prstGeom prst="rect">
            <a:avLst/>
          </a:prstGeom>
          <a:solidFill>
            <a:srgbClr val="E8D5D5"/>
          </a:solidFill>
          <a:ln w="6350">
            <a:solidFill>
              <a:srgbClr val="E8D5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661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检查清单/跟进表单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丰富/一般/较少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35661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高/中/低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必做/选做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D5D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评估标准：素材丰富度 x 重要性 = 开发优先级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搭档协作 (10分钟)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与搭档交叉确认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你觉得我的访谈里，有没有重要的经验没有被归进这四类里？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75B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75B5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你在访谈记录表里写的"你的补充观察"那栏，现在告诉我，你觉得我遗漏了什么。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D5D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29768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如果某类素材特别少，不是这个场景没有这类要素，而是访谈时这个方向没有被充分挖掘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补访建议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C75B5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8B2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D5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在你刚才说的那个场景里，你第一句话具体会怎么说？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8D5D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886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C75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D5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在那个步骤里，你是通过什么信号判断该往下走了？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8D5D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D5D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补充素材盲点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，提升明天AI生成质量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3703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3703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第一天课后任务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今晚需要做的一件事（20-25分钟）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把你的访谈文字通读一遍，用三个问题做一次自我检查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75B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3375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337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我的服务流程，能说清楚每一步的判断依据吗？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说不清楚的地方就是盲点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32004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75B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3375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337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我见过或经历过的，处理得最好的一次是什么样的？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把画面写成5-8句话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75B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33756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37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有没有绝对不能说/不能做的话/动作，今天没有提到？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4434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补充进来会有额外价值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详细说明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三个问题详解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606040" cy="73152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7830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说不清楚的判断依据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用一段文字写下来，加到访谈文字末尾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43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明天需要补充的盲点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64408" y="15544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4408" y="1554480"/>
            <a:ext cx="2606040" cy="73152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18" name="Shape 16"/>
          <p:cNvSpPr/>
          <p:nvPr/>
        </p:nvSpPr>
        <p:spPr>
          <a:xfrm>
            <a:off x="3401568" y="17830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783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脑子里有画面但没写下来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3337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用5-8句话写出来：发生了什么、顾问做了哪几个关键动作、最后结果是什么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01568" y="43434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/>
        </p:spPr>
      </p:sp>
      <p:sp>
        <p:nvSpPr>
          <p:cNvPr id="25" name="Text 23"/>
          <p:cNvSpPr/>
          <p:nvPr/>
        </p:nvSpPr>
        <p:spPr>
          <a:xfrm>
            <a:off x="3493008" y="4343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最好的那次的完整素材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71616" y="1554480"/>
            <a:ext cx="2606040" cy="34747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8D5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1554480"/>
            <a:ext cx="2606040" cy="73152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08776" y="178308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8B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1783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8776" y="2240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08776" y="2468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绝对不能说/不能做的话和动作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08776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08776" y="33375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补充进来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08776" y="43434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0216" y="4343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AI生成工具时的额外输入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预告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明天预告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E8D5D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明天上午开始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你会把今天的访谈素材交给AI处理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AI能生成什么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8B29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话术模板初稿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30632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8B294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063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SOP初稿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306324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30632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案例初稿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55448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C75B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AI能生成多好，取决于你给它的素材质量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3749040" cy="0"/>
          </a:xfrm>
          <a:prstGeom prst="line">
            <a:avLst/>
          </a:prstGeom>
          <a:noFill/>
          <a:ln w="12700">
            <a:solidFill>
              <a:srgbClr val="E8D5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71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今晚把素材补充完整，明天的工具质量会好很多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今晚多花20分钟，明天AI输出质量提升一大截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C75B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知识框架总结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本部分知识框架总结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8B29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为什么用访谈而不是写作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194560"/>
            <a:ext cx="0" cy="274320"/>
          </a:xfrm>
          <a:prstGeom prst="line">
            <a:avLst/>
          </a:prstGeom>
          <a:noFill/>
          <a:ln w="25400">
            <a:solidFill>
              <a:srgbClr val="E8D5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75B5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写作激活"整理和美化"，说出来才有真实逻辑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C7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被追问时，直觉判断会变成可用的语言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结构化访谈提问框架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61188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开场：从具体案例切入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63640" y="361188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新手易错层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21040" y="361188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老手易忽视层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378440" y="361188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E8D5D5"/>
          </a:solidFill>
          <a:ln w="12700">
            <a:solidFill>
              <a:srgbClr val="8B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致命点层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追问三步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从模糊到可用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素材分类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425196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251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94960" y="4480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→服务SOP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263640" y="425196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251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判断逻辑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4480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→SOP判断节点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32320" y="425196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4251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话术表达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0" y="4480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→话术模板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001000" y="425196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5B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0" y="42519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情境描述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001000" y="4480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7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→典型案例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高净值客户服务经验萃取工作坊 - 第二部分</dc:title>
  <dc:subject>访谈与素材萃取</dc:subject>
  <dc:creator>招商证券</dc:creator>
  <cp:lastModifiedBy>招商证券</cp:lastModifiedBy>
  <cp:revision>1</cp:revision>
  <dcterms:created xsi:type="dcterms:W3CDTF">2026-05-14T03:56:28Z</dcterms:created>
  <dcterms:modified xsi:type="dcterms:W3CDTF">2026-05-14T03:56:28Z</dcterms:modified>
</cp:coreProperties>
</file>