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</p:sldIdLst>
  <p:notesMasterIdLst>
    <p:notesMasterId r:id="rId15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notesMaster" Target="notesMasters/notesMaster1.xml"/><Relationship Id="rId152" Type="http://schemas.openxmlformats.org/officeDocument/2006/relationships/presProps" Target="presProps.xml"/><Relationship Id="rId153" Type="http://schemas.openxmlformats.org/officeDocument/2006/relationships/viewProps" Target="viewProps.xml"/><Relationship Id="rId154" Type="http://schemas.openxmlformats.org/officeDocument/2006/relationships/theme" Target="theme/theme1.xml"/><Relationship Id="rId1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1097280"/>
            <a:ext cx="2743200" cy="2743200"/>
          </a:xfrm>
          <a:prstGeom prst="ellipse">
            <a:avLst/>
          </a:prstGeom>
          <a:solidFill>
            <a:srgbClr val="8B0000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高考志愿填报师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从"冲稳保"到人生选择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一套重构认知与沟通的方法论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0" y="4114800"/>
            <a:ext cx="2743200" cy="0"/>
          </a:xfrm>
          <a:prstGeom prst="line">
            <a:avLst/>
          </a:prstGeom>
          <a:noFill/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这门课适合谁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01168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1554480"/>
            <a:ext cx="731520" cy="7315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2423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高考志愿填报从业者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880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希望提升专业能力与咨询质量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1554480"/>
            <a:ext cx="731520" cy="7315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25196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29000" y="2423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学生和家长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2880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想深入理解选专业逻辑与决策框架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86600" y="1554480"/>
            <a:ext cx="731520" cy="7315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63640" y="2423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转型探索者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2880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希望转型做志愿填报咨询的人士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54864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40233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建立"先人后分"的正确顺序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91840" y="4023360"/>
            <a:ext cx="54864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40233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703320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掌握信息过滤与产业判断方法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26480" y="4023360"/>
            <a:ext cx="54864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40233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37960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学会风险偏好翻译与冲突处理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课程地图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99032"/>
            <a:ext cx="502920" cy="5029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99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认知重塑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673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冲稳保不是方法，是语法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0100" y="1947672"/>
            <a:ext cx="0" cy="91440"/>
          </a:xfrm>
          <a:prstGeom prst="line">
            <a:avLst/>
          </a:prstGeom>
          <a:noFill/>
          <a:ln w="12700">
            <a:solidFill>
              <a:srgbClr val="999999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48640" y="2112264"/>
            <a:ext cx="502920" cy="5029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122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0391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协作与沟通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23865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风险偏好翻译与冲突处理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" y="2660904"/>
            <a:ext cx="0" cy="91440"/>
          </a:xfrm>
          <a:prstGeom prst="line">
            <a:avLst/>
          </a:prstGeom>
          <a:noFill/>
          <a:ln w="12700">
            <a:solidFill>
              <a:srgbClr val="999999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48640" y="2825496"/>
            <a:ext cx="502920" cy="5029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254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275234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职业心态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099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替人做决定的风险与口碑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0100" y="3374136"/>
            <a:ext cx="0" cy="91440"/>
          </a:xfrm>
          <a:prstGeom prst="line">
            <a:avLst/>
          </a:prstGeom>
          <a:noFill/>
          <a:ln w="12700">
            <a:solidFill>
              <a:srgbClr val="999999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48640" y="3538728"/>
            <a:ext cx="502920" cy="5029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38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346557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AI时代的分化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3813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职业不会消失，会重新分层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0100" y="4087368"/>
            <a:ext cx="0" cy="91440"/>
          </a:xfrm>
          <a:prstGeom prst="line">
            <a:avLst/>
          </a:prstGeom>
          <a:noFill/>
          <a:ln w="12700">
            <a:solidFill>
              <a:srgbClr val="999999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48640" y="4251960"/>
            <a:ext cx="502920" cy="5029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34440" y="41788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新手到专家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34440" y="4526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那道坎，十年都没跨过去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1325880"/>
            <a:ext cx="73152" cy="3200400"/>
          </a:xfrm>
          <a:prstGeom prst="rect">
            <a:avLst/>
          </a:prstGeom>
          <a:solidFill>
            <a:srgbClr val="C41E3A">
              <a:alpha val="7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492240" y="1325880"/>
            <a:ext cx="22860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92240" y="1325880"/>
            <a:ext cx="228600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1325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课程概览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75120" y="1920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总课时：5大模块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0" y="2331720"/>
            <a:ext cx="1920240" cy="0"/>
          </a:xfrm>
          <a:prstGeom prst="line">
            <a:avLst/>
          </a:prstGeom>
          <a:noFill/>
          <a:ln w="12700">
            <a:solidFill>
              <a:srgbClr val="F5F5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2423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页数：180+页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675120" y="2834640"/>
            <a:ext cx="1920240" cy="0"/>
          </a:xfrm>
          <a:prstGeom prst="line">
            <a:avLst/>
          </a:prstGeom>
          <a:noFill/>
          <a:ln w="12700">
            <a:solidFill>
              <a:srgbClr val="F5F5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0" y="2926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形式：案例+方法论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675120" y="3337560"/>
            <a:ext cx="1920240" cy="0"/>
          </a:xfrm>
          <a:prstGeom prst="line">
            <a:avLst/>
          </a:prstGeom>
          <a:noFill/>
          <a:ln w="12700">
            <a:solidFill>
              <a:srgbClr val="F5F5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34290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目标：构建完整体系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4630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73152" cy="15544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508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理解"先人后分"的正确顺序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1488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在志愿填报中，人（考生）永远是第一位的，分数是工具而非目的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2801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280160"/>
            <a:ext cx="73152" cy="15544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800600" y="146304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0" y="1508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掌握信息过滤与产业判断方法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21488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从海量专业和院校信息中筛选关键变量，建立产业视角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17520"/>
            <a:ext cx="73152" cy="15544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20040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3246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学会风险偏好翻译与冲突处理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388620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将家长和学生的模糊焦虑转化为可量化的风险偏好表述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301752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3017520"/>
            <a:ext cx="73152" cy="15544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5" name="Shape 23"/>
          <p:cNvSpPr/>
          <p:nvPr/>
        </p:nvSpPr>
        <p:spPr>
          <a:xfrm>
            <a:off x="4800600" y="320040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86400" y="3246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建立职业心态与长期积累意识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00600" y="388620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理解咨询师角色的长期价值，不做一次性交易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8B0000">
              <a:alpha val="9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学完这门课，你将拥有一套完整的志愿填报咨询方法论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学习路径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4630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377440"/>
            <a:ext cx="7680960" cy="7315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377440"/>
            <a:ext cx="50292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231136"/>
            <a:ext cx="365760" cy="365760"/>
          </a:xfrm>
          <a:prstGeom prst="ellipse">
            <a:avLst/>
          </a:prstGeom>
          <a:solidFill>
            <a:srgbClr val="C41E3A"/>
          </a:solidFill>
          <a:ln w="38100">
            <a:solidFill>
              <a:srgbClr val="F5F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1691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认知重塑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2743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50-60页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2231136"/>
            <a:ext cx="365760" cy="365760"/>
          </a:xfrm>
          <a:prstGeom prst="ellipse">
            <a:avLst/>
          </a:prstGeom>
          <a:solidFill>
            <a:srgbClr val="C41E3A"/>
          </a:solidFill>
          <a:ln w="38100">
            <a:solidFill>
              <a:srgbClr val="F5F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1691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协作沟通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94560" y="2743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40-50页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2231136"/>
            <a:ext cx="365760" cy="365760"/>
          </a:xfrm>
          <a:prstGeom prst="ellipse">
            <a:avLst/>
          </a:prstGeom>
          <a:solidFill>
            <a:srgbClr val="999999"/>
          </a:solidFill>
          <a:ln w="38100">
            <a:solidFill>
              <a:srgbClr val="F5F5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691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职业心态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0" y="2743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30-40页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32320" y="2231136"/>
            <a:ext cx="365760" cy="365760"/>
          </a:xfrm>
          <a:prstGeom prst="ellipse">
            <a:avLst/>
          </a:prstGeom>
          <a:solidFill>
            <a:srgbClr val="999999"/>
          </a:solidFill>
          <a:ln w="38100">
            <a:solidFill>
              <a:srgbClr val="F5F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691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2743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8-10页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0" y="2304288"/>
            <a:ext cx="228600" cy="146304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3520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模块详情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886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3886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认知重塑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160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冲稳保底层逻辑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先人后分原则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14600" y="3931920"/>
            <a:ext cx="0" cy="640080"/>
          </a:xfrm>
          <a:prstGeom prst="line">
            <a:avLst/>
          </a:prstGeom>
          <a:noFill/>
          <a:ln w="12700">
            <a:solidFill>
              <a:srgbClr val="F5F5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97480" y="3886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108960" y="3886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协作沟通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97480" y="4160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风险偏好翻译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冲突处理话术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3931920"/>
            <a:ext cx="0" cy="640080"/>
          </a:xfrm>
          <a:prstGeom prst="line">
            <a:avLst/>
          </a:prstGeom>
          <a:noFill/>
          <a:ln w="12700">
            <a:solidFill>
              <a:srgbClr val="F5F5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886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66360" y="3886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职业心态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0" y="4160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咨询师角色定位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长期口碑建设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29400" y="3931920"/>
            <a:ext cx="0" cy="640080"/>
          </a:xfrm>
          <a:prstGeom prst="line">
            <a:avLst/>
          </a:prstGeom>
          <a:noFill/>
          <a:ln w="12700">
            <a:solidFill>
              <a:srgbClr val="F5F5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12280" y="3886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23760" y="3886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12280" y="4160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实战建议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73152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0" b="1" dirty="0">
                <a:solidFill>
                  <a:srgbClr val="C41E3A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09728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认知重塑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冲稳保是语法，不是方法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2286000" cy="0"/>
          </a:xfrm>
          <a:prstGeom prst="line">
            <a:avLst/>
          </a:prstGeom>
          <a:noFill/>
          <a:ln w="38100">
            <a:solidFill>
              <a:srgbClr val="C41E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8288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031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冲稳保是语法，不是方法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语法学得再熟，也写不出一篇好文章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0" y="4389120"/>
            <a:ext cx="13716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冲稳保是语法，不是方法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286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7680960" cy="2011680"/>
          </a:xfrm>
          <a:prstGeom prst="roundRect">
            <a:avLst>
              <a:gd name="adj" fmla="val 4545"/>
            </a:avLst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097280" y="173736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冲稳保不是志愿填报的思想，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是它的标点符号。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核心洞察：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志愿填报输入变量从头到尾就只有一个——分数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但分数约束的是"你能进哪个范围"，不是"你该往哪个方向走"。方向是人算出来的，不是分数算出来的。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案例：那位爸爸的梯度表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71600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1993392"/>
            <a:ext cx="164592" cy="164592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爸爸在某小程序上排的梯度表：冲8所、稳6所、保4所，颜色分了三档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542032"/>
            <a:ext cx="164592" cy="164592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他问：我这个表基本没问题吧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3090672"/>
            <a:ext cx="164592" cy="164592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我问他儿子想学什么，他愣住了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3639312"/>
            <a:ext cx="164592" cy="164592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孩子喜欢策略类游戏的资源调度和数值平衡，论坛写过策略分析帖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187952"/>
            <a:ext cx="164592" cy="164592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前八个冲的专业全是热门商科和计算机，没有一个跟孩子思维方式沾边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572000"/>
            <a:ext cx="7863840" cy="457200"/>
          </a:xfrm>
          <a:prstGeom prst="roundRect">
            <a:avLst>
              <a:gd name="adj" fmla="val 16000"/>
            </a:avLst>
          </a:prstGeom>
          <a:solidFill>
            <a:srgbClr val="8B0000">
              <a:alpha val="9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排表从来不是难的部分，难的是排表之前那道题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分数是最后一个变量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不是第一个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4023360"/>
            <a:ext cx="22860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核心观点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2560320"/>
          </a:xfrm>
          <a:prstGeom prst="roundRect">
            <a:avLst>
              <a:gd name="adj" fmla="val 4286"/>
            </a:avLst>
          </a:prstGeom>
          <a:solidFill>
            <a:srgbClr val="8B0000">
              <a:alpha val="5000"/>
            </a:srgbClr>
          </a:solidFill>
          <a:ln w="38100">
            <a:solidFill>
              <a:srgbClr val="8B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先算分数的人，算的是能去哪；先算人的人，算的是该去哪——这两件事从结果上可能重合，但顺序反过来，答案会完全不一样。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0" y="4114800"/>
            <a:ext cx="4572000" cy="640080"/>
          </a:xfrm>
          <a:prstGeom prst="roundRect">
            <a:avLst>
              <a:gd name="adj" fmla="val 11429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4114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顺序决定结果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案例：说"我都行"的女生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母亲把成绩单甩在桌上："先看分数，能报什么档次"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问女儿有没有特别想学的，女儿小声说"我都行"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"都行"两个字说明：她觉得自己不能有想法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后来单独聊，母亲没在场——她其实一直对心理学感兴趣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931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只是家里觉得"毕业不好找工作"，她不敢提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5760" y="457200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8B0000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启示：不敢有想法的孩子背后，是不敢支持的家长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可得性偏差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8B0000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人在判断时，优先使用最容易获取、最摆在眼前的信息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931920" cy="2194560"/>
          </a:xfrm>
          <a:prstGeom prst="roundRect">
            <a:avLst>
              <a:gd name="adj" fmla="val 4167"/>
            </a:avLst>
          </a:prstGeom>
          <a:solidFill>
            <a:srgbClr val="C41E3A">
              <a:alpha val="8000"/>
            </a:srgbClr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容易获取的信息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不需要花时间理解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3931920" cy="2194560"/>
          </a:xfrm>
          <a:prstGeom prst="roundRect">
            <a:avLst>
              <a:gd name="adj" fmla="val 4167"/>
            </a:avLst>
          </a:prstGeom>
          <a:solidFill>
            <a:srgbClr val="8B0000">
              <a:alpha val="8000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920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重要的信息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2377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人是谁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937760" y="3017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需要花时间聊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聊出来还未必有用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2651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71600" y="4206240"/>
            <a:ext cx="6400800" cy="548640"/>
          </a:xfrm>
          <a:prstGeom prst="roundRect">
            <a:avLst>
              <a:gd name="adj" fmla="val 13333"/>
            </a:avLst>
          </a:prstGeom>
          <a:solidFill>
            <a:srgbClr val="999999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42062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结果：最先处理最不需要处理的部分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对确定感的偏好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先确定分数能上什么档次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给家长"事情已有进展"的掌控感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999999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11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"这个人是谁"没有确定的答案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没有可以打钩确认的选项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999999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不确定感让人本能想绕开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先做能带来即时掌控感的事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8B0000">
              <a:alpha val="10000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393192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结果：最先处理最不需要处理的部分，最后没处理最关键的部分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正确顺序：先人后分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9144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先花时间弄清楚"这个人是谁"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1371600"/>
            <a:ext cx="0" cy="32004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他对什么东西真正投入过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2148840"/>
            <a:ext cx="0" cy="32004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4688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他排斥什么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2926080"/>
            <a:ext cx="0" cy="32004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246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他对"未来"有没有模糊的画面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77240" y="3703320"/>
            <a:ext cx="0" cy="32004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4023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再拿分数去框定方向里能够到的最好选择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371600" y="4617720"/>
            <a:ext cx="6400800" cy="457200"/>
          </a:xfrm>
          <a:prstGeom prst="roundRect">
            <a:avLst>
              <a:gd name="adj" fmla="val 16000"/>
            </a:avLst>
          </a:prstGeom>
          <a:solidFill>
            <a:srgbClr val="8B0000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4617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分数是硬约束，决定不了方向，只决定"这个方向里你能走多远"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案例：临床医学怕血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0" y="32004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858000" y="320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警示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91440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够到一所不错学校的临床医学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916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37360" y="169164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"学医稳定，家里有关系以后好安排"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4688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37360" y="246888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这孩子看到血会晕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461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37360" y="324612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解剖小动物需要很大心理建设才能完成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411480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C41E3A">
              <a:alpha val="10000"/>
            </a:srgbClr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29768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88720" y="4114800"/>
            <a:ext cx="7406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如果按先分数后专业顺序，这条信息压根不会被问到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0" y="3200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8B0000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320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999999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252728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52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09728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91640" y="109728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分数是硬约束，决定不了方向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999999">
              <a:alpha val="2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167128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201168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91640" y="201168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先人后分 vs 先分后人，答案完全不一样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999999">
              <a:alpha val="2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081528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081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292608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91640" y="292608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可得性偏差让人天然先做容易的事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999999">
              <a:alpha val="2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3995928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95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34440" y="384048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691640" y="384048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先确定分数带来掌控感，但也漏掉关键信息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371600" y="4572000"/>
            <a:ext cx="6400800" cy="457200"/>
          </a:xfrm>
          <a:prstGeom prst="roundRect">
            <a:avLst>
              <a:gd name="adj" fmla="val 16000"/>
            </a:avLst>
          </a:prstGeom>
          <a:solidFill>
            <a:srgbClr val="8B0000">
              <a:alpha val="1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" y="4572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"先算人的人，算的是该去哪"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信息收集不是查数据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是替人过滤噪音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3566160"/>
            <a:ext cx="27432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核心观点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09728" cy="2560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41E3A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“这两年信息不是不够了，是太多了，多到大部分家长已经分不清哪条是真的对他们有用的。”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68096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41E3A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8B0000">
              <a:alpha val="8000"/>
            </a:srgbClr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稀缺的东西变了：从数据变成判断力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案例：十几页sheet的Excel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09728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爸爸带着自己整理的Excel表格来找我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73736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密密麻麻十几个sheet：录取线、就业率、保研率、宿舍条件、食堂评分、论坛吐槽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377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37744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研究了一个多月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7863840" cy="822960"/>
          </a:xfrm>
          <a:prstGeom prst="roundRect">
            <a:avLst>
              <a:gd name="adj" fmla="val 8889"/>
            </a:avLst>
          </a:prstGeom>
          <a:solidFill>
            <a:srgbClr val="8B0000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2004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我说：</a:t>
            </a:r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你比一个月前更焦虑了，而不是更清楚了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7200" y="42519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51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他愣住了：你怎么知道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三重过滤法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过滤三问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50876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 vs 具体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87452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是“关于专业整体的判断”还是“关于这所学校具体培养方向”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65176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时间戳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01752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这条信息是不是还成立（两年前的热门现在可能已过剩）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79476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416052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是招生宣传、机构广告，还是真正的从业者经验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噪音类型识别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数据噪音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统计意义上正确但对具体人无关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3200400"/>
            <a:ext cx="2377440" cy="10972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2918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某专业平均薪资10万，但分布严重不均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005840"/>
            <a:ext cx="265176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💢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429000" y="1828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情绪噪音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29000" y="22860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极端个案、煽动性标题、故事性强但不代表分布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29000" y="3200400"/>
            <a:ext cx="2377440" cy="10972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32918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“某专业毕业生失业送外卖”转发量很大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05840"/>
            <a:ext cx="265176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263640" y="1828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正确废话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63640" y="22860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听起来正确但无可操作性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3200400"/>
            <a:ext cx="2377440" cy="10972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32918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“选喜欢的又有前途的专业”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极端个案陷阱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C41E3A">
              <a:alpha val="10000"/>
            </a:srgbClr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10515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“某专业毕业生失业送外卖”的故事转发量很大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问题不在真假——大概率是真的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2578608"/>
            <a:ext cx="146304" cy="14630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4688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问题在于：这是极端样本，不是专业毕业生的真实分布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218688"/>
            <a:ext cx="146304" cy="14630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10896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用极端个案代表整体是统计学错误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858768"/>
            <a:ext cx="146304" cy="14630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7490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极端案例因为故事性强、情绪冲击大，比统计报告更容易被相信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45262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5262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警惕：情绪共鸣 ≠ 事实真相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信息呈现原则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8B0000">
              <a:alpha val="8000"/>
            </a:srgbClr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保留一定的复杂度，不简化成斩钉截铁的结论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9319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11680"/>
            <a:ext cx="3931920" cy="4114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116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过度简化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牺牲信息真实性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换取沟通效率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透支可信度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2011680"/>
            <a:ext cx="39319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011680"/>
            <a:ext cx="3931920" cy="4114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0116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OK 合理呈现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256032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宁可多花几句话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把确定的和不确定的部分分开说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让家长自己知道哪里是硬事实，哪里是合理推断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3891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43891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过度简化=偷懒，真正专业是接受复杂性并帮人理清它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0" y="32004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8B0000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320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09728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信息稀缺性已改变——判断力比数据更稀缺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196596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真正的工作量不在“找到”，在“过滤”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283464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过滤三问：整体vs具体、时间戳、利益相关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370332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呈现信息要保留复杂度，不过度简化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过滤噪音是替人省时间，不是剥夺信息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09728" cy="4389120"/>
          </a:xfrm>
          <a:prstGeom prst="rect">
            <a:avLst>
              <a:gd name="adj" fmla="val 50000"/>
            </a:avLst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产业判断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判断五年后这行还在不在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3749040"/>
            <a:ext cx="32004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核心观点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108960"/>
          </a:xfrm>
          <a:prstGeom prst="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70432"/>
            <a:ext cx="91440" cy="303580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132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专业介绍讲的是这个专业现在是什么样，产业判断讲的是四年后这个孩子毕业时，这个行业会变成什么样——这中间隔着四年，很多行业四年就能变一次样。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680960" y="3291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7200" dirty="0"/>
          </a:p>
        </p:txBody>
      </p:sp>
      <p:sp>
        <p:nvSpPr>
          <p:cNvPr id="10" name="Shape 8"/>
          <p:cNvSpPr/>
          <p:nvPr/>
        </p:nvSpPr>
        <p:spPr>
          <a:xfrm>
            <a:off x="3657600" y="3931920"/>
            <a:ext cx="18288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案例：计算机专业怎么样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时间差思维：今年大一入学，四年后大四毕业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9844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母亲直接问我：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"计算机专业到底好不好就业？"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8412480" cy="777240"/>
          </a:xfrm>
          <a:prstGeom prst="rect">
            <a:avLst>
              <a:gd name="adj" fmla="val 11765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02996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我反问：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26771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"你说的'这个专业'，是指今年大一入学，还是四年后大四毕业？"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0" y="2697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她愣住了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108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计算机专业的"时间旅行"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668780" y="3675888"/>
            <a:ext cx="7680960" cy="36576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3566160"/>
            <a:ext cx="2606040" cy="1234440"/>
          </a:xfrm>
          <a:prstGeom prst="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566160"/>
            <a:ext cx="260604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1394460" y="342900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1394460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十年前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023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移动互联网黄金期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43891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行业高速扩张，人才缺口大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3566160"/>
            <a:ext cx="2606040" cy="1234440"/>
          </a:xfrm>
          <a:prstGeom prst="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3566160"/>
            <a:ext cx="2606040" cy="7315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2" name="Shape 20"/>
          <p:cNvSpPr/>
          <p:nvPr/>
        </p:nvSpPr>
        <p:spPr>
          <a:xfrm>
            <a:off x="4229100" y="3429000"/>
            <a:ext cx="548640" cy="54864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3" name="Text 21"/>
          <p:cNvSpPr/>
          <p:nvPr/>
        </p:nvSpPr>
        <p:spPr>
          <a:xfrm>
            <a:off x="4229100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五年前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37560" y="4023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行业收缩裁员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37560" y="43891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移动互联网红利消退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3566160"/>
            <a:ext cx="2606040" cy="1234440"/>
          </a:xfrm>
          <a:prstGeom prst="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3566160"/>
            <a:ext cx="260604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8" name="Shape 26"/>
          <p:cNvSpPr/>
          <p:nvPr/>
        </p:nvSpPr>
        <p:spPr>
          <a:xfrm>
            <a:off x="7063740" y="342900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9" name="Text 27"/>
          <p:cNvSpPr/>
          <p:nvPr/>
        </p:nvSpPr>
        <p:spPr>
          <a:xfrm>
            <a:off x="7063740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今年进去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72200" y="4023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取决于AI重塑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72200" y="43891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AI正在重新定义这个行业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971800" y="3520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806440" y="3520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三问判断法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判断一个专业/行业是否值得选择的三个核心问题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51760" cy="25603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0160" y="1508760"/>
            <a:ext cx="822960" cy="8229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1508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需求真实吗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1920240" cy="2743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063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这个行业解决的问题是不是真实且长期存在的需求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2103120" cy="228600"/>
          </a:xfrm>
          <a:prstGeom prst="rect">
            <a:avLst>
              <a:gd name="adj" fmla="val 32000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204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不是短期政策或风口催出来的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280160"/>
            <a:ext cx="2651760" cy="25603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06240" y="1508760"/>
            <a:ext cx="822960" cy="8229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1508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429000" y="2468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壁垒高吗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657600" y="2926080"/>
            <a:ext cx="1920240" cy="2743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3063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核心壁垒是不是容易被新技术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66160" y="3520440"/>
            <a:ext cx="2103120" cy="228600"/>
          </a:xfrm>
          <a:prstGeom prst="rect">
            <a:avLst>
              <a:gd name="adj" fmla="val 32000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566160" y="35204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尤其是AI替代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280160"/>
            <a:ext cx="2651760" cy="25603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32320" y="1508760"/>
            <a:ext cx="822960" cy="8229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0" y="1508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355080" y="2468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周期在哪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583680" y="2926080"/>
            <a:ext cx="1920240" cy="2743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3063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现在处在扩张期、成熟期、还是收缩期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92240" y="3520440"/>
            <a:ext cx="2103120" cy="228600"/>
          </a:xfrm>
          <a:prstGeom prst="rect">
            <a:avLst>
              <a:gd name="adj" fmla="val 32000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35204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判断入场时机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160520"/>
            <a:ext cx="8412480" cy="457200"/>
          </a:xfrm>
          <a:prstGeom prst="rect">
            <a:avLst>
              <a:gd name="adj" fmla="val 20000"/>
            </a:avLst>
          </a:prstGeom>
          <a:solidFill>
            <a:srgbClr val="8B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核心：用时间差思维思考 — 今年入学 vs 四年后毕业，产业逻辑可能完全不同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招聘网站JD分析法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通过追踪招聘需求变化，判断行业趋势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" y="1737360"/>
            <a:ext cx="36576" cy="2286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280160"/>
            <a:ext cx="768096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05840" y="1280160"/>
            <a:ext cx="54864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1280160"/>
            <a:ext cx="7269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每年花时间看几个具体行业的招聘网站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" y="2423160"/>
            <a:ext cx="36576" cy="2286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5840" y="1965960"/>
            <a:ext cx="768096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1965960"/>
            <a:ext cx="54864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1965960"/>
            <a:ext cx="7269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看真实岗位的JD在这三年里怎么变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" y="3108960"/>
            <a:ext cx="36576" cy="2286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5840" y="2651760"/>
            <a:ext cx="768096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05840" y="2651760"/>
            <a:ext cx="54864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1234440" y="2651760"/>
            <a:ext cx="7269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要求变严了还是变松了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34290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1792" y="3794760"/>
            <a:ext cx="36576" cy="2286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6" name="Shape 24"/>
          <p:cNvSpPr/>
          <p:nvPr/>
        </p:nvSpPr>
        <p:spPr>
          <a:xfrm>
            <a:off x="1005840" y="3337560"/>
            <a:ext cx="768096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05840" y="3337560"/>
            <a:ext cx="54864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1234440" y="3337560"/>
            <a:ext cx="7269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薪资中位数在涨还是在跌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" y="41148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1792" y="4480560"/>
            <a:ext cx="36576" cy="2286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2" name="Shape 30"/>
          <p:cNvSpPr/>
          <p:nvPr/>
        </p:nvSpPr>
        <p:spPr>
          <a:xfrm>
            <a:off x="1005840" y="4023360"/>
            <a:ext cx="768096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05840" y="4023360"/>
            <a:ext cx="54864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1234440" y="4023360"/>
            <a:ext cx="7269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岗位数量在增还是在减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7200" y="48006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800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005840" y="4709160"/>
            <a:ext cx="768096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005840" y="4709160"/>
            <a:ext cx="54864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1234440" y="4709160"/>
            <a:ext cx="7269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五年前入行的人现在在干什么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65760" y="4572000"/>
            <a:ext cx="8046720" cy="411480"/>
          </a:xfrm>
          <a:prstGeom prst="rect">
            <a:avLst>
              <a:gd name="adj" fmla="val 17778"/>
            </a:avLst>
          </a:prstGeom>
          <a:solidFill>
            <a:srgbClr val="8B0000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5720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核心：用历史数据预判未来行业走向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行业核心壁垒判断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>
              <a:gd name="adj" fmla="val 15385"/>
            </a:avLst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做得久、爬到中层以上的人，靠的主要是什么能力？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3977640" cy="2926080"/>
          </a:xfrm>
          <a:prstGeom prst="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91640"/>
            <a:ext cx="3977640" cy="502920"/>
          </a:xfrm>
          <a:prstGeom prst="rect">
            <a:avLst>
              <a:gd name="adj" fmla="val 18182"/>
            </a:avLst>
          </a:prstGeom>
          <a:solidFill>
            <a:srgbClr val="999999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2011680"/>
            <a:ext cx="3977640" cy="18288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69164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容易被工具替代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20240" y="2377440"/>
            <a:ext cx="822960" cy="822960"/>
          </a:xfrm>
          <a:prstGeom prst="ellipse">
            <a:avLst/>
          </a:prstGeom>
          <a:solidFill>
            <a:srgbClr val="999999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920240" y="2377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33375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执行速度和标准化操作熟练度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3611880" cy="640080"/>
          </a:xfrm>
          <a:prstGeom prst="rect">
            <a:avLst>
              <a:gd name="adj" fmla="val 11429"/>
            </a:avLst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4048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纯技术能力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00600" y="1691640"/>
            <a:ext cx="3977640" cy="2926080"/>
          </a:xfrm>
          <a:prstGeom prst="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691640"/>
            <a:ext cx="3977640" cy="502920"/>
          </a:xfrm>
          <a:prstGeom prst="rect">
            <a:avLst>
              <a:gd name="adj" fmla="val 18182"/>
            </a:avLst>
          </a:prstGeom>
          <a:solidFill>
            <a:srgbClr val="C41E3A"/>
          </a:solidFill>
          <a:ln/>
        </p:spPr>
      </p:sp>
      <p:sp>
        <p:nvSpPr>
          <p:cNvPr id="17" name="Shape 15"/>
          <p:cNvSpPr/>
          <p:nvPr/>
        </p:nvSpPr>
        <p:spPr>
          <a:xfrm>
            <a:off x="4800600" y="2011680"/>
            <a:ext cx="3977640" cy="1828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169164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相对更抗冲击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55080" y="2377440"/>
            <a:ext cx="822960" cy="822960"/>
          </a:xfrm>
          <a:prstGeom prst="ellipse">
            <a:avLst/>
          </a:prstGeom>
          <a:solidFill>
            <a:srgbClr val="C41E3A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2377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983480" y="33375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复杂情境下的综合判断、跟人打交道的能力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83480" y="3840480"/>
            <a:ext cx="3611880" cy="640080"/>
          </a:xfrm>
          <a:prstGeom prst="rect">
            <a:avLst>
              <a:gd name="adj" fmla="val 11429"/>
            </a:avLst>
          </a:prstGeom>
          <a:solidFill>
            <a:srgbClr val="F5F5F5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384048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 + 综合判断力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73152" cy="45720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承认判断可能错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产业判断的本质是概率，而非预言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C41E3A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6459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产业判断 ≠ 预测未来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965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真正要做的是给出「相对更可能成立」的判断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4630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691640"/>
            <a:ext cx="457200" cy="457200"/>
          </a:xfrm>
          <a:prstGeom prst="ellipse">
            <a:avLst/>
          </a:prstGeom>
          <a:solidFill>
            <a:srgbClr val="C41E3A">
              <a:alpha val="8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9240" y="16459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坦诚告诉客户不确定性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49240" y="1965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让客户了解判断的局限性，建立信任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8B0000">
              <a:alpha val="8000"/>
            </a:srgbClr>
          </a:solidFill>
          <a:ln w="12700">
            <a:solidFill>
              <a:srgbClr val="8B0000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108960"/>
            <a:ext cx="54864" cy="64008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这份工作的价值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3337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在于比「闭着眼睛选」靠谱得多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3611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需要每天更新判断，不是一次性判断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73152" cy="45720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第四章：产业判断的核心框架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7145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145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17145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1691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产业判断问的是底层驱动力还在不在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965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判断一个专业/行业的前景，本质是看支撑其发展的根本逻辑是否仍然成立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7203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7203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27203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34440" y="2697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三问：需求真实性、壁垒高度、周期位置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2971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需求是真的吗？壁垒够高吗？现在处于什么发展阶段？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56616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7261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7261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4360" y="37261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34440" y="3703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用招聘网站JD跟踪真实变化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3977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招聘信息比任何报告都更实时地反映市场需求和技能变迁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57200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47320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7320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94360" y="47320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34440" y="4709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承认判断可能错，持续更新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34440" y="4983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判断是概率不是预言，需要定期复核和修正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741164"/>
            <a:ext cx="8412480" cy="36576"/>
          </a:xfrm>
          <a:prstGeom prst="rect">
            <a:avLst/>
          </a:prstGeom>
          <a:solidFill>
            <a:srgbClr val="C41E3A">
              <a:alpha val="30000"/>
            </a:srgbClr>
          </a:solidFill>
          <a:ln w="12700">
            <a:solidFill>
              <a:srgbClr val="C41E3A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46304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倒推规划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先问十年后想过什么日子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22860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核心观点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金句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219456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109728" cy="21945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大多数人是从'我现在能报什么'往前想，真正管用的是从'十年后我想过什么样的日子'往回算——这两个方向算出来的答案，经常是反的。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方向错了，答案再漂亮也没用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案例：从乱到整齐的男生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88720" y="13258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十年后想过什么日子？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024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男生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88720" y="19202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（想了很久）从来没人问过我这个问题……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51460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88720" y="25146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不考虑挣钱，你希望每天醒来去做什么？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0896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男生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88720" y="31089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喜欢能看到具体成果的事——把乱的房间收拾整齐……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1325880"/>
            <a:ext cx="228600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37960" y="1417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1737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这种'从乱到整齐'的过程让他觉得踏实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400800" y="237744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23774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答案不在专业名，在生命状态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5204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聊了四十分钟，没提一所学校一个专业名字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57200" y="425196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但这四十分钟比后面两个小时排志愿表都重要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倒推路径图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0" y="320040"/>
            <a:ext cx="1828800" cy="365760"/>
          </a:xfrm>
          <a:prstGeom prst="roundRect">
            <a:avLst>
              <a:gd name="adj" fmla="val 25000"/>
            </a:avLst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0" y="320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 倒推方向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0" y="100584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0" y="10058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十年后想过什么日子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0" y="1737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0" y="219456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194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工作领域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（数据分析/工业设计/系统整理类管理岗位）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657600" y="338328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33832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专业方向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4114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3657600" y="457200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999999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45720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分数能够到的学校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正向推演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14630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999999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1463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1965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" y="228600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999999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2286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2788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2960" y="310896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999999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108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3611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22960" y="393192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999999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3931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108960" y="2560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1520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457200" y="443484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从终点往回算，答案更贴合这个人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82296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正向推演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920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终点被起点（分数）决定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931920" cy="82296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463040"/>
            <a:ext cx="73152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937760" y="16459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532120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倒推规划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32120" y="1920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从十年后往回算，答案更贴合这个人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423160"/>
            <a:ext cx="3931920" cy="82296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423160"/>
            <a:ext cx="73152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2560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化解分歧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2880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倒推可以化解家长和孩子看似很大的分歧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423160"/>
            <a:ext cx="3931920" cy="82296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423160"/>
            <a:ext cx="73152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5" name="Shape 23"/>
          <p:cNvSpPr/>
          <p:nvPr/>
        </p:nvSpPr>
        <p:spPr>
          <a:xfrm>
            <a:off x="4937760" y="26060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32120" y="2560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具体问题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32120" y="2880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答不出来时，用更具体的小问题接近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6576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8B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657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方向比答案更重要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457200" y="443484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正向推演：终点被起点（分数）决定  |  ✓ 倒推规划：从十年后往回算  |  ✓ 倒推可以化解分歧  |  ✓ 答不出来时用小问题接近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第六章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82880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AI能算的和算不出的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中间那条线在哪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8404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AI能替你把冲稳保算得比谁都精确，它算不出的是那道题背后那道题——这个人到底是谁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0" y="4846320"/>
            <a:ext cx="13716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AI擅长的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输入明确、规则清晰、可以被结构化的计算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717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717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 + 位次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42316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给定考生分数和位次，结合历年录取数据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30861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861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精准计算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33756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算出技术上合理的冲稳保梯度表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40005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005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高效规范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25196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效率比人工高得多，比经验不足的新手同行更规范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999999">
              <a:alpha val="3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这是AI最擅长的事：把确定的东西算得又快又准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AI不擅长的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C41E3A">
              <a:alpha val="10000"/>
            </a:srgbClr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68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 = 长期跟真实的人打交道积累出来的经验直觉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97764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828800"/>
            <a:ext cx="274320" cy="27432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6459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这个孩子是谁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09160" y="1645920"/>
            <a:ext cx="397764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828800"/>
            <a:ext cx="274320" cy="27432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16459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他对什么真正投入过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397764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2606040"/>
            <a:ext cx="274320" cy="27432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24231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他家庭的真实处境和顾虑是什么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09160" y="2423160"/>
            <a:ext cx="397764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606040"/>
            <a:ext cx="274320" cy="27432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24231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他嘴上说的和心里想的是不是一回事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397764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3383280"/>
            <a:ext cx="274320" cy="27432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320040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五年后这个行业的产业逻辑会怎么变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09160" y="3200400"/>
            <a:ext cx="397764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383280"/>
            <a:ext cx="274320" cy="27432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12080" y="320040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哪些信息是可信的、哪些是噪音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8B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这些，永远得靠人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AI工具过度自信陷阱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工具给出的建议听起来越流畅、越像模像样，越要多留心眼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73152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805940"/>
            <a:ext cx="457200" cy="45720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059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737360"/>
            <a:ext cx="7178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工具不知道自己哪里可能错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2057400"/>
            <a:ext cx="7178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也不会主动说"这条建议我没把握"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60320"/>
            <a:ext cx="73152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720340"/>
            <a:ext cx="457200" cy="45720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7203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2651760"/>
            <a:ext cx="7178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工具永远用同样确定的语气输出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2971800"/>
            <a:ext cx="7178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不管信息扎不扎实，它给每条建议的语气都一样自信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474720"/>
            <a:ext cx="73152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634740"/>
            <a:ext cx="457200" cy="45720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6347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3566160"/>
            <a:ext cx="7178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人在判断时至少能感觉到"这块不太确定"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3886200"/>
            <a:ext cx="7178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工具目前做不到这一点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4805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999999">
              <a:alpha val="4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4805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用户很难分辨哪部分可靠，哪部分只是统计规律拼凑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8B0000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859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859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37160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AI能精确算冲稳保，但算不出"这个人是谁"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3088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088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19456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真正有价值的：信息过滤、产业判断、倒推规划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1318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318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01752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会替代的是只会算冲稳保的同行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9547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547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384048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AI让基础计算变快，释放时间到真正需要判断力的地方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这件事永远得靠人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协作与沟通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风险偏好翻译与冲突处理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4206240"/>
            <a:ext cx="2743200" cy="4572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4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风险偏好翻译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冲稳保是风险偏好的翻译，不是排列组合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3840480"/>
            <a:ext cx="2743200" cy="4572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冲稳保是风险偏好的翻译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828800"/>
          </a:xfrm>
          <a:prstGeom prst="rect">
            <a:avLst>
              <a:gd name="adj" fmla="val 5000"/>
            </a:avLst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“冲窝保不是三个装满学校的抽屉，是一个人对‘我愿意承担多大风险去换多大的可能性’这句话的翻译。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3291840"/>
            <a:ext cx="2606040" cy="146304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342900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3931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纯数学陷阱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4251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大部分教程把冲稳保讲成比例、级差、调剂的纯数学问题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3291840"/>
            <a:ext cx="2606040" cy="146304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342900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83280" y="3931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与人脱钩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4251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只停在这一层，冲稳保就变成了跟具体的人完全脱钩的公式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3291840"/>
            <a:ext cx="2606040" cy="146304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42900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72200" y="3931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真正的问题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72200" y="4251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如果最后掉到保底档，能不能接受？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三问确定风险偏好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4874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487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1430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如果最后掉到保底档，能不能接受？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6002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接受到什么程度？“有点遗憾”还是“会觉得四年过得憋屈”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72034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203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25146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如果冲的学校录到了完全不喜欢的调剂专业，愿不愿意？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9718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还是宁可去稳一点但专业更合适的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822960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09194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0919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71600" y="38862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家里对复读的真实态度是什么？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3434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很多家长嘴上说“大不了复读”，但真到那时候未必撑得住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8229600" cy="411480"/>
          </a:xfrm>
          <a:prstGeom prst="rect">
            <a:avLst>
              <a:gd name="adj" fmla="val 17778"/>
            </a:avLst>
          </a:prstGeom>
          <a:solidFill>
            <a:srgbClr val="999999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三个问题没有标准答案，关键是帮学生和家长期真实的答案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校验真实风险承受力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822960"/>
          </a:xfrm>
          <a:prstGeom prst="rect">
            <a:avLst>
              <a:gd name="adj" fmla="val 11111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问题：十七八岁的孩子容易在谈话情境里说出连自己都未必确认过的话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8288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尤其父母在场时，容易说出让大家都满意的答案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1828800" cy="365760"/>
          </a:xfrm>
          <a:prstGeom prst="rect">
            <a:avLst>
              <a:gd name="adj" fmla="val 20000"/>
            </a:avLst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8229600" cy="128016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2004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用间接方式校验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问过去有没有经历过明显失败/挫折，怎么走出来的，走出来花了多久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8229600" cy="731520"/>
          </a:xfrm>
          <a:prstGeom prst="rect">
            <a:avLst>
              <a:gd name="adj" fmla="val 12500"/>
            </a:avLst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062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这段真实经历比“我能接受”更能反映实际抗压能力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案例：两个分数一样的学生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594360"/>
          </a:xfrm>
          <a:prstGeom prst="rect">
            <a:avLst>
              <a:gd name="adj" fmla="val 12308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两个分数几乎一模一样的学生，冲档比例差了将近一倍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886200" cy="201168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3886200" cy="457200"/>
          </a:xfrm>
          <a:prstGeom prst="rect">
            <a:avLst>
              <a:gd name="adj" fmla="val 20000"/>
            </a:avLst>
          </a:prstGeom>
          <a:solidFill>
            <a:srgbClr val="999999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965960"/>
            <a:ext cx="3886200" cy="13716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4592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学生A — 求稳型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家里明确说愿意赌一把复读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冲的比例：小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但实际上愿意接受复读作为保底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1645920"/>
            <a:ext cx="3886200" cy="201168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645920"/>
            <a:ext cx="3886200" cy="457200"/>
          </a:xfrm>
          <a:prstGeom prst="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14" name="Shape 12"/>
          <p:cNvSpPr/>
          <p:nvPr/>
        </p:nvSpPr>
        <p:spPr>
          <a:xfrm>
            <a:off x="4800600" y="1965960"/>
            <a:ext cx="3886200" cy="1371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64592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学生B — 敢闯型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83480" y="22402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愿意赌复读，风险承受力强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27432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冲的比例：大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31089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同样的分数，不该有同样的答案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8229600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家长疑问：为什么隔壁那个分数跟我们差不多的，冲的学校比我们多这么多？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8229600" cy="411480"/>
          </a:xfrm>
          <a:prstGeom prst="rect">
            <a:avLst>
              <a:gd name="adj" fmla="val 17778"/>
            </a:avLst>
          </a:pr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两个孩子风险承受能力不同，同样的分数不该有同样的答案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463040" cy="365760"/>
          </a:xfrm>
          <a:prstGeom prst="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145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145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55448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冲稳保是风险偏好的翻译，不是排列组合规则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6289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289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46888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同样的分数，不该有同样的答案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822960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5433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433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38328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三问确定风险偏好，再翻译进冲稳保比例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822960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4577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4577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429768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校验真实承受力，不只看嘴上说的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8229600" cy="457200"/>
          </a:xfrm>
          <a:prstGeom prst="rect">
            <a:avLst>
              <a:gd name="adj" fmla="val 20000"/>
            </a:avLst>
          </a:pr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理解“我愿意承担多大风险去换多大的可能性”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职业认同的转变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第八章：志愿表的真正意义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9999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46320" y="128016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8745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帮孩子选到了很好的结果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2194560"/>
            <a:ext cx="4572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20116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846320" y="187452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8B000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18745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帮孩子想清楚自己要什么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27889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冲进好学校、选到热门专业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3108960"/>
            <a:ext cx="4572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343400" y="29260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846320" y="278892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8B000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83480" y="27889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结果普通但过程扎实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37033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表格排得对不对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43400" y="4023360"/>
            <a:ext cx="4572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4343400" y="38404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846320" y="370332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8B000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83480" y="37033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孩子有没有真正参与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4320" y="4663440"/>
            <a:ext cx="329184" cy="32918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典型案例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母亲私下找，想让帮忙「劝劝女儿」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4173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拒绝直接替家长去劝，而是分别单独聊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17720" y="128016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4630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94960" y="14173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发现母亲是年轻时类似选择没走通，有投射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26517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发现女儿是觉得从来没被真正问过「你为什么喜欢这个」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17720" y="251460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6974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94960" y="26517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找机会让双方把信息摆出来，角色是翻译和主持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角色定位：翻译和主持，而非任何一方的代言人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教学流程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第十章：孩子和家长意见相反时，你到底站哪边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0" cy="155448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280160"/>
            <a:ext cx="76352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280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讨论：有没有遇到过孩子和家长分歧很大的情况？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21408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2624328"/>
            <a:ext cx="0" cy="155448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2029968"/>
            <a:ext cx="76352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202996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讲解分辨「事实分歧」和「价值排序分歧」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871216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71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3374136"/>
            <a:ext cx="0" cy="155448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779776"/>
            <a:ext cx="76352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2779776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案例分析：母亲和女儿的分歧如何处理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21024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" y="4123944"/>
            <a:ext cx="0" cy="155448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1560" y="3529584"/>
            <a:ext cx="76352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3529584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练习：如何不当任何一方的代言人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370832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370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51560" y="4279392"/>
            <a:ext cx="76352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188720" y="427939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总结：站在中间，不代表和稀泥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第九章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731520" y="2423160"/>
            <a:ext cx="2286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6517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和家长谈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不是说服，是摆信息差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943600" y="4389120"/>
            <a:ext cx="2743200" cy="457200"/>
          </a:xfrm>
          <a:prstGeom prst="rect">
            <a:avLst>
              <a:gd name="adj" fmla="val 20000"/>
            </a:avLst>
          </a:prstGeom>
          <a:solidFill>
            <a:srgbClr val="C41E3A">
              <a:alpha val="8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核心观点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0" y="29260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12000" dirty="0"/>
          </a:p>
        </p:txBody>
      </p:sp>
      <p:sp>
        <p:nvSpPr>
          <p:cNvPr id="6" name="Shape 4"/>
          <p:cNvSpPr/>
          <p:nvPr/>
        </p:nvSpPr>
        <p:spPr>
          <a:xfrm>
            <a:off x="914400" y="1463040"/>
            <a:ext cx="73152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463040"/>
            <a:ext cx="109728" cy="23774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645920"/>
            <a:ext cx="6675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说服是我告诉你我是对的，你听我的；这份工作里真正管用的，是把你看不到的那部分信息摆出来，让你自己得出跟我一样的结论。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00400" y="4206240"/>
            <a:ext cx="2743200" cy="2743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案例：那个爸爸的坚持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54864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32588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115568"/>
            <a:ext cx="3200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爸爸态度很强硬，第一句话：我就想问你同不同意我这个方案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508760"/>
            <a:ext cx="9144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663440" y="10058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143000"/>
            <a:ext cx="54864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32588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325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1115568"/>
            <a:ext cx="3200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他坚持让孩子报一个他自己年轻时向往、但现在已明显收缩的专业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286000"/>
            <a:ext cx="54864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46888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2258568"/>
            <a:ext cx="3200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没有直接反驳，而是把这几年这个领域真实的招聘数据、薪资变化、培养方案调整情况一条条摆出来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26280" y="2651760"/>
            <a:ext cx="9144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663440" y="21488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286000"/>
            <a:ext cx="54864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246888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03520" y="2258568"/>
            <a:ext cx="3200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全程没有说"我建议你换一个"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2918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429000"/>
            <a:ext cx="54864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361188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97280" y="3401568"/>
            <a:ext cx="3200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问他：这些信息跟您当年了解到的，是不是有点不一样了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63440" y="32918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429000"/>
            <a:ext cx="54864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3" name="Shape 31"/>
          <p:cNvSpPr/>
          <p:nvPr/>
        </p:nvSpPr>
        <p:spPr>
          <a:xfrm>
            <a:off x="4846320" y="361188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03520" y="3401568"/>
            <a:ext cx="3200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他沉默了一分钟，说：确实，我这些年没太关注这块的变化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0040" y="1691640"/>
            <a:ext cx="0" cy="457200"/>
          </a:xfrm>
          <a:prstGeom prst="line">
            <a:avLst/>
          </a:prstGeom>
          <a:noFill/>
          <a:ln w="25400">
            <a:solidFill>
              <a:srgbClr val="C41E3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1691640"/>
            <a:ext cx="0" cy="457200"/>
          </a:xfrm>
          <a:prstGeom prst="line">
            <a:avLst/>
          </a:prstGeom>
          <a:noFill/>
          <a:ln w="25400">
            <a:solidFill>
              <a:srgbClr val="C41E3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2834640"/>
            <a:ext cx="0" cy="457200"/>
          </a:xfrm>
          <a:prstGeom prst="line">
            <a:avLst/>
          </a:prstGeom>
          <a:noFill/>
          <a:ln w="25400">
            <a:solidFill>
              <a:srgbClr val="C41E3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2834640"/>
            <a:ext cx="0" cy="457200"/>
          </a:xfrm>
          <a:prstGeom prst="line">
            <a:avLst/>
          </a:prstGeom>
          <a:noFill/>
          <a:ln w="25400">
            <a:solidFill>
              <a:srgbClr val="C41E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4434840"/>
            <a:ext cx="7680960" cy="502920"/>
          </a:xfrm>
          <a:prstGeom prst="roundRect">
            <a:avLst>
              <a:gd name="adj" fmla="val 14545"/>
            </a:avLst>
          </a:prstGeom>
          <a:solidFill>
            <a:srgbClr val="8B0000">
              <a:alpha val="9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4348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关键：不反驳、不说教，用数据说话，让对方自己得出结论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摆信息差的操作方法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88720" y="1623060"/>
            <a:ext cx="1051560" cy="0"/>
          </a:xfrm>
          <a:prstGeom prst="line">
            <a:avLst/>
          </a:prstGeom>
          <a:noFill/>
          <a:ln w="25400">
            <a:solidFill>
              <a:srgbClr val="C41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14859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</a:rPr>
              <a:t>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4884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不说「我觉得应该怎样」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1371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200400" y="1623060"/>
            <a:ext cx="1051560" cy="0"/>
          </a:xfrm>
          <a:prstGeom prst="line">
            <a:avLst/>
          </a:prstGeom>
          <a:noFill/>
          <a:ln w="25400">
            <a:solidFill>
              <a:srgbClr val="C41E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4859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</a:rPr>
              <a:t>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77440" y="205740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214884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把看到的信息一条一条摆在桌面上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1371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212080" y="1623060"/>
            <a:ext cx="1051560" cy="0"/>
          </a:xfrm>
          <a:prstGeom prst="line">
            <a:avLst/>
          </a:prstGeom>
          <a:noFill/>
          <a:ln w="25400">
            <a:solidFill>
              <a:srgbClr val="C41E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4859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0" y="205740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214884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让家长自己拼出结论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0" y="1371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400800" y="205740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214884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关键转折点：他自己看到了信息差，自己得出了跟我判断方向一致的结论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347472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566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38862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让对方自己得出结论 = 更高接受度 + 减少阻力 + 对方有成就感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457200" cy="45720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信息真实性要求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502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Authenticity Requirement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109728" cy="3474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34440"/>
            <a:ext cx="365760" cy="320040"/>
          </a:xfrm>
          <a:prstGeom prst="triangl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173736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691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摆出来的信息必须真实、经得起对方再核实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219456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不能只摆对自己有利的，把不利的藏起来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265176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651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606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哪怕这条信息会削弱自己原本的判断，也要摆出来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246120"/>
            <a:ext cx="338328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48640" y="33832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520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真实筛选客户，真实感赢得客户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3840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——这是信任建立的基石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80560" y="1005840"/>
            <a:ext cx="43891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1005840"/>
            <a:ext cx="4389120" cy="5029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10789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警示要点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63440" y="1691640"/>
            <a:ext cx="73152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0600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这个诱惑一直都在——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74920" y="2148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尤其是时间紧张、家长态度强硬时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2606040"/>
            <a:ext cx="73152" cy="11887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2834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一旦从"让家长自己看见信息差"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00600" y="3063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退化回"设计一场说服"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00600" y="3337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本质就变了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74320" y="4572000"/>
            <a:ext cx="8595360" cy="411480"/>
          </a:xfrm>
          <a:prstGeom prst="roundRect">
            <a:avLst>
              <a:gd name="adj" fmla="val 17778"/>
            </a:avLst>
          </a:prstGeom>
          <a:solidFill>
            <a:srgbClr val="8B0000">
              <a:alpha val="9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诚信为本 = 可持续发展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因人而异调整语言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40233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4023360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理性分析型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548640" cy="548640"/>
          </a:xfrm>
          <a:prstGeom prst="rect">
            <a:avLst/>
          </a:prstGeom>
          <a:solidFill>
            <a:srgbClr val="333333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19202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受教育程度高、习惯看数据说话的家长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推荐方式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偏理性分析、数据图表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383280"/>
            <a:ext cx="1645920" cy="274320"/>
          </a:xfrm>
          <a:prstGeom prst="rect">
            <a:avLst/>
          </a:prstGeom>
          <a:solidFill>
            <a:srgbClr val="C41E3A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560320" y="3383280"/>
            <a:ext cx="1371600" cy="274320"/>
          </a:xfrm>
          <a:prstGeom prst="rect">
            <a:avLst/>
          </a:prstGeom>
          <a:solidFill>
            <a:srgbClr val="333333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663440" y="1280160"/>
            <a:ext cx="40233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280160"/>
            <a:ext cx="402336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2801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直觉口碑型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37760" y="1920240"/>
            <a:ext cx="548640" cy="548640"/>
          </a:xfrm>
          <a:prstGeom prst="rect">
            <a:avLst/>
          </a:prstGeom>
          <a:solidFill>
            <a:srgbClr val="C41E3A">
              <a:alpha val="8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577840" y="19202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依赖直觉和口碑的家长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2651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推荐方式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971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偏具体有血有肉的案例场景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937760" y="3383280"/>
            <a:ext cx="3200400" cy="274320"/>
          </a:xfrm>
          <a:prstGeom prst="rect">
            <a:avLst/>
          </a:prstGeom>
          <a:solidFill>
            <a:srgbClr val="C41E3A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4023360"/>
            <a:ext cx="5669280" cy="457200"/>
          </a:xfrm>
          <a:prstGeom prst="roundRect">
            <a:avLst>
              <a:gd name="adj" fmla="val 16000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023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用错了语言，效果会差很多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需要在谈话头几分钟里快速判断对方更容易被哪种方式打动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9 Summary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13716"/>
          </a:xfrm>
          <a:prstGeom prst="rect">
            <a:avLst/>
          </a:prstGeom>
          <a:solidFill>
            <a:srgbClr val="999999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9164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837944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37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说服是拉锯，摆信息差是让对方自己得出结论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38160" y="1883664"/>
            <a:ext cx="274320" cy="274320"/>
          </a:xfrm>
          <a:prstGeom prst="ellipse">
            <a:avLst/>
          </a:prstGeom>
          <a:solidFill>
            <a:srgbClr val="8B0000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1856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615184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151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246888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家长强硬背后是焦虑和信息不足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138160" y="2660904"/>
            <a:ext cx="274320" cy="274320"/>
          </a:xfrm>
          <a:prstGeom prst="ellipse">
            <a:avLst/>
          </a:prstGeom>
          <a:solidFill>
            <a:srgbClr val="8B0000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26334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392424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92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324612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摆信息必须真实完整，不能只挑对自己有利的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138160" y="3438144"/>
            <a:ext cx="274320" cy="274320"/>
          </a:xfrm>
          <a:prstGeom prst="ellipse">
            <a:avLst/>
          </a:prstGeom>
          <a:solidFill>
            <a:srgbClr val="8B0000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138160" y="3410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02336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4169664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69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88720" y="402336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因人而异调整语言方式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138160" y="4215384"/>
            <a:ext cx="274320" cy="274320"/>
          </a:xfrm>
          <a:prstGeom prst="ellipse">
            <a:avLst/>
          </a:prstGeom>
          <a:solidFill>
            <a:srgbClr val="8B0000">
              <a:alpha val="1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138160" y="4187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8B0000">
              <a:alpha val="1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73152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C41E3A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4114800" y="1828800"/>
            <a:ext cx="73152" cy="22860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0" y="16459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8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第十章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0" y="21945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冲突处理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0" y="31089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你到底站哪边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孩子和家长意见相反时，你到底站哪边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不替任何一方说话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68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109728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你不是替任何一方说话的人，你是那个让两边都能听见彼此在说什么的人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286000"/>
            <a:ext cx="274320" cy="2743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1945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拒绝直接替家长去"劝"孩子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2491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24912"/>
            <a:ext cx="54864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816352"/>
            <a:ext cx="274320" cy="2743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16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72491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把家长和孩子分别单独约出来聊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255264"/>
            <a:ext cx="54864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346704"/>
            <a:ext cx="274320" cy="2743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467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3255264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问清楚每一方真正在担心什么、真正想要什么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78561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785616"/>
            <a:ext cx="54864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877056"/>
            <a:ext cx="274320" cy="2743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8770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3785616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在双方都同意的情况下，找时间一起摆出来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31596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4315968"/>
            <a:ext cx="54864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" y="4407408"/>
            <a:ext cx="274320" cy="2743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4074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51560" y="431596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角色是翻译和主持，不是任何一方的代言人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分辨事实分歧与价值分歧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2860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3931920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事实分歧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摆事实就能解决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家长以为某专业不好就业，但实际招聘行情还不错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828800" y="3474720"/>
            <a:ext cx="118872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34747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可解决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51560"/>
            <a:ext cx="393192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051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价值分歧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37760" y="1737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011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两者没有对错，只是排序不同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423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6974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家长看重稳定，孩子看重热爱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3474720"/>
            <a:ext cx="1188720" cy="457200"/>
          </a:xfrm>
          <a:prstGeom prst="ellipse">
            <a:avLst/>
          </a:prstGeom>
          <a:solidFill>
            <a:srgbClr val="999999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34747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无对错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3434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33333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343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关键：分不清这两类分歧，容易在该讲事实时陷入价值观辩论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案例：母亲让劝女儿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2860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152144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521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051560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母亲私下找我：女儿喜欢那个专业，但你能不能帮我劝劝她，那个专业以后真的不好找工作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901952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901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1801368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我拒绝直接"劝"，而是分别单独聊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505456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265176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551176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母亲真正担心的不是专业本身，是她自己年轻时类似选择没走通吃过亏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255264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3401568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401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300984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女儿真正在意的不是妈妈不理解，是觉得自己从来没被真正问过"你为什么喜欢这个"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005072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4151376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1513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4050792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在两人都在场的情况下把信息摆出来，谈话性质完全变了：从"谁该听谁的"→"我们各自在担心什么、想要什么"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754880"/>
            <a:ext cx="8229600" cy="320040"/>
          </a:xfrm>
          <a:prstGeom prst="roundRect">
            <a:avLst>
              <a:gd name="adj" fmla="val 17143"/>
            </a:avLst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754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拒绝直接"劝"，而是让双方都听见彼此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表面一致的陷阱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40233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警告信号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600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孩子没有明确反对，全程配合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0574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配合背后是早就放弃争取的疲惫感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60604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5146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比当场哭闹反对更难处理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06324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9718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线索：说话时略显疲惫的语气，眼神飘一下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40233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005840"/>
            <a:ext cx="402336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如何识别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46320" y="1645920"/>
            <a:ext cx="274320" cy="2743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645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57800" y="16002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在"过分顺畅"的谈话里主动放慢节奏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240280"/>
            <a:ext cx="274320" cy="2743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7800" y="21945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单独问孩子：如果完全没有任何限制，你自己会怎么选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2834640"/>
            <a:ext cx="274320" cy="2743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57800" y="27889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沉默不代表同意，分歧可能被家庭内部长期消化掉了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333333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7947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表面一致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明显冲突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更难识别，也更难处理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中立不是和稀泥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4023360" cy="5029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真正的中立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把该说的信息、该给的判断都摆出来，只是不替任何一方拍板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45920" y="2606040"/>
            <a:ext cx="914400" cy="4114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26060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需要更多投入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51560"/>
            <a:ext cx="4023360" cy="5029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0515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甩手掌柜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6916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"我不站队，你们自己决定"——把最难的判断工作甩回给已经僵持不下的家庭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52160" y="2606040"/>
            <a:ext cx="91440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26060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更少投入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60520" y="19659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16052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490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真正中立需要更多投入，不是更少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73152" cy="12801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12344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不替任何一方说话，是翻译和主持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51560"/>
            <a:ext cx="73152" cy="12801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Shape 10"/>
          <p:cNvSpPr/>
          <p:nvPr/>
        </p:nvSpPr>
        <p:spPr>
          <a:xfrm>
            <a:off x="4892040" y="146304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0" y="12344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分辨事实分歧和价值分歧，处理方式不同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514600"/>
            <a:ext cx="73152" cy="12801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292608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26974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表面一致比明显冲突更难识别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251460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514600"/>
            <a:ext cx="73152" cy="12801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2" name="Shape 20"/>
          <p:cNvSpPr/>
          <p:nvPr/>
        </p:nvSpPr>
        <p:spPr>
          <a:xfrm>
            <a:off x="4892040" y="292608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86400" y="26974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中立是把信息判断摆出来，不是凡事各打五十大板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749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914400" y="397764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你不是替任何一方说话的人，你是那个让两边都能听见彼此在说什么的人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73152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C41E3A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4114800" y="1828800"/>
            <a:ext cx="73152" cy="22860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0" y="16459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8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第十一章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0" y="21945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案例证伪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0" y="31089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案例不是拿来炫耀的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让人信你的判断——案例不是拿来炫耀，是拿来证伪的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案例不是拿来炫耀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05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146304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讲案例不是为了证明我很厉害，是为了让对面的人有机会当场推翻我，推翻不了，他才真的信。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721608"/>
            <a:ext cx="201168" cy="20116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5935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 vs 证伪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359359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讲案例是为了让对方质疑、挑战、甚至推翻。推翻不了，他才真的信。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4407408"/>
            <a:ext cx="201168" cy="20116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2793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扎实信任的来源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427939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真正让人产生扎实信任的案例，是用来让对方质疑的，而不是滴水不漏的成功故事。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案例挑选检验法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280160" y="100584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讲这个案例之前先问自己：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如果拿掉这个案例，我刚才那个判断还站得住脚吗？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24028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99999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如果站得住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2606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案例只是个装饰，不讲也没关系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10312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224028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如果站不住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12080" y="2606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案例是真正在支撑这个判断的，值得讲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80160" y="356616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用这个方法筛一遍，发现以前很多案例其实都是第一种——只是装饰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45262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真正支撑判断的案例才值得讲，装饰性案例不讲也罢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第十一章 案例证伪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81328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81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3258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案例是用来证伪的，不是用来炫耀的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304288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1488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主动留被追问空间，反而建立扎实信任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127248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272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29718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坦诚讲述带瑕疵的案例，比完美故事更可信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950208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950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37947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案例要真正支撑判断，不是装饰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讲案例不是为了证明我很厉害，是为了让对面的人有机会推翻我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73152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C41E3A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4114800" y="1828800"/>
            <a:ext cx="73152" cy="22860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0" y="16459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0" y="21945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关于干活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0" y="31089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临场问题处理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客户反悔 · 没把握时 · 不合理诉求 · 时间紧张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Q&amp;A：临场反悔怎么办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5156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005840"/>
            <a:ext cx="7269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客户临时反悔，已经跟着聊了很久确定了方向，最后家里亲戚随口一句话，全盘推翻重来？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10312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031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057400"/>
            <a:ext cx="7269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不去跟那句话较劲，而是重新回到信息本身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234440" y="2715768"/>
            <a:ext cx="109728" cy="10972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260604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把亲戚那句话背后的判断逻辑找出来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234440" y="3172968"/>
            <a:ext cx="109728" cy="10972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306324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跟之前梳理的信息放在一起重新给家长看一遍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234440" y="3630168"/>
            <a:ext cx="109728" cy="10972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1463040" y="352044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有时那句话确实点出了之前没考虑到的角度，那就该调整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34440" y="4087368"/>
            <a:ext cx="109728" cy="10972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1463040" y="397764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有时纯粹是信息不对称，摆清楚，家长自己会重新回到原来的判断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333333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回到信息本身，而不是跟情绪较劲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333333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职业心态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替人做决定的风险与口碑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931920"/>
            <a:ext cx="13716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11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600" kern="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第十二章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替人做决定的风险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228600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3200400"/>
            <a:ext cx="2286000" cy="2286000"/>
          </a:xfrm>
          <a:prstGeom prst="ellipse">
            <a:avLst/>
          </a:prstGeom>
          <a:solidFill>
            <a:srgbClr val="8B0000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11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最大的风险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91440" cy="29260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41E3A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7132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选错专业，是这个孩子人生里会经历的一次挫折；替他做了选择，是拿走了他本该拥有的一次自己承担后果的机会，这件事的代价，很多年后才会显出来。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11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案例：大二男生的话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学生大二了，通过之前服务过的家长找到我，不是来填志愿的，是来聊天的。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他现在读的专业，其实是当年我给他和他父母一起讨论出来的方案。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读得还不错，成绩也可以。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7680960" cy="822960"/>
          </a:xfrm>
          <a:prstGeom prst="roundRect">
            <a:avLst>
              <a:gd name="adj" fmla="val 8889"/>
            </a:avLst>
          </a:prstGeom>
          <a:solidFill>
            <a:srgbClr val="8B0000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834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“我一直觉得，这个专业是你们几个大人商量出来给我的，不是我自己选的”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这句话让我很长时间没缓过来。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1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结构性偏向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393192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问题根源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付钱的人和真正承担选择后果的人是分开的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这种结构天然会让从业者更容易向付钱方（家长）倾斜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把家长的满意度当成第一优先级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孩子的真实意愿容易在这个结构里被稀释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43000"/>
            <a:ext cx="393192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认知调整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意识到这个结构性偏向后：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0574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服务对象应该是那个要为这个选择过接下来四年甚至更久的人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8B0000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947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核心洞察：谁是真正的服务对象，决定了职业心态的根基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11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最后一句话由谁说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32588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每次给出判断时，刻意留一个“这不是最终答案，是给你参考的一个角度”的空间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24028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24028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把最后拍板这个动作交还给孩子自己说出口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15468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哪怕最后选出来的方向跟建议的一模一样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69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“由谁说出最后那句话”的差别决定了孩子是把自己当责任人，还是把责任推给当初给建议的人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1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第十三章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口碑与转介绍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228600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461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副产品，不是目标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0" y="2286000"/>
            <a:ext cx="2743200" cy="27432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32320" y="2926080"/>
            <a:ext cx="1828800" cy="1828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589520" y="3474720"/>
            <a:ext cx="1097280" cy="109728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1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口碑是副产品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C41E3A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你要是天天想着怎么攒口碑、怎么让家长转介绍，反而攒不出来；把每一次判断做扎实了，口碑是自己长出来的，不是求来的。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999999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977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核心洞察：口碑是服务扎实之后自然生长的结果，而非刻意追求的目标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12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衡量标准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关键问题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如果这个孩子五年后回头看这次选择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会不会觉得这是一个基于他自己真实情况做出的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经得起时间检验的判断？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5204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如果这个标准能过：转介绍不转介绍，好评写不写，跟判断本身的质量没关系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12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恶性循环陷阱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0" y="18288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182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972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想着“这个案例以后可以讲给别人听”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34640" y="1645920"/>
            <a:ext cx="36576" cy="1371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8308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18745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1874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给建议时偏向更“有故事性”的选择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834640" y="2423160"/>
            <a:ext cx="36576" cy="1371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56032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6517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2651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判断质量悄悄稀释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834640" y="3200400"/>
            <a:ext cx="36576" cy="1371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33756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4290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3429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口碑运营本身变成了目的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577840" y="2377440"/>
            <a:ext cx="5486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6" name="Shape 24"/>
          <p:cNvSpPr/>
          <p:nvPr/>
        </p:nvSpPr>
        <p:spPr>
          <a:xfrm>
            <a:off x="5577840" y="3154680"/>
            <a:ext cx="5486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0" y="192024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2011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5080" y="23317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判断质量下滑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长期侵蚀口碑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C41E3A">
              <a:alpha val="8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251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这是一个自我强化的恶性循环，越追越远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1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第十三章 · 口碑与转介绍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90472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90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49047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口碑是副产品，不是目标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313432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13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31343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追口碑会让判断悄悄走样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136392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36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13639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口碑运营变目的 → 判断质量下滑 → 恶性循环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959352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395935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真正的衡量标准：五年后孩子认不认这个判断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8B0000">
              <a:alpha val="9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617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把每一次判断做扎实，口碑自然生长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12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第十四章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职业不会消失，会重新分层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22860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12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职业不会消失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91440" cy="2926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7132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这个问题问错了方向——不是这个职业还能不能干下去，是只会做AI也能做的那部分工作的人，还能不能干下去；这两个问题的答案，完全不一样。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0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457200" y="4434840"/>
            <a:ext cx="2743200" cy="27432"/>
          </a:xfrm>
          <a:prstGeom prst="rect">
            <a:avLst/>
          </a:prstGeom>
          <a:solidFill>
            <a:srgbClr val="999999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12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真正的分化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840480" cy="5029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被替代的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只会算冲稳保、不做前面判断题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工作内容跟AI工具重合度最高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可被标准化的流程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8404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88720"/>
            <a:ext cx="3840480" cy="502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1887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活得更好的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信息过滤能力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产业判断力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倒推规划能力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门槛被抬高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0" y="2194560"/>
            <a:ext cx="731520" cy="731520"/>
          </a:xfrm>
          <a:prstGeom prst="ellipse">
            <a:avLst/>
          </a:prstGeom>
          <a:solidFill>
            <a:srgbClr val="F5F5F5"/>
          </a:solidFill>
          <a:ln w="254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8B0000">
              <a:alpha val="9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核心分化：是否投入了只有人才能做的判断力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12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对新人的机会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999999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以前入行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需要先死记硬背大量政策和数据细节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63240" y="1645920"/>
            <a:ext cx="41148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5087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749040" y="114300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1188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15544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基础工作有工具辅助，可以更早投入判断力训练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1143000"/>
            <a:ext cx="2194560" cy="1188720"/>
          </a:xfrm>
          <a:prstGeom prst="roundRect">
            <a:avLst>
              <a:gd name="adj" fmla="val 7692"/>
            </a:avLst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188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15087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跳过死记硬背阶段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8229600" cy="18288"/>
          </a:xfrm>
          <a:prstGeom prst="rect">
            <a:avLst/>
          </a:prstGeom>
          <a:solidFill>
            <a:srgbClr val="999999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74320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288036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880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深度聊天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32918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多跟真实的孩子和家庭深度聊天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274320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29000" y="288036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0" y="2880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行业研究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83280" y="32918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多花时间研究具体行业的真实动态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274320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288036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29400" y="2880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长期扎实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72200" y="32918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起步看起来"不够专业"，但长期更扎实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29768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8B0000">
              <a:alpha val="9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对新人：尽早投入判断力训练，不要死记硬背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80744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807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3807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234440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问"职业还能不能干"是问错了问题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002536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1488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2002536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只会AI能做的事 → 被替代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70632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916936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169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29169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2770632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真正投入判断力 → 门槛抬高，活得更好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3538728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685032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685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3685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54480" y="3538728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对新人：尽早投入判断力训练，不要死记硬背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434340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AI工具接管基础计算 → 省下时间投入真正需要人的判断环节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0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C41E3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33333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第十五章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新手到专家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那道坎，十年都没跨过去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749040"/>
            <a:ext cx="27432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1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那道坎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09728" cy="2926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新手觉得自己的成长，是学会更多的知识点、记住更多的政策细节；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真正的成长，是从"这套方法对不对"变成"这个人到底是谁"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——这道坎，很多人干了十年也没跨过去。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0" y="420624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4206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从"算得对"到"看得准"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11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放下标准流程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老手和新手最大的差别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不在谁掌握的政策更新更快、谁的数据库更全——真正的差别是面对具体的人时，能不能放下已经很熟练的那套标准判断路径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86000"/>
            <a:ext cx="91440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77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重新问基础问题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你是谁，你在意什么，你害怕什么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154680"/>
            <a:ext cx="91440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熟练的代价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566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一个人越熟练，越容易依赖已经验证过很多次的经验模板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4023360"/>
            <a:ext cx="91440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耐心考验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434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越难有耐心重新从零开始了解一个新的具体的人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11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经验积累 vs 套路熟练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776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397764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经验丰富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每次遇到新的人，都还愿意重新从"你是谁"问起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0" y="320040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39776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51560"/>
            <a:ext cx="3977640" cy="7315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套路熟练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92040" y="18288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用同一套冲稳保比例模板套所有学生，技术上不会出错，但没有回答任何一个关于这个具体的人的问题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80760" y="3200400"/>
            <a:ext cx="457200" cy="457200"/>
          </a:xfrm>
          <a:prstGeom prst="ellipse">
            <a:avLst/>
          </a:prstGeom>
          <a:solidFill>
            <a:srgbClr val="999999"/>
          </a:solidFill>
          <a:ln/>
        </p:spPr>
      </p:sp>
      <p:sp>
        <p:nvSpPr>
          <p:cNvPr id="15" name="Text 13"/>
          <p:cNvSpPr/>
          <p:nvPr/>
        </p:nvSpPr>
        <p:spPr>
          <a:xfrm>
            <a:off x="60807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33333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客户未必能一眼看出差别，但时间长了一定能感受到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</a:t>
            </a:r>
            <a:endParaRPr lang="en-US" sz="11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589520" y="18288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1828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第十五章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2801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25880" y="132588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1325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那道坎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从"方法对不对"到"这个人是谁"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1945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25880" y="224028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1325880" y="2240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老手差别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2194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愿不愿意放下经验重新了解具体的人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" y="31089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325880" y="315468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1325880" y="3154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经验丰富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26080" y="3108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≠ 套路熟练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" y="40233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325880" y="406908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8B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1325880" y="4069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好奇心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926080" y="4023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可以培养：多问"为什么"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57200" y="4892040"/>
            <a:ext cx="182880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</a:t>
            </a:r>
            <a:endParaRPr lang="en-US" sz="11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3657600" y="3291840"/>
            <a:ext cx="1828800" cy="54864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关于职业本身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</a:t>
            </a:r>
            <a:endParaRPr lang="en-US" sz="12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Q&amp;A：入行来得及吗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100584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现在入行还来得及吗，会不会已经太晚了，红利期已经过去了？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188720" y="2194560"/>
            <a:ext cx="7223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不确定"红利期"这个说法对不对。如果指的是靠信息差轻松赚钱的阶段，确实已经过去了。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但如果问的是这份工作本身值不值得投入，判断是值得的——因为真正的核心价值（</a:t>
            </a:r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判断力、产业认知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）的门槛不但没降低，反而因为AI把基础工作接管走变得更重要了。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晚不晚取决于你打算靠哪部分活下去。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靠信息差确实晚了；靠判断力什么时候开始都不算晚。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</a:t>
            </a:r>
            <a:endParaRPr lang="en-US" sz="12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Q&amp;A：怎么判断天赋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100584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怎么判断自己在这行到底有没有天赋，还是说这件事纯粹靠积累？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188720" y="2011680"/>
            <a:ext cx="7223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对"具体的人为什么会做出这个选择"这件事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天然有好奇心，愿意多问一句、多琢磨一下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——这是好信号。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如果更享受处理数据和规则本身，可能更适合往技术方向走。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还有一点：</a:t>
            </a:r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这种好奇心不是一成不变的天赋标签，可以通过刻意练习培养。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12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Q&amp;A：麻木风险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999999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4300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097280"/>
            <a:ext cx="7223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这行做久了会不会变得很麻木，见多了案例之后对每个孩子都提不起最初的耐心了？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6060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06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65176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会有这个风险。眼前这个孩子，对他而言是人生里第一次也是唯一一次经历这件事。不管已经经手过多少个案例，对他来说这次都是唯一的一次。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280160" y="3611880"/>
            <a:ext cx="7223760" cy="731520"/>
          </a:xfrm>
          <a:prstGeom prst="roundRect">
            <a:avLst>
              <a:gd name="adj" fmla="val 10000"/>
            </a:avLst>
          </a:prstGeom>
          <a:solidFill>
            <a:srgbClr val="8B0000">
              <a:alpha val="10000"/>
            </a:srgbClr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36118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这句话经常在心里默念，能在快要滑向"套路化"的时候把自己拉回来一点。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11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写给同行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371600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冲稳保是语法，不是方法。工具会越做越好，我们迟早会在这部分输给工具。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6974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560320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但语法之前那道题——这个人是谁，该往哪走——这道题工具短期内答不了。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749040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能答的，只有愿意花时间、花心思，真正坐下来跟一个具体的人聊透的人。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11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核心判断回顾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73152" cy="6858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097280"/>
            <a:ext cx="411480" cy="4114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051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先人后分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91840" y="1252728"/>
            <a:ext cx="91440" cy="91440"/>
          </a:xfrm>
          <a:prstGeom prst="ellipse">
            <a:avLst/>
          </a:prstGeom>
          <a:solidFill>
            <a:srgbClr val="999999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0515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方向比分数重要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737360"/>
            <a:ext cx="73152" cy="6858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1874520"/>
            <a:ext cx="411480" cy="4114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18288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信息过滤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91840" y="2029968"/>
            <a:ext cx="91440" cy="91440"/>
          </a:xfrm>
          <a:prstGeom prst="ellipse">
            <a:avLst/>
          </a:prstGeom>
          <a:solidFill>
            <a:srgbClr val="999999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18288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判断力比数据更稀缺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51460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514600"/>
            <a:ext cx="73152" cy="6858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651760"/>
            <a:ext cx="411480" cy="4114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26060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产业视角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91840" y="2807208"/>
            <a:ext cx="91440" cy="91440"/>
          </a:xfrm>
          <a:prstGeom prst="ellipse">
            <a:avLst/>
          </a:prstGeom>
          <a:solidFill>
            <a:srgbClr val="999999"/>
          </a:solidFill>
          <a:ln/>
        </p:spPr>
      </p:sp>
      <p:sp>
        <p:nvSpPr>
          <p:cNvPr id="24" name="Text 22"/>
          <p:cNvSpPr/>
          <p:nvPr/>
        </p:nvSpPr>
        <p:spPr>
          <a:xfrm>
            <a:off x="3566160" y="26060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五年后这行还在不在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29184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291840"/>
            <a:ext cx="73152" cy="6858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3429000"/>
            <a:ext cx="411480" cy="4114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80160" y="3383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倒推规划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91840" y="3584448"/>
            <a:ext cx="91440" cy="91440"/>
          </a:xfrm>
          <a:prstGeom prst="ellipse">
            <a:avLst/>
          </a:prstGeom>
          <a:solidFill>
            <a:srgbClr val="999999"/>
          </a:solidFill>
          <a:ln/>
        </p:spPr>
      </p:sp>
      <p:sp>
        <p:nvSpPr>
          <p:cNvPr id="31" name="Text 29"/>
          <p:cNvSpPr/>
          <p:nvPr/>
        </p:nvSpPr>
        <p:spPr>
          <a:xfrm>
            <a:off x="3566160" y="33832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从十年后往回算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406908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4069080"/>
            <a:ext cx="73152" cy="6858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4" name="Shape 32"/>
          <p:cNvSpPr/>
          <p:nvPr/>
        </p:nvSpPr>
        <p:spPr>
          <a:xfrm>
            <a:off x="685800" y="4206240"/>
            <a:ext cx="411480" cy="4114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80160" y="4160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风险偏好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291840" y="4361688"/>
            <a:ext cx="91440" cy="91440"/>
          </a:xfrm>
          <a:prstGeom prst="ellipse">
            <a:avLst/>
          </a:prstGeom>
          <a:solidFill>
            <a:srgbClr val="999999"/>
          </a:solidFill>
          <a:ln/>
        </p:spPr>
      </p:sp>
      <p:sp>
        <p:nvSpPr>
          <p:cNvPr id="38" name="Text 36"/>
          <p:cNvSpPr/>
          <p:nvPr/>
        </p:nvSpPr>
        <p:spPr>
          <a:xfrm>
            <a:off x="3566160" y="41605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冲稳保是翻译，不是公式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</a:t>
            </a:r>
            <a:endParaRPr lang="en-US" sz="11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课程总结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05840"/>
            <a:ext cx="2651760" cy="10972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80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模块一：认知重塑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0120" y="2377440"/>
            <a:ext cx="173736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46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冲稳保是语法不是方法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00584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005840"/>
            <a:ext cx="2651760" cy="10972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280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6616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模块二：协作沟通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40480" y="2377440"/>
            <a:ext cx="173736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5146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风险偏好翻译与冲突处理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100584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005840"/>
            <a:ext cx="2651760" cy="10972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280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4652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模块三：职业心态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20840" y="2377440"/>
            <a:ext cx="173736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5146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替人做决定的风险与口碑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</a:t>
            </a:r>
            <a:endParaRPr lang="en-US" sz="12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行动建议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51560" y="960120"/>
            <a:ext cx="7635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34440" y="9601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下次服务，先问"人"再问"分"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51560" y="1737360"/>
            <a:ext cx="7635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34440" y="1737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用三问过滤法处理信息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51560" y="2514600"/>
            <a:ext cx="7635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234440" y="2514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留空间让孩子自己说出最后那句话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51560" y="3291840"/>
            <a:ext cx="7635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234440" y="3291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案例用来证伪，不用来炫耀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51560" y="4069080"/>
            <a:ext cx="7635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234440" y="4069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把信息、判断力、产业认知打磨扎实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</a:t>
            </a:r>
            <a:endParaRPr lang="en-US" sz="12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1371600"/>
            <a:ext cx="18288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5544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2651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希望这本手册能帮你少走一点弯路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0" y="3383280"/>
            <a:ext cx="18288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3840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</a:t>
            </a:r>
            <a:endParaRPr lang="en-US" sz="12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练习4.2：人机协作方案设计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686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为你的F9场景任务设计完整的协作方案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AI做什么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人做什么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40880" y="1463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检验标准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solidFill>
            <a:srgbClr val="999999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202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1208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4088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23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2423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2423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2080" y="2423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2423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solidFill>
            <a:srgbClr val="999999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9260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88720" y="2926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2926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080" y="2926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40880" y="2926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4290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88720" y="3429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00400" y="3429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12080" y="3429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40880" y="3429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solidFill>
            <a:srgbClr val="999999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931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88720" y="3931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00400" y="3931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120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040880" y="3931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3" name="Text 4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</a:t>
            </a:r>
            <a:endParaRPr lang="en-US" sz="12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练习4.3：30天行动计划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使用F10表单制定计划：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1371600" cy="10058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第1-10天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建立习惯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11680" y="1691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每次用AI处理复杂任务前，先画判断力地图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19659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检验：是否有意识地先画图再开始？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10058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423160"/>
            <a:ext cx="1371600" cy="10058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42316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第11-20天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11680" y="2514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专项训练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2834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训练'前提检验'——每次AI给结论前，先问'前提是什么'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31089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检验：是否养成检验前提的习惯？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566160"/>
            <a:ext cx="1371600" cy="10058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56616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第21-30天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1168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迁移验证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011680" y="3977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把判断力地图迁移到不同类型任务上，验证通用性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11680" y="42519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检验：能否在不同场景中灵活运用？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</a:t>
            </a:r>
            <a:endParaRPr lang="en-US" sz="12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建立你的质量检验标准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为什么质量检验点重要？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AI的输出可能看起来合理但实际有问题。没有检验标准，容易过度依赖AI。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三种检验点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6858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377440"/>
            <a:ext cx="109728" cy="6858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前提检验点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AI结论的前提是否成立？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8229600" cy="6858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154680"/>
            <a:ext cx="109728" cy="6858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46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逻辑检验点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520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AI的推演逻辑是否合理？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931920"/>
            <a:ext cx="109728" cy="6858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23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价值检验点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297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结论是否符合我的价值观和底线？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</a:t>
            </a:r>
            <a:endParaRPr lang="en-US" sz="12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如何识别AI的错误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109728" cy="6858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875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事实错误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2618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AI编造的数据或信息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0" y="10515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识别：交叉验证数据来源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691640"/>
            <a:ext cx="109728" cy="6858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7647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逻辑错误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0391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推理过程中的漏洞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0" y="18288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识别：检查推演步骤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8229600" cy="6858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468880"/>
            <a:ext cx="109728" cy="6858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5420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前提错误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28163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基于错误假设的分析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0" y="26060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识别：检验前提假设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8229600" cy="6858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246120"/>
            <a:ext cx="109728" cy="6858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3192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范围错误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35935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把A领域的框架错误应用到B领域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0" y="33832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识别：确认框架适用性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4023360"/>
            <a:ext cx="109728" cy="6858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0965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过度自信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" y="43708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AI用确定语气表达不确定的判断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0" y="41605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识别：关注语气与确定性匹配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2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建立你的AI工具包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基于你的判断力地图，建立一个属于你的AI使用工具包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8288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737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常用框架库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05740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你在Q1/Q2任务中最常用的分析框架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65176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前提检验清单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88036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检验AI结论时必查的问题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47472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383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价值判断标准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70332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你的利益优先顺序和道德底线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429768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4206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协作流程模板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452628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可复用的协作流程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</a:t>
            </a:r>
            <a:endParaRPr lang="en-US" sz="12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人机协作的常见陷阱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105156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548640" cy="10515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1097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过度依赖AI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463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把判断责任推给AI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3931920" cy="105156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914400"/>
            <a:ext cx="548640" cy="10515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91440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0" y="1097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过度排斥AI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1463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拒绝使用AI辅助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148840"/>
            <a:ext cx="3931920" cy="105156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148840"/>
            <a:ext cx="548640" cy="10515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14884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88720" y="2331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只看表面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2697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不验证AI的输出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148840"/>
            <a:ext cx="3931920" cy="105156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2148840"/>
            <a:ext cx="548640" cy="10515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14884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0" y="2331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框架套用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2697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不判断框架是否适合就套用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383280"/>
            <a:ext cx="3931920" cy="105156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383280"/>
            <a:ext cx="548640" cy="10515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38328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188720" y="3566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忽略前提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3931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不检验AI结论的前提假设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383280"/>
            <a:ext cx="3931920" cy="105156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0" name="Shape 28"/>
          <p:cNvSpPr/>
          <p:nvPr/>
        </p:nvSpPr>
        <p:spPr>
          <a:xfrm>
            <a:off x="4754880" y="3383280"/>
            <a:ext cx="548640" cy="10515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38328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486400" y="3566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价值模糊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86400" y="3931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不明确自己的价值判断标准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</a:t>
            </a:r>
            <a:endParaRPr lang="en-US" sz="12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模块四核心要点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61288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61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005840"/>
            <a:ext cx="7132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场景卡是核心工具，贯穿整个课程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7772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75688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1920240"/>
            <a:ext cx="7132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判断力地图帮你看清人机分工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7772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990088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90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2834640"/>
            <a:ext cx="7132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迁移能力让你举一反三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904488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904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749040"/>
            <a:ext cx="7132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30天行动计划确保落地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</a:t>
            </a:r>
            <a:endParaRPr lang="en-US" sz="12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课程即将完成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反思问题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86868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572768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7132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你的判断力地图完成了吗？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86868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578608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78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377440"/>
            <a:ext cx="7132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你的人机协作方案设计好了吗？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8229600" cy="86868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584448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84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383280"/>
            <a:ext cx="7132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你的30天行动计划制定了吗？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4805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下一步：进入课程总结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</a:t>
            </a:r>
            <a:endParaRPr lang="en-US" sz="12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课程的五个核心要点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71323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996696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96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914400"/>
            <a:ext cx="7132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AI的四大强项和局限：信息整合、框架生成、多方案推演、逻辑展开；判断框架适合、检验前提、价值取舍、承担责任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73352"/>
            <a:ext cx="8229600" cy="71323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801368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1719072"/>
            <a:ext cx="7132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人的四大判断边界：问题定义、框架选择、前提检验、价值判断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78024"/>
            <a:ext cx="8229600" cy="71323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2523744"/>
            <a:ext cx="7132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判断力坐标系：四象限定位人机分工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82696"/>
            <a:ext cx="8229600" cy="71323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410712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410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328416"/>
            <a:ext cx="7132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判断力地图：把坐标系应用到具体任务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087368"/>
            <a:ext cx="8229600" cy="71323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4215384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215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80160" y="4133088"/>
            <a:ext cx="7132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迁移使用：举一反三的能力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</a:t>
            </a:r>
            <a:endParaRPr lang="en-US" sz="12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判断力操作系统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这不仅仅是一门课，这是一套操作系统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C41E3A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6304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63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实践系统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73152" cy="73152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8470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场景卡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03120" y="1920240"/>
            <a:ext cx="73152" cy="73152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2240280" y="18470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协作方案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1920240"/>
            <a:ext cx="73152" cy="73152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18470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30天行动计划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333333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65176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33333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51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判断工具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10896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0358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判断力坐标系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03120" y="310896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0" name="Text 18"/>
          <p:cNvSpPr/>
          <p:nvPr/>
        </p:nvSpPr>
        <p:spPr>
          <a:xfrm>
            <a:off x="2240280" y="30358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判断力地图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0" y="3108960"/>
            <a:ext cx="73152" cy="73152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30358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F1-F10表单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8B0000">
              <a:alpha val="9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38404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840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认知框架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1520" y="4297680"/>
            <a:ext cx="73152" cy="73152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4224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AI能做什么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03120" y="4297680"/>
            <a:ext cx="73152" cy="73152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2240280" y="4224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人必须做什么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74720" y="4297680"/>
            <a:ext cx="73152" cy="73152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3611880" y="4224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四大边界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14600" y="2377440"/>
            <a:ext cx="0" cy="18288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3566160"/>
            <a:ext cx="0" cy="18288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0" y="1280160"/>
            <a:ext cx="3657600" cy="3200400"/>
          </a:xfrm>
          <a:prstGeom prst="roundRect">
            <a:avLst>
              <a:gd name="adj" fmla="val 3429"/>
            </a:avLst>
          </a:prstGeom>
          <a:solidFill>
            <a:srgbClr val="999999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操作系统架构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126480" y="1828800"/>
            <a:ext cx="1463040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6126480" y="1828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26480" y="2377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26480" y="2651760"/>
            <a:ext cx="1463040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0" name="Text 38"/>
          <p:cNvSpPr/>
          <p:nvPr/>
        </p:nvSpPr>
        <p:spPr>
          <a:xfrm>
            <a:off x="6126480" y="2651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26480" y="3108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26480" y="3383280"/>
            <a:ext cx="146304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3" name="Text 41"/>
          <p:cNvSpPr/>
          <p:nvPr/>
        </p:nvSpPr>
        <p:spPr>
          <a:xfrm>
            <a:off x="6126480" y="3383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772400" y="18288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认知框架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72400" y="2651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判断工具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772400" y="3383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实践系统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8" name="Text 4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</a:t>
            </a:r>
            <a:endParaRPr lang="en-US" sz="12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从"知道`到`做到"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9999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很多人"知道`但`做不到`，因为缺少系统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82880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有框架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判断力坐标系帮你定位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169164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82880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9748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有工具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97480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F1-F10表单可直接使用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69164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182880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4632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有练习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真实任务贯穿全程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03720" y="169164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35240" y="182880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763524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9516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有计划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95160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30天行动计划确保落地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371600" y="3657600"/>
            <a:ext cx="6400800" cy="0"/>
          </a:xfrm>
          <a:prstGeom prst="line">
            <a:avLst/>
          </a:prstGeom>
          <a:noFill/>
          <a:ln w="25400">
            <a:solidFill>
              <a:srgbClr val="333333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7589520" y="3520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判断力不是一天建成的，但你可以今天开始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</a:t>
            </a:r>
            <a:endParaRPr lang="en-US" sz="12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工具表单汇总（一）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0" cy="365760"/>
          </a:xfrm>
          <a:prstGeom prst="roundRect">
            <a:avLst>
              <a:gd name="adj" fmla="val 25000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80160" y="1188720"/>
            <a:ext cx="457200" cy="457200"/>
          </a:xfrm>
          <a:prstGeom prst="ellipse">
            <a:avLst/>
          </a:prstGeom>
          <a:solidFill>
            <a:srgbClr val="999999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AI能力边界图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识别AI的能力边界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097280"/>
            <a:ext cx="548640" cy="365760"/>
          </a:xfrm>
          <a:prstGeom prst="roundRect">
            <a:avLst>
              <a:gd name="adj" fmla="val 25000"/>
            </a:avLst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097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0" y="1188720"/>
            <a:ext cx="457200" cy="457200"/>
          </a:xfrm>
          <a:prstGeom prst="ellipse">
            <a:avLst/>
          </a:prstGeom>
          <a:solidFill>
            <a:srgbClr val="999999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83280" y="1737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问题定义四问卡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2148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清晰定义真正的问题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097280"/>
            <a:ext cx="548640" cy="365760"/>
          </a:xfrm>
          <a:prstGeom prst="roundRect">
            <a:avLst>
              <a:gd name="adj" fmla="val 25000"/>
            </a:avLst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097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949440" y="1188720"/>
            <a:ext cx="457200" cy="457200"/>
          </a:xfrm>
          <a:prstGeom prst="ellipse">
            <a:avLst/>
          </a:prstGeom>
          <a:solidFill>
            <a:srgbClr val="999999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17920" y="1737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框架选择依据卡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2148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选择正确的分析框架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01752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108960"/>
            <a:ext cx="548640" cy="365760"/>
          </a:xfrm>
          <a:prstGeom prst="roundRect">
            <a:avLst>
              <a:gd name="adj" fmla="val 25000"/>
            </a:avLst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108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280160" y="3200400"/>
            <a:ext cx="457200" cy="457200"/>
          </a:xfrm>
          <a:prstGeom prst="ellipse">
            <a:avLst/>
          </a:prstGeom>
          <a:solidFill>
            <a:srgbClr val="999999"/>
          </a:solidFill>
          <a:ln/>
        </p:spPr>
      </p:sp>
      <p:sp>
        <p:nvSpPr>
          <p:cNvPr id="29" name="Text 27"/>
          <p:cNvSpPr/>
          <p:nvPr/>
        </p:nvSpPr>
        <p:spPr>
          <a:xfrm>
            <a:off x="12801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8640" y="3749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前提检验三步法卡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4160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检验AI结论的前提假设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91840" y="301752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3280" y="3108960"/>
            <a:ext cx="548640" cy="365760"/>
          </a:xfrm>
          <a:prstGeom prst="roundRect">
            <a:avLst>
              <a:gd name="adj" fmla="val 25000"/>
            </a:avLst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3383280" y="3108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114800" y="3200400"/>
            <a:ext cx="457200" cy="457200"/>
          </a:xfrm>
          <a:prstGeom prst="ellipse">
            <a:avLst/>
          </a:prstGeom>
          <a:solidFill>
            <a:srgbClr val="999999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383280" y="3749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价值判断类型卡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383280" y="4160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识别和处理价值判断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12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工具表单汇总（二）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0" cy="365760"/>
          </a:xfrm>
          <a:prstGeom prst="roundRect">
            <a:avLst>
              <a:gd name="adj" fmla="val 25000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80160" y="1188720"/>
            <a:ext cx="457200" cy="457200"/>
          </a:xfrm>
          <a:prstGeom prst="ellipse">
            <a:avLst/>
          </a:prstGeom>
          <a:solidFill>
            <a:srgbClr val="999999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判断力坐标系四象限卡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四象限定位人机分工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097280"/>
            <a:ext cx="548640" cy="365760"/>
          </a:xfrm>
          <a:prstGeom prst="roundRect">
            <a:avLst>
              <a:gd name="adj" fmla="val 25000"/>
            </a:avLst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097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F7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0" y="1188720"/>
            <a:ext cx="457200" cy="457200"/>
          </a:xfrm>
          <a:prstGeom prst="ellipse">
            <a:avLst/>
          </a:prstGeom>
          <a:solidFill>
            <a:srgbClr val="999999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83280" y="1737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个人判断力地图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2148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为具体任务绘制人机分工地图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097280"/>
            <a:ext cx="548640" cy="365760"/>
          </a:xfrm>
          <a:prstGeom prst="roundRect">
            <a:avLst>
              <a:gd name="adj" fmla="val 25000"/>
            </a:avLst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097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F8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949440" y="1188720"/>
            <a:ext cx="457200" cy="457200"/>
          </a:xfrm>
          <a:prstGeom prst="ellipse">
            <a:avLst/>
          </a:prstGeom>
          <a:solidFill>
            <a:srgbClr val="999999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17920" y="1737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迁移使用三问卡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2148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判断方法能否迁移到新任务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01752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108960"/>
            <a:ext cx="548640" cy="365760"/>
          </a:xfrm>
          <a:prstGeom prst="roundRect">
            <a:avLst>
              <a:gd name="adj" fmla="val 25000"/>
            </a:avLst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108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F9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280160" y="3200400"/>
            <a:ext cx="457200" cy="457200"/>
          </a:xfrm>
          <a:prstGeom prst="ellipse">
            <a:avLst/>
          </a:prstGeom>
          <a:solidFill>
            <a:srgbClr val="999999"/>
          </a:solidFill>
          <a:ln/>
        </p:spPr>
      </p:sp>
      <p:sp>
        <p:nvSpPr>
          <p:cNvPr id="29" name="Text 27"/>
          <p:cNvSpPr/>
          <p:nvPr/>
        </p:nvSpPr>
        <p:spPr>
          <a:xfrm>
            <a:off x="12801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8640" y="3749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场景卡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4160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选定贯穿课程的真实任务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91840" y="301752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3280" y="3108960"/>
            <a:ext cx="548640" cy="365760"/>
          </a:xfrm>
          <a:prstGeom prst="roundRect">
            <a:avLst>
              <a:gd name="adj" fmla="val 25000"/>
            </a:avLst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3383280" y="3108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F10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114800" y="3200400"/>
            <a:ext cx="457200" cy="457200"/>
          </a:xfrm>
          <a:prstGeom prst="ellipse">
            <a:avLst/>
          </a:prstGeom>
          <a:solidFill>
            <a:srgbClr val="999999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383280" y="3749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30天行动计划卡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383280" y="4160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制定和承诺落地计划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</a:t>
            </a:r>
            <a:endParaRPr lang="en-US" sz="12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四模块学习路径回顾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7680960" cy="0"/>
          </a:xfrm>
          <a:prstGeom prst="line">
            <a:avLst/>
          </a:prstGeom>
          <a:noFill/>
          <a:ln w="381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237744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468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AI能做什么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55448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3375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6118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建立边界意识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34640" y="17830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28346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377440" y="237744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2468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68880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人必须做什么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560320" y="3246120"/>
            <a:ext cx="155448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33375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468880" y="36118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掌握四大判断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17830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80560" y="237744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2468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0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判断力坐标系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3246120"/>
            <a:ext cx="155448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33375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0" y="36118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整合为系统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040880" y="17830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70408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83680" y="237744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2468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75120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综合演练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766560" y="3246120"/>
            <a:ext cx="155448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33375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675120" y="36118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落地到行动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2960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9" name="Text 3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</a:t>
            </a:r>
            <a:endParaRPr lang="en-US" sz="12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为什么这件事现在特别重要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AI能力爆发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AI能做的东西越来越多，判断力边界在移动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1887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47472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信息过载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24231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数据越多，越需要判断力筛选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1887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30936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决策加速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24231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变化越快，判断力越重要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在AI时代，判断力不是"锦上添花`，是`必备能力`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</a:t>
            </a:r>
            <a:endParaRPr lang="en-US" sz="12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判断力的悖论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005840"/>
            <a:ext cx="6400800" cy="731520"/>
          </a:xfrm>
          <a:prstGeom prst="roundRect">
            <a:avLst>
              <a:gd name="adj" fmla="val 12500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0058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AI越强大，人类判断力越重要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05740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更多AI输出需要人类判断真伪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269748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651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更多选择需要人类判断价值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333756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3291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更多变化需要人类判断方向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999999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AI不是来取代判断力的，AI让判断力变得更加重要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</a:t>
            </a:r>
            <a:endParaRPr lang="en-US" sz="12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接下来的路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640080" cy="822960"/>
          </a:xfrm>
          <a:prstGeom prst="roundRect">
            <a:avLst>
              <a:gd name="adj" fmla="val 14286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280160" y="1005840"/>
            <a:ext cx="5943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10972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完成你的判断力地图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4630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今天的练习不是结束，是开始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640080" cy="822960"/>
          </a:xfrm>
          <a:prstGeom prst="roundRect">
            <a:avLst>
              <a:gd name="adj" fmla="val 14286"/>
            </a:avLst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5740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280160" y="2057400"/>
            <a:ext cx="5943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21488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实践30天行动计划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51460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判断力需要刻意练习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640080" cy="822960"/>
          </a:xfrm>
          <a:prstGeom prst="roundRect">
            <a:avLst>
              <a:gd name="adj" fmla="val 14286"/>
            </a:avLst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0896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1280160" y="3108960"/>
            <a:ext cx="5943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32004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持续更新你的地图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5661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你的能力和AI能力都在进化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判断力操作系统一旦建立，会不断进化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</a:t>
            </a:r>
            <a:endParaRPr lang="en-US" sz="12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持续学习路径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960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问题力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325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如何把模糊的问题定义清楚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11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驱动而非套用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286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如何用思维模型给AI设定思考路径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880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审辨2.0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246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如何识别AI输出里的漏洞和过度自信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931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840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模型失灵地带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206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当框架不管用时，如何在模糊中做判断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05156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051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0" y="960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系统思维再升级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1325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如何看到二阶、三阶效应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01168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011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0352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偏误免疫2.0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2286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AI如何放大你的认知盲区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297180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0" y="2880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说服的结构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03520" y="3246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如何把AI的框架变成有说服力的表达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93192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3931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03520" y="3840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判断力资产化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03520" y="4206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如何把经验判断显性化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480560" y="914400"/>
            <a:ext cx="0" cy="365760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</a:t>
            </a:r>
            <a:endParaRPr lang="en-US" sz="12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最后一句话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645920"/>
          </a:xfrm>
          <a:prstGeom prst="roundRect">
            <a:avLst>
              <a:gd name="adj" fmla="val 6667"/>
            </a:avLst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`判断力不是天赋，是可以训练的`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3108960"/>
            <a:ext cx="137160" cy="1371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每一个重要决策都是练习判断力的机会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611880"/>
            <a:ext cx="137160" cy="1371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520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每一次使用AI都是检验判断力的机会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4114800"/>
            <a:ext cx="137160" cy="1371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023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判断力越练越强，不练则退化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4805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99999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从今天开始，把每一个任务都当作判断力练习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</a:t>
            </a:r>
            <a:endParaRPr lang="en-US" sz="12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模块一：AI能做什么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914400"/>
            <a:ext cx="7589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AI的四大强项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32588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信息整合、框架生成、多方案推演、逻辑展开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97280" y="1874520"/>
            <a:ext cx="7589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1965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AI的四大局限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28600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判断框架适合、检验前提、价值取舍、承担责任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97280" y="2834640"/>
            <a:ext cx="7589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AI能力的四个边界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24612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问题定义、框架选择、前提检验、价值判断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97280" y="3794760"/>
            <a:ext cx="7589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3886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420624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AI是超强工具，人是最终判断者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</a:t>
            </a:r>
            <a:endParaRPr lang="en-US" sz="12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模块二：人必须做什么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914400"/>
            <a:ext cx="7589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32588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不是任务是什么，而是真正要解决什么问题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97280" y="1874520"/>
            <a:ext cx="7589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1965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框架选择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28600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框架决定分析角度，选错框架分析就失去意义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97280" y="2834640"/>
            <a:ext cx="7589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前提检验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24612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AI结论依赖前提，前提错了结论就错了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97280" y="3794760"/>
            <a:ext cx="7589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3886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价值判断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420624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多方案都有数据支撑时，靠价值观做取舍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</a:t>
            </a:r>
            <a:endParaRPr lang="en-US" sz="12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模块三：判断力坐标系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914400"/>
            <a:ext cx="7589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四象限定位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32588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AI主力区/人主力区/交界协作区/模糊地带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97280" y="1874520"/>
            <a:ext cx="7589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1965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判断力地图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28600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为具体任务绘制人机分工地图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97280" y="2834640"/>
            <a:ext cx="7589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关键判断点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24612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识别影响全局、不可逆、高风险的判断节点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97280" y="3794760"/>
            <a:ext cx="7589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3886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迁移使用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420624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用三问法判断方法能否迁移到新任务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</a:t>
            </a:r>
            <a:endParaRPr lang="en-US" sz="12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模块四：综合演练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914400"/>
            <a:ext cx="7589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005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场景卡是核心工具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32588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贯穿整个课程，真实任务驱动学习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97280" y="1874520"/>
            <a:ext cx="7589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1965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判断力地图整合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28600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整合所有学习，形成完整框架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97280" y="2834640"/>
            <a:ext cx="7589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2926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迁移能力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24612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让你举一反三，应用到不同场景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97280" y="3794760"/>
            <a:ext cx="7589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3886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30天行动计划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420624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确保学习成果落地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</a:t>
            </a:r>
            <a:endParaRPr lang="en-US" sz="12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判断力地图的本质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判断力地图就像你的人生GPS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178308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691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你现在在哪里（象限定位）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37744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286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你要去哪里（目标）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297180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880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哪条路最合适（人机分工）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56616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474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什么时候该转弯（关键判断点）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169164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999999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没有判断力地图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22860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你可能在错误的方向上走得很努力，但永远到不了想去的地方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</a:t>
            </a:r>
            <a:endParaRPr lang="en-US" sz="12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判断力是一个连续体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65760"/>
          </a:xfrm>
          <a:prstGeom prst="roundRect">
            <a:avLst>
              <a:gd name="adj" fmla="val 50000"/>
            </a:avLst>
          </a:prstGeom>
          <a:solidFill>
            <a:srgbClr val="999999"/>
          </a:solidFill>
          <a:ln/>
        </p:spPr>
      </p:sp>
      <p:sp>
        <p:nvSpPr>
          <p:cNvPr id="5" name="Shape 3"/>
          <p:cNvSpPr/>
          <p:nvPr/>
        </p:nvSpPr>
        <p:spPr>
          <a:xfrm>
            <a:off x="1234440" y="1234440"/>
            <a:ext cx="457200" cy="45720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无意识无能力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234440"/>
            <a:ext cx="457200" cy="45720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有意识无能力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40680" y="12344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54406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有意识有能力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43800" y="123444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75438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6656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无意识有能力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用AI时"有意识有能力`，不用AI时`无意识无能力`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99999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429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794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在不使用AI时也能"有意识有能力`，最终达到`无意识有能力"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</a:t>
            </a:r>
            <a:endParaRPr lang="en-US" sz="12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与AI建立伙伴关系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1097280"/>
            <a:ext cx="731520" cy="73152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AI是答案机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过度依赖AI做判断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2971800"/>
            <a:ext cx="1554480" cy="36576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971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需要改变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91440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1097280"/>
            <a:ext cx="731520" cy="73152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425196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8328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AI是工具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2423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把AI当工具，人做判断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0" y="2971800"/>
            <a:ext cx="1554480" cy="365760"/>
          </a:xfrm>
          <a:prstGeom prst="roundRect">
            <a:avLst>
              <a:gd name="adj" fmla="val 25000"/>
            </a:avLst>
          </a:prstGeom>
          <a:solidFill>
            <a:srgbClr val="333333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2971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正确但被动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91440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109728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708660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21792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AI是伙伴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17920" y="2423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与AI协作，各自发挥优势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75120" y="2971800"/>
            <a:ext cx="1554480" cy="36576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2971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最佳状态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从"用AI替代判断`到`与AI共同判断`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</a:t>
            </a:r>
            <a:endParaRPr lang="en-US" sz="12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你的承诺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5F5F5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9144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我承诺每次用AI处理复杂任务前，先画判断力地图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5F5F5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57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05840" y="192024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1920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我承诺对AI的结论进行前提检验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5F5F5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05840" y="292608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我承诺持续训练我的判断力，不因AI而退化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999999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签名：__________________  日期：__________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</a:t>
            </a:r>
            <a:endParaRPr lang="en-US" sz="12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30天判断力挑战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0" y="914400"/>
            <a:ext cx="68580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914400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每天使用一次判断力地图（哪怕是小任务）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745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28800" y="1783080"/>
            <a:ext cx="68580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1783080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每次AI给结论前，先问`前提是什么"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43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828800" y="2651760"/>
            <a:ext cx="68580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2651760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在至少2个不同任务上验证判断力地图的通用性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6118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828800" y="3520440"/>
            <a:ext cx="68580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3520440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更新你的判断力地图，加入新学到的东西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完成奖励：判断力操作系统——启动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</a:t>
            </a:r>
            <a:endParaRPr lang="en-US" sz="12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457200"/>
            <a:ext cx="2286000" cy="2286000"/>
          </a:xfrm>
          <a:prstGeom prst="ellipse">
            <a:avLst/>
          </a:prstGeom>
          <a:solidFill>
            <a:srgbClr val="C41E3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1097280"/>
            <a:ext cx="1371600" cy="1371600"/>
          </a:xfrm>
          <a:prstGeom prst="ellipse">
            <a:avLst/>
          </a:prstGeom>
          <a:solidFill>
            <a:srgbClr val="999999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2286000" y="2377440"/>
            <a:ext cx="4572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思维重生课程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从记模型到建判断力操作系统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祝你成为AI时代最会判断的人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</a:t>
            </a:r>
            <a:endParaRPr lang="en-US" sz="12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这只是开始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判断力操作系统一旦建立，将持续为你服务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完成你的判断力地图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331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执行30天行动计划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971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持续迭代你的AI伙伴关系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99999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`领先一步，枪打出头鸟；落后半步，别人牵牛我拔桩；领先半步，吃尽红利`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</a:t>
            </a:r>
            <a:endParaRPr lang="en-US" sz="12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65760" cy="457200"/>
          </a:xfrm>
          <a:prstGeom prst="round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914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模块一：AI能做什么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63440" y="9144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2064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建立边界意识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365760" cy="457200"/>
          </a:xfrm>
          <a:prstGeom prst="round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83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模块二：人必须做什么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16916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1691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掌握四大判断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365760" cy="457200"/>
          </a:xfrm>
          <a:prstGeom prst="round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560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468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模块三：判断力坐标系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24688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2468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整合为系统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365760" cy="457200"/>
          </a:xfrm>
          <a:prstGeom prst="round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3375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246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模块四：综合演练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63440" y="32461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0" y="3246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落地到行动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核心工具：F1-F10表单 + 判断力地图 + 30天行动计划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</a:t>
            </a:r>
            <a:endParaRPr lang="en-US" sz="12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C41E3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333333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判断力操作系统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从今天开始，做AI时代最会判断的人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3840480"/>
            <a:ext cx="274320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思维重生：从记模型到建判断力操作系统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</a:t>
            </a:r>
            <a:endParaRPr lang="en-US" sz="12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离不开阶段自评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主要检查是否已经成为默认工具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474720"/>
          </a:xfrm>
          <a:prstGeom prst="roundRect">
            <a:avLst>
              <a:gd name="adj" fmla="val 2632"/>
            </a:avLst>
          </a:prstGeom>
          <a:solidFill>
            <a:srgbClr val="99999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37160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团队成员遇到对应任务，第一反应是用这个Skill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48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新成员入职，Skill使用说明作为培训材料的一部分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上个季度没有该Skill就无法完成的任务至少发生3次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0332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703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有版本记录文档，可以追踪每次修改历史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</a:t>
            </a:r>
            <a:endParaRPr lang="en-US" sz="10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8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附录六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两天产出物全览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457200" y="3931920"/>
            <a:ext cx="18288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0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课程总结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457200" y="3931920"/>
            <a:ext cx="18288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</a:t>
            </a:r>
            <a:endParaRPr lang="en-US" sz="10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四样成果回顾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999999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0515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数字员工蓝图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你这个岗位的数字员工规划图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999999"/>
          </a:solidFill>
          <a:ln/>
        </p:spPr>
      </p:sp>
      <p:sp>
        <p:nvSpPr>
          <p:cNvPr id="10" name="Shape 8"/>
          <p:cNvSpPr/>
          <p:nvPr/>
        </p:nvSpPr>
        <p:spPr>
          <a:xfrm>
            <a:off x="4800600" y="10515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77840" y="1097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2个以上的专属Skill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7830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用真实数据跑过两轮迭代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999999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29718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017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知识库资产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37033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业务经验的沉淀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83464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999999"/>
          </a:solidFill>
          <a:ln/>
        </p:spPr>
      </p:sp>
      <p:sp>
        <p:nvSpPr>
          <p:cNvPr id="20" name="Shape 18"/>
          <p:cNvSpPr/>
          <p:nvPr/>
        </p:nvSpPr>
        <p:spPr>
          <a:xfrm>
            <a:off x="4800600" y="29718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77840" y="3017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团队部署计划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37033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含定时任务配置、推广方案、30天行动清单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</a:t>
            </a:r>
            <a:endParaRPr lang="en-US" sz="10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核心方法论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99999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73152" cy="1188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从工具到员工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不是你每次输入，而是AI按角色和规则执行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999999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240280"/>
            <a:ext cx="73152" cy="1188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77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从规则到知识库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规则管怎么做，知识库管凭什么做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999999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566160"/>
            <a:ext cx="73152" cy="1188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从个人到组织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160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个人工具-&gt;团队资产，需要推广和管理机制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</a:t>
            </a:r>
            <a:endParaRPr lang="en-US" sz="10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30天行动计划提示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4023360"/>
          </a:xfrm>
          <a:prstGeom prst="roundRect">
            <a:avLst>
              <a:gd name="adj" fmla="val 2273"/>
            </a:avLst>
          </a:prstGeom>
          <a:solidFill>
            <a:srgbClr val="99999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选一个最合适的场景建第一个Skill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01168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用真实数据测试，不要用为它定制的数据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92608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找1-2个种子用户，帮他们成功用一次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84048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建立反馈机制，持续迭代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157</a:t>
            </a:r>
            <a:endParaRPr lang="en-US" sz="10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常见问题与解决方案回顾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3474720"/>
          </a:xfrm>
          <a:prstGeom prst="roundRect">
            <a:avLst>
              <a:gd name="adj" fmla="val 2632"/>
            </a:avLst>
          </a:prstGeom>
          <a:solidFill>
            <a:srgbClr val="999999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0584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格式不稳定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0" y="100584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3840480" cy="685800"/>
          </a:xfrm>
          <a:prstGeom prst="roundRect">
            <a:avLst>
              <a:gd name="adj" fmla="val 10667"/>
            </a:avLst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0058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加硬性约束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82880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2880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规则被绕过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182880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1828800"/>
            <a:ext cx="3840480" cy="685800"/>
          </a:xfrm>
          <a:prstGeom prst="roundRect">
            <a:avLst>
              <a:gd name="adj" fmla="val 10667"/>
            </a:avLst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8288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改成可检测信号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517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边界情况乱发挥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265176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3840480" cy="685800"/>
          </a:xfrm>
          <a:prstGeom prst="roundRect">
            <a:avLst>
              <a:gd name="adj" fmla="val 10667"/>
            </a:avLst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26517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加强兜底规则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47472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4747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输出内容没依据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0" y="347472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663440" y="3474720"/>
            <a:ext cx="3840480" cy="685800"/>
          </a:xfrm>
          <a:prstGeom prst="roundRect">
            <a:avLst>
              <a:gd name="adj" fmla="val 10667"/>
            </a:avLst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4747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补充知识库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158</a:t>
            </a:r>
            <a:endParaRPr lang="en-US" sz="10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记住这些关键认知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99999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73152" cy="1188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兜底规则不能少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没有兜底，遇到边界情况AI会创造性地出错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999999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240280"/>
            <a:ext cx="73152" cy="1188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77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宁可上游冗余，不要下游不足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多Skill协作里信息要完整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999999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566160"/>
            <a:ext cx="73152" cy="1188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先求能用，再求好用，最后离不开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160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迭代是正常的，不是失败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159</a:t>
            </a:r>
            <a:endParaRPr lang="en-US" sz="10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最后一句话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7315200" cy="2560320"/>
          </a:xfrm>
          <a:prstGeom prst="roundRect">
            <a:avLst>
              <a:gd name="adj" fmla="val 5357"/>
            </a:avLst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371600" y="201168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数字员工不是取代你，而是放大你。与其担心被AI替代，不如学会用AI放大自己的价值。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04088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</a:t>
            </a:r>
            <a:endParaRPr lang="en-US" sz="10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不请假的团队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构建AI数字员工协作体系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3291840"/>
            <a:ext cx="18288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感谢参与 | 罗宏伟 · 课程设计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161</a:t>
            </a:r>
            <a:endParaRPr lang="en-US" sz="10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开始行动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2286000" y="301752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30175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30天后，你将感谢今天开始行动的自己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162</a:t>
            </a:r>
            <a:endParaRPr lang="en-US" sz="10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联系方式与资源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4023360"/>
          </a:xfrm>
          <a:prstGeom prst="roundRect">
            <a:avLst>
              <a:gd name="adj" fmla="val 2273"/>
            </a:avLst>
          </a:prstGeom>
          <a:solidFill>
            <a:srgbClr val="999999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9728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课程答疑群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109728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扫描二维码加入课程交流群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Skill模板下载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0" y="219456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访问课程官网下载最新模板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918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持续更新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329184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课程内容将根据学员反馈持续迭代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163</a:t>
            </a:r>
            <a:endParaRPr lang="en-US" sz="10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 问答环节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0" y="1371600"/>
            <a:ext cx="4572000" cy="2743200"/>
          </a:xfrm>
          <a:prstGeom prst="roundRect">
            <a:avLst>
              <a:gd name="adj" fmla="val 5000"/>
            </a:avLst>
          </a:prstGeom>
          <a:solidFill>
            <a:srgbClr val="999999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15544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2286000" y="30175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欢迎提问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164</a:t>
            </a:r>
            <a:endParaRPr lang="en-US" sz="10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3657600" y="3108960"/>
            <a:ext cx="18288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祝各位构建出不请假的数字员工团队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149</Slides>
  <Notes>149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149</vt:i4>
      </vt:variant>
    </vt:vector>
  </HeadingPairs>
  <TitlesOfParts>
    <vt:vector size="1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高考志愿填报师 - 完整课程</dc:title>
  <dc:subject>从"冲稳保"到人生选择 - 一套重构认知与沟通的方法论</dc:subject>
  <dc:creator>罗宏伟</dc:creator>
  <cp:lastModifiedBy>罗宏伟</cp:lastModifiedBy>
  <cp:revision>1</cp:revision>
  <dcterms:created xsi:type="dcterms:W3CDTF">2026-08-02T07:18:36Z</dcterms:created>
  <dcterms:modified xsi:type="dcterms:W3CDTF">2026-08-02T07:18:36Z</dcterms:modified>
</cp:coreProperties>
</file>