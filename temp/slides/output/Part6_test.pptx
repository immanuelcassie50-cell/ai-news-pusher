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slideMasters/slideMaster124.xml" ContentType="application/vnd.openxmlformats-officedocument.presentationml.slideMaster+xml"/>
  <Override PartName="/ppt/slides/slide124.xml" ContentType="application/vnd.openxmlformats-officedocument.presentationml.slide+xml"/>
  <Override PartName="/ppt/slideMasters/slideMaster125.xml" ContentType="application/vnd.openxmlformats-officedocument.presentationml.slideMaster+xml"/>
  <Override PartName="/ppt/slides/slide125.xml" ContentType="application/vnd.openxmlformats-officedocument.presentationml.slide+xml"/>
  <Override PartName="/ppt/slideMasters/slideMaster126.xml" ContentType="application/vnd.openxmlformats-officedocument.presentationml.slideMaster+xml"/>
  <Override PartName="/ppt/slides/slide126.xml" ContentType="application/vnd.openxmlformats-officedocument.presentationml.slide+xml"/>
  <Override PartName="/ppt/slideMasters/slideMaster127.xml" ContentType="application/vnd.openxmlformats-officedocument.presentationml.slideMaster+xml"/>
  <Override PartName="/ppt/slides/slide127.xml" ContentType="application/vnd.openxmlformats-officedocument.presentationml.slide+xml"/>
  <Override PartName="/ppt/slideMasters/slideMaster128.xml" ContentType="application/vnd.openxmlformats-officedocument.presentationml.slideMaster+xml"/>
  <Override PartName="/ppt/slides/slide128.xml" ContentType="application/vnd.openxmlformats-officedocument.presentationml.slide+xml"/>
  <Override PartName="/ppt/slideMasters/slideMaster129.xml" ContentType="application/vnd.openxmlformats-officedocument.presentationml.slideMaster+xml"/>
  <Override PartName="/ppt/slides/slide129.xml" ContentType="application/vnd.openxmlformats-officedocument.presentationml.slide+xml"/>
  <Override PartName="/ppt/slideMasters/slideMaster130.xml" ContentType="application/vnd.openxmlformats-officedocument.presentationml.slideMaster+xml"/>
  <Override PartName="/ppt/slides/slide130.xml" ContentType="application/vnd.openxmlformats-officedocument.presentationml.slide+xml"/>
  <Override PartName="/ppt/slideMasters/slideMaster131.xml" ContentType="application/vnd.openxmlformats-officedocument.presentationml.slideMaster+xml"/>
  <Override PartName="/ppt/slides/slide131.xml" ContentType="application/vnd.openxmlformats-officedocument.presentationml.slide+xml"/>
  <Override PartName="/ppt/slideMasters/slideMaster132.xml" ContentType="application/vnd.openxmlformats-officedocument.presentationml.slideMaster+xml"/>
  <Override PartName="/ppt/slides/slide132.xml" ContentType="application/vnd.openxmlformats-officedocument.presentationml.slide+xml"/>
  <Override PartName="/ppt/slideMasters/slideMaster133.xml" ContentType="application/vnd.openxmlformats-officedocument.presentationml.slideMaster+xml"/>
  <Override PartName="/ppt/slides/slide133.xml" ContentType="application/vnd.openxmlformats-officedocument.presentationml.slide+xml"/>
  <Override PartName="/ppt/slideMasters/slideMaster134.xml" ContentType="application/vnd.openxmlformats-officedocument.presentationml.slideMaster+xml"/>
  <Override PartName="/ppt/slides/slide134.xml" ContentType="application/vnd.openxmlformats-officedocument.presentationml.slide+xml"/>
  <Override PartName="/ppt/slideMasters/slideMaster135.xml" ContentType="application/vnd.openxmlformats-officedocument.presentationml.slideMaster+xml"/>
  <Override PartName="/ppt/slides/slide135.xml" ContentType="application/vnd.openxmlformats-officedocument.presentationml.slide+xml"/>
  <Override PartName="/ppt/slideMasters/slideMaster136.xml" ContentType="application/vnd.openxmlformats-officedocument.presentationml.slideMaster+xml"/>
  <Override PartName="/ppt/slides/slide1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Lst>
  <p:notesMasterIdLst>
    <p:notesMasterId r:id="rId13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notesMaster" Target="notesMasters/notesMaster1.xml"/><Relationship Id="rId139" Type="http://schemas.openxmlformats.org/officeDocument/2006/relationships/presProps" Target="presProps.xml"/><Relationship Id="rId140" Type="http://schemas.openxmlformats.org/officeDocument/2006/relationships/viewProps" Target="viewProps.xml"/><Relationship Id="rId141" Type="http://schemas.openxmlformats.org/officeDocument/2006/relationships/theme" Target="theme/theme1.xml"/><Relationship Id="rId14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_rels/notesSlide1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7.xml"/>
		</Relationships>
</file>

<file path=ppt/notesSlides/_rels/notesSlide1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8.xml"/>
		</Relationships>
</file>

<file path=ppt/notesSlides/_rels/notesSlide1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9.xml"/>
		</Relationships>
</file>

<file path=ppt/notesSlides/_rels/notesSlide1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0.xml"/>
		</Relationships>
</file>

<file path=ppt/notesSlides/_rels/notesSlide1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1.xml"/>
		</Relationships>
</file>

<file path=ppt/notesSlides/_rels/notesSlide1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2.xml"/>
		</Relationships>
</file>

<file path=ppt/notesSlides/_rels/notesSlide1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3.xml"/>
		</Relationships>
</file>

<file path=ppt/notesSlides/_rels/notesSlide1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4.xml"/>
		</Relationships>
</file>

<file path=ppt/notesSlides/_rels/notesSlide1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5.xml"/>
		</Relationships>
</file>

<file path=ppt/notesSlides/_rels/notesSlide1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B91C1C"/>
          </a:solidFill>
          <a:ln/>
        </p:spPr>
      </p:sp>
      <p:sp>
        <p:nvSpPr>
          <p:cNvPr id="3" name="Shape 1"/>
          <p:cNvSpPr/>
          <p:nvPr/>
        </p:nvSpPr>
        <p:spPr>
          <a:xfrm>
            <a:off x="0" y="0"/>
            <a:ext cx="3200400" cy="73152"/>
          </a:xfrm>
          <a:prstGeom prst="rect">
            <a:avLst/>
          </a:prstGeom>
          <a:solidFill>
            <a:srgbClr val="EF4444"/>
          </a:solidFill>
          <a:ln/>
        </p:spPr>
      </p:sp>
      <p:sp>
        <p:nvSpPr>
          <p:cNvPr id="4" name="Shape 2"/>
          <p:cNvSpPr/>
          <p:nvPr/>
        </p:nvSpPr>
        <p:spPr>
          <a:xfrm>
            <a:off x="7772400" y="365760"/>
            <a:ext cx="1097280" cy="73152"/>
          </a:xfrm>
          <a:prstGeom prst="rect">
            <a:avLst/>
          </a:prstGeom>
          <a:solidFill>
            <a:srgbClr val="B91C1C"/>
          </a:solidFill>
          <a:ln/>
        </p:spPr>
      </p:sp>
      <p:sp>
        <p:nvSpPr>
          <p:cNvPr id="5" name="Shape 3"/>
          <p:cNvSpPr/>
          <p:nvPr/>
        </p:nvSpPr>
        <p:spPr>
          <a:xfrm>
            <a:off x="8412480" y="502920"/>
            <a:ext cx="457200" cy="73152"/>
          </a:xfrm>
          <a:prstGeom prst="rect">
            <a:avLst/>
          </a:prstGeom>
          <a:solidFill>
            <a:srgbClr val="EF4444"/>
          </a:solidFill>
          <a:ln/>
        </p:spPr>
      </p:sp>
      <p:sp>
        <p:nvSpPr>
          <p:cNvPr id="6" name="Text 4"/>
          <p:cNvSpPr/>
          <p:nvPr/>
        </p:nvSpPr>
        <p:spPr>
          <a:xfrm>
            <a:off x="548640" y="1645920"/>
            <a:ext cx="7772400" cy="1097280"/>
          </a:xfrm>
          <a:prstGeom prst="rect">
            <a:avLst/>
          </a:prstGeom>
          <a:noFill/>
          <a:ln/>
        </p:spPr>
        <p:txBody>
          <a:bodyPr wrap="square" lIns="0" tIns="0" rIns="0" bIns="0" rtlCol="0" anchor="ctr"/>
          <a:lstStyle/>
          <a:p>
            <a:pPr algn="l" indent="0" marL="0">
              <a:buNone/>
            </a:pPr>
            <a:r>
              <a:rPr lang="en-US" sz="5400" b="1" dirty="0">
                <a:solidFill>
                  <a:srgbClr val="B91C1C"/>
                </a:solidFill>
                <a:latin typeface="Microsoft YaHei" pitchFamily="34" charset="0"/>
                <a:ea typeface="Microsoft YaHei" pitchFamily="34" charset="-122"/>
                <a:cs typeface="Microsoft YaHei" pitchFamily="34" charset="-120"/>
              </a:rPr>
              <a:t>不请假的团队</a:t>
            </a:r>
            <a:endParaRPr lang="en-US" sz="5400" dirty="0"/>
          </a:p>
        </p:txBody>
      </p:sp>
      <p:sp>
        <p:nvSpPr>
          <p:cNvPr id="7" name="Text 5"/>
          <p:cNvSpPr/>
          <p:nvPr/>
        </p:nvSpPr>
        <p:spPr>
          <a:xfrm>
            <a:off x="548640" y="2743200"/>
            <a:ext cx="7772400" cy="731520"/>
          </a:xfrm>
          <a:prstGeom prst="rect">
            <a:avLst/>
          </a:prstGeom>
          <a:noFill/>
          <a:ln/>
        </p:spPr>
        <p:txBody>
          <a:bodyPr wrap="square" lIns="0" tIns="0" rIns="0" bIns="0" rtlCol="0" anchor="ctr"/>
          <a:lstStyle/>
          <a:p>
            <a:pPr algn="l" indent="0" marL="0">
              <a:buNone/>
            </a:pPr>
            <a:r>
              <a:rPr lang="en-US" sz="2600" dirty="0">
                <a:solidFill>
                  <a:srgbClr val="374151"/>
                </a:solidFill>
                <a:latin typeface="Microsoft YaHei" pitchFamily="34" charset="0"/>
                <a:ea typeface="Microsoft YaHei" pitchFamily="34" charset="-122"/>
                <a:cs typeface="Microsoft YaHei" pitchFamily="34" charset="-120"/>
              </a:rPr>
              <a:t>构建AI数字员工协作体系</a:t>
            </a:r>
            <a:endParaRPr lang="en-US" sz="2600" dirty="0"/>
          </a:p>
        </p:txBody>
      </p:sp>
      <p:sp>
        <p:nvSpPr>
          <p:cNvPr id="8" name="Shape 6"/>
          <p:cNvSpPr/>
          <p:nvPr/>
        </p:nvSpPr>
        <p:spPr>
          <a:xfrm>
            <a:off x="548640" y="3520440"/>
            <a:ext cx="2286000" cy="36576"/>
          </a:xfrm>
          <a:prstGeom prst="rect">
            <a:avLst/>
          </a:prstGeom>
          <a:solidFill>
            <a:srgbClr val="EF4444"/>
          </a:solidFill>
          <a:ln/>
        </p:spPr>
      </p:sp>
      <p:sp>
        <p:nvSpPr>
          <p:cNvPr id="9" name="Text 7"/>
          <p:cNvSpPr/>
          <p:nvPr/>
        </p:nvSpPr>
        <p:spPr>
          <a:xfrm>
            <a:off x="548640" y="4389120"/>
            <a:ext cx="7772400" cy="457200"/>
          </a:xfrm>
          <a:prstGeom prst="rect">
            <a:avLst/>
          </a:prstGeom>
          <a:noFill/>
          <a:ln/>
        </p:spPr>
        <p:txBody>
          <a:bodyPr wrap="square" lIns="0" tIns="0" rIns="0" bIns="0" rtlCol="0" anchor="ctr"/>
          <a:lstStyle/>
          <a:p>
            <a:pPr algn="l" indent="0" marL="0">
              <a:buNone/>
            </a:pPr>
            <a:r>
              <a:rPr lang="en-US" sz="1400" dirty="0">
                <a:solidFill>
                  <a:srgbClr val="374151"/>
                </a:solidFill>
                <a:latin typeface="Microsoft YaHei" pitchFamily="34" charset="0"/>
                <a:ea typeface="Microsoft YaHei" pitchFamily="34" charset="-122"/>
                <a:cs typeface="Microsoft YaHei" pitchFamily="34" charset="-120"/>
              </a:rPr>
              <a:t>数字员工实训课程 · 2026</a:t>
            </a:r>
            <a:endParaRPr lang="en-US" sz="1400" dirty="0"/>
          </a:p>
        </p:txBody>
      </p:sp>
      <p:sp>
        <p:nvSpPr>
          <p:cNvPr id="10" name="Shape 8"/>
          <p:cNvSpPr/>
          <p:nvPr/>
        </p:nvSpPr>
        <p:spPr>
          <a:xfrm>
            <a:off x="8046720" y="4572000"/>
            <a:ext cx="548640" cy="54864"/>
          </a:xfrm>
          <a:prstGeom prst="rect">
            <a:avLst/>
          </a:prstGeom>
          <a:solidFill>
            <a:srgbClr val="F3F4F6"/>
          </a:solidFill>
          <a:ln/>
        </p:spPr>
      </p:sp>
      <p:sp>
        <p:nvSpPr>
          <p:cNvPr id="11" name="Shape 9"/>
          <p:cNvSpPr/>
          <p:nvPr/>
        </p:nvSpPr>
        <p:spPr>
          <a:xfrm>
            <a:off x="8229600" y="4709160"/>
            <a:ext cx="365760" cy="54864"/>
          </a:xfrm>
          <a:prstGeom prst="rect">
            <a:avLst/>
          </a:prstGeom>
          <a:solidFill>
            <a:srgbClr val="EF4444"/>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B91C1C"/>
          </a:solidFill>
          <a:ln/>
        </p:spPr>
      </p:sp>
      <p:sp>
        <p:nvSpPr>
          <p:cNvPr id="3" name="Text 1"/>
          <p:cNvSpPr/>
          <p:nvPr/>
        </p:nvSpPr>
        <p:spPr>
          <a:xfrm>
            <a:off x="457200" y="320040"/>
            <a:ext cx="2743200" cy="640080"/>
          </a:xfrm>
          <a:prstGeom prst="rect">
            <a:avLst/>
          </a:prstGeom>
          <a:noFill/>
          <a:ln/>
        </p:spPr>
        <p:txBody>
          <a:bodyPr wrap="square" lIns="0" tIns="0" rIns="0" bIns="0" rtlCol="0" anchor="ctr"/>
          <a:lstStyle/>
          <a:p>
            <a:pPr algn="l" indent="0" marL="0">
              <a:buNone/>
            </a:pPr>
            <a:r>
              <a:rPr lang="en-US" sz="3600" b="1" dirty="0">
                <a:solidFill>
                  <a:srgbClr val="B91C1C"/>
                </a:solidFill>
                <a:latin typeface="Microsoft YaHei" pitchFamily="34" charset="0"/>
                <a:ea typeface="Microsoft YaHei" pitchFamily="34" charset="-122"/>
                <a:cs typeface="Microsoft YaHei" pitchFamily="34" charset="-120"/>
              </a:rPr>
              <a:t>目录</a:t>
            </a:r>
            <a:endParaRPr lang="en-US" sz="3600" dirty="0"/>
          </a:p>
        </p:txBody>
      </p:sp>
      <p:sp>
        <p:nvSpPr>
          <p:cNvPr id="4" name="Shape 2"/>
          <p:cNvSpPr/>
          <p:nvPr/>
        </p:nvSpPr>
        <p:spPr>
          <a:xfrm>
            <a:off x="457200" y="914400"/>
            <a:ext cx="1097280" cy="36576"/>
          </a:xfrm>
          <a:prstGeom prst="rect">
            <a:avLst/>
          </a:prstGeom>
          <a:solidFill>
            <a:srgbClr val="EF4444"/>
          </a:solidFill>
          <a:ln/>
        </p:spPr>
      </p:sp>
      <p:sp>
        <p:nvSpPr>
          <p:cNvPr id="5" name="Text 3"/>
          <p:cNvSpPr/>
          <p:nvPr/>
        </p:nvSpPr>
        <p:spPr>
          <a:xfrm>
            <a:off x="457200" y="1371600"/>
            <a:ext cx="640080" cy="548640"/>
          </a:xfrm>
          <a:prstGeom prst="rect">
            <a:avLst/>
          </a:prstGeom>
          <a:noFill/>
          <a:ln/>
        </p:spPr>
        <p:txBody>
          <a:bodyPr wrap="square" lIns="0" tIns="0" rIns="0" bIns="0" rtlCol="0" anchor="ctr"/>
          <a:lstStyle/>
          <a:p>
            <a:pPr algn="l" indent="0" marL="0">
              <a:buNone/>
            </a:pPr>
            <a:r>
              <a:rPr lang="en-US" sz="2800" b="1" dirty="0">
                <a:solidFill>
                  <a:srgbClr val="EF4444"/>
                </a:solidFill>
                <a:latin typeface="Arial" pitchFamily="34" charset="0"/>
                <a:ea typeface="Arial" pitchFamily="34" charset="-122"/>
                <a:cs typeface="Arial" pitchFamily="34" charset="-120"/>
              </a:rPr>
              <a:t>01</a:t>
            </a:r>
            <a:endParaRPr lang="en-US" sz="2800" dirty="0"/>
          </a:p>
        </p:txBody>
      </p:sp>
      <p:sp>
        <p:nvSpPr>
          <p:cNvPr id="6" name="Text 4"/>
          <p:cNvSpPr/>
          <p:nvPr/>
        </p:nvSpPr>
        <p:spPr>
          <a:xfrm>
            <a:off x="1143000" y="1444752"/>
            <a:ext cx="3017520" cy="457200"/>
          </a:xfrm>
          <a:prstGeom prst="rect">
            <a:avLst/>
          </a:prstGeom>
          <a:noFill/>
          <a:ln/>
        </p:spPr>
        <p:txBody>
          <a:bodyPr wrap="square" lIns="0" tIns="0" rIns="0" bIns="0" rtlCol="0" anchor="ctr"/>
          <a:lstStyle/>
          <a:p>
            <a:pPr algn="l" indent="0" marL="0">
              <a:buNone/>
            </a:pPr>
            <a:r>
              <a:rPr lang="en-US" sz="1800" dirty="0">
                <a:solidFill>
                  <a:srgbClr val="374151"/>
                </a:solidFill>
                <a:latin typeface="Microsoft YaHei" pitchFamily="34" charset="0"/>
                <a:ea typeface="Microsoft YaHei" pitchFamily="34" charset="-122"/>
                <a:cs typeface="Microsoft YaHei" pitchFamily="34" charset="-120"/>
              </a:rPr>
              <a:t>课前准备与课程导读</a:t>
            </a:r>
            <a:endParaRPr lang="en-US" sz="1800" dirty="0"/>
          </a:p>
        </p:txBody>
      </p:sp>
      <p:sp>
        <p:nvSpPr>
          <p:cNvPr id="7" name="Shape 5"/>
          <p:cNvSpPr/>
          <p:nvPr/>
        </p:nvSpPr>
        <p:spPr>
          <a:xfrm>
            <a:off x="457200" y="1965960"/>
            <a:ext cx="3474720" cy="13716"/>
          </a:xfrm>
          <a:prstGeom prst="rect">
            <a:avLst/>
          </a:prstGeom>
          <a:solidFill>
            <a:srgbClr val="F3F4F6"/>
          </a:solidFill>
          <a:ln/>
        </p:spPr>
      </p:sp>
      <p:sp>
        <p:nvSpPr>
          <p:cNvPr id="8" name="Text 6"/>
          <p:cNvSpPr/>
          <p:nvPr/>
        </p:nvSpPr>
        <p:spPr>
          <a:xfrm>
            <a:off x="457200" y="2377440"/>
            <a:ext cx="640080" cy="548640"/>
          </a:xfrm>
          <a:prstGeom prst="rect">
            <a:avLst/>
          </a:prstGeom>
          <a:noFill/>
          <a:ln/>
        </p:spPr>
        <p:txBody>
          <a:bodyPr wrap="square" lIns="0" tIns="0" rIns="0" bIns="0" rtlCol="0" anchor="ctr"/>
          <a:lstStyle/>
          <a:p>
            <a:pPr algn="l" indent="0" marL="0">
              <a:buNone/>
            </a:pPr>
            <a:r>
              <a:rPr lang="en-US" sz="2800" b="1" dirty="0">
                <a:solidFill>
                  <a:srgbClr val="EF4444"/>
                </a:solidFill>
                <a:latin typeface="Arial" pitchFamily="34" charset="0"/>
                <a:ea typeface="Arial" pitchFamily="34" charset="-122"/>
                <a:cs typeface="Arial" pitchFamily="34" charset="-120"/>
              </a:rPr>
              <a:t>02</a:t>
            </a:r>
            <a:endParaRPr lang="en-US" sz="2800" dirty="0"/>
          </a:p>
        </p:txBody>
      </p:sp>
      <p:sp>
        <p:nvSpPr>
          <p:cNvPr id="9" name="Text 7"/>
          <p:cNvSpPr/>
          <p:nvPr/>
        </p:nvSpPr>
        <p:spPr>
          <a:xfrm>
            <a:off x="1143000" y="2450592"/>
            <a:ext cx="3017520" cy="457200"/>
          </a:xfrm>
          <a:prstGeom prst="rect">
            <a:avLst/>
          </a:prstGeom>
          <a:noFill/>
          <a:ln/>
        </p:spPr>
        <p:txBody>
          <a:bodyPr wrap="square" lIns="0" tIns="0" rIns="0" bIns="0" rtlCol="0" anchor="ctr"/>
          <a:lstStyle/>
          <a:p>
            <a:pPr algn="l" indent="0" marL="0">
              <a:buNone/>
            </a:pPr>
            <a:r>
              <a:rPr lang="en-US" sz="1800" dirty="0">
                <a:solidFill>
                  <a:srgbClr val="374151"/>
                </a:solidFill>
                <a:latin typeface="Microsoft YaHei" pitchFamily="34" charset="0"/>
                <a:ea typeface="Microsoft YaHei" pitchFamily="34" charset="-122"/>
                <a:cs typeface="Microsoft YaHei" pitchFamily="34" charset="-120"/>
              </a:rPr>
              <a:t>重新认识数字员工</a:t>
            </a:r>
            <a:endParaRPr lang="en-US" sz="1800" dirty="0"/>
          </a:p>
        </p:txBody>
      </p:sp>
      <p:sp>
        <p:nvSpPr>
          <p:cNvPr id="10" name="Shape 8"/>
          <p:cNvSpPr/>
          <p:nvPr/>
        </p:nvSpPr>
        <p:spPr>
          <a:xfrm>
            <a:off x="457200" y="2971800"/>
            <a:ext cx="3474720" cy="13716"/>
          </a:xfrm>
          <a:prstGeom prst="rect">
            <a:avLst/>
          </a:prstGeom>
          <a:solidFill>
            <a:srgbClr val="F3F4F6"/>
          </a:solidFill>
          <a:ln/>
        </p:spPr>
      </p:sp>
      <p:sp>
        <p:nvSpPr>
          <p:cNvPr id="11" name="Text 9"/>
          <p:cNvSpPr/>
          <p:nvPr/>
        </p:nvSpPr>
        <p:spPr>
          <a:xfrm>
            <a:off x="457200" y="3383280"/>
            <a:ext cx="640080" cy="548640"/>
          </a:xfrm>
          <a:prstGeom prst="rect">
            <a:avLst/>
          </a:prstGeom>
          <a:noFill/>
          <a:ln/>
        </p:spPr>
        <p:txBody>
          <a:bodyPr wrap="square" lIns="0" tIns="0" rIns="0" bIns="0" rtlCol="0" anchor="ctr"/>
          <a:lstStyle/>
          <a:p>
            <a:pPr algn="l" indent="0" marL="0">
              <a:buNone/>
            </a:pPr>
            <a:r>
              <a:rPr lang="en-US" sz="2800" b="1" dirty="0">
                <a:solidFill>
                  <a:srgbClr val="EF4444"/>
                </a:solidFill>
                <a:latin typeface="Arial" pitchFamily="34" charset="0"/>
                <a:ea typeface="Arial" pitchFamily="34" charset="-122"/>
                <a:cs typeface="Arial" pitchFamily="34" charset="-120"/>
              </a:rPr>
              <a:t>03</a:t>
            </a:r>
            <a:endParaRPr lang="en-US" sz="2800" dirty="0"/>
          </a:p>
        </p:txBody>
      </p:sp>
      <p:sp>
        <p:nvSpPr>
          <p:cNvPr id="12" name="Text 10"/>
          <p:cNvSpPr/>
          <p:nvPr/>
        </p:nvSpPr>
        <p:spPr>
          <a:xfrm>
            <a:off x="1143000" y="3456432"/>
            <a:ext cx="3017520" cy="457200"/>
          </a:xfrm>
          <a:prstGeom prst="rect">
            <a:avLst/>
          </a:prstGeom>
          <a:noFill/>
          <a:ln/>
        </p:spPr>
        <p:txBody>
          <a:bodyPr wrap="square" lIns="0" tIns="0" rIns="0" bIns="0" rtlCol="0" anchor="ctr"/>
          <a:lstStyle/>
          <a:p>
            <a:pPr algn="l" indent="0" marL="0">
              <a:buNone/>
            </a:pPr>
            <a:r>
              <a:rPr lang="en-US" sz="1800" dirty="0">
                <a:solidFill>
                  <a:srgbClr val="374151"/>
                </a:solidFill>
                <a:latin typeface="Microsoft YaHei" pitchFamily="34" charset="0"/>
                <a:ea typeface="Microsoft YaHei" pitchFamily="34" charset="-122"/>
                <a:cs typeface="Microsoft YaHei" pitchFamily="34" charset="-120"/>
              </a:rPr>
              <a:t>萃取经验与搭建Skill</a:t>
            </a:r>
            <a:endParaRPr lang="en-US" sz="1800" dirty="0"/>
          </a:p>
        </p:txBody>
      </p:sp>
      <p:sp>
        <p:nvSpPr>
          <p:cNvPr id="13" name="Shape 11"/>
          <p:cNvSpPr/>
          <p:nvPr/>
        </p:nvSpPr>
        <p:spPr>
          <a:xfrm>
            <a:off x="457200" y="3977640"/>
            <a:ext cx="3474720" cy="13716"/>
          </a:xfrm>
          <a:prstGeom prst="rect">
            <a:avLst/>
          </a:prstGeom>
          <a:solidFill>
            <a:srgbClr val="F3F4F6"/>
          </a:solidFill>
          <a:ln/>
        </p:spPr>
      </p:sp>
      <p:sp>
        <p:nvSpPr>
          <p:cNvPr id="14" name="Text 12"/>
          <p:cNvSpPr/>
          <p:nvPr/>
        </p:nvSpPr>
        <p:spPr>
          <a:xfrm>
            <a:off x="4754880" y="1371600"/>
            <a:ext cx="640080" cy="548640"/>
          </a:xfrm>
          <a:prstGeom prst="rect">
            <a:avLst/>
          </a:prstGeom>
          <a:noFill/>
          <a:ln/>
        </p:spPr>
        <p:txBody>
          <a:bodyPr wrap="square" lIns="0" tIns="0" rIns="0" bIns="0" rtlCol="0" anchor="ctr"/>
          <a:lstStyle/>
          <a:p>
            <a:pPr algn="l" indent="0" marL="0">
              <a:buNone/>
            </a:pPr>
            <a:r>
              <a:rPr lang="en-US" sz="2800" b="1" dirty="0">
                <a:solidFill>
                  <a:srgbClr val="EF4444"/>
                </a:solidFill>
                <a:latin typeface="Arial" pitchFamily="34" charset="0"/>
                <a:ea typeface="Arial" pitchFamily="34" charset="-122"/>
                <a:cs typeface="Arial" pitchFamily="34" charset="-120"/>
              </a:rPr>
              <a:t>04</a:t>
            </a:r>
            <a:endParaRPr lang="en-US" sz="2800" dirty="0"/>
          </a:p>
        </p:txBody>
      </p:sp>
      <p:sp>
        <p:nvSpPr>
          <p:cNvPr id="15" name="Text 13"/>
          <p:cNvSpPr/>
          <p:nvPr/>
        </p:nvSpPr>
        <p:spPr>
          <a:xfrm>
            <a:off x="5440680" y="1444752"/>
            <a:ext cx="3017520" cy="457200"/>
          </a:xfrm>
          <a:prstGeom prst="rect">
            <a:avLst/>
          </a:prstGeom>
          <a:noFill/>
          <a:ln/>
        </p:spPr>
        <p:txBody>
          <a:bodyPr wrap="square" lIns="0" tIns="0" rIns="0" bIns="0" rtlCol="0" anchor="ctr"/>
          <a:lstStyle/>
          <a:p>
            <a:pPr algn="l" indent="0" marL="0">
              <a:buNone/>
            </a:pPr>
            <a:r>
              <a:rPr lang="en-US" sz="1800" dirty="0">
                <a:solidFill>
                  <a:srgbClr val="374151"/>
                </a:solidFill>
                <a:latin typeface="Microsoft YaHei" pitchFamily="34" charset="0"/>
                <a:ea typeface="Microsoft YaHei" pitchFamily="34" charset="-122"/>
                <a:cs typeface="Microsoft YaHei" pitchFamily="34" charset="-120"/>
              </a:rPr>
              <a:t>验收与激活</a:t>
            </a:r>
            <a:endParaRPr lang="en-US" sz="1800" dirty="0"/>
          </a:p>
        </p:txBody>
      </p:sp>
      <p:sp>
        <p:nvSpPr>
          <p:cNvPr id="16" name="Shape 14"/>
          <p:cNvSpPr/>
          <p:nvPr/>
        </p:nvSpPr>
        <p:spPr>
          <a:xfrm>
            <a:off x="4754880" y="1965960"/>
            <a:ext cx="3474720" cy="13716"/>
          </a:xfrm>
          <a:prstGeom prst="rect">
            <a:avLst/>
          </a:prstGeom>
          <a:solidFill>
            <a:srgbClr val="F3F4F6"/>
          </a:solidFill>
          <a:ln/>
        </p:spPr>
      </p:sp>
      <p:sp>
        <p:nvSpPr>
          <p:cNvPr id="17" name="Text 15"/>
          <p:cNvSpPr/>
          <p:nvPr/>
        </p:nvSpPr>
        <p:spPr>
          <a:xfrm>
            <a:off x="4754880" y="2377440"/>
            <a:ext cx="640080" cy="548640"/>
          </a:xfrm>
          <a:prstGeom prst="rect">
            <a:avLst/>
          </a:prstGeom>
          <a:noFill/>
          <a:ln/>
        </p:spPr>
        <p:txBody>
          <a:bodyPr wrap="square" lIns="0" tIns="0" rIns="0" bIns="0" rtlCol="0" anchor="ctr"/>
          <a:lstStyle/>
          <a:p>
            <a:pPr algn="l" indent="0" marL="0">
              <a:buNone/>
            </a:pPr>
            <a:r>
              <a:rPr lang="en-US" sz="2800" b="1" dirty="0">
                <a:solidFill>
                  <a:srgbClr val="EF4444"/>
                </a:solidFill>
                <a:latin typeface="Arial" pitchFamily="34" charset="0"/>
                <a:ea typeface="Arial" pitchFamily="34" charset="-122"/>
                <a:cs typeface="Arial" pitchFamily="34" charset="-120"/>
              </a:rPr>
              <a:t>05</a:t>
            </a:r>
            <a:endParaRPr lang="en-US" sz="2800" dirty="0"/>
          </a:p>
        </p:txBody>
      </p:sp>
      <p:sp>
        <p:nvSpPr>
          <p:cNvPr id="18" name="Text 16"/>
          <p:cNvSpPr/>
          <p:nvPr/>
        </p:nvSpPr>
        <p:spPr>
          <a:xfrm>
            <a:off x="5440680" y="2450592"/>
            <a:ext cx="3017520" cy="457200"/>
          </a:xfrm>
          <a:prstGeom prst="rect">
            <a:avLst/>
          </a:prstGeom>
          <a:noFill/>
          <a:ln/>
        </p:spPr>
        <p:txBody>
          <a:bodyPr wrap="square" lIns="0" tIns="0" rIns="0" bIns="0" rtlCol="0" anchor="ctr"/>
          <a:lstStyle/>
          <a:p>
            <a:pPr algn="l" indent="0" marL="0">
              <a:buNone/>
            </a:pPr>
            <a:r>
              <a:rPr lang="en-US" sz="1800" dirty="0">
                <a:solidFill>
                  <a:srgbClr val="374151"/>
                </a:solidFill>
                <a:latin typeface="Microsoft YaHei" pitchFamily="34" charset="0"/>
                <a:ea typeface="Microsoft YaHei" pitchFamily="34" charset="-122"/>
                <a:cs typeface="Microsoft YaHei" pitchFamily="34" charset="-120"/>
              </a:rPr>
              <a:t>协作系统与组织落地</a:t>
            </a:r>
            <a:endParaRPr lang="en-US" sz="1800" dirty="0"/>
          </a:p>
        </p:txBody>
      </p:sp>
      <p:sp>
        <p:nvSpPr>
          <p:cNvPr id="19" name="Shape 17"/>
          <p:cNvSpPr/>
          <p:nvPr/>
        </p:nvSpPr>
        <p:spPr>
          <a:xfrm>
            <a:off x="4754880" y="2971800"/>
            <a:ext cx="3474720" cy="13716"/>
          </a:xfrm>
          <a:prstGeom prst="rect">
            <a:avLst/>
          </a:prstGeom>
          <a:solidFill>
            <a:srgbClr val="F3F4F6"/>
          </a:solidFill>
          <a:ln/>
        </p:spPr>
      </p:sp>
      <p:sp>
        <p:nvSpPr>
          <p:cNvPr id="20" name="Text 18"/>
          <p:cNvSpPr/>
          <p:nvPr/>
        </p:nvSpPr>
        <p:spPr>
          <a:xfrm>
            <a:off x="4754880" y="3383280"/>
            <a:ext cx="640080" cy="548640"/>
          </a:xfrm>
          <a:prstGeom prst="rect">
            <a:avLst/>
          </a:prstGeom>
          <a:noFill/>
          <a:ln/>
        </p:spPr>
        <p:txBody>
          <a:bodyPr wrap="square" lIns="0" tIns="0" rIns="0" bIns="0" rtlCol="0" anchor="ctr"/>
          <a:lstStyle/>
          <a:p>
            <a:pPr algn="l" indent="0" marL="0">
              <a:buNone/>
            </a:pPr>
            <a:r>
              <a:rPr lang="en-US" sz="2800" b="1" dirty="0">
                <a:solidFill>
                  <a:srgbClr val="EF4444"/>
                </a:solidFill>
                <a:latin typeface="Arial" pitchFamily="34" charset="0"/>
                <a:ea typeface="Arial" pitchFamily="34" charset="-122"/>
                <a:cs typeface="Arial" pitchFamily="34" charset="-120"/>
              </a:rPr>
              <a:t>06</a:t>
            </a:r>
            <a:endParaRPr lang="en-US" sz="2800" dirty="0"/>
          </a:p>
        </p:txBody>
      </p:sp>
      <p:sp>
        <p:nvSpPr>
          <p:cNvPr id="21" name="Text 19"/>
          <p:cNvSpPr/>
          <p:nvPr/>
        </p:nvSpPr>
        <p:spPr>
          <a:xfrm>
            <a:off x="5440680" y="3456432"/>
            <a:ext cx="3017520" cy="457200"/>
          </a:xfrm>
          <a:prstGeom prst="rect">
            <a:avLst/>
          </a:prstGeom>
          <a:noFill/>
          <a:ln/>
        </p:spPr>
        <p:txBody>
          <a:bodyPr wrap="square" lIns="0" tIns="0" rIns="0" bIns="0" rtlCol="0" anchor="ctr"/>
          <a:lstStyle/>
          <a:p>
            <a:pPr algn="l" indent="0" marL="0">
              <a:buNone/>
            </a:pPr>
            <a:r>
              <a:rPr lang="en-US" sz="1800" dirty="0">
                <a:solidFill>
                  <a:srgbClr val="374151"/>
                </a:solidFill>
                <a:latin typeface="Microsoft YaHei" pitchFamily="34" charset="0"/>
                <a:ea typeface="Microsoft YaHei" pitchFamily="34" charset="-122"/>
                <a:cs typeface="Microsoft YaHei" pitchFamily="34" charset="-120"/>
              </a:rPr>
              <a:t>附录工具包</a:t>
            </a:r>
            <a:endParaRPr lang="en-US" sz="1800" dirty="0"/>
          </a:p>
        </p:txBody>
      </p:sp>
      <p:sp>
        <p:nvSpPr>
          <p:cNvPr id="22" name="Shape 20"/>
          <p:cNvSpPr/>
          <p:nvPr/>
        </p:nvSpPr>
        <p:spPr>
          <a:xfrm>
            <a:off x="4754880" y="3977640"/>
            <a:ext cx="3474720" cy="13716"/>
          </a:xfrm>
          <a:prstGeom prst="rect">
            <a:avLst/>
          </a:prstGeom>
          <a:solidFill>
            <a:srgbClr val="F3F4F6"/>
          </a:solidFill>
          <a:ln/>
        </p:spPr>
      </p:sp>
      <p:sp>
        <p:nvSpPr>
          <p:cNvPr id="23" name="Shape 21"/>
          <p:cNvSpPr/>
          <p:nvPr/>
        </p:nvSpPr>
        <p:spPr>
          <a:xfrm>
            <a:off x="8229600" y="4572000"/>
            <a:ext cx="457200" cy="45720"/>
          </a:xfrm>
          <a:prstGeom prst="rect">
            <a:avLst/>
          </a:prstGeom>
          <a:solidFill>
            <a:srgbClr val="B91C1C"/>
          </a:solidFill>
          <a:ln/>
        </p:spPr>
      </p:sp>
      <p:sp>
        <p:nvSpPr>
          <p:cNvPr id="24" name="Shape 22"/>
          <p:cNvSpPr/>
          <p:nvPr/>
        </p:nvSpPr>
        <p:spPr>
          <a:xfrm>
            <a:off x="8366760" y="4663440"/>
            <a:ext cx="320040" cy="45720"/>
          </a:xfrm>
          <a:prstGeom prst="rect">
            <a:avLst/>
          </a:prstGeom>
          <a:solidFill>
            <a:srgbClr val="EF4444"/>
          </a:solidFill>
          <a:ln/>
        </p:spPr>
      </p:sp>
      <p:sp>
        <p:nvSpPr>
          <p:cNvPr id="25" name="Shape 23"/>
          <p:cNvSpPr/>
          <p:nvPr/>
        </p:nvSpPr>
        <p:spPr>
          <a:xfrm>
            <a:off x="8503920" y="4663440"/>
            <a:ext cx="365760" cy="365760"/>
          </a:xfrm>
          <a:prstGeom prst="ellipse">
            <a:avLst/>
          </a:prstGeom>
          <a:solidFill>
            <a:srgbClr val="EF4444"/>
          </a:solidFill>
          <a:ln/>
        </p:spPr>
      </p:sp>
      <p:sp>
        <p:nvSpPr>
          <p:cNvPr id="26" name="Text 24"/>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B91C1C"/>
        </a:solidFill>
      </p:bgPr>
    </p:bg>
    <p:spTree>
      <p:nvGrpSpPr>
        <p:cNvPr id="1" name=""/>
        <p:cNvGrpSpPr/>
        <p:nvPr/>
      </p:nvGrpSpPr>
      <p:grpSpPr>
        <a:xfrm>
          <a:off x="0" y="0"/>
          <a:ext cx="0" cy="0"/>
          <a:chOff x="0" y="0"/>
          <a:chExt cx="0" cy="0"/>
        </a:xfrm>
      </p:grpSpPr>
      <p:sp>
        <p:nvSpPr>
          <p:cNvPr id="2" name="Shape 0"/>
          <p:cNvSpPr/>
          <p:nvPr/>
        </p:nvSpPr>
        <p:spPr>
          <a:xfrm>
            <a:off x="0" y="2286000"/>
            <a:ext cx="137160" cy="1371600"/>
          </a:xfrm>
          <a:prstGeom prst="rect">
            <a:avLst/>
          </a:prstGeom>
          <a:solidFill>
            <a:srgbClr val="EF4444"/>
          </a:solidFill>
          <a:ln/>
        </p:spPr>
      </p:sp>
      <p:sp>
        <p:nvSpPr>
          <p:cNvPr id="3" name="Text 1"/>
          <p:cNvSpPr/>
          <p:nvPr/>
        </p:nvSpPr>
        <p:spPr>
          <a:xfrm>
            <a:off x="548640" y="1645920"/>
            <a:ext cx="1828800" cy="1097280"/>
          </a:xfrm>
          <a:prstGeom prst="rect">
            <a:avLst/>
          </a:prstGeom>
          <a:noFill/>
          <a:ln/>
        </p:spPr>
        <p:txBody>
          <a:bodyPr wrap="square" rtlCol="0" anchor="ctr"/>
          <a:lstStyle/>
          <a:p>
            <a:pPr indent="0" marL="0">
              <a:buNone/>
            </a:pPr>
            <a:r>
              <a:rPr lang="en-US" sz="7200" b="1" dirty="0">
                <a:solidFill>
                  <a:srgbClr val="EF4444"/>
                </a:solidFill>
                <a:latin typeface="Arial" pitchFamily="34" charset="0"/>
                <a:ea typeface="Arial" pitchFamily="34" charset="-122"/>
                <a:cs typeface="Arial" pitchFamily="34" charset="-120"/>
              </a:rPr>
              <a:t>P1</a:t>
            </a:r>
            <a:endParaRPr lang="en-US" sz="7200" dirty="0"/>
          </a:p>
        </p:txBody>
      </p:sp>
      <p:sp>
        <p:nvSpPr>
          <p:cNvPr id="4" name="Text 2"/>
          <p:cNvSpPr/>
          <p:nvPr/>
        </p:nvSpPr>
        <p:spPr>
          <a:xfrm>
            <a:off x="548640" y="2743200"/>
            <a:ext cx="7315200" cy="731520"/>
          </a:xfrm>
          <a:prstGeom prst="rect">
            <a:avLst/>
          </a:prstGeom>
          <a:noFill/>
          <a:ln/>
        </p:spPr>
        <p:txBody>
          <a:bodyPr wrap="square" rtlCol="0" anchor="ctr"/>
          <a:lstStyle/>
          <a:p>
            <a:pPr indent="0" marL="0">
              <a:buNone/>
            </a:pPr>
            <a:r>
              <a:rPr lang="en-US" sz="3600" b="1" dirty="0">
                <a:solidFill>
                  <a:srgbClr val="FFFFFF"/>
                </a:solidFill>
                <a:latin typeface="Microsoft YaHei" pitchFamily="34" charset="0"/>
                <a:ea typeface="Microsoft YaHei" pitchFamily="34" charset="-122"/>
                <a:cs typeface="Microsoft YaHei" pitchFamily="34" charset="-120"/>
              </a:rPr>
              <a:t>课前准备</a:t>
            </a:r>
            <a:endParaRPr lang="en-US" sz="3600" dirty="0"/>
          </a:p>
        </p:txBody>
      </p:sp>
      <p:sp>
        <p:nvSpPr>
          <p:cNvPr id="5" name="Text 3"/>
          <p:cNvSpPr/>
          <p:nvPr/>
        </p:nvSpPr>
        <p:spPr>
          <a:xfrm>
            <a:off x="548640" y="3657600"/>
            <a:ext cx="7315200" cy="457200"/>
          </a:xfrm>
          <a:prstGeom prst="rect">
            <a:avLst/>
          </a:prstGeom>
          <a:noFill/>
          <a:ln/>
        </p:spPr>
        <p:txBody>
          <a:bodyPr wrap="square" rtlCol="0" anchor="ctr"/>
          <a:lstStyle/>
          <a:p>
            <a:pPr indent="0" marL="0">
              <a:buNone/>
            </a:pPr>
            <a:r>
              <a:rPr lang="en-US" sz="1800" dirty="0">
                <a:solidFill>
                  <a:srgbClr val="F3F4F6"/>
                </a:solidFill>
                <a:latin typeface="Microsoft YaHei" pitchFamily="34" charset="0"/>
                <a:ea typeface="Microsoft YaHei" pitchFamily="34" charset="-122"/>
                <a:cs typeface="Microsoft YaHei" pitchFamily="34" charset="-120"/>
              </a:rPr>
              <a:t>课程导读</a:t>
            </a:r>
            <a:endParaRPr lang="en-US" sz="1800" dirty="0"/>
          </a:p>
        </p:txBody>
      </p:sp>
      <p:sp>
        <p:nvSpPr>
          <p:cNvPr id="6" name="Shape 4"/>
          <p:cNvSpPr/>
          <p:nvPr/>
        </p:nvSpPr>
        <p:spPr>
          <a:xfrm>
            <a:off x="8503920" y="4663440"/>
            <a:ext cx="365760" cy="365760"/>
          </a:xfrm>
          <a:prstGeom prst="ellipse">
            <a:avLst/>
          </a:prstGeom>
          <a:solidFill>
            <a:srgbClr val="EF4444"/>
          </a:solidFill>
          <a:ln/>
        </p:spPr>
      </p:sp>
      <p:sp>
        <p:nvSpPr>
          <p:cNvPr id="7" name="Text 5"/>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274320"/>
            <a:ext cx="8229600" cy="548640"/>
          </a:xfrm>
          <a:prstGeom prst="rect">
            <a:avLst/>
          </a:prstGeom>
          <a:noFill/>
          <a:ln/>
        </p:spPr>
        <p:txBody>
          <a:bodyPr wrap="square" rtlCol="0" anchor="ctr"/>
          <a:lstStyle/>
          <a:p>
            <a:pPr indent="0" marL="0">
              <a:buNone/>
            </a:pPr>
            <a:r>
              <a:rPr lang="en-US" sz="2400" b="1" dirty="0">
                <a:solidFill>
                  <a:srgbClr val="B91C1C"/>
                </a:solidFill>
                <a:latin typeface="Microsoft YaHei" pitchFamily="34" charset="0"/>
                <a:ea typeface="Microsoft YaHei" pitchFamily="34" charset="-122"/>
                <a:cs typeface="Microsoft YaHei" pitchFamily="34" charset="-120"/>
              </a:rPr>
              <a:t>两天后，你将带走什么</a:t>
            </a:r>
            <a:endParaRPr lang="en-US" sz="2400" dirty="0"/>
          </a:p>
        </p:txBody>
      </p:sp>
      <p:sp>
        <p:nvSpPr>
          <p:cNvPr id="4" name="Shape 2"/>
          <p:cNvSpPr/>
          <p:nvPr/>
        </p:nvSpPr>
        <p:spPr>
          <a:xfrm>
            <a:off x="457200" y="1005840"/>
            <a:ext cx="3931920" cy="1645920"/>
          </a:xfrm>
          <a:prstGeom prst="roundRect">
            <a:avLst>
              <a:gd name="adj" fmla="val 5556"/>
            </a:avLst>
          </a:prstGeom>
          <a:solidFill>
            <a:srgbClr val="F3F4F6"/>
          </a:solidFill>
          <a:ln/>
        </p:spPr>
      </p:sp>
      <p:sp>
        <p:nvSpPr>
          <p:cNvPr id="5" name="Shape 3"/>
          <p:cNvSpPr/>
          <p:nvPr/>
        </p:nvSpPr>
        <p:spPr>
          <a:xfrm>
            <a:off x="640080" y="1188720"/>
            <a:ext cx="457200" cy="457200"/>
          </a:xfrm>
          <a:prstGeom prst="ellipse">
            <a:avLst/>
          </a:prstGeom>
          <a:solidFill>
            <a:srgbClr val="EF4444"/>
          </a:solidFill>
          <a:ln/>
        </p:spPr>
      </p:sp>
      <p:sp>
        <p:nvSpPr>
          <p:cNvPr id="6" name="Text 4"/>
          <p:cNvSpPr/>
          <p:nvPr/>
        </p:nvSpPr>
        <p:spPr>
          <a:xfrm>
            <a:off x="640080" y="118872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01</a:t>
            </a:r>
            <a:endParaRPr lang="en-US" sz="1400" dirty="0"/>
          </a:p>
        </p:txBody>
      </p:sp>
      <p:sp>
        <p:nvSpPr>
          <p:cNvPr id="7" name="Text 5"/>
          <p:cNvSpPr/>
          <p:nvPr/>
        </p:nvSpPr>
        <p:spPr>
          <a:xfrm>
            <a:off x="1280160" y="1234440"/>
            <a:ext cx="2926080" cy="457200"/>
          </a:xfrm>
          <a:prstGeom prst="rect">
            <a:avLst/>
          </a:prstGeom>
          <a:noFill/>
          <a:ln/>
        </p:spPr>
        <p:txBody>
          <a:bodyPr wrap="square" rtlCol="0" anchor="ctr"/>
          <a:lstStyle/>
          <a:p>
            <a:pPr indent="0" marL="0">
              <a:buNone/>
            </a:pPr>
            <a:r>
              <a:rPr lang="en-US" sz="1600" b="1" dirty="0">
                <a:solidFill>
                  <a:srgbClr val="B91C1C"/>
                </a:solidFill>
                <a:latin typeface="Microsoft YaHei" pitchFamily="34" charset="0"/>
                <a:ea typeface="Microsoft YaHei" pitchFamily="34" charset="-122"/>
                <a:cs typeface="Microsoft YaHei" pitchFamily="34" charset="-120"/>
              </a:rPr>
              <a:t>数字员工蓝图</a:t>
            </a:r>
            <a:endParaRPr lang="en-US" sz="1600" dirty="0"/>
          </a:p>
        </p:txBody>
      </p:sp>
      <p:sp>
        <p:nvSpPr>
          <p:cNvPr id="8" name="Text 6"/>
          <p:cNvSpPr/>
          <p:nvPr/>
        </p:nvSpPr>
        <p:spPr>
          <a:xfrm>
            <a:off x="640080" y="1828800"/>
            <a:ext cx="3566160" cy="64008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你的岗位数字员工规划图</a:t>
            </a:r>
            <a:endParaRPr lang="en-US" sz="1300" dirty="0"/>
          </a:p>
        </p:txBody>
      </p:sp>
      <p:sp>
        <p:nvSpPr>
          <p:cNvPr id="9" name="Shape 7"/>
          <p:cNvSpPr/>
          <p:nvPr/>
        </p:nvSpPr>
        <p:spPr>
          <a:xfrm>
            <a:off x="4572000" y="1005840"/>
            <a:ext cx="3931920" cy="1645920"/>
          </a:xfrm>
          <a:prstGeom prst="roundRect">
            <a:avLst>
              <a:gd name="adj" fmla="val 5556"/>
            </a:avLst>
          </a:prstGeom>
          <a:solidFill>
            <a:srgbClr val="F3F4F6"/>
          </a:solidFill>
          <a:ln/>
        </p:spPr>
      </p:sp>
      <p:sp>
        <p:nvSpPr>
          <p:cNvPr id="10" name="Shape 8"/>
          <p:cNvSpPr/>
          <p:nvPr/>
        </p:nvSpPr>
        <p:spPr>
          <a:xfrm>
            <a:off x="4754880" y="1188720"/>
            <a:ext cx="457200" cy="457200"/>
          </a:xfrm>
          <a:prstGeom prst="ellipse">
            <a:avLst/>
          </a:prstGeom>
          <a:solidFill>
            <a:srgbClr val="EF4444"/>
          </a:solidFill>
          <a:ln/>
        </p:spPr>
      </p:sp>
      <p:sp>
        <p:nvSpPr>
          <p:cNvPr id="11" name="Text 9"/>
          <p:cNvSpPr/>
          <p:nvPr/>
        </p:nvSpPr>
        <p:spPr>
          <a:xfrm>
            <a:off x="4754880" y="118872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02</a:t>
            </a:r>
            <a:endParaRPr lang="en-US" sz="1400" dirty="0"/>
          </a:p>
        </p:txBody>
      </p:sp>
      <p:sp>
        <p:nvSpPr>
          <p:cNvPr id="12" name="Text 10"/>
          <p:cNvSpPr/>
          <p:nvPr/>
        </p:nvSpPr>
        <p:spPr>
          <a:xfrm>
            <a:off x="5394960" y="1234440"/>
            <a:ext cx="2926080" cy="457200"/>
          </a:xfrm>
          <a:prstGeom prst="rect">
            <a:avLst/>
          </a:prstGeom>
          <a:noFill/>
          <a:ln/>
        </p:spPr>
        <p:txBody>
          <a:bodyPr wrap="square" rtlCol="0" anchor="ctr"/>
          <a:lstStyle/>
          <a:p>
            <a:pPr indent="0" marL="0">
              <a:buNone/>
            </a:pPr>
            <a:r>
              <a:rPr lang="en-US" sz="1600" b="1" dirty="0">
                <a:solidFill>
                  <a:srgbClr val="B91C1C"/>
                </a:solidFill>
                <a:latin typeface="Microsoft YaHei" pitchFamily="34" charset="0"/>
                <a:ea typeface="Microsoft YaHei" pitchFamily="34" charset="-122"/>
                <a:cs typeface="Microsoft YaHei" pitchFamily="34" charset="-120"/>
              </a:rPr>
              <a:t>2个以上的专属Skill</a:t>
            </a:r>
            <a:endParaRPr lang="en-US" sz="1600" dirty="0"/>
          </a:p>
        </p:txBody>
      </p:sp>
      <p:sp>
        <p:nvSpPr>
          <p:cNvPr id="13" name="Text 11"/>
          <p:cNvSpPr/>
          <p:nvPr/>
        </p:nvSpPr>
        <p:spPr>
          <a:xfrm>
            <a:off x="4754880" y="1828800"/>
            <a:ext cx="3566160" cy="64008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用真实数据跑过两轮迭代</a:t>
            </a:r>
            <a:endParaRPr lang="en-US" sz="1300" dirty="0"/>
          </a:p>
        </p:txBody>
      </p:sp>
      <p:sp>
        <p:nvSpPr>
          <p:cNvPr id="14" name="Shape 12"/>
          <p:cNvSpPr/>
          <p:nvPr/>
        </p:nvSpPr>
        <p:spPr>
          <a:xfrm>
            <a:off x="457200" y="2926080"/>
            <a:ext cx="3931920" cy="1645920"/>
          </a:xfrm>
          <a:prstGeom prst="roundRect">
            <a:avLst>
              <a:gd name="adj" fmla="val 5556"/>
            </a:avLst>
          </a:prstGeom>
          <a:solidFill>
            <a:srgbClr val="F3F4F6"/>
          </a:solidFill>
          <a:ln/>
        </p:spPr>
      </p:sp>
      <p:sp>
        <p:nvSpPr>
          <p:cNvPr id="15" name="Shape 13"/>
          <p:cNvSpPr/>
          <p:nvPr/>
        </p:nvSpPr>
        <p:spPr>
          <a:xfrm>
            <a:off x="640080" y="3108960"/>
            <a:ext cx="457200" cy="457200"/>
          </a:xfrm>
          <a:prstGeom prst="ellipse">
            <a:avLst/>
          </a:prstGeom>
          <a:solidFill>
            <a:srgbClr val="EF4444"/>
          </a:solidFill>
          <a:ln/>
        </p:spPr>
      </p:sp>
      <p:sp>
        <p:nvSpPr>
          <p:cNvPr id="16" name="Text 14"/>
          <p:cNvSpPr/>
          <p:nvPr/>
        </p:nvSpPr>
        <p:spPr>
          <a:xfrm>
            <a:off x="640080" y="310896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03</a:t>
            </a:r>
            <a:endParaRPr lang="en-US" sz="1400" dirty="0"/>
          </a:p>
        </p:txBody>
      </p:sp>
      <p:sp>
        <p:nvSpPr>
          <p:cNvPr id="17" name="Text 15"/>
          <p:cNvSpPr/>
          <p:nvPr/>
        </p:nvSpPr>
        <p:spPr>
          <a:xfrm>
            <a:off x="1280160" y="3154680"/>
            <a:ext cx="2926080" cy="457200"/>
          </a:xfrm>
          <a:prstGeom prst="rect">
            <a:avLst/>
          </a:prstGeom>
          <a:noFill/>
          <a:ln/>
        </p:spPr>
        <p:txBody>
          <a:bodyPr wrap="square" rtlCol="0" anchor="ctr"/>
          <a:lstStyle/>
          <a:p>
            <a:pPr indent="0" marL="0">
              <a:buNone/>
            </a:pPr>
            <a:r>
              <a:rPr lang="en-US" sz="1600" b="1" dirty="0">
                <a:solidFill>
                  <a:srgbClr val="B91C1C"/>
                </a:solidFill>
                <a:latin typeface="Microsoft YaHei" pitchFamily="34" charset="0"/>
                <a:ea typeface="Microsoft YaHei" pitchFamily="34" charset="-122"/>
                <a:cs typeface="Microsoft YaHei" pitchFamily="34" charset="-120"/>
              </a:rPr>
              <a:t>知识库资产</a:t>
            </a:r>
            <a:endParaRPr lang="en-US" sz="1600" dirty="0"/>
          </a:p>
        </p:txBody>
      </p:sp>
      <p:sp>
        <p:nvSpPr>
          <p:cNvPr id="18" name="Text 16"/>
          <p:cNvSpPr/>
          <p:nvPr/>
        </p:nvSpPr>
        <p:spPr>
          <a:xfrm>
            <a:off x="640080" y="3749040"/>
            <a:ext cx="3566160" cy="64008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业务经验的沉淀</a:t>
            </a:r>
            <a:endParaRPr lang="en-US" sz="1300" dirty="0"/>
          </a:p>
        </p:txBody>
      </p:sp>
      <p:sp>
        <p:nvSpPr>
          <p:cNvPr id="19" name="Shape 17"/>
          <p:cNvSpPr/>
          <p:nvPr/>
        </p:nvSpPr>
        <p:spPr>
          <a:xfrm>
            <a:off x="4572000" y="2926080"/>
            <a:ext cx="3931920" cy="1645920"/>
          </a:xfrm>
          <a:prstGeom prst="roundRect">
            <a:avLst>
              <a:gd name="adj" fmla="val 5556"/>
            </a:avLst>
          </a:prstGeom>
          <a:solidFill>
            <a:srgbClr val="F3F4F6"/>
          </a:solidFill>
          <a:ln/>
        </p:spPr>
      </p:sp>
      <p:sp>
        <p:nvSpPr>
          <p:cNvPr id="20" name="Shape 18"/>
          <p:cNvSpPr/>
          <p:nvPr/>
        </p:nvSpPr>
        <p:spPr>
          <a:xfrm>
            <a:off x="4754880" y="3108960"/>
            <a:ext cx="457200" cy="457200"/>
          </a:xfrm>
          <a:prstGeom prst="ellipse">
            <a:avLst/>
          </a:prstGeom>
          <a:solidFill>
            <a:srgbClr val="EF4444"/>
          </a:solidFill>
          <a:ln/>
        </p:spPr>
      </p:sp>
      <p:sp>
        <p:nvSpPr>
          <p:cNvPr id="21" name="Text 19"/>
          <p:cNvSpPr/>
          <p:nvPr/>
        </p:nvSpPr>
        <p:spPr>
          <a:xfrm>
            <a:off x="4754880" y="310896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04</a:t>
            </a:r>
            <a:endParaRPr lang="en-US" sz="1400" dirty="0"/>
          </a:p>
        </p:txBody>
      </p:sp>
      <p:sp>
        <p:nvSpPr>
          <p:cNvPr id="22" name="Text 20"/>
          <p:cNvSpPr/>
          <p:nvPr/>
        </p:nvSpPr>
        <p:spPr>
          <a:xfrm>
            <a:off x="5394960" y="3154680"/>
            <a:ext cx="2926080" cy="457200"/>
          </a:xfrm>
          <a:prstGeom prst="rect">
            <a:avLst/>
          </a:prstGeom>
          <a:noFill/>
          <a:ln/>
        </p:spPr>
        <p:txBody>
          <a:bodyPr wrap="square" rtlCol="0" anchor="ctr"/>
          <a:lstStyle/>
          <a:p>
            <a:pPr indent="0" marL="0">
              <a:buNone/>
            </a:pPr>
            <a:r>
              <a:rPr lang="en-US" sz="1600" b="1" dirty="0">
                <a:solidFill>
                  <a:srgbClr val="B91C1C"/>
                </a:solidFill>
                <a:latin typeface="Microsoft YaHei" pitchFamily="34" charset="0"/>
                <a:ea typeface="Microsoft YaHei" pitchFamily="34" charset="-122"/>
                <a:cs typeface="Microsoft YaHei" pitchFamily="34" charset="-120"/>
              </a:rPr>
              <a:t>团队部署计划</a:t>
            </a:r>
            <a:endParaRPr lang="en-US" sz="1600" dirty="0"/>
          </a:p>
        </p:txBody>
      </p:sp>
      <p:sp>
        <p:nvSpPr>
          <p:cNvPr id="23" name="Text 21"/>
          <p:cNvSpPr/>
          <p:nvPr/>
        </p:nvSpPr>
        <p:spPr>
          <a:xfrm>
            <a:off x="4754880" y="3749040"/>
            <a:ext cx="3566160" cy="64008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30天具体行动清单</a:t>
            </a:r>
            <a:endParaRPr lang="en-US" sz="1300" dirty="0"/>
          </a:p>
        </p:txBody>
      </p:sp>
      <p:sp>
        <p:nvSpPr>
          <p:cNvPr id="24" name="Shape 22"/>
          <p:cNvSpPr/>
          <p:nvPr/>
        </p:nvSpPr>
        <p:spPr>
          <a:xfrm>
            <a:off x="8503920" y="4663440"/>
            <a:ext cx="365760" cy="365760"/>
          </a:xfrm>
          <a:prstGeom prst="ellipse">
            <a:avLst/>
          </a:prstGeom>
          <a:solidFill>
            <a:srgbClr val="EF4444"/>
          </a:solidFill>
          <a:ln/>
        </p:spPr>
      </p:sp>
      <p:sp>
        <p:nvSpPr>
          <p:cNvPr id="25" name="Text 23"/>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274320"/>
            <a:ext cx="8229600" cy="548640"/>
          </a:xfrm>
          <a:prstGeom prst="rect">
            <a:avLst/>
          </a:prstGeom>
          <a:noFill/>
          <a:ln/>
        </p:spPr>
        <p:txBody>
          <a:bodyPr wrap="square" rtlCol="0" anchor="ctr"/>
          <a:lstStyle/>
          <a:p>
            <a:pPr indent="0" marL="0">
              <a:buNone/>
            </a:pPr>
            <a:r>
              <a:rPr lang="en-US" sz="2200" b="1" dirty="0">
                <a:solidFill>
                  <a:srgbClr val="B91C1C"/>
                </a:solidFill>
                <a:latin typeface="Microsoft YaHei" pitchFamily="34" charset="0"/>
                <a:ea typeface="Microsoft YaHei" pitchFamily="34" charset="-122"/>
                <a:cs typeface="Microsoft YaHei" pitchFamily="34" charset="-120"/>
              </a:rPr>
              <a:t>进教室之前，先想清楚一件事</a:t>
            </a:r>
            <a:endParaRPr lang="en-US" sz="2200" dirty="0"/>
          </a:p>
        </p:txBody>
      </p:sp>
      <p:sp>
        <p:nvSpPr>
          <p:cNvPr id="4" name="Shape 2"/>
          <p:cNvSpPr/>
          <p:nvPr/>
        </p:nvSpPr>
        <p:spPr>
          <a:xfrm>
            <a:off x="457200" y="1005840"/>
            <a:ext cx="109728" cy="109728"/>
          </a:xfrm>
          <a:prstGeom prst="ellipse">
            <a:avLst/>
          </a:prstGeom>
          <a:solidFill>
            <a:srgbClr val="EF4444"/>
          </a:solidFill>
          <a:ln/>
        </p:spPr>
      </p:sp>
      <p:sp>
        <p:nvSpPr>
          <p:cNvPr id="5" name="Text 3"/>
          <p:cNvSpPr/>
          <p:nvPr/>
        </p:nvSpPr>
        <p:spPr>
          <a:xfrm>
            <a:off x="731520" y="914400"/>
            <a:ext cx="4114800" cy="45720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你已经用过AI工具，但每次还是要手动很多</a:t>
            </a:r>
            <a:endParaRPr lang="en-US" sz="1300" dirty="0"/>
          </a:p>
        </p:txBody>
      </p:sp>
      <p:sp>
        <p:nvSpPr>
          <p:cNvPr id="6" name="Shape 4"/>
          <p:cNvSpPr/>
          <p:nvPr/>
        </p:nvSpPr>
        <p:spPr>
          <a:xfrm>
            <a:off x="457200" y="1508760"/>
            <a:ext cx="109728" cy="109728"/>
          </a:xfrm>
          <a:prstGeom prst="ellipse">
            <a:avLst/>
          </a:prstGeom>
          <a:solidFill>
            <a:srgbClr val="EF4444"/>
          </a:solidFill>
          <a:ln/>
        </p:spPr>
      </p:sp>
      <p:sp>
        <p:nvSpPr>
          <p:cNvPr id="7" name="Text 5"/>
          <p:cNvSpPr/>
          <p:nvPr/>
        </p:nvSpPr>
        <p:spPr>
          <a:xfrm>
            <a:off x="731520" y="1417320"/>
            <a:ext cx="4114800" cy="45720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换个场景又得重新来</a:t>
            </a:r>
            <a:endParaRPr lang="en-US" sz="1300" dirty="0"/>
          </a:p>
        </p:txBody>
      </p:sp>
      <p:sp>
        <p:nvSpPr>
          <p:cNvPr id="8" name="Shape 6"/>
          <p:cNvSpPr/>
          <p:nvPr/>
        </p:nvSpPr>
        <p:spPr>
          <a:xfrm>
            <a:off x="457200" y="2011680"/>
            <a:ext cx="109728" cy="109728"/>
          </a:xfrm>
          <a:prstGeom prst="ellipse">
            <a:avLst/>
          </a:prstGeom>
          <a:solidFill>
            <a:srgbClr val="EF4444"/>
          </a:solidFill>
          <a:ln/>
        </p:spPr>
      </p:sp>
      <p:sp>
        <p:nvSpPr>
          <p:cNvPr id="9" name="Text 7"/>
          <p:cNvSpPr/>
          <p:nvPr/>
        </p:nvSpPr>
        <p:spPr>
          <a:xfrm>
            <a:off x="731520" y="1920240"/>
            <a:ext cx="4114800" cy="45720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好不容易整出来的东西，只有你会用</a:t>
            </a:r>
            <a:endParaRPr lang="en-US" sz="1300" dirty="0"/>
          </a:p>
        </p:txBody>
      </p:sp>
      <p:sp>
        <p:nvSpPr>
          <p:cNvPr id="10" name="Shape 8"/>
          <p:cNvSpPr/>
          <p:nvPr/>
        </p:nvSpPr>
        <p:spPr>
          <a:xfrm>
            <a:off x="457200" y="2560320"/>
            <a:ext cx="8229600" cy="914400"/>
          </a:xfrm>
          <a:prstGeom prst="roundRect">
            <a:avLst>
              <a:gd name="adj" fmla="val 8000"/>
            </a:avLst>
          </a:prstGeom>
          <a:solidFill>
            <a:srgbClr val="B91C1C"/>
          </a:solidFill>
          <a:ln/>
        </p:spPr>
      </p:sp>
      <p:sp>
        <p:nvSpPr>
          <p:cNvPr id="11" name="Text 9"/>
          <p:cNvSpPr/>
          <p:nvPr/>
        </p:nvSpPr>
        <p:spPr>
          <a:xfrm>
            <a:off x="640080" y="2651760"/>
            <a:ext cx="7863840" cy="731520"/>
          </a:xfrm>
          <a:prstGeom prst="rect">
            <a:avLst/>
          </a:prstGeom>
          <a:noFill/>
          <a:ln/>
        </p:spPr>
        <p:txBody>
          <a:bodyPr wrap="square" rtlCol="0" anchor="ctr"/>
          <a:lstStyle/>
          <a:p>
            <a:pPr algn="ctr" indent="0" marL="0">
              <a:buNone/>
            </a:pPr>
            <a:r>
              <a:rPr lang="en-US" sz="1600" b="1" dirty="0">
                <a:solidFill>
                  <a:srgbClr val="FFFFFF"/>
                </a:solidFill>
                <a:latin typeface="Microsoft YaHei" pitchFamily="34" charset="0"/>
                <a:ea typeface="Microsoft YaHei" pitchFamily="34" charset="-122"/>
                <a:cs typeface="Microsoft YaHei" pitchFamily="34" charset="-120"/>
              </a:rPr>
              <a:t>这不是你不会用，是你把AI当成了偶尔找来的兼职</a:t>
            </a:r>
            <a:endParaRPr lang="en-US" sz="1600" dirty="0"/>
          </a:p>
        </p:txBody>
      </p:sp>
      <p:sp>
        <p:nvSpPr>
          <p:cNvPr id="12" name="Shape 10"/>
          <p:cNvSpPr/>
          <p:nvPr/>
        </p:nvSpPr>
        <p:spPr>
          <a:xfrm>
            <a:off x="457200" y="3657600"/>
            <a:ext cx="8229600" cy="822960"/>
          </a:xfrm>
          <a:prstGeom prst="roundRect">
            <a:avLst>
              <a:gd name="adj" fmla="val 8889"/>
            </a:avLst>
          </a:prstGeom>
          <a:solidFill>
            <a:srgbClr val="F3F4F6"/>
          </a:solidFill>
          <a:ln/>
        </p:spPr>
      </p:sp>
      <p:sp>
        <p:nvSpPr>
          <p:cNvPr id="13" name="Text 11"/>
          <p:cNvSpPr/>
          <p:nvPr/>
        </p:nvSpPr>
        <p:spPr>
          <a:xfrm>
            <a:off x="640080" y="3749040"/>
            <a:ext cx="7863840" cy="640080"/>
          </a:xfrm>
          <a:prstGeom prst="rect">
            <a:avLst/>
          </a:prstGeom>
          <a:noFill/>
          <a:ln/>
        </p:spPr>
        <p:txBody>
          <a:bodyPr wrap="square" rtlCol="0" anchor="ctr"/>
          <a:lstStyle/>
          <a:p>
            <a:pPr algn="ctr" indent="0" marL="0">
              <a:buNone/>
            </a:pPr>
            <a:r>
              <a:rPr lang="en-US" sz="1400" b="1" dirty="0">
                <a:solidFill>
                  <a:srgbClr val="EF4444"/>
                </a:solidFill>
                <a:latin typeface="Microsoft YaHei" pitchFamily="34" charset="0"/>
                <a:ea typeface="Microsoft YaHei" pitchFamily="34" charset="-122"/>
                <a:cs typeface="Microsoft YaHei" pitchFamily="34" charset="-120"/>
              </a:rPr>
              <a:t>兼职和正式员工的区别：角色、规则和系统</a:t>
            </a:r>
            <a:endParaRPr lang="en-US" sz="1400" dirty="0"/>
          </a:p>
        </p:txBody>
      </p:sp>
      <p:sp>
        <p:nvSpPr>
          <p:cNvPr id="14" name="Shape 12"/>
          <p:cNvSpPr/>
          <p:nvPr/>
        </p:nvSpPr>
        <p:spPr>
          <a:xfrm>
            <a:off x="8503920" y="4663440"/>
            <a:ext cx="365760" cy="365760"/>
          </a:xfrm>
          <a:prstGeom prst="ellipse">
            <a:avLst/>
          </a:prstGeom>
          <a:solidFill>
            <a:srgbClr val="EF4444"/>
          </a:solidFill>
          <a:ln/>
        </p:spPr>
      </p:sp>
      <p:sp>
        <p:nvSpPr>
          <p:cNvPr id="15" name="Text 13"/>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274320"/>
            <a:ext cx="8229600" cy="548640"/>
          </a:xfrm>
          <a:prstGeom prst="rect">
            <a:avLst/>
          </a:prstGeom>
          <a:noFill/>
          <a:ln/>
        </p:spPr>
        <p:txBody>
          <a:bodyPr wrap="square" rtlCol="0" anchor="ctr"/>
          <a:lstStyle/>
          <a:p>
            <a:pPr indent="0" marL="0">
              <a:buNone/>
            </a:pPr>
            <a:r>
              <a:rPr lang="en-US" sz="2400" b="1" dirty="0">
                <a:solidFill>
                  <a:srgbClr val="B91C1C"/>
                </a:solidFill>
                <a:latin typeface="Microsoft YaHei" pitchFamily="34" charset="0"/>
                <a:ea typeface="Microsoft YaHei" pitchFamily="34" charset="-122"/>
                <a:cs typeface="Microsoft YaHei" pitchFamily="34" charset="-120"/>
              </a:rPr>
              <a:t>兼职 vs 正式员工</a:t>
            </a:r>
            <a:endParaRPr lang="en-US" sz="2400" dirty="0"/>
          </a:p>
        </p:txBody>
      </p:sp>
      <p:sp>
        <p:nvSpPr>
          <p:cNvPr id="4" name="Shape 2"/>
          <p:cNvSpPr/>
          <p:nvPr/>
        </p:nvSpPr>
        <p:spPr>
          <a:xfrm>
            <a:off x="457200" y="1005840"/>
            <a:ext cx="3931920" cy="3291840"/>
          </a:xfrm>
          <a:prstGeom prst="roundRect">
            <a:avLst>
              <a:gd name="adj" fmla="val 2778"/>
            </a:avLst>
          </a:prstGeom>
          <a:solidFill>
            <a:srgbClr val="F3F4F6"/>
          </a:solidFill>
          <a:ln/>
        </p:spPr>
      </p:sp>
      <p:sp>
        <p:nvSpPr>
          <p:cNvPr id="5" name="Shape 3"/>
          <p:cNvSpPr/>
          <p:nvPr/>
        </p:nvSpPr>
        <p:spPr>
          <a:xfrm>
            <a:off x="457200" y="1005840"/>
            <a:ext cx="3931920" cy="548640"/>
          </a:xfrm>
          <a:prstGeom prst="rect">
            <a:avLst/>
          </a:prstGeom>
          <a:solidFill>
            <a:srgbClr val="374151"/>
          </a:solidFill>
          <a:ln/>
        </p:spPr>
      </p:sp>
      <p:sp>
        <p:nvSpPr>
          <p:cNvPr id="6" name="Text 4"/>
          <p:cNvSpPr/>
          <p:nvPr/>
        </p:nvSpPr>
        <p:spPr>
          <a:xfrm>
            <a:off x="457200" y="1005840"/>
            <a:ext cx="3931920" cy="548640"/>
          </a:xfrm>
          <a:prstGeom prst="rect">
            <a:avLst/>
          </a:prstGeom>
          <a:noFill/>
          <a:ln/>
        </p:spPr>
        <p:txBody>
          <a:bodyPr wrap="square" rtlCol="0" anchor="ctr"/>
          <a:lstStyle/>
          <a:p>
            <a:pPr algn="ctr" indent="0" marL="0">
              <a:buNone/>
            </a:pPr>
            <a:r>
              <a:rPr lang="en-US" sz="1600" b="1" dirty="0">
                <a:solidFill>
                  <a:srgbClr val="FFFFFF"/>
                </a:solidFill>
                <a:latin typeface="Microsoft YaHei" pitchFamily="34" charset="0"/>
                <a:ea typeface="Microsoft YaHei" pitchFamily="34" charset="-122"/>
                <a:cs typeface="Microsoft YaHei" pitchFamily="34" charset="-120"/>
              </a:rPr>
              <a:t>兼职AI</a:t>
            </a:r>
            <a:endParaRPr lang="en-US" sz="1600" dirty="0"/>
          </a:p>
        </p:txBody>
      </p:sp>
      <p:sp>
        <p:nvSpPr>
          <p:cNvPr id="7" name="Shape 5"/>
          <p:cNvSpPr/>
          <p:nvPr/>
        </p:nvSpPr>
        <p:spPr>
          <a:xfrm>
            <a:off x="640080" y="1737360"/>
            <a:ext cx="109728" cy="109728"/>
          </a:xfrm>
          <a:prstGeom prst="ellipse">
            <a:avLst/>
          </a:prstGeom>
          <a:solidFill>
            <a:srgbClr val="374151"/>
          </a:solidFill>
          <a:ln/>
        </p:spPr>
      </p:sp>
      <p:sp>
        <p:nvSpPr>
          <p:cNvPr id="8" name="Text 6"/>
          <p:cNvSpPr/>
          <p:nvPr/>
        </p:nvSpPr>
        <p:spPr>
          <a:xfrm>
            <a:off x="914400" y="1645920"/>
            <a:ext cx="3291840" cy="45720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每次重新交代</a:t>
            </a:r>
            <a:endParaRPr lang="en-US" sz="1300" dirty="0"/>
          </a:p>
        </p:txBody>
      </p:sp>
      <p:sp>
        <p:nvSpPr>
          <p:cNvPr id="9" name="Shape 7"/>
          <p:cNvSpPr/>
          <p:nvPr/>
        </p:nvSpPr>
        <p:spPr>
          <a:xfrm>
            <a:off x="640080" y="2331720"/>
            <a:ext cx="109728" cy="109728"/>
          </a:xfrm>
          <a:prstGeom prst="ellipse">
            <a:avLst/>
          </a:prstGeom>
          <a:solidFill>
            <a:srgbClr val="374151"/>
          </a:solidFill>
          <a:ln/>
        </p:spPr>
      </p:sp>
      <p:sp>
        <p:nvSpPr>
          <p:cNvPr id="10" name="Text 8"/>
          <p:cNvSpPr/>
          <p:nvPr/>
        </p:nvSpPr>
        <p:spPr>
          <a:xfrm>
            <a:off x="914400" y="2240280"/>
            <a:ext cx="3291840" cy="45720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输出格式不稳定</a:t>
            </a:r>
            <a:endParaRPr lang="en-US" sz="1300" dirty="0"/>
          </a:p>
        </p:txBody>
      </p:sp>
      <p:sp>
        <p:nvSpPr>
          <p:cNvPr id="11" name="Shape 9"/>
          <p:cNvSpPr/>
          <p:nvPr/>
        </p:nvSpPr>
        <p:spPr>
          <a:xfrm>
            <a:off x="640080" y="2926080"/>
            <a:ext cx="109728" cy="109728"/>
          </a:xfrm>
          <a:prstGeom prst="ellipse">
            <a:avLst/>
          </a:prstGeom>
          <a:solidFill>
            <a:srgbClr val="374151"/>
          </a:solidFill>
          <a:ln/>
        </p:spPr>
      </p:sp>
      <p:sp>
        <p:nvSpPr>
          <p:cNvPr id="12" name="Text 10"/>
          <p:cNvSpPr/>
          <p:nvPr/>
        </p:nvSpPr>
        <p:spPr>
          <a:xfrm>
            <a:off x="914400" y="2834640"/>
            <a:ext cx="3291840" cy="45720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遇到新情况就慌</a:t>
            </a:r>
            <a:endParaRPr lang="en-US" sz="1300" dirty="0"/>
          </a:p>
        </p:txBody>
      </p:sp>
      <p:sp>
        <p:nvSpPr>
          <p:cNvPr id="13" name="Shape 11"/>
          <p:cNvSpPr/>
          <p:nvPr/>
        </p:nvSpPr>
        <p:spPr>
          <a:xfrm>
            <a:off x="640080" y="3520440"/>
            <a:ext cx="109728" cy="109728"/>
          </a:xfrm>
          <a:prstGeom prst="ellipse">
            <a:avLst/>
          </a:prstGeom>
          <a:solidFill>
            <a:srgbClr val="374151"/>
          </a:solidFill>
          <a:ln/>
        </p:spPr>
      </p:sp>
      <p:sp>
        <p:nvSpPr>
          <p:cNvPr id="14" name="Text 12"/>
          <p:cNvSpPr/>
          <p:nvPr/>
        </p:nvSpPr>
        <p:spPr>
          <a:xfrm>
            <a:off x="914400" y="3429000"/>
            <a:ext cx="3291840" cy="45720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靠感觉判断</a:t>
            </a:r>
            <a:endParaRPr lang="en-US" sz="1300" dirty="0"/>
          </a:p>
        </p:txBody>
      </p:sp>
      <p:sp>
        <p:nvSpPr>
          <p:cNvPr id="15" name="Shape 13"/>
          <p:cNvSpPr/>
          <p:nvPr/>
        </p:nvSpPr>
        <p:spPr>
          <a:xfrm>
            <a:off x="4754880" y="1005840"/>
            <a:ext cx="3931920" cy="3291840"/>
          </a:xfrm>
          <a:prstGeom prst="roundRect">
            <a:avLst>
              <a:gd name="adj" fmla="val 2778"/>
            </a:avLst>
          </a:prstGeom>
          <a:solidFill>
            <a:srgbClr val="B91C1C"/>
          </a:solidFill>
          <a:ln/>
        </p:spPr>
      </p:sp>
      <p:sp>
        <p:nvSpPr>
          <p:cNvPr id="16" name="Shape 14"/>
          <p:cNvSpPr/>
          <p:nvPr/>
        </p:nvSpPr>
        <p:spPr>
          <a:xfrm>
            <a:off x="4754880" y="1005840"/>
            <a:ext cx="3931920" cy="548640"/>
          </a:xfrm>
          <a:prstGeom prst="rect">
            <a:avLst/>
          </a:prstGeom>
          <a:solidFill>
            <a:srgbClr val="EF4444"/>
          </a:solidFill>
          <a:ln/>
        </p:spPr>
      </p:sp>
      <p:sp>
        <p:nvSpPr>
          <p:cNvPr id="17" name="Text 15"/>
          <p:cNvSpPr/>
          <p:nvPr/>
        </p:nvSpPr>
        <p:spPr>
          <a:xfrm>
            <a:off x="4754880" y="1005840"/>
            <a:ext cx="3931920" cy="548640"/>
          </a:xfrm>
          <a:prstGeom prst="rect">
            <a:avLst/>
          </a:prstGeom>
          <a:noFill/>
          <a:ln/>
        </p:spPr>
        <p:txBody>
          <a:bodyPr wrap="square" rtlCol="0" anchor="ctr"/>
          <a:lstStyle/>
          <a:p>
            <a:pPr algn="ctr" indent="0" marL="0">
              <a:buNone/>
            </a:pPr>
            <a:r>
              <a:rPr lang="en-US" sz="1600" b="1" dirty="0">
                <a:solidFill>
                  <a:srgbClr val="FFFFFF"/>
                </a:solidFill>
                <a:latin typeface="Microsoft YaHei" pitchFamily="34" charset="0"/>
                <a:ea typeface="Microsoft YaHei" pitchFamily="34" charset="-122"/>
                <a:cs typeface="Microsoft YaHei" pitchFamily="34" charset="-120"/>
              </a:rPr>
              <a:t>正式员工AI</a:t>
            </a:r>
            <a:endParaRPr lang="en-US" sz="1600" dirty="0"/>
          </a:p>
        </p:txBody>
      </p:sp>
      <p:sp>
        <p:nvSpPr>
          <p:cNvPr id="18" name="Shape 16"/>
          <p:cNvSpPr/>
          <p:nvPr/>
        </p:nvSpPr>
        <p:spPr>
          <a:xfrm>
            <a:off x="4937760" y="1737360"/>
            <a:ext cx="109728" cy="109728"/>
          </a:xfrm>
          <a:prstGeom prst="ellipse">
            <a:avLst/>
          </a:prstGeom>
          <a:solidFill>
            <a:srgbClr val="F3F4F6"/>
          </a:solidFill>
          <a:ln/>
        </p:spPr>
      </p:sp>
      <p:sp>
        <p:nvSpPr>
          <p:cNvPr id="19" name="Text 17"/>
          <p:cNvSpPr/>
          <p:nvPr/>
        </p:nvSpPr>
        <p:spPr>
          <a:xfrm>
            <a:off x="5212080" y="1645920"/>
            <a:ext cx="3291840" cy="457200"/>
          </a:xfrm>
          <a:prstGeom prst="rect">
            <a:avLst/>
          </a:prstGeom>
          <a:noFill/>
          <a:ln/>
        </p:spPr>
        <p:txBody>
          <a:bodyPr wrap="square" rtlCol="0" anchor="ctr"/>
          <a:lstStyle/>
          <a:p>
            <a:pPr indent="0" marL="0">
              <a:buNone/>
            </a:pPr>
            <a:r>
              <a:rPr lang="en-US" sz="1300" dirty="0">
                <a:solidFill>
                  <a:srgbClr val="FFFFFF"/>
                </a:solidFill>
                <a:latin typeface="Microsoft YaHei" pitchFamily="34" charset="0"/>
                <a:ea typeface="Microsoft YaHei" pitchFamily="34" charset="-122"/>
                <a:cs typeface="Microsoft YaHei" pitchFamily="34" charset="-120"/>
              </a:rPr>
              <a:t>角色清晰，按规则执行</a:t>
            </a:r>
            <a:endParaRPr lang="en-US" sz="1300" dirty="0"/>
          </a:p>
        </p:txBody>
      </p:sp>
      <p:sp>
        <p:nvSpPr>
          <p:cNvPr id="20" name="Shape 18"/>
          <p:cNvSpPr/>
          <p:nvPr/>
        </p:nvSpPr>
        <p:spPr>
          <a:xfrm>
            <a:off x="4937760" y="2331720"/>
            <a:ext cx="109728" cy="109728"/>
          </a:xfrm>
          <a:prstGeom prst="ellipse">
            <a:avLst/>
          </a:prstGeom>
          <a:solidFill>
            <a:srgbClr val="F3F4F6"/>
          </a:solidFill>
          <a:ln/>
        </p:spPr>
      </p:sp>
      <p:sp>
        <p:nvSpPr>
          <p:cNvPr id="21" name="Text 19"/>
          <p:cNvSpPr/>
          <p:nvPr/>
        </p:nvSpPr>
        <p:spPr>
          <a:xfrm>
            <a:off x="5212080" y="2240280"/>
            <a:ext cx="3291840" cy="457200"/>
          </a:xfrm>
          <a:prstGeom prst="rect">
            <a:avLst/>
          </a:prstGeom>
          <a:noFill/>
          <a:ln/>
        </p:spPr>
        <p:txBody>
          <a:bodyPr wrap="square" rtlCol="0" anchor="ctr"/>
          <a:lstStyle/>
          <a:p>
            <a:pPr indent="0" marL="0">
              <a:buNone/>
            </a:pPr>
            <a:r>
              <a:rPr lang="en-US" sz="1300" dirty="0">
                <a:solidFill>
                  <a:srgbClr val="FFFFFF"/>
                </a:solidFill>
                <a:latin typeface="Microsoft YaHei" pitchFamily="34" charset="0"/>
                <a:ea typeface="Microsoft YaHei" pitchFamily="34" charset="-122"/>
                <a:cs typeface="Microsoft YaHei" pitchFamily="34" charset="-120"/>
              </a:rPr>
              <a:t>固定模板，稳定交付</a:t>
            </a:r>
            <a:endParaRPr lang="en-US" sz="1300" dirty="0"/>
          </a:p>
        </p:txBody>
      </p:sp>
      <p:sp>
        <p:nvSpPr>
          <p:cNvPr id="22" name="Shape 20"/>
          <p:cNvSpPr/>
          <p:nvPr/>
        </p:nvSpPr>
        <p:spPr>
          <a:xfrm>
            <a:off x="4937760" y="2926080"/>
            <a:ext cx="109728" cy="109728"/>
          </a:xfrm>
          <a:prstGeom prst="ellipse">
            <a:avLst/>
          </a:prstGeom>
          <a:solidFill>
            <a:srgbClr val="F3F4F6"/>
          </a:solidFill>
          <a:ln/>
        </p:spPr>
      </p:sp>
      <p:sp>
        <p:nvSpPr>
          <p:cNvPr id="23" name="Text 21"/>
          <p:cNvSpPr/>
          <p:nvPr/>
        </p:nvSpPr>
        <p:spPr>
          <a:xfrm>
            <a:off x="5212080" y="2834640"/>
            <a:ext cx="3291840" cy="457200"/>
          </a:xfrm>
          <a:prstGeom prst="rect">
            <a:avLst/>
          </a:prstGeom>
          <a:noFill/>
          <a:ln/>
        </p:spPr>
        <p:txBody>
          <a:bodyPr wrap="square" rtlCol="0" anchor="ctr"/>
          <a:lstStyle/>
          <a:p>
            <a:pPr indent="0" marL="0">
              <a:buNone/>
            </a:pPr>
            <a:r>
              <a:rPr lang="en-US" sz="1300" dirty="0">
                <a:solidFill>
                  <a:srgbClr val="FFFFFF"/>
                </a:solidFill>
                <a:latin typeface="Microsoft YaHei" pitchFamily="34" charset="0"/>
                <a:ea typeface="Microsoft YaHei" pitchFamily="34" charset="-122"/>
                <a:cs typeface="Microsoft YaHei" pitchFamily="34" charset="-120"/>
              </a:rPr>
              <a:t>知识库支撑，有据可查</a:t>
            </a:r>
            <a:endParaRPr lang="en-US" sz="1300" dirty="0"/>
          </a:p>
        </p:txBody>
      </p:sp>
      <p:sp>
        <p:nvSpPr>
          <p:cNvPr id="24" name="Shape 22"/>
          <p:cNvSpPr/>
          <p:nvPr/>
        </p:nvSpPr>
        <p:spPr>
          <a:xfrm>
            <a:off x="4937760" y="3520440"/>
            <a:ext cx="109728" cy="109728"/>
          </a:xfrm>
          <a:prstGeom prst="ellipse">
            <a:avLst/>
          </a:prstGeom>
          <a:solidFill>
            <a:srgbClr val="F3F4F6"/>
          </a:solidFill>
          <a:ln/>
        </p:spPr>
      </p:sp>
      <p:sp>
        <p:nvSpPr>
          <p:cNvPr id="25" name="Text 23"/>
          <p:cNvSpPr/>
          <p:nvPr/>
        </p:nvSpPr>
        <p:spPr>
          <a:xfrm>
            <a:off x="5212080" y="3429000"/>
            <a:ext cx="3291840" cy="457200"/>
          </a:xfrm>
          <a:prstGeom prst="rect">
            <a:avLst/>
          </a:prstGeom>
          <a:noFill/>
          <a:ln/>
        </p:spPr>
        <p:txBody>
          <a:bodyPr wrap="square" rtlCol="0" anchor="ctr"/>
          <a:lstStyle/>
          <a:p>
            <a:pPr indent="0" marL="0">
              <a:buNone/>
            </a:pPr>
            <a:r>
              <a:rPr lang="en-US" sz="1300" dirty="0">
                <a:solidFill>
                  <a:srgbClr val="FFFFFF"/>
                </a:solidFill>
                <a:latin typeface="Microsoft YaHei" pitchFamily="34" charset="0"/>
                <a:ea typeface="Microsoft YaHei" pitchFamily="34" charset="-122"/>
                <a:cs typeface="Microsoft YaHei" pitchFamily="34" charset="-120"/>
              </a:rPr>
              <a:t>凭规则判断</a:t>
            </a:r>
            <a:endParaRPr lang="en-US" sz="1300" dirty="0"/>
          </a:p>
        </p:txBody>
      </p:sp>
      <p:sp>
        <p:nvSpPr>
          <p:cNvPr id="26" name="Shape 24"/>
          <p:cNvSpPr/>
          <p:nvPr/>
        </p:nvSpPr>
        <p:spPr>
          <a:xfrm>
            <a:off x="8503920" y="4663440"/>
            <a:ext cx="365760" cy="365760"/>
          </a:xfrm>
          <a:prstGeom prst="ellipse">
            <a:avLst/>
          </a:prstGeom>
          <a:solidFill>
            <a:srgbClr val="EF4444"/>
          </a:solidFill>
          <a:ln/>
        </p:spPr>
      </p:sp>
      <p:sp>
        <p:nvSpPr>
          <p:cNvPr id="27" name="Text 25"/>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274320"/>
            <a:ext cx="8229600" cy="548640"/>
          </a:xfrm>
          <a:prstGeom prst="rect">
            <a:avLst/>
          </a:prstGeom>
          <a:noFill/>
          <a:ln/>
        </p:spPr>
        <p:txBody>
          <a:bodyPr wrap="square" rtlCol="0" anchor="ctr"/>
          <a:lstStyle/>
          <a:p>
            <a:pPr indent="0" marL="0">
              <a:buNone/>
            </a:pPr>
            <a:r>
              <a:rPr lang="en-US" sz="2200" b="1" dirty="0">
                <a:solidFill>
                  <a:srgbClr val="B91C1C"/>
                </a:solidFill>
                <a:latin typeface="Microsoft YaHei" pitchFamily="34" charset="0"/>
                <a:ea typeface="Microsoft YaHei" pitchFamily="34" charset="-122"/>
                <a:cs typeface="Microsoft YaHei" pitchFamily="34" charset="-120"/>
              </a:rPr>
              <a:t>课前必须完成的准备工作</a:t>
            </a:r>
            <a:endParaRPr lang="en-US" sz="2200" dirty="0"/>
          </a:p>
        </p:txBody>
      </p:sp>
      <p:sp>
        <p:nvSpPr>
          <p:cNvPr id="4" name="Shape 2"/>
          <p:cNvSpPr/>
          <p:nvPr/>
        </p:nvSpPr>
        <p:spPr>
          <a:xfrm>
            <a:off x="457200" y="914400"/>
            <a:ext cx="3931920" cy="3657600"/>
          </a:xfrm>
          <a:prstGeom prst="roundRect">
            <a:avLst>
              <a:gd name="adj" fmla="val 2500"/>
            </a:avLst>
          </a:prstGeom>
          <a:solidFill>
            <a:srgbClr val="F3F4F6"/>
          </a:solidFill>
          <a:ln/>
        </p:spPr>
      </p:sp>
      <p:sp>
        <p:nvSpPr>
          <p:cNvPr id="5" name="Shape 3"/>
          <p:cNvSpPr/>
          <p:nvPr/>
        </p:nvSpPr>
        <p:spPr>
          <a:xfrm>
            <a:off x="457200" y="914400"/>
            <a:ext cx="3931920" cy="502920"/>
          </a:xfrm>
          <a:prstGeom prst="rect">
            <a:avLst/>
          </a:prstGeom>
          <a:solidFill>
            <a:srgbClr val="B91C1C"/>
          </a:solidFill>
          <a:ln/>
        </p:spPr>
      </p:sp>
      <p:sp>
        <p:nvSpPr>
          <p:cNvPr id="6" name="Text 4"/>
          <p:cNvSpPr/>
          <p:nvPr/>
        </p:nvSpPr>
        <p:spPr>
          <a:xfrm>
            <a:off x="548640" y="960120"/>
            <a:ext cx="3749040" cy="411480"/>
          </a:xfrm>
          <a:prstGeom prst="rect">
            <a:avLst/>
          </a:prstGeom>
          <a:noFill/>
          <a:ln/>
        </p:spPr>
        <p:txBody>
          <a:bodyPr wrap="square" rtlCol="0" anchor="ctr"/>
          <a:lstStyle/>
          <a:p>
            <a:pPr indent="0" marL="0">
              <a:buNone/>
            </a:pPr>
            <a:r>
              <a:rPr lang="en-US" sz="1300" b="1" dirty="0">
                <a:solidFill>
                  <a:srgbClr val="FFFFFF"/>
                </a:solidFill>
                <a:latin typeface="Microsoft YaHei" pitchFamily="34" charset="0"/>
                <a:ea typeface="Microsoft YaHei" pitchFamily="34" charset="-122"/>
                <a:cs typeface="Microsoft YaHei" pitchFamily="34" charset="-120"/>
              </a:rPr>
              <a:t>第一项：真实工作记录（5-8条）</a:t>
            </a:r>
            <a:endParaRPr lang="en-US" sz="1300" dirty="0"/>
          </a:p>
        </p:txBody>
      </p:sp>
      <p:sp>
        <p:nvSpPr>
          <p:cNvPr id="7" name="Shape 5"/>
          <p:cNvSpPr/>
          <p:nvPr/>
        </p:nvSpPr>
        <p:spPr>
          <a:xfrm>
            <a:off x="640080" y="1600200"/>
            <a:ext cx="91440" cy="91440"/>
          </a:xfrm>
          <a:prstGeom prst="ellipse">
            <a:avLst/>
          </a:prstGeom>
          <a:solidFill>
            <a:srgbClr val="EF4444"/>
          </a:solidFill>
          <a:ln/>
        </p:spPr>
      </p:sp>
      <p:sp>
        <p:nvSpPr>
          <p:cNvPr id="8" name="Text 6"/>
          <p:cNvSpPr/>
          <p:nvPr/>
        </p:nvSpPr>
        <p:spPr>
          <a:xfrm>
            <a:off x="868680" y="1508760"/>
            <a:ext cx="3383280" cy="457200"/>
          </a:xfrm>
          <a:prstGeom prst="rect">
            <a:avLst/>
          </a:prstGeom>
          <a:noFill/>
          <a:ln/>
        </p:spPr>
        <p:txBody>
          <a:bodyPr wrap="square" rtlCol="0" anchor="ctr"/>
          <a:lstStyle/>
          <a:p>
            <a:pPr indent="0" marL="0">
              <a:buNone/>
            </a:pPr>
            <a:r>
              <a:rPr lang="en-US" sz="1200" dirty="0">
                <a:solidFill>
                  <a:srgbClr val="374151"/>
                </a:solidFill>
                <a:latin typeface="Microsoft YaHei" pitchFamily="34" charset="0"/>
                <a:ea typeface="Microsoft YaHei" pitchFamily="34" charset="-122"/>
                <a:cs typeface="Microsoft YaHei" pitchFamily="34" charset="-120"/>
              </a:rPr>
              <a:t>覆盖2个不同业务场景</a:t>
            </a:r>
            <a:endParaRPr lang="en-US" sz="1200" dirty="0"/>
          </a:p>
        </p:txBody>
      </p:sp>
      <p:sp>
        <p:nvSpPr>
          <p:cNvPr id="9" name="Shape 7"/>
          <p:cNvSpPr/>
          <p:nvPr/>
        </p:nvSpPr>
        <p:spPr>
          <a:xfrm>
            <a:off x="640080" y="2103120"/>
            <a:ext cx="91440" cy="91440"/>
          </a:xfrm>
          <a:prstGeom prst="ellipse">
            <a:avLst/>
          </a:prstGeom>
          <a:solidFill>
            <a:srgbClr val="EF4444"/>
          </a:solidFill>
          <a:ln/>
        </p:spPr>
      </p:sp>
      <p:sp>
        <p:nvSpPr>
          <p:cNvPr id="10" name="Text 8"/>
          <p:cNvSpPr/>
          <p:nvPr/>
        </p:nvSpPr>
        <p:spPr>
          <a:xfrm>
            <a:off x="868680" y="2011680"/>
            <a:ext cx="3383280" cy="457200"/>
          </a:xfrm>
          <a:prstGeom prst="rect">
            <a:avLst/>
          </a:prstGeom>
          <a:noFill/>
          <a:ln/>
        </p:spPr>
        <p:txBody>
          <a:bodyPr wrap="square" rtlCol="0" anchor="ctr"/>
          <a:lstStyle/>
          <a:p>
            <a:pPr indent="0" marL="0">
              <a:buNone/>
            </a:pPr>
            <a:r>
              <a:rPr lang="en-US" sz="1200" dirty="0">
                <a:solidFill>
                  <a:srgbClr val="374151"/>
                </a:solidFill>
                <a:latin typeface="Microsoft YaHei" pitchFamily="34" charset="0"/>
                <a:ea typeface="Microsoft YaHei" pitchFamily="34" charset="-122"/>
                <a:cs typeface="Microsoft YaHei" pitchFamily="34" charset="-120"/>
              </a:rPr>
              <a:t>每条包含：任务、处理方式、判断依据</a:t>
            </a:r>
            <a:endParaRPr lang="en-US" sz="1200" dirty="0"/>
          </a:p>
        </p:txBody>
      </p:sp>
      <p:sp>
        <p:nvSpPr>
          <p:cNvPr id="11" name="Shape 9"/>
          <p:cNvSpPr/>
          <p:nvPr/>
        </p:nvSpPr>
        <p:spPr>
          <a:xfrm>
            <a:off x="640080" y="2606040"/>
            <a:ext cx="91440" cy="91440"/>
          </a:xfrm>
          <a:prstGeom prst="ellipse">
            <a:avLst/>
          </a:prstGeom>
          <a:solidFill>
            <a:srgbClr val="EF4444"/>
          </a:solidFill>
          <a:ln/>
        </p:spPr>
      </p:sp>
      <p:sp>
        <p:nvSpPr>
          <p:cNvPr id="12" name="Text 10"/>
          <p:cNvSpPr/>
          <p:nvPr/>
        </p:nvSpPr>
        <p:spPr>
          <a:xfrm>
            <a:off x="868680" y="2514600"/>
            <a:ext cx="3383280" cy="457200"/>
          </a:xfrm>
          <a:prstGeom prst="rect">
            <a:avLst/>
          </a:prstGeom>
          <a:noFill/>
          <a:ln/>
        </p:spPr>
        <p:txBody>
          <a:bodyPr wrap="square" rtlCol="0" anchor="ctr"/>
          <a:lstStyle/>
          <a:p>
            <a:pPr indent="0" marL="0">
              <a:buNone/>
            </a:pPr>
            <a:r>
              <a:rPr lang="en-US" sz="1200" dirty="0">
                <a:solidFill>
                  <a:srgbClr val="374151"/>
                </a:solidFill>
                <a:latin typeface="Microsoft YaHei" pitchFamily="34" charset="0"/>
                <a:ea typeface="Microsoft YaHei" pitchFamily="34" charset="-122"/>
                <a:cs typeface="Microsoft YaHei" pitchFamily="34" charset="-120"/>
              </a:rPr>
              <a:t>需要脱敏处理</a:t>
            </a:r>
            <a:endParaRPr lang="en-US" sz="1200" dirty="0"/>
          </a:p>
        </p:txBody>
      </p:sp>
      <p:sp>
        <p:nvSpPr>
          <p:cNvPr id="13" name="Shape 11"/>
          <p:cNvSpPr/>
          <p:nvPr/>
        </p:nvSpPr>
        <p:spPr>
          <a:xfrm>
            <a:off x="4754880" y="914400"/>
            <a:ext cx="3931920" cy="3657600"/>
          </a:xfrm>
          <a:prstGeom prst="roundRect">
            <a:avLst>
              <a:gd name="adj" fmla="val 2500"/>
            </a:avLst>
          </a:prstGeom>
          <a:solidFill>
            <a:srgbClr val="F3F4F6"/>
          </a:solidFill>
          <a:ln/>
        </p:spPr>
      </p:sp>
      <p:sp>
        <p:nvSpPr>
          <p:cNvPr id="14" name="Shape 12"/>
          <p:cNvSpPr/>
          <p:nvPr/>
        </p:nvSpPr>
        <p:spPr>
          <a:xfrm>
            <a:off x="4754880" y="914400"/>
            <a:ext cx="3931920" cy="502920"/>
          </a:xfrm>
          <a:prstGeom prst="rect">
            <a:avLst/>
          </a:prstGeom>
          <a:solidFill>
            <a:srgbClr val="EF4444"/>
          </a:solidFill>
          <a:ln/>
        </p:spPr>
      </p:sp>
      <p:sp>
        <p:nvSpPr>
          <p:cNvPr id="15" name="Text 13"/>
          <p:cNvSpPr/>
          <p:nvPr/>
        </p:nvSpPr>
        <p:spPr>
          <a:xfrm>
            <a:off x="4846320" y="960120"/>
            <a:ext cx="3749040" cy="411480"/>
          </a:xfrm>
          <a:prstGeom prst="rect">
            <a:avLst/>
          </a:prstGeom>
          <a:noFill/>
          <a:ln/>
        </p:spPr>
        <p:txBody>
          <a:bodyPr wrap="square" rtlCol="0" anchor="ctr"/>
          <a:lstStyle/>
          <a:p>
            <a:pPr indent="0" marL="0">
              <a:buNone/>
            </a:pPr>
            <a:r>
              <a:rPr lang="en-US" sz="1300" b="1" dirty="0">
                <a:solidFill>
                  <a:srgbClr val="FFFFFF"/>
                </a:solidFill>
                <a:latin typeface="Microsoft YaHei" pitchFamily="34" charset="0"/>
                <a:ea typeface="Microsoft YaHei" pitchFamily="34" charset="-122"/>
                <a:cs typeface="Microsoft YaHei" pitchFamily="34" charset="-120"/>
              </a:rPr>
              <a:t>第二项：业务相关文档（10-15份）</a:t>
            </a:r>
            <a:endParaRPr lang="en-US" sz="1300" dirty="0"/>
          </a:p>
        </p:txBody>
      </p:sp>
      <p:sp>
        <p:nvSpPr>
          <p:cNvPr id="16" name="Shape 14"/>
          <p:cNvSpPr/>
          <p:nvPr/>
        </p:nvSpPr>
        <p:spPr>
          <a:xfrm>
            <a:off x="4937760" y="1600200"/>
            <a:ext cx="91440" cy="91440"/>
          </a:xfrm>
          <a:prstGeom prst="ellipse">
            <a:avLst/>
          </a:prstGeom>
          <a:solidFill>
            <a:srgbClr val="B91C1C"/>
          </a:solidFill>
          <a:ln/>
        </p:spPr>
      </p:sp>
      <p:sp>
        <p:nvSpPr>
          <p:cNvPr id="17" name="Text 15"/>
          <p:cNvSpPr/>
          <p:nvPr/>
        </p:nvSpPr>
        <p:spPr>
          <a:xfrm>
            <a:off x="5166360" y="1508760"/>
            <a:ext cx="3383280" cy="457200"/>
          </a:xfrm>
          <a:prstGeom prst="rect">
            <a:avLst/>
          </a:prstGeom>
          <a:noFill/>
          <a:ln/>
        </p:spPr>
        <p:txBody>
          <a:bodyPr wrap="square" rtlCol="0" anchor="ctr"/>
          <a:lstStyle/>
          <a:p>
            <a:pPr indent="0" marL="0">
              <a:buNone/>
            </a:pPr>
            <a:r>
              <a:rPr lang="en-US" sz="1200" dirty="0">
                <a:solidFill>
                  <a:srgbClr val="374151"/>
                </a:solidFill>
                <a:latin typeface="Microsoft YaHei" pitchFamily="34" charset="0"/>
                <a:ea typeface="Microsoft YaHei" pitchFamily="34" charset="-122"/>
                <a:cs typeface="Microsoft YaHei" pitchFamily="34" charset="-120"/>
              </a:rPr>
              <a:t>SOP、话术模板、历史案例</a:t>
            </a:r>
            <a:endParaRPr lang="en-US" sz="1200" dirty="0"/>
          </a:p>
        </p:txBody>
      </p:sp>
      <p:sp>
        <p:nvSpPr>
          <p:cNvPr id="18" name="Shape 16"/>
          <p:cNvSpPr/>
          <p:nvPr/>
        </p:nvSpPr>
        <p:spPr>
          <a:xfrm>
            <a:off x="4937760" y="2103120"/>
            <a:ext cx="91440" cy="91440"/>
          </a:xfrm>
          <a:prstGeom prst="ellipse">
            <a:avLst/>
          </a:prstGeom>
          <a:solidFill>
            <a:srgbClr val="B91C1C"/>
          </a:solidFill>
          <a:ln/>
        </p:spPr>
      </p:sp>
      <p:sp>
        <p:nvSpPr>
          <p:cNvPr id="19" name="Text 17"/>
          <p:cNvSpPr/>
          <p:nvPr/>
        </p:nvSpPr>
        <p:spPr>
          <a:xfrm>
            <a:off x="5166360" y="2011680"/>
            <a:ext cx="3383280" cy="457200"/>
          </a:xfrm>
          <a:prstGeom prst="rect">
            <a:avLst/>
          </a:prstGeom>
          <a:noFill/>
          <a:ln/>
        </p:spPr>
        <p:txBody>
          <a:bodyPr wrap="square" rtlCol="0" anchor="ctr"/>
          <a:lstStyle/>
          <a:p>
            <a:pPr indent="0" marL="0">
              <a:buNone/>
            </a:pPr>
            <a:r>
              <a:rPr lang="en-US" sz="1200" dirty="0">
                <a:solidFill>
                  <a:srgbClr val="374151"/>
                </a:solidFill>
                <a:latin typeface="Microsoft YaHei" pitchFamily="34" charset="0"/>
                <a:ea typeface="Microsoft YaHei" pitchFamily="34" charset="-122"/>
                <a:cs typeface="Microsoft YaHei" pitchFamily="34" charset="-120"/>
              </a:rPr>
              <a:t>数据报告、培训材料</a:t>
            </a:r>
            <a:endParaRPr lang="en-US" sz="1200" dirty="0"/>
          </a:p>
        </p:txBody>
      </p:sp>
      <p:sp>
        <p:nvSpPr>
          <p:cNvPr id="20" name="Shape 18"/>
          <p:cNvSpPr/>
          <p:nvPr/>
        </p:nvSpPr>
        <p:spPr>
          <a:xfrm>
            <a:off x="4937760" y="2606040"/>
            <a:ext cx="91440" cy="91440"/>
          </a:xfrm>
          <a:prstGeom prst="ellipse">
            <a:avLst/>
          </a:prstGeom>
          <a:solidFill>
            <a:srgbClr val="B91C1C"/>
          </a:solidFill>
          <a:ln/>
        </p:spPr>
      </p:sp>
      <p:sp>
        <p:nvSpPr>
          <p:cNvPr id="21" name="Text 19"/>
          <p:cNvSpPr/>
          <p:nvPr/>
        </p:nvSpPr>
        <p:spPr>
          <a:xfrm>
            <a:off x="5166360" y="2514600"/>
            <a:ext cx="3383280" cy="457200"/>
          </a:xfrm>
          <a:prstGeom prst="rect">
            <a:avLst/>
          </a:prstGeom>
          <a:noFill/>
          <a:ln/>
        </p:spPr>
        <p:txBody>
          <a:bodyPr wrap="square" rtlCol="0" anchor="ctr"/>
          <a:lstStyle/>
          <a:p>
            <a:pPr indent="0" marL="0">
              <a:buNone/>
            </a:pPr>
            <a:r>
              <a:rPr lang="en-US" sz="1200" dirty="0">
                <a:solidFill>
                  <a:srgbClr val="374151"/>
                </a:solidFill>
                <a:latin typeface="Microsoft YaHei" pitchFamily="34" charset="0"/>
                <a:ea typeface="Microsoft YaHei" pitchFamily="34" charset="-122"/>
                <a:cs typeface="Microsoft YaHei" pitchFamily="34" charset="-120"/>
              </a:rPr>
              <a:t>不需要完美，原始格式也行</a:t>
            </a:r>
            <a:endParaRPr lang="en-US" sz="1200" dirty="0"/>
          </a:p>
        </p:txBody>
      </p:sp>
      <p:sp>
        <p:nvSpPr>
          <p:cNvPr id="22" name="Shape 20"/>
          <p:cNvSpPr/>
          <p:nvPr/>
        </p:nvSpPr>
        <p:spPr>
          <a:xfrm>
            <a:off x="8503920" y="4663440"/>
            <a:ext cx="365760" cy="365760"/>
          </a:xfrm>
          <a:prstGeom prst="ellipse">
            <a:avLst/>
          </a:prstGeom>
          <a:solidFill>
            <a:srgbClr val="EF4444"/>
          </a:solidFill>
          <a:ln/>
        </p:spPr>
      </p:sp>
      <p:sp>
        <p:nvSpPr>
          <p:cNvPr id="23" name="Text 21"/>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274320"/>
            <a:ext cx="8229600" cy="548640"/>
          </a:xfrm>
          <a:prstGeom prst="rect">
            <a:avLst/>
          </a:prstGeom>
          <a:noFill/>
          <a:ln/>
        </p:spPr>
        <p:txBody>
          <a:bodyPr wrap="square" rtlCol="0" anchor="ctr"/>
          <a:lstStyle/>
          <a:p>
            <a:pPr indent="0" marL="0">
              <a:buNone/>
            </a:pPr>
            <a:r>
              <a:rPr lang="en-US" sz="2400" b="1" dirty="0">
                <a:solidFill>
                  <a:srgbClr val="B91C1C"/>
                </a:solidFill>
                <a:latin typeface="Microsoft YaHei" pitchFamily="34" charset="0"/>
                <a:ea typeface="Microsoft YaHei" pitchFamily="34" charset="-122"/>
                <a:cs typeface="Microsoft YaHei" pitchFamily="34" charset="-120"/>
              </a:rPr>
              <a:t>真实工作记录示例</a:t>
            </a:r>
            <a:endParaRPr lang="en-US" sz="2400" dirty="0"/>
          </a:p>
        </p:txBody>
      </p:sp>
      <p:sp>
        <p:nvSpPr>
          <p:cNvPr id="4" name="Shape 2"/>
          <p:cNvSpPr/>
          <p:nvPr/>
        </p:nvSpPr>
        <p:spPr>
          <a:xfrm>
            <a:off x="457200" y="914400"/>
            <a:ext cx="3931920" cy="2103120"/>
          </a:xfrm>
          <a:prstGeom prst="roundRect">
            <a:avLst>
              <a:gd name="adj" fmla="val 4348"/>
            </a:avLst>
          </a:prstGeom>
          <a:solidFill>
            <a:srgbClr val="F3F4F6"/>
          </a:solidFill>
          <a:ln/>
        </p:spPr>
      </p:sp>
      <p:sp>
        <p:nvSpPr>
          <p:cNvPr id="5" name="Shape 3"/>
          <p:cNvSpPr/>
          <p:nvPr/>
        </p:nvSpPr>
        <p:spPr>
          <a:xfrm>
            <a:off x="457200" y="914400"/>
            <a:ext cx="137160" cy="502920"/>
          </a:xfrm>
          <a:prstGeom prst="rect">
            <a:avLst/>
          </a:prstGeom>
          <a:solidFill>
            <a:srgbClr val="374151"/>
          </a:solidFill>
          <a:ln/>
        </p:spPr>
      </p:sp>
      <p:sp>
        <p:nvSpPr>
          <p:cNvPr id="6" name="Text 4"/>
          <p:cNvSpPr/>
          <p:nvPr/>
        </p:nvSpPr>
        <p:spPr>
          <a:xfrm>
            <a:off x="731520" y="960120"/>
            <a:ext cx="3474720" cy="411480"/>
          </a:xfrm>
          <a:prstGeom prst="rect">
            <a:avLst/>
          </a:prstGeom>
          <a:noFill/>
          <a:ln/>
        </p:spPr>
        <p:txBody>
          <a:bodyPr wrap="square" rtlCol="0" anchor="ctr"/>
          <a:lstStyle/>
          <a:p>
            <a:pPr indent="0" marL="0">
              <a:buNone/>
            </a:pPr>
            <a:r>
              <a:rPr lang="en-US" sz="1400" b="1" dirty="0">
                <a:solidFill>
                  <a:srgbClr val="374151"/>
                </a:solidFill>
                <a:latin typeface="Microsoft YaHei" pitchFamily="34" charset="0"/>
                <a:ea typeface="Microsoft YaHei" pitchFamily="34" charset="-122"/>
                <a:cs typeface="Microsoft YaHei" pitchFamily="34" charset="-120"/>
              </a:rPr>
              <a:t>X 太简略</a:t>
            </a:r>
            <a:endParaRPr lang="en-US" sz="1400" dirty="0"/>
          </a:p>
        </p:txBody>
      </p:sp>
      <p:sp>
        <p:nvSpPr>
          <p:cNvPr id="7" name="Text 5"/>
          <p:cNvSpPr/>
          <p:nvPr/>
        </p:nvSpPr>
        <p:spPr>
          <a:xfrm>
            <a:off x="640080" y="1463040"/>
            <a:ext cx="3566160" cy="1371600"/>
          </a:xfrm>
          <a:prstGeom prst="rect">
            <a:avLst/>
          </a:prstGeom>
          <a:noFill/>
          <a:ln/>
        </p:spPr>
        <p:txBody>
          <a:bodyPr wrap="square" rtlCol="0" anchor="t"/>
          <a:lstStyle/>
          <a:p>
            <a:pPr indent="0" marL="0">
              <a:buNone/>
            </a:pPr>
            <a:r>
              <a:rPr lang="en-US" sz="1300" i="1" dirty="0">
                <a:solidFill>
                  <a:srgbClr val="374151"/>
                </a:solidFill>
                <a:latin typeface="Microsoft YaHei" pitchFamily="34" charset="0"/>
                <a:ea typeface="Microsoft YaHei" pitchFamily="34" charset="-122"/>
                <a:cs typeface="Microsoft YaHei" pitchFamily="34" charset="-120"/>
              </a:rPr>
              <a:t>处理了一个客户投诉</a:t>
            </a:r>
            <a:endParaRPr lang="en-US" sz="1300" dirty="0"/>
          </a:p>
        </p:txBody>
      </p:sp>
      <p:sp>
        <p:nvSpPr>
          <p:cNvPr id="8" name="Shape 6"/>
          <p:cNvSpPr/>
          <p:nvPr/>
        </p:nvSpPr>
        <p:spPr>
          <a:xfrm>
            <a:off x="4754880" y="914400"/>
            <a:ext cx="3931920" cy="2103120"/>
          </a:xfrm>
          <a:prstGeom prst="roundRect">
            <a:avLst>
              <a:gd name="adj" fmla="val 4348"/>
            </a:avLst>
          </a:prstGeom>
          <a:solidFill>
            <a:srgbClr val="B91C1C"/>
          </a:solidFill>
          <a:ln/>
        </p:spPr>
      </p:sp>
      <p:sp>
        <p:nvSpPr>
          <p:cNvPr id="9" name="Shape 7"/>
          <p:cNvSpPr/>
          <p:nvPr/>
        </p:nvSpPr>
        <p:spPr>
          <a:xfrm>
            <a:off x="4754880" y="914400"/>
            <a:ext cx="137160" cy="502920"/>
          </a:xfrm>
          <a:prstGeom prst="rect">
            <a:avLst/>
          </a:prstGeom>
          <a:solidFill>
            <a:srgbClr val="EF4444"/>
          </a:solidFill>
          <a:ln/>
        </p:spPr>
      </p:sp>
      <p:sp>
        <p:nvSpPr>
          <p:cNvPr id="10" name="Text 8"/>
          <p:cNvSpPr/>
          <p:nvPr/>
        </p:nvSpPr>
        <p:spPr>
          <a:xfrm>
            <a:off x="5029200" y="960120"/>
            <a:ext cx="3474720" cy="411480"/>
          </a:xfrm>
          <a:prstGeom prst="rect">
            <a:avLst/>
          </a:prstGeom>
          <a:noFill/>
          <a:ln/>
        </p:spPr>
        <p:txBody>
          <a:bodyPr wrap="square" rtlCol="0" anchor="ctr"/>
          <a:lstStyle/>
          <a:p>
            <a:pPr indent="0" marL="0">
              <a:buNone/>
            </a:pPr>
            <a:r>
              <a:rPr lang="en-US" sz="1400" b="1" dirty="0">
                <a:solidFill>
                  <a:srgbClr val="FFFFFF"/>
                </a:solidFill>
                <a:latin typeface="Microsoft YaHei" pitchFamily="34" charset="0"/>
                <a:ea typeface="Microsoft YaHei" pitchFamily="34" charset="-122"/>
                <a:cs typeface="Microsoft YaHei" pitchFamily="34" charset="-120"/>
              </a:rPr>
              <a:t>V 可用</a:t>
            </a:r>
            <a:endParaRPr lang="en-US" sz="1400" dirty="0"/>
          </a:p>
        </p:txBody>
      </p:sp>
      <p:sp>
        <p:nvSpPr>
          <p:cNvPr id="11" name="Text 9"/>
          <p:cNvSpPr/>
          <p:nvPr/>
        </p:nvSpPr>
        <p:spPr>
          <a:xfrm>
            <a:off x="4937760" y="1463040"/>
            <a:ext cx="3566160" cy="1371600"/>
          </a:xfrm>
          <a:prstGeom prst="rect">
            <a:avLst/>
          </a:prstGeom>
          <a:noFill/>
          <a:ln/>
        </p:spPr>
        <p:txBody>
          <a:bodyPr wrap="square" rtlCol="0" anchor="t"/>
          <a:lstStyle/>
          <a:p>
            <a:pPr indent="0" marL="0">
              <a:buNone/>
            </a:pPr>
            <a:r>
              <a:rPr lang="en-US" sz="1300" dirty="0">
                <a:solidFill>
                  <a:srgbClr val="FFFFFF"/>
                </a:solidFill>
                <a:latin typeface="Microsoft YaHei" pitchFamily="34" charset="0"/>
                <a:ea typeface="Microsoft YaHei" pitchFamily="34" charset="-122"/>
                <a:cs typeface="Microsoft YaHei" pitchFamily="34" charset="-120"/>
              </a:rPr>
              <a:t>客户反馈订单延迟3天...按照公司标准给了200元优惠券，并承诺下次订单优先出库</a:t>
            </a:r>
            <a:endParaRPr lang="en-US" sz="1300" dirty="0"/>
          </a:p>
        </p:txBody>
      </p:sp>
      <p:sp>
        <p:nvSpPr>
          <p:cNvPr id="12" name="Shape 10"/>
          <p:cNvSpPr/>
          <p:nvPr/>
        </p:nvSpPr>
        <p:spPr>
          <a:xfrm>
            <a:off x="457200" y="3200400"/>
            <a:ext cx="8229600" cy="1280160"/>
          </a:xfrm>
          <a:prstGeom prst="roundRect">
            <a:avLst>
              <a:gd name="adj" fmla="val 5714"/>
            </a:avLst>
          </a:prstGeom>
          <a:solidFill>
            <a:srgbClr val="F3F4F6"/>
          </a:solidFill>
          <a:ln/>
        </p:spPr>
      </p:sp>
      <p:sp>
        <p:nvSpPr>
          <p:cNvPr id="13" name="Text 11"/>
          <p:cNvSpPr/>
          <p:nvPr/>
        </p:nvSpPr>
        <p:spPr>
          <a:xfrm>
            <a:off x="640080" y="3291840"/>
            <a:ext cx="7863840" cy="365760"/>
          </a:xfrm>
          <a:prstGeom prst="rect">
            <a:avLst/>
          </a:prstGeom>
          <a:noFill/>
          <a:ln/>
        </p:spPr>
        <p:txBody>
          <a:bodyPr wrap="square" rtlCol="0" anchor="ctr"/>
          <a:lstStyle/>
          <a:p>
            <a:pPr indent="0" marL="0">
              <a:buNone/>
            </a:pPr>
            <a:r>
              <a:rPr lang="en-US" sz="1300" b="1" dirty="0">
                <a:solidFill>
                  <a:srgbClr val="B91C1C"/>
                </a:solidFill>
                <a:latin typeface="Microsoft YaHei" pitchFamily="34" charset="0"/>
                <a:ea typeface="Microsoft YaHei" pitchFamily="34" charset="-122"/>
                <a:cs typeface="Microsoft YaHei" pitchFamily="34" charset="-120"/>
              </a:rPr>
              <a:t>后者包含：</a:t>
            </a:r>
            <a:endParaRPr lang="en-US" sz="1300" dirty="0"/>
          </a:p>
        </p:txBody>
      </p:sp>
      <p:sp>
        <p:nvSpPr>
          <p:cNvPr id="14" name="Text 12"/>
          <p:cNvSpPr/>
          <p:nvPr/>
        </p:nvSpPr>
        <p:spPr>
          <a:xfrm>
            <a:off x="640080" y="3657600"/>
            <a:ext cx="2560320" cy="640080"/>
          </a:xfrm>
          <a:prstGeom prst="rect">
            <a:avLst/>
          </a:prstGeom>
          <a:noFill/>
          <a:ln/>
        </p:spPr>
        <p:txBody>
          <a:bodyPr wrap="square" rtlCol="0" anchor="ctr"/>
          <a:lstStyle/>
          <a:p>
            <a:pPr indent="0" marL="0">
              <a:buNone/>
            </a:pPr>
            <a:r>
              <a:rPr lang="en-US" sz="1200" dirty="0">
                <a:solidFill>
                  <a:srgbClr val="374151"/>
                </a:solidFill>
                <a:latin typeface="Microsoft YaHei" pitchFamily="34" charset="0"/>
                <a:ea typeface="Microsoft YaHei" pitchFamily="34" charset="-122"/>
                <a:cs typeface="Microsoft YaHei" pitchFamily="34" charset="-120"/>
              </a:rPr>
              <a:t>触发条件：供应链原因</a:t>
            </a:r>
            <a:endParaRPr lang="en-US" sz="1200" dirty="0"/>
          </a:p>
        </p:txBody>
      </p:sp>
      <p:sp>
        <p:nvSpPr>
          <p:cNvPr id="15" name="Text 13"/>
          <p:cNvSpPr/>
          <p:nvPr/>
        </p:nvSpPr>
        <p:spPr>
          <a:xfrm>
            <a:off x="3383280" y="3657600"/>
            <a:ext cx="2560320" cy="640080"/>
          </a:xfrm>
          <a:prstGeom prst="rect">
            <a:avLst/>
          </a:prstGeom>
          <a:noFill/>
          <a:ln/>
        </p:spPr>
        <p:txBody>
          <a:bodyPr wrap="square" rtlCol="0" anchor="ctr"/>
          <a:lstStyle/>
          <a:p>
            <a:pPr indent="0" marL="0">
              <a:buNone/>
            </a:pPr>
            <a:r>
              <a:rPr lang="en-US" sz="1200" dirty="0">
                <a:solidFill>
                  <a:srgbClr val="374151"/>
                </a:solidFill>
                <a:latin typeface="Microsoft YaHei" pitchFamily="34" charset="0"/>
                <a:ea typeface="Microsoft YaHei" pitchFamily="34" charset="-122"/>
                <a:cs typeface="Microsoft YaHei" pitchFamily="34" charset="-120"/>
              </a:rPr>
              <a:t>行动规则：标准补偿金额</a:t>
            </a:r>
            <a:endParaRPr lang="en-US" sz="1200" dirty="0"/>
          </a:p>
        </p:txBody>
      </p:sp>
      <p:sp>
        <p:nvSpPr>
          <p:cNvPr id="16" name="Text 14"/>
          <p:cNvSpPr/>
          <p:nvPr/>
        </p:nvSpPr>
        <p:spPr>
          <a:xfrm>
            <a:off x="6126480" y="3657600"/>
            <a:ext cx="2560320" cy="640080"/>
          </a:xfrm>
          <a:prstGeom prst="rect">
            <a:avLst/>
          </a:prstGeom>
          <a:noFill/>
          <a:ln/>
        </p:spPr>
        <p:txBody>
          <a:bodyPr wrap="square" rtlCol="0" anchor="ctr"/>
          <a:lstStyle/>
          <a:p>
            <a:pPr indent="0" marL="0">
              <a:buNone/>
            </a:pPr>
            <a:r>
              <a:rPr lang="en-US" sz="1200" dirty="0">
                <a:solidFill>
                  <a:srgbClr val="374151"/>
                </a:solidFill>
                <a:latin typeface="Microsoft YaHei" pitchFamily="34" charset="0"/>
                <a:ea typeface="Microsoft YaHei" pitchFamily="34" charset="-122"/>
                <a:cs typeface="Microsoft YaHei" pitchFamily="34" charset="-120"/>
              </a:rPr>
              <a:t>附加处理：系统备注</a:t>
            </a:r>
            <a:endParaRPr lang="en-US" sz="1200" dirty="0"/>
          </a:p>
        </p:txBody>
      </p:sp>
      <p:sp>
        <p:nvSpPr>
          <p:cNvPr id="17" name="Shape 15"/>
          <p:cNvSpPr/>
          <p:nvPr/>
        </p:nvSpPr>
        <p:spPr>
          <a:xfrm>
            <a:off x="8503920" y="4663440"/>
            <a:ext cx="365760" cy="365760"/>
          </a:xfrm>
          <a:prstGeom prst="ellipse">
            <a:avLst/>
          </a:prstGeom>
          <a:solidFill>
            <a:srgbClr val="EF4444"/>
          </a:solidFill>
          <a:ln/>
        </p:spPr>
      </p:sp>
      <p:sp>
        <p:nvSpPr>
          <p:cNvPr id="18" name="Text 16"/>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274320"/>
            <a:ext cx="8229600" cy="548640"/>
          </a:xfrm>
          <a:prstGeom prst="rect">
            <a:avLst/>
          </a:prstGeom>
          <a:noFill/>
          <a:ln/>
        </p:spPr>
        <p:txBody>
          <a:bodyPr wrap="square" rtlCol="0" anchor="ctr"/>
          <a:lstStyle/>
          <a:p>
            <a:pPr indent="0" marL="0">
              <a:buNone/>
            </a:pPr>
            <a:r>
              <a:rPr lang="en-US" sz="2400" b="1" dirty="0">
                <a:solidFill>
                  <a:srgbClr val="B91C1C"/>
                </a:solidFill>
                <a:latin typeface="Microsoft YaHei" pitchFamily="34" charset="0"/>
                <a:ea typeface="Microsoft YaHei" pitchFamily="34" charset="-122"/>
                <a:cs typeface="Microsoft YaHei" pitchFamily="34" charset="-120"/>
              </a:rPr>
              <a:t>业务文档收集清单</a:t>
            </a:r>
            <a:endParaRPr lang="en-US" sz="2400" dirty="0"/>
          </a:p>
        </p:txBody>
      </p:sp>
      <p:sp>
        <p:nvSpPr>
          <p:cNvPr id="4" name="Shape 2"/>
          <p:cNvSpPr/>
          <p:nvPr/>
        </p:nvSpPr>
        <p:spPr>
          <a:xfrm>
            <a:off x="457200" y="1005840"/>
            <a:ext cx="8229600" cy="502920"/>
          </a:xfrm>
          <a:prstGeom prst="rect">
            <a:avLst/>
          </a:prstGeom>
          <a:solidFill>
            <a:srgbClr val="B91C1C"/>
          </a:solidFill>
          <a:ln/>
        </p:spPr>
      </p:sp>
      <p:sp>
        <p:nvSpPr>
          <p:cNvPr id="5" name="Text 3"/>
          <p:cNvSpPr/>
          <p:nvPr/>
        </p:nvSpPr>
        <p:spPr>
          <a:xfrm>
            <a:off x="457200" y="1005840"/>
            <a:ext cx="4114800" cy="502920"/>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文档类型</a:t>
            </a:r>
            <a:endParaRPr lang="en-US" sz="1400" dirty="0"/>
          </a:p>
        </p:txBody>
      </p:sp>
      <p:sp>
        <p:nvSpPr>
          <p:cNvPr id="6" name="Text 4"/>
          <p:cNvSpPr/>
          <p:nvPr/>
        </p:nvSpPr>
        <p:spPr>
          <a:xfrm>
            <a:off x="4572000" y="1005840"/>
            <a:ext cx="4114800" cy="502920"/>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用途</a:t>
            </a:r>
            <a:endParaRPr lang="en-US" sz="1400" dirty="0"/>
          </a:p>
        </p:txBody>
      </p:sp>
      <p:sp>
        <p:nvSpPr>
          <p:cNvPr id="7" name="Shape 5"/>
          <p:cNvSpPr/>
          <p:nvPr/>
        </p:nvSpPr>
        <p:spPr>
          <a:xfrm>
            <a:off x="457200" y="1508760"/>
            <a:ext cx="8229600" cy="640080"/>
          </a:xfrm>
          <a:prstGeom prst="rect">
            <a:avLst/>
          </a:prstGeom>
          <a:solidFill>
            <a:srgbClr val="F3F4F6"/>
          </a:solidFill>
          <a:ln/>
        </p:spPr>
      </p:sp>
      <p:sp>
        <p:nvSpPr>
          <p:cNvPr id="8" name="Text 6"/>
          <p:cNvSpPr/>
          <p:nvPr/>
        </p:nvSpPr>
        <p:spPr>
          <a:xfrm>
            <a:off x="640080" y="1508760"/>
            <a:ext cx="3931920" cy="640080"/>
          </a:xfrm>
          <a:prstGeom prst="rect">
            <a:avLst/>
          </a:prstGeom>
          <a:noFill/>
          <a:ln/>
        </p:spPr>
        <p:txBody>
          <a:bodyPr wrap="square" rtlCol="0" anchor="ctr"/>
          <a:lstStyle/>
          <a:p>
            <a:pPr indent="0" marL="0">
              <a:buNone/>
            </a:pPr>
            <a:r>
              <a:rPr lang="en-US" sz="1300" dirty="0">
                <a:solidFill>
                  <a:srgbClr val="B91C1C"/>
                </a:solidFill>
                <a:latin typeface="Microsoft YaHei" pitchFamily="34" charset="0"/>
                <a:ea typeface="Microsoft YaHei" pitchFamily="34" charset="-122"/>
                <a:cs typeface="Microsoft YaHei" pitchFamily="34" charset="-120"/>
              </a:rPr>
              <a:t>政策手册/SOP</a:t>
            </a:r>
            <a:endParaRPr lang="en-US" sz="1300" dirty="0"/>
          </a:p>
        </p:txBody>
      </p:sp>
      <p:sp>
        <p:nvSpPr>
          <p:cNvPr id="9" name="Text 7"/>
          <p:cNvSpPr/>
          <p:nvPr/>
        </p:nvSpPr>
        <p:spPr>
          <a:xfrm>
            <a:off x="4572000" y="1508760"/>
            <a:ext cx="3931920" cy="64008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规则依据</a:t>
            </a:r>
            <a:endParaRPr lang="en-US" sz="1300" dirty="0"/>
          </a:p>
        </p:txBody>
      </p:sp>
      <p:sp>
        <p:nvSpPr>
          <p:cNvPr id="10" name="Shape 8"/>
          <p:cNvSpPr/>
          <p:nvPr/>
        </p:nvSpPr>
        <p:spPr>
          <a:xfrm>
            <a:off x="457200" y="2148840"/>
            <a:ext cx="8229600" cy="640080"/>
          </a:xfrm>
          <a:prstGeom prst="rect">
            <a:avLst/>
          </a:prstGeom>
          <a:solidFill>
            <a:srgbClr val="FFFFFF"/>
          </a:solidFill>
          <a:ln/>
        </p:spPr>
      </p:sp>
      <p:sp>
        <p:nvSpPr>
          <p:cNvPr id="11" name="Text 9"/>
          <p:cNvSpPr/>
          <p:nvPr/>
        </p:nvSpPr>
        <p:spPr>
          <a:xfrm>
            <a:off x="640080" y="2148840"/>
            <a:ext cx="3931920" cy="640080"/>
          </a:xfrm>
          <a:prstGeom prst="rect">
            <a:avLst/>
          </a:prstGeom>
          <a:noFill/>
          <a:ln/>
        </p:spPr>
        <p:txBody>
          <a:bodyPr wrap="square" rtlCol="0" anchor="ctr"/>
          <a:lstStyle/>
          <a:p>
            <a:pPr indent="0" marL="0">
              <a:buNone/>
            </a:pPr>
            <a:r>
              <a:rPr lang="en-US" sz="1300" dirty="0">
                <a:solidFill>
                  <a:srgbClr val="B91C1C"/>
                </a:solidFill>
                <a:latin typeface="Microsoft YaHei" pitchFamily="34" charset="0"/>
                <a:ea typeface="Microsoft YaHei" pitchFamily="34" charset="-122"/>
                <a:cs typeface="Microsoft YaHei" pitchFamily="34" charset="-120"/>
              </a:rPr>
              <a:t>话术模板/FAQ</a:t>
            </a:r>
            <a:endParaRPr lang="en-US" sz="1300" dirty="0"/>
          </a:p>
        </p:txBody>
      </p:sp>
      <p:sp>
        <p:nvSpPr>
          <p:cNvPr id="12" name="Text 10"/>
          <p:cNvSpPr/>
          <p:nvPr/>
        </p:nvSpPr>
        <p:spPr>
          <a:xfrm>
            <a:off x="4572000" y="2148840"/>
            <a:ext cx="3931920" cy="64008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知识库素材</a:t>
            </a:r>
            <a:endParaRPr lang="en-US" sz="1300" dirty="0"/>
          </a:p>
        </p:txBody>
      </p:sp>
      <p:sp>
        <p:nvSpPr>
          <p:cNvPr id="13" name="Shape 11"/>
          <p:cNvSpPr/>
          <p:nvPr/>
        </p:nvSpPr>
        <p:spPr>
          <a:xfrm>
            <a:off x="457200" y="2788920"/>
            <a:ext cx="8229600" cy="640080"/>
          </a:xfrm>
          <a:prstGeom prst="rect">
            <a:avLst/>
          </a:prstGeom>
          <a:solidFill>
            <a:srgbClr val="F3F4F6"/>
          </a:solidFill>
          <a:ln/>
        </p:spPr>
      </p:sp>
      <p:sp>
        <p:nvSpPr>
          <p:cNvPr id="14" name="Text 12"/>
          <p:cNvSpPr/>
          <p:nvPr/>
        </p:nvSpPr>
        <p:spPr>
          <a:xfrm>
            <a:off x="640080" y="2788920"/>
            <a:ext cx="3931920" cy="640080"/>
          </a:xfrm>
          <a:prstGeom prst="rect">
            <a:avLst/>
          </a:prstGeom>
          <a:noFill/>
          <a:ln/>
        </p:spPr>
        <p:txBody>
          <a:bodyPr wrap="square" rtlCol="0" anchor="ctr"/>
          <a:lstStyle/>
          <a:p>
            <a:pPr indent="0" marL="0">
              <a:buNone/>
            </a:pPr>
            <a:r>
              <a:rPr lang="en-US" sz="1300" dirty="0">
                <a:solidFill>
                  <a:srgbClr val="B91C1C"/>
                </a:solidFill>
                <a:latin typeface="Microsoft YaHei" pitchFamily="34" charset="0"/>
                <a:ea typeface="Microsoft YaHei" pitchFamily="34" charset="-122"/>
                <a:cs typeface="Microsoft YaHei" pitchFamily="34" charset="-120"/>
              </a:rPr>
              <a:t>历史处理案例</a:t>
            </a:r>
            <a:endParaRPr lang="en-US" sz="1300" dirty="0"/>
          </a:p>
        </p:txBody>
      </p:sp>
      <p:sp>
        <p:nvSpPr>
          <p:cNvPr id="15" name="Text 13"/>
          <p:cNvSpPr/>
          <p:nvPr/>
        </p:nvSpPr>
        <p:spPr>
          <a:xfrm>
            <a:off x="4572000" y="2788920"/>
            <a:ext cx="3931920" cy="64008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案例库（脱敏）</a:t>
            </a:r>
            <a:endParaRPr lang="en-US" sz="1300" dirty="0"/>
          </a:p>
        </p:txBody>
      </p:sp>
      <p:sp>
        <p:nvSpPr>
          <p:cNvPr id="16" name="Shape 14"/>
          <p:cNvSpPr/>
          <p:nvPr/>
        </p:nvSpPr>
        <p:spPr>
          <a:xfrm>
            <a:off x="457200" y="3429000"/>
            <a:ext cx="8229600" cy="640080"/>
          </a:xfrm>
          <a:prstGeom prst="rect">
            <a:avLst/>
          </a:prstGeom>
          <a:solidFill>
            <a:srgbClr val="FFFFFF"/>
          </a:solidFill>
          <a:ln/>
        </p:spPr>
      </p:sp>
      <p:sp>
        <p:nvSpPr>
          <p:cNvPr id="17" name="Text 15"/>
          <p:cNvSpPr/>
          <p:nvPr/>
        </p:nvSpPr>
        <p:spPr>
          <a:xfrm>
            <a:off x="640080" y="3429000"/>
            <a:ext cx="3931920" cy="640080"/>
          </a:xfrm>
          <a:prstGeom prst="rect">
            <a:avLst/>
          </a:prstGeom>
          <a:noFill/>
          <a:ln/>
        </p:spPr>
        <p:txBody>
          <a:bodyPr wrap="square" rtlCol="0" anchor="ctr"/>
          <a:lstStyle/>
          <a:p>
            <a:pPr indent="0" marL="0">
              <a:buNone/>
            </a:pPr>
            <a:r>
              <a:rPr lang="en-US" sz="1300" dirty="0">
                <a:solidFill>
                  <a:srgbClr val="B91C1C"/>
                </a:solidFill>
                <a:latin typeface="Microsoft YaHei" pitchFamily="34" charset="0"/>
                <a:ea typeface="Microsoft YaHei" pitchFamily="34" charset="-122"/>
                <a:cs typeface="Microsoft YaHei" pitchFamily="34" charset="-120"/>
              </a:rPr>
              <a:t>数据报告模板</a:t>
            </a:r>
            <a:endParaRPr lang="en-US" sz="1300" dirty="0"/>
          </a:p>
        </p:txBody>
      </p:sp>
      <p:sp>
        <p:nvSpPr>
          <p:cNvPr id="18" name="Text 16"/>
          <p:cNvSpPr/>
          <p:nvPr/>
        </p:nvSpPr>
        <p:spPr>
          <a:xfrm>
            <a:off x="4572000" y="3429000"/>
            <a:ext cx="3931920" cy="64008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输出格式参考</a:t>
            </a:r>
            <a:endParaRPr lang="en-US" sz="1300" dirty="0"/>
          </a:p>
        </p:txBody>
      </p:sp>
      <p:sp>
        <p:nvSpPr>
          <p:cNvPr id="19" name="Shape 17"/>
          <p:cNvSpPr/>
          <p:nvPr/>
        </p:nvSpPr>
        <p:spPr>
          <a:xfrm>
            <a:off x="8503920" y="4663440"/>
            <a:ext cx="365760" cy="365760"/>
          </a:xfrm>
          <a:prstGeom prst="ellipse">
            <a:avLst/>
          </a:prstGeom>
          <a:solidFill>
            <a:srgbClr val="EF4444"/>
          </a:solidFill>
          <a:ln/>
        </p:spPr>
      </p:sp>
      <p:sp>
        <p:nvSpPr>
          <p:cNvPr id="20" name="Text 18"/>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274320"/>
            <a:ext cx="8229600" cy="548640"/>
          </a:xfrm>
          <a:prstGeom prst="rect">
            <a:avLst/>
          </a:prstGeom>
          <a:noFill/>
          <a:ln/>
        </p:spPr>
        <p:txBody>
          <a:bodyPr wrap="square" rtlCol="0" anchor="ctr"/>
          <a:lstStyle/>
          <a:p>
            <a:pPr indent="0" marL="0">
              <a:buNone/>
            </a:pPr>
            <a:r>
              <a:rPr lang="en-US" sz="2400" b="1" dirty="0">
                <a:solidFill>
                  <a:srgbClr val="B91C1C"/>
                </a:solidFill>
                <a:latin typeface="Microsoft YaHei" pitchFamily="34" charset="0"/>
                <a:ea typeface="Microsoft YaHei" pitchFamily="34" charset="-122"/>
                <a:cs typeface="Microsoft YaHei" pitchFamily="34" charset="-120"/>
              </a:rPr>
              <a:t>课前准备自查清单</a:t>
            </a:r>
            <a:endParaRPr lang="en-US" sz="2400" dirty="0"/>
          </a:p>
        </p:txBody>
      </p:sp>
      <p:sp>
        <p:nvSpPr>
          <p:cNvPr id="4" name="Shape 2"/>
          <p:cNvSpPr/>
          <p:nvPr/>
        </p:nvSpPr>
        <p:spPr>
          <a:xfrm>
            <a:off x="457200" y="1097280"/>
            <a:ext cx="365760" cy="365760"/>
          </a:xfrm>
          <a:prstGeom prst="roundRect">
            <a:avLst>
              <a:gd name="adj" fmla="val 12500"/>
            </a:avLst>
          </a:prstGeom>
          <a:solidFill>
            <a:srgbClr val="FFFFFF"/>
          </a:solidFill>
          <a:ln w="25400">
            <a:solidFill>
              <a:srgbClr val="EF4444"/>
            </a:solidFill>
            <a:prstDash val="solid"/>
          </a:ln>
        </p:spPr>
      </p:sp>
      <p:sp>
        <p:nvSpPr>
          <p:cNvPr id="5" name="Text 3"/>
          <p:cNvSpPr/>
          <p:nvPr/>
        </p:nvSpPr>
        <p:spPr>
          <a:xfrm>
            <a:off x="1005840" y="1097280"/>
            <a:ext cx="7680960" cy="457200"/>
          </a:xfrm>
          <a:prstGeom prst="rect">
            <a:avLst/>
          </a:prstGeom>
          <a:noFill/>
          <a:ln/>
        </p:spPr>
        <p:txBody>
          <a:bodyPr wrap="square" rtlCol="0" anchor="ctr"/>
          <a:lstStyle/>
          <a:p>
            <a:pPr indent="0" marL="0">
              <a:buNone/>
            </a:pPr>
            <a:r>
              <a:rPr lang="en-US" sz="1500" dirty="0">
                <a:solidFill>
                  <a:srgbClr val="374151"/>
                </a:solidFill>
                <a:latin typeface="Microsoft YaHei" pitchFamily="34" charset="0"/>
                <a:ea typeface="Microsoft YaHei" pitchFamily="34" charset="-122"/>
                <a:cs typeface="Microsoft YaHei" pitchFamily="34" charset="-120"/>
              </a:rPr>
              <a:t>真实工作记录5-8条（已脱敏）</a:t>
            </a:r>
            <a:endParaRPr lang="en-US" sz="1500" dirty="0"/>
          </a:p>
        </p:txBody>
      </p:sp>
      <p:sp>
        <p:nvSpPr>
          <p:cNvPr id="6" name="Shape 4"/>
          <p:cNvSpPr/>
          <p:nvPr/>
        </p:nvSpPr>
        <p:spPr>
          <a:xfrm>
            <a:off x="457200" y="1874520"/>
            <a:ext cx="365760" cy="365760"/>
          </a:xfrm>
          <a:prstGeom prst="roundRect">
            <a:avLst>
              <a:gd name="adj" fmla="val 12500"/>
            </a:avLst>
          </a:prstGeom>
          <a:solidFill>
            <a:srgbClr val="FFFFFF"/>
          </a:solidFill>
          <a:ln w="25400">
            <a:solidFill>
              <a:srgbClr val="EF4444"/>
            </a:solidFill>
            <a:prstDash val="solid"/>
          </a:ln>
        </p:spPr>
      </p:sp>
      <p:sp>
        <p:nvSpPr>
          <p:cNvPr id="7" name="Text 5"/>
          <p:cNvSpPr/>
          <p:nvPr/>
        </p:nvSpPr>
        <p:spPr>
          <a:xfrm>
            <a:off x="1005840" y="1874520"/>
            <a:ext cx="7680960" cy="457200"/>
          </a:xfrm>
          <a:prstGeom prst="rect">
            <a:avLst/>
          </a:prstGeom>
          <a:noFill/>
          <a:ln/>
        </p:spPr>
        <p:txBody>
          <a:bodyPr wrap="square" rtlCol="0" anchor="ctr"/>
          <a:lstStyle/>
          <a:p>
            <a:pPr indent="0" marL="0">
              <a:buNone/>
            </a:pPr>
            <a:r>
              <a:rPr lang="en-US" sz="1500" dirty="0">
                <a:solidFill>
                  <a:srgbClr val="374151"/>
                </a:solidFill>
                <a:latin typeface="Microsoft YaHei" pitchFamily="34" charset="0"/>
                <a:ea typeface="Microsoft YaHei" pitchFamily="34" charset="-122"/>
                <a:cs typeface="Microsoft YaHei" pitchFamily="34" charset="-120"/>
              </a:rPr>
              <a:t>业务文档10-15份</a:t>
            </a:r>
            <a:endParaRPr lang="en-US" sz="1500" dirty="0"/>
          </a:p>
        </p:txBody>
      </p:sp>
      <p:sp>
        <p:nvSpPr>
          <p:cNvPr id="8" name="Shape 6"/>
          <p:cNvSpPr/>
          <p:nvPr/>
        </p:nvSpPr>
        <p:spPr>
          <a:xfrm>
            <a:off x="457200" y="2651760"/>
            <a:ext cx="365760" cy="365760"/>
          </a:xfrm>
          <a:prstGeom prst="roundRect">
            <a:avLst>
              <a:gd name="adj" fmla="val 12500"/>
            </a:avLst>
          </a:prstGeom>
          <a:solidFill>
            <a:srgbClr val="FFFFFF"/>
          </a:solidFill>
          <a:ln w="25400">
            <a:solidFill>
              <a:srgbClr val="EF4444"/>
            </a:solidFill>
            <a:prstDash val="solid"/>
          </a:ln>
        </p:spPr>
      </p:sp>
      <p:sp>
        <p:nvSpPr>
          <p:cNvPr id="9" name="Text 7"/>
          <p:cNvSpPr/>
          <p:nvPr/>
        </p:nvSpPr>
        <p:spPr>
          <a:xfrm>
            <a:off x="1005840" y="2651760"/>
            <a:ext cx="7680960" cy="457200"/>
          </a:xfrm>
          <a:prstGeom prst="rect">
            <a:avLst/>
          </a:prstGeom>
          <a:noFill/>
          <a:ln/>
        </p:spPr>
        <p:txBody>
          <a:bodyPr wrap="square" rtlCol="0" anchor="ctr"/>
          <a:lstStyle/>
          <a:p>
            <a:pPr indent="0" marL="0">
              <a:buNone/>
            </a:pPr>
            <a:r>
              <a:rPr lang="en-US" sz="1500" dirty="0">
                <a:solidFill>
                  <a:srgbClr val="374151"/>
                </a:solidFill>
                <a:latin typeface="Microsoft YaHei" pitchFamily="34" charset="0"/>
                <a:ea typeface="Microsoft YaHei" pitchFamily="34" charset="-122"/>
                <a:cs typeface="Microsoft YaHei" pitchFamily="34" charset="-120"/>
              </a:rPr>
              <a:t>已安装/登录课程AI平台</a:t>
            </a:r>
            <a:endParaRPr lang="en-US" sz="1500" dirty="0"/>
          </a:p>
        </p:txBody>
      </p:sp>
      <p:sp>
        <p:nvSpPr>
          <p:cNvPr id="10" name="Shape 8"/>
          <p:cNvSpPr/>
          <p:nvPr/>
        </p:nvSpPr>
        <p:spPr>
          <a:xfrm>
            <a:off x="457200" y="3429000"/>
            <a:ext cx="365760" cy="365760"/>
          </a:xfrm>
          <a:prstGeom prst="roundRect">
            <a:avLst>
              <a:gd name="adj" fmla="val 12500"/>
            </a:avLst>
          </a:prstGeom>
          <a:solidFill>
            <a:srgbClr val="FFFFFF"/>
          </a:solidFill>
          <a:ln w="25400">
            <a:solidFill>
              <a:srgbClr val="EF4444"/>
            </a:solidFill>
            <a:prstDash val="solid"/>
          </a:ln>
        </p:spPr>
      </p:sp>
      <p:sp>
        <p:nvSpPr>
          <p:cNvPr id="11" name="Text 9"/>
          <p:cNvSpPr/>
          <p:nvPr/>
        </p:nvSpPr>
        <p:spPr>
          <a:xfrm>
            <a:off x="1005840" y="3429000"/>
            <a:ext cx="7680960" cy="457200"/>
          </a:xfrm>
          <a:prstGeom prst="rect">
            <a:avLst/>
          </a:prstGeom>
          <a:noFill/>
          <a:ln/>
        </p:spPr>
        <p:txBody>
          <a:bodyPr wrap="square" rtlCol="0" anchor="ctr"/>
          <a:lstStyle/>
          <a:p>
            <a:pPr indent="0" marL="0">
              <a:buNone/>
            </a:pPr>
            <a:r>
              <a:rPr lang="en-US" sz="1500" dirty="0">
                <a:solidFill>
                  <a:srgbClr val="374151"/>
                </a:solidFill>
                <a:latin typeface="Microsoft YaHei" pitchFamily="34" charset="0"/>
                <a:ea typeface="Microsoft YaHei" pitchFamily="34" charset="-122"/>
                <a:cs typeface="Microsoft YaHei" pitchFamily="34" charset="-120"/>
              </a:rPr>
              <a:t>对岗位有2个想攻坚的高频场景有想法</a:t>
            </a:r>
            <a:endParaRPr lang="en-US" sz="1500" dirty="0"/>
          </a:p>
        </p:txBody>
      </p:sp>
      <p:sp>
        <p:nvSpPr>
          <p:cNvPr id="12" name="Shape 10"/>
          <p:cNvSpPr/>
          <p:nvPr/>
        </p:nvSpPr>
        <p:spPr>
          <a:xfrm>
            <a:off x="8503920" y="4663440"/>
            <a:ext cx="365760" cy="365760"/>
          </a:xfrm>
          <a:prstGeom prst="ellipse">
            <a:avLst/>
          </a:prstGeom>
          <a:solidFill>
            <a:srgbClr val="EF4444"/>
          </a:solidFill>
          <a:ln/>
        </p:spPr>
      </p:sp>
      <p:sp>
        <p:nvSpPr>
          <p:cNvPr id="13" name="Text 11"/>
          <p:cNvSpPr/>
          <p:nvPr/>
        </p:nvSpPr>
        <p:spPr>
          <a:xfrm>
            <a:off x="8503920" y="4663440"/>
            <a:ext cx="365760" cy="36576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274320"/>
            <a:ext cx="8229600" cy="548640"/>
          </a:xfrm>
          <a:prstGeom prst="rect">
            <a:avLst/>
          </a:prstGeom>
          <a:noFill/>
          <a:ln/>
        </p:spPr>
        <p:txBody>
          <a:bodyPr wrap="square" rtlCol="0" anchor="ctr"/>
          <a:lstStyle/>
          <a:p>
            <a:pPr indent="0" marL="0">
              <a:buNone/>
            </a:pPr>
            <a:r>
              <a:rPr lang="en-US" sz="2400" b="1" dirty="0">
                <a:solidFill>
                  <a:srgbClr val="B91C1C"/>
                </a:solidFill>
                <a:latin typeface="Microsoft YaHei" pitchFamily="34" charset="0"/>
                <a:ea typeface="Microsoft YaHei" pitchFamily="34" charset="-122"/>
                <a:cs typeface="Microsoft YaHei" pitchFamily="34" charset="-120"/>
              </a:rPr>
              <a:t>两天课程总览</a:t>
            </a:r>
            <a:endParaRPr lang="en-US" sz="2400" dirty="0"/>
          </a:p>
        </p:txBody>
      </p:sp>
      <p:sp>
        <p:nvSpPr>
          <p:cNvPr id="4" name="Shape 2"/>
          <p:cNvSpPr/>
          <p:nvPr/>
        </p:nvSpPr>
        <p:spPr>
          <a:xfrm>
            <a:off x="457200" y="914400"/>
            <a:ext cx="3931920" cy="3291840"/>
          </a:xfrm>
          <a:prstGeom prst="roundRect">
            <a:avLst>
              <a:gd name="adj" fmla="val 2778"/>
            </a:avLst>
          </a:prstGeom>
          <a:solidFill>
            <a:srgbClr val="F3F4F6"/>
          </a:solidFill>
          <a:ln/>
        </p:spPr>
      </p:sp>
      <p:sp>
        <p:nvSpPr>
          <p:cNvPr id="5" name="Shape 3"/>
          <p:cNvSpPr/>
          <p:nvPr/>
        </p:nvSpPr>
        <p:spPr>
          <a:xfrm>
            <a:off x="457200" y="914400"/>
            <a:ext cx="3931920" cy="548640"/>
          </a:xfrm>
          <a:prstGeom prst="rect">
            <a:avLst/>
          </a:prstGeom>
          <a:solidFill>
            <a:srgbClr val="B91C1C"/>
          </a:solidFill>
          <a:ln/>
        </p:spPr>
      </p:sp>
      <p:sp>
        <p:nvSpPr>
          <p:cNvPr id="6" name="Text 4"/>
          <p:cNvSpPr/>
          <p:nvPr/>
        </p:nvSpPr>
        <p:spPr>
          <a:xfrm>
            <a:off x="548640" y="960120"/>
            <a:ext cx="3749040" cy="457200"/>
          </a:xfrm>
          <a:prstGeom prst="rect">
            <a:avLst/>
          </a:prstGeom>
          <a:noFill/>
          <a:ln/>
        </p:spPr>
        <p:txBody>
          <a:bodyPr wrap="square" rtlCol="0" anchor="ctr"/>
          <a:lstStyle/>
          <a:p>
            <a:pPr indent="0" marL="0">
              <a:buNone/>
            </a:pPr>
            <a:r>
              <a:rPr lang="en-US" sz="1400" b="1" dirty="0">
                <a:solidFill>
                  <a:srgbClr val="FFFFFF"/>
                </a:solidFill>
                <a:latin typeface="Microsoft YaHei" pitchFamily="34" charset="0"/>
                <a:ea typeface="Microsoft YaHei" pitchFamily="34" charset="-122"/>
                <a:cs typeface="Microsoft YaHei" pitchFamily="34" charset="-120"/>
              </a:rPr>
              <a:t>第一天：设计与构建</a:t>
            </a:r>
            <a:endParaRPr lang="en-US" sz="1400" dirty="0"/>
          </a:p>
        </p:txBody>
      </p:sp>
      <p:sp>
        <p:nvSpPr>
          <p:cNvPr id="7" name="Shape 5"/>
          <p:cNvSpPr/>
          <p:nvPr/>
        </p:nvSpPr>
        <p:spPr>
          <a:xfrm>
            <a:off x="640080" y="1645920"/>
            <a:ext cx="3566160" cy="457200"/>
          </a:xfrm>
          <a:prstGeom prst="roundRect">
            <a:avLst>
              <a:gd name="adj" fmla="val 10000"/>
            </a:avLst>
          </a:prstGeom>
          <a:solidFill>
            <a:srgbClr val="EF4444"/>
          </a:solidFill>
          <a:ln/>
        </p:spPr>
      </p:sp>
      <p:sp>
        <p:nvSpPr>
          <p:cNvPr id="8" name="Text 6"/>
          <p:cNvSpPr/>
          <p:nvPr/>
        </p:nvSpPr>
        <p:spPr>
          <a:xfrm>
            <a:off x="731520" y="1691640"/>
            <a:ext cx="3383280" cy="365760"/>
          </a:xfrm>
          <a:prstGeom prst="rect">
            <a:avLst/>
          </a:prstGeom>
          <a:noFill/>
          <a:ln/>
        </p:spPr>
        <p:txBody>
          <a:bodyPr wrap="square" rtlCol="0" anchor="ctr"/>
          <a:lstStyle/>
          <a:p>
            <a:pPr indent="0" marL="0">
              <a:buNone/>
            </a:pPr>
            <a:r>
              <a:rPr lang="en-US" sz="1200" dirty="0">
                <a:solidFill>
                  <a:srgbClr val="FFFFFF"/>
                </a:solidFill>
                <a:latin typeface="Microsoft YaHei" pitchFamily="34" charset="0"/>
                <a:ea typeface="Microsoft YaHei" pitchFamily="34" charset="-122"/>
                <a:cs typeface="Microsoft YaHei" pitchFamily="34" charset="-120"/>
              </a:rPr>
              <a:t>上午：重新认识数字员工</a:t>
            </a:r>
            <a:endParaRPr lang="en-US" sz="1200" dirty="0"/>
          </a:p>
        </p:txBody>
      </p:sp>
      <p:sp>
        <p:nvSpPr>
          <p:cNvPr id="9" name="Shape 7"/>
          <p:cNvSpPr/>
          <p:nvPr/>
        </p:nvSpPr>
        <p:spPr>
          <a:xfrm>
            <a:off x="640080" y="2240280"/>
            <a:ext cx="3566160" cy="457200"/>
          </a:xfrm>
          <a:prstGeom prst="roundRect">
            <a:avLst>
              <a:gd name="adj" fmla="val 10000"/>
            </a:avLst>
          </a:prstGeom>
          <a:solidFill>
            <a:srgbClr val="EF4444"/>
          </a:solidFill>
          <a:ln/>
        </p:spPr>
      </p:sp>
      <p:sp>
        <p:nvSpPr>
          <p:cNvPr id="10" name="Text 8"/>
          <p:cNvSpPr/>
          <p:nvPr/>
        </p:nvSpPr>
        <p:spPr>
          <a:xfrm>
            <a:off x="731520" y="2286000"/>
            <a:ext cx="3383280" cy="365760"/>
          </a:xfrm>
          <a:prstGeom prst="rect">
            <a:avLst/>
          </a:prstGeom>
          <a:noFill/>
          <a:ln/>
        </p:spPr>
        <p:txBody>
          <a:bodyPr wrap="square" rtlCol="0" anchor="ctr"/>
          <a:lstStyle/>
          <a:p>
            <a:pPr indent="0" marL="0">
              <a:buNone/>
            </a:pPr>
            <a:r>
              <a:rPr lang="en-US" sz="1100" dirty="0">
                <a:solidFill>
                  <a:srgbClr val="FFFFFF"/>
                </a:solidFill>
                <a:latin typeface="Microsoft YaHei" pitchFamily="34" charset="0"/>
                <a:ea typeface="Microsoft YaHei" pitchFamily="34" charset="-122"/>
                <a:cs typeface="Microsoft YaHei" pitchFamily="34" charset="-120"/>
              </a:rPr>
              <a:t>下午：萃取经验、搭建Skill、建立知识库</a:t>
            </a:r>
            <a:endParaRPr lang="en-US" sz="1100" dirty="0"/>
          </a:p>
        </p:txBody>
      </p:sp>
      <p:sp>
        <p:nvSpPr>
          <p:cNvPr id="11" name="Shape 9"/>
          <p:cNvSpPr/>
          <p:nvPr/>
        </p:nvSpPr>
        <p:spPr>
          <a:xfrm>
            <a:off x="4754880" y="914400"/>
            <a:ext cx="3931920" cy="3291840"/>
          </a:xfrm>
          <a:prstGeom prst="roundRect">
            <a:avLst>
              <a:gd name="adj" fmla="val 2778"/>
            </a:avLst>
          </a:prstGeom>
          <a:solidFill>
            <a:srgbClr val="F3F4F6"/>
          </a:solidFill>
          <a:ln/>
        </p:spPr>
      </p:sp>
      <p:sp>
        <p:nvSpPr>
          <p:cNvPr id="12" name="Shape 10"/>
          <p:cNvSpPr/>
          <p:nvPr/>
        </p:nvSpPr>
        <p:spPr>
          <a:xfrm>
            <a:off x="4754880" y="914400"/>
            <a:ext cx="3931920" cy="548640"/>
          </a:xfrm>
          <a:prstGeom prst="rect">
            <a:avLst/>
          </a:prstGeom>
          <a:solidFill>
            <a:srgbClr val="EF4444"/>
          </a:solidFill>
          <a:ln/>
        </p:spPr>
      </p:sp>
      <p:sp>
        <p:nvSpPr>
          <p:cNvPr id="13" name="Text 11"/>
          <p:cNvSpPr/>
          <p:nvPr/>
        </p:nvSpPr>
        <p:spPr>
          <a:xfrm>
            <a:off x="4846320" y="960120"/>
            <a:ext cx="3749040" cy="457200"/>
          </a:xfrm>
          <a:prstGeom prst="rect">
            <a:avLst/>
          </a:prstGeom>
          <a:noFill/>
          <a:ln/>
        </p:spPr>
        <p:txBody>
          <a:bodyPr wrap="square" rtlCol="0" anchor="ctr"/>
          <a:lstStyle/>
          <a:p>
            <a:pPr indent="0" marL="0">
              <a:buNone/>
            </a:pPr>
            <a:r>
              <a:rPr lang="en-US" sz="1400" b="1" dirty="0">
                <a:solidFill>
                  <a:srgbClr val="FFFFFF"/>
                </a:solidFill>
                <a:latin typeface="Microsoft YaHei" pitchFamily="34" charset="0"/>
                <a:ea typeface="Microsoft YaHei" pitchFamily="34" charset="-122"/>
                <a:cs typeface="Microsoft YaHei" pitchFamily="34" charset="-120"/>
              </a:rPr>
              <a:t>第二天：验证与系统化</a:t>
            </a:r>
            <a:endParaRPr lang="en-US" sz="1400" dirty="0"/>
          </a:p>
        </p:txBody>
      </p:sp>
      <p:sp>
        <p:nvSpPr>
          <p:cNvPr id="14" name="Shape 12"/>
          <p:cNvSpPr/>
          <p:nvPr/>
        </p:nvSpPr>
        <p:spPr>
          <a:xfrm>
            <a:off x="4937760" y="1645920"/>
            <a:ext cx="3566160" cy="457200"/>
          </a:xfrm>
          <a:prstGeom prst="roundRect">
            <a:avLst>
              <a:gd name="adj" fmla="val 10000"/>
            </a:avLst>
          </a:prstGeom>
          <a:solidFill>
            <a:srgbClr val="B91C1C"/>
          </a:solidFill>
          <a:ln/>
        </p:spPr>
      </p:sp>
      <p:sp>
        <p:nvSpPr>
          <p:cNvPr id="15" name="Text 13"/>
          <p:cNvSpPr/>
          <p:nvPr/>
        </p:nvSpPr>
        <p:spPr>
          <a:xfrm>
            <a:off x="5029200" y="1691640"/>
            <a:ext cx="3383280" cy="365760"/>
          </a:xfrm>
          <a:prstGeom prst="rect">
            <a:avLst/>
          </a:prstGeom>
          <a:noFill/>
          <a:ln/>
        </p:spPr>
        <p:txBody>
          <a:bodyPr wrap="square" rtlCol="0" anchor="ctr"/>
          <a:lstStyle/>
          <a:p>
            <a:pPr indent="0" marL="0">
              <a:buNone/>
            </a:pPr>
            <a:r>
              <a:rPr lang="en-US" sz="1200" dirty="0">
                <a:solidFill>
                  <a:srgbClr val="FFFFFF"/>
                </a:solidFill>
                <a:latin typeface="Microsoft YaHei" pitchFamily="34" charset="0"/>
                <a:ea typeface="Microsoft YaHei" pitchFamily="34" charset="-122"/>
                <a:cs typeface="Microsoft YaHei" pitchFamily="34" charset="-120"/>
              </a:rPr>
              <a:t>上午：真实验收、配置定时任务</a:t>
            </a:r>
            <a:endParaRPr lang="en-US" sz="1200" dirty="0"/>
          </a:p>
        </p:txBody>
      </p:sp>
      <p:sp>
        <p:nvSpPr>
          <p:cNvPr id="16" name="Shape 14"/>
          <p:cNvSpPr/>
          <p:nvPr/>
        </p:nvSpPr>
        <p:spPr>
          <a:xfrm>
            <a:off x="4937760" y="2240280"/>
            <a:ext cx="3566160" cy="457200"/>
          </a:xfrm>
          <a:prstGeom prst="roundRect">
            <a:avLst>
              <a:gd name="adj" fmla="val 10000"/>
            </a:avLst>
          </a:prstGeom>
          <a:solidFill>
            <a:srgbClr val="B91C1C"/>
          </a:solidFill>
          <a:ln/>
        </p:spPr>
      </p:sp>
      <p:sp>
        <p:nvSpPr>
          <p:cNvPr id="17" name="Text 15"/>
          <p:cNvSpPr/>
          <p:nvPr/>
        </p:nvSpPr>
        <p:spPr>
          <a:xfrm>
            <a:off x="5029200" y="2286000"/>
            <a:ext cx="3383280" cy="365760"/>
          </a:xfrm>
          <a:prstGeom prst="rect">
            <a:avLst/>
          </a:prstGeom>
          <a:noFill/>
          <a:ln/>
        </p:spPr>
        <p:txBody>
          <a:bodyPr wrap="square" rtlCol="0" anchor="ctr"/>
          <a:lstStyle/>
          <a:p>
            <a:pPr indent="0" marL="0">
              <a:buNone/>
            </a:pPr>
            <a:r>
              <a:rPr lang="en-US" sz="1200" dirty="0">
                <a:solidFill>
                  <a:srgbClr val="FFFFFF"/>
                </a:solidFill>
                <a:latin typeface="Microsoft YaHei" pitchFamily="34" charset="0"/>
                <a:ea typeface="Microsoft YaHei" pitchFamily="34" charset="-122"/>
                <a:cs typeface="Microsoft YaHei" pitchFamily="34" charset="-120"/>
              </a:rPr>
              <a:t>下午：从个人工具到组织资产</a:t>
            </a:r>
            <a:endParaRPr lang="en-US" sz="1200" dirty="0"/>
          </a:p>
        </p:txBody>
      </p:sp>
      <p:sp>
        <p:nvSpPr>
          <p:cNvPr id="18" name="Shape 16"/>
          <p:cNvSpPr/>
          <p:nvPr/>
        </p:nvSpPr>
        <p:spPr>
          <a:xfrm>
            <a:off x="4434840" y="2286000"/>
            <a:ext cx="274320" cy="0"/>
          </a:xfrm>
          <a:prstGeom prst="line">
            <a:avLst/>
          </a:prstGeom>
          <a:noFill/>
          <a:ln w="25400">
            <a:solidFill>
              <a:srgbClr val="EF4444"/>
            </a:solidFill>
            <a:prstDash val="solid"/>
          </a:ln>
        </p:spPr>
      </p:sp>
      <p:sp>
        <p:nvSpPr>
          <p:cNvPr id="19" name="Shape 17"/>
          <p:cNvSpPr/>
          <p:nvPr/>
        </p:nvSpPr>
        <p:spPr>
          <a:xfrm>
            <a:off x="8503920" y="4663440"/>
            <a:ext cx="365760" cy="365760"/>
          </a:xfrm>
          <a:prstGeom prst="ellipse">
            <a:avLst/>
          </a:prstGeom>
          <a:solidFill>
            <a:srgbClr val="EF4444"/>
          </a:solidFill>
          <a:ln/>
        </p:spPr>
      </p:sp>
      <p:sp>
        <p:nvSpPr>
          <p:cNvPr id="20" name="Text 18"/>
          <p:cNvSpPr/>
          <p:nvPr/>
        </p:nvSpPr>
        <p:spPr>
          <a:xfrm>
            <a:off x="8503920" y="4663440"/>
            <a:ext cx="365760" cy="36576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274320"/>
            <a:ext cx="8229600" cy="548640"/>
          </a:xfrm>
          <a:prstGeom prst="rect">
            <a:avLst/>
          </a:prstGeom>
          <a:noFill/>
          <a:ln/>
        </p:spPr>
        <p:txBody>
          <a:bodyPr wrap="square" rtlCol="0" anchor="ctr"/>
          <a:lstStyle/>
          <a:p>
            <a:pPr indent="0" marL="0">
              <a:buNone/>
            </a:pPr>
            <a:r>
              <a:rPr lang="en-US" sz="2400" b="1" dirty="0">
                <a:solidFill>
                  <a:srgbClr val="B91C1C"/>
                </a:solidFill>
                <a:latin typeface="Microsoft YaHei" pitchFamily="34" charset="0"/>
                <a:ea typeface="Microsoft YaHei" pitchFamily="34" charset="-122"/>
                <a:cs typeface="Microsoft YaHei" pitchFamily="34" charset="-120"/>
              </a:rPr>
              <a:t>关键提示</a:t>
            </a:r>
            <a:endParaRPr lang="en-US" sz="2400" dirty="0"/>
          </a:p>
        </p:txBody>
      </p:sp>
      <p:sp>
        <p:nvSpPr>
          <p:cNvPr id="4" name="Shape 2"/>
          <p:cNvSpPr/>
          <p:nvPr/>
        </p:nvSpPr>
        <p:spPr>
          <a:xfrm>
            <a:off x="457200" y="1097280"/>
            <a:ext cx="8229600" cy="2743200"/>
          </a:xfrm>
          <a:prstGeom prst="roundRect">
            <a:avLst>
              <a:gd name="adj" fmla="val 4000"/>
            </a:avLst>
          </a:prstGeom>
          <a:solidFill>
            <a:srgbClr val="B91C1C"/>
          </a:solidFill>
          <a:ln/>
        </p:spPr>
      </p:sp>
      <p:sp>
        <p:nvSpPr>
          <p:cNvPr id="5" name="Shape 3"/>
          <p:cNvSpPr/>
          <p:nvPr/>
        </p:nvSpPr>
        <p:spPr>
          <a:xfrm>
            <a:off x="457200" y="1097280"/>
            <a:ext cx="182880" cy="2743200"/>
          </a:xfrm>
          <a:prstGeom prst="rect">
            <a:avLst/>
          </a:prstGeom>
          <a:solidFill>
            <a:srgbClr val="EF4444"/>
          </a:solidFill>
          <a:ln/>
        </p:spPr>
      </p:sp>
      <p:sp>
        <p:nvSpPr>
          <p:cNvPr id="6" name="Text 4"/>
          <p:cNvSpPr/>
          <p:nvPr/>
        </p:nvSpPr>
        <p:spPr>
          <a:xfrm>
            <a:off x="914400" y="1371600"/>
            <a:ext cx="7498080" cy="2194560"/>
          </a:xfrm>
          <a:prstGeom prst="rect">
            <a:avLst/>
          </a:prstGeom>
          <a:noFill/>
          <a:ln/>
        </p:spPr>
        <p:txBody>
          <a:bodyPr wrap="square" rtlCol="0" anchor="ctr"/>
          <a:lstStyle/>
          <a:p>
            <a:pPr indent="0" marL="0">
              <a:buNone/>
            </a:pPr>
            <a:r>
              <a:rPr lang="en-US" sz="2000" b="1" dirty="0">
                <a:solidFill>
                  <a:srgbClr val="FFFFFF"/>
                </a:solidFill>
                <a:latin typeface="Microsoft YaHei" pitchFamily="34" charset="0"/>
                <a:ea typeface="Microsoft YaHei" pitchFamily="34" charset="-122"/>
                <a:cs typeface="Microsoft YaHei" pitchFamily="34" charset="-120"/>
              </a:rPr>
              <a:t>第一天下午选定的业务场景，会贯穿你接下来所有的练习。两天结束，你会发现自己的产出是一条完整的链路，而不是几个独立的练习。</a:t>
            </a:r>
            <a:endParaRPr lang="en-US" sz="2000" dirty="0"/>
          </a:p>
        </p:txBody>
      </p:sp>
      <p:sp>
        <p:nvSpPr>
          <p:cNvPr id="7" name="Shape 5"/>
          <p:cNvSpPr/>
          <p:nvPr/>
        </p:nvSpPr>
        <p:spPr>
          <a:xfrm>
            <a:off x="457200" y="4114800"/>
            <a:ext cx="8229600" cy="36576"/>
          </a:xfrm>
          <a:prstGeom prst="rect">
            <a:avLst/>
          </a:prstGeom>
          <a:solidFill>
            <a:srgbClr val="EF4444"/>
          </a:solidFill>
          <a:ln/>
        </p:spPr>
      </p:sp>
      <p:sp>
        <p:nvSpPr>
          <p:cNvPr id="8" name="Shape 6"/>
          <p:cNvSpPr/>
          <p:nvPr/>
        </p:nvSpPr>
        <p:spPr>
          <a:xfrm>
            <a:off x="8503920" y="4663440"/>
            <a:ext cx="365760" cy="365760"/>
          </a:xfrm>
          <a:prstGeom prst="ellipse">
            <a:avLst/>
          </a:prstGeom>
          <a:solidFill>
            <a:srgbClr val="EF4444"/>
          </a:solidFill>
          <a:ln/>
        </p:spPr>
      </p:sp>
      <p:sp>
        <p:nvSpPr>
          <p:cNvPr id="9" name="Text 7"/>
          <p:cNvSpPr/>
          <p:nvPr/>
        </p:nvSpPr>
        <p:spPr>
          <a:xfrm>
            <a:off x="8503920" y="4663440"/>
            <a:ext cx="365760" cy="36576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B91C1C"/>
        </a:solidFill>
      </p:bgPr>
    </p:bg>
    <p:spTree>
      <p:nvGrpSpPr>
        <p:cNvPr id="1" name=""/>
        <p:cNvGrpSpPr/>
        <p:nvPr/>
      </p:nvGrpSpPr>
      <p:grpSpPr>
        <a:xfrm>
          <a:off x="0" y="0"/>
          <a:ext cx="0" cy="0"/>
          <a:chOff x="0" y="0"/>
          <a:chExt cx="0" cy="0"/>
        </a:xfrm>
      </p:grpSpPr>
      <p:sp>
        <p:nvSpPr>
          <p:cNvPr id="2" name="Shape 0"/>
          <p:cNvSpPr/>
          <p:nvPr/>
        </p:nvSpPr>
        <p:spPr>
          <a:xfrm>
            <a:off x="0" y="2194560"/>
            <a:ext cx="9144000" cy="54864"/>
          </a:xfrm>
          <a:prstGeom prst="rect">
            <a:avLst/>
          </a:prstGeom>
          <a:solidFill>
            <a:srgbClr val="EF4444"/>
          </a:solidFill>
          <a:ln/>
        </p:spPr>
      </p:sp>
      <p:sp>
        <p:nvSpPr>
          <p:cNvPr id="3" name="Text 1"/>
          <p:cNvSpPr/>
          <p:nvPr/>
        </p:nvSpPr>
        <p:spPr>
          <a:xfrm>
            <a:off x="548640" y="1645920"/>
            <a:ext cx="1828800" cy="1097280"/>
          </a:xfrm>
          <a:prstGeom prst="rect">
            <a:avLst/>
          </a:prstGeom>
          <a:noFill/>
          <a:ln/>
        </p:spPr>
        <p:txBody>
          <a:bodyPr wrap="square" rtlCol="0" anchor="ctr"/>
          <a:lstStyle/>
          <a:p>
            <a:pPr indent="0" marL="0">
              <a:buNone/>
            </a:pPr>
            <a:r>
              <a:rPr lang="en-US" sz="7200" b="1" dirty="0">
                <a:solidFill>
                  <a:srgbClr val="FFFFFF"/>
                </a:solidFill>
                <a:latin typeface="Arial" pitchFamily="34" charset="0"/>
                <a:ea typeface="Arial" pitchFamily="34" charset="-122"/>
                <a:cs typeface="Arial" pitchFamily="34" charset="-120"/>
              </a:rPr>
              <a:t>01</a:t>
            </a:r>
            <a:endParaRPr lang="en-US" sz="7200" dirty="0"/>
          </a:p>
        </p:txBody>
      </p:sp>
      <p:sp>
        <p:nvSpPr>
          <p:cNvPr id="4" name="Text 2"/>
          <p:cNvSpPr/>
          <p:nvPr/>
        </p:nvSpPr>
        <p:spPr>
          <a:xfrm>
            <a:off x="548640" y="2377440"/>
            <a:ext cx="7315200" cy="822960"/>
          </a:xfrm>
          <a:prstGeom prst="rect">
            <a:avLst/>
          </a:prstGeom>
          <a:noFill/>
          <a:ln/>
        </p:spPr>
        <p:txBody>
          <a:bodyPr wrap="square"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重新认识数字员工</a:t>
            </a:r>
            <a:endParaRPr lang="en-US" sz="4000" dirty="0"/>
          </a:p>
        </p:txBody>
      </p:sp>
      <p:sp>
        <p:nvSpPr>
          <p:cNvPr id="5" name="Text 3"/>
          <p:cNvSpPr/>
          <p:nvPr/>
        </p:nvSpPr>
        <p:spPr>
          <a:xfrm>
            <a:off x="548640" y="3291840"/>
            <a:ext cx="7315200" cy="548640"/>
          </a:xfrm>
          <a:prstGeom prst="rect">
            <a:avLst/>
          </a:prstGeom>
          <a:noFill/>
          <a:ln/>
        </p:spPr>
        <p:txBody>
          <a:bodyPr wrap="square" rtlCol="0" anchor="ctr"/>
          <a:lstStyle/>
          <a:p>
            <a:pPr indent="0" marL="0">
              <a:buNone/>
            </a:pPr>
            <a:r>
              <a:rPr lang="en-US" sz="2200" dirty="0">
                <a:solidFill>
                  <a:srgbClr val="F3F4F6"/>
                </a:solidFill>
                <a:latin typeface="Microsoft YaHei" pitchFamily="34" charset="0"/>
                <a:ea typeface="Microsoft YaHei" pitchFamily="34" charset="-122"/>
                <a:cs typeface="Microsoft YaHei" pitchFamily="34" charset="-120"/>
              </a:rPr>
              <a:t>从工具思维到员工思维</a:t>
            </a:r>
            <a:endParaRPr lang="en-US" sz="2200" dirty="0"/>
          </a:p>
        </p:txBody>
      </p:sp>
      <p:sp>
        <p:nvSpPr>
          <p:cNvPr id="6" name="Shape 4"/>
          <p:cNvSpPr/>
          <p:nvPr/>
        </p:nvSpPr>
        <p:spPr>
          <a:xfrm>
            <a:off x="8503920" y="4663440"/>
            <a:ext cx="365760" cy="365760"/>
          </a:xfrm>
          <a:prstGeom prst="ellipse">
            <a:avLst/>
          </a:prstGeom>
          <a:solidFill>
            <a:srgbClr val="EF4444"/>
          </a:solidFill>
          <a:ln/>
        </p:spPr>
      </p:sp>
      <p:sp>
        <p:nvSpPr>
          <p:cNvPr id="7" name="Text 5"/>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320040"/>
            <a:ext cx="8229600" cy="548640"/>
          </a:xfrm>
          <a:prstGeom prst="rect">
            <a:avLst/>
          </a:prstGeom>
          <a:noFill/>
          <a:ln/>
        </p:spPr>
        <p:txBody>
          <a:bodyPr wrap="square" rtlCol="0" anchor="ctr"/>
          <a:lstStyle/>
          <a:p>
            <a:pPr indent="0" marL="0">
              <a:buNone/>
            </a:pPr>
            <a:r>
              <a:rPr lang="en-US" sz="2800" b="1" dirty="0">
                <a:solidFill>
                  <a:srgbClr val="B91C1C"/>
                </a:solidFill>
                <a:latin typeface="Microsoft YaHei" pitchFamily="34" charset="0"/>
                <a:ea typeface="Microsoft YaHei" pitchFamily="34" charset="-122"/>
                <a:cs typeface="Microsoft YaHei" pitchFamily="34" charset="-120"/>
              </a:rPr>
              <a:t>开场：两个结果，一个差距</a:t>
            </a:r>
            <a:endParaRPr lang="en-US" sz="2800" dirty="0"/>
          </a:p>
        </p:txBody>
      </p:sp>
      <p:sp>
        <p:nvSpPr>
          <p:cNvPr id="4" name="Shape 2"/>
          <p:cNvSpPr/>
          <p:nvPr/>
        </p:nvSpPr>
        <p:spPr>
          <a:xfrm>
            <a:off x="457200" y="1097280"/>
            <a:ext cx="3931920" cy="3474720"/>
          </a:xfrm>
          <a:prstGeom prst="roundRect">
            <a:avLst>
              <a:gd name="adj" fmla="val 2632"/>
            </a:avLst>
          </a:prstGeom>
          <a:solidFill>
            <a:srgbClr val="F3F4F6"/>
          </a:solidFill>
          <a:ln/>
        </p:spPr>
      </p:sp>
      <p:sp>
        <p:nvSpPr>
          <p:cNvPr id="5" name="Shape 3"/>
          <p:cNvSpPr/>
          <p:nvPr/>
        </p:nvSpPr>
        <p:spPr>
          <a:xfrm>
            <a:off x="457200" y="1097280"/>
            <a:ext cx="91440" cy="3474720"/>
          </a:xfrm>
          <a:prstGeom prst="rect">
            <a:avLst/>
          </a:prstGeom>
          <a:solidFill>
            <a:srgbClr val="374151"/>
          </a:solidFill>
          <a:ln/>
        </p:spPr>
      </p:sp>
      <p:sp>
        <p:nvSpPr>
          <p:cNvPr id="6" name="Text 4"/>
          <p:cNvSpPr/>
          <p:nvPr/>
        </p:nvSpPr>
        <p:spPr>
          <a:xfrm>
            <a:off x="731520" y="1234440"/>
            <a:ext cx="3474720" cy="457200"/>
          </a:xfrm>
          <a:prstGeom prst="rect">
            <a:avLst/>
          </a:prstGeom>
          <a:noFill/>
          <a:ln/>
        </p:spPr>
        <p:txBody>
          <a:bodyPr wrap="square" rtlCol="0" anchor="ctr"/>
          <a:lstStyle/>
          <a:p>
            <a:pPr indent="0" marL="0">
              <a:buNone/>
            </a:pPr>
            <a:r>
              <a:rPr lang="en-US" sz="1400" b="1" dirty="0">
                <a:solidFill>
                  <a:srgbClr val="374151"/>
                </a:solidFill>
                <a:latin typeface="Arial" pitchFamily="34" charset="0"/>
                <a:ea typeface="Arial" pitchFamily="34" charset="-122"/>
                <a:cs typeface="Arial" pitchFamily="34" charset="-120"/>
              </a:rPr>
              <a:t>结果A</a:t>
            </a:r>
            <a:endParaRPr lang="en-US" sz="1400" dirty="0"/>
          </a:p>
        </p:txBody>
      </p:sp>
      <p:sp>
        <p:nvSpPr>
          <p:cNvPr id="7" name="Text 5"/>
          <p:cNvSpPr/>
          <p:nvPr/>
        </p:nvSpPr>
        <p:spPr>
          <a:xfrm>
            <a:off x="731520" y="1600200"/>
            <a:ext cx="3474720" cy="411480"/>
          </a:xfrm>
          <a:prstGeom prst="rect">
            <a:avLst/>
          </a:prstGeom>
          <a:noFill/>
          <a:ln/>
        </p:spPr>
        <p:txBody>
          <a:bodyPr wrap="square" rtlCol="0" anchor="ctr"/>
          <a:lstStyle/>
          <a:p>
            <a:pPr indent="0" marL="0">
              <a:buNone/>
            </a:pPr>
            <a:r>
              <a:rPr lang="en-US" sz="2000" b="1" dirty="0">
                <a:solidFill>
                  <a:srgbClr val="B91C1C"/>
                </a:solidFill>
                <a:latin typeface="Microsoft YaHei" pitchFamily="34" charset="0"/>
                <a:ea typeface="Microsoft YaHei" pitchFamily="34" charset="-122"/>
                <a:cs typeface="Microsoft YaHei" pitchFamily="34" charset="-120"/>
              </a:rPr>
              <a:t>工具思维</a:t>
            </a:r>
            <a:endParaRPr lang="en-US" sz="2000" dirty="0"/>
          </a:p>
        </p:txBody>
      </p:sp>
      <p:sp>
        <p:nvSpPr>
          <p:cNvPr id="8" name="Text 6"/>
          <p:cNvSpPr/>
          <p:nvPr/>
        </p:nvSpPr>
        <p:spPr>
          <a:xfrm>
            <a:off x="731520" y="2194560"/>
            <a:ext cx="3474720" cy="2194560"/>
          </a:xfrm>
          <a:prstGeom prst="rect">
            <a:avLst/>
          </a:prstGeom>
          <a:noFill/>
          <a:ln/>
        </p:spPr>
        <p:txBody>
          <a:bodyPr wrap="square" rtlCol="0" anchor="t"/>
          <a:lstStyle/>
          <a:p>
            <a:pPr indent="0" marL="0">
              <a:buNone/>
            </a:pPr>
            <a:r>
              <a:rPr lang="en-US" sz="1400" b="1" dirty="0">
                <a:solidFill>
                  <a:srgbClr val="EF4444"/>
                </a:solidFill>
                <a:latin typeface="Microsoft YaHei" pitchFamily="34" charset="0"/>
                <a:ea typeface="Microsoft YaHei" pitchFamily="34" charset="-122"/>
                <a:cs typeface="Microsoft YaHei" pitchFamily="34" charset="-120"/>
              </a:rPr>
              <a:t>处理时间</a:t>
            </a:r>
            <a:endParaRPr lang="en-US" sz="1400" dirty="0"/>
          </a:p>
          <a:p>
            <a:pPr indent="0" marL="0">
              <a:buNone/>
            </a:pPr>
            <a:r>
              <a:rPr lang="en-US" sz="1400" dirty="0">
                <a:solidFill>
                  <a:srgbClr val="374151"/>
                </a:solidFill>
                <a:latin typeface="Microsoft YaHei" pitchFamily="34" charset="0"/>
                <a:ea typeface="Microsoft YaHei" pitchFamily="34" charset="-122"/>
                <a:cs typeface="Microsoft YaHei" pitchFamily="34" charset="-120"/>
              </a:rPr>
              <a:t>20分钟手动整理</a:t>
            </a:r>
            <a:endParaRPr lang="en-US" sz="1400" dirty="0"/>
          </a:p>
          <a:p>
            <a:pPr indent="0" marL="0">
              <a:buNone/>
            </a:pPr>
            <a:endParaRPr lang="en-US" sz="1400" dirty="0"/>
          </a:p>
          <a:p>
            <a:pPr indent="0" marL="0">
              <a:buNone/>
            </a:pPr>
            <a:r>
              <a:rPr lang="en-US" sz="1400" dirty="0">
                <a:solidFill>
                  <a:srgbClr val="374151"/>
                </a:solidFill>
                <a:latin typeface="Microsoft YaHei" pitchFamily="34" charset="0"/>
                <a:ea typeface="Microsoft YaHei" pitchFamily="34" charset="-122"/>
                <a:cs typeface="Microsoft YaHei" pitchFamily="34" charset="-120"/>
              </a:rPr>
              <a:t>需要再问三轮才能拿到能用的东西</a:t>
            </a:r>
            <a:endParaRPr lang="en-US" sz="1400" dirty="0"/>
          </a:p>
          <a:p>
            <a:pPr indent="0" marL="0">
              <a:buNone/>
            </a:pPr>
            <a:endParaRPr lang="en-US" sz="1400" dirty="0"/>
          </a:p>
          <a:p>
            <a:pPr indent="0" marL="0">
              <a:buNone/>
            </a:pPr>
            <a:r>
              <a:rPr lang="en-US" sz="1400" b="1" dirty="0">
                <a:solidFill>
                  <a:srgbClr val="EF4444"/>
                </a:solidFill>
                <a:latin typeface="Microsoft YaHei" pitchFamily="34" charset="0"/>
                <a:ea typeface="Microsoft YaHei" pitchFamily="34" charset="-122"/>
                <a:cs typeface="Microsoft YaHei" pitchFamily="34" charset="-120"/>
              </a:rPr>
              <a:t>换个人来用</a:t>
            </a:r>
            <a:endParaRPr lang="en-US" sz="1400" dirty="0"/>
          </a:p>
          <a:p>
            <a:pPr indent="0" marL="0">
              <a:buNone/>
            </a:pPr>
            <a:r>
              <a:rPr lang="en-US" sz="1400" dirty="0">
                <a:solidFill>
                  <a:srgbClr val="374151"/>
                </a:solidFill>
                <a:latin typeface="Microsoft YaHei" pitchFamily="34" charset="0"/>
                <a:ea typeface="Microsoft YaHei" pitchFamily="34" charset="-122"/>
                <a:cs typeface="Microsoft YaHei" pitchFamily="34" charset="-120"/>
              </a:rPr>
              <a:t>得重新交代一遍</a:t>
            </a:r>
            <a:endParaRPr lang="en-US" sz="1400" dirty="0"/>
          </a:p>
        </p:txBody>
      </p:sp>
      <p:sp>
        <p:nvSpPr>
          <p:cNvPr id="9" name="Shape 7"/>
          <p:cNvSpPr/>
          <p:nvPr/>
        </p:nvSpPr>
        <p:spPr>
          <a:xfrm>
            <a:off x="4754880" y="1097280"/>
            <a:ext cx="3931920" cy="3474720"/>
          </a:xfrm>
          <a:prstGeom prst="roundRect">
            <a:avLst>
              <a:gd name="adj" fmla="val 2632"/>
            </a:avLst>
          </a:prstGeom>
          <a:solidFill>
            <a:srgbClr val="F3F4F6"/>
          </a:solidFill>
          <a:ln/>
        </p:spPr>
      </p:sp>
      <p:sp>
        <p:nvSpPr>
          <p:cNvPr id="10" name="Shape 8"/>
          <p:cNvSpPr/>
          <p:nvPr/>
        </p:nvSpPr>
        <p:spPr>
          <a:xfrm>
            <a:off x="4754880" y="1097280"/>
            <a:ext cx="91440" cy="3474720"/>
          </a:xfrm>
          <a:prstGeom prst="rect">
            <a:avLst/>
          </a:prstGeom>
          <a:solidFill>
            <a:srgbClr val="EF4444"/>
          </a:solidFill>
          <a:ln/>
        </p:spPr>
      </p:sp>
      <p:sp>
        <p:nvSpPr>
          <p:cNvPr id="11" name="Text 9"/>
          <p:cNvSpPr/>
          <p:nvPr/>
        </p:nvSpPr>
        <p:spPr>
          <a:xfrm>
            <a:off x="5029200" y="1234440"/>
            <a:ext cx="3474720" cy="457200"/>
          </a:xfrm>
          <a:prstGeom prst="rect">
            <a:avLst/>
          </a:prstGeom>
          <a:noFill/>
          <a:ln/>
        </p:spPr>
        <p:txBody>
          <a:bodyPr wrap="square" rtlCol="0" anchor="ctr"/>
          <a:lstStyle/>
          <a:p>
            <a:pPr indent="0" marL="0">
              <a:buNone/>
            </a:pPr>
            <a:r>
              <a:rPr lang="en-US" sz="1400" b="1" dirty="0">
                <a:solidFill>
                  <a:srgbClr val="EF4444"/>
                </a:solidFill>
                <a:latin typeface="Arial" pitchFamily="34" charset="0"/>
                <a:ea typeface="Arial" pitchFamily="34" charset="-122"/>
                <a:cs typeface="Arial" pitchFamily="34" charset="-120"/>
              </a:rPr>
              <a:t>结果B</a:t>
            </a:r>
            <a:endParaRPr lang="en-US" sz="1400" dirty="0"/>
          </a:p>
        </p:txBody>
      </p:sp>
      <p:sp>
        <p:nvSpPr>
          <p:cNvPr id="12" name="Text 10"/>
          <p:cNvSpPr/>
          <p:nvPr/>
        </p:nvSpPr>
        <p:spPr>
          <a:xfrm>
            <a:off x="5029200" y="1600200"/>
            <a:ext cx="3474720" cy="411480"/>
          </a:xfrm>
          <a:prstGeom prst="rect">
            <a:avLst/>
          </a:prstGeom>
          <a:noFill/>
          <a:ln/>
        </p:spPr>
        <p:txBody>
          <a:bodyPr wrap="square" rtlCol="0" anchor="ctr"/>
          <a:lstStyle/>
          <a:p>
            <a:pPr indent="0" marL="0">
              <a:buNone/>
            </a:pPr>
            <a:r>
              <a:rPr lang="en-US" sz="2000" b="1" dirty="0">
                <a:solidFill>
                  <a:srgbClr val="B91C1C"/>
                </a:solidFill>
                <a:latin typeface="Microsoft YaHei" pitchFamily="34" charset="0"/>
                <a:ea typeface="Microsoft YaHei" pitchFamily="34" charset="-122"/>
                <a:cs typeface="Microsoft YaHei" pitchFamily="34" charset="-120"/>
              </a:rPr>
              <a:t>员工思维</a:t>
            </a:r>
            <a:endParaRPr lang="en-US" sz="2000" dirty="0"/>
          </a:p>
        </p:txBody>
      </p:sp>
      <p:sp>
        <p:nvSpPr>
          <p:cNvPr id="13" name="Text 11"/>
          <p:cNvSpPr/>
          <p:nvPr/>
        </p:nvSpPr>
        <p:spPr>
          <a:xfrm>
            <a:off x="5029200" y="2194560"/>
            <a:ext cx="3474720" cy="2194560"/>
          </a:xfrm>
          <a:prstGeom prst="rect">
            <a:avLst/>
          </a:prstGeom>
          <a:noFill/>
          <a:ln/>
        </p:spPr>
        <p:txBody>
          <a:bodyPr wrap="square" rtlCol="0" anchor="t"/>
          <a:lstStyle/>
          <a:p>
            <a:pPr indent="0" marL="0">
              <a:buNone/>
            </a:pPr>
            <a:r>
              <a:rPr lang="en-US" sz="1400" b="1" dirty="0">
                <a:solidFill>
                  <a:srgbClr val="EF4444"/>
                </a:solidFill>
                <a:latin typeface="Microsoft YaHei" pitchFamily="34" charset="0"/>
                <a:ea typeface="Microsoft YaHei" pitchFamily="34" charset="-122"/>
                <a:cs typeface="Microsoft YaHei" pitchFamily="34" charset="-120"/>
              </a:rPr>
              <a:t>处理时间</a:t>
            </a:r>
            <a:endParaRPr lang="en-US" sz="1400" dirty="0"/>
          </a:p>
          <a:p>
            <a:pPr indent="0" marL="0">
              <a:buNone/>
            </a:pPr>
            <a:r>
              <a:rPr lang="en-US" sz="1400" dirty="0">
                <a:solidFill>
                  <a:srgbClr val="374151"/>
                </a:solidFill>
                <a:latin typeface="Microsoft YaHei" pitchFamily="34" charset="0"/>
                <a:ea typeface="Microsoft YaHei" pitchFamily="34" charset="-122"/>
                <a:cs typeface="Microsoft YaHei" pitchFamily="34" charset="-120"/>
              </a:rPr>
              <a:t>0分钟（每周自动）</a:t>
            </a:r>
            <a:endParaRPr lang="en-US" sz="1400" dirty="0"/>
          </a:p>
          <a:p>
            <a:pPr indent="0" marL="0">
              <a:buNone/>
            </a:pPr>
            <a:endParaRPr lang="en-US" sz="1400" dirty="0"/>
          </a:p>
          <a:p>
            <a:pPr indent="0" marL="0">
              <a:buNone/>
            </a:pPr>
            <a:r>
              <a:rPr lang="en-US" sz="1400" dirty="0">
                <a:solidFill>
                  <a:srgbClr val="374151"/>
                </a:solidFill>
                <a:latin typeface="Microsoft YaHei" pitchFamily="34" charset="0"/>
                <a:ea typeface="Microsoft YaHei" pitchFamily="34" charset="-122"/>
                <a:cs typeface="Microsoft YaHei" pitchFamily="34" charset="-120"/>
              </a:rPr>
              <a:t>直接分配给客服同事执行</a:t>
            </a:r>
            <a:endParaRPr lang="en-US" sz="1400" dirty="0"/>
          </a:p>
          <a:p>
            <a:pPr indent="0" marL="0">
              <a:buNone/>
            </a:pPr>
            <a:endParaRPr lang="en-US" sz="1400" dirty="0"/>
          </a:p>
          <a:p>
            <a:pPr indent="0" marL="0">
              <a:buNone/>
            </a:pPr>
            <a:r>
              <a:rPr lang="en-US" sz="1400" b="1" dirty="0">
                <a:solidFill>
                  <a:srgbClr val="EF4444"/>
                </a:solidFill>
                <a:latin typeface="Microsoft YaHei" pitchFamily="34" charset="0"/>
                <a:ea typeface="Microsoft YaHei" pitchFamily="34" charset="-122"/>
                <a:cs typeface="Microsoft YaHei" pitchFamily="34" charset="-120"/>
              </a:rPr>
              <a:t>换个人来用</a:t>
            </a:r>
            <a:endParaRPr lang="en-US" sz="1400" dirty="0"/>
          </a:p>
          <a:p>
            <a:pPr indent="0" marL="0">
              <a:buNone/>
            </a:pPr>
            <a:r>
              <a:rPr lang="en-US" sz="1400" dirty="0">
                <a:solidFill>
                  <a:srgbClr val="374151"/>
                </a:solidFill>
                <a:latin typeface="Microsoft YaHei" pitchFamily="34" charset="0"/>
                <a:ea typeface="Microsoft YaHei" pitchFamily="34" charset="-122"/>
                <a:cs typeface="Microsoft YaHei" pitchFamily="34" charset="-120"/>
              </a:rPr>
              <a:t>按格式照做就行</a:t>
            </a:r>
            <a:endParaRPr lang="en-US" sz="1400" dirty="0"/>
          </a:p>
        </p:txBody>
      </p:sp>
      <p:sp>
        <p:nvSpPr>
          <p:cNvPr id="14" name="Shape 12"/>
          <p:cNvSpPr/>
          <p:nvPr/>
        </p:nvSpPr>
        <p:spPr>
          <a:xfrm>
            <a:off x="8503920" y="4663440"/>
            <a:ext cx="365760" cy="365760"/>
          </a:xfrm>
          <a:prstGeom prst="ellipse">
            <a:avLst/>
          </a:prstGeom>
          <a:solidFill>
            <a:srgbClr val="EF4444"/>
          </a:solidFill>
          <a:ln/>
        </p:spPr>
      </p:sp>
      <p:sp>
        <p:nvSpPr>
          <p:cNvPr id="15" name="Text 13"/>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320040"/>
            <a:ext cx="8229600" cy="548640"/>
          </a:xfrm>
          <a:prstGeom prst="rect">
            <a:avLst/>
          </a:prstGeom>
          <a:noFill/>
          <a:ln/>
        </p:spPr>
        <p:txBody>
          <a:bodyPr wrap="square" rtlCol="0" anchor="ctr"/>
          <a:lstStyle/>
          <a:p>
            <a:pPr indent="0" marL="0">
              <a:buNone/>
            </a:pPr>
            <a:r>
              <a:rPr lang="en-US" sz="2800" b="1" dirty="0">
                <a:solidFill>
                  <a:srgbClr val="B91C1C"/>
                </a:solidFill>
                <a:latin typeface="Microsoft YaHei" pitchFamily="34" charset="0"/>
                <a:ea typeface="Microsoft YaHei" pitchFamily="34" charset="-122"/>
                <a:cs typeface="Microsoft YaHei" pitchFamily="34" charset="-120"/>
              </a:rPr>
              <a:t>工具思维 vs 员工思维</a:t>
            </a:r>
            <a:endParaRPr lang="en-US" sz="2800" dirty="0"/>
          </a:p>
        </p:txBody>
      </p:sp>
      <p:sp>
        <p:nvSpPr>
          <p:cNvPr id="4" name="Shape 2"/>
          <p:cNvSpPr/>
          <p:nvPr/>
        </p:nvSpPr>
        <p:spPr>
          <a:xfrm>
            <a:off x="457200" y="1005840"/>
            <a:ext cx="3931920" cy="502920"/>
          </a:xfrm>
          <a:prstGeom prst="roundRect">
            <a:avLst>
              <a:gd name="adj" fmla="val 14545"/>
            </a:avLst>
          </a:prstGeom>
          <a:solidFill>
            <a:srgbClr val="374151"/>
          </a:solidFill>
          <a:ln/>
        </p:spPr>
      </p:sp>
      <p:sp>
        <p:nvSpPr>
          <p:cNvPr id="5" name="Text 3"/>
          <p:cNvSpPr/>
          <p:nvPr/>
        </p:nvSpPr>
        <p:spPr>
          <a:xfrm>
            <a:off x="457200" y="1005840"/>
            <a:ext cx="3931920" cy="502920"/>
          </a:xfrm>
          <a:prstGeom prst="rect">
            <a:avLst/>
          </a:prstGeom>
          <a:noFill/>
          <a:ln/>
        </p:spPr>
        <p:txBody>
          <a:bodyPr wrap="square" rtlCol="0" anchor="ctr"/>
          <a:lstStyle/>
          <a:p>
            <a:pPr algn="ctr" indent="0" marL="0">
              <a:buNone/>
            </a:pPr>
            <a:r>
              <a:rPr lang="en-US" sz="1800" b="1" dirty="0">
                <a:solidFill>
                  <a:srgbClr val="FFFFFF"/>
                </a:solidFill>
                <a:latin typeface="Microsoft YaHei" pitchFamily="34" charset="0"/>
                <a:ea typeface="Microsoft YaHei" pitchFamily="34" charset="-122"/>
                <a:cs typeface="Microsoft YaHei" pitchFamily="34" charset="-120"/>
              </a:rPr>
              <a:t>工具思维</a:t>
            </a:r>
            <a:endParaRPr lang="en-US" sz="1800" dirty="0"/>
          </a:p>
        </p:txBody>
      </p:sp>
      <p:sp>
        <p:nvSpPr>
          <p:cNvPr id="6" name="Text 4"/>
          <p:cNvSpPr/>
          <p:nvPr/>
        </p:nvSpPr>
        <p:spPr>
          <a:xfrm>
            <a:off x="457200" y="1600200"/>
            <a:ext cx="3931920" cy="457200"/>
          </a:xfrm>
          <a:prstGeom prst="rect">
            <a:avLst/>
          </a:prstGeom>
          <a:noFill/>
          <a:ln/>
        </p:spPr>
        <p:txBody>
          <a:bodyPr wrap="square" rtlCol="0" anchor="ctr"/>
          <a:lstStyle/>
          <a:p>
            <a:pPr algn="ctr" indent="0" marL="0">
              <a:buNone/>
            </a:pPr>
            <a:r>
              <a:rPr lang="en-US" sz="1200" dirty="0">
                <a:solidFill>
                  <a:srgbClr val="374151"/>
                </a:solidFill>
                <a:latin typeface="Microsoft YaHei" pitchFamily="34" charset="0"/>
                <a:ea typeface="Microsoft YaHei" pitchFamily="34" charset="-122"/>
                <a:cs typeface="Microsoft YaHei" pitchFamily="34" charset="-120"/>
              </a:rPr>
              <a:t>我需要结果 -&gt; 找AI -&gt; 描述需求 -&gt; AI给结果</a:t>
            </a:r>
            <a:endParaRPr lang="en-US" sz="1200" dirty="0"/>
          </a:p>
        </p:txBody>
      </p:sp>
      <p:sp>
        <p:nvSpPr>
          <p:cNvPr id="7" name="Text 5"/>
          <p:cNvSpPr/>
          <p:nvPr/>
        </p:nvSpPr>
        <p:spPr>
          <a:xfrm>
            <a:off x="457200" y="2194560"/>
            <a:ext cx="3931920" cy="1645920"/>
          </a:xfrm>
          <a:prstGeom prst="rect">
            <a:avLst/>
          </a:prstGeom>
          <a:noFill/>
          <a:ln/>
        </p:spPr>
        <p:txBody>
          <a:bodyPr wrap="square" rtlCol="0" anchor="ctr"/>
          <a:lstStyle/>
          <a:p>
            <a:pPr marL="342900" indent="-342900">
              <a:buSzPct val="100000"/>
              <a:buChar char="•"/>
            </a:pPr>
            <a:r>
              <a:rPr lang="en-US" sz="1400" dirty="0">
                <a:solidFill>
                  <a:srgbClr val="374151"/>
                </a:solidFill>
                <a:latin typeface="Microsoft YaHei" pitchFamily="34" charset="0"/>
                <a:ea typeface="Microsoft YaHei" pitchFamily="34" charset="-122"/>
                <a:cs typeface="Microsoft YaHei" pitchFamily="34" charset="-120"/>
              </a:rPr>
              <a:t>"我"始终是中间那个节点</a:t>
            </a:r>
            <a:endParaRPr lang="en-US" sz="1400" dirty="0"/>
          </a:p>
          <a:p>
            <a:pPr marL="342900" indent="-342900">
              <a:buSzPct val="100000"/>
              <a:buChar char="•"/>
            </a:pPr>
            <a:r>
              <a:rPr lang="en-US" sz="1400" dirty="0">
                <a:solidFill>
                  <a:srgbClr val="374151"/>
                </a:solidFill>
                <a:latin typeface="Microsoft YaHei" pitchFamily="34" charset="0"/>
                <a:ea typeface="Microsoft YaHei" pitchFamily="34" charset="-122"/>
                <a:cs typeface="Microsoft YaHei" pitchFamily="34" charset="-120"/>
              </a:rPr>
              <a:t>AI输出质量取决于每次输入质量</a:t>
            </a:r>
            <a:endParaRPr lang="en-US" sz="1400" dirty="0"/>
          </a:p>
          <a:p>
            <a:pPr marL="342900" indent="-342900">
              <a:buSzPct val="100000"/>
              <a:buChar char="•"/>
            </a:pPr>
            <a:r>
              <a:rPr lang="en-US" sz="1400" dirty="0">
                <a:solidFill>
                  <a:srgbClr val="374151"/>
                </a:solidFill>
                <a:latin typeface="Microsoft YaHei" pitchFamily="34" charset="0"/>
                <a:ea typeface="Microsoft YaHei" pitchFamily="34" charset="-122"/>
                <a:cs typeface="Microsoft YaHei" pitchFamily="34" charset="-120"/>
              </a:rPr>
              <a:t>换个场景就要重新解释</a:t>
            </a:r>
            <a:endParaRPr lang="en-US" sz="1400" dirty="0"/>
          </a:p>
        </p:txBody>
      </p:sp>
      <p:sp>
        <p:nvSpPr>
          <p:cNvPr id="8" name="Shape 6"/>
          <p:cNvSpPr/>
          <p:nvPr/>
        </p:nvSpPr>
        <p:spPr>
          <a:xfrm>
            <a:off x="4754880" y="1005840"/>
            <a:ext cx="3931920" cy="502920"/>
          </a:xfrm>
          <a:prstGeom prst="roundRect">
            <a:avLst>
              <a:gd name="adj" fmla="val 14545"/>
            </a:avLst>
          </a:prstGeom>
          <a:solidFill>
            <a:srgbClr val="EF4444"/>
          </a:solidFill>
          <a:ln/>
        </p:spPr>
      </p:sp>
      <p:sp>
        <p:nvSpPr>
          <p:cNvPr id="9" name="Text 7"/>
          <p:cNvSpPr/>
          <p:nvPr/>
        </p:nvSpPr>
        <p:spPr>
          <a:xfrm>
            <a:off x="4754880" y="1005840"/>
            <a:ext cx="3931920" cy="502920"/>
          </a:xfrm>
          <a:prstGeom prst="rect">
            <a:avLst/>
          </a:prstGeom>
          <a:noFill/>
          <a:ln/>
        </p:spPr>
        <p:txBody>
          <a:bodyPr wrap="square" rtlCol="0" anchor="ctr"/>
          <a:lstStyle/>
          <a:p>
            <a:pPr algn="ctr" indent="0" marL="0">
              <a:buNone/>
            </a:pPr>
            <a:r>
              <a:rPr lang="en-US" sz="1800" b="1" dirty="0">
                <a:solidFill>
                  <a:srgbClr val="FFFFFF"/>
                </a:solidFill>
                <a:latin typeface="Microsoft YaHei" pitchFamily="34" charset="0"/>
                <a:ea typeface="Microsoft YaHei" pitchFamily="34" charset="-122"/>
                <a:cs typeface="Microsoft YaHei" pitchFamily="34" charset="-120"/>
              </a:rPr>
              <a:t>员工思维</a:t>
            </a:r>
            <a:endParaRPr lang="en-US" sz="1800" dirty="0"/>
          </a:p>
        </p:txBody>
      </p:sp>
      <p:sp>
        <p:nvSpPr>
          <p:cNvPr id="10" name="Text 8"/>
          <p:cNvSpPr/>
          <p:nvPr/>
        </p:nvSpPr>
        <p:spPr>
          <a:xfrm>
            <a:off x="4754880" y="1600200"/>
            <a:ext cx="3931920" cy="457200"/>
          </a:xfrm>
          <a:prstGeom prst="rect">
            <a:avLst/>
          </a:prstGeom>
          <a:noFill/>
          <a:ln/>
        </p:spPr>
        <p:txBody>
          <a:bodyPr wrap="square" rtlCol="0" anchor="ctr"/>
          <a:lstStyle/>
          <a:p>
            <a:pPr algn="ctr" indent="0" marL="0">
              <a:buNone/>
            </a:pPr>
            <a:r>
              <a:rPr lang="en-US" sz="1200" dirty="0">
                <a:solidFill>
                  <a:srgbClr val="EF4444"/>
                </a:solidFill>
                <a:latin typeface="Microsoft YaHei" pitchFamily="34" charset="0"/>
                <a:ea typeface="Microsoft YaHei" pitchFamily="34" charset="-122"/>
                <a:cs typeface="Microsoft YaHei" pitchFamily="34" charset="-120"/>
              </a:rPr>
              <a:t>我设计角色 -&gt; 定义规则 -&gt; 给知识 -&gt; AI按标准执行</a:t>
            </a:r>
            <a:endParaRPr lang="en-US" sz="1200" dirty="0"/>
          </a:p>
        </p:txBody>
      </p:sp>
      <p:sp>
        <p:nvSpPr>
          <p:cNvPr id="11" name="Text 9"/>
          <p:cNvSpPr/>
          <p:nvPr/>
        </p:nvSpPr>
        <p:spPr>
          <a:xfrm>
            <a:off x="4754880" y="2194560"/>
            <a:ext cx="3931920" cy="1645920"/>
          </a:xfrm>
          <a:prstGeom prst="rect">
            <a:avLst/>
          </a:prstGeom>
          <a:noFill/>
          <a:ln/>
        </p:spPr>
        <p:txBody>
          <a:bodyPr wrap="square" rtlCol="0" anchor="ctr"/>
          <a:lstStyle/>
          <a:p>
            <a:pPr marL="342900" indent="-342900">
              <a:buSzPct val="100000"/>
              <a:buChar char="•"/>
            </a:pPr>
            <a:r>
              <a:rPr lang="en-US" sz="1400" dirty="0">
                <a:solidFill>
                  <a:srgbClr val="374151"/>
                </a:solidFill>
                <a:latin typeface="Microsoft YaHei" pitchFamily="34" charset="0"/>
                <a:ea typeface="Microsoft YaHei" pitchFamily="34" charset="-122"/>
                <a:cs typeface="Microsoft YaHei" pitchFamily="34" charset="-120"/>
              </a:rPr>
              <a:t>"我"是设计者，不是操作者</a:t>
            </a:r>
            <a:endParaRPr lang="en-US" sz="1400" dirty="0"/>
          </a:p>
          <a:p>
            <a:pPr marL="342900" indent="-342900">
              <a:buSzPct val="100000"/>
              <a:buChar char="•"/>
            </a:pPr>
            <a:r>
              <a:rPr lang="en-US" sz="1400" dirty="0">
                <a:solidFill>
                  <a:srgbClr val="374151"/>
                </a:solidFill>
                <a:latin typeface="Microsoft YaHei" pitchFamily="34" charset="0"/>
                <a:ea typeface="Microsoft YaHei" pitchFamily="34" charset="-122"/>
                <a:cs typeface="Microsoft YaHei" pitchFamily="34" charset="-120"/>
              </a:rPr>
              <a:t>AI按角色定义和规则系统稳定输出</a:t>
            </a:r>
            <a:endParaRPr lang="en-US" sz="1400" dirty="0"/>
          </a:p>
          <a:p>
            <a:pPr marL="342900" indent="-342900">
              <a:buSzPct val="100000"/>
              <a:buChar char="•"/>
            </a:pPr>
            <a:r>
              <a:rPr lang="en-US" sz="1400" dirty="0">
                <a:solidFill>
                  <a:srgbClr val="374151"/>
                </a:solidFill>
                <a:latin typeface="Microsoft YaHei" pitchFamily="34" charset="0"/>
                <a:ea typeface="Microsoft YaHei" pitchFamily="34" charset="-122"/>
                <a:cs typeface="Microsoft YaHei" pitchFamily="34" charset="-120"/>
              </a:rPr>
              <a:t>换个人也能接</a:t>
            </a:r>
            <a:endParaRPr lang="en-US" sz="1400" dirty="0"/>
          </a:p>
        </p:txBody>
      </p:sp>
      <p:sp>
        <p:nvSpPr>
          <p:cNvPr id="12" name="Shape 10"/>
          <p:cNvSpPr/>
          <p:nvPr/>
        </p:nvSpPr>
        <p:spPr>
          <a:xfrm>
            <a:off x="4160520" y="2194560"/>
            <a:ext cx="822960" cy="822960"/>
          </a:xfrm>
          <a:prstGeom prst="ellipse">
            <a:avLst/>
          </a:prstGeom>
          <a:solidFill>
            <a:srgbClr val="B91C1C"/>
          </a:solidFill>
          <a:ln/>
        </p:spPr>
      </p:sp>
      <p:sp>
        <p:nvSpPr>
          <p:cNvPr id="13" name="Text 11"/>
          <p:cNvSpPr/>
          <p:nvPr/>
        </p:nvSpPr>
        <p:spPr>
          <a:xfrm>
            <a:off x="4160520" y="2194560"/>
            <a:ext cx="822960" cy="82296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VS</a:t>
            </a:r>
            <a:endParaRPr lang="en-US" sz="1600" dirty="0"/>
          </a:p>
        </p:txBody>
      </p:sp>
      <p:sp>
        <p:nvSpPr>
          <p:cNvPr id="14" name="Shape 12"/>
          <p:cNvSpPr/>
          <p:nvPr/>
        </p:nvSpPr>
        <p:spPr>
          <a:xfrm>
            <a:off x="8503920" y="4663440"/>
            <a:ext cx="365760" cy="365760"/>
          </a:xfrm>
          <a:prstGeom prst="ellipse">
            <a:avLst/>
          </a:prstGeom>
          <a:solidFill>
            <a:srgbClr val="EF4444"/>
          </a:solidFill>
          <a:ln/>
        </p:spPr>
      </p:sp>
      <p:sp>
        <p:nvSpPr>
          <p:cNvPr id="15" name="Text 13"/>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320040"/>
            <a:ext cx="8229600" cy="548640"/>
          </a:xfrm>
          <a:prstGeom prst="rect">
            <a:avLst/>
          </a:prstGeom>
          <a:noFill/>
          <a:ln/>
        </p:spPr>
        <p:txBody>
          <a:bodyPr wrap="square" rtlCol="0" anchor="ctr"/>
          <a:lstStyle/>
          <a:p>
            <a:pPr indent="0" marL="0">
              <a:buNone/>
            </a:pPr>
            <a:r>
              <a:rPr lang="en-US" sz="2800" b="1" dirty="0">
                <a:solidFill>
                  <a:srgbClr val="B91C1C"/>
                </a:solidFill>
                <a:latin typeface="Microsoft YaHei" pitchFamily="34" charset="0"/>
                <a:ea typeface="Microsoft YaHei" pitchFamily="34" charset="-122"/>
                <a:cs typeface="Microsoft YaHei" pitchFamily="34" charset="-120"/>
              </a:rPr>
              <a:t>数字员工的完整定义</a:t>
            </a:r>
            <a:endParaRPr lang="en-US" sz="2800" dirty="0"/>
          </a:p>
        </p:txBody>
      </p:sp>
      <p:sp>
        <p:nvSpPr>
          <p:cNvPr id="4" name="Shape 2"/>
          <p:cNvSpPr/>
          <p:nvPr/>
        </p:nvSpPr>
        <p:spPr>
          <a:xfrm>
            <a:off x="457200" y="1097280"/>
            <a:ext cx="3931920" cy="1554480"/>
          </a:xfrm>
          <a:prstGeom prst="roundRect">
            <a:avLst>
              <a:gd name="adj" fmla="val 5882"/>
            </a:avLst>
          </a:prstGeom>
          <a:solidFill>
            <a:srgbClr val="F3F4F6"/>
          </a:solidFill>
          <a:ln/>
        </p:spPr>
      </p:sp>
      <p:sp>
        <p:nvSpPr>
          <p:cNvPr id="5" name="Shape 3"/>
          <p:cNvSpPr/>
          <p:nvPr/>
        </p:nvSpPr>
        <p:spPr>
          <a:xfrm>
            <a:off x="640080" y="1325880"/>
            <a:ext cx="502920" cy="502920"/>
          </a:xfrm>
          <a:prstGeom prst="ellipse">
            <a:avLst/>
          </a:prstGeom>
          <a:solidFill>
            <a:srgbClr val="EF4444"/>
          </a:solidFill>
          <a:ln/>
        </p:spPr>
      </p:sp>
      <p:sp>
        <p:nvSpPr>
          <p:cNvPr id="6" name="Text 4"/>
          <p:cNvSpPr/>
          <p:nvPr/>
        </p:nvSpPr>
        <p:spPr>
          <a:xfrm>
            <a:off x="640080" y="1325880"/>
            <a:ext cx="502920" cy="50292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7" name="Text 5"/>
          <p:cNvSpPr/>
          <p:nvPr/>
        </p:nvSpPr>
        <p:spPr>
          <a:xfrm>
            <a:off x="1280160" y="1325880"/>
            <a:ext cx="2926080" cy="457200"/>
          </a:xfrm>
          <a:prstGeom prst="rect">
            <a:avLst/>
          </a:prstGeom>
          <a:noFill/>
          <a:ln/>
        </p:spPr>
        <p:txBody>
          <a:bodyPr wrap="square" rtlCol="0" anchor="ctr"/>
          <a:lstStyle/>
          <a:p>
            <a:pPr indent="0" marL="0">
              <a:buNone/>
            </a:pPr>
            <a:r>
              <a:rPr lang="en-US" sz="2000" b="1" dirty="0">
                <a:solidFill>
                  <a:srgbClr val="B91C1C"/>
                </a:solidFill>
                <a:latin typeface="Microsoft YaHei" pitchFamily="34" charset="0"/>
                <a:ea typeface="Microsoft YaHei" pitchFamily="34" charset="-122"/>
                <a:cs typeface="Microsoft YaHei" pitchFamily="34" charset="-120"/>
              </a:rPr>
              <a:t>专属角色</a:t>
            </a:r>
            <a:endParaRPr lang="en-US" sz="2000" dirty="0"/>
          </a:p>
        </p:txBody>
      </p:sp>
      <p:sp>
        <p:nvSpPr>
          <p:cNvPr id="8" name="Text 6"/>
          <p:cNvSpPr/>
          <p:nvPr/>
        </p:nvSpPr>
        <p:spPr>
          <a:xfrm>
            <a:off x="1280160" y="1874520"/>
            <a:ext cx="2926080" cy="457200"/>
          </a:xfrm>
          <a:prstGeom prst="rect">
            <a:avLst/>
          </a:prstGeom>
          <a:noFill/>
          <a:ln/>
        </p:spPr>
        <p:txBody>
          <a:bodyPr wrap="square" rtlCol="0" anchor="ctr"/>
          <a:lstStyle/>
          <a:p>
            <a:pPr indent="0" marL="0">
              <a:buNone/>
            </a:pPr>
            <a:r>
              <a:rPr lang="en-US" sz="1400" dirty="0">
                <a:solidFill>
                  <a:srgbClr val="374151"/>
                </a:solidFill>
                <a:latin typeface="Microsoft YaHei" pitchFamily="34" charset="0"/>
                <a:ea typeface="Microsoft YaHei" pitchFamily="34" charset="-122"/>
                <a:cs typeface="Microsoft YaHei" pitchFamily="34" charset="-120"/>
              </a:rPr>
              <a:t>它是谁，专门干什么</a:t>
            </a:r>
            <a:endParaRPr lang="en-US" sz="1400" dirty="0"/>
          </a:p>
        </p:txBody>
      </p:sp>
      <p:sp>
        <p:nvSpPr>
          <p:cNvPr id="9" name="Shape 7"/>
          <p:cNvSpPr/>
          <p:nvPr/>
        </p:nvSpPr>
        <p:spPr>
          <a:xfrm>
            <a:off x="4754880" y="1097280"/>
            <a:ext cx="3931920" cy="1554480"/>
          </a:xfrm>
          <a:prstGeom prst="roundRect">
            <a:avLst>
              <a:gd name="adj" fmla="val 5882"/>
            </a:avLst>
          </a:prstGeom>
          <a:solidFill>
            <a:srgbClr val="F3F4F6"/>
          </a:solidFill>
          <a:ln/>
        </p:spPr>
      </p:sp>
      <p:sp>
        <p:nvSpPr>
          <p:cNvPr id="10" name="Shape 8"/>
          <p:cNvSpPr/>
          <p:nvPr/>
        </p:nvSpPr>
        <p:spPr>
          <a:xfrm>
            <a:off x="4937760" y="1325880"/>
            <a:ext cx="502920" cy="502920"/>
          </a:xfrm>
          <a:prstGeom prst="ellipse">
            <a:avLst/>
          </a:prstGeom>
          <a:solidFill>
            <a:srgbClr val="EF4444"/>
          </a:solidFill>
          <a:ln/>
        </p:spPr>
      </p:sp>
      <p:sp>
        <p:nvSpPr>
          <p:cNvPr id="11" name="Text 9"/>
          <p:cNvSpPr/>
          <p:nvPr/>
        </p:nvSpPr>
        <p:spPr>
          <a:xfrm>
            <a:off x="4937760" y="1325880"/>
            <a:ext cx="502920" cy="50292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12" name="Text 10"/>
          <p:cNvSpPr/>
          <p:nvPr/>
        </p:nvSpPr>
        <p:spPr>
          <a:xfrm>
            <a:off x="5577840" y="1325880"/>
            <a:ext cx="2926080" cy="457200"/>
          </a:xfrm>
          <a:prstGeom prst="rect">
            <a:avLst/>
          </a:prstGeom>
          <a:noFill/>
          <a:ln/>
        </p:spPr>
        <p:txBody>
          <a:bodyPr wrap="square" rtlCol="0" anchor="ctr"/>
          <a:lstStyle/>
          <a:p>
            <a:pPr indent="0" marL="0">
              <a:buNone/>
            </a:pPr>
            <a:r>
              <a:rPr lang="en-US" sz="2000" b="1" dirty="0">
                <a:solidFill>
                  <a:srgbClr val="B91C1C"/>
                </a:solidFill>
                <a:latin typeface="Microsoft YaHei" pitchFamily="34" charset="0"/>
                <a:ea typeface="Microsoft YaHei" pitchFamily="34" charset="-122"/>
                <a:cs typeface="Microsoft YaHei" pitchFamily="34" charset="-120"/>
              </a:rPr>
              <a:t>业务规则</a:t>
            </a:r>
            <a:endParaRPr lang="en-US" sz="2000" dirty="0"/>
          </a:p>
        </p:txBody>
      </p:sp>
      <p:sp>
        <p:nvSpPr>
          <p:cNvPr id="13" name="Text 11"/>
          <p:cNvSpPr/>
          <p:nvPr/>
        </p:nvSpPr>
        <p:spPr>
          <a:xfrm>
            <a:off x="5577840" y="1874520"/>
            <a:ext cx="2926080" cy="457200"/>
          </a:xfrm>
          <a:prstGeom prst="rect">
            <a:avLst/>
          </a:prstGeom>
          <a:noFill/>
          <a:ln/>
        </p:spPr>
        <p:txBody>
          <a:bodyPr wrap="square" rtlCol="0" anchor="ctr"/>
          <a:lstStyle/>
          <a:p>
            <a:pPr indent="0" marL="0">
              <a:buNone/>
            </a:pPr>
            <a:r>
              <a:rPr lang="en-US" sz="1400" dirty="0">
                <a:solidFill>
                  <a:srgbClr val="374151"/>
                </a:solidFill>
                <a:latin typeface="Microsoft YaHei" pitchFamily="34" charset="0"/>
                <a:ea typeface="Microsoft YaHei" pitchFamily="34" charset="-122"/>
                <a:cs typeface="Microsoft YaHei" pitchFamily="34" charset="-120"/>
              </a:rPr>
              <a:t>它怎么做判断</a:t>
            </a:r>
            <a:endParaRPr lang="en-US" sz="1400" dirty="0"/>
          </a:p>
        </p:txBody>
      </p:sp>
      <p:sp>
        <p:nvSpPr>
          <p:cNvPr id="14" name="Shape 12"/>
          <p:cNvSpPr/>
          <p:nvPr/>
        </p:nvSpPr>
        <p:spPr>
          <a:xfrm>
            <a:off x="457200" y="2971800"/>
            <a:ext cx="3931920" cy="1554480"/>
          </a:xfrm>
          <a:prstGeom prst="roundRect">
            <a:avLst>
              <a:gd name="adj" fmla="val 5882"/>
            </a:avLst>
          </a:prstGeom>
          <a:solidFill>
            <a:srgbClr val="F3F4F6"/>
          </a:solidFill>
          <a:ln/>
        </p:spPr>
      </p:sp>
      <p:sp>
        <p:nvSpPr>
          <p:cNvPr id="15" name="Shape 13"/>
          <p:cNvSpPr/>
          <p:nvPr/>
        </p:nvSpPr>
        <p:spPr>
          <a:xfrm>
            <a:off x="640080" y="3200400"/>
            <a:ext cx="502920" cy="502920"/>
          </a:xfrm>
          <a:prstGeom prst="ellipse">
            <a:avLst/>
          </a:prstGeom>
          <a:solidFill>
            <a:srgbClr val="EF4444"/>
          </a:solidFill>
          <a:ln/>
        </p:spPr>
      </p:sp>
      <p:sp>
        <p:nvSpPr>
          <p:cNvPr id="16" name="Text 14"/>
          <p:cNvSpPr/>
          <p:nvPr/>
        </p:nvSpPr>
        <p:spPr>
          <a:xfrm>
            <a:off x="640080" y="3200400"/>
            <a:ext cx="502920" cy="50292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17" name="Text 15"/>
          <p:cNvSpPr/>
          <p:nvPr/>
        </p:nvSpPr>
        <p:spPr>
          <a:xfrm>
            <a:off x="1280160" y="3200400"/>
            <a:ext cx="2926080" cy="457200"/>
          </a:xfrm>
          <a:prstGeom prst="rect">
            <a:avLst/>
          </a:prstGeom>
          <a:noFill/>
          <a:ln/>
        </p:spPr>
        <p:txBody>
          <a:bodyPr wrap="square" rtlCol="0" anchor="ctr"/>
          <a:lstStyle/>
          <a:p>
            <a:pPr indent="0" marL="0">
              <a:buNone/>
            </a:pPr>
            <a:r>
              <a:rPr lang="en-US" sz="2000" b="1" dirty="0">
                <a:solidFill>
                  <a:srgbClr val="B91C1C"/>
                </a:solidFill>
                <a:latin typeface="Microsoft YaHei" pitchFamily="34" charset="0"/>
                <a:ea typeface="Microsoft YaHei" pitchFamily="34" charset="-122"/>
                <a:cs typeface="Microsoft YaHei" pitchFamily="34" charset="-120"/>
              </a:rPr>
              <a:t>知识库</a:t>
            </a:r>
            <a:endParaRPr lang="en-US" sz="2000" dirty="0"/>
          </a:p>
        </p:txBody>
      </p:sp>
      <p:sp>
        <p:nvSpPr>
          <p:cNvPr id="18" name="Text 16"/>
          <p:cNvSpPr/>
          <p:nvPr/>
        </p:nvSpPr>
        <p:spPr>
          <a:xfrm>
            <a:off x="1280160" y="3749040"/>
            <a:ext cx="2926080" cy="457200"/>
          </a:xfrm>
          <a:prstGeom prst="rect">
            <a:avLst/>
          </a:prstGeom>
          <a:noFill/>
          <a:ln/>
        </p:spPr>
        <p:txBody>
          <a:bodyPr wrap="square" rtlCol="0" anchor="ctr"/>
          <a:lstStyle/>
          <a:p>
            <a:pPr indent="0" marL="0">
              <a:buNone/>
            </a:pPr>
            <a:r>
              <a:rPr lang="en-US" sz="1400" dirty="0">
                <a:solidFill>
                  <a:srgbClr val="374151"/>
                </a:solidFill>
                <a:latin typeface="Microsoft YaHei" pitchFamily="34" charset="0"/>
                <a:ea typeface="Microsoft YaHei" pitchFamily="34" charset="-122"/>
                <a:cs typeface="Microsoft YaHei" pitchFamily="34" charset="-120"/>
              </a:rPr>
              <a:t>它凭什么判断</a:t>
            </a:r>
            <a:endParaRPr lang="en-US" sz="1400" dirty="0"/>
          </a:p>
        </p:txBody>
      </p:sp>
      <p:sp>
        <p:nvSpPr>
          <p:cNvPr id="19" name="Shape 17"/>
          <p:cNvSpPr/>
          <p:nvPr/>
        </p:nvSpPr>
        <p:spPr>
          <a:xfrm>
            <a:off x="4754880" y="2971800"/>
            <a:ext cx="3931920" cy="1554480"/>
          </a:xfrm>
          <a:prstGeom prst="roundRect">
            <a:avLst>
              <a:gd name="adj" fmla="val 5882"/>
            </a:avLst>
          </a:prstGeom>
          <a:solidFill>
            <a:srgbClr val="F3F4F6"/>
          </a:solidFill>
          <a:ln/>
        </p:spPr>
      </p:sp>
      <p:sp>
        <p:nvSpPr>
          <p:cNvPr id="20" name="Shape 18"/>
          <p:cNvSpPr/>
          <p:nvPr/>
        </p:nvSpPr>
        <p:spPr>
          <a:xfrm>
            <a:off x="4937760" y="3200400"/>
            <a:ext cx="502920" cy="502920"/>
          </a:xfrm>
          <a:prstGeom prst="ellipse">
            <a:avLst/>
          </a:prstGeom>
          <a:solidFill>
            <a:srgbClr val="EF4444"/>
          </a:solidFill>
          <a:ln/>
        </p:spPr>
      </p:sp>
      <p:sp>
        <p:nvSpPr>
          <p:cNvPr id="21" name="Text 19"/>
          <p:cNvSpPr/>
          <p:nvPr/>
        </p:nvSpPr>
        <p:spPr>
          <a:xfrm>
            <a:off x="4937760" y="3200400"/>
            <a:ext cx="502920" cy="50292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4</a:t>
            </a:r>
            <a:endParaRPr lang="en-US" sz="1800" dirty="0"/>
          </a:p>
        </p:txBody>
      </p:sp>
      <p:sp>
        <p:nvSpPr>
          <p:cNvPr id="22" name="Text 20"/>
          <p:cNvSpPr/>
          <p:nvPr/>
        </p:nvSpPr>
        <p:spPr>
          <a:xfrm>
            <a:off x="5577840" y="3200400"/>
            <a:ext cx="2926080" cy="457200"/>
          </a:xfrm>
          <a:prstGeom prst="rect">
            <a:avLst/>
          </a:prstGeom>
          <a:noFill/>
          <a:ln/>
        </p:spPr>
        <p:txBody>
          <a:bodyPr wrap="square" rtlCol="0" anchor="ctr"/>
          <a:lstStyle/>
          <a:p>
            <a:pPr indent="0" marL="0">
              <a:buNone/>
            </a:pPr>
            <a:r>
              <a:rPr lang="en-US" sz="2000" b="1" dirty="0">
                <a:solidFill>
                  <a:srgbClr val="B91C1C"/>
                </a:solidFill>
                <a:latin typeface="Microsoft YaHei" pitchFamily="34" charset="0"/>
                <a:ea typeface="Microsoft YaHei" pitchFamily="34" charset="-122"/>
                <a:cs typeface="Microsoft YaHei" pitchFamily="34" charset="-120"/>
              </a:rPr>
              <a:t>输出模板</a:t>
            </a:r>
            <a:endParaRPr lang="en-US" sz="2000" dirty="0"/>
          </a:p>
        </p:txBody>
      </p:sp>
      <p:sp>
        <p:nvSpPr>
          <p:cNvPr id="23" name="Text 21"/>
          <p:cNvSpPr/>
          <p:nvPr/>
        </p:nvSpPr>
        <p:spPr>
          <a:xfrm>
            <a:off x="5577840" y="3749040"/>
            <a:ext cx="2926080" cy="457200"/>
          </a:xfrm>
          <a:prstGeom prst="rect">
            <a:avLst/>
          </a:prstGeom>
          <a:noFill/>
          <a:ln/>
        </p:spPr>
        <p:txBody>
          <a:bodyPr wrap="square" rtlCol="0" anchor="ctr"/>
          <a:lstStyle/>
          <a:p>
            <a:pPr indent="0" marL="0">
              <a:buNone/>
            </a:pPr>
            <a:r>
              <a:rPr lang="en-US" sz="1400" dirty="0">
                <a:solidFill>
                  <a:srgbClr val="374151"/>
                </a:solidFill>
                <a:latin typeface="Microsoft YaHei" pitchFamily="34" charset="0"/>
                <a:ea typeface="Microsoft YaHei" pitchFamily="34" charset="-122"/>
                <a:cs typeface="Microsoft YaHei" pitchFamily="34" charset="-120"/>
              </a:rPr>
              <a:t>它交付什么格式</a:t>
            </a:r>
            <a:endParaRPr lang="en-US" sz="1400" dirty="0"/>
          </a:p>
        </p:txBody>
      </p:sp>
      <p:sp>
        <p:nvSpPr>
          <p:cNvPr id="24" name="Shape 22"/>
          <p:cNvSpPr/>
          <p:nvPr/>
        </p:nvSpPr>
        <p:spPr>
          <a:xfrm>
            <a:off x="8503920" y="4663440"/>
            <a:ext cx="365760" cy="365760"/>
          </a:xfrm>
          <a:prstGeom prst="ellipse">
            <a:avLst/>
          </a:prstGeom>
          <a:solidFill>
            <a:srgbClr val="EF4444"/>
          </a:solidFill>
          <a:ln/>
        </p:spPr>
      </p:sp>
      <p:sp>
        <p:nvSpPr>
          <p:cNvPr id="25" name="Text 23"/>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320040"/>
            <a:ext cx="8229600" cy="548640"/>
          </a:xfrm>
          <a:prstGeom prst="rect">
            <a:avLst/>
          </a:prstGeom>
          <a:noFill/>
          <a:ln/>
        </p:spPr>
        <p:txBody>
          <a:bodyPr wrap="square" rtlCol="0" anchor="ctr"/>
          <a:lstStyle/>
          <a:p>
            <a:pPr indent="0" marL="0">
              <a:buNone/>
            </a:pPr>
            <a:r>
              <a:rPr lang="en-US" sz="2800" b="1" dirty="0">
                <a:solidFill>
                  <a:srgbClr val="B91C1C"/>
                </a:solidFill>
                <a:latin typeface="Microsoft YaHei" pitchFamily="34" charset="0"/>
                <a:ea typeface="Microsoft YaHei" pitchFamily="34" charset="-122"/>
                <a:cs typeface="Microsoft YaHei" pitchFamily="34" charset="-120"/>
              </a:rPr>
              <a:t>四个组成部分的关系</a:t>
            </a:r>
            <a:endParaRPr lang="en-US" sz="2800" dirty="0"/>
          </a:p>
        </p:txBody>
      </p:sp>
      <p:sp>
        <p:nvSpPr>
          <p:cNvPr id="4" name="Shape 2"/>
          <p:cNvSpPr/>
          <p:nvPr/>
        </p:nvSpPr>
        <p:spPr>
          <a:xfrm>
            <a:off x="457200" y="1828800"/>
            <a:ext cx="1280160" cy="822960"/>
          </a:xfrm>
          <a:prstGeom prst="roundRect">
            <a:avLst>
              <a:gd name="adj" fmla="val 8889"/>
            </a:avLst>
          </a:prstGeom>
          <a:solidFill>
            <a:srgbClr val="F3F4F6"/>
          </a:solidFill>
          <a:ln/>
        </p:spPr>
      </p:sp>
      <p:sp>
        <p:nvSpPr>
          <p:cNvPr id="5" name="Text 3"/>
          <p:cNvSpPr/>
          <p:nvPr/>
        </p:nvSpPr>
        <p:spPr>
          <a:xfrm>
            <a:off x="457200" y="1828800"/>
            <a:ext cx="1280160" cy="822960"/>
          </a:xfrm>
          <a:prstGeom prst="rect">
            <a:avLst/>
          </a:prstGeom>
          <a:noFill/>
          <a:ln/>
        </p:spPr>
        <p:txBody>
          <a:bodyPr wrap="square" rtlCol="0" anchor="ctr"/>
          <a:lstStyle/>
          <a:p>
            <a:pPr algn="ctr" indent="0" marL="0">
              <a:buNone/>
            </a:pPr>
            <a:r>
              <a:rPr lang="en-US" sz="1200" b="1" dirty="0">
                <a:solidFill>
                  <a:srgbClr val="B91C1C"/>
                </a:solidFill>
                <a:latin typeface="Microsoft YaHei" pitchFamily="34" charset="0"/>
                <a:ea typeface="Microsoft YaHei" pitchFamily="34" charset="-122"/>
                <a:cs typeface="Microsoft YaHei" pitchFamily="34" charset="-120"/>
              </a:rPr>
              <a:t>输入材料</a:t>
            </a:r>
            <a:endParaRPr lang="en-US" sz="1200" dirty="0"/>
          </a:p>
        </p:txBody>
      </p:sp>
      <p:sp>
        <p:nvSpPr>
          <p:cNvPr id="6" name="Text 4"/>
          <p:cNvSpPr/>
          <p:nvPr/>
        </p:nvSpPr>
        <p:spPr>
          <a:xfrm>
            <a:off x="1737360" y="1828800"/>
            <a:ext cx="109728" cy="822960"/>
          </a:xfrm>
          <a:prstGeom prst="rect">
            <a:avLst/>
          </a:prstGeom>
          <a:noFill/>
          <a:ln/>
        </p:spPr>
        <p:txBody>
          <a:bodyPr wrap="square" rtlCol="0" anchor="ctr"/>
          <a:lstStyle/>
          <a:p>
            <a:pPr algn="ctr" indent="0" marL="0">
              <a:buNone/>
            </a:pPr>
            <a:r>
              <a:rPr lang="en-US" sz="1400" dirty="0">
                <a:solidFill>
                  <a:srgbClr val="374151"/>
                </a:solidFill>
                <a:latin typeface="Arial" pitchFamily="34" charset="0"/>
                <a:ea typeface="Arial" pitchFamily="34" charset="-122"/>
                <a:cs typeface="Arial" pitchFamily="34" charset="-120"/>
              </a:rPr>
              <a:t>-&gt;</a:t>
            </a:r>
            <a:endParaRPr lang="en-US" sz="1400" dirty="0"/>
          </a:p>
        </p:txBody>
      </p:sp>
      <p:sp>
        <p:nvSpPr>
          <p:cNvPr id="7" name="Shape 5"/>
          <p:cNvSpPr/>
          <p:nvPr/>
        </p:nvSpPr>
        <p:spPr>
          <a:xfrm>
            <a:off x="1847088" y="1828800"/>
            <a:ext cx="1280160" cy="822960"/>
          </a:xfrm>
          <a:prstGeom prst="roundRect">
            <a:avLst>
              <a:gd name="adj" fmla="val 8889"/>
            </a:avLst>
          </a:prstGeom>
          <a:solidFill>
            <a:srgbClr val="374151"/>
          </a:solidFill>
          <a:ln/>
        </p:spPr>
      </p:sp>
      <p:sp>
        <p:nvSpPr>
          <p:cNvPr id="8" name="Text 6"/>
          <p:cNvSpPr/>
          <p:nvPr/>
        </p:nvSpPr>
        <p:spPr>
          <a:xfrm>
            <a:off x="1847088" y="1828800"/>
            <a:ext cx="1280160" cy="822960"/>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专属角色</a:t>
            </a:r>
            <a:endParaRPr lang="en-US" sz="1200" dirty="0"/>
          </a:p>
        </p:txBody>
      </p:sp>
      <p:sp>
        <p:nvSpPr>
          <p:cNvPr id="9" name="Text 7"/>
          <p:cNvSpPr/>
          <p:nvPr/>
        </p:nvSpPr>
        <p:spPr>
          <a:xfrm>
            <a:off x="3127248" y="1828800"/>
            <a:ext cx="109728" cy="822960"/>
          </a:xfrm>
          <a:prstGeom prst="rect">
            <a:avLst/>
          </a:prstGeom>
          <a:noFill/>
          <a:ln/>
        </p:spPr>
        <p:txBody>
          <a:bodyPr wrap="square" rtlCol="0" anchor="ctr"/>
          <a:lstStyle/>
          <a:p>
            <a:pPr algn="ctr" indent="0" marL="0">
              <a:buNone/>
            </a:pPr>
            <a:r>
              <a:rPr lang="en-US" sz="1400" dirty="0">
                <a:solidFill>
                  <a:srgbClr val="374151"/>
                </a:solidFill>
                <a:latin typeface="Arial" pitchFamily="34" charset="0"/>
                <a:ea typeface="Arial" pitchFamily="34" charset="-122"/>
                <a:cs typeface="Arial" pitchFamily="34" charset="-120"/>
              </a:rPr>
              <a:t>-&gt;</a:t>
            </a:r>
            <a:endParaRPr lang="en-US" sz="1400" dirty="0"/>
          </a:p>
        </p:txBody>
      </p:sp>
      <p:sp>
        <p:nvSpPr>
          <p:cNvPr id="10" name="Shape 8"/>
          <p:cNvSpPr/>
          <p:nvPr/>
        </p:nvSpPr>
        <p:spPr>
          <a:xfrm>
            <a:off x="3236976" y="1828800"/>
            <a:ext cx="1280160" cy="822960"/>
          </a:xfrm>
          <a:prstGeom prst="roundRect">
            <a:avLst>
              <a:gd name="adj" fmla="val 8889"/>
            </a:avLst>
          </a:prstGeom>
          <a:solidFill>
            <a:srgbClr val="EF4444"/>
          </a:solidFill>
          <a:ln/>
        </p:spPr>
      </p:sp>
      <p:sp>
        <p:nvSpPr>
          <p:cNvPr id="11" name="Text 9"/>
          <p:cNvSpPr/>
          <p:nvPr/>
        </p:nvSpPr>
        <p:spPr>
          <a:xfrm>
            <a:off x="3236976" y="1828800"/>
            <a:ext cx="1280160" cy="822960"/>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业务规则</a:t>
            </a:r>
            <a:endParaRPr lang="en-US" sz="1200" dirty="0"/>
          </a:p>
        </p:txBody>
      </p:sp>
      <p:sp>
        <p:nvSpPr>
          <p:cNvPr id="12" name="Text 10"/>
          <p:cNvSpPr/>
          <p:nvPr/>
        </p:nvSpPr>
        <p:spPr>
          <a:xfrm>
            <a:off x="4517136" y="1828800"/>
            <a:ext cx="109728" cy="822960"/>
          </a:xfrm>
          <a:prstGeom prst="rect">
            <a:avLst/>
          </a:prstGeom>
          <a:noFill/>
          <a:ln/>
        </p:spPr>
        <p:txBody>
          <a:bodyPr wrap="square" rtlCol="0" anchor="ctr"/>
          <a:lstStyle/>
          <a:p>
            <a:pPr algn="ctr" indent="0" marL="0">
              <a:buNone/>
            </a:pPr>
            <a:r>
              <a:rPr lang="en-US" sz="1400" dirty="0">
                <a:solidFill>
                  <a:srgbClr val="374151"/>
                </a:solidFill>
                <a:latin typeface="Arial" pitchFamily="34" charset="0"/>
                <a:ea typeface="Arial" pitchFamily="34" charset="-122"/>
                <a:cs typeface="Arial" pitchFamily="34" charset="-120"/>
              </a:rPr>
              <a:t>-&gt;</a:t>
            </a:r>
            <a:endParaRPr lang="en-US" sz="1400" dirty="0"/>
          </a:p>
        </p:txBody>
      </p:sp>
      <p:sp>
        <p:nvSpPr>
          <p:cNvPr id="13" name="Shape 11"/>
          <p:cNvSpPr/>
          <p:nvPr/>
        </p:nvSpPr>
        <p:spPr>
          <a:xfrm>
            <a:off x="4626864" y="1828800"/>
            <a:ext cx="1280160" cy="822960"/>
          </a:xfrm>
          <a:prstGeom prst="roundRect">
            <a:avLst>
              <a:gd name="adj" fmla="val 8889"/>
            </a:avLst>
          </a:prstGeom>
          <a:solidFill>
            <a:srgbClr val="B91C1C"/>
          </a:solidFill>
          <a:ln/>
        </p:spPr>
      </p:sp>
      <p:sp>
        <p:nvSpPr>
          <p:cNvPr id="14" name="Text 12"/>
          <p:cNvSpPr/>
          <p:nvPr/>
        </p:nvSpPr>
        <p:spPr>
          <a:xfrm>
            <a:off x="4626864" y="1828800"/>
            <a:ext cx="1280160" cy="822960"/>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知识库</a:t>
            </a:r>
            <a:endParaRPr lang="en-US" sz="1200" dirty="0"/>
          </a:p>
        </p:txBody>
      </p:sp>
      <p:sp>
        <p:nvSpPr>
          <p:cNvPr id="15" name="Text 13"/>
          <p:cNvSpPr/>
          <p:nvPr/>
        </p:nvSpPr>
        <p:spPr>
          <a:xfrm>
            <a:off x="5907024" y="1828800"/>
            <a:ext cx="109728" cy="822960"/>
          </a:xfrm>
          <a:prstGeom prst="rect">
            <a:avLst/>
          </a:prstGeom>
          <a:noFill/>
          <a:ln/>
        </p:spPr>
        <p:txBody>
          <a:bodyPr wrap="square" rtlCol="0" anchor="ctr"/>
          <a:lstStyle/>
          <a:p>
            <a:pPr algn="ctr" indent="0" marL="0">
              <a:buNone/>
            </a:pPr>
            <a:r>
              <a:rPr lang="en-US" sz="1400" dirty="0">
                <a:solidFill>
                  <a:srgbClr val="374151"/>
                </a:solidFill>
                <a:latin typeface="Arial" pitchFamily="34" charset="0"/>
                <a:ea typeface="Arial" pitchFamily="34" charset="-122"/>
                <a:cs typeface="Arial" pitchFamily="34" charset="-120"/>
              </a:rPr>
              <a:t>-&gt;</a:t>
            </a:r>
            <a:endParaRPr lang="en-US" sz="1400" dirty="0"/>
          </a:p>
        </p:txBody>
      </p:sp>
      <p:sp>
        <p:nvSpPr>
          <p:cNvPr id="16" name="Shape 14"/>
          <p:cNvSpPr/>
          <p:nvPr/>
        </p:nvSpPr>
        <p:spPr>
          <a:xfrm>
            <a:off x="6016752" y="1828800"/>
            <a:ext cx="1280160" cy="822960"/>
          </a:xfrm>
          <a:prstGeom prst="roundRect">
            <a:avLst>
              <a:gd name="adj" fmla="val 8889"/>
            </a:avLst>
          </a:prstGeom>
          <a:solidFill>
            <a:srgbClr val="EF4444"/>
          </a:solidFill>
          <a:ln/>
        </p:spPr>
      </p:sp>
      <p:sp>
        <p:nvSpPr>
          <p:cNvPr id="17" name="Text 15"/>
          <p:cNvSpPr/>
          <p:nvPr/>
        </p:nvSpPr>
        <p:spPr>
          <a:xfrm>
            <a:off x="6016752" y="1828800"/>
            <a:ext cx="1280160" cy="822960"/>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输出模板</a:t>
            </a:r>
            <a:endParaRPr lang="en-US" sz="1200" dirty="0"/>
          </a:p>
        </p:txBody>
      </p:sp>
      <p:sp>
        <p:nvSpPr>
          <p:cNvPr id="18" name="Text 16"/>
          <p:cNvSpPr/>
          <p:nvPr/>
        </p:nvSpPr>
        <p:spPr>
          <a:xfrm>
            <a:off x="7296912" y="1828800"/>
            <a:ext cx="109728" cy="822960"/>
          </a:xfrm>
          <a:prstGeom prst="rect">
            <a:avLst/>
          </a:prstGeom>
          <a:noFill/>
          <a:ln/>
        </p:spPr>
        <p:txBody>
          <a:bodyPr wrap="square" rtlCol="0" anchor="ctr"/>
          <a:lstStyle/>
          <a:p>
            <a:pPr algn="ctr" indent="0" marL="0">
              <a:buNone/>
            </a:pPr>
            <a:r>
              <a:rPr lang="en-US" sz="1400" dirty="0">
                <a:solidFill>
                  <a:srgbClr val="374151"/>
                </a:solidFill>
                <a:latin typeface="Arial" pitchFamily="34" charset="0"/>
                <a:ea typeface="Arial" pitchFamily="34" charset="-122"/>
                <a:cs typeface="Arial" pitchFamily="34" charset="-120"/>
              </a:rPr>
              <a:t>-&gt;</a:t>
            </a:r>
            <a:endParaRPr lang="en-US" sz="1400" dirty="0"/>
          </a:p>
        </p:txBody>
      </p:sp>
      <p:sp>
        <p:nvSpPr>
          <p:cNvPr id="19" name="Shape 17"/>
          <p:cNvSpPr/>
          <p:nvPr/>
        </p:nvSpPr>
        <p:spPr>
          <a:xfrm>
            <a:off x="7406640" y="1828800"/>
            <a:ext cx="1280160" cy="822960"/>
          </a:xfrm>
          <a:prstGeom prst="roundRect">
            <a:avLst>
              <a:gd name="adj" fmla="val 8889"/>
            </a:avLst>
          </a:prstGeom>
          <a:solidFill>
            <a:srgbClr val="F3F4F6"/>
          </a:solidFill>
          <a:ln/>
        </p:spPr>
      </p:sp>
      <p:sp>
        <p:nvSpPr>
          <p:cNvPr id="20" name="Text 18"/>
          <p:cNvSpPr/>
          <p:nvPr/>
        </p:nvSpPr>
        <p:spPr>
          <a:xfrm>
            <a:off x="7406640" y="1828800"/>
            <a:ext cx="1280160" cy="822960"/>
          </a:xfrm>
          <a:prstGeom prst="rect">
            <a:avLst/>
          </a:prstGeom>
          <a:noFill/>
          <a:ln/>
        </p:spPr>
        <p:txBody>
          <a:bodyPr wrap="square" rtlCol="0" anchor="ctr"/>
          <a:lstStyle/>
          <a:p>
            <a:pPr algn="ctr" indent="0" marL="0">
              <a:buNone/>
            </a:pPr>
            <a:r>
              <a:rPr lang="en-US" sz="1200" b="1" dirty="0">
                <a:solidFill>
                  <a:srgbClr val="B91C1C"/>
                </a:solidFill>
                <a:latin typeface="Microsoft YaHei" pitchFamily="34" charset="0"/>
                <a:ea typeface="Microsoft YaHei" pitchFamily="34" charset="-122"/>
                <a:cs typeface="Microsoft YaHei" pitchFamily="34" charset="-120"/>
              </a:rPr>
              <a:t>标准化输出</a:t>
            </a:r>
            <a:endParaRPr lang="en-US" sz="1200" dirty="0"/>
          </a:p>
        </p:txBody>
      </p:sp>
      <p:sp>
        <p:nvSpPr>
          <p:cNvPr id="21" name="Text 19"/>
          <p:cNvSpPr/>
          <p:nvPr/>
        </p:nvSpPr>
        <p:spPr>
          <a:xfrm>
            <a:off x="457200" y="2743200"/>
            <a:ext cx="1280160" cy="365760"/>
          </a:xfrm>
          <a:prstGeom prst="rect">
            <a:avLst/>
          </a:prstGeom>
          <a:noFill/>
          <a:ln/>
        </p:spPr>
        <p:txBody>
          <a:bodyPr wrap="square" rtlCol="0" anchor="ctr"/>
          <a:lstStyle/>
          <a:p>
            <a:pPr algn="ctr" indent="0" marL="0">
              <a:buNone/>
            </a:pPr>
            <a:r>
              <a:rPr lang="en-US" sz="1000" dirty="0">
                <a:solidFill>
                  <a:srgbClr val="374151"/>
                </a:solidFill>
                <a:latin typeface="Microsoft YaHei" pitchFamily="34" charset="0"/>
                <a:ea typeface="Microsoft YaHei" pitchFamily="34" charset="-122"/>
                <a:cs typeface="Microsoft YaHei" pitchFamily="34" charset="-120"/>
              </a:rPr>
              <a:t>原始材料</a:t>
            </a:r>
            <a:endParaRPr lang="en-US" sz="1000" dirty="0"/>
          </a:p>
        </p:txBody>
      </p:sp>
      <p:sp>
        <p:nvSpPr>
          <p:cNvPr id="22" name="Text 20"/>
          <p:cNvSpPr/>
          <p:nvPr/>
        </p:nvSpPr>
        <p:spPr>
          <a:xfrm>
            <a:off x="1847088" y="2743200"/>
            <a:ext cx="1280160" cy="365760"/>
          </a:xfrm>
          <a:prstGeom prst="rect">
            <a:avLst/>
          </a:prstGeom>
          <a:noFill/>
          <a:ln/>
        </p:spPr>
        <p:txBody>
          <a:bodyPr wrap="square" rtlCol="0" anchor="ctr"/>
          <a:lstStyle/>
          <a:p>
            <a:pPr algn="ctr" indent="0" marL="0">
              <a:buNone/>
            </a:pPr>
            <a:r>
              <a:rPr lang="en-US" sz="1000" dirty="0">
                <a:solidFill>
                  <a:srgbClr val="374151"/>
                </a:solidFill>
                <a:latin typeface="Microsoft YaHei" pitchFamily="34" charset="0"/>
                <a:ea typeface="Microsoft YaHei" pitchFamily="34" charset="-122"/>
                <a:cs typeface="Microsoft YaHei" pitchFamily="34" charset="-120"/>
              </a:rPr>
              <a:t>确定由谁来做</a:t>
            </a:r>
            <a:endParaRPr lang="en-US" sz="1000" dirty="0"/>
          </a:p>
        </p:txBody>
      </p:sp>
      <p:sp>
        <p:nvSpPr>
          <p:cNvPr id="23" name="Text 21"/>
          <p:cNvSpPr/>
          <p:nvPr/>
        </p:nvSpPr>
        <p:spPr>
          <a:xfrm>
            <a:off x="3236976" y="2743200"/>
            <a:ext cx="1280160" cy="365760"/>
          </a:xfrm>
          <a:prstGeom prst="rect">
            <a:avLst/>
          </a:prstGeom>
          <a:noFill/>
          <a:ln/>
        </p:spPr>
        <p:txBody>
          <a:bodyPr wrap="square" rtlCol="0" anchor="ctr"/>
          <a:lstStyle/>
          <a:p>
            <a:pPr algn="ctr" indent="0" marL="0">
              <a:buNone/>
            </a:pPr>
            <a:r>
              <a:rPr lang="en-US" sz="1000" dirty="0">
                <a:solidFill>
                  <a:srgbClr val="374151"/>
                </a:solidFill>
                <a:latin typeface="Microsoft YaHei" pitchFamily="34" charset="0"/>
                <a:ea typeface="Microsoft YaHei" pitchFamily="34" charset="-122"/>
                <a:cs typeface="Microsoft YaHei" pitchFamily="34" charset="-120"/>
              </a:rPr>
              <a:t>决定怎么做判断</a:t>
            </a:r>
            <a:endParaRPr lang="en-US" sz="1000" dirty="0"/>
          </a:p>
        </p:txBody>
      </p:sp>
      <p:sp>
        <p:nvSpPr>
          <p:cNvPr id="24" name="Text 22"/>
          <p:cNvSpPr/>
          <p:nvPr/>
        </p:nvSpPr>
        <p:spPr>
          <a:xfrm>
            <a:off x="4626864" y="2743200"/>
            <a:ext cx="1280160" cy="365760"/>
          </a:xfrm>
          <a:prstGeom prst="rect">
            <a:avLst/>
          </a:prstGeom>
          <a:noFill/>
          <a:ln/>
        </p:spPr>
        <p:txBody>
          <a:bodyPr wrap="square" rtlCol="0" anchor="ctr"/>
          <a:lstStyle/>
          <a:p>
            <a:pPr algn="ctr" indent="0" marL="0">
              <a:buNone/>
            </a:pPr>
            <a:r>
              <a:rPr lang="en-US" sz="1000" dirty="0">
                <a:solidFill>
                  <a:srgbClr val="374151"/>
                </a:solidFill>
                <a:latin typeface="Microsoft YaHei" pitchFamily="34" charset="0"/>
                <a:ea typeface="Microsoft YaHei" pitchFamily="34" charset="-122"/>
                <a:cs typeface="Microsoft YaHei" pitchFamily="34" charset="-120"/>
              </a:rPr>
              <a:t>提供判断依据</a:t>
            </a:r>
            <a:endParaRPr lang="en-US" sz="1000" dirty="0"/>
          </a:p>
        </p:txBody>
      </p:sp>
      <p:sp>
        <p:nvSpPr>
          <p:cNvPr id="25" name="Text 23"/>
          <p:cNvSpPr/>
          <p:nvPr/>
        </p:nvSpPr>
        <p:spPr>
          <a:xfrm>
            <a:off x="6016752" y="2743200"/>
            <a:ext cx="1280160" cy="365760"/>
          </a:xfrm>
          <a:prstGeom prst="rect">
            <a:avLst/>
          </a:prstGeom>
          <a:noFill/>
          <a:ln/>
        </p:spPr>
        <p:txBody>
          <a:bodyPr wrap="square" rtlCol="0" anchor="ctr"/>
          <a:lstStyle/>
          <a:p>
            <a:pPr algn="ctr" indent="0" marL="0">
              <a:buNone/>
            </a:pPr>
            <a:r>
              <a:rPr lang="en-US" sz="1000" dirty="0">
                <a:solidFill>
                  <a:srgbClr val="374151"/>
                </a:solidFill>
                <a:latin typeface="Microsoft YaHei" pitchFamily="34" charset="0"/>
                <a:ea typeface="Microsoft YaHei" pitchFamily="34" charset="-122"/>
                <a:cs typeface="Microsoft YaHei" pitchFamily="34" charset="-120"/>
              </a:rPr>
              <a:t>确定输出格式</a:t>
            </a:r>
            <a:endParaRPr lang="en-US" sz="1000" dirty="0"/>
          </a:p>
        </p:txBody>
      </p:sp>
      <p:sp>
        <p:nvSpPr>
          <p:cNvPr id="26" name="Text 24"/>
          <p:cNvSpPr/>
          <p:nvPr/>
        </p:nvSpPr>
        <p:spPr>
          <a:xfrm>
            <a:off x="7406640" y="2743200"/>
            <a:ext cx="1280160" cy="365760"/>
          </a:xfrm>
          <a:prstGeom prst="rect">
            <a:avLst/>
          </a:prstGeom>
          <a:noFill/>
          <a:ln/>
        </p:spPr>
        <p:txBody>
          <a:bodyPr wrap="square" rtlCol="0" anchor="ctr"/>
          <a:lstStyle/>
          <a:p>
            <a:pPr algn="ctr" indent="0" marL="0">
              <a:buNone/>
            </a:pPr>
            <a:r>
              <a:rPr lang="en-US" sz="1000" dirty="0">
                <a:solidFill>
                  <a:srgbClr val="374151"/>
                </a:solidFill>
                <a:latin typeface="Microsoft YaHei" pitchFamily="34" charset="0"/>
                <a:ea typeface="Microsoft YaHei" pitchFamily="34" charset="-122"/>
                <a:cs typeface="Microsoft YaHei" pitchFamily="34" charset="-120"/>
              </a:rPr>
              <a:t>稳定可复用</a:t>
            </a:r>
            <a:endParaRPr lang="en-US" sz="1000" dirty="0"/>
          </a:p>
        </p:txBody>
      </p:sp>
      <p:sp>
        <p:nvSpPr>
          <p:cNvPr id="27" name="Shape 25"/>
          <p:cNvSpPr/>
          <p:nvPr/>
        </p:nvSpPr>
        <p:spPr>
          <a:xfrm>
            <a:off x="457200" y="3383280"/>
            <a:ext cx="8229600" cy="1005840"/>
          </a:xfrm>
          <a:prstGeom prst="roundRect">
            <a:avLst>
              <a:gd name="adj" fmla="val 9091"/>
            </a:avLst>
          </a:prstGeom>
          <a:solidFill>
            <a:srgbClr val="B91C1C"/>
          </a:solidFill>
          <a:ln/>
        </p:spPr>
      </p:sp>
      <p:sp>
        <p:nvSpPr>
          <p:cNvPr id="28" name="Text 26"/>
          <p:cNvSpPr/>
          <p:nvPr/>
        </p:nvSpPr>
        <p:spPr>
          <a:xfrm>
            <a:off x="640080" y="3520440"/>
            <a:ext cx="1097280" cy="320040"/>
          </a:xfrm>
          <a:prstGeom prst="rect">
            <a:avLst/>
          </a:prstGeom>
          <a:noFill/>
          <a:ln/>
        </p:spPr>
        <p:txBody>
          <a:bodyPr wrap="square" rtlCol="0" anchor="ctr"/>
          <a:lstStyle/>
          <a:p>
            <a:pPr indent="0" marL="0">
              <a:buNone/>
            </a:pPr>
            <a:r>
              <a:rPr lang="en-US" sz="1200" b="1" dirty="0">
                <a:solidFill>
                  <a:srgbClr val="EF4444"/>
                </a:solidFill>
                <a:latin typeface="Arial" pitchFamily="34" charset="0"/>
                <a:ea typeface="Arial" pitchFamily="34" charset="-122"/>
                <a:cs typeface="Arial" pitchFamily="34" charset="-120"/>
              </a:rPr>
              <a:t>核心逻辑</a:t>
            </a:r>
            <a:endParaRPr lang="en-US" sz="1200" dirty="0"/>
          </a:p>
        </p:txBody>
      </p:sp>
      <p:sp>
        <p:nvSpPr>
          <p:cNvPr id="29" name="Text 27"/>
          <p:cNvSpPr/>
          <p:nvPr/>
        </p:nvSpPr>
        <p:spPr>
          <a:xfrm>
            <a:off x="640080" y="3886200"/>
            <a:ext cx="7863840" cy="411480"/>
          </a:xfrm>
          <a:prstGeom prst="rect">
            <a:avLst/>
          </a:prstGeom>
          <a:noFill/>
          <a:ln/>
        </p:spPr>
        <p:txBody>
          <a:bodyPr wrap="square" rtlCol="0" anchor="ctr"/>
          <a:lstStyle/>
          <a:p>
            <a:pPr indent="0" marL="0">
              <a:buNone/>
            </a:pPr>
            <a:r>
              <a:rPr lang="en-US" sz="1600" dirty="0">
                <a:solidFill>
                  <a:srgbClr val="FFFFFF"/>
                </a:solidFill>
                <a:latin typeface="Microsoft YaHei" pitchFamily="34" charset="0"/>
                <a:ea typeface="Microsoft YaHei" pitchFamily="34" charset="-122"/>
                <a:cs typeface="Microsoft YaHei" pitchFamily="34" charset="-120"/>
              </a:rPr>
              <a:t>角色确定权限，规则决定行为，知识提供依据，模板确保一致性</a:t>
            </a:r>
            <a:endParaRPr lang="en-US" sz="1600" dirty="0"/>
          </a:p>
        </p:txBody>
      </p:sp>
      <p:sp>
        <p:nvSpPr>
          <p:cNvPr id="30" name="Shape 28"/>
          <p:cNvSpPr/>
          <p:nvPr/>
        </p:nvSpPr>
        <p:spPr>
          <a:xfrm>
            <a:off x="8503920" y="4663440"/>
            <a:ext cx="365760" cy="365760"/>
          </a:xfrm>
          <a:prstGeom prst="ellipse">
            <a:avLst/>
          </a:prstGeom>
          <a:solidFill>
            <a:srgbClr val="EF4444"/>
          </a:solidFill>
          <a:ln/>
        </p:spPr>
      </p:sp>
      <p:sp>
        <p:nvSpPr>
          <p:cNvPr id="31" name="Text 29"/>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320040"/>
            <a:ext cx="8229600" cy="548640"/>
          </a:xfrm>
          <a:prstGeom prst="rect">
            <a:avLst/>
          </a:prstGeom>
          <a:noFill/>
          <a:ln/>
        </p:spPr>
        <p:txBody>
          <a:bodyPr wrap="square" rtlCol="0" anchor="ctr"/>
          <a:lstStyle/>
          <a:p>
            <a:pPr indent="0" marL="0">
              <a:buNone/>
            </a:pPr>
            <a:r>
              <a:rPr lang="en-US" sz="2600" b="1" dirty="0">
                <a:solidFill>
                  <a:srgbClr val="B91C1C"/>
                </a:solidFill>
                <a:latin typeface="Microsoft YaHei" pitchFamily="34" charset="0"/>
                <a:ea typeface="Microsoft YaHei" pitchFamily="34" charset="-122"/>
                <a:cs typeface="Microsoft YaHei" pitchFamily="34" charset="-120"/>
              </a:rPr>
              <a:t>什么样的工作适合交给数字员工</a:t>
            </a:r>
            <a:endParaRPr lang="en-US" sz="2600" dirty="0"/>
          </a:p>
        </p:txBody>
      </p:sp>
      <p:sp>
        <p:nvSpPr>
          <p:cNvPr id="4" name="Shape 2"/>
          <p:cNvSpPr/>
          <p:nvPr/>
        </p:nvSpPr>
        <p:spPr>
          <a:xfrm>
            <a:off x="457200" y="1005840"/>
            <a:ext cx="3931920" cy="3566160"/>
          </a:xfrm>
          <a:prstGeom prst="roundRect">
            <a:avLst>
              <a:gd name="adj" fmla="val 2564"/>
            </a:avLst>
          </a:prstGeom>
          <a:solidFill>
            <a:srgbClr val="F3F4F6"/>
          </a:solidFill>
          <a:ln/>
        </p:spPr>
      </p:sp>
      <p:sp>
        <p:nvSpPr>
          <p:cNvPr id="5" name="Shape 3"/>
          <p:cNvSpPr/>
          <p:nvPr/>
        </p:nvSpPr>
        <p:spPr>
          <a:xfrm>
            <a:off x="457200" y="1005840"/>
            <a:ext cx="91440" cy="3566160"/>
          </a:xfrm>
          <a:prstGeom prst="rect">
            <a:avLst/>
          </a:prstGeom>
          <a:solidFill>
            <a:srgbClr val="10B981"/>
          </a:solidFill>
          <a:ln/>
        </p:spPr>
      </p:sp>
      <p:sp>
        <p:nvSpPr>
          <p:cNvPr id="6" name="Text 4"/>
          <p:cNvSpPr/>
          <p:nvPr/>
        </p:nvSpPr>
        <p:spPr>
          <a:xfrm>
            <a:off x="731520" y="1143000"/>
            <a:ext cx="3474720" cy="457200"/>
          </a:xfrm>
          <a:prstGeom prst="rect">
            <a:avLst/>
          </a:prstGeom>
          <a:noFill/>
          <a:ln/>
        </p:spPr>
        <p:txBody>
          <a:bodyPr wrap="square" rtlCol="0" anchor="ctr"/>
          <a:lstStyle/>
          <a:p>
            <a:pPr indent="0" marL="0">
              <a:buNone/>
            </a:pPr>
            <a:r>
              <a:rPr lang="en-US" sz="1800" b="1" dirty="0">
                <a:solidFill>
                  <a:srgbClr val="10B981"/>
                </a:solidFill>
                <a:latin typeface="Microsoft YaHei" pitchFamily="34" charset="0"/>
                <a:ea typeface="Microsoft YaHei" pitchFamily="34" charset="-122"/>
                <a:cs typeface="Microsoft YaHei" pitchFamily="34" charset="-120"/>
              </a:rPr>
              <a:t>适合的特征</a:t>
            </a:r>
            <a:endParaRPr lang="en-US" sz="1800" dirty="0"/>
          </a:p>
        </p:txBody>
      </p:sp>
      <p:sp>
        <p:nvSpPr>
          <p:cNvPr id="7" name="Text 5"/>
          <p:cNvSpPr/>
          <p:nvPr/>
        </p:nvSpPr>
        <p:spPr>
          <a:xfrm>
            <a:off x="731520" y="1691640"/>
            <a:ext cx="3474720" cy="2743200"/>
          </a:xfrm>
          <a:prstGeom prst="rect">
            <a:avLst/>
          </a:prstGeom>
          <a:noFill/>
          <a:ln/>
        </p:spPr>
        <p:txBody>
          <a:bodyPr wrap="square" rtlCol="0" anchor="ctr"/>
          <a:lstStyle/>
          <a:p>
            <a:pPr indent="0" marL="0">
              <a:buNone/>
            </a:pPr>
            <a:r>
              <a:rPr lang="en-US" sz="1300" b="1" dirty="0">
                <a:solidFill>
                  <a:srgbClr val="374151"/>
                </a:solidFill>
                <a:latin typeface="Microsoft YaHei" pitchFamily="34" charset="0"/>
                <a:ea typeface="Microsoft YaHei" pitchFamily="34" charset="-122"/>
                <a:cs typeface="Microsoft YaHei" pitchFamily="34" charset="-120"/>
              </a:rPr>
              <a:t>高频重复</a:t>
            </a:r>
            <a:endParaRPr lang="en-US" sz="1300" dirty="0"/>
          </a:p>
          <a:p>
            <a:pPr indent="0" marL="0">
              <a:buNone/>
            </a:pPr>
            <a:r>
              <a:rPr lang="en-US" sz="1300" dirty="0">
                <a:solidFill>
                  <a:srgbClr val="374151"/>
                </a:solidFill>
                <a:latin typeface="Microsoft YaHei" pitchFamily="34" charset="0"/>
                <a:ea typeface="Microsoft YaHei" pitchFamily="34" charset="-122"/>
                <a:cs typeface="Microsoft YaHei" pitchFamily="34" charset="-120"/>
              </a:rPr>
              <a:t>每周5次以上</a:t>
            </a:r>
            <a:endParaRPr lang="en-US" sz="1300" dirty="0"/>
          </a:p>
          <a:p>
            <a:pPr indent="0" marL="0">
              <a:buNone/>
            </a:pPr>
            <a:endParaRPr lang="en-US" sz="1300" dirty="0"/>
          </a:p>
          <a:p>
            <a:pPr indent="0" marL="0">
              <a:buNone/>
            </a:pPr>
            <a:r>
              <a:rPr lang="en-US" sz="1300" b="1" dirty="0">
                <a:solidFill>
                  <a:srgbClr val="374151"/>
                </a:solidFill>
                <a:latin typeface="Microsoft YaHei" pitchFamily="34" charset="0"/>
                <a:ea typeface="Microsoft YaHei" pitchFamily="34" charset="-122"/>
                <a:cs typeface="Microsoft YaHei" pitchFamily="34" charset="-120"/>
              </a:rPr>
              <a:t>规则可描述</a:t>
            </a:r>
            <a:endParaRPr lang="en-US" sz="1300" dirty="0"/>
          </a:p>
          <a:p>
            <a:pPr indent="0" marL="0">
              <a:buNone/>
            </a:pPr>
            <a:r>
              <a:rPr lang="en-US" sz="1300" dirty="0">
                <a:solidFill>
                  <a:srgbClr val="374151"/>
                </a:solidFill>
                <a:latin typeface="Microsoft YaHei" pitchFamily="34" charset="0"/>
                <a:ea typeface="Microsoft YaHei" pitchFamily="34" charset="-122"/>
                <a:cs typeface="Microsoft YaHei" pitchFamily="34" charset="-120"/>
              </a:rPr>
              <a:t>可以写成「如果...就...」</a:t>
            </a:r>
            <a:endParaRPr lang="en-US" sz="1300" dirty="0"/>
          </a:p>
          <a:p>
            <a:pPr indent="0" marL="0">
              <a:buNone/>
            </a:pPr>
            <a:endParaRPr lang="en-US" sz="1300" dirty="0"/>
          </a:p>
          <a:p>
            <a:pPr indent="0" marL="0">
              <a:buNone/>
            </a:pPr>
            <a:r>
              <a:rPr lang="en-US" sz="1300" b="1" dirty="0">
                <a:solidFill>
                  <a:srgbClr val="374151"/>
                </a:solidFill>
                <a:latin typeface="Microsoft YaHei" pitchFamily="34" charset="0"/>
                <a:ea typeface="Microsoft YaHei" pitchFamily="34" charset="-122"/>
                <a:cs typeface="Microsoft YaHei" pitchFamily="34" charset="-120"/>
              </a:rPr>
              <a:t>输出格式固定</a:t>
            </a:r>
            <a:endParaRPr lang="en-US" sz="1300" dirty="0"/>
          </a:p>
          <a:p>
            <a:pPr indent="0" marL="0">
              <a:buNone/>
            </a:pPr>
            <a:r>
              <a:rPr lang="en-US" sz="1300" dirty="0">
                <a:solidFill>
                  <a:srgbClr val="374151"/>
                </a:solidFill>
                <a:latin typeface="Microsoft YaHei" pitchFamily="34" charset="0"/>
                <a:ea typeface="Microsoft YaHei" pitchFamily="34" charset="-122"/>
                <a:cs typeface="Microsoft YaHei" pitchFamily="34" charset="-120"/>
              </a:rPr>
              <a:t>每次交付结果结构相似</a:t>
            </a:r>
            <a:endParaRPr lang="en-US" sz="1300" dirty="0"/>
          </a:p>
          <a:p>
            <a:pPr indent="0" marL="0">
              <a:buNone/>
            </a:pPr>
            <a:endParaRPr lang="en-US" sz="1300" dirty="0"/>
          </a:p>
          <a:p>
            <a:pPr indent="0" marL="0">
              <a:buNone/>
            </a:pPr>
            <a:r>
              <a:rPr lang="en-US" sz="1300" b="1" dirty="0">
                <a:solidFill>
                  <a:srgbClr val="374151"/>
                </a:solidFill>
                <a:latin typeface="Microsoft YaHei" pitchFamily="34" charset="0"/>
                <a:ea typeface="Microsoft YaHei" pitchFamily="34" charset="-122"/>
                <a:cs typeface="Microsoft YaHei" pitchFamily="34" charset="-120"/>
              </a:rPr>
              <a:t>输入相对结构化</a:t>
            </a:r>
            <a:endParaRPr lang="en-US" sz="1300" dirty="0"/>
          </a:p>
          <a:p>
            <a:pPr indent="0" marL="0">
              <a:buNone/>
            </a:pPr>
            <a:r>
              <a:rPr lang="en-US" sz="1300" dirty="0">
                <a:solidFill>
                  <a:srgbClr val="374151"/>
                </a:solidFill>
                <a:latin typeface="Microsoft YaHei" pitchFamily="34" charset="0"/>
                <a:ea typeface="Microsoft YaHei" pitchFamily="34" charset="-122"/>
                <a:cs typeface="Microsoft YaHei" pitchFamily="34" charset="-120"/>
              </a:rPr>
              <a:t>原始材料有固定格式</a:t>
            </a:r>
            <a:endParaRPr lang="en-US" sz="1300" dirty="0"/>
          </a:p>
        </p:txBody>
      </p:sp>
      <p:sp>
        <p:nvSpPr>
          <p:cNvPr id="8" name="Shape 6"/>
          <p:cNvSpPr/>
          <p:nvPr/>
        </p:nvSpPr>
        <p:spPr>
          <a:xfrm>
            <a:off x="4754880" y="1005840"/>
            <a:ext cx="3931920" cy="3566160"/>
          </a:xfrm>
          <a:prstGeom prst="roundRect">
            <a:avLst>
              <a:gd name="adj" fmla="val 2564"/>
            </a:avLst>
          </a:prstGeom>
          <a:solidFill>
            <a:srgbClr val="F3F4F6"/>
          </a:solidFill>
          <a:ln/>
        </p:spPr>
      </p:sp>
      <p:sp>
        <p:nvSpPr>
          <p:cNvPr id="9" name="Shape 7"/>
          <p:cNvSpPr/>
          <p:nvPr/>
        </p:nvSpPr>
        <p:spPr>
          <a:xfrm>
            <a:off x="4754880" y="1005840"/>
            <a:ext cx="91440" cy="3566160"/>
          </a:xfrm>
          <a:prstGeom prst="rect">
            <a:avLst/>
          </a:prstGeom>
          <a:solidFill>
            <a:srgbClr val="EF4444"/>
          </a:solidFill>
          <a:ln/>
        </p:spPr>
      </p:sp>
      <p:sp>
        <p:nvSpPr>
          <p:cNvPr id="10" name="Text 8"/>
          <p:cNvSpPr/>
          <p:nvPr/>
        </p:nvSpPr>
        <p:spPr>
          <a:xfrm>
            <a:off x="5029200" y="1143000"/>
            <a:ext cx="3474720" cy="457200"/>
          </a:xfrm>
          <a:prstGeom prst="rect">
            <a:avLst/>
          </a:prstGeom>
          <a:noFill/>
          <a:ln/>
        </p:spPr>
        <p:txBody>
          <a:bodyPr wrap="square" rtlCol="0" anchor="ctr"/>
          <a:lstStyle/>
          <a:p>
            <a:pPr indent="0" marL="0">
              <a:buNone/>
            </a:pPr>
            <a:r>
              <a:rPr lang="en-US" sz="1800" b="1" dirty="0">
                <a:solidFill>
                  <a:srgbClr val="EF4444"/>
                </a:solidFill>
                <a:latin typeface="Microsoft YaHei" pitchFamily="34" charset="0"/>
                <a:ea typeface="Microsoft YaHei" pitchFamily="34" charset="-122"/>
                <a:cs typeface="Microsoft YaHei" pitchFamily="34" charset="-120"/>
              </a:rPr>
              <a:t>不适合的情形</a:t>
            </a:r>
            <a:endParaRPr lang="en-US" sz="1800" dirty="0"/>
          </a:p>
        </p:txBody>
      </p:sp>
      <p:sp>
        <p:nvSpPr>
          <p:cNvPr id="11" name="Text 9"/>
          <p:cNvSpPr/>
          <p:nvPr/>
        </p:nvSpPr>
        <p:spPr>
          <a:xfrm>
            <a:off x="5029200" y="1691640"/>
            <a:ext cx="3474720" cy="2743200"/>
          </a:xfrm>
          <a:prstGeom prst="rect">
            <a:avLst/>
          </a:prstGeom>
          <a:noFill/>
          <a:ln/>
        </p:spPr>
        <p:txBody>
          <a:bodyPr wrap="square" rtlCol="0" anchor="ctr"/>
          <a:lstStyle/>
          <a:p>
            <a:pPr marL="342900" indent="-342900">
              <a:buSzPct val="100000"/>
              <a:buChar char="•"/>
            </a:pPr>
            <a:r>
              <a:rPr lang="en-US" sz="1300" dirty="0">
                <a:solidFill>
                  <a:srgbClr val="374151"/>
                </a:solidFill>
                <a:latin typeface="Microsoft YaHei" pitchFamily="34" charset="0"/>
                <a:ea typeface="Microsoft YaHei" pitchFamily="34" charset="-122"/>
                <a:cs typeface="Microsoft YaHei" pitchFamily="34" charset="-120"/>
              </a:rPr>
              <a:t>每次情况都高度独特</a:t>
            </a:r>
            <a:endParaRPr lang="en-US" sz="1300" dirty="0"/>
          </a:p>
          <a:p>
            <a:pPr indent="0" marL="0">
              <a:buNone/>
            </a:pPr>
            <a:endParaRPr lang="en-US" sz="1300" dirty="0"/>
          </a:p>
          <a:p>
            <a:pPr marL="342900" indent="-342900">
              <a:buSzPct val="100000"/>
              <a:buChar char="•"/>
            </a:pPr>
            <a:r>
              <a:rPr lang="en-US" sz="1300" dirty="0">
                <a:solidFill>
                  <a:srgbClr val="374151"/>
                </a:solidFill>
                <a:latin typeface="Microsoft YaHei" pitchFamily="34" charset="0"/>
                <a:ea typeface="Microsoft YaHei" pitchFamily="34" charset="-122"/>
                <a:cs typeface="Microsoft YaHei" pitchFamily="34" charset="-120"/>
              </a:rPr>
              <a:t>判断依赖大量隐性背景</a:t>
            </a:r>
            <a:endParaRPr lang="en-US" sz="1300" dirty="0"/>
          </a:p>
          <a:p>
            <a:pPr indent="0" marL="0">
              <a:buNone/>
            </a:pPr>
            <a:endParaRPr lang="en-US" sz="1300" dirty="0"/>
          </a:p>
          <a:p>
            <a:pPr marL="342900" indent="-342900">
              <a:buSzPct val="100000"/>
              <a:buChar char="•"/>
            </a:pPr>
            <a:r>
              <a:rPr lang="en-US" sz="1300" dirty="0">
                <a:solidFill>
                  <a:srgbClr val="374151"/>
                </a:solidFill>
                <a:latin typeface="Microsoft YaHei" pitchFamily="34" charset="0"/>
                <a:ea typeface="Microsoft YaHei" pitchFamily="34" charset="-122"/>
                <a:cs typeface="Microsoft YaHei" pitchFamily="34" charset="-120"/>
              </a:rPr>
              <a:t>输出需要最终人工决策</a:t>
            </a:r>
            <a:endParaRPr lang="en-US" sz="1300" dirty="0"/>
          </a:p>
          <a:p>
            <a:pPr indent="0" marL="0">
              <a:buNone/>
            </a:pPr>
            <a:endParaRPr lang="en-US" sz="1300" dirty="0"/>
          </a:p>
          <a:p>
            <a:pPr marL="342900" indent="-342900">
              <a:buSzPct val="100000"/>
              <a:buChar char="•"/>
            </a:pPr>
            <a:r>
              <a:rPr lang="en-US" sz="1300" dirty="0">
                <a:solidFill>
                  <a:srgbClr val="374151"/>
                </a:solidFill>
                <a:latin typeface="Microsoft YaHei" pitchFamily="34" charset="0"/>
                <a:ea typeface="Microsoft YaHei" pitchFamily="34" charset="-122"/>
                <a:cs typeface="Microsoft YaHei" pitchFamily="34" charset="-120"/>
              </a:rPr>
              <a:t>涉及高敏感合规操作</a:t>
            </a:r>
            <a:endParaRPr lang="en-US" sz="1300" dirty="0"/>
          </a:p>
        </p:txBody>
      </p:sp>
      <p:sp>
        <p:nvSpPr>
          <p:cNvPr id="12" name="Shape 10"/>
          <p:cNvSpPr/>
          <p:nvPr/>
        </p:nvSpPr>
        <p:spPr>
          <a:xfrm>
            <a:off x="8503920" y="4663440"/>
            <a:ext cx="365760" cy="365760"/>
          </a:xfrm>
          <a:prstGeom prst="ellipse">
            <a:avLst/>
          </a:prstGeom>
          <a:solidFill>
            <a:srgbClr val="EF4444"/>
          </a:solidFill>
          <a:ln/>
        </p:spPr>
      </p:sp>
      <p:sp>
        <p:nvSpPr>
          <p:cNvPr id="13" name="Text 11"/>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320040"/>
            <a:ext cx="8229600" cy="548640"/>
          </a:xfrm>
          <a:prstGeom prst="rect">
            <a:avLst/>
          </a:prstGeom>
          <a:noFill/>
          <a:ln/>
        </p:spPr>
        <p:txBody>
          <a:bodyPr wrap="square" rtlCol="0" anchor="ctr"/>
          <a:lstStyle/>
          <a:p>
            <a:pPr indent="0" marL="0">
              <a:buNone/>
            </a:pPr>
            <a:r>
              <a:rPr lang="en-US" sz="2800" b="1" dirty="0">
                <a:solidFill>
                  <a:srgbClr val="B91C1C"/>
                </a:solidFill>
                <a:latin typeface="Microsoft YaHei" pitchFamily="34" charset="0"/>
                <a:ea typeface="Microsoft YaHei" pitchFamily="34" charset="-122"/>
                <a:cs typeface="Microsoft YaHei" pitchFamily="34" charset="-120"/>
              </a:rPr>
              <a:t>适合数字员工的任务特征</a:t>
            </a:r>
            <a:endParaRPr lang="en-US" sz="2800" dirty="0"/>
          </a:p>
        </p:txBody>
      </p:sp>
      <p:sp>
        <p:nvSpPr>
          <p:cNvPr id="4" name="Shape 2"/>
          <p:cNvSpPr/>
          <p:nvPr/>
        </p:nvSpPr>
        <p:spPr>
          <a:xfrm>
            <a:off x="457200" y="1097280"/>
            <a:ext cx="3931920" cy="1554480"/>
          </a:xfrm>
          <a:prstGeom prst="roundRect">
            <a:avLst>
              <a:gd name="adj" fmla="val 5882"/>
            </a:avLst>
          </a:prstGeom>
          <a:solidFill>
            <a:srgbClr val="F3F4F6"/>
          </a:solidFill>
          <a:ln/>
        </p:spPr>
      </p:sp>
      <p:sp>
        <p:nvSpPr>
          <p:cNvPr id="5" name="Shape 3"/>
          <p:cNvSpPr/>
          <p:nvPr/>
        </p:nvSpPr>
        <p:spPr>
          <a:xfrm>
            <a:off x="640080" y="1325880"/>
            <a:ext cx="502920" cy="502920"/>
          </a:xfrm>
          <a:prstGeom prst="ellipse">
            <a:avLst/>
          </a:prstGeom>
          <a:solidFill>
            <a:srgbClr val="EF4444"/>
          </a:solidFill>
          <a:ln/>
        </p:spPr>
      </p:sp>
      <p:sp>
        <p:nvSpPr>
          <p:cNvPr id="6" name="Text 4"/>
          <p:cNvSpPr/>
          <p:nvPr/>
        </p:nvSpPr>
        <p:spPr>
          <a:xfrm>
            <a:off x="640080" y="1325880"/>
            <a:ext cx="502920" cy="50292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7" name="Text 5"/>
          <p:cNvSpPr/>
          <p:nvPr/>
        </p:nvSpPr>
        <p:spPr>
          <a:xfrm>
            <a:off x="1280160" y="1325880"/>
            <a:ext cx="2926080" cy="457200"/>
          </a:xfrm>
          <a:prstGeom prst="rect">
            <a:avLst/>
          </a:prstGeom>
          <a:noFill/>
          <a:ln/>
        </p:spPr>
        <p:txBody>
          <a:bodyPr wrap="square" rtlCol="0" anchor="ctr"/>
          <a:lstStyle/>
          <a:p>
            <a:pPr indent="0" marL="0">
              <a:buNone/>
            </a:pPr>
            <a:r>
              <a:rPr lang="en-US" sz="2000" b="1" dirty="0">
                <a:solidFill>
                  <a:srgbClr val="B91C1C"/>
                </a:solidFill>
                <a:latin typeface="Microsoft YaHei" pitchFamily="34" charset="0"/>
                <a:ea typeface="Microsoft YaHei" pitchFamily="34" charset="-122"/>
                <a:cs typeface="Microsoft YaHei" pitchFamily="34" charset="-120"/>
              </a:rPr>
              <a:t>高频重复</a:t>
            </a:r>
            <a:endParaRPr lang="en-US" sz="2000" dirty="0"/>
          </a:p>
        </p:txBody>
      </p:sp>
      <p:sp>
        <p:nvSpPr>
          <p:cNvPr id="8" name="Text 6"/>
          <p:cNvSpPr/>
          <p:nvPr/>
        </p:nvSpPr>
        <p:spPr>
          <a:xfrm>
            <a:off x="1280160" y="1874520"/>
            <a:ext cx="2926080" cy="54864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同类型任务每周出现5次以上</a:t>
            </a:r>
            <a:endParaRPr lang="en-US" sz="1300" dirty="0"/>
          </a:p>
        </p:txBody>
      </p:sp>
      <p:sp>
        <p:nvSpPr>
          <p:cNvPr id="9" name="Shape 7"/>
          <p:cNvSpPr/>
          <p:nvPr/>
        </p:nvSpPr>
        <p:spPr>
          <a:xfrm>
            <a:off x="4754880" y="1097280"/>
            <a:ext cx="3931920" cy="1554480"/>
          </a:xfrm>
          <a:prstGeom prst="roundRect">
            <a:avLst>
              <a:gd name="adj" fmla="val 5882"/>
            </a:avLst>
          </a:prstGeom>
          <a:solidFill>
            <a:srgbClr val="F3F4F6"/>
          </a:solidFill>
          <a:ln/>
        </p:spPr>
      </p:sp>
      <p:sp>
        <p:nvSpPr>
          <p:cNvPr id="10" name="Shape 8"/>
          <p:cNvSpPr/>
          <p:nvPr/>
        </p:nvSpPr>
        <p:spPr>
          <a:xfrm>
            <a:off x="4937760" y="1325880"/>
            <a:ext cx="502920" cy="502920"/>
          </a:xfrm>
          <a:prstGeom prst="ellipse">
            <a:avLst/>
          </a:prstGeom>
          <a:solidFill>
            <a:srgbClr val="EF4444"/>
          </a:solidFill>
          <a:ln/>
        </p:spPr>
      </p:sp>
      <p:sp>
        <p:nvSpPr>
          <p:cNvPr id="11" name="Text 9"/>
          <p:cNvSpPr/>
          <p:nvPr/>
        </p:nvSpPr>
        <p:spPr>
          <a:xfrm>
            <a:off x="4937760" y="1325880"/>
            <a:ext cx="502920" cy="50292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12" name="Text 10"/>
          <p:cNvSpPr/>
          <p:nvPr/>
        </p:nvSpPr>
        <p:spPr>
          <a:xfrm>
            <a:off x="5577840" y="1325880"/>
            <a:ext cx="2926080" cy="457200"/>
          </a:xfrm>
          <a:prstGeom prst="rect">
            <a:avLst/>
          </a:prstGeom>
          <a:noFill/>
          <a:ln/>
        </p:spPr>
        <p:txBody>
          <a:bodyPr wrap="square" rtlCol="0" anchor="ctr"/>
          <a:lstStyle/>
          <a:p>
            <a:pPr indent="0" marL="0">
              <a:buNone/>
            </a:pPr>
            <a:r>
              <a:rPr lang="en-US" sz="2000" b="1" dirty="0">
                <a:solidFill>
                  <a:srgbClr val="B91C1C"/>
                </a:solidFill>
                <a:latin typeface="Microsoft YaHei" pitchFamily="34" charset="0"/>
                <a:ea typeface="Microsoft YaHei" pitchFamily="34" charset="-122"/>
                <a:cs typeface="Microsoft YaHei" pitchFamily="34" charset="-120"/>
              </a:rPr>
              <a:t>规则可描述</a:t>
            </a:r>
            <a:endParaRPr lang="en-US" sz="2000" dirty="0"/>
          </a:p>
        </p:txBody>
      </p:sp>
      <p:sp>
        <p:nvSpPr>
          <p:cNvPr id="13" name="Text 11"/>
          <p:cNvSpPr/>
          <p:nvPr/>
        </p:nvSpPr>
        <p:spPr>
          <a:xfrm>
            <a:off x="5577840" y="1874520"/>
            <a:ext cx="2926080" cy="54864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背后的判断逻辑可以写成条件-行动对</a:t>
            </a:r>
            <a:endParaRPr lang="en-US" sz="1300" dirty="0"/>
          </a:p>
        </p:txBody>
      </p:sp>
      <p:sp>
        <p:nvSpPr>
          <p:cNvPr id="14" name="Shape 12"/>
          <p:cNvSpPr/>
          <p:nvPr/>
        </p:nvSpPr>
        <p:spPr>
          <a:xfrm>
            <a:off x="457200" y="2971800"/>
            <a:ext cx="3931920" cy="1554480"/>
          </a:xfrm>
          <a:prstGeom prst="roundRect">
            <a:avLst>
              <a:gd name="adj" fmla="val 5882"/>
            </a:avLst>
          </a:prstGeom>
          <a:solidFill>
            <a:srgbClr val="F3F4F6"/>
          </a:solidFill>
          <a:ln/>
        </p:spPr>
      </p:sp>
      <p:sp>
        <p:nvSpPr>
          <p:cNvPr id="15" name="Shape 13"/>
          <p:cNvSpPr/>
          <p:nvPr/>
        </p:nvSpPr>
        <p:spPr>
          <a:xfrm>
            <a:off x="640080" y="3200400"/>
            <a:ext cx="502920" cy="502920"/>
          </a:xfrm>
          <a:prstGeom prst="ellipse">
            <a:avLst/>
          </a:prstGeom>
          <a:solidFill>
            <a:srgbClr val="EF4444"/>
          </a:solidFill>
          <a:ln/>
        </p:spPr>
      </p:sp>
      <p:sp>
        <p:nvSpPr>
          <p:cNvPr id="16" name="Text 14"/>
          <p:cNvSpPr/>
          <p:nvPr/>
        </p:nvSpPr>
        <p:spPr>
          <a:xfrm>
            <a:off x="640080" y="3200400"/>
            <a:ext cx="502920" cy="50292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17" name="Text 15"/>
          <p:cNvSpPr/>
          <p:nvPr/>
        </p:nvSpPr>
        <p:spPr>
          <a:xfrm>
            <a:off x="1280160" y="3200400"/>
            <a:ext cx="2926080" cy="457200"/>
          </a:xfrm>
          <a:prstGeom prst="rect">
            <a:avLst/>
          </a:prstGeom>
          <a:noFill/>
          <a:ln/>
        </p:spPr>
        <p:txBody>
          <a:bodyPr wrap="square" rtlCol="0" anchor="ctr"/>
          <a:lstStyle/>
          <a:p>
            <a:pPr indent="0" marL="0">
              <a:buNone/>
            </a:pPr>
            <a:r>
              <a:rPr lang="en-US" sz="2000" b="1" dirty="0">
                <a:solidFill>
                  <a:srgbClr val="B91C1C"/>
                </a:solidFill>
                <a:latin typeface="Microsoft YaHei" pitchFamily="34" charset="0"/>
                <a:ea typeface="Microsoft YaHei" pitchFamily="34" charset="-122"/>
                <a:cs typeface="Microsoft YaHei" pitchFamily="34" charset="-120"/>
              </a:rPr>
              <a:t>输出格式固定</a:t>
            </a:r>
            <a:endParaRPr lang="en-US" sz="2000" dirty="0"/>
          </a:p>
        </p:txBody>
      </p:sp>
      <p:sp>
        <p:nvSpPr>
          <p:cNvPr id="18" name="Text 16"/>
          <p:cNvSpPr/>
          <p:nvPr/>
        </p:nvSpPr>
        <p:spPr>
          <a:xfrm>
            <a:off x="1280160" y="3749040"/>
            <a:ext cx="2926080" cy="54864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每次交付的结果结构相似</a:t>
            </a:r>
            <a:endParaRPr lang="en-US" sz="1300" dirty="0"/>
          </a:p>
        </p:txBody>
      </p:sp>
      <p:sp>
        <p:nvSpPr>
          <p:cNvPr id="19" name="Shape 17"/>
          <p:cNvSpPr/>
          <p:nvPr/>
        </p:nvSpPr>
        <p:spPr>
          <a:xfrm>
            <a:off x="4754880" y="2971800"/>
            <a:ext cx="3931920" cy="1554480"/>
          </a:xfrm>
          <a:prstGeom prst="roundRect">
            <a:avLst>
              <a:gd name="adj" fmla="val 5882"/>
            </a:avLst>
          </a:prstGeom>
          <a:solidFill>
            <a:srgbClr val="F3F4F6"/>
          </a:solidFill>
          <a:ln/>
        </p:spPr>
      </p:sp>
      <p:sp>
        <p:nvSpPr>
          <p:cNvPr id="20" name="Shape 18"/>
          <p:cNvSpPr/>
          <p:nvPr/>
        </p:nvSpPr>
        <p:spPr>
          <a:xfrm>
            <a:off x="4937760" y="3200400"/>
            <a:ext cx="502920" cy="502920"/>
          </a:xfrm>
          <a:prstGeom prst="ellipse">
            <a:avLst/>
          </a:prstGeom>
          <a:solidFill>
            <a:srgbClr val="EF4444"/>
          </a:solidFill>
          <a:ln/>
        </p:spPr>
      </p:sp>
      <p:sp>
        <p:nvSpPr>
          <p:cNvPr id="21" name="Text 19"/>
          <p:cNvSpPr/>
          <p:nvPr/>
        </p:nvSpPr>
        <p:spPr>
          <a:xfrm>
            <a:off x="4937760" y="3200400"/>
            <a:ext cx="502920" cy="50292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4</a:t>
            </a:r>
            <a:endParaRPr lang="en-US" sz="1800" dirty="0"/>
          </a:p>
        </p:txBody>
      </p:sp>
      <p:sp>
        <p:nvSpPr>
          <p:cNvPr id="22" name="Text 20"/>
          <p:cNvSpPr/>
          <p:nvPr/>
        </p:nvSpPr>
        <p:spPr>
          <a:xfrm>
            <a:off x="5577840" y="3200400"/>
            <a:ext cx="2926080" cy="457200"/>
          </a:xfrm>
          <a:prstGeom prst="rect">
            <a:avLst/>
          </a:prstGeom>
          <a:noFill/>
          <a:ln/>
        </p:spPr>
        <p:txBody>
          <a:bodyPr wrap="square" rtlCol="0" anchor="ctr"/>
          <a:lstStyle/>
          <a:p>
            <a:pPr indent="0" marL="0">
              <a:buNone/>
            </a:pPr>
            <a:r>
              <a:rPr lang="en-US" sz="2000" b="1" dirty="0">
                <a:solidFill>
                  <a:srgbClr val="B91C1C"/>
                </a:solidFill>
                <a:latin typeface="Microsoft YaHei" pitchFamily="34" charset="0"/>
                <a:ea typeface="Microsoft YaHei" pitchFamily="34" charset="-122"/>
                <a:cs typeface="Microsoft YaHei" pitchFamily="34" charset="-120"/>
              </a:rPr>
              <a:t>输入结构化</a:t>
            </a:r>
            <a:endParaRPr lang="en-US" sz="2000" dirty="0"/>
          </a:p>
        </p:txBody>
      </p:sp>
      <p:sp>
        <p:nvSpPr>
          <p:cNvPr id="23" name="Text 21"/>
          <p:cNvSpPr/>
          <p:nvPr/>
        </p:nvSpPr>
        <p:spPr>
          <a:xfrm>
            <a:off x="5577840" y="3749040"/>
            <a:ext cx="2926080" cy="54864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原始材料有固定格式或来源</a:t>
            </a:r>
            <a:endParaRPr lang="en-US" sz="1300" dirty="0"/>
          </a:p>
        </p:txBody>
      </p:sp>
      <p:sp>
        <p:nvSpPr>
          <p:cNvPr id="24" name="Shape 22"/>
          <p:cNvSpPr/>
          <p:nvPr/>
        </p:nvSpPr>
        <p:spPr>
          <a:xfrm>
            <a:off x="8503920" y="4663440"/>
            <a:ext cx="365760" cy="365760"/>
          </a:xfrm>
          <a:prstGeom prst="ellipse">
            <a:avLst/>
          </a:prstGeom>
          <a:solidFill>
            <a:srgbClr val="EF4444"/>
          </a:solidFill>
          <a:ln/>
        </p:spPr>
      </p:sp>
      <p:sp>
        <p:nvSpPr>
          <p:cNvPr id="25" name="Text 23"/>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320040"/>
            <a:ext cx="8229600" cy="548640"/>
          </a:xfrm>
          <a:prstGeom prst="rect">
            <a:avLst/>
          </a:prstGeom>
          <a:noFill/>
          <a:ln/>
        </p:spPr>
        <p:txBody>
          <a:bodyPr wrap="square" rtlCol="0" anchor="ctr"/>
          <a:lstStyle/>
          <a:p>
            <a:pPr indent="0" marL="0">
              <a:buNone/>
            </a:pPr>
            <a:r>
              <a:rPr lang="en-US" sz="2800" b="1" dirty="0">
                <a:solidFill>
                  <a:srgbClr val="B91C1C"/>
                </a:solidFill>
                <a:latin typeface="Microsoft YaHei" pitchFamily="34" charset="0"/>
                <a:ea typeface="Microsoft YaHei" pitchFamily="34" charset="-122"/>
                <a:cs typeface="Microsoft YaHei" pitchFamily="34" charset="-120"/>
              </a:rPr>
              <a:t>练习一：认识你的岗位</a:t>
            </a:r>
            <a:endParaRPr lang="en-US" sz="2800" dirty="0"/>
          </a:p>
        </p:txBody>
      </p:sp>
      <p:sp>
        <p:nvSpPr>
          <p:cNvPr id="4" name="Text 2"/>
          <p:cNvSpPr/>
          <p:nvPr/>
        </p:nvSpPr>
        <p:spPr>
          <a:xfrm>
            <a:off x="457200" y="1005840"/>
            <a:ext cx="8229600" cy="457200"/>
          </a:xfrm>
          <a:prstGeom prst="rect">
            <a:avLst/>
          </a:prstGeom>
          <a:noFill/>
          <a:ln/>
        </p:spPr>
        <p:txBody>
          <a:bodyPr wrap="square" rtlCol="0" anchor="ctr"/>
          <a:lstStyle/>
          <a:p>
            <a:pPr indent="0" marL="0">
              <a:buNone/>
            </a:pPr>
            <a:r>
              <a:rPr lang="en-US" sz="1600" dirty="0">
                <a:solidFill>
                  <a:srgbClr val="374151"/>
                </a:solidFill>
                <a:latin typeface="Microsoft YaHei" pitchFamily="34" charset="0"/>
                <a:ea typeface="Microsoft YaHei" pitchFamily="34" charset="-122"/>
                <a:cs typeface="Microsoft YaHei" pitchFamily="34" charset="-120"/>
              </a:rPr>
              <a:t>填写岗位画像表（3-5个可能适合数字员工的任务场景）</a:t>
            </a:r>
            <a:endParaRPr lang="en-US" sz="1600" dirty="0"/>
          </a:p>
        </p:txBody>
      </p:sp>
      <p:sp>
        <p:nvSpPr>
          <p:cNvPr id="5" name="Shape 3"/>
          <p:cNvSpPr/>
          <p:nvPr/>
        </p:nvSpPr>
        <p:spPr>
          <a:xfrm>
            <a:off x="457200" y="1554480"/>
            <a:ext cx="2743200" cy="457200"/>
          </a:xfrm>
          <a:prstGeom prst="rect">
            <a:avLst/>
          </a:prstGeom>
          <a:solidFill>
            <a:srgbClr val="B91C1C"/>
          </a:solidFill>
          <a:ln/>
        </p:spPr>
      </p:sp>
      <p:sp>
        <p:nvSpPr>
          <p:cNvPr id="6" name="Text 4"/>
          <p:cNvSpPr/>
          <p:nvPr/>
        </p:nvSpPr>
        <p:spPr>
          <a:xfrm>
            <a:off x="457200" y="1554480"/>
            <a:ext cx="2743200" cy="457200"/>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任务场景</a:t>
            </a:r>
            <a:endParaRPr lang="en-US" sz="1200" dirty="0"/>
          </a:p>
        </p:txBody>
      </p:sp>
      <p:sp>
        <p:nvSpPr>
          <p:cNvPr id="7" name="Shape 5"/>
          <p:cNvSpPr/>
          <p:nvPr/>
        </p:nvSpPr>
        <p:spPr>
          <a:xfrm>
            <a:off x="3200400" y="1554480"/>
            <a:ext cx="1371600" cy="457200"/>
          </a:xfrm>
          <a:prstGeom prst="rect">
            <a:avLst/>
          </a:prstGeom>
          <a:solidFill>
            <a:srgbClr val="B91C1C"/>
          </a:solidFill>
          <a:ln/>
        </p:spPr>
      </p:sp>
      <p:sp>
        <p:nvSpPr>
          <p:cNvPr id="8" name="Text 6"/>
          <p:cNvSpPr/>
          <p:nvPr/>
        </p:nvSpPr>
        <p:spPr>
          <a:xfrm>
            <a:off x="3200400" y="1554480"/>
            <a:ext cx="1371600" cy="457200"/>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每周频次</a:t>
            </a:r>
            <a:endParaRPr lang="en-US" sz="1200" dirty="0"/>
          </a:p>
        </p:txBody>
      </p:sp>
      <p:sp>
        <p:nvSpPr>
          <p:cNvPr id="9" name="Shape 7"/>
          <p:cNvSpPr/>
          <p:nvPr/>
        </p:nvSpPr>
        <p:spPr>
          <a:xfrm>
            <a:off x="4572000" y="1554480"/>
            <a:ext cx="1828800" cy="457200"/>
          </a:xfrm>
          <a:prstGeom prst="rect">
            <a:avLst/>
          </a:prstGeom>
          <a:solidFill>
            <a:srgbClr val="B91C1C"/>
          </a:solidFill>
          <a:ln/>
        </p:spPr>
      </p:sp>
      <p:sp>
        <p:nvSpPr>
          <p:cNvPr id="10" name="Text 8"/>
          <p:cNvSpPr/>
          <p:nvPr/>
        </p:nvSpPr>
        <p:spPr>
          <a:xfrm>
            <a:off x="4572000" y="1554480"/>
            <a:ext cx="1828800" cy="457200"/>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规则可描述性</a:t>
            </a:r>
            <a:endParaRPr lang="en-US" sz="1200" dirty="0"/>
          </a:p>
        </p:txBody>
      </p:sp>
      <p:sp>
        <p:nvSpPr>
          <p:cNvPr id="11" name="Shape 9"/>
          <p:cNvSpPr/>
          <p:nvPr/>
        </p:nvSpPr>
        <p:spPr>
          <a:xfrm>
            <a:off x="6400800" y="1554480"/>
            <a:ext cx="1828800" cy="457200"/>
          </a:xfrm>
          <a:prstGeom prst="rect">
            <a:avLst/>
          </a:prstGeom>
          <a:solidFill>
            <a:srgbClr val="B91C1C"/>
          </a:solidFill>
          <a:ln/>
        </p:spPr>
      </p:sp>
      <p:sp>
        <p:nvSpPr>
          <p:cNvPr id="12" name="Text 10"/>
          <p:cNvSpPr/>
          <p:nvPr/>
        </p:nvSpPr>
        <p:spPr>
          <a:xfrm>
            <a:off x="6400800" y="1554480"/>
            <a:ext cx="1828800" cy="457200"/>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输出格式固定性</a:t>
            </a:r>
            <a:endParaRPr lang="en-US" sz="1200" dirty="0"/>
          </a:p>
        </p:txBody>
      </p:sp>
      <p:sp>
        <p:nvSpPr>
          <p:cNvPr id="13" name="Shape 11"/>
          <p:cNvSpPr/>
          <p:nvPr/>
        </p:nvSpPr>
        <p:spPr>
          <a:xfrm>
            <a:off x="457200" y="2011680"/>
            <a:ext cx="2743200" cy="502920"/>
          </a:xfrm>
          <a:prstGeom prst="rect">
            <a:avLst/>
          </a:prstGeom>
          <a:solidFill>
            <a:srgbClr val="F3F4F6"/>
          </a:solidFill>
          <a:ln w="6350">
            <a:solidFill>
              <a:srgbClr val="E5E7EB"/>
            </a:solidFill>
            <a:prstDash val="solid"/>
          </a:ln>
        </p:spPr>
      </p:sp>
      <p:sp>
        <p:nvSpPr>
          <p:cNvPr id="14" name="Shape 12"/>
          <p:cNvSpPr/>
          <p:nvPr/>
        </p:nvSpPr>
        <p:spPr>
          <a:xfrm>
            <a:off x="3200400" y="2011680"/>
            <a:ext cx="1371600" cy="502920"/>
          </a:xfrm>
          <a:prstGeom prst="rect">
            <a:avLst/>
          </a:prstGeom>
          <a:solidFill>
            <a:srgbClr val="F3F4F6"/>
          </a:solidFill>
          <a:ln w="6350">
            <a:solidFill>
              <a:srgbClr val="E5E7EB"/>
            </a:solidFill>
            <a:prstDash val="solid"/>
          </a:ln>
        </p:spPr>
      </p:sp>
      <p:sp>
        <p:nvSpPr>
          <p:cNvPr id="15" name="Shape 13"/>
          <p:cNvSpPr/>
          <p:nvPr/>
        </p:nvSpPr>
        <p:spPr>
          <a:xfrm>
            <a:off x="4572000" y="2011680"/>
            <a:ext cx="1828800" cy="502920"/>
          </a:xfrm>
          <a:prstGeom prst="rect">
            <a:avLst/>
          </a:prstGeom>
          <a:solidFill>
            <a:srgbClr val="F3F4F6"/>
          </a:solidFill>
          <a:ln w="6350">
            <a:solidFill>
              <a:srgbClr val="E5E7EB"/>
            </a:solidFill>
            <a:prstDash val="solid"/>
          </a:ln>
        </p:spPr>
      </p:sp>
      <p:sp>
        <p:nvSpPr>
          <p:cNvPr id="16" name="Shape 14"/>
          <p:cNvSpPr/>
          <p:nvPr/>
        </p:nvSpPr>
        <p:spPr>
          <a:xfrm>
            <a:off x="6400800" y="2011680"/>
            <a:ext cx="1828800" cy="502920"/>
          </a:xfrm>
          <a:prstGeom prst="rect">
            <a:avLst/>
          </a:prstGeom>
          <a:solidFill>
            <a:srgbClr val="F3F4F6"/>
          </a:solidFill>
          <a:ln w="6350">
            <a:solidFill>
              <a:srgbClr val="E5E7EB"/>
            </a:solidFill>
            <a:prstDash val="solid"/>
          </a:ln>
        </p:spPr>
      </p:sp>
      <p:sp>
        <p:nvSpPr>
          <p:cNvPr id="17" name="Shape 15"/>
          <p:cNvSpPr/>
          <p:nvPr/>
        </p:nvSpPr>
        <p:spPr>
          <a:xfrm>
            <a:off x="457200" y="2514600"/>
            <a:ext cx="2743200" cy="502920"/>
          </a:xfrm>
          <a:prstGeom prst="rect">
            <a:avLst/>
          </a:prstGeom>
          <a:solidFill>
            <a:srgbClr val="FFFFFF"/>
          </a:solidFill>
          <a:ln w="6350">
            <a:solidFill>
              <a:srgbClr val="E5E7EB"/>
            </a:solidFill>
            <a:prstDash val="solid"/>
          </a:ln>
        </p:spPr>
      </p:sp>
      <p:sp>
        <p:nvSpPr>
          <p:cNvPr id="18" name="Shape 16"/>
          <p:cNvSpPr/>
          <p:nvPr/>
        </p:nvSpPr>
        <p:spPr>
          <a:xfrm>
            <a:off x="3200400" y="2514600"/>
            <a:ext cx="1371600" cy="502920"/>
          </a:xfrm>
          <a:prstGeom prst="rect">
            <a:avLst/>
          </a:prstGeom>
          <a:solidFill>
            <a:srgbClr val="FFFFFF"/>
          </a:solidFill>
          <a:ln w="6350">
            <a:solidFill>
              <a:srgbClr val="E5E7EB"/>
            </a:solidFill>
            <a:prstDash val="solid"/>
          </a:ln>
        </p:spPr>
      </p:sp>
      <p:sp>
        <p:nvSpPr>
          <p:cNvPr id="19" name="Shape 17"/>
          <p:cNvSpPr/>
          <p:nvPr/>
        </p:nvSpPr>
        <p:spPr>
          <a:xfrm>
            <a:off x="4572000" y="2514600"/>
            <a:ext cx="1828800" cy="502920"/>
          </a:xfrm>
          <a:prstGeom prst="rect">
            <a:avLst/>
          </a:prstGeom>
          <a:solidFill>
            <a:srgbClr val="FFFFFF"/>
          </a:solidFill>
          <a:ln w="6350">
            <a:solidFill>
              <a:srgbClr val="E5E7EB"/>
            </a:solidFill>
            <a:prstDash val="solid"/>
          </a:ln>
        </p:spPr>
      </p:sp>
      <p:sp>
        <p:nvSpPr>
          <p:cNvPr id="20" name="Shape 18"/>
          <p:cNvSpPr/>
          <p:nvPr/>
        </p:nvSpPr>
        <p:spPr>
          <a:xfrm>
            <a:off x="6400800" y="2514600"/>
            <a:ext cx="1828800" cy="502920"/>
          </a:xfrm>
          <a:prstGeom prst="rect">
            <a:avLst/>
          </a:prstGeom>
          <a:solidFill>
            <a:srgbClr val="FFFFFF"/>
          </a:solidFill>
          <a:ln w="6350">
            <a:solidFill>
              <a:srgbClr val="E5E7EB"/>
            </a:solidFill>
            <a:prstDash val="solid"/>
          </a:ln>
        </p:spPr>
      </p:sp>
      <p:sp>
        <p:nvSpPr>
          <p:cNvPr id="21" name="Shape 19"/>
          <p:cNvSpPr/>
          <p:nvPr/>
        </p:nvSpPr>
        <p:spPr>
          <a:xfrm>
            <a:off x="457200" y="3017520"/>
            <a:ext cx="2743200" cy="502920"/>
          </a:xfrm>
          <a:prstGeom prst="rect">
            <a:avLst/>
          </a:prstGeom>
          <a:solidFill>
            <a:srgbClr val="F3F4F6"/>
          </a:solidFill>
          <a:ln w="6350">
            <a:solidFill>
              <a:srgbClr val="E5E7EB"/>
            </a:solidFill>
            <a:prstDash val="solid"/>
          </a:ln>
        </p:spPr>
      </p:sp>
      <p:sp>
        <p:nvSpPr>
          <p:cNvPr id="22" name="Shape 20"/>
          <p:cNvSpPr/>
          <p:nvPr/>
        </p:nvSpPr>
        <p:spPr>
          <a:xfrm>
            <a:off x="3200400" y="3017520"/>
            <a:ext cx="1371600" cy="502920"/>
          </a:xfrm>
          <a:prstGeom prst="rect">
            <a:avLst/>
          </a:prstGeom>
          <a:solidFill>
            <a:srgbClr val="F3F4F6"/>
          </a:solidFill>
          <a:ln w="6350">
            <a:solidFill>
              <a:srgbClr val="E5E7EB"/>
            </a:solidFill>
            <a:prstDash val="solid"/>
          </a:ln>
        </p:spPr>
      </p:sp>
      <p:sp>
        <p:nvSpPr>
          <p:cNvPr id="23" name="Shape 21"/>
          <p:cNvSpPr/>
          <p:nvPr/>
        </p:nvSpPr>
        <p:spPr>
          <a:xfrm>
            <a:off x="4572000" y="3017520"/>
            <a:ext cx="1828800" cy="502920"/>
          </a:xfrm>
          <a:prstGeom prst="rect">
            <a:avLst/>
          </a:prstGeom>
          <a:solidFill>
            <a:srgbClr val="F3F4F6"/>
          </a:solidFill>
          <a:ln w="6350">
            <a:solidFill>
              <a:srgbClr val="E5E7EB"/>
            </a:solidFill>
            <a:prstDash val="solid"/>
          </a:ln>
        </p:spPr>
      </p:sp>
      <p:sp>
        <p:nvSpPr>
          <p:cNvPr id="24" name="Shape 22"/>
          <p:cNvSpPr/>
          <p:nvPr/>
        </p:nvSpPr>
        <p:spPr>
          <a:xfrm>
            <a:off x="6400800" y="3017520"/>
            <a:ext cx="1828800" cy="502920"/>
          </a:xfrm>
          <a:prstGeom prst="rect">
            <a:avLst/>
          </a:prstGeom>
          <a:solidFill>
            <a:srgbClr val="F3F4F6"/>
          </a:solidFill>
          <a:ln w="6350">
            <a:solidFill>
              <a:srgbClr val="E5E7EB"/>
            </a:solidFill>
            <a:prstDash val="solid"/>
          </a:ln>
        </p:spPr>
      </p:sp>
      <p:sp>
        <p:nvSpPr>
          <p:cNvPr id="25" name="Shape 23"/>
          <p:cNvSpPr/>
          <p:nvPr/>
        </p:nvSpPr>
        <p:spPr>
          <a:xfrm>
            <a:off x="457200" y="3520440"/>
            <a:ext cx="2743200" cy="502920"/>
          </a:xfrm>
          <a:prstGeom prst="rect">
            <a:avLst/>
          </a:prstGeom>
          <a:solidFill>
            <a:srgbClr val="FFFFFF"/>
          </a:solidFill>
          <a:ln w="6350">
            <a:solidFill>
              <a:srgbClr val="E5E7EB"/>
            </a:solidFill>
            <a:prstDash val="solid"/>
          </a:ln>
        </p:spPr>
      </p:sp>
      <p:sp>
        <p:nvSpPr>
          <p:cNvPr id="26" name="Shape 24"/>
          <p:cNvSpPr/>
          <p:nvPr/>
        </p:nvSpPr>
        <p:spPr>
          <a:xfrm>
            <a:off x="3200400" y="3520440"/>
            <a:ext cx="1371600" cy="502920"/>
          </a:xfrm>
          <a:prstGeom prst="rect">
            <a:avLst/>
          </a:prstGeom>
          <a:solidFill>
            <a:srgbClr val="FFFFFF"/>
          </a:solidFill>
          <a:ln w="6350">
            <a:solidFill>
              <a:srgbClr val="E5E7EB"/>
            </a:solidFill>
            <a:prstDash val="solid"/>
          </a:ln>
        </p:spPr>
      </p:sp>
      <p:sp>
        <p:nvSpPr>
          <p:cNvPr id="27" name="Shape 25"/>
          <p:cNvSpPr/>
          <p:nvPr/>
        </p:nvSpPr>
        <p:spPr>
          <a:xfrm>
            <a:off x="4572000" y="3520440"/>
            <a:ext cx="1828800" cy="502920"/>
          </a:xfrm>
          <a:prstGeom prst="rect">
            <a:avLst/>
          </a:prstGeom>
          <a:solidFill>
            <a:srgbClr val="FFFFFF"/>
          </a:solidFill>
          <a:ln w="6350">
            <a:solidFill>
              <a:srgbClr val="E5E7EB"/>
            </a:solidFill>
            <a:prstDash val="solid"/>
          </a:ln>
        </p:spPr>
      </p:sp>
      <p:sp>
        <p:nvSpPr>
          <p:cNvPr id="28" name="Shape 26"/>
          <p:cNvSpPr/>
          <p:nvPr/>
        </p:nvSpPr>
        <p:spPr>
          <a:xfrm>
            <a:off x="6400800" y="3520440"/>
            <a:ext cx="1828800" cy="502920"/>
          </a:xfrm>
          <a:prstGeom prst="rect">
            <a:avLst/>
          </a:prstGeom>
          <a:solidFill>
            <a:srgbClr val="FFFFFF"/>
          </a:solidFill>
          <a:ln w="6350">
            <a:solidFill>
              <a:srgbClr val="E5E7EB"/>
            </a:solidFill>
            <a:prstDash val="solid"/>
          </a:ln>
        </p:spPr>
      </p:sp>
      <p:sp>
        <p:nvSpPr>
          <p:cNvPr id="29" name="Text 27"/>
          <p:cNvSpPr/>
          <p:nvPr/>
        </p:nvSpPr>
        <p:spPr>
          <a:xfrm>
            <a:off x="457200" y="4114800"/>
            <a:ext cx="8229600" cy="365760"/>
          </a:xfrm>
          <a:prstGeom prst="rect">
            <a:avLst/>
          </a:prstGeom>
          <a:noFill/>
          <a:ln/>
        </p:spPr>
        <p:txBody>
          <a:bodyPr wrap="square" rtlCol="0" anchor="ctr"/>
          <a:lstStyle/>
          <a:p>
            <a:pPr indent="0" marL="0">
              <a:buNone/>
            </a:pPr>
            <a:r>
              <a:rPr lang="en-US" sz="1100" i="1" dirty="0">
                <a:solidFill>
                  <a:srgbClr val="374151"/>
                </a:solidFill>
                <a:latin typeface="Microsoft YaHei" pitchFamily="34" charset="0"/>
                <a:ea typeface="Microsoft YaHei" pitchFamily="34" charset="-122"/>
                <a:cs typeface="Microsoft YaHei" pitchFamily="34" charset="-120"/>
              </a:rPr>
              <a:t>提示：在「规则可描述性」和「输出格式固定性」两列打勾或标注「高/中/低」</a:t>
            </a:r>
            <a:endParaRPr lang="en-US" sz="1100" dirty="0"/>
          </a:p>
        </p:txBody>
      </p:sp>
      <p:sp>
        <p:nvSpPr>
          <p:cNvPr id="30" name="Shape 28"/>
          <p:cNvSpPr/>
          <p:nvPr/>
        </p:nvSpPr>
        <p:spPr>
          <a:xfrm>
            <a:off x="8503920" y="4663440"/>
            <a:ext cx="365760" cy="365760"/>
          </a:xfrm>
          <a:prstGeom prst="ellipse">
            <a:avLst/>
          </a:prstGeom>
          <a:solidFill>
            <a:srgbClr val="EF4444"/>
          </a:solidFill>
          <a:ln/>
        </p:spPr>
      </p:sp>
      <p:sp>
        <p:nvSpPr>
          <p:cNvPr id="31" name="Text 29"/>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320040"/>
            <a:ext cx="8229600" cy="548640"/>
          </a:xfrm>
          <a:prstGeom prst="rect">
            <a:avLst/>
          </a:prstGeom>
          <a:noFill/>
          <a:ln/>
        </p:spPr>
        <p:txBody>
          <a:bodyPr wrap="square" rtlCol="0" anchor="ctr"/>
          <a:lstStyle/>
          <a:p>
            <a:pPr indent="0" marL="0">
              <a:buNone/>
            </a:pPr>
            <a:r>
              <a:rPr lang="en-US" sz="2800" b="1" dirty="0">
                <a:solidFill>
                  <a:srgbClr val="B91C1C"/>
                </a:solidFill>
                <a:latin typeface="Microsoft YaHei" pitchFamily="34" charset="0"/>
                <a:ea typeface="Microsoft YaHei" pitchFamily="34" charset="-122"/>
                <a:cs typeface="Microsoft YaHei" pitchFamily="34" charset="-120"/>
              </a:rPr>
              <a:t>选择你的攻坚场景</a:t>
            </a:r>
            <a:endParaRPr lang="en-US" sz="2800" dirty="0"/>
          </a:p>
        </p:txBody>
      </p:sp>
      <p:sp>
        <p:nvSpPr>
          <p:cNvPr id="4" name="Shape 2"/>
          <p:cNvSpPr/>
          <p:nvPr/>
        </p:nvSpPr>
        <p:spPr>
          <a:xfrm>
            <a:off x="457200" y="1188720"/>
            <a:ext cx="8229600" cy="914400"/>
          </a:xfrm>
          <a:prstGeom prst="roundRect">
            <a:avLst>
              <a:gd name="adj" fmla="val 10000"/>
            </a:avLst>
          </a:prstGeom>
          <a:solidFill>
            <a:srgbClr val="F3F4F6"/>
          </a:solidFill>
          <a:ln/>
        </p:spPr>
      </p:sp>
      <p:sp>
        <p:nvSpPr>
          <p:cNvPr id="5" name="Shape 3"/>
          <p:cNvSpPr/>
          <p:nvPr/>
        </p:nvSpPr>
        <p:spPr>
          <a:xfrm>
            <a:off x="640080" y="1371600"/>
            <a:ext cx="548640" cy="548640"/>
          </a:xfrm>
          <a:prstGeom prst="ellipse">
            <a:avLst/>
          </a:prstGeom>
          <a:solidFill>
            <a:srgbClr val="EF4444"/>
          </a:solidFill>
          <a:ln/>
        </p:spPr>
      </p:sp>
      <p:sp>
        <p:nvSpPr>
          <p:cNvPr id="6" name="Text 4"/>
          <p:cNvSpPr/>
          <p:nvPr/>
        </p:nvSpPr>
        <p:spPr>
          <a:xfrm>
            <a:off x="640080" y="1371600"/>
            <a:ext cx="548640" cy="54864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7" name="Text 5"/>
          <p:cNvSpPr/>
          <p:nvPr/>
        </p:nvSpPr>
        <p:spPr>
          <a:xfrm>
            <a:off x="1371600" y="1188720"/>
            <a:ext cx="7132320" cy="914400"/>
          </a:xfrm>
          <a:prstGeom prst="rect">
            <a:avLst/>
          </a:prstGeom>
          <a:noFill/>
          <a:ln/>
        </p:spPr>
        <p:txBody>
          <a:bodyPr wrap="square" rtlCol="0" anchor="ctr"/>
          <a:lstStyle/>
          <a:p>
            <a:pPr indent="0" marL="0">
              <a:buNone/>
            </a:pPr>
            <a:r>
              <a:rPr lang="en-US" sz="2000" dirty="0">
                <a:solidFill>
                  <a:srgbClr val="B91C1C"/>
                </a:solidFill>
                <a:latin typeface="Microsoft YaHei" pitchFamily="34" charset="0"/>
                <a:ea typeface="Microsoft YaHei" pitchFamily="34" charset="-122"/>
                <a:cs typeface="Microsoft YaHei" pitchFamily="34" charset="-120"/>
              </a:rPr>
              <a:t>从高频+格式固定的任务开始</a:t>
            </a:r>
            <a:endParaRPr lang="en-US" sz="2000" dirty="0"/>
          </a:p>
        </p:txBody>
      </p:sp>
      <p:sp>
        <p:nvSpPr>
          <p:cNvPr id="8" name="Shape 6"/>
          <p:cNvSpPr/>
          <p:nvPr/>
        </p:nvSpPr>
        <p:spPr>
          <a:xfrm>
            <a:off x="457200" y="2331720"/>
            <a:ext cx="8229600" cy="914400"/>
          </a:xfrm>
          <a:prstGeom prst="roundRect">
            <a:avLst>
              <a:gd name="adj" fmla="val 10000"/>
            </a:avLst>
          </a:prstGeom>
          <a:solidFill>
            <a:srgbClr val="F3F4F6"/>
          </a:solidFill>
          <a:ln/>
        </p:spPr>
      </p:sp>
      <p:sp>
        <p:nvSpPr>
          <p:cNvPr id="9" name="Shape 7"/>
          <p:cNvSpPr/>
          <p:nvPr/>
        </p:nvSpPr>
        <p:spPr>
          <a:xfrm>
            <a:off x="640080" y="2514600"/>
            <a:ext cx="548640" cy="548640"/>
          </a:xfrm>
          <a:prstGeom prst="ellipse">
            <a:avLst/>
          </a:prstGeom>
          <a:solidFill>
            <a:srgbClr val="EF4444"/>
          </a:solidFill>
          <a:ln/>
        </p:spPr>
      </p:sp>
      <p:sp>
        <p:nvSpPr>
          <p:cNvPr id="10" name="Text 8"/>
          <p:cNvSpPr/>
          <p:nvPr/>
        </p:nvSpPr>
        <p:spPr>
          <a:xfrm>
            <a:off x="640080" y="2514600"/>
            <a:ext cx="548640" cy="54864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11" name="Text 9"/>
          <p:cNvSpPr/>
          <p:nvPr/>
        </p:nvSpPr>
        <p:spPr>
          <a:xfrm>
            <a:off x="1371600" y="2331720"/>
            <a:ext cx="7132320" cy="914400"/>
          </a:xfrm>
          <a:prstGeom prst="rect">
            <a:avLst/>
          </a:prstGeom>
          <a:noFill/>
          <a:ln/>
        </p:spPr>
        <p:txBody>
          <a:bodyPr wrap="square" rtlCol="0" anchor="ctr"/>
          <a:lstStyle/>
          <a:p>
            <a:pPr indent="0" marL="0">
              <a:buNone/>
            </a:pPr>
            <a:r>
              <a:rPr lang="en-US" sz="2000" dirty="0">
                <a:solidFill>
                  <a:srgbClr val="B91C1C"/>
                </a:solidFill>
                <a:latin typeface="Microsoft YaHei" pitchFamily="34" charset="0"/>
                <a:ea typeface="Microsoft YaHei" pitchFamily="34" charset="-122"/>
                <a:cs typeface="Microsoft YaHei" pitchFamily="34" charset="-120"/>
              </a:rPr>
              <a:t>先求能用，再求好用，最后才是离不开</a:t>
            </a:r>
            <a:endParaRPr lang="en-US" sz="2000" dirty="0"/>
          </a:p>
        </p:txBody>
      </p:sp>
      <p:sp>
        <p:nvSpPr>
          <p:cNvPr id="12" name="Shape 10"/>
          <p:cNvSpPr/>
          <p:nvPr/>
        </p:nvSpPr>
        <p:spPr>
          <a:xfrm>
            <a:off x="457200" y="3474720"/>
            <a:ext cx="8229600" cy="914400"/>
          </a:xfrm>
          <a:prstGeom prst="roundRect">
            <a:avLst>
              <a:gd name="adj" fmla="val 10000"/>
            </a:avLst>
          </a:prstGeom>
          <a:solidFill>
            <a:srgbClr val="F3F4F6"/>
          </a:solidFill>
          <a:ln/>
        </p:spPr>
      </p:sp>
      <p:sp>
        <p:nvSpPr>
          <p:cNvPr id="13" name="Shape 11"/>
          <p:cNvSpPr/>
          <p:nvPr/>
        </p:nvSpPr>
        <p:spPr>
          <a:xfrm>
            <a:off x="640080" y="3657600"/>
            <a:ext cx="548640" cy="548640"/>
          </a:xfrm>
          <a:prstGeom prst="ellipse">
            <a:avLst/>
          </a:prstGeom>
          <a:solidFill>
            <a:srgbClr val="EF4444"/>
          </a:solidFill>
          <a:ln/>
        </p:spPr>
      </p:sp>
      <p:sp>
        <p:nvSpPr>
          <p:cNvPr id="14" name="Text 12"/>
          <p:cNvSpPr/>
          <p:nvPr/>
        </p:nvSpPr>
        <p:spPr>
          <a:xfrm>
            <a:off x="640080" y="3657600"/>
            <a:ext cx="548640" cy="54864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15" name="Text 13"/>
          <p:cNvSpPr/>
          <p:nvPr/>
        </p:nvSpPr>
        <p:spPr>
          <a:xfrm>
            <a:off x="1371600" y="3474720"/>
            <a:ext cx="7132320" cy="914400"/>
          </a:xfrm>
          <a:prstGeom prst="rect">
            <a:avLst/>
          </a:prstGeom>
          <a:noFill/>
          <a:ln/>
        </p:spPr>
        <p:txBody>
          <a:bodyPr wrap="square" rtlCol="0" anchor="ctr"/>
          <a:lstStyle/>
          <a:p>
            <a:pPr indent="0" marL="0">
              <a:buNone/>
            </a:pPr>
            <a:r>
              <a:rPr lang="en-US" sz="2000" dirty="0">
                <a:solidFill>
                  <a:srgbClr val="B91C1C"/>
                </a:solidFill>
                <a:latin typeface="Microsoft YaHei" pitchFamily="34" charset="0"/>
                <a:ea typeface="Microsoft YaHei" pitchFamily="34" charset="-122"/>
                <a:cs typeface="Microsoft YaHei" pitchFamily="34" charset="-120"/>
              </a:rPr>
              <a:t>第一个数字员工选简单的</a:t>
            </a:r>
            <a:endParaRPr lang="en-US" sz="2000" dirty="0"/>
          </a:p>
        </p:txBody>
      </p:sp>
      <p:sp>
        <p:nvSpPr>
          <p:cNvPr id="16" name="Shape 14"/>
          <p:cNvSpPr/>
          <p:nvPr/>
        </p:nvSpPr>
        <p:spPr>
          <a:xfrm>
            <a:off x="2286000" y="4297680"/>
            <a:ext cx="4572000" cy="548640"/>
          </a:xfrm>
          <a:prstGeom prst="roundRect">
            <a:avLst>
              <a:gd name="adj" fmla="val 13333"/>
            </a:avLst>
          </a:prstGeom>
          <a:solidFill>
            <a:srgbClr val="B91C1C"/>
          </a:solidFill>
          <a:ln/>
        </p:spPr>
      </p:sp>
      <p:sp>
        <p:nvSpPr>
          <p:cNvPr id="17" name="Text 15"/>
          <p:cNvSpPr/>
          <p:nvPr/>
        </p:nvSpPr>
        <p:spPr>
          <a:xfrm>
            <a:off x="2286000" y="4297680"/>
            <a:ext cx="4572000" cy="548640"/>
          </a:xfrm>
          <a:prstGeom prst="rect">
            <a:avLst/>
          </a:prstGeom>
          <a:noFill/>
          <a:ln/>
        </p:spPr>
        <p:txBody>
          <a:bodyPr wrap="square" rtlCol="0" anchor="ctr"/>
          <a:lstStyle/>
          <a:p>
            <a:pPr algn="ctr" indent="0" marL="0">
              <a:buNone/>
            </a:pPr>
            <a:r>
              <a:rPr lang="en-US" sz="1800" b="1" dirty="0">
                <a:solidFill>
                  <a:srgbClr val="FFFFFF"/>
                </a:solidFill>
                <a:latin typeface="Microsoft YaHei" pitchFamily="34" charset="0"/>
                <a:ea typeface="Microsoft YaHei" pitchFamily="34" charset="-122"/>
                <a:cs typeface="Microsoft YaHei" pitchFamily="34" charset="-120"/>
              </a:rPr>
              <a:t>简单起步，快速见效</a:t>
            </a:r>
            <a:endParaRPr lang="en-US" sz="1800" dirty="0"/>
          </a:p>
        </p:txBody>
      </p:sp>
      <p:sp>
        <p:nvSpPr>
          <p:cNvPr id="18" name="Shape 16"/>
          <p:cNvSpPr/>
          <p:nvPr/>
        </p:nvSpPr>
        <p:spPr>
          <a:xfrm>
            <a:off x="8503920" y="4663440"/>
            <a:ext cx="365760" cy="365760"/>
          </a:xfrm>
          <a:prstGeom prst="ellipse">
            <a:avLst/>
          </a:prstGeom>
          <a:solidFill>
            <a:srgbClr val="EF4444"/>
          </a:solidFill>
          <a:ln/>
        </p:spPr>
      </p:sp>
      <p:sp>
        <p:nvSpPr>
          <p:cNvPr id="19" name="Text 17"/>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320040"/>
            <a:ext cx="8229600" cy="548640"/>
          </a:xfrm>
          <a:prstGeom prst="rect">
            <a:avLst/>
          </a:prstGeom>
          <a:noFill/>
          <a:ln/>
        </p:spPr>
        <p:txBody>
          <a:bodyPr wrap="square" rtlCol="0" anchor="ctr"/>
          <a:lstStyle/>
          <a:p>
            <a:pPr indent="0" marL="0">
              <a:buNone/>
            </a:pPr>
            <a:r>
              <a:rPr lang="en-US" sz="2800" b="1" dirty="0">
                <a:solidFill>
                  <a:srgbClr val="B91C1C"/>
                </a:solidFill>
                <a:latin typeface="Microsoft YaHei" pitchFamily="34" charset="0"/>
                <a:ea typeface="Microsoft YaHei" pitchFamily="34" charset="-122"/>
                <a:cs typeface="Microsoft YaHei" pitchFamily="34" charset="-120"/>
              </a:rPr>
              <a:t>设计数字员工的四个维度</a:t>
            </a:r>
            <a:endParaRPr lang="en-US" sz="2800" dirty="0"/>
          </a:p>
        </p:txBody>
      </p:sp>
      <p:sp>
        <p:nvSpPr>
          <p:cNvPr id="4" name="Shape 2"/>
          <p:cNvSpPr/>
          <p:nvPr/>
        </p:nvSpPr>
        <p:spPr>
          <a:xfrm>
            <a:off x="457200" y="1097280"/>
            <a:ext cx="1965960" cy="3200400"/>
          </a:xfrm>
          <a:prstGeom prst="roundRect">
            <a:avLst>
              <a:gd name="adj" fmla="val 4651"/>
            </a:avLst>
          </a:prstGeom>
          <a:solidFill>
            <a:srgbClr val="F3F4F6"/>
          </a:solidFill>
          <a:ln/>
        </p:spPr>
      </p:sp>
      <p:sp>
        <p:nvSpPr>
          <p:cNvPr id="5" name="Shape 3"/>
          <p:cNvSpPr/>
          <p:nvPr/>
        </p:nvSpPr>
        <p:spPr>
          <a:xfrm>
            <a:off x="1143000" y="1325880"/>
            <a:ext cx="594360" cy="594360"/>
          </a:xfrm>
          <a:prstGeom prst="ellipse">
            <a:avLst/>
          </a:prstGeom>
          <a:solidFill>
            <a:srgbClr val="EF4444"/>
          </a:solidFill>
          <a:ln/>
        </p:spPr>
      </p:sp>
      <p:sp>
        <p:nvSpPr>
          <p:cNvPr id="6" name="Text 4"/>
          <p:cNvSpPr/>
          <p:nvPr/>
        </p:nvSpPr>
        <p:spPr>
          <a:xfrm>
            <a:off x="1143000" y="1325880"/>
            <a:ext cx="594360" cy="594360"/>
          </a:xfrm>
          <a:prstGeom prst="rect">
            <a:avLst/>
          </a:prstGeom>
          <a:noFill/>
          <a:ln/>
        </p:spPr>
        <p:txBody>
          <a:bodyPr wrap="square"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1</a:t>
            </a:r>
            <a:endParaRPr lang="en-US" sz="2200" dirty="0"/>
          </a:p>
        </p:txBody>
      </p:sp>
      <p:sp>
        <p:nvSpPr>
          <p:cNvPr id="7" name="Text 5"/>
          <p:cNvSpPr/>
          <p:nvPr/>
        </p:nvSpPr>
        <p:spPr>
          <a:xfrm>
            <a:off x="548640" y="2103120"/>
            <a:ext cx="1783080" cy="548640"/>
          </a:xfrm>
          <a:prstGeom prst="rect">
            <a:avLst/>
          </a:prstGeom>
          <a:noFill/>
          <a:ln/>
        </p:spPr>
        <p:txBody>
          <a:bodyPr wrap="square" rtlCol="0" anchor="ctr"/>
          <a:lstStyle/>
          <a:p>
            <a:pPr algn="ctr" indent="0" marL="0">
              <a:buNone/>
            </a:pPr>
            <a:r>
              <a:rPr lang="en-US" sz="1600" b="1" dirty="0">
                <a:solidFill>
                  <a:srgbClr val="B91C1C"/>
                </a:solidFill>
                <a:latin typeface="Microsoft YaHei" pitchFamily="34" charset="0"/>
                <a:ea typeface="Microsoft YaHei" pitchFamily="34" charset="-122"/>
                <a:cs typeface="Microsoft YaHei" pitchFamily="34" charset="-120"/>
              </a:rPr>
              <a:t>角色定位</a:t>
            </a:r>
            <a:endParaRPr lang="en-US" sz="1600" dirty="0"/>
          </a:p>
        </p:txBody>
      </p:sp>
      <p:sp>
        <p:nvSpPr>
          <p:cNvPr id="8" name="Shape 6"/>
          <p:cNvSpPr/>
          <p:nvPr/>
        </p:nvSpPr>
        <p:spPr>
          <a:xfrm>
            <a:off x="822960" y="2743200"/>
            <a:ext cx="1234440" cy="27432"/>
          </a:xfrm>
          <a:prstGeom prst="rect">
            <a:avLst/>
          </a:prstGeom>
          <a:solidFill>
            <a:srgbClr val="EF4444"/>
          </a:solidFill>
          <a:ln/>
        </p:spPr>
      </p:sp>
      <p:sp>
        <p:nvSpPr>
          <p:cNvPr id="9" name="Text 7"/>
          <p:cNvSpPr/>
          <p:nvPr/>
        </p:nvSpPr>
        <p:spPr>
          <a:xfrm>
            <a:off x="548640" y="2926080"/>
            <a:ext cx="1783080" cy="1097280"/>
          </a:xfrm>
          <a:prstGeom prst="rect">
            <a:avLst/>
          </a:prstGeom>
          <a:noFill/>
          <a:ln/>
        </p:spPr>
        <p:txBody>
          <a:bodyPr wrap="square" rtlCol="0" anchor="ctr"/>
          <a:lstStyle/>
          <a:p>
            <a:pPr algn="ctr" indent="0" marL="0">
              <a:buNone/>
            </a:pPr>
            <a:r>
              <a:rPr lang="en-US" sz="1200" dirty="0">
                <a:solidFill>
                  <a:srgbClr val="374151"/>
                </a:solidFill>
                <a:latin typeface="Microsoft YaHei" pitchFamily="34" charset="0"/>
                <a:ea typeface="Microsoft YaHei" pitchFamily="34" charset="-122"/>
                <a:cs typeface="Microsoft YaHei" pitchFamily="34" charset="-120"/>
              </a:rPr>
              <a:t>叫什么名字，在哪个环节</a:t>
            </a:r>
            <a:endParaRPr lang="en-US" sz="1200" dirty="0"/>
          </a:p>
        </p:txBody>
      </p:sp>
      <p:sp>
        <p:nvSpPr>
          <p:cNvPr id="10" name="Shape 8"/>
          <p:cNvSpPr/>
          <p:nvPr/>
        </p:nvSpPr>
        <p:spPr>
          <a:xfrm>
            <a:off x="2606040" y="1097280"/>
            <a:ext cx="1965960" cy="3200400"/>
          </a:xfrm>
          <a:prstGeom prst="roundRect">
            <a:avLst>
              <a:gd name="adj" fmla="val 4651"/>
            </a:avLst>
          </a:prstGeom>
          <a:solidFill>
            <a:srgbClr val="F3F4F6"/>
          </a:solidFill>
          <a:ln/>
        </p:spPr>
      </p:sp>
      <p:sp>
        <p:nvSpPr>
          <p:cNvPr id="11" name="Shape 9"/>
          <p:cNvSpPr/>
          <p:nvPr/>
        </p:nvSpPr>
        <p:spPr>
          <a:xfrm>
            <a:off x="3291840" y="1325880"/>
            <a:ext cx="594360" cy="594360"/>
          </a:xfrm>
          <a:prstGeom prst="ellipse">
            <a:avLst/>
          </a:prstGeom>
          <a:solidFill>
            <a:srgbClr val="EF4444"/>
          </a:solidFill>
          <a:ln/>
        </p:spPr>
      </p:sp>
      <p:sp>
        <p:nvSpPr>
          <p:cNvPr id="12" name="Text 10"/>
          <p:cNvSpPr/>
          <p:nvPr/>
        </p:nvSpPr>
        <p:spPr>
          <a:xfrm>
            <a:off x="3291840" y="1325880"/>
            <a:ext cx="594360" cy="594360"/>
          </a:xfrm>
          <a:prstGeom prst="rect">
            <a:avLst/>
          </a:prstGeom>
          <a:noFill/>
          <a:ln/>
        </p:spPr>
        <p:txBody>
          <a:bodyPr wrap="square"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2</a:t>
            </a:r>
            <a:endParaRPr lang="en-US" sz="2200" dirty="0"/>
          </a:p>
        </p:txBody>
      </p:sp>
      <p:sp>
        <p:nvSpPr>
          <p:cNvPr id="13" name="Text 11"/>
          <p:cNvSpPr/>
          <p:nvPr/>
        </p:nvSpPr>
        <p:spPr>
          <a:xfrm>
            <a:off x="2697480" y="2103120"/>
            <a:ext cx="1783080" cy="548640"/>
          </a:xfrm>
          <a:prstGeom prst="rect">
            <a:avLst/>
          </a:prstGeom>
          <a:noFill/>
          <a:ln/>
        </p:spPr>
        <p:txBody>
          <a:bodyPr wrap="square" rtlCol="0" anchor="ctr"/>
          <a:lstStyle/>
          <a:p>
            <a:pPr algn="ctr" indent="0" marL="0">
              <a:buNone/>
            </a:pPr>
            <a:r>
              <a:rPr lang="en-US" sz="1600" b="1" dirty="0">
                <a:solidFill>
                  <a:srgbClr val="B91C1C"/>
                </a:solidFill>
                <a:latin typeface="Microsoft YaHei" pitchFamily="34" charset="0"/>
                <a:ea typeface="Microsoft YaHei" pitchFamily="34" charset="-122"/>
                <a:cs typeface="Microsoft YaHei" pitchFamily="34" charset="-120"/>
              </a:rPr>
              <a:t>职责边界</a:t>
            </a:r>
            <a:endParaRPr lang="en-US" sz="1600" dirty="0"/>
          </a:p>
        </p:txBody>
      </p:sp>
      <p:sp>
        <p:nvSpPr>
          <p:cNvPr id="14" name="Shape 12"/>
          <p:cNvSpPr/>
          <p:nvPr/>
        </p:nvSpPr>
        <p:spPr>
          <a:xfrm>
            <a:off x="2971800" y="2743200"/>
            <a:ext cx="1234440" cy="27432"/>
          </a:xfrm>
          <a:prstGeom prst="rect">
            <a:avLst/>
          </a:prstGeom>
          <a:solidFill>
            <a:srgbClr val="EF4444"/>
          </a:solidFill>
          <a:ln/>
        </p:spPr>
      </p:sp>
      <p:sp>
        <p:nvSpPr>
          <p:cNvPr id="15" name="Text 13"/>
          <p:cNvSpPr/>
          <p:nvPr/>
        </p:nvSpPr>
        <p:spPr>
          <a:xfrm>
            <a:off x="2697480" y="2926080"/>
            <a:ext cx="1783080" cy="1097280"/>
          </a:xfrm>
          <a:prstGeom prst="rect">
            <a:avLst/>
          </a:prstGeom>
          <a:noFill/>
          <a:ln/>
        </p:spPr>
        <p:txBody>
          <a:bodyPr wrap="square" rtlCol="0" anchor="ctr"/>
          <a:lstStyle/>
          <a:p>
            <a:pPr algn="ctr" indent="0" marL="0">
              <a:buNone/>
            </a:pPr>
            <a:r>
              <a:rPr lang="en-US" sz="1200" dirty="0">
                <a:solidFill>
                  <a:srgbClr val="374151"/>
                </a:solidFill>
                <a:latin typeface="Microsoft YaHei" pitchFamily="34" charset="0"/>
                <a:ea typeface="Microsoft YaHei" pitchFamily="34" charset="-122"/>
                <a:cs typeface="Microsoft YaHei" pitchFamily="34" charset="-120"/>
              </a:rPr>
              <a:t>做什么/不做什么/何时人工介入</a:t>
            </a:r>
            <a:endParaRPr lang="en-US" sz="1200" dirty="0"/>
          </a:p>
        </p:txBody>
      </p:sp>
      <p:sp>
        <p:nvSpPr>
          <p:cNvPr id="16" name="Shape 14"/>
          <p:cNvSpPr/>
          <p:nvPr/>
        </p:nvSpPr>
        <p:spPr>
          <a:xfrm>
            <a:off x="4754880" y="1097280"/>
            <a:ext cx="1965960" cy="3200400"/>
          </a:xfrm>
          <a:prstGeom prst="roundRect">
            <a:avLst>
              <a:gd name="adj" fmla="val 4651"/>
            </a:avLst>
          </a:prstGeom>
          <a:solidFill>
            <a:srgbClr val="F3F4F6"/>
          </a:solidFill>
          <a:ln/>
        </p:spPr>
      </p:sp>
      <p:sp>
        <p:nvSpPr>
          <p:cNvPr id="17" name="Shape 15"/>
          <p:cNvSpPr/>
          <p:nvPr/>
        </p:nvSpPr>
        <p:spPr>
          <a:xfrm>
            <a:off x="5440680" y="1325880"/>
            <a:ext cx="594360" cy="594360"/>
          </a:xfrm>
          <a:prstGeom prst="ellipse">
            <a:avLst/>
          </a:prstGeom>
          <a:solidFill>
            <a:srgbClr val="EF4444"/>
          </a:solidFill>
          <a:ln/>
        </p:spPr>
      </p:sp>
      <p:sp>
        <p:nvSpPr>
          <p:cNvPr id="18" name="Text 16"/>
          <p:cNvSpPr/>
          <p:nvPr/>
        </p:nvSpPr>
        <p:spPr>
          <a:xfrm>
            <a:off x="5440680" y="1325880"/>
            <a:ext cx="594360" cy="594360"/>
          </a:xfrm>
          <a:prstGeom prst="rect">
            <a:avLst/>
          </a:prstGeom>
          <a:noFill/>
          <a:ln/>
        </p:spPr>
        <p:txBody>
          <a:bodyPr wrap="square"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3</a:t>
            </a:r>
            <a:endParaRPr lang="en-US" sz="2200" dirty="0"/>
          </a:p>
        </p:txBody>
      </p:sp>
      <p:sp>
        <p:nvSpPr>
          <p:cNvPr id="19" name="Text 17"/>
          <p:cNvSpPr/>
          <p:nvPr/>
        </p:nvSpPr>
        <p:spPr>
          <a:xfrm>
            <a:off x="4846320" y="2103120"/>
            <a:ext cx="1783080" cy="548640"/>
          </a:xfrm>
          <a:prstGeom prst="rect">
            <a:avLst/>
          </a:prstGeom>
          <a:noFill/>
          <a:ln/>
        </p:spPr>
        <p:txBody>
          <a:bodyPr wrap="square" rtlCol="0" anchor="ctr"/>
          <a:lstStyle/>
          <a:p>
            <a:pPr algn="ctr" indent="0" marL="0">
              <a:buNone/>
            </a:pPr>
            <a:r>
              <a:rPr lang="en-US" sz="1600" b="1" dirty="0">
                <a:solidFill>
                  <a:srgbClr val="B91C1C"/>
                </a:solidFill>
                <a:latin typeface="Microsoft YaHei" pitchFamily="34" charset="0"/>
                <a:ea typeface="Microsoft YaHei" pitchFamily="34" charset="-122"/>
                <a:cs typeface="Microsoft YaHei" pitchFamily="34" charset="-120"/>
              </a:rPr>
              <a:t>核心能力</a:t>
            </a:r>
            <a:endParaRPr lang="en-US" sz="1600" dirty="0"/>
          </a:p>
        </p:txBody>
      </p:sp>
      <p:sp>
        <p:nvSpPr>
          <p:cNvPr id="20" name="Shape 18"/>
          <p:cNvSpPr/>
          <p:nvPr/>
        </p:nvSpPr>
        <p:spPr>
          <a:xfrm>
            <a:off x="5120640" y="2743200"/>
            <a:ext cx="1234440" cy="27432"/>
          </a:xfrm>
          <a:prstGeom prst="rect">
            <a:avLst/>
          </a:prstGeom>
          <a:solidFill>
            <a:srgbClr val="EF4444"/>
          </a:solidFill>
          <a:ln/>
        </p:spPr>
      </p:sp>
      <p:sp>
        <p:nvSpPr>
          <p:cNvPr id="21" name="Text 19"/>
          <p:cNvSpPr/>
          <p:nvPr/>
        </p:nvSpPr>
        <p:spPr>
          <a:xfrm>
            <a:off x="4846320" y="2926080"/>
            <a:ext cx="1783080" cy="1097280"/>
          </a:xfrm>
          <a:prstGeom prst="rect">
            <a:avLst/>
          </a:prstGeom>
          <a:noFill/>
          <a:ln/>
        </p:spPr>
        <p:txBody>
          <a:bodyPr wrap="square" rtlCol="0" anchor="ctr"/>
          <a:lstStyle/>
          <a:p>
            <a:pPr algn="ctr" indent="0" marL="0">
              <a:buNone/>
            </a:pPr>
            <a:r>
              <a:rPr lang="en-US" sz="1200" dirty="0">
                <a:solidFill>
                  <a:srgbClr val="374151"/>
                </a:solidFill>
                <a:latin typeface="Microsoft YaHei" pitchFamily="34" charset="0"/>
                <a:ea typeface="Microsoft YaHei" pitchFamily="34" charset="-122"/>
                <a:cs typeface="Microsoft YaHei" pitchFamily="34" charset="-120"/>
              </a:rPr>
              <a:t>具体判断能力</a:t>
            </a:r>
            <a:endParaRPr lang="en-US" sz="1200" dirty="0"/>
          </a:p>
        </p:txBody>
      </p:sp>
      <p:sp>
        <p:nvSpPr>
          <p:cNvPr id="22" name="Shape 20"/>
          <p:cNvSpPr/>
          <p:nvPr/>
        </p:nvSpPr>
        <p:spPr>
          <a:xfrm>
            <a:off x="6903720" y="1097280"/>
            <a:ext cx="1965960" cy="3200400"/>
          </a:xfrm>
          <a:prstGeom prst="roundRect">
            <a:avLst>
              <a:gd name="adj" fmla="val 4651"/>
            </a:avLst>
          </a:prstGeom>
          <a:solidFill>
            <a:srgbClr val="F3F4F6"/>
          </a:solidFill>
          <a:ln/>
        </p:spPr>
      </p:sp>
      <p:sp>
        <p:nvSpPr>
          <p:cNvPr id="23" name="Shape 21"/>
          <p:cNvSpPr/>
          <p:nvPr/>
        </p:nvSpPr>
        <p:spPr>
          <a:xfrm>
            <a:off x="7589520" y="1325880"/>
            <a:ext cx="594360" cy="594360"/>
          </a:xfrm>
          <a:prstGeom prst="ellipse">
            <a:avLst/>
          </a:prstGeom>
          <a:solidFill>
            <a:srgbClr val="EF4444"/>
          </a:solidFill>
          <a:ln/>
        </p:spPr>
      </p:sp>
      <p:sp>
        <p:nvSpPr>
          <p:cNvPr id="24" name="Text 22"/>
          <p:cNvSpPr/>
          <p:nvPr/>
        </p:nvSpPr>
        <p:spPr>
          <a:xfrm>
            <a:off x="7589520" y="1325880"/>
            <a:ext cx="594360" cy="594360"/>
          </a:xfrm>
          <a:prstGeom prst="rect">
            <a:avLst/>
          </a:prstGeom>
          <a:noFill/>
          <a:ln/>
        </p:spPr>
        <p:txBody>
          <a:bodyPr wrap="square"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4</a:t>
            </a:r>
            <a:endParaRPr lang="en-US" sz="2200" dirty="0"/>
          </a:p>
        </p:txBody>
      </p:sp>
      <p:sp>
        <p:nvSpPr>
          <p:cNvPr id="25" name="Text 23"/>
          <p:cNvSpPr/>
          <p:nvPr/>
        </p:nvSpPr>
        <p:spPr>
          <a:xfrm>
            <a:off x="6995160" y="2103120"/>
            <a:ext cx="1783080" cy="548640"/>
          </a:xfrm>
          <a:prstGeom prst="rect">
            <a:avLst/>
          </a:prstGeom>
          <a:noFill/>
          <a:ln/>
        </p:spPr>
        <p:txBody>
          <a:bodyPr wrap="square" rtlCol="0" anchor="ctr"/>
          <a:lstStyle/>
          <a:p>
            <a:pPr algn="ctr" indent="0" marL="0">
              <a:buNone/>
            </a:pPr>
            <a:r>
              <a:rPr lang="en-US" sz="1600" b="1" dirty="0">
                <a:solidFill>
                  <a:srgbClr val="B91C1C"/>
                </a:solidFill>
                <a:latin typeface="Microsoft YaHei" pitchFamily="34" charset="0"/>
                <a:ea typeface="Microsoft YaHei" pitchFamily="34" charset="-122"/>
                <a:cs typeface="Microsoft YaHei" pitchFamily="34" charset="-120"/>
              </a:rPr>
              <a:t>交付标准</a:t>
            </a:r>
            <a:endParaRPr lang="en-US" sz="1600" dirty="0"/>
          </a:p>
        </p:txBody>
      </p:sp>
      <p:sp>
        <p:nvSpPr>
          <p:cNvPr id="26" name="Shape 24"/>
          <p:cNvSpPr/>
          <p:nvPr/>
        </p:nvSpPr>
        <p:spPr>
          <a:xfrm>
            <a:off x="7269480" y="2743200"/>
            <a:ext cx="1234440" cy="27432"/>
          </a:xfrm>
          <a:prstGeom prst="rect">
            <a:avLst/>
          </a:prstGeom>
          <a:solidFill>
            <a:srgbClr val="EF4444"/>
          </a:solidFill>
          <a:ln/>
        </p:spPr>
      </p:sp>
      <p:sp>
        <p:nvSpPr>
          <p:cNvPr id="27" name="Text 25"/>
          <p:cNvSpPr/>
          <p:nvPr/>
        </p:nvSpPr>
        <p:spPr>
          <a:xfrm>
            <a:off x="6995160" y="2926080"/>
            <a:ext cx="1783080" cy="1097280"/>
          </a:xfrm>
          <a:prstGeom prst="rect">
            <a:avLst/>
          </a:prstGeom>
          <a:noFill/>
          <a:ln/>
        </p:spPr>
        <p:txBody>
          <a:bodyPr wrap="square" rtlCol="0" anchor="ctr"/>
          <a:lstStyle/>
          <a:p>
            <a:pPr algn="ctr" indent="0" marL="0">
              <a:buNone/>
            </a:pPr>
            <a:r>
              <a:rPr lang="en-US" sz="1200" dirty="0">
                <a:solidFill>
                  <a:srgbClr val="374151"/>
                </a:solidFill>
                <a:latin typeface="Microsoft YaHei" pitchFamily="34" charset="0"/>
                <a:ea typeface="Microsoft YaHei" pitchFamily="34" charset="-122"/>
                <a:cs typeface="Microsoft YaHei" pitchFamily="34" charset="-120"/>
              </a:rPr>
              <a:t>输出什么格式</a:t>
            </a:r>
            <a:endParaRPr lang="en-US" sz="1200" dirty="0"/>
          </a:p>
        </p:txBody>
      </p:sp>
      <p:sp>
        <p:nvSpPr>
          <p:cNvPr id="28" name="Shape 26"/>
          <p:cNvSpPr/>
          <p:nvPr/>
        </p:nvSpPr>
        <p:spPr>
          <a:xfrm>
            <a:off x="8503920" y="4663440"/>
            <a:ext cx="365760" cy="365760"/>
          </a:xfrm>
          <a:prstGeom prst="ellipse">
            <a:avLst/>
          </a:prstGeom>
          <a:solidFill>
            <a:srgbClr val="EF4444"/>
          </a:solidFill>
          <a:ln/>
        </p:spPr>
      </p:sp>
      <p:sp>
        <p:nvSpPr>
          <p:cNvPr id="29" name="Text 27"/>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320040"/>
            <a:ext cx="8229600" cy="548640"/>
          </a:xfrm>
          <a:prstGeom prst="rect">
            <a:avLst/>
          </a:prstGeom>
          <a:noFill/>
          <a:ln/>
        </p:spPr>
        <p:txBody>
          <a:bodyPr wrap="square" rtlCol="0" anchor="ctr"/>
          <a:lstStyle/>
          <a:p>
            <a:pPr indent="0" marL="0">
              <a:buNone/>
            </a:pPr>
            <a:r>
              <a:rPr lang="en-US" sz="2800" b="1" dirty="0">
                <a:solidFill>
                  <a:srgbClr val="B91C1C"/>
                </a:solidFill>
                <a:latin typeface="Microsoft YaHei" pitchFamily="34" charset="0"/>
                <a:ea typeface="Microsoft YaHei" pitchFamily="34" charset="-122"/>
                <a:cs typeface="Microsoft YaHei" pitchFamily="34" charset="-120"/>
              </a:rPr>
              <a:t>好设计 vs 空设计</a:t>
            </a:r>
            <a:endParaRPr lang="en-US" sz="2800" dirty="0"/>
          </a:p>
        </p:txBody>
      </p:sp>
      <p:sp>
        <p:nvSpPr>
          <p:cNvPr id="4" name="Shape 2"/>
          <p:cNvSpPr/>
          <p:nvPr/>
        </p:nvSpPr>
        <p:spPr>
          <a:xfrm>
            <a:off x="457200" y="1005840"/>
            <a:ext cx="3931920" cy="3474720"/>
          </a:xfrm>
          <a:prstGeom prst="roundRect">
            <a:avLst>
              <a:gd name="adj" fmla="val 2632"/>
            </a:avLst>
          </a:prstGeom>
          <a:solidFill>
            <a:srgbClr val="F3F4F6"/>
          </a:solidFill>
          <a:ln/>
        </p:spPr>
      </p:sp>
      <p:sp>
        <p:nvSpPr>
          <p:cNvPr id="5" name="Shape 3"/>
          <p:cNvSpPr/>
          <p:nvPr/>
        </p:nvSpPr>
        <p:spPr>
          <a:xfrm>
            <a:off x="457200" y="1005840"/>
            <a:ext cx="3931920" cy="457200"/>
          </a:xfrm>
          <a:prstGeom prst="rect">
            <a:avLst/>
          </a:prstGeom>
          <a:solidFill>
            <a:srgbClr val="EF4444"/>
          </a:solidFill>
          <a:ln/>
        </p:spPr>
      </p:sp>
      <p:sp>
        <p:nvSpPr>
          <p:cNvPr id="6" name="Text 4"/>
          <p:cNvSpPr/>
          <p:nvPr/>
        </p:nvSpPr>
        <p:spPr>
          <a:xfrm>
            <a:off x="457200" y="1005840"/>
            <a:ext cx="3931920" cy="457200"/>
          </a:xfrm>
          <a:prstGeom prst="rect">
            <a:avLst/>
          </a:prstGeom>
          <a:noFill/>
          <a:ln/>
        </p:spPr>
        <p:txBody>
          <a:bodyPr wrap="square" rtlCol="0" anchor="ctr"/>
          <a:lstStyle/>
          <a:p>
            <a:pPr algn="ctr" indent="0" marL="0">
              <a:buNone/>
            </a:pPr>
            <a:r>
              <a:rPr lang="en-US" sz="1600" b="1" dirty="0">
                <a:solidFill>
                  <a:srgbClr val="FFFFFF"/>
                </a:solidFill>
                <a:latin typeface="Microsoft YaHei" pitchFamily="34" charset="0"/>
                <a:ea typeface="Microsoft YaHei" pitchFamily="34" charset="-122"/>
                <a:cs typeface="Microsoft YaHei" pitchFamily="34" charset="-120"/>
              </a:rPr>
              <a:t>空的</a:t>
            </a:r>
            <a:endParaRPr lang="en-US" sz="1600" dirty="0"/>
          </a:p>
        </p:txBody>
      </p:sp>
      <p:sp>
        <p:nvSpPr>
          <p:cNvPr id="7" name="Text 5"/>
          <p:cNvSpPr/>
          <p:nvPr/>
        </p:nvSpPr>
        <p:spPr>
          <a:xfrm>
            <a:off x="640080" y="1645920"/>
            <a:ext cx="365760" cy="365760"/>
          </a:xfrm>
          <a:prstGeom prst="rect">
            <a:avLst/>
          </a:prstGeom>
          <a:noFill/>
          <a:ln/>
        </p:spPr>
        <p:txBody>
          <a:bodyPr wrap="square" rtlCol="0" anchor="ctr"/>
          <a:lstStyle/>
          <a:p>
            <a:pPr indent="0" marL="0">
              <a:buNone/>
            </a:pPr>
            <a:r>
              <a:rPr lang="en-US" sz="2400" b="1" dirty="0">
                <a:solidFill>
                  <a:srgbClr val="EF4444"/>
                </a:solidFill>
                <a:latin typeface="Arial" pitchFamily="34" charset="0"/>
                <a:ea typeface="Arial" pitchFamily="34" charset="-122"/>
                <a:cs typeface="Arial" pitchFamily="34" charset="-120"/>
              </a:rPr>
              <a:t>X</a:t>
            </a:r>
            <a:endParaRPr lang="en-US" sz="2400" dirty="0"/>
          </a:p>
        </p:txBody>
      </p:sp>
      <p:sp>
        <p:nvSpPr>
          <p:cNvPr id="8" name="Text 6"/>
          <p:cNvSpPr/>
          <p:nvPr/>
        </p:nvSpPr>
        <p:spPr>
          <a:xfrm>
            <a:off x="1097280" y="1645920"/>
            <a:ext cx="3108960" cy="2560320"/>
          </a:xfrm>
          <a:prstGeom prst="rect">
            <a:avLst/>
          </a:prstGeom>
          <a:noFill/>
          <a:ln/>
        </p:spPr>
        <p:txBody>
          <a:bodyPr wrap="square" rtlCol="0" anchor="ctr"/>
          <a:lstStyle/>
          <a:p>
            <a:pPr indent="0" marL="0">
              <a:buNone/>
            </a:pPr>
            <a:r>
              <a:rPr lang="en-US" sz="1300" b="1" dirty="0">
                <a:solidFill>
                  <a:srgbClr val="B91C1C"/>
                </a:solidFill>
                <a:latin typeface="Microsoft YaHei" pitchFamily="34" charset="0"/>
                <a:ea typeface="Microsoft YaHei" pitchFamily="34" charset="-122"/>
                <a:cs typeface="Microsoft YaHei" pitchFamily="34" charset="-120"/>
              </a:rPr>
              <a:t>角色名称：</a:t>
            </a:r>
            <a:endParaRPr lang="en-US" sz="1300" dirty="0"/>
          </a:p>
          <a:p>
            <a:pPr indent="0" marL="0">
              <a:buNone/>
            </a:pPr>
            <a:r>
              <a:rPr lang="en-US" sz="1300" dirty="0">
                <a:solidFill>
                  <a:srgbClr val="374151"/>
                </a:solidFill>
                <a:latin typeface="Microsoft YaHei" pitchFamily="34" charset="0"/>
                <a:ea typeface="Microsoft YaHei" pitchFamily="34" charset="-122"/>
                <a:cs typeface="Microsoft YaHei" pitchFamily="34" charset="-120"/>
              </a:rPr>
              <a:t>内容优化助手</a:t>
            </a:r>
            <a:endParaRPr lang="en-US" sz="1300" dirty="0"/>
          </a:p>
          <a:p>
            <a:pPr indent="0" marL="0">
              <a:buNone/>
            </a:pPr>
            <a:endParaRPr lang="en-US" sz="1300" dirty="0"/>
          </a:p>
          <a:p>
            <a:pPr indent="0" marL="0">
              <a:buNone/>
            </a:pPr>
            <a:r>
              <a:rPr lang="en-US" sz="1300" b="1" dirty="0">
                <a:solidFill>
                  <a:srgbClr val="B91C1C"/>
                </a:solidFill>
                <a:latin typeface="Microsoft YaHei" pitchFamily="34" charset="0"/>
                <a:ea typeface="Microsoft YaHei" pitchFamily="34" charset="-122"/>
                <a:cs typeface="Microsoft YaHei" pitchFamily="34" charset="-120"/>
              </a:rPr>
              <a:t>职责：</a:t>
            </a:r>
            <a:endParaRPr lang="en-US" sz="1300" dirty="0"/>
          </a:p>
          <a:p>
            <a:pPr indent="0" marL="0">
              <a:buNone/>
            </a:pPr>
            <a:r>
              <a:rPr lang="en-US" sz="1300" dirty="0">
                <a:solidFill>
                  <a:srgbClr val="374151"/>
                </a:solidFill>
                <a:latin typeface="Microsoft YaHei" pitchFamily="34" charset="0"/>
                <a:ea typeface="Microsoft YaHei" pitchFamily="34" charset="-122"/>
                <a:cs typeface="Microsoft YaHei" pitchFamily="34" charset="-120"/>
              </a:rPr>
              <a:t>帮助内容团队优化文章质量</a:t>
            </a:r>
            <a:endParaRPr lang="en-US" sz="1300" dirty="0"/>
          </a:p>
          <a:p>
            <a:pPr indent="0" marL="0">
              <a:buNone/>
            </a:pPr>
            <a:endParaRPr lang="en-US" sz="1300" dirty="0"/>
          </a:p>
          <a:p>
            <a:pPr indent="0" marL="0">
              <a:buNone/>
            </a:pPr>
            <a:r>
              <a:rPr lang="en-US" sz="1300" b="1" dirty="0">
                <a:solidFill>
                  <a:srgbClr val="B91C1C"/>
                </a:solidFill>
                <a:latin typeface="Microsoft YaHei" pitchFamily="34" charset="0"/>
                <a:ea typeface="Microsoft YaHei" pitchFamily="34" charset="-122"/>
                <a:cs typeface="Microsoft YaHei" pitchFamily="34" charset="-120"/>
              </a:rPr>
              <a:t>核心能力：</a:t>
            </a:r>
            <a:endParaRPr lang="en-US" sz="1300" dirty="0"/>
          </a:p>
          <a:p>
            <a:pPr indent="0" marL="0">
              <a:buNone/>
            </a:pPr>
            <a:r>
              <a:rPr lang="en-US" sz="1300" dirty="0">
                <a:solidFill>
                  <a:srgbClr val="374151"/>
                </a:solidFill>
                <a:latin typeface="Microsoft YaHei" pitchFamily="34" charset="0"/>
                <a:ea typeface="Microsoft YaHei" pitchFamily="34" charset="-122"/>
                <a:cs typeface="Microsoft YaHei" pitchFamily="34" charset="-120"/>
              </a:rPr>
              <a:t>内容分析、写作改进、SEO优化</a:t>
            </a:r>
            <a:endParaRPr lang="en-US" sz="1300" dirty="0"/>
          </a:p>
        </p:txBody>
      </p:sp>
      <p:sp>
        <p:nvSpPr>
          <p:cNvPr id="9" name="Shape 7"/>
          <p:cNvSpPr/>
          <p:nvPr/>
        </p:nvSpPr>
        <p:spPr>
          <a:xfrm>
            <a:off x="4754880" y="1005840"/>
            <a:ext cx="3931920" cy="3474720"/>
          </a:xfrm>
          <a:prstGeom prst="roundRect">
            <a:avLst>
              <a:gd name="adj" fmla="val 2632"/>
            </a:avLst>
          </a:prstGeom>
          <a:solidFill>
            <a:srgbClr val="F3F4F6"/>
          </a:solidFill>
          <a:ln/>
        </p:spPr>
      </p:sp>
      <p:sp>
        <p:nvSpPr>
          <p:cNvPr id="10" name="Shape 8"/>
          <p:cNvSpPr/>
          <p:nvPr/>
        </p:nvSpPr>
        <p:spPr>
          <a:xfrm>
            <a:off x="4754880" y="1005840"/>
            <a:ext cx="3931920" cy="457200"/>
          </a:xfrm>
          <a:prstGeom prst="rect">
            <a:avLst/>
          </a:prstGeom>
          <a:solidFill>
            <a:srgbClr val="10B981"/>
          </a:solidFill>
          <a:ln/>
        </p:spPr>
      </p:sp>
      <p:sp>
        <p:nvSpPr>
          <p:cNvPr id="11" name="Text 9"/>
          <p:cNvSpPr/>
          <p:nvPr/>
        </p:nvSpPr>
        <p:spPr>
          <a:xfrm>
            <a:off x="4754880" y="1005840"/>
            <a:ext cx="3931920" cy="457200"/>
          </a:xfrm>
          <a:prstGeom prst="rect">
            <a:avLst/>
          </a:prstGeom>
          <a:noFill/>
          <a:ln/>
        </p:spPr>
        <p:txBody>
          <a:bodyPr wrap="square" rtlCol="0" anchor="ctr"/>
          <a:lstStyle/>
          <a:p>
            <a:pPr algn="ctr" indent="0" marL="0">
              <a:buNone/>
            </a:pPr>
            <a:r>
              <a:rPr lang="en-US" sz="1600" b="1" dirty="0">
                <a:solidFill>
                  <a:srgbClr val="FFFFFF"/>
                </a:solidFill>
                <a:latin typeface="Microsoft YaHei" pitchFamily="34" charset="0"/>
                <a:ea typeface="Microsoft YaHei" pitchFamily="34" charset="-122"/>
                <a:cs typeface="Microsoft YaHei" pitchFamily="34" charset="-120"/>
              </a:rPr>
              <a:t>好的</a:t>
            </a:r>
            <a:endParaRPr lang="en-US" sz="1600" dirty="0"/>
          </a:p>
        </p:txBody>
      </p:sp>
      <p:sp>
        <p:nvSpPr>
          <p:cNvPr id="12" name="Text 10"/>
          <p:cNvSpPr/>
          <p:nvPr/>
        </p:nvSpPr>
        <p:spPr>
          <a:xfrm>
            <a:off x="4937760" y="1645920"/>
            <a:ext cx="365760" cy="365760"/>
          </a:xfrm>
          <a:prstGeom prst="rect">
            <a:avLst/>
          </a:prstGeom>
          <a:noFill/>
          <a:ln/>
        </p:spPr>
        <p:txBody>
          <a:bodyPr wrap="square" rtlCol="0" anchor="ctr"/>
          <a:lstStyle/>
          <a:p>
            <a:pPr indent="0" marL="0">
              <a:buNone/>
            </a:pPr>
            <a:r>
              <a:rPr lang="en-US" sz="2400" b="1" dirty="0">
                <a:solidFill>
                  <a:srgbClr val="10B981"/>
                </a:solidFill>
                <a:latin typeface="Arial" pitchFamily="34" charset="0"/>
                <a:ea typeface="Arial" pitchFamily="34" charset="-122"/>
                <a:cs typeface="Arial" pitchFamily="34" charset="-120"/>
              </a:rPr>
              <a:t>V</a:t>
            </a:r>
            <a:endParaRPr lang="en-US" sz="2400" dirty="0"/>
          </a:p>
        </p:txBody>
      </p:sp>
      <p:sp>
        <p:nvSpPr>
          <p:cNvPr id="13" name="Text 11"/>
          <p:cNvSpPr/>
          <p:nvPr/>
        </p:nvSpPr>
        <p:spPr>
          <a:xfrm>
            <a:off x="5394960" y="1645920"/>
            <a:ext cx="3108960" cy="2560320"/>
          </a:xfrm>
          <a:prstGeom prst="rect">
            <a:avLst/>
          </a:prstGeom>
          <a:noFill/>
          <a:ln/>
        </p:spPr>
        <p:txBody>
          <a:bodyPr wrap="square" rtlCol="0" anchor="ctr"/>
          <a:lstStyle/>
          <a:p>
            <a:pPr indent="0" marL="0">
              <a:buNone/>
            </a:pPr>
            <a:r>
              <a:rPr lang="en-US" sz="1200" b="1" dirty="0">
                <a:solidFill>
                  <a:srgbClr val="B91C1C"/>
                </a:solidFill>
                <a:latin typeface="Microsoft YaHei" pitchFamily="34" charset="0"/>
                <a:ea typeface="Microsoft YaHei" pitchFamily="34" charset="-122"/>
                <a:cs typeface="Microsoft YaHei" pitchFamily="34" charset="-120"/>
              </a:rPr>
              <a:t>角色名称：</a:t>
            </a:r>
            <a:endParaRPr lang="en-US" sz="1200" dirty="0"/>
          </a:p>
          <a:p>
            <a:pPr indent="0" marL="0">
              <a:buNone/>
            </a:pPr>
            <a:r>
              <a:rPr lang="en-US" sz="1200" dirty="0">
                <a:solidFill>
                  <a:srgbClr val="374151"/>
                </a:solidFill>
                <a:latin typeface="Microsoft YaHei" pitchFamily="34" charset="0"/>
                <a:ea typeface="Microsoft YaHei" pitchFamily="34" charset="-122"/>
                <a:cs typeface="Microsoft YaHei" pitchFamily="34" charset="-120"/>
              </a:rPr>
              <a:t>内容发布前质检员</a:t>
            </a:r>
            <a:endParaRPr lang="en-US" sz="1200" dirty="0"/>
          </a:p>
          <a:p>
            <a:pPr indent="0" marL="0">
              <a:buNone/>
            </a:pPr>
            <a:endParaRPr lang="en-US" sz="1200" dirty="0"/>
          </a:p>
          <a:p>
            <a:pPr indent="0" marL="0">
              <a:buNone/>
            </a:pPr>
            <a:r>
              <a:rPr lang="en-US" sz="1200" b="1" dirty="0">
                <a:solidFill>
                  <a:srgbClr val="B91C1C"/>
                </a:solidFill>
                <a:latin typeface="Microsoft YaHei" pitchFamily="34" charset="0"/>
                <a:ea typeface="Microsoft YaHei" pitchFamily="34" charset="-122"/>
                <a:cs typeface="Microsoft YaHei" pitchFamily="34" charset="-120"/>
              </a:rPr>
              <a:t>职责边界：</a:t>
            </a:r>
            <a:endParaRPr lang="en-US" sz="1200" dirty="0"/>
          </a:p>
          <a:p>
            <a:pPr indent="0" marL="0">
              <a:buNone/>
            </a:pPr>
            <a:r>
              <a:rPr lang="en-US" sz="1200" dirty="0">
                <a:solidFill>
                  <a:srgbClr val="374151"/>
                </a:solidFill>
                <a:latin typeface="Microsoft YaHei" pitchFamily="34" charset="0"/>
                <a:ea typeface="Microsoft YaHei" pitchFamily="34" charset="-122"/>
                <a:cs typeface="Microsoft YaHei" pitchFamily="34" charset="-120"/>
              </a:rPr>
              <a:t>负责文章格式检查，不负责内容修改</a:t>
            </a:r>
            <a:endParaRPr lang="en-US" sz="1200" dirty="0"/>
          </a:p>
          <a:p>
            <a:pPr indent="0" marL="0">
              <a:buNone/>
            </a:pPr>
            <a:endParaRPr lang="en-US" sz="1200" dirty="0"/>
          </a:p>
          <a:p>
            <a:pPr indent="0" marL="0">
              <a:buNone/>
            </a:pPr>
            <a:r>
              <a:rPr lang="en-US" sz="1200" b="1" dirty="0">
                <a:solidFill>
                  <a:srgbClr val="B91C1C"/>
                </a:solidFill>
                <a:latin typeface="Microsoft YaHei" pitchFamily="34" charset="0"/>
                <a:ea typeface="Microsoft YaHei" pitchFamily="34" charset="-122"/>
                <a:cs typeface="Microsoft YaHei" pitchFamily="34" charset="-120"/>
              </a:rPr>
              <a:t>核心判断规则：</a:t>
            </a:r>
            <a:endParaRPr lang="en-US" sz="1200" dirty="0"/>
          </a:p>
          <a:p>
            <a:pPr indent="0" marL="0">
              <a:buNone/>
            </a:pPr>
            <a:r>
              <a:rPr lang="en-US" sz="1200" dirty="0">
                <a:solidFill>
                  <a:srgbClr val="374151"/>
                </a:solidFill>
                <a:latin typeface="Microsoft YaHei" pitchFamily="34" charset="0"/>
                <a:ea typeface="Microsoft YaHei" pitchFamily="34" charset="-122"/>
                <a:cs typeface="Microsoft YaHei" pitchFamily="34" charset="-120"/>
              </a:rPr>
              <a:t>如果标题超过30字，标记「待优化」</a:t>
            </a:r>
            <a:endParaRPr lang="en-US" sz="1200" dirty="0"/>
          </a:p>
          <a:p>
            <a:pPr indent="0" marL="0">
              <a:buNone/>
            </a:pPr>
            <a:r>
              <a:rPr lang="en-US" sz="1200" dirty="0">
                <a:solidFill>
                  <a:srgbClr val="374151"/>
                </a:solidFill>
                <a:latin typeface="Microsoft YaHei" pitchFamily="34" charset="0"/>
                <a:ea typeface="Microsoft YaHei" pitchFamily="34" charset="-122"/>
                <a:cs typeface="Microsoft YaHei" pitchFamily="34" charset="-120"/>
              </a:rPr>
              <a:t>如果缺少摘要，标记「缺摘要」</a:t>
            </a:r>
            <a:endParaRPr lang="en-US" sz="1200" dirty="0"/>
          </a:p>
        </p:txBody>
      </p:sp>
      <p:sp>
        <p:nvSpPr>
          <p:cNvPr id="14" name="Shape 12"/>
          <p:cNvSpPr/>
          <p:nvPr/>
        </p:nvSpPr>
        <p:spPr>
          <a:xfrm>
            <a:off x="8503920" y="4663440"/>
            <a:ext cx="365760" cy="365760"/>
          </a:xfrm>
          <a:prstGeom prst="ellipse">
            <a:avLst/>
          </a:prstGeom>
          <a:solidFill>
            <a:srgbClr val="EF4444"/>
          </a:solidFill>
          <a:ln/>
        </p:spPr>
      </p:sp>
      <p:sp>
        <p:nvSpPr>
          <p:cNvPr id="15" name="Text 13"/>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320040"/>
            <a:ext cx="8229600" cy="548640"/>
          </a:xfrm>
          <a:prstGeom prst="rect">
            <a:avLst/>
          </a:prstGeom>
          <a:noFill/>
          <a:ln/>
        </p:spPr>
        <p:txBody>
          <a:bodyPr wrap="square" rtlCol="0" anchor="ctr"/>
          <a:lstStyle/>
          <a:p>
            <a:pPr indent="0" marL="0">
              <a:buNone/>
            </a:pPr>
            <a:r>
              <a:rPr lang="en-US" sz="2800" b="1" dirty="0">
                <a:solidFill>
                  <a:srgbClr val="B91C1C"/>
                </a:solidFill>
                <a:latin typeface="Microsoft YaHei" pitchFamily="34" charset="0"/>
                <a:ea typeface="Microsoft YaHei" pitchFamily="34" charset="-122"/>
                <a:cs typeface="Microsoft YaHei" pitchFamily="34" charset="-120"/>
              </a:rPr>
              <a:t>各行业参考</a:t>
            </a:r>
            <a:endParaRPr lang="en-US" sz="2800" dirty="0"/>
          </a:p>
        </p:txBody>
      </p:sp>
      <p:sp>
        <p:nvSpPr>
          <p:cNvPr id="4" name="Shape 2"/>
          <p:cNvSpPr/>
          <p:nvPr/>
        </p:nvSpPr>
        <p:spPr>
          <a:xfrm>
            <a:off x="457200" y="1097280"/>
            <a:ext cx="1965960" cy="3017520"/>
          </a:xfrm>
          <a:prstGeom prst="roundRect">
            <a:avLst>
              <a:gd name="adj" fmla="val 4651"/>
            </a:avLst>
          </a:prstGeom>
          <a:solidFill>
            <a:srgbClr val="F3F4F6"/>
          </a:solidFill>
          <a:ln/>
        </p:spPr>
      </p:sp>
      <p:sp>
        <p:nvSpPr>
          <p:cNvPr id="5" name="Shape 3"/>
          <p:cNvSpPr/>
          <p:nvPr/>
        </p:nvSpPr>
        <p:spPr>
          <a:xfrm>
            <a:off x="457200" y="1097280"/>
            <a:ext cx="1965960" cy="502920"/>
          </a:xfrm>
          <a:prstGeom prst="rect">
            <a:avLst/>
          </a:prstGeom>
          <a:solidFill>
            <a:srgbClr val="374151"/>
          </a:solidFill>
          <a:ln/>
        </p:spPr>
      </p:sp>
      <p:sp>
        <p:nvSpPr>
          <p:cNvPr id="6" name="Text 4"/>
          <p:cNvSpPr/>
          <p:nvPr/>
        </p:nvSpPr>
        <p:spPr>
          <a:xfrm>
            <a:off x="457200" y="1097280"/>
            <a:ext cx="1965960" cy="502920"/>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金融行业</a:t>
            </a:r>
            <a:endParaRPr lang="en-US" sz="1400" dirty="0"/>
          </a:p>
        </p:txBody>
      </p:sp>
      <p:sp>
        <p:nvSpPr>
          <p:cNvPr id="7" name="Shape 5"/>
          <p:cNvSpPr/>
          <p:nvPr/>
        </p:nvSpPr>
        <p:spPr>
          <a:xfrm>
            <a:off x="594360" y="1874520"/>
            <a:ext cx="228600" cy="228600"/>
          </a:xfrm>
          <a:prstGeom prst="ellipse">
            <a:avLst/>
          </a:prstGeom>
          <a:solidFill>
            <a:srgbClr val="EF4444"/>
          </a:solidFill>
          <a:ln/>
        </p:spPr>
      </p:sp>
      <p:sp>
        <p:nvSpPr>
          <p:cNvPr id="8" name="Text 6"/>
          <p:cNvSpPr/>
          <p:nvPr/>
        </p:nvSpPr>
        <p:spPr>
          <a:xfrm>
            <a:off x="914400" y="1783080"/>
            <a:ext cx="1417320" cy="640080"/>
          </a:xfrm>
          <a:prstGeom prst="rect">
            <a:avLst/>
          </a:prstGeom>
          <a:noFill/>
          <a:ln/>
        </p:spPr>
        <p:txBody>
          <a:bodyPr wrap="square" rtlCol="0" anchor="t"/>
          <a:lstStyle/>
          <a:p>
            <a:pPr indent="0" marL="0">
              <a:buNone/>
            </a:pPr>
            <a:r>
              <a:rPr lang="en-US" sz="1200" dirty="0">
                <a:solidFill>
                  <a:srgbClr val="B91C1C"/>
                </a:solidFill>
                <a:latin typeface="Microsoft YaHei" pitchFamily="34" charset="0"/>
                <a:ea typeface="Microsoft YaHei" pitchFamily="34" charset="-122"/>
                <a:cs typeface="Microsoft YaHei" pitchFamily="34" charset="-120"/>
              </a:rPr>
              <a:t>客户档案摘要员</a:t>
            </a:r>
            <a:endParaRPr lang="en-US" sz="1200" dirty="0"/>
          </a:p>
        </p:txBody>
      </p:sp>
      <p:sp>
        <p:nvSpPr>
          <p:cNvPr id="9" name="Shape 7"/>
          <p:cNvSpPr/>
          <p:nvPr/>
        </p:nvSpPr>
        <p:spPr>
          <a:xfrm>
            <a:off x="594360" y="2971800"/>
            <a:ext cx="228600" cy="228600"/>
          </a:xfrm>
          <a:prstGeom prst="ellipse">
            <a:avLst/>
          </a:prstGeom>
          <a:solidFill>
            <a:srgbClr val="EF4444"/>
          </a:solidFill>
          <a:ln/>
        </p:spPr>
      </p:sp>
      <p:sp>
        <p:nvSpPr>
          <p:cNvPr id="10" name="Text 8"/>
          <p:cNvSpPr/>
          <p:nvPr/>
        </p:nvSpPr>
        <p:spPr>
          <a:xfrm>
            <a:off x="914400" y="2880360"/>
            <a:ext cx="1417320" cy="640080"/>
          </a:xfrm>
          <a:prstGeom prst="rect">
            <a:avLst/>
          </a:prstGeom>
          <a:noFill/>
          <a:ln/>
        </p:spPr>
        <p:txBody>
          <a:bodyPr wrap="square" rtlCol="0" anchor="t"/>
          <a:lstStyle/>
          <a:p>
            <a:pPr indent="0" marL="0">
              <a:buNone/>
            </a:pPr>
            <a:r>
              <a:rPr lang="en-US" sz="1200" dirty="0">
                <a:solidFill>
                  <a:srgbClr val="B91C1C"/>
                </a:solidFill>
                <a:latin typeface="Microsoft YaHei" pitchFamily="34" charset="0"/>
                <a:ea typeface="Microsoft YaHei" pitchFamily="34" charset="-122"/>
                <a:cs typeface="Microsoft YaHei" pitchFamily="34" charset="-120"/>
              </a:rPr>
              <a:t>合规风险初筛员</a:t>
            </a:r>
            <a:endParaRPr lang="en-US" sz="1200" dirty="0"/>
          </a:p>
        </p:txBody>
      </p:sp>
      <p:sp>
        <p:nvSpPr>
          <p:cNvPr id="11" name="Shape 9"/>
          <p:cNvSpPr/>
          <p:nvPr/>
        </p:nvSpPr>
        <p:spPr>
          <a:xfrm>
            <a:off x="2606040" y="1097280"/>
            <a:ext cx="1965960" cy="3017520"/>
          </a:xfrm>
          <a:prstGeom prst="roundRect">
            <a:avLst>
              <a:gd name="adj" fmla="val 4651"/>
            </a:avLst>
          </a:prstGeom>
          <a:solidFill>
            <a:srgbClr val="F3F4F6"/>
          </a:solidFill>
          <a:ln/>
        </p:spPr>
      </p:sp>
      <p:sp>
        <p:nvSpPr>
          <p:cNvPr id="12" name="Shape 10"/>
          <p:cNvSpPr/>
          <p:nvPr/>
        </p:nvSpPr>
        <p:spPr>
          <a:xfrm>
            <a:off x="2606040" y="1097280"/>
            <a:ext cx="1965960" cy="502920"/>
          </a:xfrm>
          <a:prstGeom prst="rect">
            <a:avLst/>
          </a:prstGeom>
          <a:solidFill>
            <a:srgbClr val="374151"/>
          </a:solidFill>
          <a:ln/>
        </p:spPr>
      </p:sp>
      <p:sp>
        <p:nvSpPr>
          <p:cNvPr id="13" name="Text 11"/>
          <p:cNvSpPr/>
          <p:nvPr/>
        </p:nvSpPr>
        <p:spPr>
          <a:xfrm>
            <a:off x="2606040" y="1097280"/>
            <a:ext cx="1965960" cy="502920"/>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零售行业</a:t>
            </a:r>
            <a:endParaRPr lang="en-US" sz="1400" dirty="0"/>
          </a:p>
        </p:txBody>
      </p:sp>
      <p:sp>
        <p:nvSpPr>
          <p:cNvPr id="14" name="Shape 12"/>
          <p:cNvSpPr/>
          <p:nvPr/>
        </p:nvSpPr>
        <p:spPr>
          <a:xfrm>
            <a:off x="2743200" y="1874520"/>
            <a:ext cx="228600" cy="228600"/>
          </a:xfrm>
          <a:prstGeom prst="ellipse">
            <a:avLst/>
          </a:prstGeom>
          <a:solidFill>
            <a:srgbClr val="EF4444"/>
          </a:solidFill>
          <a:ln/>
        </p:spPr>
      </p:sp>
      <p:sp>
        <p:nvSpPr>
          <p:cNvPr id="15" name="Text 13"/>
          <p:cNvSpPr/>
          <p:nvPr/>
        </p:nvSpPr>
        <p:spPr>
          <a:xfrm>
            <a:off x="3063240" y="1783080"/>
            <a:ext cx="1417320" cy="640080"/>
          </a:xfrm>
          <a:prstGeom prst="rect">
            <a:avLst/>
          </a:prstGeom>
          <a:noFill/>
          <a:ln/>
        </p:spPr>
        <p:txBody>
          <a:bodyPr wrap="square" rtlCol="0" anchor="t"/>
          <a:lstStyle/>
          <a:p>
            <a:pPr indent="0" marL="0">
              <a:buNone/>
            </a:pPr>
            <a:r>
              <a:rPr lang="en-US" sz="1200" dirty="0">
                <a:solidFill>
                  <a:srgbClr val="B91C1C"/>
                </a:solidFill>
                <a:latin typeface="Microsoft YaHei" pitchFamily="34" charset="0"/>
                <a:ea typeface="Microsoft YaHei" pitchFamily="34" charset="-122"/>
                <a:cs typeface="Microsoft YaHei" pitchFamily="34" charset="-120"/>
              </a:rPr>
              <a:t>库存预警专员</a:t>
            </a:r>
            <a:endParaRPr lang="en-US" sz="1200" dirty="0"/>
          </a:p>
        </p:txBody>
      </p:sp>
      <p:sp>
        <p:nvSpPr>
          <p:cNvPr id="16" name="Shape 14"/>
          <p:cNvSpPr/>
          <p:nvPr/>
        </p:nvSpPr>
        <p:spPr>
          <a:xfrm>
            <a:off x="2743200" y="2971800"/>
            <a:ext cx="228600" cy="228600"/>
          </a:xfrm>
          <a:prstGeom prst="ellipse">
            <a:avLst/>
          </a:prstGeom>
          <a:solidFill>
            <a:srgbClr val="EF4444"/>
          </a:solidFill>
          <a:ln/>
        </p:spPr>
      </p:sp>
      <p:sp>
        <p:nvSpPr>
          <p:cNvPr id="17" name="Text 15"/>
          <p:cNvSpPr/>
          <p:nvPr/>
        </p:nvSpPr>
        <p:spPr>
          <a:xfrm>
            <a:off x="3063240" y="2880360"/>
            <a:ext cx="1417320" cy="640080"/>
          </a:xfrm>
          <a:prstGeom prst="rect">
            <a:avLst/>
          </a:prstGeom>
          <a:noFill/>
          <a:ln/>
        </p:spPr>
        <p:txBody>
          <a:bodyPr wrap="square" rtlCol="0" anchor="t"/>
          <a:lstStyle/>
          <a:p>
            <a:pPr indent="0" marL="0">
              <a:buNone/>
            </a:pPr>
            <a:r>
              <a:rPr lang="en-US" sz="1200" dirty="0">
                <a:solidFill>
                  <a:srgbClr val="B91C1C"/>
                </a:solidFill>
                <a:latin typeface="Microsoft YaHei" pitchFamily="34" charset="0"/>
                <a:ea typeface="Microsoft YaHei" pitchFamily="34" charset="-122"/>
                <a:cs typeface="Microsoft YaHei" pitchFamily="34" charset="-120"/>
              </a:rPr>
              <a:t>客诉分级处理员</a:t>
            </a:r>
            <a:endParaRPr lang="en-US" sz="1200" dirty="0"/>
          </a:p>
        </p:txBody>
      </p:sp>
      <p:sp>
        <p:nvSpPr>
          <p:cNvPr id="18" name="Shape 16"/>
          <p:cNvSpPr/>
          <p:nvPr/>
        </p:nvSpPr>
        <p:spPr>
          <a:xfrm>
            <a:off x="4754880" y="1097280"/>
            <a:ext cx="1965960" cy="3017520"/>
          </a:xfrm>
          <a:prstGeom prst="roundRect">
            <a:avLst>
              <a:gd name="adj" fmla="val 4651"/>
            </a:avLst>
          </a:prstGeom>
          <a:solidFill>
            <a:srgbClr val="F3F4F6"/>
          </a:solidFill>
          <a:ln/>
        </p:spPr>
      </p:sp>
      <p:sp>
        <p:nvSpPr>
          <p:cNvPr id="19" name="Shape 17"/>
          <p:cNvSpPr/>
          <p:nvPr/>
        </p:nvSpPr>
        <p:spPr>
          <a:xfrm>
            <a:off x="4754880" y="1097280"/>
            <a:ext cx="1965960" cy="502920"/>
          </a:xfrm>
          <a:prstGeom prst="rect">
            <a:avLst/>
          </a:prstGeom>
          <a:solidFill>
            <a:srgbClr val="374151"/>
          </a:solidFill>
          <a:ln/>
        </p:spPr>
      </p:sp>
      <p:sp>
        <p:nvSpPr>
          <p:cNvPr id="20" name="Text 18"/>
          <p:cNvSpPr/>
          <p:nvPr/>
        </p:nvSpPr>
        <p:spPr>
          <a:xfrm>
            <a:off x="4754880" y="1097280"/>
            <a:ext cx="1965960" cy="502920"/>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制造行业</a:t>
            </a:r>
            <a:endParaRPr lang="en-US" sz="1400" dirty="0"/>
          </a:p>
        </p:txBody>
      </p:sp>
      <p:sp>
        <p:nvSpPr>
          <p:cNvPr id="21" name="Shape 19"/>
          <p:cNvSpPr/>
          <p:nvPr/>
        </p:nvSpPr>
        <p:spPr>
          <a:xfrm>
            <a:off x="4892040" y="1874520"/>
            <a:ext cx="228600" cy="228600"/>
          </a:xfrm>
          <a:prstGeom prst="ellipse">
            <a:avLst/>
          </a:prstGeom>
          <a:solidFill>
            <a:srgbClr val="EF4444"/>
          </a:solidFill>
          <a:ln/>
        </p:spPr>
      </p:sp>
      <p:sp>
        <p:nvSpPr>
          <p:cNvPr id="22" name="Text 20"/>
          <p:cNvSpPr/>
          <p:nvPr/>
        </p:nvSpPr>
        <p:spPr>
          <a:xfrm>
            <a:off x="5212080" y="1783080"/>
            <a:ext cx="1417320" cy="640080"/>
          </a:xfrm>
          <a:prstGeom prst="rect">
            <a:avLst/>
          </a:prstGeom>
          <a:noFill/>
          <a:ln/>
        </p:spPr>
        <p:txBody>
          <a:bodyPr wrap="square" rtlCol="0" anchor="t"/>
          <a:lstStyle/>
          <a:p>
            <a:pPr indent="0" marL="0">
              <a:buNone/>
            </a:pPr>
            <a:r>
              <a:rPr lang="en-US" sz="1200" dirty="0">
                <a:solidFill>
                  <a:srgbClr val="B91C1C"/>
                </a:solidFill>
                <a:latin typeface="Microsoft YaHei" pitchFamily="34" charset="0"/>
                <a:ea typeface="Microsoft YaHei" pitchFamily="34" charset="-122"/>
                <a:cs typeface="Microsoft YaHei" pitchFamily="34" charset="-120"/>
              </a:rPr>
              <a:t>设备异常初判员</a:t>
            </a:r>
            <a:endParaRPr lang="en-US" sz="1200" dirty="0"/>
          </a:p>
        </p:txBody>
      </p:sp>
      <p:sp>
        <p:nvSpPr>
          <p:cNvPr id="23" name="Shape 21"/>
          <p:cNvSpPr/>
          <p:nvPr/>
        </p:nvSpPr>
        <p:spPr>
          <a:xfrm>
            <a:off x="4892040" y="2971800"/>
            <a:ext cx="228600" cy="228600"/>
          </a:xfrm>
          <a:prstGeom prst="ellipse">
            <a:avLst/>
          </a:prstGeom>
          <a:solidFill>
            <a:srgbClr val="EF4444"/>
          </a:solidFill>
          <a:ln/>
        </p:spPr>
      </p:sp>
      <p:sp>
        <p:nvSpPr>
          <p:cNvPr id="24" name="Text 22"/>
          <p:cNvSpPr/>
          <p:nvPr/>
        </p:nvSpPr>
        <p:spPr>
          <a:xfrm>
            <a:off x="5212080" y="2880360"/>
            <a:ext cx="1417320" cy="640080"/>
          </a:xfrm>
          <a:prstGeom prst="rect">
            <a:avLst/>
          </a:prstGeom>
          <a:noFill/>
          <a:ln/>
        </p:spPr>
        <p:txBody>
          <a:bodyPr wrap="square" rtlCol="0" anchor="t"/>
          <a:lstStyle/>
          <a:p>
            <a:pPr indent="0" marL="0">
              <a:buNone/>
            </a:pPr>
            <a:r>
              <a:rPr lang="en-US" sz="1200" dirty="0">
                <a:solidFill>
                  <a:srgbClr val="B91C1C"/>
                </a:solidFill>
                <a:latin typeface="Microsoft YaHei" pitchFamily="34" charset="0"/>
                <a:ea typeface="Microsoft YaHei" pitchFamily="34" charset="-122"/>
                <a:cs typeface="Microsoft YaHei" pitchFamily="34" charset="-120"/>
              </a:rPr>
              <a:t>工单优先级排序员</a:t>
            </a:r>
            <a:endParaRPr lang="en-US" sz="1200" dirty="0"/>
          </a:p>
        </p:txBody>
      </p:sp>
      <p:sp>
        <p:nvSpPr>
          <p:cNvPr id="25" name="Shape 23"/>
          <p:cNvSpPr/>
          <p:nvPr/>
        </p:nvSpPr>
        <p:spPr>
          <a:xfrm>
            <a:off x="6903720" y="1097280"/>
            <a:ext cx="1965960" cy="3017520"/>
          </a:xfrm>
          <a:prstGeom prst="roundRect">
            <a:avLst>
              <a:gd name="adj" fmla="val 4651"/>
            </a:avLst>
          </a:prstGeom>
          <a:solidFill>
            <a:srgbClr val="F3F4F6"/>
          </a:solidFill>
          <a:ln/>
        </p:spPr>
      </p:sp>
      <p:sp>
        <p:nvSpPr>
          <p:cNvPr id="26" name="Shape 24"/>
          <p:cNvSpPr/>
          <p:nvPr/>
        </p:nvSpPr>
        <p:spPr>
          <a:xfrm>
            <a:off x="6903720" y="1097280"/>
            <a:ext cx="1965960" cy="502920"/>
          </a:xfrm>
          <a:prstGeom prst="rect">
            <a:avLst/>
          </a:prstGeom>
          <a:solidFill>
            <a:srgbClr val="374151"/>
          </a:solidFill>
          <a:ln/>
        </p:spPr>
      </p:sp>
      <p:sp>
        <p:nvSpPr>
          <p:cNvPr id="27" name="Text 25"/>
          <p:cNvSpPr/>
          <p:nvPr/>
        </p:nvSpPr>
        <p:spPr>
          <a:xfrm>
            <a:off x="6903720" y="1097280"/>
            <a:ext cx="1965960" cy="502920"/>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互联网行业</a:t>
            </a:r>
            <a:endParaRPr lang="en-US" sz="1400" dirty="0"/>
          </a:p>
        </p:txBody>
      </p:sp>
      <p:sp>
        <p:nvSpPr>
          <p:cNvPr id="28" name="Shape 26"/>
          <p:cNvSpPr/>
          <p:nvPr/>
        </p:nvSpPr>
        <p:spPr>
          <a:xfrm>
            <a:off x="7040880" y="1874520"/>
            <a:ext cx="228600" cy="228600"/>
          </a:xfrm>
          <a:prstGeom prst="ellipse">
            <a:avLst/>
          </a:prstGeom>
          <a:solidFill>
            <a:srgbClr val="EF4444"/>
          </a:solidFill>
          <a:ln/>
        </p:spPr>
      </p:sp>
      <p:sp>
        <p:nvSpPr>
          <p:cNvPr id="29" name="Text 27"/>
          <p:cNvSpPr/>
          <p:nvPr/>
        </p:nvSpPr>
        <p:spPr>
          <a:xfrm>
            <a:off x="7360920" y="1783080"/>
            <a:ext cx="1417320" cy="640080"/>
          </a:xfrm>
          <a:prstGeom prst="rect">
            <a:avLst/>
          </a:prstGeom>
          <a:noFill/>
          <a:ln/>
        </p:spPr>
        <p:txBody>
          <a:bodyPr wrap="square" rtlCol="0" anchor="t"/>
          <a:lstStyle/>
          <a:p>
            <a:pPr indent="0" marL="0">
              <a:buNone/>
            </a:pPr>
            <a:r>
              <a:rPr lang="en-US" sz="1200" dirty="0">
                <a:solidFill>
                  <a:srgbClr val="B91C1C"/>
                </a:solidFill>
                <a:latin typeface="Microsoft YaHei" pitchFamily="34" charset="0"/>
                <a:ea typeface="Microsoft YaHei" pitchFamily="34" charset="-122"/>
                <a:cs typeface="Microsoft YaHei" pitchFamily="34" charset="-120"/>
              </a:rPr>
              <a:t>需求有效性评估员</a:t>
            </a:r>
            <a:endParaRPr lang="en-US" sz="1200" dirty="0"/>
          </a:p>
        </p:txBody>
      </p:sp>
      <p:sp>
        <p:nvSpPr>
          <p:cNvPr id="30" name="Shape 28"/>
          <p:cNvSpPr/>
          <p:nvPr/>
        </p:nvSpPr>
        <p:spPr>
          <a:xfrm>
            <a:off x="7040880" y="2971800"/>
            <a:ext cx="228600" cy="228600"/>
          </a:xfrm>
          <a:prstGeom prst="ellipse">
            <a:avLst/>
          </a:prstGeom>
          <a:solidFill>
            <a:srgbClr val="EF4444"/>
          </a:solidFill>
          <a:ln/>
        </p:spPr>
      </p:sp>
      <p:sp>
        <p:nvSpPr>
          <p:cNvPr id="31" name="Text 29"/>
          <p:cNvSpPr/>
          <p:nvPr/>
        </p:nvSpPr>
        <p:spPr>
          <a:xfrm>
            <a:off x="7360920" y="2880360"/>
            <a:ext cx="1417320" cy="640080"/>
          </a:xfrm>
          <a:prstGeom prst="rect">
            <a:avLst/>
          </a:prstGeom>
          <a:noFill/>
          <a:ln/>
        </p:spPr>
        <p:txBody>
          <a:bodyPr wrap="square" rtlCol="0" anchor="t"/>
          <a:lstStyle/>
          <a:p>
            <a:pPr indent="0" marL="0">
              <a:buNone/>
            </a:pPr>
            <a:r>
              <a:rPr lang="en-US" sz="1200" dirty="0">
                <a:solidFill>
                  <a:srgbClr val="B91C1C"/>
                </a:solidFill>
                <a:latin typeface="Microsoft YaHei" pitchFamily="34" charset="0"/>
                <a:ea typeface="Microsoft YaHei" pitchFamily="34" charset="-122"/>
                <a:cs typeface="Microsoft YaHei" pitchFamily="34" charset="-120"/>
              </a:rPr>
              <a:t>数据异常监控员</a:t>
            </a:r>
            <a:endParaRPr lang="en-US" sz="1200" dirty="0"/>
          </a:p>
        </p:txBody>
      </p:sp>
      <p:sp>
        <p:nvSpPr>
          <p:cNvPr id="32" name="Shape 30"/>
          <p:cNvSpPr/>
          <p:nvPr/>
        </p:nvSpPr>
        <p:spPr>
          <a:xfrm>
            <a:off x="8503920" y="4663440"/>
            <a:ext cx="365760" cy="365760"/>
          </a:xfrm>
          <a:prstGeom prst="ellipse">
            <a:avLst/>
          </a:prstGeom>
          <a:solidFill>
            <a:srgbClr val="EF4444"/>
          </a:solidFill>
          <a:ln/>
        </p:spPr>
      </p:sp>
      <p:sp>
        <p:nvSpPr>
          <p:cNvPr id="33" name="Text 31"/>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320040"/>
            <a:ext cx="8229600" cy="548640"/>
          </a:xfrm>
          <a:prstGeom prst="rect">
            <a:avLst/>
          </a:prstGeom>
          <a:noFill/>
          <a:ln/>
        </p:spPr>
        <p:txBody>
          <a:bodyPr wrap="square" rtlCol="0" anchor="ctr"/>
          <a:lstStyle/>
          <a:p>
            <a:pPr indent="0" marL="0">
              <a:buNone/>
            </a:pPr>
            <a:r>
              <a:rPr lang="en-US" sz="2800" b="1" dirty="0">
                <a:solidFill>
                  <a:srgbClr val="B91C1C"/>
                </a:solidFill>
                <a:latin typeface="Microsoft YaHei" pitchFamily="34" charset="0"/>
                <a:ea typeface="Microsoft YaHei" pitchFamily="34" charset="-122"/>
                <a:cs typeface="Microsoft YaHei" pitchFamily="34" charset="-120"/>
              </a:rPr>
              <a:t>练习二：独立完成两份设计文档</a:t>
            </a:r>
            <a:endParaRPr lang="en-US" sz="2800" dirty="0"/>
          </a:p>
        </p:txBody>
      </p:sp>
      <p:sp>
        <p:nvSpPr>
          <p:cNvPr id="4" name="Shape 2"/>
          <p:cNvSpPr/>
          <p:nvPr/>
        </p:nvSpPr>
        <p:spPr>
          <a:xfrm>
            <a:off x="457200" y="1097280"/>
            <a:ext cx="8229600" cy="2194560"/>
          </a:xfrm>
          <a:prstGeom prst="roundRect">
            <a:avLst>
              <a:gd name="adj" fmla="val 4167"/>
            </a:avLst>
          </a:prstGeom>
          <a:solidFill>
            <a:srgbClr val="F3F4F6"/>
          </a:solidFill>
          <a:ln/>
        </p:spPr>
      </p:sp>
      <p:sp>
        <p:nvSpPr>
          <p:cNvPr id="5" name="Shape 3"/>
          <p:cNvSpPr/>
          <p:nvPr/>
        </p:nvSpPr>
        <p:spPr>
          <a:xfrm>
            <a:off x="640080" y="1280160"/>
            <a:ext cx="457200" cy="457200"/>
          </a:xfrm>
          <a:prstGeom prst="ellipse">
            <a:avLst/>
          </a:prstGeom>
          <a:solidFill>
            <a:srgbClr val="EF4444"/>
          </a:solidFill>
          <a:ln/>
        </p:spPr>
      </p:sp>
      <p:sp>
        <p:nvSpPr>
          <p:cNvPr id="6" name="Text 4"/>
          <p:cNvSpPr/>
          <p:nvPr/>
        </p:nvSpPr>
        <p:spPr>
          <a:xfrm>
            <a:off x="640080" y="1280160"/>
            <a:ext cx="457200" cy="45720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7" name="Text 5"/>
          <p:cNvSpPr/>
          <p:nvPr/>
        </p:nvSpPr>
        <p:spPr>
          <a:xfrm>
            <a:off x="1280160" y="1280160"/>
            <a:ext cx="7223760" cy="457200"/>
          </a:xfrm>
          <a:prstGeom prst="rect">
            <a:avLst/>
          </a:prstGeom>
          <a:noFill/>
          <a:ln/>
        </p:spPr>
        <p:txBody>
          <a:bodyPr wrap="square" rtlCol="0" anchor="ctr"/>
          <a:lstStyle/>
          <a:p>
            <a:pPr indent="0" marL="0">
              <a:buNone/>
            </a:pPr>
            <a:r>
              <a:rPr lang="en-US" sz="1600" dirty="0">
                <a:solidFill>
                  <a:srgbClr val="B91C1C"/>
                </a:solidFill>
                <a:latin typeface="Microsoft YaHei" pitchFamily="34" charset="0"/>
                <a:ea typeface="Microsoft YaHei" pitchFamily="34" charset="-122"/>
                <a:cs typeface="Microsoft YaHei" pitchFamily="34" charset="-120"/>
              </a:rPr>
              <a:t>每份设计文档对应一个攻坚场景</a:t>
            </a:r>
            <a:endParaRPr lang="en-US" sz="1600" dirty="0"/>
          </a:p>
        </p:txBody>
      </p:sp>
      <p:sp>
        <p:nvSpPr>
          <p:cNvPr id="8" name="Shape 6"/>
          <p:cNvSpPr/>
          <p:nvPr/>
        </p:nvSpPr>
        <p:spPr>
          <a:xfrm>
            <a:off x="640080" y="1920240"/>
            <a:ext cx="457200" cy="457200"/>
          </a:xfrm>
          <a:prstGeom prst="ellipse">
            <a:avLst/>
          </a:prstGeom>
          <a:solidFill>
            <a:srgbClr val="EF4444"/>
          </a:solidFill>
          <a:ln/>
        </p:spPr>
      </p:sp>
      <p:sp>
        <p:nvSpPr>
          <p:cNvPr id="9" name="Text 7"/>
          <p:cNvSpPr/>
          <p:nvPr/>
        </p:nvSpPr>
        <p:spPr>
          <a:xfrm>
            <a:off x="640080" y="1920240"/>
            <a:ext cx="457200" cy="45720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0" name="Text 8"/>
          <p:cNvSpPr/>
          <p:nvPr/>
        </p:nvSpPr>
        <p:spPr>
          <a:xfrm>
            <a:off x="1280160" y="1920240"/>
            <a:ext cx="7223760" cy="457200"/>
          </a:xfrm>
          <a:prstGeom prst="rect">
            <a:avLst/>
          </a:prstGeom>
          <a:noFill/>
          <a:ln/>
        </p:spPr>
        <p:txBody>
          <a:bodyPr wrap="square" rtlCol="0" anchor="ctr"/>
          <a:lstStyle/>
          <a:p>
            <a:pPr indent="0" marL="0">
              <a:buNone/>
            </a:pPr>
            <a:r>
              <a:rPr lang="en-US" sz="1600" dirty="0">
                <a:solidFill>
                  <a:srgbClr val="B91C1C"/>
                </a:solidFill>
                <a:latin typeface="Microsoft YaHei" pitchFamily="34" charset="0"/>
                <a:ea typeface="Microsoft YaHei" pitchFamily="34" charset="-122"/>
                <a:cs typeface="Microsoft YaHei" pitchFamily="34" charset="-120"/>
              </a:rPr>
              <a:t>先独立完成，然后和同学互换审查</a:t>
            </a:r>
            <a:endParaRPr lang="en-US" sz="1600" dirty="0"/>
          </a:p>
        </p:txBody>
      </p:sp>
      <p:sp>
        <p:nvSpPr>
          <p:cNvPr id="11" name="Shape 9"/>
          <p:cNvSpPr/>
          <p:nvPr/>
        </p:nvSpPr>
        <p:spPr>
          <a:xfrm>
            <a:off x="640080" y="2560320"/>
            <a:ext cx="457200" cy="457200"/>
          </a:xfrm>
          <a:prstGeom prst="ellipse">
            <a:avLst/>
          </a:prstGeom>
          <a:solidFill>
            <a:srgbClr val="EF4444"/>
          </a:solidFill>
          <a:ln/>
        </p:spPr>
      </p:sp>
      <p:sp>
        <p:nvSpPr>
          <p:cNvPr id="12" name="Text 10"/>
          <p:cNvSpPr/>
          <p:nvPr/>
        </p:nvSpPr>
        <p:spPr>
          <a:xfrm>
            <a:off x="640080" y="2560320"/>
            <a:ext cx="457200" cy="45720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3" name="Text 11"/>
          <p:cNvSpPr/>
          <p:nvPr/>
        </p:nvSpPr>
        <p:spPr>
          <a:xfrm>
            <a:off x="1280160" y="2560320"/>
            <a:ext cx="7223760" cy="457200"/>
          </a:xfrm>
          <a:prstGeom prst="rect">
            <a:avLst/>
          </a:prstGeom>
          <a:noFill/>
          <a:ln/>
        </p:spPr>
        <p:txBody>
          <a:bodyPr wrap="square" rtlCol="0" anchor="ctr"/>
          <a:lstStyle/>
          <a:p>
            <a:pPr indent="0" marL="0">
              <a:buNone/>
            </a:pPr>
            <a:r>
              <a:rPr lang="en-US" sz="1600" dirty="0">
                <a:solidFill>
                  <a:srgbClr val="B91C1C"/>
                </a:solidFill>
                <a:latin typeface="Microsoft YaHei" pitchFamily="34" charset="0"/>
                <a:ea typeface="Microsoft YaHei" pitchFamily="34" charset="-122"/>
                <a:cs typeface="Microsoft YaHei" pitchFamily="34" charset="-120"/>
              </a:rPr>
              <a:t>给自己25分钟</a:t>
            </a:r>
            <a:endParaRPr lang="en-US" sz="1600" dirty="0"/>
          </a:p>
        </p:txBody>
      </p:sp>
      <p:sp>
        <p:nvSpPr>
          <p:cNvPr id="14" name="Shape 12"/>
          <p:cNvSpPr/>
          <p:nvPr/>
        </p:nvSpPr>
        <p:spPr>
          <a:xfrm>
            <a:off x="457200" y="3474720"/>
            <a:ext cx="8229600" cy="914400"/>
          </a:xfrm>
          <a:prstGeom prst="roundRect">
            <a:avLst>
              <a:gd name="adj" fmla="val 8000"/>
            </a:avLst>
          </a:prstGeom>
          <a:solidFill>
            <a:srgbClr val="FFFFFF"/>
          </a:solidFill>
          <a:ln/>
        </p:spPr>
      </p:sp>
      <p:sp>
        <p:nvSpPr>
          <p:cNvPr id="15" name="Shape 13"/>
          <p:cNvSpPr/>
          <p:nvPr/>
        </p:nvSpPr>
        <p:spPr>
          <a:xfrm>
            <a:off x="457200" y="3474720"/>
            <a:ext cx="73152" cy="914400"/>
          </a:xfrm>
          <a:prstGeom prst="rect">
            <a:avLst/>
          </a:prstGeom>
          <a:solidFill>
            <a:srgbClr val="EF4444"/>
          </a:solidFill>
          <a:ln/>
        </p:spPr>
      </p:sp>
      <p:sp>
        <p:nvSpPr>
          <p:cNvPr id="16" name="Text 14"/>
          <p:cNvSpPr/>
          <p:nvPr/>
        </p:nvSpPr>
        <p:spPr>
          <a:xfrm>
            <a:off x="731520" y="3566160"/>
            <a:ext cx="1828800" cy="320040"/>
          </a:xfrm>
          <a:prstGeom prst="rect">
            <a:avLst/>
          </a:prstGeom>
          <a:noFill/>
          <a:ln/>
        </p:spPr>
        <p:txBody>
          <a:bodyPr wrap="square" rtlCol="0" anchor="ctr"/>
          <a:lstStyle/>
          <a:p>
            <a:pPr indent="0" marL="0">
              <a:buNone/>
            </a:pPr>
            <a:r>
              <a:rPr lang="en-US" sz="1200" b="1" dirty="0">
                <a:solidFill>
                  <a:srgbClr val="EF4444"/>
                </a:solidFill>
                <a:latin typeface="Microsoft YaHei" pitchFamily="34" charset="0"/>
                <a:ea typeface="Microsoft YaHei" pitchFamily="34" charset="-122"/>
                <a:cs typeface="Microsoft YaHei" pitchFamily="34" charset="-120"/>
              </a:rPr>
              <a:t>设计文档框架</a:t>
            </a:r>
            <a:endParaRPr lang="en-US" sz="1200" dirty="0"/>
          </a:p>
        </p:txBody>
      </p:sp>
      <p:sp>
        <p:nvSpPr>
          <p:cNvPr id="17" name="Text 15"/>
          <p:cNvSpPr/>
          <p:nvPr/>
        </p:nvSpPr>
        <p:spPr>
          <a:xfrm>
            <a:off x="731520" y="3931920"/>
            <a:ext cx="7772400" cy="365760"/>
          </a:xfrm>
          <a:prstGeom prst="rect">
            <a:avLst/>
          </a:prstGeom>
          <a:noFill/>
          <a:ln/>
        </p:spPr>
        <p:txBody>
          <a:bodyPr wrap="square" rtlCol="0" anchor="ctr"/>
          <a:lstStyle/>
          <a:p>
            <a:pPr indent="0" marL="0">
              <a:buNone/>
            </a:pPr>
            <a:r>
              <a:rPr lang="en-US" sz="1400" dirty="0">
                <a:solidFill>
                  <a:srgbClr val="374151"/>
                </a:solidFill>
                <a:latin typeface="Microsoft YaHei" pitchFamily="34" charset="0"/>
                <a:ea typeface="Microsoft YaHei" pitchFamily="34" charset="-122"/>
                <a:cs typeface="Microsoft YaHei" pitchFamily="34" charset="-120"/>
              </a:rPr>
              <a:t>角色定位 | 职责边界 | 核心能力 | 交付标准</a:t>
            </a:r>
            <a:endParaRPr lang="en-US" sz="1400" dirty="0"/>
          </a:p>
        </p:txBody>
      </p:sp>
      <p:sp>
        <p:nvSpPr>
          <p:cNvPr id="18" name="Shape 16"/>
          <p:cNvSpPr/>
          <p:nvPr/>
        </p:nvSpPr>
        <p:spPr>
          <a:xfrm>
            <a:off x="6858000" y="4480560"/>
            <a:ext cx="1645920" cy="457200"/>
          </a:xfrm>
          <a:prstGeom prst="roundRect">
            <a:avLst>
              <a:gd name="adj" fmla="val 16000"/>
            </a:avLst>
          </a:prstGeom>
          <a:solidFill>
            <a:srgbClr val="B91C1C"/>
          </a:solidFill>
          <a:ln/>
        </p:spPr>
      </p:sp>
      <p:sp>
        <p:nvSpPr>
          <p:cNvPr id="19" name="Text 17"/>
          <p:cNvSpPr/>
          <p:nvPr/>
        </p:nvSpPr>
        <p:spPr>
          <a:xfrm>
            <a:off x="6858000" y="4480560"/>
            <a:ext cx="1645920" cy="45720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25分钟</a:t>
            </a:r>
            <a:endParaRPr lang="en-US" sz="1600" dirty="0"/>
          </a:p>
        </p:txBody>
      </p:sp>
      <p:sp>
        <p:nvSpPr>
          <p:cNvPr id="20" name="Shape 18"/>
          <p:cNvSpPr/>
          <p:nvPr/>
        </p:nvSpPr>
        <p:spPr>
          <a:xfrm>
            <a:off x="8503920" y="4663440"/>
            <a:ext cx="365760" cy="365760"/>
          </a:xfrm>
          <a:prstGeom prst="ellipse">
            <a:avLst/>
          </a:prstGeom>
          <a:solidFill>
            <a:srgbClr val="EF4444"/>
          </a:solidFill>
          <a:ln/>
        </p:spPr>
      </p:sp>
      <p:sp>
        <p:nvSpPr>
          <p:cNvPr id="21" name="Text 19"/>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25</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320040"/>
            <a:ext cx="8229600" cy="548640"/>
          </a:xfrm>
          <a:prstGeom prst="rect">
            <a:avLst/>
          </a:prstGeom>
          <a:noFill/>
          <a:ln/>
        </p:spPr>
        <p:txBody>
          <a:bodyPr wrap="square" rtlCol="0" anchor="ctr"/>
          <a:lstStyle/>
          <a:p>
            <a:pPr indent="0" marL="0">
              <a:buNone/>
            </a:pPr>
            <a:r>
              <a:rPr lang="en-US" sz="2800" b="1" dirty="0">
                <a:solidFill>
                  <a:srgbClr val="B91C1C"/>
                </a:solidFill>
                <a:latin typeface="Microsoft YaHei" pitchFamily="34" charset="0"/>
                <a:ea typeface="Microsoft YaHei" pitchFamily="34" charset="-122"/>
                <a:cs typeface="Microsoft YaHei" pitchFamily="34" charset="-120"/>
              </a:rPr>
              <a:t>本节产出确认</a:t>
            </a:r>
            <a:endParaRPr lang="en-US" sz="2800" dirty="0"/>
          </a:p>
        </p:txBody>
      </p:sp>
      <p:sp>
        <p:nvSpPr>
          <p:cNvPr id="4" name="Shape 2"/>
          <p:cNvSpPr/>
          <p:nvPr/>
        </p:nvSpPr>
        <p:spPr>
          <a:xfrm>
            <a:off x="457200" y="1097280"/>
            <a:ext cx="8229600" cy="685800"/>
          </a:xfrm>
          <a:prstGeom prst="roundRect">
            <a:avLst>
              <a:gd name="adj" fmla="val 10667"/>
            </a:avLst>
          </a:prstGeom>
          <a:solidFill>
            <a:srgbClr val="F3F4F6"/>
          </a:solidFill>
          <a:ln/>
        </p:spPr>
      </p:sp>
      <p:sp>
        <p:nvSpPr>
          <p:cNvPr id="5" name="Shape 3"/>
          <p:cNvSpPr/>
          <p:nvPr/>
        </p:nvSpPr>
        <p:spPr>
          <a:xfrm>
            <a:off x="640080" y="1257300"/>
            <a:ext cx="365760" cy="365760"/>
          </a:xfrm>
          <a:prstGeom prst="rect">
            <a:avLst/>
          </a:prstGeom>
          <a:solidFill>
            <a:srgbClr val="FFFFFF"/>
          </a:solidFill>
          <a:ln w="25400">
            <a:solidFill>
              <a:srgbClr val="EF4444"/>
            </a:solidFill>
            <a:prstDash val="solid"/>
          </a:ln>
        </p:spPr>
      </p:sp>
      <p:sp>
        <p:nvSpPr>
          <p:cNvPr id="6" name="Text 4"/>
          <p:cNvSpPr/>
          <p:nvPr/>
        </p:nvSpPr>
        <p:spPr>
          <a:xfrm>
            <a:off x="1188720" y="1097280"/>
            <a:ext cx="7315200" cy="685800"/>
          </a:xfrm>
          <a:prstGeom prst="rect">
            <a:avLst/>
          </a:prstGeom>
          <a:noFill/>
          <a:ln/>
        </p:spPr>
        <p:txBody>
          <a:bodyPr wrap="square" rtlCol="0" anchor="ctr"/>
          <a:lstStyle/>
          <a:p>
            <a:pPr indent="0" marL="0">
              <a:buNone/>
            </a:pPr>
            <a:r>
              <a:rPr lang="en-US" sz="1500" dirty="0">
                <a:solidFill>
                  <a:srgbClr val="B91C1C"/>
                </a:solidFill>
                <a:latin typeface="Microsoft YaHei" pitchFamily="34" charset="0"/>
                <a:ea typeface="Microsoft YaHei" pitchFamily="34" charset="-122"/>
                <a:cs typeface="Microsoft YaHei" pitchFamily="34" charset="-120"/>
              </a:rPr>
              <a:t>岗位画像表（标注3-5个场景，圈定2个攻坚方向）</a:t>
            </a:r>
            <a:endParaRPr lang="en-US" sz="1500" dirty="0"/>
          </a:p>
        </p:txBody>
      </p:sp>
      <p:sp>
        <p:nvSpPr>
          <p:cNvPr id="7" name="Shape 5"/>
          <p:cNvSpPr/>
          <p:nvPr/>
        </p:nvSpPr>
        <p:spPr>
          <a:xfrm>
            <a:off x="457200" y="1920240"/>
            <a:ext cx="8229600" cy="685800"/>
          </a:xfrm>
          <a:prstGeom prst="roundRect">
            <a:avLst>
              <a:gd name="adj" fmla="val 10667"/>
            </a:avLst>
          </a:prstGeom>
          <a:solidFill>
            <a:srgbClr val="F3F4F6"/>
          </a:solidFill>
          <a:ln/>
        </p:spPr>
      </p:sp>
      <p:sp>
        <p:nvSpPr>
          <p:cNvPr id="8" name="Shape 6"/>
          <p:cNvSpPr/>
          <p:nvPr/>
        </p:nvSpPr>
        <p:spPr>
          <a:xfrm>
            <a:off x="640080" y="2080260"/>
            <a:ext cx="365760" cy="365760"/>
          </a:xfrm>
          <a:prstGeom prst="rect">
            <a:avLst/>
          </a:prstGeom>
          <a:solidFill>
            <a:srgbClr val="FFFFFF"/>
          </a:solidFill>
          <a:ln w="25400">
            <a:solidFill>
              <a:srgbClr val="EF4444"/>
            </a:solidFill>
            <a:prstDash val="solid"/>
          </a:ln>
        </p:spPr>
      </p:sp>
      <p:sp>
        <p:nvSpPr>
          <p:cNvPr id="9" name="Text 7"/>
          <p:cNvSpPr/>
          <p:nvPr/>
        </p:nvSpPr>
        <p:spPr>
          <a:xfrm>
            <a:off x="1188720" y="1920240"/>
            <a:ext cx="7315200" cy="685800"/>
          </a:xfrm>
          <a:prstGeom prst="rect">
            <a:avLst/>
          </a:prstGeom>
          <a:noFill/>
          <a:ln/>
        </p:spPr>
        <p:txBody>
          <a:bodyPr wrap="square" rtlCol="0" anchor="ctr"/>
          <a:lstStyle/>
          <a:p>
            <a:pPr indent="0" marL="0">
              <a:buNone/>
            </a:pPr>
            <a:r>
              <a:rPr lang="en-US" sz="1500" dirty="0">
                <a:solidFill>
                  <a:srgbClr val="B91C1C"/>
                </a:solidFill>
                <a:latin typeface="Microsoft YaHei" pitchFamily="34" charset="0"/>
                <a:ea typeface="Microsoft YaHei" pitchFamily="34" charset="-122"/>
                <a:cs typeface="Microsoft YaHei" pitchFamily="34" charset="-120"/>
              </a:rPr>
              <a:t>数字员工设计文档第1号</a:t>
            </a:r>
            <a:endParaRPr lang="en-US" sz="1500" dirty="0"/>
          </a:p>
        </p:txBody>
      </p:sp>
      <p:sp>
        <p:nvSpPr>
          <p:cNvPr id="10" name="Shape 8"/>
          <p:cNvSpPr/>
          <p:nvPr/>
        </p:nvSpPr>
        <p:spPr>
          <a:xfrm>
            <a:off x="457200" y="2743200"/>
            <a:ext cx="8229600" cy="685800"/>
          </a:xfrm>
          <a:prstGeom prst="roundRect">
            <a:avLst>
              <a:gd name="adj" fmla="val 10667"/>
            </a:avLst>
          </a:prstGeom>
          <a:solidFill>
            <a:srgbClr val="F3F4F6"/>
          </a:solidFill>
          <a:ln/>
        </p:spPr>
      </p:sp>
      <p:sp>
        <p:nvSpPr>
          <p:cNvPr id="11" name="Shape 9"/>
          <p:cNvSpPr/>
          <p:nvPr/>
        </p:nvSpPr>
        <p:spPr>
          <a:xfrm>
            <a:off x="640080" y="2903220"/>
            <a:ext cx="365760" cy="365760"/>
          </a:xfrm>
          <a:prstGeom prst="rect">
            <a:avLst/>
          </a:prstGeom>
          <a:solidFill>
            <a:srgbClr val="FFFFFF"/>
          </a:solidFill>
          <a:ln w="25400">
            <a:solidFill>
              <a:srgbClr val="EF4444"/>
            </a:solidFill>
            <a:prstDash val="solid"/>
          </a:ln>
        </p:spPr>
      </p:sp>
      <p:sp>
        <p:nvSpPr>
          <p:cNvPr id="12" name="Text 10"/>
          <p:cNvSpPr/>
          <p:nvPr/>
        </p:nvSpPr>
        <p:spPr>
          <a:xfrm>
            <a:off x="1188720" y="2743200"/>
            <a:ext cx="7315200" cy="685800"/>
          </a:xfrm>
          <a:prstGeom prst="rect">
            <a:avLst/>
          </a:prstGeom>
          <a:noFill/>
          <a:ln/>
        </p:spPr>
        <p:txBody>
          <a:bodyPr wrap="square" rtlCol="0" anchor="ctr"/>
          <a:lstStyle/>
          <a:p>
            <a:pPr indent="0" marL="0">
              <a:buNone/>
            </a:pPr>
            <a:r>
              <a:rPr lang="en-US" sz="1500" dirty="0">
                <a:solidFill>
                  <a:srgbClr val="B91C1C"/>
                </a:solidFill>
                <a:latin typeface="Microsoft YaHei" pitchFamily="34" charset="0"/>
                <a:ea typeface="Microsoft YaHei" pitchFamily="34" charset="-122"/>
                <a:cs typeface="Microsoft YaHei" pitchFamily="34" charset="-120"/>
              </a:rPr>
              <a:t>数字员工设计文档第2号</a:t>
            </a:r>
            <a:endParaRPr lang="en-US" sz="1500" dirty="0"/>
          </a:p>
        </p:txBody>
      </p:sp>
      <p:sp>
        <p:nvSpPr>
          <p:cNvPr id="13" name="Shape 11"/>
          <p:cNvSpPr/>
          <p:nvPr/>
        </p:nvSpPr>
        <p:spPr>
          <a:xfrm>
            <a:off x="457200" y="3566160"/>
            <a:ext cx="8229600" cy="685800"/>
          </a:xfrm>
          <a:prstGeom prst="roundRect">
            <a:avLst>
              <a:gd name="adj" fmla="val 10667"/>
            </a:avLst>
          </a:prstGeom>
          <a:solidFill>
            <a:srgbClr val="F3F4F6"/>
          </a:solidFill>
          <a:ln/>
        </p:spPr>
      </p:sp>
      <p:sp>
        <p:nvSpPr>
          <p:cNvPr id="14" name="Shape 12"/>
          <p:cNvSpPr/>
          <p:nvPr/>
        </p:nvSpPr>
        <p:spPr>
          <a:xfrm>
            <a:off x="640080" y="3726180"/>
            <a:ext cx="365760" cy="365760"/>
          </a:xfrm>
          <a:prstGeom prst="rect">
            <a:avLst/>
          </a:prstGeom>
          <a:solidFill>
            <a:srgbClr val="FFFFFF"/>
          </a:solidFill>
          <a:ln w="25400">
            <a:solidFill>
              <a:srgbClr val="EF4444"/>
            </a:solidFill>
            <a:prstDash val="solid"/>
          </a:ln>
        </p:spPr>
      </p:sp>
      <p:sp>
        <p:nvSpPr>
          <p:cNvPr id="15" name="Text 13"/>
          <p:cNvSpPr/>
          <p:nvPr/>
        </p:nvSpPr>
        <p:spPr>
          <a:xfrm>
            <a:off x="1188720" y="3566160"/>
            <a:ext cx="7315200" cy="685800"/>
          </a:xfrm>
          <a:prstGeom prst="rect">
            <a:avLst/>
          </a:prstGeom>
          <a:noFill/>
          <a:ln/>
        </p:spPr>
        <p:txBody>
          <a:bodyPr wrap="square" rtlCol="0" anchor="ctr"/>
          <a:lstStyle/>
          <a:p>
            <a:pPr indent="0" marL="0">
              <a:buNone/>
            </a:pPr>
            <a:r>
              <a:rPr lang="en-US" sz="1500" dirty="0">
                <a:solidFill>
                  <a:srgbClr val="B91C1C"/>
                </a:solidFill>
                <a:latin typeface="Microsoft YaHei" pitchFamily="34" charset="0"/>
                <a:ea typeface="Microsoft YaHei" pitchFamily="34" charset="-122"/>
                <a:cs typeface="Microsoft YaHei" pitchFamily="34" charset="-120"/>
              </a:rPr>
              <a:t>已经历配对评审，并根据反馈做了修改</a:t>
            </a:r>
            <a:endParaRPr lang="en-US" sz="1500" dirty="0"/>
          </a:p>
        </p:txBody>
      </p:sp>
      <p:sp>
        <p:nvSpPr>
          <p:cNvPr id="16" name="Shape 14"/>
          <p:cNvSpPr/>
          <p:nvPr/>
        </p:nvSpPr>
        <p:spPr>
          <a:xfrm>
            <a:off x="8503920" y="4663440"/>
            <a:ext cx="365760" cy="365760"/>
          </a:xfrm>
          <a:prstGeom prst="ellipse">
            <a:avLst/>
          </a:prstGeom>
          <a:solidFill>
            <a:srgbClr val="EF4444"/>
          </a:solidFill>
          <a:ln/>
        </p:spPr>
      </p:sp>
      <p:sp>
        <p:nvSpPr>
          <p:cNvPr id="17" name="Text 15"/>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27</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320040"/>
            <a:ext cx="8229600" cy="548640"/>
          </a:xfrm>
          <a:prstGeom prst="rect">
            <a:avLst/>
          </a:prstGeom>
          <a:noFill/>
          <a:ln/>
        </p:spPr>
        <p:txBody>
          <a:bodyPr wrap="square" rtlCol="0" anchor="ctr"/>
          <a:lstStyle/>
          <a:p>
            <a:pPr indent="0" marL="0">
              <a:buNone/>
            </a:pPr>
            <a:r>
              <a:rPr lang="en-US" sz="2600" b="1" dirty="0">
                <a:solidFill>
                  <a:srgbClr val="B91C1C"/>
                </a:solidFill>
                <a:latin typeface="Microsoft YaHei" pitchFamily="34" charset="0"/>
                <a:ea typeface="Microsoft YaHei" pitchFamily="34" charset="-122"/>
                <a:cs typeface="Microsoft YaHei" pitchFamily="34" charset="-120"/>
              </a:rPr>
              <a:t>第一天上午知识框架总结</a:t>
            </a:r>
            <a:endParaRPr lang="en-US" sz="2600" dirty="0"/>
          </a:p>
        </p:txBody>
      </p:sp>
      <p:sp>
        <p:nvSpPr>
          <p:cNvPr id="4" name="Shape 2"/>
          <p:cNvSpPr/>
          <p:nvPr/>
        </p:nvSpPr>
        <p:spPr>
          <a:xfrm>
            <a:off x="457200" y="1051560"/>
            <a:ext cx="8229600" cy="777240"/>
          </a:xfrm>
          <a:prstGeom prst="roundRect">
            <a:avLst>
              <a:gd name="adj" fmla="val 9412"/>
            </a:avLst>
          </a:prstGeom>
          <a:solidFill>
            <a:srgbClr val="F3F4F6"/>
          </a:solidFill>
          <a:ln/>
        </p:spPr>
      </p:sp>
      <p:sp>
        <p:nvSpPr>
          <p:cNvPr id="5" name="Shape 3"/>
          <p:cNvSpPr/>
          <p:nvPr/>
        </p:nvSpPr>
        <p:spPr>
          <a:xfrm>
            <a:off x="457200" y="1051560"/>
            <a:ext cx="73152" cy="777240"/>
          </a:xfrm>
          <a:prstGeom prst="rect">
            <a:avLst/>
          </a:prstGeom>
          <a:solidFill>
            <a:srgbClr val="EF4444"/>
          </a:solidFill>
          <a:ln/>
        </p:spPr>
      </p:sp>
      <p:sp>
        <p:nvSpPr>
          <p:cNvPr id="6" name="Text 4"/>
          <p:cNvSpPr/>
          <p:nvPr/>
        </p:nvSpPr>
        <p:spPr>
          <a:xfrm>
            <a:off x="685800" y="1143000"/>
            <a:ext cx="3200400" cy="320040"/>
          </a:xfrm>
          <a:prstGeom prst="rect">
            <a:avLst/>
          </a:prstGeom>
          <a:noFill/>
          <a:ln/>
        </p:spPr>
        <p:txBody>
          <a:bodyPr wrap="square" rtlCol="0" anchor="ctr"/>
          <a:lstStyle/>
          <a:p>
            <a:pPr indent="0" marL="0">
              <a:buNone/>
            </a:pPr>
            <a:r>
              <a:rPr lang="en-US" sz="1500" b="1" dirty="0">
                <a:solidFill>
                  <a:srgbClr val="EF4444"/>
                </a:solidFill>
                <a:latin typeface="Microsoft YaHei" pitchFamily="34" charset="0"/>
                <a:ea typeface="Microsoft YaHei" pitchFamily="34" charset="-122"/>
                <a:cs typeface="Microsoft YaHei" pitchFamily="34" charset="-120"/>
              </a:rPr>
              <a:t>工具思维 vs 员工思维</a:t>
            </a:r>
            <a:endParaRPr lang="en-US" sz="1500" dirty="0"/>
          </a:p>
        </p:txBody>
      </p:sp>
      <p:sp>
        <p:nvSpPr>
          <p:cNvPr id="7" name="Text 5"/>
          <p:cNvSpPr/>
          <p:nvPr/>
        </p:nvSpPr>
        <p:spPr>
          <a:xfrm>
            <a:off x="685800" y="1463040"/>
            <a:ext cx="7772400" cy="320040"/>
          </a:xfrm>
          <a:prstGeom prst="rect">
            <a:avLst/>
          </a:prstGeom>
          <a:noFill/>
          <a:ln/>
        </p:spPr>
        <p:txBody>
          <a:bodyPr wrap="square" rtlCol="0" anchor="ctr"/>
          <a:lstStyle/>
          <a:p>
            <a:pPr indent="0" marL="0">
              <a:buNone/>
            </a:pPr>
            <a:r>
              <a:rPr lang="en-US" sz="1400" dirty="0">
                <a:solidFill>
                  <a:srgbClr val="374151"/>
                </a:solidFill>
                <a:latin typeface="Microsoft YaHei" pitchFamily="34" charset="0"/>
                <a:ea typeface="Microsoft YaHei" pitchFamily="34" charset="-122"/>
                <a:cs typeface="Microsoft YaHei" pitchFamily="34" charset="-120"/>
              </a:rPr>
              <a:t>核心差距在于你是不是中间节点</a:t>
            </a:r>
            <a:endParaRPr lang="en-US" sz="1400" dirty="0"/>
          </a:p>
        </p:txBody>
      </p:sp>
      <p:sp>
        <p:nvSpPr>
          <p:cNvPr id="8" name="Shape 6"/>
          <p:cNvSpPr/>
          <p:nvPr/>
        </p:nvSpPr>
        <p:spPr>
          <a:xfrm>
            <a:off x="457200" y="1965960"/>
            <a:ext cx="8229600" cy="777240"/>
          </a:xfrm>
          <a:prstGeom prst="roundRect">
            <a:avLst>
              <a:gd name="adj" fmla="val 9412"/>
            </a:avLst>
          </a:prstGeom>
          <a:solidFill>
            <a:srgbClr val="F3F4F6"/>
          </a:solidFill>
          <a:ln/>
        </p:spPr>
      </p:sp>
      <p:sp>
        <p:nvSpPr>
          <p:cNvPr id="9" name="Shape 7"/>
          <p:cNvSpPr/>
          <p:nvPr/>
        </p:nvSpPr>
        <p:spPr>
          <a:xfrm>
            <a:off x="457200" y="1965960"/>
            <a:ext cx="73152" cy="777240"/>
          </a:xfrm>
          <a:prstGeom prst="rect">
            <a:avLst/>
          </a:prstGeom>
          <a:solidFill>
            <a:srgbClr val="EF4444"/>
          </a:solidFill>
          <a:ln/>
        </p:spPr>
      </p:sp>
      <p:sp>
        <p:nvSpPr>
          <p:cNvPr id="10" name="Text 8"/>
          <p:cNvSpPr/>
          <p:nvPr/>
        </p:nvSpPr>
        <p:spPr>
          <a:xfrm>
            <a:off x="685800" y="2057400"/>
            <a:ext cx="3200400" cy="320040"/>
          </a:xfrm>
          <a:prstGeom prst="rect">
            <a:avLst/>
          </a:prstGeom>
          <a:noFill/>
          <a:ln/>
        </p:spPr>
        <p:txBody>
          <a:bodyPr wrap="square" rtlCol="0" anchor="ctr"/>
          <a:lstStyle/>
          <a:p>
            <a:pPr indent="0" marL="0">
              <a:buNone/>
            </a:pPr>
            <a:r>
              <a:rPr lang="en-US" sz="1500" b="1" dirty="0">
                <a:solidFill>
                  <a:srgbClr val="EF4444"/>
                </a:solidFill>
                <a:latin typeface="Microsoft YaHei" pitchFamily="34" charset="0"/>
                <a:ea typeface="Microsoft YaHei" pitchFamily="34" charset="-122"/>
                <a:cs typeface="Microsoft YaHei" pitchFamily="34" charset="-120"/>
              </a:rPr>
              <a:t>数字员工四个组成部分</a:t>
            </a:r>
            <a:endParaRPr lang="en-US" sz="1500" dirty="0"/>
          </a:p>
        </p:txBody>
      </p:sp>
      <p:sp>
        <p:nvSpPr>
          <p:cNvPr id="11" name="Text 9"/>
          <p:cNvSpPr/>
          <p:nvPr/>
        </p:nvSpPr>
        <p:spPr>
          <a:xfrm>
            <a:off x="685800" y="2377440"/>
            <a:ext cx="7772400" cy="320040"/>
          </a:xfrm>
          <a:prstGeom prst="rect">
            <a:avLst/>
          </a:prstGeom>
          <a:noFill/>
          <a:ln/>
        </p:spPr>
        <p:txBody>
          <a:bodyPr wrap="square" rtlCol="0" anchor="ctr"/>
          <a:lstStyle/>
          <a:p>
            <a:pPr indent="0" marL="0">
              <a:buNone/>
            </a:pPr>
            <a:r>
              <a:rPr lang="en-US" sz="1400" dirty="0">
                <a:solidFill>
                  <a:srgbClr val="374151"/>
                </a:solidFill>
                <a:latin typeface="Microsoft YaHei" pitchFamily="34" charset="0"/>
                <a:ea typeface="Microsoft YaHei" pitchFamily="34" charset="-122"/>
                <a:cs typeface="Microsoft YaHei" pitchFamily="34" charset="-120"/>
              </a:rPr>
              <a:t>角色、规则、知识库、模板</a:t>
            </a:r>
            <a:endParaRPr lang="en-US" sz="1400" dirty="0"/>
          </a:p>
        </p:txBody>
      </p:sp>
      <p:sp>
        <p:nvSpPr>
          <p:cNvPr id="12" name="Shape 10"/>
          <p:cNvSpPr/>
          <p:nvPr/>
        </p:nvSpPr>
        <p:spPr>
          <a:xfrm>
            <a:off x="457200" y="2880360"/>
            <a:ext cx="8229600" cy="777240"/>
          </a:xfrm>
          <a:prstGeom prst="roundRect">
            <a:avLst>
              <a:gd name="adj" fmla="val 9412"/>
            </a:avLst>
          </a:prstGeom>
          <a:solidFill>
            <a:srgbClr val="F3F4F6"/>
          </a:solidFill>
          <a:ln/>
        </p:spPr>
      </p:sp>
      <p:sp>
        <p:nvSpPr>
          <p:cNvPr id="13" name="Shape 11"/>
          <p:cNvSpPr/>
          <p:nvPr/>
        </p:nvSpPr>
        <p:spPr>
          <a:xfrm>
            <a:off x="457200" y="2880360"/>
            <a:ext cx="73152" cy="777240"/>
          </a:xfrm>
          <a:prstGeom prst="rect">
            <a:avLst/>
          </a:prstGeom>
          <a:solidFill>
            <a:srgbClr val="EF4444"/>
          </a:solidFill>
          <a:ln/>
        </p:spPr>
      </p:sp>
      <p:sp>
        <p:nvSpPr>
          <p:cNvPr id="14" name="Text 12"/>
          <p:cNvSpPr/>
          <p:nvPr/>
        </p:nvSpPr>
        <p:spPr>
          <a:xfrm>
            <a:off x="685800" y="2971800"/>
            <a:ext cx="3200400" cy="320040"/>
          </a:xfrm>
          <a:prstGeom prst="rect">
            <a:avLst/>
          </a:prstGeom>
          <a:noFill/>
          <a:ln/>
        </p:spPr>
        <p:txBody>
          <a:bodyPr wrap="square" rtlCol="0" anchor="ctr"/>
          <a:lstStyle/>
          <a:p>
            <a:pPr indent="0" marL="0">
              <a:buNone/>
            </a:pPr>
            <a:r>
              <a:rPr lang="en-US" sz="1500" b="1" dirty="0">
                <a:solidFill>
                  <a:srgbClr val="EF4444"/>
                </a:solidFill>
                <a:latin typeface="Microsoft YaHei" pitchFamily="34" charset="0"/>
                <a:ea typeface="Microsoft YaHei" pitchFamily="34" charset="-122"/>
                <a:cs typeface="Microsoft YaHei" pitchFamily="34" charset="-120"/>
              </a:rPr>
              <a:t>适合的任务特征</a:t>
            </a:r>
            <a:endParaRPr lang="en-US" sz="1500" dirty="0"/>
          </a:p>
        </p:txBody>
      </p:sp>
      <p:sp>
        <p:nvSpPr>
          <p:cNvPr id="15" name="Text 13"/>
          <p:cNvSpPr/>
          <p:nvPr/>
        </p:nvSpPr>
        <p:spPr>
          <a:xfrm>
            <a:off x="685800" y="3291840"/>
            <a:ext cx="7772400" cy="320040"/>
          </a:xfrm>
          <a:prstGeom prst="rect">
            <a:avLst/>
          </a:prstGeom>
          <a:noFill/>
          <a:ln/>
        </p:spPr>
        <p:txBody>
          <a:bodyPr wrap="square" rtlCol="0" anchor="ctr"/>
          <a:lstStyle/>
          <a:p>
            <a:pPr indent="0" marL="0">
              <a:buNone/>
            </a:pPr>
            <a:r>
              <a:rPr lang="en-US" sz="1400" dirty="0">
                <a:solidFill>
                  <a:srgbClr val="374151"/>
                </a:solidFill>
                <a:latin typeface="Microsoft YaHei" pitchFamily="34" charset="0"/>
                <a:ea typeface="Microsoft YaHei" pitchFamily="34" charset="-122"/>
                <a:cs typeface="Microsoft YaHei" pitchFamily="34" charset="-120"/>
              </a:rPr>
              <a:t>高频、可描述、格式固定</a:t>
            </a:r>
            <a:endParaRPr lang="en-US" sz="1400" dirty="0"/>
          </a:p>
        </p:txBody>
      </p:sp>
      <p:sp>
        <p:nvSpPr>
          <p:cNvPr id="16" name="Shape 14"/>
          <p:cNvSpPr/>
          <p:nvPr/>
        </p:nvSpPr>
        <p:spPr>
          <a:xfrm>
            <a:off x="457200" y="3794760"/>
            <a:ext cx="8229600" cy="777240"/>
          </a:xfrm>
          <a:prstGeom prst="roundRect">
            <a:avLst>
              <a:gd name="adj" fmla="val 9412"/>
            </a:avLst>
          </a:prstGeom>
          <a:solidFill>
            <a:srgbClr val="F3F4F6"/>
          </a:solidFill>
          <a:ln/>
        </p:spPr>
      </p:sp>
      <p:sp>
        <p:nvSpPr>
          <p:cNvPr id="17" name="Shape 15"/>
          <p:cNvSpPr/>
          <p:nvPr/>
        </p:nvSpPr>
        <p:spPr>
          <a:xfrm>
            <a:off x="457200" y="3794760"/>
            <a:ext cx="73152" cy="777240"/>
          </a:xfrm>
          <a:prstGeom prst="rect">
            <a:avLst/>
          </a:prstGeom>
          <a:solidFill>
            <a:srgbClr val="EF4444"/>
          </a:solidFill>
          <a:ln/>
        </p:spPr>
      </p:sp>
      <p:sp>
        <p:nvSpPr>
          <p:cNvPr id="18" name="Text 16"/>
          <p:cNvSpPr/>
          <p:nvPr/>
        </p:nvSpPr>
        <p:spPr>
          <a:xfrm>
            <a:off x="685800" y="3886200"/>
            <a:ext cx="3200400" cy="320040"/>
          </a:xfrm>
          <a:prstGeom prst="rect">
            <a:avLst/>
          </a:prstGeom>
          <a:noFill/>
          <a:ln/>
        </p:spPr>
        <p:txBody>
          <a:bodyPr wrap="square" rtlCol="0" anchor="ctr"/>
          <a:lstStyle/>
          <a:p>
            <a:pPr indent="0" marL="0">
              <a:buNone/>
            </a:pPr>
            <a:r>
              <a:rPr lang="en-US" sz="1500" b="1" dirty="0">
                <a:solidFill>
                  <a:srgbClr val="EF4444"/>
                </a:solidFill>
                <a:latin typeface="Microsoft YaHei" pitchFamily="34" charset="0"/>
                <a:ea typeface="Microsoft YaHei" pitchFamily="34" charset="-122"/>
                <a:cs typeface="Microsoft YaHei" pitchFamily="34" charset="-120"/>
              </a:rPr>
              <a:t>设计四个维度</a:t>
            </a:r>
            <a:endParaRPr lang="en-US" sz="1500" dirty="0"/>
          </a:p>
        </p:txBody>
      </p:sp>
      <p:sp>
        <p:nvSpPr>
          <p:cNvPr id="19" name="Text 17"/>
          <p:cNvSpPr/>
          <p:nvPr/>
        </p:nvSpPr>
        <p:spPr>
          <a:xfrm>
            <a:off x="685800" y="4206240"/>
            <a:ext cx="7772400" cy="320040"/>
          </a:xfrm>
          <a:prstGeom prst="rect">
            <a:avLst/>
          </a:prstGeom>
          <a:noFill/>
          <a:ln/>
        </p:spPr>
        <p:txBody>
          <a:bodyPr wrap="square" rtlCol="0" anchor="ctr"/>
          <a:lstStyle/>
          <a:p>
            <a:pPr indent="0" marL="0">
              <a:buNone/>
            </a:pPr>
            <a:r>
              <a:rPr lang="en-US" sz="1400" dirty="0">
                <a:solidFill>
                  <a:srgbClr val="374151"/>
                </a:solidFill>
                <a:latin typeface="Microsoft YaHei" pitchFamily="34" charset="0"/>
                <a:ea typeface="Microsoft YaHei" pitchFamily="34" charset="-122"/>
                <a:cs typeface="Microsoft YaHei" pitchFamily="34" charset="-120"/>
              </a:rPr>
              <a:t>角色定位、职责边界、核心能力、交付标准</a:t>
            </a:r>
            <a:endParaRPr lang="en-US" sz="1400" dirty="0"/>
          </a:p>
        </p:txBody>
      </p:sp>
      <p:sp>
        <p:nvSpPr>
          <p:cNvPr id="20" name="Shape 18"/>
          <p:cNvSpPr/>
          <p:nvPr/>
        </p:nvSpPr>
        <p:spPr>
          <a:xfrm>
            <a:off x="8503920" y="4663440"/>
            <a:ext cx="365760" cy="365760"/>
          </a:xfrm>
          <a:prstGeom prst="ellipse">
            <a:avLst/>
          </a:prstGeom>
          <a:solidFill>
            <a:srgbClr val="EF4444"/>
          </a:solidFill>
          <a:ln/>
        </p:spPr>
      </p:sp>
      <p:sp>
        <p:nvSpPr>
          <p:cNvPr id="21" name="Text 19"/>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28</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B91C1C"/>
        </a:solidFill>
      </p:bgPr>
    </p:bg>
    <p:spTree>
      <p:nvGrpSpPr>
        <p:cNvPr id="1" name=""/>
        <p:cNvGrpSpPr/>
        <p:nvPr/>
      </p:nvGrpSpPr>
      <p:grpSpPr>
        <a:xfrm>
          <a:off x="0" y="0"/>
          <a:ext cx="0" cy="0"/>
          <a:chOff x="0" y="0"/>
          <a:chExt cx="0" cy="0"/>
        </a:xfrm>
      </p:grpSpPr>
      <p:sp>
        <p:nvSpPr>
          <p:cNvPr id="2" name="Shape 0"/>
          <p:cNvSpPr/>
          <p:nvPr/>
        </p:nvSpPr>
        <p:spPr>
          <a:xfrm>
            <a:off x="0" y="2194560"/>
            <a:ext cx="9144000" cy="54864"/>
          </a:xfrm>
          <a:prstGeom prst="rect">
            <a:avLst/>
          </a:prstGeom>
          <a:solidFill>
            <a:srgbClr val="EF4444"/>
          </a:solidFill>
          <a:ln/>
        </p:spPr>
      </p:sp>
      <p:sp>
        <p:nvSpPr>
          <p:cNvPr id="3" name="Text 1"/>
          <p:cNvSpPr/>
          <p:nvPr/>
        </p:nvSpPr>
        <p:spPr>
          <a:xfrm>
            <a:off x="548640" y="1645920"/>
            <a:ext cx="1828800" cy="1097280"/>
          </a:xfrm>
          <a:prstGeom prst="rect">
            <a:avLst/>
          </a:prstGeom>
          <a:noFill/>
          <a:ln/>
        </p:spPr>
        <p:txBody>
          <a:bodyPr wrap="square" rtlCol="0" anchor="ctr"/>
          <a:lstStyle/>
          <a:p>
            <a:pPr indent="0" marL="0">
              <a:buNone/>
            </a:pPr>
            <a:r>
              <a:rPr lang="en-US" sz="7200" b="1" dirty="0">
                <a:solidFill>
                  <a:srgbClr val="FFFFFF"/>
                </a:solidFill>
                <a:latin typeface="Arial" pitchFamily="34" charset="0"/>
                <a:ea typeface="Arial" pitchFamily="34" charset="-122"/>
                <a:cs typeface="Arial" pitchFamily="34" charset="-120"/>
              </a:rPr>
              <a:t>02</a:t>
            </a:r>
            <a:endParaRPr lang="en-US" sz="7200" dirty="0"/>
          </a:p>
        </p:txBody>
      </p:sp>
      <p:sp>
        <p:nvSpPr>
          <p:cNvPr id="4" name="Text 2"/>
          <p:cNvSpPr/>
          <p:nvPr/>
        </p:nvSpPr>
        <p:spPr>
          <a:xfrm>
            <a:off x="548640" y="2377440"/>
            <a:ext cx="7315200" cy="822960"/>
          </a:xfrm>
          <a:prstGeom prst="rect">
            <a:avLst/>
          </a:prstGeom>
          <a:noFill/>
          <a:ln/>
        </p:spPr>
        <p:txBody>
          <a:bodyPr wrap="square" rtlCol="0" anchor="ctr"/>
          <a:lstStyle/>
          <a:p>
            <a:pPr indent="0" marL="0">
              <a:buNone/>
            </a:pPr>
            <a:r>
              <a:rPr lang="en-US" sz="3600" b="1" dirty="0">
                <a:solidFill>
                  <a:srgbClr val="FFFFFF"/>
                </a:solidFill>
                <a:latin typeface="Microsoft YaHei" pitchFamily="34" charset="0"/>
                <a:ea typeface="Microsoft YaHei" pitchFamily="34" charset="-122"/>
                <a:cs typeface="Microsoft YaHei" pitchFamily="34" charset="-120"/>
              </a:rPr>
              <a:t>萃取经验、搭建Skill、建立知识库</a:t>
            </a:r>
            <a:endParaRPr lang="en-US" sz="3600" dirty="0"/>
          </a:p>
        </p:txBody>
      </p:sp>
      <p:sp>
        <p:nvSpPr>
          <p:cNvPr id="5" name="Text 3"/>
          <p:cNvSpPr/>
          <p:nvPr/>
        </p:nvSpPr>
        <p:spPr>
          <a:xfrm>
            <a:off x="548640" y="3291840"/>
            <a:ext cx="7315200" cy="548640"/>
          </a:xfrm>
          <a:prstGeom prst="rect">
            <a:avLst/>
          </a:prstGeom>
          <a:noFill/>
          <a:ln/>
        </p:spPr>
        <p:txBody>
          <a:bodyPr wrap="square" rtlCol="0" anchor="ctr"/>
          <a:lstStyle/>
          <a:p>
            <a:pPr indent="0" marL="0">
              <a:buNone/>
            </a:pPr>
            <a:r>
              <a:rPr lang="en-US" sz="2200" dirty="0">
                <a:solidFill>
                  <a:srgbClr val="F3F4F6"/>
                </a:solidFill>
                <a:latin typeface="Microsoft YaHei" pitchFamily="34" charset="0"/>
                <a:ea typeface="Microsoft YaHei" pitchFamily="34" charset="-122"/>
                <a:cs typeface="Microsoft YaHei" pitchFamily="34" charset="-120"/>
              </a:rPr>
              <a:t>第一天·下午</a:t>
            </a:r>
            <a:endParaRPr lang="en-US" sz="2200" dirty="0"/>
          </a:p>
        </p:txBody>
      </p:sp>
      <p:sp>
        <p:nvSpPr>
          <p:cNvPr id="6" name="Shape 4"/>
          <p:cNvSpPr/>
          <p:nvPr/>
        </p:nvSpPr>
        <p:spPr>
          <a:xfrm>
            <a:off x="8503920" y="4663440"/>
            <a:ext cx="365760" cy="365760"/>
          </a:xfrm>
          <a:prstGeom prst="ellipse">
            <a:avLst/>
          </a:prstGeom>
          <a:solidFill>
            <a:srgbClr val="EF4444"/>
          </a:solidFill>
          <a:ln/>
        </p:spPr>
      </p:sp>
      <p:sp>
        <p:nvSpPr>
          <p:cNvPr id="7" name="Text 5"/>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29</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274320"/>
            <a:ext cx="8229600" cy="548640"/>
          </a:xfrm>
          <a:prstGeom prst="rect">
            <a:avLst/>
          </a:prstGeom>
          <a:noFill/>
          <a:ln/>
        </p:spPr>
        <p:txBody>
          <a:bodyPr wrap="square" rtlCol="0" anchor="ctr"/>
          <a:lstStyle/>
          <a:p>
            <a:pPr indent="0" marL="0">
              <a:buNone/>
            </a:pPr>
            <a:r>
              <a:rPr lang="en-US" sz="2800" b="1" dirty="0">
                <a:solidFill>
                  <a:srgbClr val="B91C1C"/>
                </a:solidFill>
                <a:latin typeface="Microsoft YaHei" pitchFamily="34" charset="0"/>
                <a:ea typeface="Microsoft YaHei" pitchFamily="34" charset="-122"/>
                <a:cs typeface="Microsoft YaHei" pitchFamily="34" charset="-120"/>
              </a:rPr>
              <a:t>专项经验萃取</a:t>
            </a:r>
            <a:endParaRPr lang="en-US" sz="2800" dirty="0"/>
          </a:p>
        </p:txBody>
      </p:sp>
      <p:sp>
        <p:nvSpPr>
          <p:cNvPr id="4" name="Text 2"/>
          <p:cNvSpPr/>
          <p:nvPr/>
        </p:nvSpPr>
        <p:spPr>
          <a:xfrm>
            <a:off x="457200" y="822960"/>
            <a:ext cx="8229600" cy="365760"/>
          </a:xfrm>
          <a:prstGeom prst="rect">
            <a:avLst/>
          </a:prstGeom>
          <a:noFill/>
          <a:ln/>
        </p:spPr>
        <p:txBody>
          <a:bodyPr wrap="square" rtlCol="0" anchor="ctr"/>
          <a:lstStyle/>
          <a:p>
            <a:pPr indent="0" marL="0">
              <a:buNone/>
            </a:pPr>
            <a:r>
              <a:rPr lang="en-US" sz="1600" dirty="0">
                <a:solidFill>
                  <a:srgbClr val="374151"/>
                </a:solidFill>
                <a:latin typeface="Microsoft YaHei" pitchFamily="34" charset="0"/>
                <a:ea typeface="Microsoft YaHei" pitchFamily="34" charset="-122"/>
                <a:cs typeface="Microsoft YaHei" pitchFamily="34" charset="-120"/>
              </a:rPr>
              <a:t>你的业务判断藏在哪三个层次里</a:t>
            </a:r>
            <a:endParaRPr lang="en-US" sz="1600" dirty="0"/>
          </a:p>
        </p:txBody>
      </p:sp>
      <p:sp>
        <p:nvSpPr>
          <p:cNvPr id="5" name="Shape 3"/>
          <p:cNvSpPr/>
          <p:nvPr/>
        </p:nvSpPr>
        <p:spPr>
          <a:xfrm>
            <a:off x="457200" y="1371600"/>
            <a:ext cx="2651760" cy="2560320"/>
          </a:xfrm>
          <a:prstGeom prst="roundRect">
            <a:avLst>
              <a:gd name="adj" fmla="val 3571"/>
            </a:avLst>
          </a:prstGeom>
          <a:solidFill>
            <a:srgbClr val="F3F4F6"/>
          </a:solidFill>
          <a:ln/>
        </p:spPr>
      </p:sp>
      <p:sp>
        <p:nvSpPr>
          <p:cNvPr id="6" name="Shape 4"/>
          <p:cNvSpPr/>
          <p:nvPr/>
        </p:nvSpPr>
        <p:spPr>
          <a:xfrm>
            <a:off x="1417320" y="1645920"/>
            <a:ext cx="731520" cy="731520"/>
          </a:xfrm>
          <a:prstGeom prst="ellipse">
            <a:avLst/>
          </a:prstGeom>
          <a:solidFill>
            <a:srgbClr val="EF4444"/>
          </a:solidFill>
          <a:ln/>
        </p:spPr>
      </p:sp>
      <p:sp>
        <p:nvSpPr>
          <p:cNvPr id="7" name="Text 5"/>
          <p:cNvSpPr/>
          <p:nvPr/>
        </p:nvSpPr>
        <p:spPr>
          <a:xfrm>
            <a:off x="1417320" y="1645920"/>
            <a:ext cx="731520" cy="731520"/>
          </a:xfrm>
          <a:prstGeom prst="rect">
            <a:avLst/>
          </a:prstGeom>
          <a:noFill/>
          <a:ln/>
        </p:spPr>
        <p:txBody>
          <a:bodyPr wrap="square"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1</a:t>
            </a:r>
            <a:endParaRPr lang="en-US" sz="2400" dirty="0"/>
          </a:p>
        </p:txBody>
      </p:sp>
      <p:sp>
        <p:nvSpPr>
          <p:cNvPr id="8" name="Text 6"/>
          <p:cNvSpPr/>
          <p:nvPr/>
        </p:nvSpPr>
        <p:spPr>
          <a:xfrm>
            <a:off x="640080" y="2560320"/>
            <a:ext cx="2286000" cy="457200"/>
          </a:xfrm>
          <a:prstGeom prst="rect">
            <a:avLst/>
          </a:prstGeom>
          <a:noFill/>
          <a:ln/>
        </p:spPr>
        <p:txBody>
          <a:bodyPr wrap="square" rtlCol="0" anchor="ctr"/>
          <a:lstStyle/>
          <a:p>
            <a:pPr algn="ctr" indent="0" marL="0">
              <a:buNone/>
            </a:pPr>
            <a:r>
              <a:rPr lang="en-US" sz="1600" b="1" dirty="0">
                <a:solidFill>
                  <a:srgbClr val="B91C1C"/>
                </a:solidFill>
                <a:latin typeface="Microsoft YaHei" pitchFamily="34" charset="0"/>
                <a:ea typeface="Microsoft YaHei" pitchFamily="34" charset="-122"/>
                <a:cs typeface="Microsoft YaHei" pitchFamily="34" charset="-120"/>
              </a:rPr>
              <a:t>显性规则</a:t>
            </a:r>
            <a:endParaRPr lang="en-US" sz="1600" dirty="0"/>
          </a:p>
        </p:txBody>
      </p:sp>
      <p:sp>
        <p:nvSpPr>
          <p:cNvPr id="9" name="Text 7"/>
          <p:cNvSpPr/>
          <p:nvPr/>
        </p:nvSpPr>
        <p:spPr>
          <a:xfrm>
            <a:off x="640080" y="3108960"/>
            <a:ext cx="2286000" cy="640080"/>
          </a:xfrm>
          <a:prstGeom prst="rect">
            <a:avLst/>
          </a:prstGeom>
          <a:noFill/>
          <a:ln/>
        </p:spPr>
        <p:txBody>
          <a:bodyPr wrap="square" rtlCol="0" anchor="ctr"/>
          <a:lstStyle/>
          <a:p>
            <a:pPr algn="ctr" indent="0" marL="0">
              <a:buNone/>
            </a:pPr>
            <a:r>
              <a:rPr lang="en-US" sz="1200" dirty="0">
                <a:solidFill>
                  <a:srgbClr val="374151"/>
                </a:solidFill>
                <a:latin typeface="Microsoft YaHei" pitchFamily="34" charset="0"/>
                <a:ea typeface="Microsoft YaHei" pitchFamily="34" charset="-122"/>
                <a:cs typeface="Microsoft YaHei" pitchFamily="34" charset="-120"/>
              </a:rPr>
              <a:t>能直接说出来的规则</a:t>
            </a:r>
            <a:endParaRPr lang="en-US" sz="1200" dirty="0"/>
          </a:p>
        </p:txBody>
      </p:sp>
      <p:sp>
        <p:nvSpPr>
          <p:cNvPr id="10" name="Shape 8"/>
          <p:cNvSpPr/>
          <p:nvPr/>
        </p:nvSpPr>
        <p:spPr>
          <a:xfrm>
            <a:off x="3291840" y="1371600"/>
            <a:ext cx="2651760" cy="2560320"/>
          </a:xfrm>
          <a:prstGeom prst="roundRect">
            <a:avLst>
              <a:gd name="adj" fmla="val 3571"/>
            </a:avLst>
          </a:prstGeom>
          <a:solidFill>
            <a:srgbClr val="F3F4F6"/>
          </a:solidFill>
          <a:ln/>
        </p:spPr>
      </p:sp>
      <p:sp>
        <p:nvSpPr>
          <p:cNvPr id="11" name="Shape 9"/>
          <p:cNvSpPr/>
          <p:nvPr/>
        </p:nvSpPr>
        <p:spPr>
          <a:xfrm>
            <a:off x="4251960" y="1645920"/>
            <a:ext cx="731520" cy="731520"/>
          </a:xfrm>
          <a:prstGeom prst="ellipse">
            <a:avLst/>
          </a:prstGeom>
          <a:solidFill>
            <a:srgbClr val="EF4444"/>
          </a:solidFill>
          <a:ln/>
        </p:spPr>
      </p:sp>
      <p:sp>
        <p:nvSpPr>
          <p:cNvPr id="12" name="Text 10"/>
          <p:cNvSpPr/>
          <p:nvPr/>
        </p:nvSpPr>
        <p:spPr>
          <a:xfrm>
            <a:off x="4251960" y="1645920"/>
            <a:ext cx="731520" cy="731520"/>
          </a:xfrm>
          <a:prstGeom prst="rect">
            <a:avLst/>
          </a:prstGeom>
          <a:noFill/>
          <a:ln/>
        </p:spPr>
        <p:txBody>
          <a:bodyPr wrap="square"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2</a:t>
            </a:r>
            <a:endParaRPr lang="en-US" sz="2400" dirty="0"/>
          </a:p>
        </p:txBody>
      </p:sp>
      <p:sp>
        <p:nvSpPr>
          <p:cNvPr id="13" name="Text 11"/>
          <p:cNvSpPr/>
          <p:nvPr/>
        </p:nvSpPr>
        <p:spPr>
          <a:xfrm>
            <a:off x="3474720" y="2560320"/>
            <a:ext cx="2286000" cy="457200"/>
          </a:xfrm>
          <a:prstGeom prst="rect">
            <a:avLst/>
          </a:prstGeom>
          <a:noFill/>
          <a:ln/>
        </p:spPr>
        <p:txBody>
          <a:bodyPr wrap="square" rtlCol="0" anchor="ctr"/>
          <a:lstStyle/>
          <a:p>
            <a:pPr algn="ctr" indent="0" marL="0">
              <a:buNone/>
            </a:pPr>
            <a:r>
              <a:rPr lang="en-US" sz="1600" b="1" dirty="0">
                <a:solidFill>
                  <a:srgbClr val="B91C1C"/>
                </a:solidFill>
                <a:latin typeface="Microsoft YaHei" pitchFamily="34" charset="0"/>
                <a:ea typeface="Microsoft YaHei" pitchFamily="34" charset="-122"/>
                <a:cs typeface="Microsoft YaHei" pitchFamily="34" charset="-120"/>
              </a:rPr>
              <a:t>隐性判断</a:t>
            </a:r>
            <a:endParaRPr lang="en-US" sz="1600" dirty="0"/>
          </a:p>
        </p:txBody>
      </p:sp>
      <p:sp>
        <p:nvSpPr>
          <p:cNvPr id="14" name="Text 12"/>
          <p:cNvSpPr/>
          <p:nvPr/>
        </p:nvSpPr>
        <p:spPr>
          <a:xfrm>
            <a:off x="3474720" y="3108960"/>
            <a:ext cx="2286000" cy="640080"/>
          </a:xfrm>
          <a:prstGeom prst="rect">
            <a:avLst/>
          </a:prstGeom>
          <a:noFill/>
          <a:ln/>
        </p:spPr>
        <p:txBody>
          <a:bodyPr wrap="square" rtlCol="0" anchor="ctr"/>
          <a:lstStyle/>
          <a:p>
            <a:pPr algn="ctr" indent="0" marL="0">
              <a:buNone/>
            </a:pPr>
            <a:r>
              <a:rPr lang="en-US" sz="1200" dirty="0">
                <a:solidFill>
                  <a:srgbClr val="374151"/>
                </a:solidFill>
                <a:latin typeface="Microsoft YaHei" pitchFamily="34" charset="0"/>
                <a:ea typeface="Microsoft YaHei" pitchFamily="34" charset="-122"/>
                <a:cs typeface="Microsoft YaHei" pitchFamily="34" charset="-120"/>
              </a:rPr>
              <a:t>凭感觉做，但说不清楚</a:t>
            </a:r>
            <a:endParaRPr lang="en-US" sz="1200" dirty="0"/>
          </a:p>
        </p:txBody>
      </p:sp>
      <p:sp>
        <p:nvSpPr>
          <p:cNvPr id="15" name="Shape 13"/>
          <p:cNvSpPr/>
          <p:nvPr/>
        </p:nvSpPr>
        <p:spPr>
          <a:xfrm>
            <a:off x="6126480" y="1371600"/>
            <a:ext cx="2651760" cy="2560320"/>
          </a:xfrm>
          <a:prstGeom prst="roundRect">
            <a:avLst>
              <a:gd name="adj" fmla="val 3571"/>
            </a:avLst>
          </a:prstGeom>
          <a:solidFill>
            <a:srgbClr val="F3F4F6"/>
          </a:solidFill>
          <a:ln/>
        </p:spPr>
      </p:sp>
      <p:sp>
        <p:nvSpPr>
          <p:cNvPr id="16" name="Shape 14"/>
          <p:cNvSpPr/>
          <p:nvPr/>
        </p:nvSpPr>
        <p:spPr>
          <a:xfrm>
            <a:off x="7086600" y="1645920"/>
            <a:ext cx="731520" cy="731520"/>
          </a:xfrm>
          <a:prstGeom prst="ellipse">
            <a:avLst/>
          </a:prstGeom>
          <a:solidFill>
            <a:srgbClr val="EF4444"/>
          </a:solidFill>
          <a:ln/>
        </p:spPr>
      </p:sp>
      <p:sp>
        <p:nvSpPr>
          <p:cNvPr id="17" name="Text 15"/>
          <p:cNvSpPr/>
          <p:nvPr/>
        </p:nvSpPr>
        <p:spPr>
          <a:xfrm>
            <a:off x="7086600" y="1645920"/>
            <a:ext cx="731520" cy="731520"/>
          </a:xfrm>
          <a:prstGeom prst="rect">
            <a:avLst/>
          </a:prstGeom>
          <a:noFill/>
          <a:ln/>
        </p:spPr>
        <p:txBody>
          <a:bodyPr wrap="square"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3</a:t>
            </a:r>
            <a:endParaRPr lang="en-US" sz="2400" dirty="0"/>
          </a:p>
        </p:txBody>
      </p:sp>
      <p:sp>
        <p:nvSpPr>
          <p:cNvPr id="18" name="Text 16"/>
          <p:cNvSpPr/>
          <p:nvPr/>
        </p:nvSpPr>
        <p:spPr>
          <a:xfrm>
            <a:off x="6309360" y="2560320"/>
            <a:ext cx="2286000" cy="457200"/>
          </a:xfrm>
          <a:prstGeom prst="rect">
            <a:avLst/>
          </a:prstGeom>
          <a:noFill/>
          <a:ln/>
        </p:spPr>
        <p:txBody>
          <a:bodyPr wrap="square" rtlCol="0" anchor="ctr"/>
          <a:lstStyle/>
          <a:p>
            <a:pPr algn="ctr" indent="0" marL="0">
              <a:buNone/>
            </a:pPr>
            <a:r>
              <a:rPr lang="en-US" sz="1600" b="1" dirty="0">
                <a:solidFill>
                  <a:srgbClr val="B91C1C"/>
                </a:solidFill>
                <a:latin typeface="Microsoft YaHei" pitchFamily="34" charset="0"/>
                <a:ea typeface="Microsoft YaHei" pitchFamily="34" charset="-122"/>
                <a:cs typeface="Microsoft YaHei" pitchFamily="34" charset="-120"/>
              </a:rPr>
              <a:t>量化条件</a:t>
            </a:r>
            <a:endParaRPr lang="en-US" sz="1600" dirty="0"/>
          </a:p>
        </p:txBody>
      </p:sp>
      <p:sp>
        <p:nvSpPr>
          <p:cNvPr id="19" name="Text 17"/>
          <p:cNvSpPr/>
          <p:nvPr/>
        </p:nvSpPr>
        <p:spPr>
          <a:xfrm>
            <a:off x="6309360" y="3108960"/>
            <a:ext cx="2286000" cy="640080"/>
          </a:xfrm>
          <a:prstGeom prst="rect">
            <a:avLst/>
          </a:prstGeom>
          <a:noFill/>
          <a:ln/>
        </p:spPr>
        <p:txBody>
          <a:bodyPr wrap="square" rtlCol="0" anchor="ctr"/>
          <a:lstStyle/>
          <a:p>
            <a:pPr algn="ctr" indent="0" marL="0">
              <a:buNone/>
            </a:pPr>
            <a:r>
              <a:rPr lang="en-US" sz="1200" dirty="0">
                <a:solidFill>
                  <a:srgbClr val="374151"/>
                </a:solidFill>
                <a:latin typeface="Microsoft YaHei" pitchFamily="34" charset="0"/>
                <a:ea typeface="Microsoft YaHei" pitchFamily="34" charset="-122"/>
                <a:cs typeface="Microsoft YaHei" pitchFamily="34" charset="-120"/>
              </a:rPr>
              <a:t>把模糊标准变成可识别的触发条件</a:t>
            </a:r>
            <a:endParaRPr lang="en-US" sz="1200" dirty="0"/>
          </a:p>
        </p:txBody>
      </p:sp>
      <p:sp>
        <p:nvSpPr>
          <p:cNvPr id="20" name="Shape 18"/>
          <p:cNvSpPr/>
          <p:nvPr/>
        </p:nvSpPr>
        <p:spPr>
          <a:xfrm>
            <a:off x="8503920" y="4663440"/>
            <a:ext cx="365760" cy="365760"/>
          </a:xfrm>
          <a:prstGeom prst="ellipse">
            <a:avLst/>
          </a:prstGeom>
          <a:solidFill>
            <a:srgbClr val="EF4444"/>
          </a:solidFill>
          <a:ln/>
        </p:spPr>
      </p:sp>
      <p:sp>
        <p:nvSpPr>
          <p:cNvPr id="21" name="Text 19"/>
          <p:cNvSpPr/>
          <p:nvPr/>
        </p:nvSpPr>
        <p:spPr>
          <a:xfrm>
            <a:off x="8503920" y="4663440"/>
            <a:ext cx="365760" cy="36576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31</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274320"/>
            <a:ext cx="8229600" cy="457200"/>
          </a:xfrm>
          <a:prstGeom prst="rect">
            <a:avLst/>
          </a:prstGeom>
          <a:noFill/>
          <a:ln/>
        </p:spPr>
        <p:txBody>
          <a:bodyPr wrap="square" rtlCol="0" anchor="ctr"/>
          <a:lstStyle/>
          <a:p>
            <a:pPr indent="0" marL="0">
              <a:buNone/>
            </a:pPr>
            <a:r>
              <a:rPr lang="en-US" sz="2400" b="1" dirty="0">
                <a:solidFill>
                  <a:srgbClr val="B91C1C"/>
                </a:solidFill>
                <a:latin typeface="Microsoft YaHei" pitchFamily="34" charset="0"/>
                <a:ea typeface="Microsoft YaHei" pitchFamily="34" charset="-122"/>
                <a:cs typeface="Microsoft YaHei" pitchFamily="34" charset="-120"/>
              </a:rPr>
              <a:t>三层经验的区别</a:t>
            </a:r>
            <a:endParaRPr lang="en-US" sz="2400" dirty="0"/>
          </a:p>
        </p:txBody>
      </p:sp>
      <p:sp>
        <p:nvSpPr>
          <p:cNvPr id="4" name="Shape 2"/>
          <p:cNvSpPr/>
          <p:nvPr/>
        </p:nvSpPr>
        <p:spPr>
          <a:xfrm>
            <a:off x="457200" y="914400"/>
            <a:ext cx="1645920" cy="457200"/>
          </a:xfrm>
          <a:prstGeom prst="rect">
            <a:avLst/>
          </a:prstGeom>
          <a:solidFill>
            <a:srgbClr val="B91C1C"/>
          </a:solidFill>
          <a:ln/>
        </p:spPr>
      </p:sp>
      <p:sp>
        <p:nvSpPr>
          <p:cNvPr id="5" name="Text 3"/>
          <p:cNvSpPr/>
          <p:nvPr/>
        </p:nvSpPr>
        <p:spPr>
          <a:xfrm>
            <a:off x="457200" y="914400"/>
            <a:ext cx="1645920" cy="457200"/>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层次</a:t>
            </a:r>
            <a:endParaRPr lang="en-US" sz="1400" dirty="0"/>
          </a:p>
        </p:txBody>
      </p:sp>
      <p:sp>
        <p:nvSpPr>
          <p:cNvPr id="6" name="Shape 4"/>
          <p:cNvSpPr/>
          <p:nvPr/>
        </p:nvSpPr>
        <p:spPr>
          <a:xfrm>
            <a:off x="2103120" y="914400"/>
            <a:ext cx="3200400" cy="457200"/>
          </a:xfrm>
          <a:prstGeom prst="rect">
            <a:avLst/>
          </a:prstGeom>
          <a:solidFill>
            <a:srgbClr val="B91C1C"/>
          </a:solidFill>
          <a:ln/>
        </p:spPr>
      </p:sp>
      <p:sp>
        <p:nvSpPr>
          <p:cNvPr id="7" name="Text 5"/>
          <p:cNvSpPr/>
          <p:nvPr/>
        </p:nvSpPr>
        <p:spPr>
          <a:xfrm>
            <a:off x="2103120" y="914400"/>
            <a:ext cx="3200400" cy="457200"/>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例子</a:t>
            </a:r>
            <a:endParaRPr lang="en-US" sz="1400" dirty="0"/>
          </a:p>
        </p:txBody>
      </p:sp>
      <p:sp>
        <p:nvSpPr>
          <p:cNvPr id="8" name="Shape 6"/>
          <p:cNvSpPr/>
          <p:nvPr/>
        </p:nvSpPr>
        <p:spPr>
          <a:xfrm>
            <a:off x="5303520" y="914400"/>
            <a:ext cx="3383280" cy="457200"/>
          </a:xfrm>
          <a:prstGeom prst="rect">
            <a:avLst/>
          </a:prstGeom>
          <a:solidFill>
            <a:srgbClr val="B91C1C"/>
          </a:solidFill>
          <a:ln/>
        </p:spPr>
      </p:sp>
      <p:sp>
        <p:nvSpPr>
          <p:cNvPr id="9" name="Text 7"/>
          <p:cNvSpPr/>
          <p:nvPr/>
        </p:nvSpPr>
        <p:spPr>
          <a:xfrm>
            <a:off x="5303520" y="914400"/>
            <a:ext cx="3383280" cy="457200"/>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萃取方法</a:t>
            </a:r>
            <a:endParaRPr lang="en-US" sz="1400" dirty="0"/>
          </a:p>
        </p:txBody>
      </p:sp>
      <p:sp>
        <p:nvSpPr>
          <p:cNvPr id="10" name="Shape 8"/>
          <p:cNvSpPr/>
          <p:nvPr/>
        </p:nvSpPr>
        <p:spPr>
          <a:xfrm>
            <a:off x="457200" y="1371600"/>
            <a:ext cx="1645920" cy="685800"/>
          </a:xfrm>
          <a:prstGeom prst="rect">
            <a:avLst/>
          </a:prstGeom>
          <a:solidFill>
            <a:srgbClr val="F3F4F6"/>
          </a:solidFill>
          <a:ln/>
        </p:spPr>
      </p:sp>
      <p:sp>
        <p:nvSpPr>
          <p:cNvPr id="11" name="Text 9"/>
          <p:cNvSpPr/>
          <p:nvPr/>
        </p:nvSpPr>
        <p:spPr>
          <a:xfrm>
            <a:off x="548640" y="1371600"/>
            <a:ext cx="1463040" cy="685800"/>
          </a:xfrm>
          <a:prstGeom prst="rect">
            <a:avLst/>
          </a:prstGeom>
          <a:noFill/>
          <a:ln/>
        </p:spPr>
        <p:txBody>
          <a:bodyPr wrap="square" rtlCol="0" anchor="ctr"/>
          <a:lstStyle/>
          <a:p>
            <a:pPr indent="0" marL="0">
              <a:buNone/>
            </a:pPr>
            <a:r>
              <a:rPr lang="en-US" sz="1200" dirty="0">
                <a:solidFill>
                  <a:srgbClr val="374151"/>
                </a:solidFill>
                <a:latin typeface="Microsoft YaHei" pitchFamily="34" charset="0"/>
                <a:ea typeface="Microsoft YaHei" pitchFamily="34" charset="-122"/>
                <a:cs typeface="Microsoft YaHei" pitchFamily="34" charset="-120"/>
              </a:rPr>
              <a:t>显性规则</a:t>
            </a:r>
            <a:endParaRPr lang="en-US" sz="1200" dirty="0"/>
          </a:p>
        </p:txBody>
      </p:sp>
      <p:sp>
        <p:nvSpPr>
          <p:cNvPr id="12" name="Shape 10"/>
          <p:cNvSpPr/>
          <p:nvPr/>
        </p:nvSpPr>
        <p:spPr>
          <a:xfrm>
            <a:off x="2103120" y="1371600"/>
            <a:ext cx="3200400" cy="685800"/>
          </a:xfrm>
          <a:prstGeom prst="rect">
            <a:avLst/>
          </a:prstGeom>
          <a:solidFill>
            <a:srgbClr val="F3F4F6"/>
          </a:solidFill>
          <a:ln/>
        </p:spPr>
      </p:sp>
      <p:sp>
        <p:nvSpPr>
          <p:cNvPr id="13" name="Text 11"/>
          <p:cNvSpPr/>
          <p:nvPr/>
        </p:nvSpPr>
        <p:spPr>
          <a:xfrm>
            <a:off x="2194560" y="1371600"/>
            <a:ext cx="3017520" cy="685800"/>
          </a:xfrm>
          <a:prstGeom prst="rect">
            <a:avLst/>
          </a:prstGeom>
          <a:noFill/>
          <a:ln/>
        </p:spPr>
        <p:txBody>
          <a:bodyPr wrap="square" rtlCol="0" anchor="ctr"/>
          <a:lstStyle/>
          <a:p>
            <a:pPr indent="0" marL="0">
              <a:buNone/>
            </a:pPr>
            <a:r>
              <a:rPr lang="en-US" sz="1200" dirty="0">
                <a:solidFill>
                  <a:srgbClr val="374151"/>
                </a:solidFill>
                <a:latin typeface="Microsoft YaHei" pitchFamily="34" charset="0"/>
                <a:ea typeface="Microsoft YaHei" pitchFamily="34" charset="-122"/>
                <a:cs typeface="Microsoft YaHei" pitchFamily="34" charset="-120"/>
              </a:rPr>
              <a:t>超过500元需主管介入</a:t>
            </a:r>
            <a:endParaRPr lang="en-US" sz="1200" dirty="0"/>
          </a:p>
        </p:txBody>
      </p:sp>
      <p:sp>
        <p:nvSpPr>
          <p:cNvPr id="14" name="Shape 12"/>
          <p:cNvSpPr/>
          <p:nvPr/>
        </p:nvSpPr>
        <p:spPr>
          <a:xfrm>
            <a:off x="5303520" y="1371600"/>
            <a:ext cx="3383280" cy="685800"/>
          </a:xfrm>
          <a:prstGeom prst="rect">
            <a:avLst/>
          </a:prstGeom>
          <a:solidFill>
            <a:srgbClr val="F3F4F6"/>
          </a:solidFill>
          <a:ln/>
        </p:spPr>
      </p:sp>
      <p:sp>
        <p:nvSpPr>
          <p:cNvPr id="15" name="Text 13"/>
          <p:cNvSpPr/>
          <p:nvPr/>
        </p:nvSpPr>
        <p:spPr>
          <a:xfrm>
            <a:off x="5394960" y="1371600"/>
            <a:ext cx="3200400" cy="685800"/>
          </a:xfrm>
          <a:prstGeom prst="rect">
            <a:avLst/>
          </a:prstGeom>
          <a:noFill/>
          <a:ln/>
        </p:spPr>
        <p:txBody>
          <a:bodyPr wrap="square" rtlCol="0" anchor="ctr"/>
          <a:lstStyle/>
          <a:p>
            <a:pPr indent="0" marL="0">
              <a:buNone/>
            </a:pPr>
            <a:r>
              <a:rPr lang="en-US" sz="1200" dirty="0">
                <a:solidFill>
                  <a:srgbClr val="374151"/>
                </a:solidFill>
                <a:latin typeface="Microsoft YaHei" pitchFamily="34" charset="0"/>
                <a:ea typeface="Microsoft YaHei" pitchFamily="34" charset="-122"/>
                <a:cs typeface="Microsoft YaHei" pitchFamily="34" charset="-120"/>
              </a:rPr>
              <a:t>格式化即可</a:t>
            </a:r>
            <a:endParaRPr lang="en-US" sz="1200" dirty="0"/>
          </a:p>
        </p:txBody>
      </p:sp>
      <p:sp>
        <p:nvSpPr>
          <p:cNvPr id="16" name="Shape 14"/>
          <p:cNvSpPr/>
          <p:nvPr/>
        </p:nvSpPr>
        <p:spPr>
          <a:xfrm>
            <a:off x="457200" y="2148840"/>
            <a:ext cx="1645920" cy="685800"/>
          </a:xfrm>
          <a:prstGeom prst="rect">
            <a:avLst/>
          </a:prstGeom>
          <a:solidFill>
            <a:srgbClr val="FFFFFF"/>
          </a:solidFill>
          <a:ln/>
        </p:spPr>
      </p:sp>
      <p:sp>
        <p:nvSpPr>
          <p:cNvPr id="17" name="Text 15"/>
          <p:cNvSpPr/>
          <p:nvPr/>
        </p:nvSpPr>
        <p:spPr>
          <a:xfrm>
            <a:off x="548640" y="2148840"/>
            <a:ext cx="1463040" cy="685800"/>
          </a:xfrm>
          <a:prstGeom prst="rect">
            <a:avLst/>
          </a:prstGeom>
          <a:noFill/>
          <a:ln/>
        </p:spPr>
        <p:txBody>
          <a:bodyPr wrap="square" rtlCol="0" anchor="ctr"/>
          <a:lstStyle/>
          <a:p>
            <a:pPr indent="0" marL="0">
              <a:buNone/>
            </a:pPr>
            <a:r>
              <a:rPr lang="en-US" sz="1200" dirty="0">
                <a:solidFill>
                  <a:srgbClr val="374151"/>
                </a:solidFill>
                <a:latin typeface="Microsoft YaHei" pitchFamily="34" charset="0"/>
                <a:ea typeface="Microsoft YaHei" pitchFamily="34" charset="-122"/>
                <a:cs typeface="Microsoft YaHei" pitchFamily="34" charset="-120"/>
              </a:rPr>
              <a:t>隐性判断</a:t>
            </a:r>
            <a:endParaRPr lang="en-US" sz="1200" dirty="0"/>
          </a:p>
        </p:txBody>
      </p:sp>
      <p:sp>
        <p:nvSpPr>
          <p:cNvPr id="18" name="Shape 16"/>
          <p:cNvSpPr/>
          <p:nvPr/>
        </p:nvSpPr>
        <p:spPr>
          <a:xfrm>
            <a:off x="2103120" y="2148840"/>
            <a:ext cx="3200400" cy="685800"/>
          </a:xfrm>
          <a:prstGeom prst="rect">
            <a:avLst/>
          </a:prstGeom>
          <a:solidFill>
            <a:srgbClr val="FFFFFF"/>
          </a:solidFill>
          <a:ln/>
        </p:spPr>
      </p:sp>
      <p:sp>
        <p:nvSpPr>
          <p:cNvPr id="19" name="Text 17"/>
          <p:cNvSpPr/>
          <p:nvPr/>
        </p:nvSpPr>
        <p:spPr>
          <a:xfrm>
            <a:off x="2194560" y="2148840"/>
            <a:ext cx="3017520" cy="685800"/>
          </a:xfrm>
          <a:prstGeom prst="rect">
            <a:avLst/>
          </a:prstGeom>
          <a:noFill/>
          <a:ln/>
        </p:spPr>
        <p:txBody>
          <a:bodyPr wrap="square" rtlCol="0" anchor="ctr"/>
          <a:lstStyle/>
          <a:p>
            <a:pPr indent="0" marL="0">
              <a:buNone/>
            </a:pPr>
            <a:r>
              <a:rPr lang="en-US" sz="1200" dirty="0">
                <a:solidFill>
                  <a:srgbClr val="374151"/>
                </a:solidFill>
                <a:latin typeface="Microsoft YaHei" pitchFamily="34" charset="0"/>
                <a:ea typeface="Microsoft YaHei" pitchFamily="34" charset="-122"/>
                <a:cs typeface="Microsoft YaHei" pitchFamily="34" charset="-120"/>
              </a:rPr>
              <a:t>这个客户像职业投诉人</a:t>
            </a:r>
            <a:endParaRPr lang="en-US" sz="1200" dirty="0"/>
          </a:p>
        </p:txBody>
      </p:sp>
      <p:sp>
        <p:nvSpPr>
          <p:cNvPr id="20" name="Shape 18"/>
          <p:cNvSpPr/>
          <p:nvPr/>
        </p:nvSpPr>
        <p:spPr>
          <a:xfrm>
            <a:off x="5303520" y="2148840"/>
            <a:ext cx="3383280" cy="685800"/>
          </a:xfrm>
          <a:prstGeom prst="rect">
            <a:avLst/>
          </a:prstGeom>
          <a:solidFill>
            <a:srgbClr val="FFFFFF"/>
          </a:solidFill>
          <a:ln/>
        </p:spPr>
      </p:sp>
      <p:sp>
        <p:nvSpPr>
          <p:cNvPr id="21" name="Text 19"/>
          <p:cNvSpPr/>
          <p:nvPr/>
        </p:nvSpPr>
        <p:spPr>
          <a:xfrm>
            <a:off x="5394960" y="2148840"/>
            <a:ext cx="3200400" cy="685800"/>
          </a:xfrm>
          <a:prstGeom prst="rect">
            <a:avLst/>
          </a:prstGeom>
          <a:noFill/>
          <a:ln/>
        </p:spPr>
        <p:txBody>
          <a:bodyPr wrap="square" rtlCol="0" anchor="ctr"/>
          <a:lstStyle/>
          <a:p>
            <a:pPr indent="0" marL="0">
              <a:buNone/>
            </a:pPr>
            <a:r>
              <a:rPr lang="en-US" sz="1200" dirty="0">
                <a:solidFill>
                  <a:srgbClr val="374151"/>
                </a:solidFill>
                <a:latin typeface="Microsoft YaHei" pitchFamily="34" charset="0"/>
                <a:ea typeface="Microsoft YaHei" pitchFamily="34" charset="-122"/>
                <a:cs typeface="Microsoft YaHei" pitchFamily="34" charset="-120"/>
              </a:rPr>
              <a:t>回忆三个"做得和新人不一样"的案例</a:t>
            </a:r>
            <a:endParaRPr lang="en-US" sz="1200" dirty="0"/>
          </a:p>
        </p:txBody>
      </p:sp>
      <p:sp>
        <p:nvSpPr>
          <p:cNvPr id="22" name="Shape 20"/>
          <p:cNvSpPr/>
          <p:nvPr/>
        </p:nvSpPr>
        <p:spPr>
          <a:xfrm>
            <a:off x="457200" y="2926080"/>
            <a:ext cx="1645920" cy="685800"/>
          </a:xfrm>
          <a:prstGeom prst="rect">
            <a:avLst/>
          </a:prstGeom>
          <a:solidFill>
            <a:srgbClr val="F3F4F6"/>
          </a:solidFill>
          <a:ln/>
        </p:spPr>
      </p:sp>
      <p:sp>
        <p:nvSpPr>
          <p:cNvPr id="23" name="Text 21"/>
          <p:cNvSpPr/>
          <p:nvPr/>
        </p:nvSpPr>
        <p:spPr>
          <a:xfrm>
            <a:off x="548640" y="2926080"/>
            <a:ext cx="1463040" cy="685800"/>
          </a:xfrm>
          <a:prstGeom prst="rect">
            <a:avLst/>
          </a:prstGeom>
          <a:noFill/>
          <a:ln/>
        </p:spPr>
        <p:txBody>
          <a:bodyPr wrap="square" rtlCol="0" anchor="ctr"/>
          <a:lstStyle/>
          <a:p>
            <a:pPr indent="0" marL="0">
              <a:buNone/>
            </a:pPr>
            <a:r>
              <a:rPr lang="en-US" sz="1200" dirty="0">
                <a:solidFill>
                  <a:srgbClr val="374151"/>
                </a:solidFill>
                <a:latin typeface="Microsoft YaHei" pitchFamily="34" charset="0"/>
                <a:ea typeface="Microsoft YaHei" pitchFamily="34" charset="-122"/>
                <a:cs typeface="Microsoft YaHei" pitchFamily="34" charset="-120"/>
              </a:rPr>
              <a:t>量化条件</a:t>
            </a:r>
            <a:endParaRPr lang="en-US" sz="1200" dirty="0"/>
          </a:p>
        </p:txBody>
      </p:sp>
      <p:sp>
        <p:nvSpPr>
          <p:cNvPr id="24" name="Shape 22"/>
          <p:cNvSpPr/>
          <p:nvPr/>
        </p:nvSpPr>
        <p:spPr>
          <a:xfrm>
            <a:off x="2103120" y="2926080"/>
            <a:ext cx="3200400" cy="685800"/>
          </a:xfrm>
          <a:prstGeom prst="rect">
            <a:avLst/>
          </a:prstGeom>
          <a:solidFill>
            <a:srgbClr val="F3F4F6"/>
          </a:solidFill>
          <a:ln/>
        </p:spPr>
      </p:sp>
      <p:sp>
        <p:nvSpPr>
          <p:cNvPr id="25" name="Text 23"/>
          <p:cNvSpPr/>
          <p:nvPr/>
        </p:nvSpPr>
        <p:spPr>
          <a:xfrm>
            <a:off x="2194560" y="2926080"/>
            <a:ext cx="3017520" cy="685800"/>
          </a:xfrm>
          <a:prstGeom prst="rect">
            <a:avLst/>
          </a:prstGeom>
          <a:noFill/>
          <a:ln/>
        </p:spPr>
        <p:txBody>
          <a:bodyPr wrap="square" rtlCol="0" anchor="ctr"/>
          <a:lstStyle/>
          <a:p>
            <a:pPr indent="0" marL="0">
              <a:buNone/>
            </a:pPr>
            <a:r>
              <a:rPr lang="en-US" sz="1200" dirty="0">
                <a:solidFill>
                  <a:srgbClr val="374151"/>
                </a:solidFill>
                <a:latin typeface="Microsoft YaHei" pitchFamily="34" charset="0"/>
                <a:ea typeface="Microsoft YaHei" pitchFamily="34" charset="-122"/>
                <a:cs typeface="Microsoft YaHei" pitchFamily="34" charset="-120"/>
              </a:rPr>
              <a:t>高优先级的具体情形</a:t>
            </a:r>
            <a:endParaRPr lang="en-US" sz="1200" dirty="0"/>
          </a:p>
        </p:txBody>
      </p:sp>
      <p:sp>
        <p:nvSpPr>
          <p:cNvPr id="26" name="Shape 24"/>
          <p:cNvSpPr/>
          <p:nvPr/>
        </p:nvSpPr>
        <p:spPr>
          <a:xfrm>
            <a:off x="5303520" y="2926080"/>
            <a:ext cx="3383280" cy="685800"/>
          </a:xfrm>
          <a:prstGeom prst="rect">
            <a:avLst/>
          </a:prstGeom>
          <a:solidFill>
            <a:srgbClr val="F3F4F6"/>
          </a:solidFill>
          <a:ln/>
        </p:spPr>
      </p:sp>
      <p:sp>
        <p:nvSpPr>
          <p:cNvPr id="27" name="Text 25"/>
          <p:cNvSpPr/>
          <p:nvPr/>
        </p:nvSpPr>
        <p:spPr>
          <a:xfrm>
            <a:off x="5394960" y="2926080"/>
            <a:ext cx="3200400" cy="685800"/>
          </a:xfrm>
          <a:prstGeom prst="rect">
            <a:avLst/>
          </a:prstGeom>
          <a:noFill/>
          <a:ln/>
        </p:spPr>
        <p:txBody>
          <a:bodyPr wrap="square" rtlCol="0" anchor="ctr"/>
          <a:lstStyle/>
          <a:p>
            <a:pPr indent="0" marL="0">
              <a:buNone/>
            </a:pPr>
            <a:r>
              <a:rPr lang="en-US" sz="1200" dirty="0">
                <a:solidFill>
                  <a:srgbClr val="374151"/>
                </a:solidFill>
                <a:latin typeface="Microsoft YaHei" pitchFamily="34" charset="0"/>
                <a:ea typeface="Microsoft YaHei" pitchFamily="34" charset="-122"/>
                <a:cs typeface="Microsoft YaHei" pitchFamily="34" charset="-120"/>
              </a:rPr>
              <a:t>问自己：具体是什么触发？</a:t>
            </a:r>
            <a:endParaRPr lang="en-US" sz="1200" dirty="0"/>
          </a:p>
        </p:txBody>
      </p:sp>
      <p:sp>
        <p:nvSpPr>
          <p:cNvPr id="28" name="Shape 26"/>
          <p:cNvSpPr/>
          <p:nvPr/>
        </p:nvSpPr>
        <p:spPr>
          <a:xfrm>
            <a:off x="8503920" y="4663440"/>
            <a:ext cx="365760" cy="365760"/>
          </a:xfrm>
          <a:prstGeom prst="ellipse">
            <a:avLst/>
          </a:prstGeom>
          <a:solidFill>
            <a:srgbClr val="EF4444"/>
          </a:solidFill>
          <a:ln/>
        </p:spPr>
      </p:sp>
      <p:sp>
        <p:nvSpPr>
          <p:cNvPr id="29" name="Text 27"/>
          <p:cNvSpPr/>
          <p:nvPr/>
        </p:nvSpPr>
        <p:spPr>
          <a:xfrm>
            <a:off x="8503920" y="4663440"/>
            <a:ext cx="365760" cy="36576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32</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274320"/>
            <a:ext cx="8229600" cy="457200"/>
          </a:xfrm>
          <a:prstGeom prst="rect">
            <a:avLst/>
          </a:prstGeom>
          <a:noFill/>
          <a:ln/>
        </p:spPr>
        <p:txBody>
          <a:bodyPr wrap="square" rtlCol="0" anchor="ctr"/>
          <a:lstStyle/>
          <a:p>
            <a:pPr indent="0" marL="0">
              <a:buNone/>
            </a:pPr>
            <a:r>
              <a:rPr lang="en-US" sz="2400" b="1" dirty="0">
                <a:solidFill>
                  <a:srgbClr val="B91C1C"/>
                </a:solidFill>
                <a:latin typeface="Microsoft YaHei" pitchFamily="34" charset="0"/>
                <a:ea typeface="Microsoft YaHei" pitchFamily="34" charset="-122"/>
                <a:cs typeface="Microsoft YaHei" pitchFamily="34" charset="-120"/>
              </a:rPr>
              <a:t>规则写法的四个硬要求</a:t>
            </a:r>
            <a:endParaRPr lang="en-US" sz="2400" dirty="0"/>
          </a:p>
        </p:txBody>
      </p:sp>
      <p:sp>
        <p:nvSpPr>
          <p:cNvPr id="4" name="Shape 2"/>
          <p:cNvSpPr/>
          <p:nvPr/>
        </p:nvSpPr>
        <p:spPr>
          <a:xfrm>
            <a:off x="457200" y="914400"/>
            <a:ext cx="548640" cy="548640"/>
          </a:xfrm>
          <a:prstGeom prst="roundRect">
            <a:avLst>
              <a:gd name="adj" fmla="val 13333"/>
            </a:avLst>
          </a:prstGeom>
          <a:solidFill>
            <a:srgbClr val="EF4444"/>
          </a:solidFill>
          <a:ln/>
        </p:spPr>
      </p:sp>
      <p:sp>
        <p:nvSpPr>
          <p:cNvPr id="5" name="Text 3"/>
          <p:cNvSpPr/>
          <p:nvPr/>
        </p:nvSpPr>
        <p:spPr>
          <a:xfrm>
            <a:off x="457200" y="914400"/>
            <a:ext cx="548640" cy="54864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6" name="Text 4"/>
          <p:cNvSpPr/>
          <p:nvPr/>
        </p:nvSpPr>
        <p:spPr>
          <a:xfrm>
            <a:off x="1188720" y="914400"/>
            <a:ext cx="2743200" cy="320040"/>
          </a:xfrm>
          <a:prstGeom prst="rect">
            <a:avLst/>
          </a:prstGeom>
          <a:noFill/>
          <a:ln/>
        </p:spPr>
        <p:txBody>
          <a:bodyPr wrap="square" rtlCol="0" anchor="ctr"/>
          <a:lstStyle/>
          <a:p>
            <a:pPr indent="0" marL="0">
              <a:buNone/>
            </a:pPr>
            <a:r>
              <a:rPr lang="en-US" sz="1600" b="1" dirty="0">
                <a:solidFill>
                  <a:srgbClr val="B91C1C"/>
                </a:solidFill>
                <a:latin typeface="Microsoft YaHei" pitchFamily="34" charset="0"/>
                <a:ea typeface="Microsoft YaHei" pitchFamily="34" charset="-122"/>
                <a:cs typeface="Microsoft YaHei" pitchFamily="34" charset="-120"/>
              </a:rPr>
              <a:t>条件可识别</a:t>
            </a:r>
            <a:endParaRPr lang="en-US" sz="1600" dirty="0"/>
          </a:p>
        </p:txBody>
      </p:sp>
      <p:sp>
        <p:nvSpPr>
          <p:cNvPr id="7" name="Text 5"/>
          <p:cNvSpPr/>
          <p:nvPr/>
        </p:nvSpPr>
        <p:spPr>
          <a:xfrm>
            <a:off x="1188720" y="1234440"/>
            <a:ext cx="7315200" cy="27432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改成AI能检测到的信号</a:t>
            </a:r>
            <a:endParaRPr lang="en-US" sz="1300" dirty="0"/>
          </a:p>
        </p:txBody>
      </p:sp>
      <p:sp>
        <p:nvSpPr>
          <p:cNvPr id="8" name="Shape 6"/>
          <p:cNvSpPr/>
          <p:nvPr/>
        </p:nvSpPr>
        <p:spPr>
          <a:xfrm>
            <a:off x="457200" y="1828800"/>
            <a:ext cx="548640" cy="548640"/>
          </a:xfrm>
          <a:prstGeom prst="roundRect">
            <a:avLst>
              <a:gd name="adj" fmla="val 13333"/>
            </a:avLst>
          </a:prstGeom>
          <a:solidFill>
            <a:srgbClr val="EF4444"/>
          </a:solidFill>
          <a:ln/>
        </p:spPr>
      </p:sp>
      <p:sp>
        <p:nvSpPr>
          <p:cNvPr id="9" name="Text 7"/>
          <p:cNvSpPr/>
          <p:nvPr/>
        </p:nvSpPr>
        <p:spPr>
          <a:xfrm>
            <a:off x="457200" y="1828800"/>
            <a:ext cx="548640" cy="54864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10" name="Text 8"/>
          <p:cNvSpPr/>
          <p:nvPr/>
        </p:nvSpPr>
        <p:spPr>
          <a:xfrm>
            <a:off x="1188720" y="1828800"/>
            <a:ext cx="2743200" cy="320040"/>
          </a:xfrm>
          <a:prstGeom prst="rect">
            <a:avLst/>
          </a:prstGeom>
          <a:noFill/>
          <a:ln/>
        </p:spPr>
        <p:txBody>
          <a:bodyPr wrap="square" rtlCol="0" anchor="ctr"/>
          <a:lstStyle/>
          <a:p>
            <a:pPr indent="0" marL="0">
              <a:buNone/>
            </a:pPr>
            <a:r>
              <a:rPr lang="en-US" sz="1600" b="1" dirty="0">
                <a:solidFill>
                  <a:srgbClr val="B91C1C"/>
                </a:solidFill>
                <a:latin typeface="Microsoft YaHei" pitchFamily="34" charset="0"/>
                <a:ea typeface="Microsoft YaHei" pitchFamily="34" charset="-122"/>
                <a:cs typeface="Microsoft YaHei" pitchFamily="34" charset="-120"/>
              </a:rPr>
              <a:t>行动可执行</a:t>
            </a:r>
            <a:endParaRPr lang="en-US" sz="1600" dirty="0"/>
          </a:p>
        </p:txBody>
      </p:sp>
      <p:sp>
        <p:nvSpPr>
          <p:cNvPr id="11" name="Text 9"/>
          <p:cNvSpPr/>
          <p:nvPr/>
        </p:nvSpPr>
        <p:spPr>
          <a:xfrm>
            <a:off x="1188720" y="2148840"/>
            <a:ext cx="7315200" cy="27432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具体到AI可以直接做</a:t>
            </a:r>
            <a:endParaRPr lang="en-US" sz="1300" dirty="0"/>
          </a:p>
        </p:txBody>
      </p:sp>
      <p:sp>
        <p:nvSpPr>
          <p:cNvPr id="12" name="Shape 10"/>
          <p:cNvSpPr/>
          <p:nvPr/>
        </p:nvSpPr>
        <p:spPr>
          <a:xfrm>
            <a:off x="457200" y="2743200"/>
            <a:ext cx="548640" cy="548640"/>
          </a:xfrm>
          <a:prstGeom prst="roundRect">
            <a:avLst>
              <a:gd name="adj" fmla="val 13333"/>
            </a:avLst>
          </a:prstGeom>
          <a:solidFill>
            <a:srgbClr val="EF4444"/>
          </a:solidFill>
          <a:ln/>
        </p:spPr>
      </p:sp>
      <p:sp>
        <p:nvSpPr>
          <p:cNvPr id="13" name="Text 11"/>
          <p:cNvSpPr/>
          <p:nvPr/>
        </p:nvSpPr>
        <p:spPr>
          <a:xfrm>
            <a:off x="457200" y="2743200"/>
            <a:ext cx="548640" cy="54864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14" name="Text 12"/>
          <p:cNvSpPr/>
          <p:nvPr/>
        </p:nvSpPr>
        <p:spPr>
          <a:xfrm>
            <a:off x="1188720" y="2743200"/>
            <a:ext cx="2743200" cy="320040"/>
          </a:xfrm>
          <a:prstGeom prst="rect">
            <a:avLst/>
          </a:prstGeom>
          <a:noFill/>
          <a:ln/>
        </p:spPr>
        <p:txBody>
          <a:bodyPr wrap="square" rtlCol="0" anchor="ctr"/>
          <a:lstStyle/>
          <a:p>
            <a:pPr indent="0" marL="0">
              <a:buNone/>
            </a:pPr>
            <a:r>
              <a:rPr lang="en-US" sz="1600" b="1" dirty="0">
                <a:solidFill>
                  <a:srgbClr val="B91C1C"/>
                </a:solidFill>
                <a:latin typeface="Microsoft YaHei" pitchFamily="34" charset="0"/>
                <a:ea typeface="Microsoft YaHei" pitchFamily="34" charset="-122"/>
                <a:cs typeface="Microsoft YaHei" pitchFamily="34" charset="-120"/>
              </a:rPr>
              <a:t>关键规则用强制约束</a:t>
            </a:r>
            <a:endParaRPr lang="en-US" sz="1600" dirty="0"/>
          </a:p>
        </p:txBody>
      </p:sp>
      <p:sp>
        <p:nvSpPr>
          <p:cNvPr id="15" name="Text 13"/>
          <p:cNvSpPr/>
          <p:nvPr/>
        </p:nvSpPr>
        <p:spPr>
          <a:xfrm>
            <a:off x="1188720" y="3063240"/>
            <a:ext cx="7315200" cy="27432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必须/禁止</a:t>
            </a:r>
            <a:endParaRPr lang="en-US" sz="1300" dirty="0"/>
          </a:p>
        </p:txBody>
      </p:sp>
      <p:sp>
        <p:nvSpPr>
          <p:cNvPr id="16" name="Shape 14"/>
          <p:cNvSpPr/>
          <p:nvPr/>
        </p:nvSpPr>
        <p:spPr>
          <a:xfrm>
            <a:off x="457200" y="3657600"/>
            <a:ext cx="548640" cy="548640"/>
          </a:xfrm>
          <a:prstGeom prst="roundRect">
            <a:avLst>
              <a:gd name="adj" fmla="val 13333"/>
            </a:avLst>
          </a:prstGeom>
          <a:solidFill>
            <a:srgbClr val="EF4444"/>
          </a:solidFill>
          <a:ln/>
        </p:spPr>
      </p:sp>
      <p:sp>
        <p:nvSpPr>
          <p:cNvPr id="17" name="Text 15"/>
          <p:cNvSpPr/>
          <p:nvPr/>
        </p:nvSpPr>
        <p:spPr>
          <a:xfrm>
            <a:off x="457200" y="3657600"/>
            <a:ext cx="548640" cy="54864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4</a:t>
            </a:r>
            <a:endParaRPr lang="en-US" sz="2000" dirty="0"/>
          </a:p>
        </p:txBody>
      </p:sp>
      <p:sp>
        <p:nvSpPr>
          <p:cNvPr id="18" name="Text 16"/>
          <p:cNvSpPr/>
          <p:nvPr/>
        </p:nvSpPr>
        <p:spPr>
          <a:xfrm>
            <a:off x="1188720" y="3657600"/>
            <a:ext cx="2743200" cy="320040"/>
          </a:xfrm>
          <a:prstGeom prst="rect">
            <a:avLst/>
          </a:prstGeom>
          <a:noFill/>
          <a:ln/>
        </p:spPr>
        <p:txBody>
          <a:bodyPr wrap="square" rtlCol="0" anchor="ctr"/>
          <a:lstStyle/>
          <a:p>
            <a:pPr indent="0" marL="0">
              <a:buNone/>
            </a:pPr>
            <a:r>
              <a:rPr lang="en-US" sz="1600" b="1" dirty="0">
                <a:solidFill>
                  <a:srgbClr val="B91C1C"/>
                </a:solidFill>
                <a:latin typeface="Microsoft YaHei" pitchFamily="34" charset="0"/>
                <a:ea typeface="Microsoft YaHei" pitchFamily="34" charset="-122"/>
                <a:cs typeface="Microsoft YaHei" pitchFamily="34" charset="-120"/>
              </a:rPr>
              <a:t>兜底规则不缺席</a:t>
            </a:r>
            <a:endParaRPr lang="en-US" sz="1600" dirty="0"/>
          </a:p>
        </p:txBody>
      </p:sp>
      <p:sp>
        <p:nvSpPr>
          <p:cNvPr id="19" name="Text 17"/>
          <p:cNvSpPr/>
          <p:nvPr/>
        </p:nvSpPr>
        <p:spPr>
          <a:xfrm>
            <a:off x="1188720" y="3977640"/>
            <a:ext cx="7315200" cy="27432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遇到不确定情况怎么办</a:t>
            </a:r>
            <a:endParaRPr lang="en-US" sz="1300" dirty="0"/>
          </a:p>
        </p:txBody>
      </p:sp>
      <p:sp>
        <p:nvSpPr>
          <p:cNvPr id="20" name="Shape 18"/>
          <p:cNvSpPr/>
          <p:nvPr/>
        </p:nvSpPr>
        <p:spPr>
          <a:xfrm>
            <a:off x="8503920" y="4663440"/>
            <a:ext cx="365760" cy="365760"/>
          </a:xfrm>
          <a:prstGeom prst="ellipse">
            <a:avLst/>
          </a:prstGeom>
          <a:solidFill>
            <a:srgbClr val="EF4444"/>
          </a:solidFill>
          <a:ln/>
        </p:spPr>
      </p:sp>
      <p:sp>
        <p:nvSpPr>
          <p:cNvPr id="21" name="Text 19"/>
          <p:cNvSpPr/>
          <p:nvPr/>
        </p:nvSpPr>
        <p:spPr>
          <a:xfrm>
            <a:off x="8503920" y="4663440"/>
            <a:ext cx="365760" cy="36576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33</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274320"/>
            <a:ext cx="8229600" cy="457200"/>
          </a:xfrm>
          <a:prstGeom prst="rect">
            <a:avLst/>
          </a:prstGeom>
          <a:noFill/>
          <a:ln/>
        </p:spPr>
        <p:txBody>
          <a:bodyPr wrap="square" rtlCol="0" anchor="ctr"/>
          <a:lstStyle/>
          <a:p>
            <a:pPr indent="0" marL="0">
              <a:buNone/>
            </a:pPr>
            <a:r>
              <a:rPr lang="en-US" sz="2400" b="1" dirty="0">
                <a:solidFill>
                  <a:srgbClr val="B91C1C"/>
                </a:solidFill>
                <a:latin typeface="Microsoft YaHei" pitchFamily="34" charset="0"/>
                <a:ea typeface="Microsoft YaHei" pitchFamily="34" charset="-122"/>
                <a:cs typeface="Microsoft YaHei" pitchFamily="34" charset="-120"/>
              </a:rPr>
              <a:t>不同岗位的萃取重点</a:t>
            </a:r>
            <a:endParaRPr lang="en-US" sz="2400" dirty="0"/>
          </a:p>
        </p:txBody>
      </p:sp>
      <p:sp>
        <p:nvSpPr>
          <p:cNvPr id="4" name="Shape 2"/>
          <p:cNvSpPr/>
          <p:nvPr/>
        </p:nvSpPr>
        <p:spPr>
          <a:xfrm>
            <a:off x="457200" y="822960"/>
            <a:ext cx="2011680" cy="594360"/>
          </a:xfrm>
          <a:prstGeom prst="roundRect">
            <a:avLst>
              <a:gd name="adj" fmla="val 12308"/>
            </a:avLst>
          </a:prstGeom>
          <a:solidFill>
            <a:srgbClr val="B91C1C"/>
          </a:solidFill>
          <a:ln/>
        </p:spPr>
      </p:sp>
      <p:sp>
        <p:nvSpPr>
          <p:cNvPr id="5" name="Text 3"/>
          <p:cNvSpPr/>
          <p:nvPr/>
        </p:nvSpPr>
        <p:spPr>
          <a:xfrm>
            <a:off x="457200" y="822960"/>
            <a:ext cx="2011680" cy="594360"/>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销售/客户成功</a:t>
            </a:r>
            <a:endParaRPr lang="en-US" sz="1200" dirty="0"/>
          </a:p>
        </p:txBody>
      </p:sp>
      <p:sp>
        <p:nvSpPr>
          <p:cNvPr id="6" name="Shape 4"/>
          <p:cNvSpPr/>
          <p:nvPr/>
        </p:nvSpPr>
        <p:spPr>
          <a:xfrm>
            <a:off x="2651760" y="822960"/>
            <a:ext cx="6035040" cy="594360"/>
          </a:xfrm>
          <a:prstGeom prst="roundRect">
            <a:avLst>
              <a:gd name="adj" fmla="val 12308"/>
            </a:avLst>
          </a:prstGeom>
          <a:solidFill>
            <a:srgbClr val="F3F4F6"/>
          </a:solidFill>
          <a:ln/>
        </p:spPr>
      </p:sp>
      <p:sp>
        <p:nvSpPr>
          <p:cNvPr id="7" name="Text 5"/>
          <p:cNvSpPr/>
          <p:nvPr/>
        </p:nvSpPr>
        <p:spPr>
          <a:xfrm>
            <a:off x="2834640" y="822960"/>
            <a:ext cx="5852160" cy="59436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赢单信号、客户分层、话术优先级</a:t>
            </a:r>
            <a:endParaRPr lang="en-US" sz="1300" dirty="0"/>
          </a:p>
        </p:txBody>
      </p:sp>
      <p:sp>
        <p:nvSpPr>
          <p:cNvPr id="8" name="Shape 6"/>
          <p:cNvSpPr/>
          <p:nvPr/>
        </p:nvSpPr>
        <p:spPr>
          <a:xfrm>
            <a:off x="457200" y="1554480"/>
            <a:ext cx="2011680" cy="594360"/>
          </a:xfrm>
          <a:prstGeom prst="roundRect">
            <a:avLst>
              <a:gd name="adj" fmla="val 12308"/>
            </a:avLst>
          </a:prstGeom>
          <a:solidFill>
            <a:srgbClr val="B91C1C"/>
          </a:solidFill>
          <a:ln/>
        </p:spPr>
      </p:sp>
      <p:sp>
        <p:nvSpPr>
          <p:cNvPr id="9" name="Text 7"/>
          <p:cNvSpPr/>
          <p:nvPr/>
        </p:nvSpPr>
        <p:spPr>
          <a:xfrm>
            <a:off x="457200" y="1554480"/>
            <a:ext cx="2011680" cy="594360"/>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客服/运营</a:t>
            </a:r>
            <a:endParaRPr lang="en-US" sz="1200" dirty="0"/>
          </a:p>
        </p:txBody>
      </p:sp>
      <p:sp>
        <p:nvSpPr>
          <p:cNvPr id="10" name="Shape 8"/>
          <p:cNvSpPr/>
          <p:nvPr/>
        </p:nvSpPr>
        <p:spPr>
          <a:xfrm>
            <a:off x="2651760" y="1554480"/>
            <a:ext cx="6035040" cy="594360"/>
          </a:xfrm>
          <a:prstGeom prst="roundRect">
            <a:avLst>
              <a:gd name="adj" fmla="val 12308"/>
            </a:avLst>
          </a:prstGeom>
          <a:solidFill>
            <a:srgbClr val="F3F4F6"/>
          </a:solidFill>
          <a:ln/>
        </p:spPr>
      </p:sp>
      <p:sp>
        <p:nvSpPr>
          <p:cNvPr id="11" name="Text 9"/>
          <p:cNvSpPr/>
          <p:nvPr/>
        </p:nvSpPr>
        <p:spPr>
          <a:xfrm>
            <a:off x="2834640" y="1554480"/>
            <a:ext cx="5852160" cy="59436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问题分类树、升级触发、情绪识别</a:t>
            </a:r>
            <a:endParaRPr lang="en-US" sz="1300" dirty="0"/>
          </a:p>
        </p:txBody>
      </p:sp>
      <p:sp>
        <p:nvSpPr>
          <p:cNvPr id="12" name="Shape 10"/>
          <p:cNvSpPr/>
          <p:nvPr/>
        </p:nvSpPr>
        <p:spPr>
          <a:xfrm>
            <a:off x="457200" y="2286000"/>
            <a:ext cx="2011680" cy="594360"/>
          </a:xfrm>
          <a:prstGeom prst="roundRect">
            <a:avLst>
              <a:gd name="adj" fmla="val 12308"/>
            </a:avLst>
          </a:prstGeom>
          <a:solidFill>
            <a:srgbClr val="B91C1C"/>
          </a:solidFill>
          <a:ln/>
        </p:spPr>
      </p:sp>
      <p:sp>
        <p:nvSpPr>
          <p:cNvPr id="13" name="Text 11"/>
          <p:cNvSpPr/>
          <p:nvPr/>
        </p:nvSpPr>
        <p:spPr>
          <a:xfrm>
            <a:off x="457200" y="2286000"/>
            <a:ext cx="2011680" cy="594360"/>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运营/数据</a:t>
            </a:r>
            <a:endParaRPr lang="en-US" sz="1200" dirty="0"/>
          </a:p>
        </p:txBody>
      </p:sp>
      <p:sp>
        <p:nvSpPr>
          <p:cNvPr id="14" name="Shape 12"/>
          <p:cNvSpPr/>
          <p:nvPr/>
        </p:nvSpPr>
        <p:spPr>
          <a:xfrm>
            <a:off x="2651760" y="2286000"/>
            <a:ext cx="6035040" cy="594360"/>
          </a:xfrm>
          <a:prstGeom prst="roundRect">
            <a:avLst>
              <a:gd name="adj" fmla="val 12308"/>
            </a:avLst>
          </a:prstGeom>
          <a:solidFill>
            <a:srgbClr val="F3F4F6"/>
          </a:solidFill>
          <a:ln/>
        </p:spPr>
      </p:sp>
      <p:sp>
        <p:nvSpPr>
          <p:cNvPr id="15" name="Text 13"/>
          <p:cNvSpPr/>
          <p:nvPr/>
        </p:nvSpPr>
        <p:spPr>
          <a:xfrm>
            <a:off x="2834640" y="2286000"/>
            <a:ext cx="5852160" cy="59436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数据异常阈值、内容质量标准、异常原因假设</a:t>
            </a:r>
            <a:endParaRPr lang="en-US" sz="1300" dirty="0"/>
          </a:p>
        </p:txBody>
      </p:sp>
      <p:sp>
        <p:nvSpPr>
          <p:cNvPr id="16" name="Shape 14"/>
          <p:cNvSpPr/>
          <p:nvPr/>
        </p:nvSpPr>
        <p:spPr>
          <a:xfrm>
            <a:off x="457200" y="3017520"/>
            <a:ext cx="2011680" cy="594360"/>
          </a:xfrm>
          <a:prstGeom prst="roundRect">
            <a:avLst>
              <a:gd name="adj" fmla="val 12308"/>
            </a:avLst>
          </a:prstGeom>
          <a:solidFill>
            <a:srgbClr val="B91C1C"/>
          </a:solidFill>
          <a:ln/>
        </p:spPr>
      </p:sp>
      <p:sp>
        <p:nvSpPr>
          <p:cNvPr id="17" name="Text 15"/>
          <p:cNvSpPr/>
          <p:nvPr/>
        </p:nvSpPr>
        <p:spPr>
          <a:xfrm>
            <a:off x="457200" y="3017520"/>
            <a:ext cx="2011680" cy="594360"/>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产品/需求</a:t>
            </a:r>
            <a:endParaRPr lang="en-US" sz="1200" dirty="0"/>
          </a:p>
        </p:txBody>
      </p:sp>
      <p:sp>
        <p:nvSpPr>
          <p:cNvPr id="18" name="Shape 16"/>
          <p:cNvSpPr/>
          <p:nvPr/>
        </p:nvSpPr>
        <p:spPr>
          <a:xfrm>
            <a:off x="2651760" y="3017520"/>
            <a:ext cx="6035040" cy="594360"/>
          </a:xfrm>
          <a:prstGeom prst="roundRect">
            <a:avLst>
              <a:gd name="adj" fmla="val 12308"/>
            </a:avLst>
          </a:prstGeom>
          <a:solidFill>
            <a:srgbClr val="F3F4F6"/>
          </a:solidFill>
          <a:ln/>
        </p:spPr>
      </p:sp>
      <p:sp>
        <p:nvSpPr>
          <p:cNvPr id="19" name="Text 17"/>
          <p:cNvSpPr/>
          <p:nvPr/>
        </p:nvSpPr>
        <p:spPr>
          <a:xfrm>
            <a:off x="2834640" y="3017520"/>
            <a:ext cx="5852160" cy="59436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需求有效性、优先级框架、反馈有效性</a:t>
            </a:r>
            <a:endParaRPr lang="en-US" sz="1300" dirty="0"/>
          </a:p>
        </p:txBody>
      </p:sp>
      <p:sp>
        <p:nvSpPr>
          <p:cNvPr id="20" name="Shape 18"/>
          <p:cNvSpPr/>
          <p:nvPr/>
        </p:nvSpPr>
        <p:spPr>
          <a:xfrm>
            <a:off x="457200" y="3749040"/>
            <a:ext cx="2011680" cy="594360"/>
          </a:xfrm>
          <a:prstGeom prst="roundRect">
            <a:avLst>
              <a:gd name="adj" fmla="val 12308"/>
            </a:avLst>
          </a:prstGeom>
          <a:solidFill>
            <a:srgbClr val="B91C1C"/>
          </a:solidFill>
          <a:ln/>
        </p:spPr>
      </p:sp>
      <p:sp>
        <p:nvSpPr>
          <p:cNvPr id="21" name="Text 19"/>
          <p:cNvSpPr/>
          <p:nvPr/>
        </p:nvSpPr>
        <p:spPr>
          <a:xfrm>
            <a:off x="457200" y="3749040"/>
            <a:ext cx="2011680" cy="594360"/>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财务/合规</a:t>
            </a:r>
            <a:endParaRPr lang="en-US" sz="1200" dirty="0"/>
          </a:p>
        </p:txBody>
      </p:sp>
      <p:sp>
        <p:nvSpPr>
          <p:cNvPr id="22" name="Shape 20"/>
          <p:cNvSpPr/>
          <p:nvPr/>
        </p:nvSpPr>
        <p:spPr>
          <a:xfrm>
            <a:off x="2651760" y="3749040"/>
            <a:ext cx="6035040" cy="594360"/>
          </a:xfrm>
          <a:prstGeom prst="roundRect">
            <a:avLst>
              <a:gd name="adj" fmla="val 12308"/>
            </a:avLst>
          </a:prstGeom>
          <a:solidFill>
            <a:srgbClr val="F3F4F6"/>
          </a:solidFill>
          <a:ln/>
        </p:spPr>
      </p:sp>
      <p:sp>
        <p:nvSpPr>
          <p:cNvPr id="23" name="Text 21"/>
          <p:cNvSpPr/>
          <p:nvPr/>
        </p:nvSpPr>
        <p:spPr>
          <a:xfrm>
            <a:off x="2834640" y="3749040"/>
            <a:ext cx="5852160" cy="59436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风险识别、审核流程、格式合规</a:t>
            </a:r>
            <a:endParaRPr lang="en-US" sz="1300" dirty="0"/>
          </a:p>
        </p:txBody>
      </p:sp>
      <p:sp>
        <p:nvSpPr>
          <p:cNvPr id="24" name="Shape 22"/>
          <p:cNvSpPr/>
          <p:nvPr/>
        </p:nvSpPr>
        <p:spPr>
          <a:xfrm>
            <a:off x="8503920" y="4663440"/>
            <a:ext cx="365760" cy="365760"/>
          </a:xfrm>
          <a:prstGeom prst="ellipse">
            <a:avLst/>
          </a:prstGeom>
          <a:solidFill>
            <a:srgbClr val="EF4444"/>
          </a:solidFill>
          <a:ln/>
        </p:spPr>
      </p:sp>
      <p:sp>
        <p:nvSpPr>
          <p:cNvPr id="25" name="Text 23"/>
          <p:cNvSpPr/>
          <p:nvPr/>
        </p:nvSpPr>
        <p:spPr>
          <a:xfrm>
            <a:off x="8503920" y="4663440"/>
            <a:ext cx="365760" cy="36576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34</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274320"/>
            <a:ext cx="8229600" cy="457200"/>
          </a:xfrm>
          <a:prstGeom prst="rect">
            <a:avLst/>
          </a:prstGeom>
          <a:noFill/>
          <a:ln/>
        </p:spPr>
        <p:txBody>
          <a:bodyPr wrap="square" rtlCol="0" anchor="ctr"/>
          <a:lstStyle/>
          <a:p>
            <a:pPr indent="0" marL="0">
              <a:buNone/>
            </a:pPr>
            <a:r>
              <a:rPr lang="en-US" sz="2400" b="1" dirty="0">
                <a:solidFill>
                  <a:srgbClr val="B91C1C"/>
                </a:solidFill>
                <a:latin typeface="Microsoft YaHei" pitchFamily="34" charset="0"/>
                <a:ea typeface="Microsoft YaHei" pitchFamily="34" charset="-122"/>
                <a:cs typeface="Microsoft YaHei" pitchFamily="34" charset="-120"/>
              </a:rPr>
              <a:t>练习四：填写业务规则表</a:t>
            </a:r>
            <a:endParaRPr lang="en-US" sz="2400" dirty="0"/>
          </a:p>
        </p:txBody>
      </p:sp>
      <p:sp>
        <p:nvSpPr>
          <p:cNvPr id="4" name="Shape 2"/>
          <p:cNvSpPr/>
          <p:nvPr/>
        </p:nvSpPr>
        <p:spPr>
          <a:xfrm>
            <a:off x="457200" y="1097280"/>
            <a:ext cx="8229600" cy="685800"/>
          </a:xfrm>
          <a:prstGeom prst="roundRect">
            <a:avLst>
              <a:gd name="adj" fmla="val 10667"/>
            </a:avLst>
          </a:prstGeom>
          <a:solidFill>
            <a:srgbClr val="F3F4F6"/>
          </a:solidFill>
          <a:ln/>
        </p:spPr>
      </p:sp>
      <p:sp>
        <p:nvSpPr>
          <p:cNvPr id="5" name="Shape 3"/>
          <p:cNvSpPr/>
          <p:nvPr/>
        </p:nvSpPr>
        <p:spPr>
          <a:xfrm>
            <a:off x="640080" y="1207008"/>
            <a:ext cx="457200" cy="457200"/>
          </a:xfrm>
          <a:prstGeom prst="ellipse">
            <a:avLst/>
          </a:prstGeom>
          <a:solidFill>
            <a:srgbClr val="EF4444"/>
          </a:solidFill>
          <a:ln/>
        </p:spPr>
      </p:sp>
      <p:sp>
        <p:nvSpPr>
          <p:cNvPr id="6" name="Text 4"/>
          <p:cNvSpPr/>
          <p:nvPr/>
        </p:nvSpPr>
        <p:spPr>
          <a:xfrm>
            <a:off x="640080" y="1207008"/>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p:nvPr/>
        </p:nvSpPr>
        <p:spPr>
          <a:xfrm>
            <a:off x="1280160" y="1097280"/>
            <a:ext cx="7223760" cy="685800"/>
          </a:xfrm>
          <a:prstGeom prst="rect">
            <a:avLst/>
          </a:prstGeom>
          <a:noFill/>
          <a:ln/>
        </p:spPr>
        <p:txBody>
          <a:bodyPr wrap="square" rtlCol="0" anchor="ctr"/>
          <a:lstStyle/>
          <a:p>
            <a:pPr indent="0" marL="0">
              <a:buNone/>
            </a:pPr>
            <a:r>
              <a:rPr lang="en-US" sz="1600" dirty="0">
                <a:solidFill>
                  <a:srgbClr val="B91C1C"/>
                </a:solidFill>
                <a:latin typeface="Microsoft YaHei" pitchFamily="34" charset="0"/>
                <a:ea typeface="Microsoft YaHei" pitchFamily="34" charset="-122"/>
                <a:cs typeface="Microsoft YaHei" pitchFamily="34" charset="-120"/>
              </a:rPr>
              <a:t>针对两个数字员工分别填写</a:t>
            </a:r>
            <a:endParaRPr lang="en-US" sz="1600" dirty="0"/>
          </a:p>
        </p:txBody>
      </p:sp>
      <p:sp>
        <p:nvSpPr>
          <p:cNvPr id="8" name="Shape 6"/>
          <p:cNvSpPr/>
          <p:nvPr/>
        </p:nvSpPr>
        <p:spPr>
          <a:xfrm>
            <a:off x="457200" y="1920240"/>
            <a:ext cx="8229600" cy="685800"/>
          </a:xfrm>
          <a:prstGeom prst="roundRect">
            <a:avLst>
              <a:gd name="adj" fmla="val 10667"/>
            </a:avLst>
          </a:prstGeom>
          <a:solidFill>
            <a:srgbClr val="F3F4F6"/>
          </a:solidFill>
          <a:ln/>
        </p:spPr>
      </p:sp>
      <p:sp>
        <p:nvSpPr>
          <p:cNvPr id="9" name="Shape 7"/>
          <p:cNvSpPr/>
          <p:nvPr/>
        </p:nvSpPr>
        <p:spPr>
          <a:xfrm>
            <a:off x="640080" y="2029968"/>
            <a:ext cx="457200" cy="457200"/>
          </a:xfrm>
          <a:prstGeom prst="ellipse">
            <a:avLst/>
          </a:prstGeom>
          <a:solidFill>
            <a:srgbClr val="EF4444"/>
          </a:solidFill>
          <a:ln/>
        </p:spPr>
      </p:sp>
      <p:sp>
        <p:nvSpPr>
          <p:cNvPr id="10" name="Text 8"/>
          <p:cNvSpPr/>
          <p:nvPr/>
        </p:nvSpPr>
        <p:spPr>
          <a:xfrm>
            <a:off x="640080" y="2029968"/>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1" name="Text 9"/>
          <p:cNvSpPr/>
          <p:nvPr/>
        </p:nvSpPr>
        <p:spPr>
          <a:xfrm>
            <a:off x="1280160" y="1920240"/>
            <a:ext cx="7223760" cy="685800"/>
          </a:xfrm>
          <a:prstGeom prst="rect">
            <a:avLst/>
          </a:prstGeom>
          <a:noFill/>
          <a:ln/>
        </p:spPr>
        <p:txBody>
          <a:bodyPr wrap="square" rtlCol="0" anchor="ctr"/>
          <a:lstStyle/>
          <a:p>
            <a:pPr indent="0" marL="0">
              <a:buNone/>
            </a:pPr>
            <a:r>
              <a:rPr lang="en-US" sz="1600" dirty="0">
                <a:solidFill>
                  <a:srgbClr val="B91C1C"/>
                </a:solidFill>
                <a:latin typeface="Microsoft YaHei" pitchFamily="34" charset="0"/>
                <a:ea typeface="Microsoft YaHei" pitchFamily="34" charset="-122"/>
                <a:cs typeface="Microsoft YaHei" pitchFamily="34" charset="-120"/>
              </a:rPr>
              <a:t>每份至少8条核心规则</a:t>
            </a:r>
            <a:endParaRPr lang="en-US" sz="1600" dirty="0"/>
          </a:p>
        </p:txBody>
      </p:sp>
      <p:sp>
        <p:nvSpPr>
          <p:cNvPr id="12" name="Shape 10"/>
          <p:cNvSpPr/>
          <p:nvPr/>
        </p:nvSpPr>
        <p:spPr>
          <a:xfrm>
            <a:off x="457200" y="2743200"/>
            <a:ext cx="8229600" cy="685800"/>
          </a:xfrm>
          <a:prstGeom prst="roundRect">
            <a:avLst>
              <a:gd name="adj" fmla="val 10667"/>
            </a:avLst>
          </a:prstGeom>
          <a:solidFill>
            <a:srgbClr val="F3F4F6"/>
          </a:solidFill>
          <a:ln/>
        </p:spPr>
      </p:sp>
      <p:sp>
        <p:nvSpPr>
          <p:cNvPr id="13" name="Shape 11"/>
          <p:cNvSpPr/>
          <p:nvPr/>
        </p:nvSpPr>
        <p:spPr>
          <a:xfrm>
            <a:off x="640080" y="2852928"/>
            <a:ext cx="457200" cy="457200"/>
          </a:xfrm>
          <a:prstGeom prst="ellipse">
            <a:avLst/>
          </a:prstGeom>
          <a:solidFill>
            <a:srgbClr val="EF4444"/>
          </a:solidFill>
          <a:ln/>
        </p:spPr>
      </p:sp>
      <p:sp>
        <p:nvSpPr>
          <p:cNvPr id="14" name="Text 12"/>
          <p:cNvSpPr/>
          <p:nvPr/>
        </p:nvSpPr>
        <p:spPr>
          <a:xfrm>
            <a:off x="640080" y="2852928"/>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5" name="Text 13"/>
          <p:cNvSpPr/>
          <p:nvPr/>
        </p:nvSpPr>
        <p:spPr>
          <a:xfrm>
            <a:off x="1280160" y="2743200"/>
            <a:ext cx="7223760" cy="685800"/>
          </a:xfrm>
          <a:prstGeom prst="rect">
            <a:avLst/>
          </a:prstGeom>
          <a:noFill/>
          <a:ln/>
        </p:spPr>
        <p:txBody>
          <a:bodyPr wrap="square" rtlCol="0" anchor="ctr"/>
          <a:lstStyle/>
          <a:p>
            <a:pPr indent="0" marL="0">
              <a:buNone/>
            </a:pPr>
            <a:r>
              <a:rPr lang="en-US" sz="1600" dirty="0">
                <a:solidFill>
                  <a:srgbClr val="B91C1C"/>
                </a:solidFill>
                <a:latin typeface="Microsoft YaHei" pitchFamily="34" charset="0"/>
                <a:ea typeface="Microsoft YaHei" pitchFamily="34" charset="-122"/>
                <a:cs typeface="Microsoft YaHei" pitchFamily="34" charset="-120"/>
              </a:rPr>
              <a:t>使用真实工作记录作为规则来源</a:t>
            </a:r>
            <a:endParaRPr lang="en-US" sz="1600" dirty="0"/>
          </a:p>
        </p:txBody>
      </p:sp>
      <p:sp>
        <p:nvSpPr>
          <p:cNvPr id="16" name="Shape 14"/>
          <p:cNvSpPr/>
          <p:nvPr/>
        </p:nvSpPr>
        <p:spPr>
          <a:xfrm>
            <a:off x="457200" y="3566160"/>
            <a:ext cx="8229600" cy="685800"/>
          </a:xfrm>
          <a:prstGeom prst="roundRect">
            <a:avLst>
              <a:gd name="adj" fmla="val 10667"/>
            </a:avLst>
          </a:prstGeom>
          <a:solidFill>
            <a:srgbClr val="F3F4F6"/>
          </a:solidFill>
          <a:ln/>
        </p:spPr>
      </p:sp>
      <p:sp>
        <p:nvSpPr>
          <p:cNvPr id="17" name="Shape 15"/>
          <p:cNvSpPr/>
          <p:nvPr/>
        </p:nvSpPr>
        <p:spPr>
          <a:xfrm>
            <a:off x="640080" y="3675888"/>
            <a:ext cx="457200" cy="457200"/>
          </a:xfrm>
          <a:prstGeom prst="ellipse">
            <a:avLst/>
          </a:prstGeom>
          <a:solidFill>
            <a:srgbClr val="EF4444"/>
          </a:solidFill>
          <a:ln/>
        </p:spPr>
      </p:sp>
      <p:sp>
        <p:nvSpPr>
          <p:cNvPr id="18" name="Text 16"/>
          <p:cNvSpPr/>
          <p:nvPr/>
        </p:nvSpPr>
        <p:spPr>
          <a:xfrm>
            <a:off x="640080" y="3675888"/>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9" name="Text 17"/>
          <p:cNvSpPr/>
          <p:nvPr/>
        </p:nvSpPr>
        <p:spPr>
          <a:xfrm>
            <a:off x="1280160" y="3566160"/>
            <a:ext cx="7223760" cy="685800"/>
          </a:xfrm>
          <a:prstGeom prst="rect">
            <a:avLst/>
          </a:prstGeom>
          <a:noFill/>
          <a:ln/>
        </p:spPr>
        <p:txBody>
          <a:bodyPr wrap="square" rtlCol="0" anchor="ctr"/>
          <a:lstStyle/>
          <a:p>
            <a:pPr indent="0" marL="0">
              <a:buNone/>
            </a:pPr>
            <a:r>
              <a:rPr lang="en-US" sz="1600" dirty="0">
                <a:solidFill>
                  <a:srgbClr val="B91C1C"/>
                </a:solidFill>
                <a:latin typeface="Microsoft YaHei" pitchFamily="34" charset="0"/>
                <a:ea typeface="Microsoft YaHei" pitchFamily="34" charset="-122"/>
                <a:cs typeface="Microsoft YaHei" pitchFamily="34" charset="-120"/>
              </a:rPr>
              <a:t>给自己25分钟</a:t>
            </a:r>
            <a:endParaRPr lang="en-US" sz="1600" dirty="0"/>
          </a:p>
        </p:txBody>
      </p:sp>
      <p:sp>
        <p:nvSpPr>
          <p:cNvPr id="20" name="Shape 18"/>
          <p:cNvSpPr/>
          <p:nvPr/>
        </p:nvSpPr>
        <p:spPr>
          <a:xfrm>
            <a:off x="8503920" y="4663440"/>
            <a:ext cx="365760" cy="365760"/>
          </a:xfrm>
          <a:prstGeom prst="ellipse">
            <a:avLst/>
          </a:prstGeom>
          <a:solidFill>
            <a:srgbClr val="EF4444"/>
          </a:solidFill>
          <a:ln/>
        </p:spPr>
      </p:sp>
      <p:sp>
        <p:nvSpPr>
          <p:cNvPr id="21" name="Text 19"/>
          <p:cNvSpPr/>
          <p:nvPr/>
        </p:nvSpPr>
        <p:spPr>
          <a:xfrm>
            <a:off x="8503920" y="4663440"/>
            <a:ext cx="365760" cy="36576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35</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274320"/>
            <a:ext cx="8229600" cy="457200"/>
          </a:xfrm>
          <a:prstGeom prst="rect">
            <a:avLst/>
          </a:prstGeom>
          <a:noFill/>
          <a:ln/>
        </p:spPr>
        <p:txBody>
          <a:bodyPr wrap="square" rtlCol="0" anchor="ctr"/>
          <a:lstStyle/>
          <a:p>
            <a:pPr indent="0" marL="0">
              <a:buNone/>
            </a:pPr>
            <a:r>
              <a:rPr lang="en-US" sz="2400" b="1" dirty="0">
                <a:solidFill>
                  <a:srgbClr val="B91C1C"/>
                </a:solidFill>
                <a:latin typeface="Microsoft YaHei" pitchFamily="34" charset="0"/>
                <a:ea typeface="Microsoft YaHei" pitchFamily="34" charset="-122"/>
                <a:cs typeface="Microsoft YaHei" pitchFamily="34" charset="-120"/>
              </a:rPr>
              <a:t>规则完整性自查方法</a:t>
            </a:r>
            <a:endParaRPr lang="en-US" sz="2400" dirty="0"/>
          </a:p>
        </p:txBody>
      </p:sp>
      <p:sp>
        <p:nvSpPr>
          <p:cNvPr id="4" name="Text 2"/>
          <p:cNvSpPr/>
          <p:nvPr/>
        </p:nvSpPr>
        <p:spPr>
          <a:xfrm>
            <a:off x="457200" y="777240"/>
            <a:ext cx="8229600" cy="320040"/>
          </a:xfrm>
          <a:prstGeom prst="rect">
            <a:avLst/>
          </a:prstGeom>
          <a:noFill/>
          <a:ln/>
        </p:spPr>
        <p:txBody>
          <a:bodyPr wrap="square" rtlCol="0" anchor="ctr"/>
          <a:lstStyle/>
          <a:p>
            <a:pPr indent="0" marL="0">
              <a:buNone/>
            </a:pPr>
            <a:r>
              <a:rPr lang="en-US" sz="1400" dirty="0">
                <a:solidFill>
                  <a:srgbClr val="374151"/>
                </a:solidFill>
                <a:latin typeface="Microsoft YaHei" pitchFamily="34" charset="0"/>
                <a:ea typeface="Microsoft YaHei" pitchFamily="34" charset="-122"/>
                <a:cs typeface="Microsoft YaHei" pitchFamily="34" charset="-120"/>
              </a:rPr>
              <a:t>四个自查问题</a:t>
            </a:r>
            <a:endParaRPr lang="en-US" sz="1400" dirty="0"/>
          </a:p>
        </p:txBody>
      </p:sp>
      <p:sp>
        <p:nvSpPr>
          <p:cNvPr id="5" name="Shape 3"/>
          <p:cNvSpPr/>
          <p:nvPr/>
        </p:nvSpPr>
        <p:spPr>
          <a:xfrm>
            <a:off x="457200" y="1280160"/>
            <a:ext cx="548640" cy="548640"/>
          </a:xfrm>
          <a:prstGeom prst="roundRect">
            <a:avLst>
              <a:gd name="adj" fmla="val 13333"/>
            </a:avLst>
          </a:prstGeom>
          <a:solidFill>
            <a:srgbClr val="EF4444"/>
          </a:solidFill>
          <a:ln/>
        </p:spPr>
      </p:sp>
      <p:sp>
        <p:nvSpPr>
          <p:cNvPr id="6" name="Text 4"/>
          <p:cNvSpPr/>
          <p:nvPr/>
        </p:nvSpPr>
        <p:spPr>
          <a:xfrm>
            <a:off x="457200" y="1280160"/>
            <a:ext cx="548640" cy="54864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7" name="Text 5"/>
          <p:cNvSpPr/>
          <p:nvPr/>
        </p:nvSpPr>
        <p:spPr>
          <a:xfrm>
            <a:off x="1188720" y="1280160"/>
            <a:ext cx="7498080" cy="548640"/>
          </a:xfrm>
          <a:prstGeom prst="rect">
            <a:avLst/>
          </a:prstGeom>
          <a:noFill/>
          <a:ln/>
        </p:spPr>
        <p:txBody>
          <a:bodyPr wrap="square" rtlCol="0" anchor="ctr"/>
          <a:lstStyle/>
          <a:p>
            <a:pPr indent="0" marL="0">
              <a:buNone/>
            </a:pPr>
            <a:r>
              <a:rPr lang="en-US" sz="1600" dirty="0">
                <a:solidFill>
                  <a:srgbClr val="B91C1C"/>
                </a:solidFill>
                <a:latin typeface="Microsoft YaHei" pitchFamily="34" charset="0"/>
                <a:ea typeface="Microsoft YaHei" pitchFamily="34" charset="-122"/>
                <a:cs typeface="Microsoft YaHei" pitchFamily="34" charset="-120"/>
              </a:rPr>
              <a:t>每条规则能否举出真实案例？</a:t>
            </a:r>
            <a:endParaRPr lang="en-US" sz="1600" dirty="0"/>
          </a:p>
        </p:txBody>
      </p:sp>
      <p:sp>
        <p:nvSpPr>
          <p:cNvPr id="8" name="Shape 6"/>
          <p:cNvSpPr/>
          <p:nvPr/>
        </p:nvSpPr>
        <p:spPr>
          <a:xfrm>
            <a:off x="457200" y="2057400"/>
            <a:ext cx="548640" cy="548640"/>
          </a:xfrm>
          <a:prstGeom prst="roundRect">
            <a:avLst>
              <a:gd name="adj" fmla="val 13333"/>
            </a:avLst>
          </a:prstGeom>
          <a:solidFill>
            <a:srgbClr val="EF4444"/>
          </a:solidFill>
          <a:ln/>
        </p:spPr>
      </p:sp>
      <p:sp>
        <p:nvSpPr>
          <p:cNvPr id="9" name="Text 7"/>
          <p:cNvSpPr/>
          <p:nvPr/>
        </p:nvSpPr>
        <p:spPr>
          <a:xfrm>
            <a:off x="457200" y="2057400"/>
            <a:ext cx="548640" cy="54864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10" name="Text 8"/>
          <p:cNvSpPr/>
          <p:nvPr/>
        </p:nvSpPr>
        <p:spPr>
          <a:xfrm>
            <a:off x="1188720" y="2057400"/>
            <a:ext cx="7498080" cy="548640"/>
          </a:xfrm>
          <a:prstGeom prst="rect">
            <a:avLst/>
          </a:prstGeom>
          <a:noFill/>
          <a:ln/>
        </p:spPr>
        <p:txBody>
          <a:bodyPr wrap="square" rtlCol="0" anchor="ctr"/>
          <a:lstStyle/>
          <a:p>
            <a:pPr indent="0" marL="0">
              <a:buNone/>
            </a:pPr>
            <a:r>
              <a:rPr lang="en-US" sz="1600" dirty="0">
                <a:solidFill>
                  <a:srgbClr val="B91C1C"/>
                </a:solidFill>
                <a:latin typeface="Microsoft YaHei" pitchFamily="34" charset="0"/>
                <a:ea typeface="Microsoft YaHei" pitchFamily="34" charset="-122"/>
                <a:cs typeface="Microsoft YaHei" pitchFamily="34" charset="-120"/>
              </a:rPr>
              <a:t>是否覆盖正常/异常/边界三种情况？</a:t>
            </a:r>
            <a:endParaRPr lang="en-US" sz="1600" dirty="0"/>
          </a:p>
        </p:txBody>
      </p:sp>
      <p:sp>
        <p:nvSpPr>
          <p:cNvPr id="11" name="Shape 9"/>
          <p:cNvSpPr/>
          <p:nvPr/>
        </p:nvSpPr>
        <p:spPr>
          <a:xfrm>
            <a:off x="457200" y="2834640"/>
            <a:ext cx="548640" cy="548640"/>
          </a:xfrm>
          <a:prstGeom prst="roundRect">
            <a:avLst>
              <a:gd name="adj" fmla="val 13333"/>
            </a:avLst>
          </a:prstGeom>
          <a:solidFill>
            <a:srgbClr val="EF4444"/>
          </a:solidFill>
          <a:ln/>
        </p:spPr>
      </p:sp>
      <p:sp>
        <p:nvSpPr>
          <p:cNvPr id="12" name="Text 10"/>
          <p:cNvSpPr/>
          <p:nvPr/>
        </p:nvSpPr>
        <p:spPr>
          <a:xfrm>
            <a:off x="457200" y="2834640"/>
            <a:ext cx="548640" cy="54864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13" name="Text 11"/>
          <p:cNvSpPr/>
          <p:nvPr/>
        </p:nvSpPr>
        <p:spPr>
          <a:xfrm>
            <a:off x="1188720" y="2834640"/>
            <a:ext cx="7498080" cy="548640"/>
          </a:xfrm>
          <a:prstGeom prst="rect">
            <a:avLst/>
          </a:prstGeom>
          <a:noFill/>
          <a:ln/>
        </p:spPr>
        <p:txBody>
          <a:bodyPr wrap="square" rtlCol="0" anchor="ctr"/>
          <a:lstStyle/>
          <a:p>
            <a:pPr indent="0" marL="0">
              <a:buNone/>
            </a:pPr>
            <a:r>
              <a:rPr lang="en-US" sz="1600" dirty="0">
                <a:solidFill>
                  <a:srgbClr val="B91C1C"/>
                </a:solidFill>
                <a:latin typeface="Microsoft YaHei" pitchFamily="34" charset="0"/>
                <a:ea typeface="Microsoft YaHei" pitchFamily="34" charset="-122"/>
                <a:cs typeface="Microsoft YaHei" pitchFamily="34" charset="-120"/>
              </a:rPr>
              <a:t>规则之间有没有矛盾？</a:t>
            </a:r>
            <a:endParaRPr lang="en-US" sz="1600" dirty="0"/>
          </a:p>
        </p:txBody>
      </p:sp>
      <p:sp>
        <p:nvSpPr>
          <p:cNvPr id="14" name="Shape 12"/>
          <p:cNvSpPr/>
          <p:nvPr/>
        </p:nvSpPr>
        <p:spPr>
          <a:xfrm>
            <a:off x="457200" y="3611880"/>
            <a:ext cx="548640" cy="548640"/>
          </a:xfrm>
          <a:prstGeom prst="roundRect">
            <a:avLst>
              <a:gd name="adj" fmla="val 13333"/>
            </a:avLst>
          </a:prstGeom>
          <a:solidFill>
            <a:srgbClr val="EF4444"/>
          </a:solidFill>
          <a:ln/>
        </p:spPr>
      </p:sp>
      <p:sp>
        <p:nvSpPr>
          <p:cNvPr id="15" name="Text 13"/>
          <p:cNvSpPr/>
          <p:nvPr/>
        </p:nvSpPr>
        <p:spPr>
          <a:xfrm>
            <a:off x="457200" y="3611880"/>
            <a:ext cx="548640" cy="54864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4</a:t>
            </a:r>
            <a:endParaRPr lang="en-US" sz="2000" dirty="0"/>
          </a:p>
        </p:txBody>
      </p:sp>
      <p:sp>
        <p:nvSpPr>
          <p:cNvPr id="16" name="Text 14"/>
          <p:cNvSpPr/>
          <p:nvPr/>
        </p:nvSpPr>
        <p:spPr>
          <a:xfrm>
            <a:off x="1188720" y="3611880"/>
            <a:ext cx="7498080" cy="548640"/>
          </a:xfrm>
          <a:prstGeom prst="rect">
            <a:avLst/>
          </a:prstGeom>
          <a:noFill/>
          <a:ln/>
        </p:spPr>
        <p:txBody>
          <a:bodyPr wrap="square" rtlCol="0" anchor="ctr"/>
          <a:lstStyle/>
          <a:p>
            <a:pPr indent="0" marL="0">
              <a:buNone/>
            </a:pPr>
            <a:r>
              <a:rPr lang="en-US" sz="1600" dirty="0">
                <a:solidFill>
                  <a:srgbClr val="B91C1C"/>
                </a:solidFill>
                <a:latin typeface="Microsoft YaHei" pitchFamily="34" charset="0"/>
                <a:ea typeface="Microsoft YaHei" pitchFamily="34" charset="-122"/>
                <a:cs typeface="Microsoft YaHei" pitchFamily="34" charset="-120"/>
              </a:rPr>
              <a:t>兜底规则是否存在且可执行？</a:t>
            </a:r>
            <a:endParaRPr lang="en-US" sz="1600" dirty="0"/>
          </a:p>
        </p:txBody>
      </p:sp>
      <p:sp>
        <p:nvSpPr>
          <p:cNvPr id="17" name="Shape 15"/>
          <p:cNvSpPr/>
          <p:nvPr/>
        </p:nvSpPr>
        <p:spPr>
          <a:xfrm>
            <a:off x="8503920" y="4663440"/>
            <a:ext cx="365760" cy="365760"/>
          </a:xfrm>
          <a:prstGeom prst="ellipse">
            <a:avLst/>
          </a:prstGeom>
          <a:solidFill>
            <a:srgbClr val="EF4444"/>
          </a:solidFill>
          <a:ln/>
        </p:spPr>
      </p:sp>
      <p:sp>
        <p:nvSpPr>
          <p:cNvPr id="18" name="Text 16"/>
          <p:cNvSpPr/>
          <p:nvPr/>
        </p:nvSpPr>
        <p:spPr>
          <a:xfrm>
            <a:off x="8503920" y="4663440"/>
            <a:ext cx="365760" cy="36576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36</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B91C1C"/>
        </a:solidFill>
      </p:bgPr>
    </p:bg>
    <p:spTree>
      <p:nvGrpSpPr>
        <p:cNvPr id="1" name=""/>
        <p:cNvGrpSpPr/>
        <p:nvPr/>
      </p:nvGrpSpPr>
      <p:grpSpPr>
        <a:xfrm>
          <a:off x="0" y="0"/>
          <a:ext cx="0" cy="0"/>
          <a:chOff x="0" y="0"/>
          <a:chExt cx="0" cy="0"/>
        </a:xfrm>
      </p:grpSpPr>
      <p:sp>
        <p:nvSpPr>
          <p:cNvPr id="2" name="Shape 0"/>
          <p:cNvSpPr/>
          <p:nvPr/>
        </p:nvSpPr>
        <p:spPr>
          <a:xfrm>
            <a:off x="0" y="2103120"/>
            <a:ext cx="9144000" cy="54864"/>
          </a:xfrm>
          <a:prstGeom prst="rect">
            <a:avLst/>
          </a:prstGeom>
          <a:solidFill>
            <a:srgbClr val="EF4444"/>
          </a:solidFill>
          <a:ln/>
        </p:spPr>
      </p:sp>
      <p:sp>
        <p:nvSpPr>
          <p:cNvPr id="3" name="Text 1"/>
          <p:cNvSpPr/>
          <p:nvPr/>
        </p:nvSpPr>
        <p:spPr>
          <a:xfrm>
            <a:off x="457200" y="1645920"/>
            <a:ext cx="8229600" cy="548640"/>
          </a:xfrm>
          <a:prstGeom prst="rect">
            <a:avLst/>
          </a:prstGeom>
          <a:noFill/>
          <a:ln/>
        </p:spPr>
        <p:txBody>
          <a:bodyPr wrap="square" rtlCol="0" anchor="ctr"/>
          <a:lstStyle/>
          <a:p>
            <a:pPr indent="0" marL="0">
              <a:buNone/>
            </a:pPr>
            <a:r>
              <a:rPr lang="en-US" sz="2400" dirty="0">
                <a:solidFill>
                  <a:srgbClr val="F3F4F6"/>
                </a:solidFill>
                <a:latin typeface="Microsoft YaHei" pitchFamily="34" charset="0"/>
                <a:ea typeface="Microsoft YaHei" pitchFamily="34" charset="-122"/>
                <a:cs typeface="Microsoft YaHei" pitchFamily="34" charset="-120"/>
              </a:rPr>
              <a:t>第三部分</a:t>
            </a:r>
            <a:endParaRPr lang="en-US" sz="2400" dirty="0"/>
          </a:p>
        </p:txBody>
      </p:sp>
      <p:sp>
        <p:nvSpPr>
          <p:cNvPr id="4" name="Text 2"/>
          <p:cNvSpPr/>
          <p:nvPr/>
        </p:nvSpPr>
        <p:spPr>
          <a:xfrm>
            <a:off x="457200" y="2286000"/>
            <a:ext cx="8229600" cy="731520"/>
          </a:xfrm>
          <a:prstGeom prst="rect">
            <a:avLst/>
          </a:prstGeom>
          <a:noFill/>
          <a:ln/>
        </p:spPr>
        <p:txBody>
          <a:bodyPr wrap="square" rtlCol="0" anchor="ctr"/>
          <a:lstStyle/>
          <a:p>
            <a:pPr indent="0" marL="0">
              <a:buNone/>
            </a:pPr>
            <a:r>
              <a:rPr lang="en-US" sz="3800" b="1" dirty="0">
                <a:solidFill>
                  <a:srgbClr val="FFFFFF"/>
                </a:solidFill>
                <a:latin typeface="Microsoft YaHei" pitchFamily="34" charset="0"/>
                <a:ea typeface="Microsoft YaHei" pitchFamily="34" charset="-122"/>
                <a:cs typeface="Microsoft YaHei" pitchFamily="34" charset="-120"/>
              </a:rPr>
              <a:t>搭建Skill</a:t>
            </a:r>
            <a:endParaRPr lang="en-US" sz="3800" dirty="0"/>
          </a:p>
        </p:txBody>
      </p:sp>
      <p:sp>
        <p:nvSpPr>
          <p:cNvPr id="5" name="Text 3"/>
          <p:cNvSpPr/>
          <p:nvPr/>
        </p:nvSpPr>
        <p:spPr>
          <a:xfrm>
            <a:off x="457200" y="3108960"/>
            <a:ext cx="8229600" cy="457200"/>
          </a:xfrm>
          <a:prstGeom prst="rect">
            <a:avLst/>
          </a:prstGeom>
          <a:noFill/>
          <a:ln/>
        </p:spPr>
        <p:txBody>
          <a:bodyPr wrap="square" rtlCol="0" anchor="ctr"/>
          <a:lstStyle/>
          <a:p>
            <a:pPr indent="0" marL="0">
              <a:buNone/>
            </a:pPr>
            <a:r>
              <a:rPr lang="en-US" sz="1800" dirty="0">
                <a:solidFill>
                  <a:srgbClr val="F3F4F6"/>
                </a:solidFill>
                <a:latin typeface="Microsoft YaHei" pitchFamily="34" charset="0"/>
                <a:ea typeface="Microsoft YaHei" pitchFamily="34" charset="-122"/>
                <a:cs typeface="Microsoft YaHei" pitchFamily="34" charset="-120"/>
              </a:rPr>
              <a:t>从规则表到可运行的Skill</a:t>
            </a:r>
            <a:endParaRPr lang="en-US" sz="1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274320"/>
            <a:ext cx="8229600" cy="457200"/>
          </a:xfrm>
          <a:prstGeom prst="rect">
            <a:avLst/>
          </a:prstGeom>
          <a:noFill/>
          <a:ln/>
        </p:spPr>
        <p:txBody>
          <a:bodyPr wrap="square" rtlCol="0" anchor="ctr"/>
          <a:lstStyle/>
          <a:p>
            <a:pPr indent="0" marL="0">
              <a:buNone/>
            </a:pPr>
            <a:r>
              <a:rPr lang="en-US" sz="2400" b="1" dirty="0">
                <a:solidFill>
                  <a:srgbClr val="B91C1C"/>
                </a:solidFill>
                <a:latin typeface="Microsoft YaHei" pitchFamily="34" charset="0"/>
                <a:ea typeface="Microsoft YaHei" pitchFamily="34" charset="-122"/>
                <a:cs typeface="Microsoft YaHei" pitchFamily="34" charset="-120"/>
              </a:rPr>
              <a:t>Skill五模块结构</a:t>
            </a:r>
            <a:endParaRPr lang="en-US" sz="2400" dirty="0"/>
          </a:p>
        </p:txBody>
      </p:sp>
      <p:sp>
        <p:nvSpPr>
          <p:cNvPr id="4" name="Shape 2"/>
          <p:cNvSpPr/>
          <p:nvPr/>
        </p:nvSpPr>
        <p:spPr>
          <a:xfrm>
            <a:off x="457200" y="960120"/>
            <a:ext cx="548640" cy="548640"/>
          </a:xfrm>
          <a:prstGeom prst="ellipse">
            <a:avLst/>
          </a:prstGeom>
          <a:solidFill>
            <a:srgbClr val="EF4444"/>
          </a:solidFill>
          <a:ln/>
        </p:spPr>
      </p:sp>
      <p:sp>
        <p:nvSpPr>
          <p:cNvPr id="5" name="Text 3"/>
          <p:cNvSpPr/>
          <p:nvPr/>
        </p:nvSpPr>
        <p:spPr>
          <a:xfrm>
            <a:off x="457200" y="960120"/>
            <a:ext cx="548640" cy="54864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6" name="Text 4"/>
          <p:cNvSpPr/>
          <p:nvPr/>
        </p:nvSpPr>
        <p:spPr>
          <a:xfrm>
            <a:off x="1188720" y="914400"/>
            <a:ext cx="3200400" cy="320040"/>
          </a:xfrm>
          <a:prstGeom prst="rect">
            <a:avLst/>
          </a:prstGeom>
          <a:noFill/>
          <a:ln/>
        </p:spPr>
        <p:txBody>
          <a:bodyPr wrap="square" rtlCol="0" anchor="ctr"/>
          <a:lstStyle/>
          <a:p>
            <a:pPr indent="0" marL="0">
              <a:buNone/>
            </a:pPr>
            <a:r>
              <a:rPr lang="en-US" sz="1600" b="1" dirty="0">
                <a:solidFill>
                  <a:srgbClr val="B91C1C"/>
                </a:solidFill>
                <a:latin typeface="Microsoft YaHei" pitchFamily="34" charset="0"/>
                <a:ea typeface="Microsoft YaHei" pitchFamily="34" charset="-122"/>
                <a:cs typeface="Microsoft YaHei" pitchFamily="34" charset="-120"/>
              </a:rPr>
              <a:t>角色人格设定</a:t>
            </a:r>
            <a:endParaRPr lang="en-US" sz="1600" dirty="0"/>
          </a:p>
        </p:txBody>
      </p:sp>
      <p:sp>
        <p:nvSpPr>
          <p:cNvPr id="7" name="Text 5"/>
          <p:cNvSpPr/>
          <p:nvPr/>
        </p:nvSpPr>
        <p:spPr>
          <a:xfrm>
            <a:off x="1188720" y="1234440"/>
            <a:ext cx="7315200" cy="27432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它是谁，对什么负责</a:t>
            </a:r>
            <a:endParaRPr lang="en-US" sz="1300" dirty="0"/>
          </a:p>
        </p:txBody>
      </p:sp>
      <p:sp>
        <p:nvSpPr>
          <p:cNvPr id="8" name="Shape 6"/>
          <p:cNvSpPr/>
          <p:nvPr/>
        </p:nvSpPr>
        <p:spPr>
          <a:xfrm>
            <a:off x="457200" y="1737360"/>
            <a:ext cx="548640" cy="548640"/>
          </a:xfrm>
          <a:prstGeom prst="ellipse">
            <a:avLst/>
          </a:prstGeom>
          <a:solidFill>
            <a:srgbClr val="EF4444"/>
          </a:solidFill>
          <a:ln/>
        </p:spPr>
      </p:sp>
      <p:sp>
        <p:nvSpPr>
          <p:cNvPr id="9" name="Text 7"/>
          <p:cNvSpPr/>
          <p:nvPr/>
        </p:nvSpPr>
        <p:spPr>
          <a:xfrm>
            <a:off x="457200" y="1737360"/>
            <a:ext cx="548640" cy="54864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10" name="Text 8"/>
          <p:cNvSpPr/>
          <p:nvPr/>
        </p:nvSpPr>
        <p:spPr>
          <a:xfrm>
            <a:off x="1188720" y="1691640"/>
            <a:ext cx="3200400" cy="320040"/>
          </a:xfrm>
          <a:prstGeom prst="rect">
            <a:avLst/>
          </a:prstGeom>
          <a:noFill/>
          <a:ln/>
        </p:spPr>
        <p:txBody>
          <a:bodyPr wrap="square" rtlCol="0" anchor="ctr"/>
          <a:lstStyle/>
          <a:p>
            <a:pPr indent="0" marL="0">
              <a:buNone/>
            </a:pPr>
            <a:r>
              <a:rPr lang="en-US" sz="1600" b="1" dirty="0">
                <a:solidFill>
                  <a:srgbClr val="B91C1C"/>
                </a:solidFill>
                <a:latin typeface="Microsoft YaHei" pitchFamily="34" charset="0"/>
                <a:ea typeface="Microsoft YaHei" pitchFamily="34" charset="-122"/>
                <a:cs typeface="Microsoft YaHei" pitchFamily="34" charset="-120"/>
              </a:rPr>
              <a:t>工作方式设定</a:t>
            </a:r>
            <a:endParaRPr lang="en-US" sz="1600" dirty="0"/>
          </a:p>
        </p:txBody>
      </p:sp>
      <p:sp>
        <p:nvSpPr>
          <p:cNvPr id="11" name="Text 9"/>
          <p:cNvSpPr/>
          <p:nvPr/>
        </p:nvSpPr>
        <p:spPr>
          <a:xfrm>
            <a:off x="1188720" y="2011680"/>
            <a:ext cx="7315200" cy="27432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先做什么，再做什么</a:t>
            </a:r>
            <a:endParaRPr lang="en-US" sz="1300" dirty="0"/>
          </a:p>
        </p:txBody>
      </p:sp>
      <p:sp>
        <p:nvSpPr>
          <p:cNvPr id="12" name="Shape 10"/>
          <p:cNvSpPr/>
          <p:nvPr/>
        </p:nvSpPr>
        <p:spPr>
          <a:xfrm>
            <a:off x="457200" y="2514600"/>
            <a:ext cx="548640" cy="548640"/>
          </a:xfrm>
          <a:prstGeom prst="ellipse">
            <a:avLst/>
          </a:prstGeom>
          <a:solidFill>
            <a:srgbClr val="EF4444"/>
          </a:solidFill>
          <a:ln/>
        </p:spPr>
      </p:sp>
      <p:sp>
        <p:nvSpPr>
          <p:cNvPr id="13" name="Text 11"/>
          <p:cNvSpPr/>
          <p:nvPr/>
        </p:nvSpPr>
        <p:spPr>
          <a:xfrm>
            <a:off x="457200" y="2514600"/>
            <a:ext cx="548640" cy="54864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14" name="Text 12"/>
          <p:cNvSpPr/>
          <p:nvPr/>
        </p:nvSpPr>
        <p:spPr>
          <a:xfrm>
            <a:off x="1188720" y="2468880"/>
            <a:ext cx="3200400" cy="320040"/>
          </a:xfrm>
          <a:prstGeom prst="rect">
            <a:avLst/>
          </a:prstGeom>
          <a:noFill/>
          <a:ln/>
        </p:spPr>
        <p:txBody>
          <a:bodyPr wrap="square" rtlCol="0" anchor="ctr"/>
          <a:lstStyle/>
          <a:p>
            <a:pPr indent="0" marL="0">
              <a:buNone/>
            </a:pPr>
            <a:r>
              <a:rPr lang="en-US" sz="1600" b="1" dirty="0">
                <a:solidFill>
                  <a:srgbClr val="B91C1C"/>
                </a:solidFill>
                <a:latin typeface="Microsoft YaHei" pitchFamily="34" charset="0"/>
                <a:ea typeface="Microsoft YaHei" pitchFamily="34" charset="-122"/>
                <a:cs typeface="Microsoft YaHei" pitchFamily="34" charset="-120"/>
              </a:rPr>
              <a:t>规则指令</a:t>
            </a:r>
            <a:endParaRPr lang="en-US" sz="1600" dirty="0"/>
          </a:p>
        </p:txBody>
      </p:sp>
      <p:sp>
        <p:nvSpPr>
          <p:cNvPr id="15" name="Text 13"/>
          <p:cNvSpPr/>
          <p:nvPr/>
        </p:nvSpPr>
        <p:spPr>
          <a:xfrm>
            <a:off x="1188720" y="2788920"/>
            <a:ext cx="7315200" cy="27432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条件→行动</a:t>
            </a:r>
            <a:endParaRPr lang="en-US" sz="1300" dirty="0"/>
          </a:p>
        </p:txBody>
      </p:sp>
      <p:sp>
        <p:nvSpPr>
          <p:cNvPr id="16" name="Shape 14"/>
          <p:cNvSpPr/>
          <p:nvPr/>
        </p:nvSpPr>
        <p:spPr>
          <a:xfrm>
            <a:off x="457200" y="3291840"/>
            <a:ext cx="548640" cy="548640"/>
          </a:xfrm>
          <a:prstGeom prst="ellipse">
            <a:avLst/>
          </a:prstGeom>
          <a:solidFill>
            <a:srgbClr val="EF4444"/>
          </a:solidFill>
          <a:ln/>
        </p:spPr>
      </p:sp>
      <p:sp>
        <p:nvSpPr>
          <p:cNvPr id="17" name="Text 15"/>
          <p:cNvSpPr/>
          <p:nvPr/>
        </p:nvSpPr>
        <p:spPr>
          <a:xfrm>
            <a:off x="457200" y="3291840"/>
            <a:ext cx="548640" cy="54864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4</a:t>
            </a:r>
            <a:endParaRPr lang="en-US" sz="1800" dirty="0"/>
          </a:p>
        </p:txBody>
      </p:sp>
      <p:sp>
        <p:nvSpPr>
          <p:cNvPr id="18" name="Text 16"/>
          <p:cNvSpPr/>
          <p:nvPr/>
        </p:nvSpPr>
        <p:spPr>
          <a:xfrm>
            <a:off x="1188720" y="3246120"/>
            <a:ext cx="3200400" cy="320040"/>
          </a:xfrm>
          <a:prstGeom prst="rect">
            <a:avLst/>
          </a:prstGeom>
          <a:noFill/>
          <a:ln/>
        </p:spPr>
        <p:txBody>
          <a:bodyPr wrap="square" rtlCol="0" anchor="ctr"/>
          <a:lstStyle/>
          <a:p>
            <a:pPr indent="0" marL="0">
              <a:buNone/>
            </a:pPr>
            <a:r>
              <a:rPr lang="en-US" sz="1600" b="1" dirty="0">
                <a:solidFill>
                  <a:srgbClr val="B91C1C"/>
                </a:solidFill>
                <a:latin typeface="Microsoft YaHei" pitchFamily="34" charset="0"/>
                <a:ea typeface="Microsoft YaHei" pitchFamily="34" charset="-122"/>
                <a:cs typeface="Microsoft YaHei" pitchFamily="34" charset="-120"/>
              </a:rPr>
              <a:t>格式模板嵌入</a:t>
            </a:r>
            <a:endParaRPr lang="en-US" sz="1600" dirty="0"/>
          </a:p>
        </p:txBody>
      </p:sp>
      <p:sp>
        <p:nvSpPr>
          <p:cNvPr id="19" name="Text 17"/>
          <p:cNvSpPr/>
          <p:nvPr/>
        </p:nvSpPr>
        <p:spPr>
          <a:xfrm>
            <a:off x="1188720" y="3566160"/>
            <a:ext cx="7315200" cy="27432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固定输出格式</a:t>
            </a:r>
            <a:endParaRPr lang="en-US" sz="1300" dirty="0"/>
          </a:p>
        </p:txBody>
      </p:sp>
      <p:sp>
        <p:nvSpPr>
          <p:cNvPr id="20" name="Shape 18"/>
          <p:cNvSpPr/>
          <p:nvPr/>
        </p:nvSpPr>
        <p:spPr>
          <a:xfrm>
            <a:off x="457200" y="4069080"/>
            <a:ext cx="548640" cy="548640"/>
          </a:xfrm>
          <a:prstGeom prst="ellipse">
            <a:avLst/>
          </a:prstGeom>
          <a:solidFill>
            <a:srgbClr val="EF4444"/>
          </a:solidFill>
          <a:ln/>
        </p:spPr>
      </p:sp>
      <p:sp>
        <p:nvSpPr>
          <p:cNvPr id="21" name="Text 19"/>
          <p:cNvSpPr/>
          <p:nvPr/>
        </p:nvSpPr>
        <p:spPr>
          <a:xfrm>
            <a:off x="457200" y="4069080"/>
            <a:ext cx="548640" cy="54864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5</a:t>
            </a:r>
            <a:endParaRPr lang="en-US" sz="1800" dirty="0"/>
          </a:p>
        </p:txBody>
      </p:sp>
      <p:sp>
        <p:nvSpPr>
          <p:cNvPr id="22" name="Text 20"/>
          <p:cNvSpPr/>
          <p:nvPr/>
        </p:nvSpPr>
        <p:spPr>
          <a:xfrm>
            <a:off x="1188720" y="4023360"/>
            <a:ext cx="3200400" cy="320040"/>
          </a:xfrm>
          <a:prstGeom prst="rect">
            <a:avLst/>
          </a:prstGeom>
          <a:noFill/>
          <a:ln/>
        </p:spPr>
        <p:txBody>
          <a:bodyPr wrap="square" rtlCol="0" anchor="ctr"/>
          <a:lstStyle/>
          <a:p>
            <a:pPr indent="0" marL="0">
              <a:buNone/>
            </a:pPr>
            <a:r>
              <a:rPr lang="en-US" sz="1600" b="1" dirty="0">
                <a:solidFill>
                  <a:srgbClr val="B91C1C"/>
                </a:solidFill>
                <a:latin typeface="Microsoft YaHei" pitchFamily="34" charset="0"/>
                <a:ea typeface="Microsoft YaHei" pitchFamily="34" charset="-122"/>
                <a:cs typeface="Microsoft YaHei" pitchFamily="34" charset="-120"/>
              </a:rPr>
              <a:t>兜底设定</a:t>
            </a:r>
            <a:endParaRPr lang="en-US" sz="1600" dirty="0"/>
          </a:p>
        </p:txBody>
      </p:sp>
      <p:sp>
        <p:nvSpPr>
          <p:cNvPr id="23" name="Text 21"/>
          <p:cNvSpPr/>
          <p:nvPr/>
        </p:nvSpPr>
        <p:spPr>
          <a:xfrm>
            <a:off x="1188720" y="4343400"/>
            <a:ext cx="7315200" cy="27432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遇到未覆盖情形怎么办</a:t>
            </a:r>
            <a:endParaRPr lang="en-US" sz="1300" dirty="0"/>
          </a:p>
        </p:txBody>
      </p:sp>
      <p:sp>
        <p:nvSpPr>
          <p:cNvPr id="24" name="Shape 22"/>
          <p:cNvSpPr/>
          <p:nvPr/>
        </p:nvSpPr>
        <p:spPr>
          <a:xfrm>
            <a:off x="8503920" y="4663440"/>
            <a:ext cx="365760" cy="365760"/>
          </a:xfrm>
          <a:prstGeom prst="ellipse">
            <a:avLst/>
          </a:prstGeom>
          <a:solidFill>
            <a:srgbClr val="EF4444"/>
          </a:solidFill>
          <a:ln/>
        </p:spPr>
      </p:sp>
      <p:sp>
        <p:nvSpPr>
          <p:cNvPr id="25" name="Text 23"/>
          <p:cNvSpPr/>
          <p:nvPr/>
        </p:nvSpPr>
        <p:spPr>
          <a:xfrm>
            <a:off x="8503920" y="4663440"/>
            <a:ext cx="365760" cy="36576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38</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274320"/>
            <a:ext cx="8229600" cy="457200"/>
          </a:xfrm>
          <a:prstGeom prst="rect">
            <a:avLst/>
          </a:prstGeom>
          <a:noFill/>
          <a:ln/>
        </p:spPr>
        <p:txBody>
          <a:bodyPr wrap="square" rtlCol="0" anchor="ctr"/>
          <a:lstStyle/>
          <a:p>
            <a:pPr indent="0" marL="0">
              <a:buNone/>
            </a:pPr>
            <a:r>
              <a:rPr lang="en-US" sz="2400" b="1" dirty="0">
                <a:solidFill>
                  <a:srgbClr val="B91C1C"/>
                </a:solidFill>
                <a:latin typeface="Microsoft YaHei" pitchFamily="34" charset="0"/>
                <a:ea typeface="Microsoft YaHei" pitchFamily="34" charset="-122"/>
                <a:cs typeface="Microsoft YaHei" pitchFamily="34" charset="-120"/>
              </a:rPr>
              <a:t>模块一：角色人格设定</a:t>
            </a:r>
            <a:endParaRPr lang="en-US" sz="2400" dirty="0"/>
          </a:p>
        </p:txBody>
      </p:sp>
      <p:sp>
        <p:nvSpPr>
          <p:cNvPr id="4" name="Shape 2"/>
          <p:cNvSpPr/>
          <p:nvPr/>
        </p:nvSpPr>
        <p:spPr>
          <a:xfrm>
            <a:off x="457200" y="914400"/>
            <a:ext cx="8229600" cy="3200400"/>
          </a:xfrm>
          <a:prstGeom prst="roundRect">
            <a:avLst>
              <a:gd name="adj" fmla="val 2857"/>
            </a:avLst>
          </a:prstGeom>
          <a:solidFill>
            <a:srgbClr val="F3F4F6"/>
          </a:solidFill>
          <a:ln/>
        </p:spPr>
      </p:sp>
      <p:sp>
        <p:nvSpPr>
          <p:cNvPr id="5" name="Shape 3"/>
          <p:cNvSpPr/>
          <p:nvPr/>
        </p:nvSpPr>
        <p:spPr>
          <a:xfrm>
            <a:off x="457200" y="914400"/>
            <a:ext cx="109728" cy="3200400"/>
          </a:xfrm>
          <a:prstGeom prst="rect">
            <a:avLst/>
          </a:prstGeom>
          <a:solidFill>
            <a:srgbClr val="EF4444"/>
          </a:solidFill>
          <a:ln/>
        </p:spPr>
      </p:sp>
      <p:sp>
        <p:nvSpPr>
          <p:cNvPr id="6" name="Text 4"/>
          <p:cNvSpPr/>
          <p:nvPr/>
        </p:nvSpPr>
        <p:spPr>
          <a:xfrm>
            <a:off x="731520" y="1097280"/>
            <a:ext cx="1371600" cy="365760"/>
          </a:xfrm>
          <a:prstGeom prst="rect">
            <a:avLst/>
          </a:prstGeom>
          <a:noFill/>
          <a:ln/>
        </p:spPr>
        <p:txBody>
          <a:bodyPr wrap="square" rtlCol="0" anchor="ctr"/>
          <a:lstStyle/>
          <a:p>
            <a:pPr indent="0" marL="0">
              <a:buNone/>
            </a:pPr>
            <a:r>
              <a:rPr lang="en-US" sz="1400" b="1" dirty="0">
                <a:solidFill>
                  <a:srgbClr val="EF4444"/>
                </a:solidFill>
                <a:latin typeface="Microsoft YaHei" pitchFamily="34" charset="0"/>
                <a:ea typeface="Microsoft YaHei" pitchFamily="34" charset="-122"/>
                <a:cs typeface="Microsoft YaHei" pitchFamily="34" charset="-120"/>
              </a:rPr>
              <a:t>示例</a:t>
            </a:r>
            <a:endParaRPr lang="en-US" sz="1400" dirty="0"/>
          </a:p>
        </p:txBody>
      </p:sp>
      <p:sp>
        <p:nvSpPr>
          <p:cNvPr id="7" name="Text 5"/>
          <p:cNvSpPr/>
          <p:nvPr/>
        </p:nvSpPr>
        <p:spPr>
          <a:xfrm>
            <a:off x="731520" y="1554480"/>
            <a:ext cx="7772400" cy="2286000"/>
          </a:xfrm>
          <a:prstGeom prst="rect">
            <a:avLst/>
          </a:prstGeom>
          <a:noFill/>
          <a:ln/>
        </p:spPr>
        <p:txBody>
          <a:bodyPr wrap="square" rtlCol="0" anchor="ctr"/>
          <a:lstStyle/>
          <a:p>
            <a:pPr indent="0" marL="0">
              <a:buNone/>
            </a:pPr>
            <a:r>
              <a:rPr lang="en-US" sz="1500" dirty="0">
                <a:solidFill>
                  <a:srgbClr val="374151"/>
                </a:solidFill>
                <a:latin typeface="Microsoft YaHei" pitchFamily="34" charset="0"/>
                <a:ea typeface="Microsoft YaHei" pitchFamily="34" charset="-122"/>
                <a:cs typeface="Microsoft YaHei" pitchFamily="34" charset="-120"/>
              </a:rPr>
              <a:t>你是[公司名]的客诉初判专员，专门负责对进入工单系统的每一条用户投诉做第一层分类和优先级判定。你的工作是输出分析结果和处理建议，你不负责直接联系客户，也不负责做最终的赔偿决策——那些由人工客服根据你的建议来完成。</a:t>
            </a:r>
            <a:endParaRPr lang="en-US" sz="1500" dirty="0"/>
          </a:p>
        </p:txBody>
      </p:sp>
      <p:sp>
        <p:nvSpPr>
          <p:cNvPr id="8" name="Shape 6"/>
          <p:cNvSpPr/>
          <p:nvPr/>
        </p:nvSpPr>
        <p:spPr>
          <a:xfrm>
            <a:off x="8503920" y="4663440"/>
            <a:ext cx="365760" cy="365760"/>
          </a:xfrm>
          <a:prstGeom prst="ellipse">
            <a:avLst/>
          </a:prstGeom>
          <a:solidFill>
            <a:srgbClr val="EF4444"/>
          </a:solidFill>
          <a:ln/>
        </p:spPr>
      </p:sp>
      <p:sp>
        <p:nvSpPr>
          <p:cNvPr id="9" name="Text 7"/>
          <p:cNvSpPr/>
          <p:nvPr/>
        </p:nvSpPr>
        <p:spPr>
          <a:xfrm>
            <a:off x="8503920" y="4663440"/>
            <a:ext cx="365760" cy="36576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39</a:t>
            </a:r>
            <a:endParaRPr lang="en-US" sz="1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274320"/>
            <a:ext cx="8229600" cy="457200"/>
          </a:xfrm>
          <a:prstGeom prst="rect">
            <a:avLst/>
          </a:prstGeom>
          <a:noFill/>
          <a:ln/>
        </p:spPr>
        <p:txBody>
          <a:bodyPr wrap="square" rtlCol="0" anchor="ctr"/>
          <a:lstStyle/>
          <a:p>
            <a:pPr indent="0" marL="0">
              <a:buNone/>
            </a:pPr>
            <a:r>
              <a:rPr lang="en-US" sz="2400" b="1" dirty="0">
                <a:solidFill>
                  <a:srgbClr val="B91C1C"/>
                </a:solidFill>
                <a:latin typeface="Microsoft YaHei" pitchFamily="34" charset="0"/>
                <a:ea typeface="Microsoft YaHei" pitchFamily="34" charset="-122"/>
                <a:cs typeface="Microsoft YaHei" pitchFamily="34" charset="-120"/>
              </a:rPr>
              <a:t>模块三：规则指令示例</a:t>
            </a:r>
            <a:endParaRPr lang="en-US" sz="2400" dirty="0"/>
          </a:p>
        </p:txBody>
      </p:sp>
      <p:sp>
        <p:nvSpPr>
          <p:cNvPr id="4" name="Shape 2"/>
          <p:cNvSpPr/>
          <p:nvPr/>
        </p:nvSpPr>
        <p:spPr>
          <a:xfrm>
            <a:off x="457200" y="914400"/>
            <a:ext cx="8229600" cy="3200400"/>
          </a:xfrm>
          <a:prstGeom prst="roundRect">
            <a:avLst>
              <a:gd name="adj" fmla="val 2857"/>
            </a:avLst>
          </a:prstGeom>
          <a:solidFill>
            <a:srgbClr val="B91C1C"/>
          </a:solidFill>
          <a:ln/>
        </p:spPr>
      </p:sp>
      <p:sp>
        <p:nvSpPr>
          <p:cNvPr id="5" name="Text 3"/>
          <p:cNvSpPr/>
          <p:nvPr/>
        </p:nvSpPr>
        <p:spPr>
          <a:xfrm>
            <a:off x="731520" y="1051560"/>
            <a:ext cx="7680960" cy="365760"/>
          </a:xfrm>
          <a:prstGeom prst="rect">
            <a:avLst/>
          </a:prstGeom>
          <a:noFill/>
          <a:ln/>
        </p:spPr>
        <p:txBody>
          <a:bodyPr wrap="square" rtlCol="0" anchor="ctr"/>
          <a:lstStyle/>
          <a:p>
            <a:pPr indent="0" marL="0">
              <a:buNone/>
            </a:pPr>
            <a:r>
              <a:rPr lang="en-US" sz="1400" b="1" dirty="0">
                <a:solidFill>
                  <a:srgbClr val="EF4444"/>
                </a:solidFill>
                <a:latin typeface="Microsoft YaHei" pitchFamily="34" charset="0"/>
                <a:ea typeface="Microsoft YaHei" pitchFamily="34" charset="-122"/>
                <a:cs typeface="Microsoft YaHei" pitchFamily="34" charset="-120"/>
              </a:rPr>
              <a:t>【优先级判定规则】</a:t>
            </a:r>
            <a:endParaRPr lang="en-US" sz="1400" dirty="0"/>
          </a:p>
        </p:txBody>
      </p:sp>
      <p:sp>
        <p:nvSpPr>
          <p:cNvPr id="6" name="Text 4"/>
          <p:cNvSpPr/>
          <p:nvPr/>
        </p:nvSpPr>
        <p:spPr>
          <a:xfrm>
            <a:off x="731520" y="1463040"/>
            <a:ext cx="7680960" cy="365760"/>
          </a:xfrm>
          <a:prstGeom prst="rect">
            <a:avLst/>
          </a:prstGeom>
          <a:noFill/>
          <a:ln/>
        </p:spPr>
        <p:txBody>
          <a:bodyPr wrap="square" rtlCol="0" anchor="ctr"/>
          <a:lstStyle/>
          <a:p>
            <a:pPr indent="0" marL="0">
              <a:buNone/>
            </a:pPr>
            <a:r>
              <a:rPr lang="en-US" sz="1300" dirty="0">
                <a:solidFill>
                  <a:srgbClr val="F3F4F6"/>
                </a:solidFill>
                <a:latin typeface="Microsoft YaHei" pitchFamily="34" charset="0"/>
                <a:ea typeface="Microsoft YaHei" pitchFamily="34" charset="-122"/>
                <a:cs typeface="Microsoft YaHei" pitchFamily="34" charset="-120"/>
              </a:rPr>
              <a:t>P1级（需2小时内响应）：当投诉内容满足以下任意一项时——</a:t>
            </a:r>
            <a:endParaRPr lang="en-US" sz="1300" dirty="0"/>
          </a:p>
        </p:txBody>
      </p:sp>
      <p:sp>
        <p:nvSpPr>
          <p:cNvPr id="7" name="Text 5"/>
          <p:cNvSpPr/>
          <p:nvPr/>
        </p:nvSpPr>
        <p:spPr>
          <a:xfrm>
            <a:off x="914400" y="1920240"/>
            <a:ext cx="7498080" cy="2011680"/>
          </a:xfrm>
          <a:prstGeom prst="rect">
            <a:avLst/>
          </a:prstGeom>
          <a:noFill/>
          <a:ln/>
        </p:spPr>
        <p:txBody>
          <a:bodyPr wrap="square" rtlCol="0" anchor="ctr"/>
          <a:lstStyle/>
          <a:p>
            <a:pPr indent="0" marL="0">
              <a:buNone/>
            </a:pPr>
            <a:r>
              <a:rPr lang="en-US" sz="1300" dirty="0">
                <a:solidFill>
                  <a:srgbClr val="FFFFFF"/>
                </a:solidFill>
                <a:latin typeface="Microsoft YaHei" pitchFamily="34" charset="0"/>
                <a:ea typeface="Microsoft YaHei" pitchFamily="34" charset="-122"/>
                <a:cs typeface="Microsoft YaHei" pitchFamily="34" charset="-120"/>
              </a:rPr>
              <a:t>• 投诉人明确说明有实际损失</a:t>
            </a:r>
            <a:endParaRPr lang="en-US" sz="1300" dirty="0"/>
          </a:p>
          <a:p>
            <a:pPr indent="0" marL="0">
              <a:buNone/>
            </a:pPr>
            <a:r>
              <a:rPr lang="en-US" sz="1300" dirty="0">
                <a:solidFill>
                  <a:srgbClr val="FFFFFF"/>
                </a:solidFill>
                <a:latin typeface="Microsoft YaHei" pitchFamily="34" charset="0"/>
                <a:ea typeface="Microsoft YaHei" pitchFamily="34" charset="-122"/>
                <a:cs typeface="Microsoft YaHei" pitchFamily="34" charset="-120"/>
              </a:rPr>
              <a:t>• 投诉人明确提及升级行为</a:t>
            </a:r>
            <a:endParaRPr lang="en-US" sz="1300" dirty="0"/>
          </a:p>
          <a:p>
            <a:pPr indent="0" marL="0">
              <a:buNone/>
            </a:pPr>
            <a:r>
              <a:rPr lang="en-US" sz="1300" dirty="0">
                <a:solidFill>
                  <a:srgbClr val="FFFFFF"/>
                </a:solidFill>
                <a:latin typeface="Microsoft YaHei" pitchFamily="34" charset="0"/>
                <a:ea typeface="Microsoft YaHei" pitchFamily="34" charset="-122"/>
                <a:cs typeface="Microsoft YaHei" pitchFamily="34" charset="-120"/>
              </a:rPr>
              <a:t>• 同一客户本月第3次或以上提出相同问题</a:t>
            </a:r>
            <a:endParaRPr lang="en-US" sz="1300" dirty="0"/>
          </a:p>
          <a:p>
            <a:pPr indent="0" marL="0">
              <a:buNone/>
            </a:pPr>
            <a:r>
              <a:rPr lang="en-US" sz="1300" dirty="0">
                <a:solidFill>
                  <a:srgbClr val="FFFFFF"/>
                </a:solidFill>
                <a:latin typeface="Microsoft YaHei" pitchFamily="34" charset="0"/>
                <a:ea typeface="Microsoft YaHei" pitchFamily="34" charset="-122"/>
                <a:cs typeface="Microsoft YaHei" pitchFamily="34" charset="-120"/>
              </a:rPr>
              <a:t>• 涉及金额/赔偿声明超过阈值</a:t>
            </a:r>
            <a:endParaRPr lang="en-US" sz="1300" dirty="0"/>
          </a:p>
        </p:txBody>
      </p:sp>
      <p:sp>
        <p:nvSpPr>
          <p:cNvPr id="8" name="Shape 6"/>
          <p:cNvSpPr/>
          <p:nvPr/>
        </p:nvSpPr>
        <p:spPr>
          <a:xfrm>
            <a:off x="8503920" y="4663440"/>
            <a:ext cx="365760" cy="365760"/>
          </a:xfrm>
          <a:prstGeom prst="ellipse">
            <a:avLst/>
          </a:prstGeom>
          <a:solidFill>
            <a:srgbClr val="EF4444"/>
          </a:solidFill>
          <a:ln/>
        </p:spPr>
      </p:sp>
      <p:sp>
        <p:nvSpPr>
          <p:cNvPr id="9" name="Text 7"/>
          <p:cNvSpPr/>
          <p:nvPr/>
        </p:nvSpPr>
        <p:spPr>
          <a:xfrm>
            <a:off x="8503920" y="4663440"/>
            <a:ext cx="365760" cy="36576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40</a:t>
            </a:r>
            <a:endParaRPr lang="en-US" sz="1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274320"/>
            <a:ext cx="8229600" cy="457200"/>
          </a:xfrm>
          <a:prstGeom prst="rect">
            <a:avLst/>
          </a:prstGeom>
          <a:noFill/>
          <a:ln/>
        </p:spPr>
        <p:txBody>
          <a:bodyPr wrap="square" rtlCol="0" anchor="ctr"/>
          <a:lstStyle/>
          <a:p>
            <a:pPr indent="0" marL="0">
              <a:buNone/>
            </a:pPr>
            <a:r>
              <a:rPr lang="en-US" sz="2400" b="1" dirty="0">
                <a:solidFill>
                  <a:srgbClr val="B91C1C"/>
                </a:solidFill>
                <a:latin typeface="Microsoft YaHei" pitchFamily="34" charset="0"/>
                <a:ea typeface="Microsoft YaHei" pitchFamily="34" charset="-122"/>
                <a:cs typeface="Microsoft YaHei" pitchFamily="34" charset="-120"/>
              </a:rPr>
              <a:t>模块四：输出格式模板</a:t>
            </a:r>
            <a:endParaRPr lang="en-US" sz="2400" dirty="0"/>
          </a:p>
        </p:txBody>
      </p:sp>
      <p:sp>
        <p:nvSpPr>
          <p:cNvPr id="4" name="Shape 2"/>
          <p:cNvSpPr/>
          <p:nvPr/>
        </p:nvSpPr>
        <p:spPr>
          <a:xfrm>
            <a:off x="457200" y="914400"/>
            <a:ext cx="8229600" cy="3474720"/>
          </a:xfrm>
          <a:prstGeom prst="roundRect">
            <a:avLst>
              <a:gd name="adj" fmla="val 2632"/>
            </a:avLst>
          </a:prstGeom>
          <a:solidFill>
            <a:srgbClr val="B91C1C"/>
          </a:solidFill>
          <a:ln/>
        </p:spPr>
      </p:sp>
      <p:sp>
        <p:nvSpPr>
          <p:cNvPr id="5" name="Text 3"/>
          <p:cNvSpPr/>
          <p:nvPr/>
        </p:nvSpPr>
        <p:spPr>
          <a:xfrm>
            <a:off x="731520" y="1051560"/>
            <a:ext cx="7680960" cy="365760"/>
          </a:xfrm>
          <a:prstGeom prst="rect">
            <a:avLst/>
          </a:prstGeom>
          <a:noFill/>
          <a:ln/>
        </p:spPr>
        <p:txBody>
          <a:bodyPr wrap="square" rtlCol="0" anchor="ctr"/>
          <a:lstStyle/>
          <a:p>
            <a:pPr indent="0" marL="0">
              <a:buNone/>
            </a:pPr>
            <a:r>
              <a:rPr lang="en-US" sz="1300" b="1" dirty="0">
                <a:solidFill>
                  <a:srgbClr val="EF4444"/>
                </a:solidFill>
                <a:latin typeface="Microsoft YaHei" pitchFamily="34" charset="0"/>
                <a:ea typeface="Microsoft YaHei" pitchFamily="34" charset="-122"/>
                <a:cs typeface="Microsoft YaHei" pitchFamily="34" charset="-120"/>
              </a:rPr>
              <a:t>【输出格式，每次必须严格遵守】</a:t>
            </a:r>
            <a:endParaRPr lang="en-US" sz="1300" dirty="0"/>
          </a:p>
        </p:txBody>
      </p:sp>
      <p:sp>
        <p:nvSpPr>
          <p:cNvPr id="6" name="Text 4"/>
          <p:cNvSpPr/>
          <p:nvPr/>
        </p:nvSpPr>
        <p:spPr>
          <a:xfrm>
            <a:off x="731520" y="1417320"/>
            <a:ext cx="7680960" cy="320040"/>
          </a:xfrm>
          <a:prstGeom prst="rect">
            <a:avLst/>
          </a:prstGeom>
          <a:noFill/>
          <a:ln/>
        </p:spPr>
        <p:txBody>
          <a:bodyPr wrap="square" rtlCol="0" anchor="ctr"/>
          <a:lstStyle/>
          <a:p>
            <a:pPr indent="0" marL="0">
              <a:buNone/>
            </a:pPr>
            <a:r>
              <a:rPr lang="en-US" sz="1200" dirty="0">
                <a:solidFill>
                  <a:srgbClr val="F3F4F6"/>
                </a:solidFill>
                <a:latin typeface="Microsoft YaHei" pitchFamily="34" charset="0"/>
                <a:ea typeface="Microsoft YaHei" pitchFamily="34" charset="-122"/>
                <a:cs typeface="Microsoft YaHei" pitchFamily="34" charset="-120"/>
              </a:rPr>
              <a:t>---客诉初判报告---</a:t>
            </a:r>
            <a:endParaRPr lang="en-US" sz="1200" dirty="0"/>
          </a:p>
        </p:txBody>
      </p:sp>
      <p:sp>
        <p:nvSpPr>
          <p:cNvPr id="7" name="Text 5"/>
          <p:cNvSpPr/>
          <p:nvPr/>
        </p:nvSpPr>
        <p:spPr>
          <a:xfrm>
            <a:off x="731520" y="1828800"/>
            <a:ext cx="7680960" cy="2377440"/>
          </a:xfrm>
          <a:prstGeom prst="rect">
            <a:avLst/>
          </a:prstGeom>
          <a:noFill/>
          <a:ln/>
        </p:spPr>
        <p:txBody>
          <a:bodyPr wrap="square" rtlCol="0" anchor="ctr"/>
          <a:lstStyle/>
          <a:p>
            <a:pPr indent="0" marL="0">
              <a:buNone/>
            </a:pPr>
            <a:r>
              <a:rPr lang="en-US" sz="1200" dirty="0">
                <a:solidFill>
                  <a:srgbClr val="FFFFFF"/>
                </a:solidFill>
                <a:latin typeface="Microsoft YaHei" pitchFamily="34" charset="0"/>
                <a:ea typeface="Microsoft YaHei" pitchFamily="34" charset="-122"/>
                <a:cs typeface="Microsoft YaHei" pitchFamily="34" charset="-120"/>
              </a:rPr>
              <a:t>投诉等级：[P1/P2/P3]</a:t>
            </a:r>
            <a:endParaRPr lang="en-US" sz="1200" dirty="0"/>
          </a:p>
          <a:p>
            <a:pPr indent="0" marL="0">
              <a:buNone/>
            </a:pPr>
            <a:r>
              <a:rPr lang="en-US" sz="1200" dirty="0">
                <a:solidFill>
                  <a:srgbClr val="FFFFFF"/>
                </a:solidFill>
                <a:latin typeface="Microsoft YaHei" pitchFamily="34" charset="0"/>
                <a:ea typeface="Microsoft YaHei" pitchFamily="34" charset="-122"/>
                <a:cs typeface="Microsoft YaHei" pitchFamily="34" charset="-120"/>
              </a:rPr>
              <a:t>判定依据：[说明触发哪条规则]</a:t>
            </a:r>
            <a:endParaRPr lang="en-US" sz="1200" dirty="0"/>
          </a:p>
          <a:p>
            <a:pPr indent="0" marL="0">
              <a:buNone/>
            </a:pPr>
            <a:r>
              <a:rPr lang="en-US" sz="1200" dirty="0">
                <a:solidFill>
                  <a:srgbClr val="FFFFFF"/>
                </a:solidFill>
                <a:latin typeface="Microsoft YaHei" pitchFamily="34" charset="0"/>
                <a:ea typeface="Microsoft YaHei" pitchFamily="34" charset="-122"/>
                <a:cs typeface="Microsoft YaHei" pitchFamily="34" charset="-120"/>
              </a:rPr>
              <a:t>投诉类型：[一级分类] / [二级分类]</a:t>
            </a:r>
            <a:endParaRPr lang="en-US" sz="1200" dirty="0"/>
          </a:p>
          <a:p>
            <a:pPr indent="0" marL="0">
              <a:buNone/>
            </a:pPr>
            <a:r>
              <a:rPr lang="en-US" sz="1200" dirty="0">
                <a:solidFill>
                  <a:srgbClr val="FFFFFF"/>
                </a:solidFill>
                <a:latin typeface="Microsoft YaHei" pitchFamily="34" charset="0"/>
                <a:ea typeface="Microsoft YaHei" pitchFamily="34" charset="-122"/>
                <a:cs typeface="Microsoft YaHei" pitchFamily="34" charset="-120"/>
              </a:rPr>
              <a:t>本案关键事实：...</a:t>
            </a:r>
            <a:endParaRPr lang="en-US" sz="1200" dirty="0"/>
          </a:p>
          <a:p>
            <a:pPr indent="0" marL="0">
              <a:buNone/>
            </a:pPr>
            <a:r>
              <a:rPr lang="en-US" sz="1200" dirty="0">
                <a:solidFill>
                  <a:srgbClr val="FFFFFF"/>
                </a:solidFill>
                <a:latin typeface="Microsoft YaHei" pitchFamily="34" charset="0"/>
                <a:ea typeface="Microsoft YaHei" pitchFamily="34" charset="-122"/>
                <a:cs typeface="Microsoft YaHei" pitchFamily="34" charset="-120"/>
              </a:rPr>
              <a:t>建议处理路径：...</a:t>
            </a:r>
            <a:endParaRPr lang="en-US" sz="1200" dirty="0"/>
          </a:p>
          <a:p>
            <a:pPr indent="0" marL="0">
              <a:buNone/>
            </a:pPr>
            <a:r>
              <a:rPr lang="en-US" sz="1200" dirty="0">
                <a:solidFill>
                  <a:srgbClr val="FFFFFF"/>
                </a:solidFill>
                <a:latin typeface="Microsoft YaHei" pitchFamily="34" charset="0"/>
                <a:ea typeface="Microsoft YaHei" pitchFamily="34" charset="-122"/>
                <a:cs typeface="Microsoft YaHei" pitchFamily="34" charset="-120"/>
              </a:rPr>
              <a:t>需人工决策的判断点：...</a:t>
            </a:r>
            <a:endParaRPr lang="en-US" sz="1200" dirty="0"/>
          </a:p>
        </p:txBody>
      </p:sp>
      <p:sp>
        <p:nvSpPr>
          <p:cNvPr id="8" name="Shape 6"/>
          <p:cNvSpPr/>
          <p:nvPr/>
        </p:nvSpPr>
        <p:spPr>
          <a:xfrm>
            <a:off x="8503920" y="4663440"/>
            <a:ext cx="365760" cy="365760"/>
          </a:xfrm>
          <a:prstGeom prst="ellipse">
            <a:avLst/>
          </a:prstGeom>
          <a:solidFill>
            <a:srgbClr val="EF4444"/>
          </a:solidFill>
          <a:ln/>
        </p:spPr>
      </p:sp>
      <p:sp>
        <p:nvSpPr>
          <p:cNvPr id="9" name="Text 7"/>
          <p:cNvSpPr/>
          <p:nvPr/>
        </p:nvSpPr>
        <p:spPr>
          <a:xfrm>
            <a:off x="8503920" y="4663440"/>
            <a:ext cx="365760" cy="36576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41</a:t>
            </a:r>
            <a:endParaRPr lang="en-US" sz="1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274320"/>
            <a:ext cx="8229600" cy="457200"/>
          </a:xfrm>
          <a:prstGeom prst="rect">
            <a:avLst/>
          </a:prstGeom>
          <a:noFill/>
          <a:ln/>
        </p:spPr>
        <p:txBody>
          <a:bodyPr wrap="square" rtlCol="0" anchor="ctr"/>
          <a:lstStyle/>
          <a:p>
            <a:pPr indent="0" marL="0">
              <a:buNone/>
            </a:pPr>
            <a:r>
              <a:rPr lang="en-US" sz="2400" b="1" dirty="0">
                <a:solidFill>
                  <a:srgbClr val="B91C1C"/>
                </a:solidFill>
                <a:latin typeface="Microsoft YaHei" pitchFamily="34" charset="0"/>
                <a:ea typeface="Microsoft YaHei" pitchFamily="34" charset="-122"/>
                <a:cs typeface="Microsoft YaHei" pitchFamily="34" charset="-120"/>
              </a:rPr>
              <a:t>完整示例：Skill输出</a:t>
            </a:r>
            <a:endParaRPr lang="en-US" sz="2400" dirty="0"/>
          </a:p>
        </p:txBody>
      </p:sp>
      <p:sp>
        <p:nvSpPr>
          <p:cNvPr id="4" name="Shape 2"/>
          <p:cNvSpPr/>
          <p:nvPr/>
        </p:nvSpPr>
        <p:spPr>
          <a:xfrm>
            <a:off x="457200" y="914400"/>
            <a:ext cx="3931920" cy="1097280"/>
          </a:xfrm>
          <a:prstGeom prst="roundRect">
            <a:avLst>
              <a:gd name="adj" fmla="val 6667"/>
            </a:avLst>
          </a:prstGeom>
          <a:solidFill>
            <a:srgbClr val="F3F4F6"/>
          </a:solidFill>
          <a:ln/>
        </p:spPr>
      </p:sp>
      <p:sp>
        <p:nvSpPr>
          <p:cNvPr id="5" name="Text 3"/>
          <p:cNvSpPr/>
          <p:nvPr/>
        </p:nvSpPr>
        <p:spPr>
          <a:xfrm>
            <a:off x="640080" y="1005840"/>
            <a:ext cx="914400" cy="320040"/>
          </a:xfrm>
          <a:prstGeom prst="rect">
            <a:avLst/>
          </a:prstGeom>
          <a:noFill/>
          <a:ln/>
        </p:spPr>
        <p:txBody>
          <a:bodyPr wrap="square" rtlCol="0" anchor="ctr"/>
          <a:lstStyle/>
          <a:p>
            <a:pPr indent="0" marL="0">
              <a:buNone/>
            </a:pPr>
            <a:r>
              <a:rPr lang="en-US" sz="1200" b="1" dirty="0">
                <a:solidFill>
                  <a:srgbClr val="EF4444"/>
                </a:solidFill>
                <a:latin typeface="Microsoft YaHei" pitchFamily="34" charset="0"/>
                <a:ea typeface="Microsoft YaHei" pitchFamily="34" charset="-122"/>
                <a:cs typeface="Microsoft YaHei" pitchFamily="34" charset="-120"/>
              </a:rPr>
              <a:t>输入</a:t>
            </a:r>
            <a:endParaRPr lang="en-US" sz="1200" dirty="0"/>
          </a:p>
        </p:txBody>
      </p:sp>
      <p:sp>
        <p:nvSpPr>
          <p:cNvPr id="6" name="Text 4"/>
          <p:cNvSpPr/>
          <p:nvPr/>
        </p:nvSpPr>
        <p:spPr>
          <a:xfrm>
            <a:off x="640080" y="1371600"/>
            <a:ext cx="3566160" cy="54864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客户投诉原材料延误8天，已停工等料</a:t>
            </a:r>
            <a:endParaRPr lang="en-US" sz="1300" dirty="0"/>
          </a:p>
        </p:txBody>
      </p:sp>
      <p:sp>
        <p:nvSpPr>
          <p:cNvPr id="7" name="Text 5"/>
          <p:cNvSpPr/>
          <p:nvPr/>
        </p:nvSpPr>
        <p:spPr>
          <a:xfrm>
            <a:off x="4114800" y="1188720"/>
            <a:ext cx="914400" cy="548640"/>
          </a:xfrm>
          <a:prstGeom prst="rect">
            <a:avLst/>
          </a:prstGeom>
          <a:noFill/>
          <a:ln/>
        </p:spPr>
        <p:txBody>
          <a:bodyPr wrap="square" rtlCol="0" anchor="ctr"/>
          <a:lstStyle/>
          <a:p>
            <a:pPr algn="ctr" indent="0" marL="0">
              <a:buNone/>
            </a:pPr>
            <a:r>
              <a:rPr lang="en-US" sz="2800" dirty="0">
                <a:solidFill>
                  <a:srgbClr val="EF4444"/>
                </a:solidFill>
                <a:latin typeface="Arial" pitchFamily="34" charset="0"/>
                <a:ea typeface="Arial" pitchFamily="34" charset="-122"/>
                <a:cs typeface="Arial" pitchFamily="34" charset="-120"/>
              </a:rPr>
              <a:t>→</a:t>
            </a:r>
            <a:endParaRPr lang="en-US" sz="2800" dirty="0"/>
          </a:p>
        </p:txBody>
      </p:sp>
      <p:sp>
        <p:nvSpPr>
          <p:cNvPr id="8" name="Shape 6"/>
          <p:cNvSpPr/>
          <p:nvPr/>
        </p:nvSpPr>
        <p:spPr>
          <a:xfrm>
            <a:off x="4754880" y="914400"/>
            <a:ext cx="3931920" cy="1097280"/>
          </a:xfrm>
          <a:prstGeom prst="roundRect">
            <a:avLst>
              <a:gd name="adj" fmla="val 6667"/>
            </a:avLst>
          </a:prstGeom>
          <a:solidFill>
            <a:srgbClr val="B91C1C"/>
          </a:solidFill>
          <a:ln/>
        </p:spPr>
      </p:sp>
      <p:sp>
        <p:nvSpPr>
          <p:cNvPr id="9" name="Text 7"/>
          <p:cNvSpPr/>
          <p:nvPr/>
        </p:nvSpPr>
        <p:spPr>
          <a:xfrm>
            <a:off x="4937760" y="1005840"/>
            <a:ext cx="914400" cy="320040"/>
          </a:xfrm>
          <a:prstGeom prst="rect">
            <a:avLst/>
          </a:prstGeom>
          <a:noFill/>
          <a:ln/>
        </p:spPr>
        <p:txBody>
          <a:bodyPr wrap="square" rtlCol="0" anchor="ctr"/>
          <a:lstStyle/>
          <a:p>
            <a:pPr indent="0" marL="0">
              <a:buNone/>
            </a:pPr>
            <a:r>
              <a:rPr lang="en-US" sz="1200" b="1" dirty="0">
                <a:solidFill>
                  <a:srgbClr val="EF4444"/>
                </a:solidFill>
                <a:latin typeface="Microsoft YaHei" pitchFamily="34" charset="0"/>
                <a:ea typeface="Microsoft YaHei" pitchFamily="34" charset="-122"/>
                <a:cs typeface="Microsoft YaHei" pitchFamily="34" charset="-120"/>
              </a:rPr>
              <a:t>输出</a:t>
            </a:r>
            <a:endParaRPr lang="en-US" sz="1200" dirty="0"/>
          </a:p>
        </p:txBody>
      </p:sp>
      <p:sp>
        <p:nvSpPr>
          <p:cNvPr id="10" name="Text 8"/>
          <p:cNvSpPr/>
          <p:nvPr/>
        </p:nvSpPr>
        <p:spPr>
          <a:xfrm>
            <a:off x="4937760" y="1371600"/>
            <a:ext cx="3566160" cy="457200"/>
          </a:xfrm>
          <a:prstGeom prst="rect">
            <a:avLst/>
          </a:prstGeom>
          <a:noFill/>
          <a:ln/>
        </p:spPr>
        <p:txBody>
          <a:bodyPr wrap="square" rtlCol="0" anchor="ctr"/>
          <a:lstStyle/>
          <a:p>
            <a:pPr indent="0" marL="0">
              <a:buNone/>
            </a:pPr>
            <a:r>
              <a:rPr lang="en-US" sz="1300" dirty="0">
                <a:solidFill>
                  <a:srgbClr val="FFFFFF"/>
                </a:solidFill>
                <a:latin typeface="Microsoft YaHei" pitchFamily="34" charset="0"/>
                <a:ea typeface="Microsoft YaHei" pitchFamily="34" charset="-122"/>
                <a:cs typeface="Microsoft YaHei" pitchFamily="34" charset="-120"/>
              </a:rPr>
              <a:t>投诉等级：P1</a:t>
            </a:r>
            <a:endParaRPr lang="en-US" sz="1300" dirty="0"/>
          </a:p>
        </p:txBody>
      </p:sp>
      <p:sp>
        <p:nvSpPr>
          <p:cNvPr id="11" name="Shape 9"/>
          <p:cNvSpPr/>
          <p:nvPr/>
        </p:nvSpPr>
        <p:spPr>
          <a:xfrm>
            <a:off x="457200" y="2194560"/>
            <a:ext cx="8229600" cy="2194560"/>
          </a:xfrm>
          <a:prstGeom prst="roundRect">
            <a:avLst>
              <a:gd name="adj" fmla="val 3333"/>
            </a:avLst>
          </a:prstGeom>
          <a:solidFill>
            <a:srgbClr val="F3F4F6"/>
          </a:solidFill>
          <a:ln/>
        </p:spPr>
      </p:sp>
      <p:sp>
        <p:nvSpPr>
          <p:cNvPr id="12" name="Text 10"/>
          <p:cNvSpPr/>
          <p:nvPr/>
        </p:nvSpPr>
        <p:spPr>
          <a:xfrm>
            <a:off x="640080" y="2377440"/>
            <a:ext cx="1645920" cy="457200"/>
          </a:xfrm>
          <a:prstGeom prst="rect">
            <a:avLst/>
          </a:prstGeom>
          <a:noFill/>
          <a:ln/>
        </p:spPr>
        <p:txBody>
          <a:bodyPr wrap="square" rtlCol="0" anchor="ctr"/>
          <a:lstStyle/>
          <a:p>
            <a:pPr indent="0" marL="0">
              <a:buNone/>
            </a:pPr>
            <a:r>
              <a:rPr lang="en-US" sz="1300" b="1" dirty="0">
                <a:solidFill>
                  <a:srgbClr val="EF4444"/>
                </a:solidFill>
                <a:latin typeface="Microsoft YaHei" pitchFamily="34" charset="0"/>
                <a:ea typeface="Microsoft YaHei" pitchFamily="34" charset="-122"/>
                <a:cs typeface="Microsoft YaHei" pitchFamily="34" charset="-120"/>
              </a:rPr>
              <a:t>判定依据：</a:t>
            </a:r>
            <a:endParaRPr lang="en-US" sz="1300" dirty="0"/>
          </a:p>
        </p:txBody>
      </p:sp>
      <p:sp>
        <p:nvSpPr>
          <p:cNvPr id="13" name="Text 11"/>
          <p:cNvSpPr/>
          <p:nvPr/>
        </p:nvSpPr>
        <p:spPr>
          <a:xfrm>
            <a:off x="2286000" y="2377440"/>
            <a:ext cx="6217920" cy="457200"/>
          </a:xfrm>
          <a:prstGeom prst="rect">
            <a:avLst/>
          </a:prstGeom>
          <a:noFill/>
          <a:ln/>
        </p:spPr>
        <p:txBody>
          <a:bodyPr wrap="square" rtlCol="0" anchor="ctr"/>
          <a:lstStyle/>
          <a:p>
            <a:pPr indent="0" marL="0">
              <a:buNone/>
            </a:pPr>
            <a:r>
              <a:rPr lang="en-US" sz="1300" dirty="0">
                <a:solidFill>
                  <a:srgbClr val="B91C1C"/>
                </a:solidFill>
                <a:latin typeface="Microsoft YaHei" pitchFamily="34" charset="0"/>
                <a:ea typeface="Microsoft YaHei" pitchFamily="34" charset="-122"/>
                <a:cs typeface="Microsoft YaHei" pitchFamily="34" charset="-120"/>
              </a:rPr>
              <a:t>实际损失+升级信号+超期60%</a:t>
            </a:r>
            <a:endParaRPr lang="en-US" sz="1300" dirty="0"/>
          </a:p>
        </p:txBody>
      </p:sp>
      <p:sp>
        <p:nvSpPr>
          <p:cNvPr id="14" name="Text 12"/>
          <p:cNvSpPr/>
          <p:nvPr/>
        </p:nvSpPr>
        <p:spPr>
          <a:xfrm>
            <a:off x="640080" y="3017520"/>
            <a:ext cx="1645920" cy="457200"/>
          </a:xfrm>
          <a:prstGeom prst="rect">
            <a:avLst/>
          </a:prstGeom>
          <a:noFill/>
          <a:ln/>
        </p:spPr>
        <p:txBody>
          <a:bodyPr wrap="square" rtlCol="0" anchor="ctr"/>
          <a:lstStyle/>
          <a:p>
            <a:pPr indent="0" marL="0">
              <a:buNone/>
            </a:pPr>
            <a:r>
              <a:rPr lang="en-US" sz="1300" b="1" dirty="0">
                <a:solidFill>
                  <a:srgbClr val="EF4444"/>
                </a:solidFill>
                <a:latin typeface="Microsoft YaHei" pitchFamily="34" charset="0"/>
                <a:ea typeface="Microsoft YaHei" pitchFamily="34" charset="-122"/>
                <a:cs typeface="Microsoft YaHei" pitchFamily="34" charset="-120"/>
              </a:rPr>
              <a:t>投诉类型：</a:t>
            </a:r>
            <a:endParaRPr lang="en-US" sz="1300" dirty="0"/>
          </a:p>
        </p:txBody>
      </p:sp>
      <p:sp>
        <p:nvSpPr>
          <p:cNvPr id="15" name="Text 13"/>
          <p:cNvSpPr/>
          <p:nvPr/>
        </p:nvSpPr>
        <p:spPr>
          <a:xfrm>
            <a:off x="2286000" y="3017520"/>
            <a:ext cx="6217920" cy="457200"/>
          </a:xfrm>
          <a:prstGeom prst="rect">
            <a:avLst/>
          </a:prstGeom>
          <a:noFill/>
          <a:ln/>
        </p:spPr>
        <p:txBody>
          <a:bodyPr wrap="square" rtlCol="0" anchor="ctr"/>
          <a:lstStyle/>
          <a:p>
            <a:pPr indent="0" marL="0">
              <a:buNone/>
            </a:pPr>
            <a:r>
              <a:rPr lang="en-US" sz="1300" dirty="0">
                <a:solidFill>
                  <a:srgbClr val="B91C1C"/>
                </a:solidFill>
                <a:latin typeface="Microsoft YaHei" pitchFamily="34" charset="0"/>
                <a:ea typeface="Microsoft YaHei" pitchFamily="34" charset="-122"/>
                <a:cs typeface="Microsoft YaHei" pitchFamily="34" charset="-120"/>
              </a:rPr>
              <a:t>物流类/延误超期</a:t>
            </a:r>
            <a:endParaRPr lang="en-US" sz="1300" dirty="0"/>
          </a:p>
        </p:txBody>
      </p:sp>
      <p:sp>
        <p:nvSpPr>
          <p:cNvPr id="16" name="Text 14"/>
          <p:cNvSpPr/>
          <p:nvPr/>
        </p:nvSpPr>
        <p:spPr>
          <a:xfrm>
            <a:off x="640080" y="3657600"/>
            <a:ext cx="1645920" cy="457200"/>
          </a:xfrm>
          <a:prstGeom prst="rect">
            <a:avLst/>
          </a:prstGeom>
          <a:noFill/>
          <a:ln/>
        </p:spPr>
        <p:txBody>
          <a:bodyPr wrap="square" rtlCol="0" anchor="ctr"/>
          <a:lstStyle/>
          <a:p>
            <a:pPr indent="0" marL="0">
              <a:buNone/>
            </a:pPr>
            <a:r>
              <a:rPr lang="en-US" sz="1300" b="1" dirty="0">
                <a:solidFill>
                  <a:srgbClr val="EF4444"/>
                </a:solidFill>
                <a:latin typeface="Microsoft YaHei" pitchFamily="34" charset="0"/>
                <a:ea typeface="Microsoft YaHei" pitchFamily="34" charset="-122"/>
                <a:cs typeface="Microsoft YaHei" pitchFamily="34" charset="-120"/>
              </a:rPr>
              <a:t>建议处理路径：</a:t>
            </a:r>
            <a:endParaRPr lang="en-US" sz="1300" dirty="0"/>
          </a:p>
        </p:txBody>
      </p:sp>
      <p:sp>
        <p:nvSpPr>
          <p:cNvPr id="17" name="Text 15"/>
          <p:cNvSpPr/>
          <p:nvPr/>
        </p:nvSpPr>
        <p:spPr>
          <a:xfrm>
            <a:off x="2286000" y="3657600"/>
            <a:ext cx="6217920" cy="457200"/>
          </a:xfrm>
          <a:prstGeom prst="rect">
            <a:avLst/>
          </a:prstGeom>
          <a:noFill/>
          <a:ln/>
        </p:spPr>
        <p:txBody>
          <a:bodyPr wrap="square" rtlCol="0" anchor="ctr"/>
          <a:lstStyle/>
          <a:p>
            <a:pPr indent="0" marL="0">
              <a:buNone/>
            </a:pPr>
            <a:r>
              <a:rPr lang="en-US" sz="1300" dirty="0">
                <a:solidFill>
                  <a:srgbClr val="B91C1C"/>
                </a:solidFill>
                <a:latin typeface="Microsoft YaHei" pitchFamily="34" charset="0"/>
                <a:ea typeface="Microsoft YaHei" pitchFamily="34" charset="-122"/>
                <a:cs typeface="Microsoft YaHei" pitchFamily="34" charset="-120"/>
              </a:rPr>
              <a:t>立即转交高级客服、确认货物位置、说明赔偿方案</a:t>
            </a:r>
            <a:endParaRPr lang="en-US" sz="1300" dirty="0"/>
          </a:p>
        </p:txBody>
      </p:sp>
      <p:sp>
        <p:nvSpPr>
          <p:cNvPr id="18" name="Shape 16"/>
          <p:cNvSpPr/>
          <p:nvPr/>
        </p:nvSpPr>
        <p:spPr>
          <a:xfrm>
            <a:off x="8503920" y="4663440"/>
            <a:ext cx="365760" cy="365760"/>
          </a:xfrm>
          <a:prstGeom prst="ellipse">
            <a:avLst/>
          </a:prstGeom>
          <a:solidFill>
            <a:srgbClr val="EF4444"/>
          </a:solidFill>
          <a:ln/>
        </p:spPr>
      </p:sp>
      <p:sp>
        <p:nvSpPr>
          <p:cNvPr id="19" name="Text 17"/>
          <p:cNvSpPr/>
          <p:nvPr/>
        </p:nvSpPr>
        <p:spPr>
          <a:xfrm>
            <a:off x="8503920" y="4663440"/>
            <a:ext cx="365760" cy="36576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42</a:t>
            </a:r>
            <a:endParaRPr lang="en-US" sz="1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274320"/>
            <a:ext cx="8229600" cy="457200"/>
          </a:xfrm>
          <a:prstGeom prst="rect">
            <a:avLst/>
          </a:prstGeom>
          <a:noFill/>
          <a:ln/>
        </p:spPr>
        <p:txBody>
          <a:bodyPr wrap="square" rtlCol="0" anchor="ctr"/>
          <a:lstStyle/>
          <a:p>
            <a:pPr indent="0" marL="0">
              <a:buNone/>
            </a:pPr>
            <a:r>
              <a:rPr lang="en-US" sz="2400" b="1" dirty="0">
                <a:solidFill>
                  <a:srgbClr val="B91C1C"/>
                </a:solidFill>
                <a:latin typeface="Microsoft YaHei" pitchFamily="34" charset="0"/>
                <a:ea typeface="Microsoft YaHei" pitchFamily="34" charset="-122"/>
                <a:cs typeface="Microsoft YaHei" pitchFamily="34" charset="-120"/>
              </a:rPr>
              <a:t>初稿常见问题与解法</a:t>
            </a:r>
            <a:endParaRPr lang="en-US" sz="2400" dirty="0"/>
          </a:p>
        </p:txBody>
      </p:sp>
      <p:sp>
        <p:nvSpPr>
          <p:cNvPr id="4" name="Shape 2"/>
          <p:cNvSpPr/>
          <p:nvPr/>
        </p:nvSpPr>
        <p:spPr>
          <a:xfrm>
            <a:off x="457200" y="822960"/>
            <a:ext cx="2926080" cy="457200"/>
          </a:xfrm>
          <a:prstGeom prst="rect">
            <a:avLst/>
          </a:prstGeom>
          <a:solidFill>
            <a:srgbClr val="B91C1C"/>
          </a:solidFill>
          <a:ln/>
        </p:spPr>
      </p:sp>
      <p:sp>
        <p:nvSpPr>
          <p:cNvPr id="5" name="Text 3"/>
          <p:cNvSpPr/>
          <p:nvPr/>
        </p:nvSpPr>
        <p:spPr>
          <a:xfrm>
            <a:off x="457200" y="822960"/>
            <a:ext cx="2926080" cy="457200"/>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问题现象</a:t>
            </a:r>
            <a:endParaRPr lang="en-US" sz="1400" dirty="0"/>
          </a:p>
        </p:txBody>
      </p:sp>
      <p:sp>
        <p:nvSpPr>
          <p:cNvPr id="6" name="Shape 4"/>
          <p:cNvSpPr/>
          <p:nvPr/>
        </p:nvSpPr>
        <p:spPr>
          <a:xfrm>
            <a:off x="3383280" y="822960"/>
            <a:ext cx="2560320" cy="457200"/>
          </a:xfrm>
          <a:prstGeom prst="rect">
            <a:avLst/>
          </a:prstGeom>
          <a:solidFill>
            <a:srgbClr val="B91C1C"/>
          </a:solidFill>
          <a:ln/>
        </p:spPr>
      </p:sp>
      <p:sp>
        <p:nvSpPr>
          <p:cNvPr id="7" name="Text 5"/>
          <p:cNvSpPr/>
          <p:nvPr/>
        </p:nvSpPr>
        <p:spPr>
          <a:xfrm>
            <a:off x="3383280" y="822960"/>
            <a:ext cx="2560320" cy="457200"/>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根本原因</a:t>
            </a:r>
            <a:endParaRPr lang="en-US" sz="1400" dirty="0"/>
          </a:p>
        </p:txBody>
      </p:sp>
      <p:sp>
        <p:nvSpPr>
          <p:cNvPr id="8" name="Shape 6"/>
          <p:cNvSpPr/>
          <p:nvPr/>
        </p:nvSpPr>
        <p:spPr>
          <a:xfrm>
            <a:off x="5943600" y="822960"/>
            <a:ext cx="2743200" cy="457200"/>
          </a:xfrm>
          <a:prstGeom prst="rect">
            <a:avLst/>
          </a:prstGeom>
          <a:solidFill>
            <a:srgbClr val="B91C1C"/>
          </a:solidFill>
          <a:ln/>
        </p:spPr>
      </p:sp>
      <p:sp>
        <p:nvSpPr>
          <p:cNvPr id="9" name="Text 7"/>
          <p:cNvSpPr/>
          <p:nvPr/>
        </p:nvSpPr>
        <p:spPr>
          <a:xfrm>
            <a:off x="5943600" y="822960"/>
            <a:ext cx="2743200" cy="457200"/>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解法</a:t>
            </a:r>
            <a:endParaRPr lang="en-US" sz="1400" dirty="0"/>
          </a:p>
        </p:txBody>
      </p:sp>
      <p:sp>
        <p:nvSpPr>
          <p:cNvPr id="10" name="Shape 8"/>
          <p:cNvSpPr/>
          <p:nvPr/>
        </p:nvSpPr>
        <p:spPr>
          <a:xfrm>
            <a:off x="457200" y="1280160"/>
            <a:ext cx="2926080" cy="685800"/>
          </a:xfrm>
          <a:prstGeom prst="rect">
            <a:avLst/>
          </a:prstGeom>
          <a:solidFill>
            <a:srgbClr val="F3F4F6"/>
          </a:solidFill>
          <a:ln/>
        </p:spPr>
      </p:sp>
      <p:sp>
        <p:nvSpPr>
          <p:cNvPr id="11" name="Text 9"/>
          <p:cNvSpPr/>
          <p:nvPr/>
        </p:nvSpPr>
        <p:spPr>
          <a:xfrm>
            <a:off x="548640" y="1280160"/>
            <a:ext cx="2743200" cy="685800"/>
          </a:xfrm>
          <a:prstGeom prst="rect">
            <a:avLst/>
          </a:prstGeom>
          <a:noFill/>
          <a:ln/>
        </p:spPr>
        <p:txBody>
          <a:bodyPr wrap="square" rtlCol="0" anchor="ctr"/>
          <a:lstStyle/>
          <a:p>
            <a:pPr indent="0" marL="0">
              <a:buNone/>
            </a:pPr>
            <a:r>
              <a:rPr lang="en-US" sz="1200" dirty="0">
                <a:solidFill>
                  <a:srgbClr val="374151"/>
                </a:solidFill>
                <a:latin typeface="Microsoft YaHei" pitchFamily="34" charset="0"/>
                <a:ea typeface="Microsoft YaHei" pitchFamily="34" charset="-122"/>
                <a:cs typeface="Microsoft YaHei" pitchFamily="34" charset="-120"/>
              </a:rPr>
              <a:t>输出格式每次不一样</a:t>
            </a:r>
            <a:endParaRPr lang="en-US" sz="1200" dirty="0"/>
          </a:p>
        </p:txBody>
      </p:sp>
      <p:sp>
        <p:nvSpPr>
          <p:cNvPr id="12" name="Shape 10"/>
          <p:cNvSpPr/>
          <p:nvPr/>
        </p:nvSpPr>
        <p:spPr>
          <a:xfrm>
            <a:off x="3383280" y="1280160"/>
            <a:ext cx="2560320" cy="685800"/>
          </a:xfrm>
          <a:prstGeom prst="rect">
            <a:avLst/>
          </a:prstGeom>
          <a:solidFill>
            <a:srgbClr val="F3F4F6"/>
          </a:solidFill>
          <a:ln/>
        </p:spPr>
      </p:sp>
      <p:sp>
        <p:nvSpPr>
          <p:cNvPr id="13" name="Text 11"/>
          <p:cNvSpPr/>
          <p:nvPr/>
        </p:nvSpPr>
        <p:spPr>
          <a:xfrm>
            <a:off x="3474720" y="1280160"/>
            <a:ext cx="2377440" cy="685800"/>
          </a:xfrm>
          <a:prstGeom prst="rect">
            <a:avLst/>
          </a:prstGeom>
          <a:noFill/>
          <a:ln/>
        </p:spPr>
        <p:txBody>
          <a:bodyPr wrap="square" rtlCol="0" anchor="ctr"/>
          <a:lstStyle/>
          <a:p>
            <a:pPr indent="0" marL="0">
              <a:buNone/>
            </a:pPr>
            <a:r>
              <a:rPr lang="en-US" sz="1200" dirty="0">
                <a:solidFill>
                  <a:srgbClr val="374151"/>
                </a:solidFill>
                <a:latin typeface="Microsoft YaHei" pitchFamily="34" charset="0"/>
                <a:ea typeface="Microsoft YaHei" pitchFamily="34" charset="-122"/>
                <a:cs typeface="Microsoft YaHei" pitchFamily="34" charset="-120"/>
              </a:rPr>
              <a:t>格式模板不够死板</a:t>
            </a:r>
            <a:endParaRPr lang="en-US" sz="1200" dirty="0"/>
          </a:p>
        </p:txBody>
      </p:sp>
      <p:sp>
        <p:nvSpPr>
          <p:cNvPr id="14" name="Shape 12"/>
          <p:cNvSpPr/>
          <p:nvPr/>
        </p:nvSpPr>
        <p:spPr>
          <a:xfrm>
            <a:off x="5943600" y="1280160"/>
            <a:ext cx="2743200" cy="685800"/>
          </a:xfrm>
          <a:prstGeom prst="rect">
            <a:avLst/>
          </a:prstGeom>
          <a:solidFill>
            <a:srgbClr val="F3F4F6"/>
          </a:solidFill>
          <a:ln/>
        </p:spPr>
      </p:sp>
      <p:sp>
        <p:nvSpPr>
          <p:cNvPr id="15" name="Text 13"/>
          <p:cNvSpPr/>
          <p:nvPr/>
        </p:nvSpPr>
        <p:spPr>
          <a:xfrm>
            <a:off x="6035040" y="1280160"/>
            <a:ext cx="2560320" cy="685800"/>
          </a:xfrm>
          <a:prstGeom prst="rect">
            <a:avLst/>
          </a:prstGeom>
          <a:noFill/>
          <a:ln/>
        </p:spPr>
        <p:txBody>
          <a:bodyPr wrap="square" rtlCol="0" anchor="ctr"/>
          <a:lstStyle/>
          <a:p>
            <a:pPr indent="0" marL="0">
              <a:buNone/>
            </a:pPr>
            <a:r>
              <a:rPr lang="en-US" sz="1200" dirty="0">
                <a:solidFill>
                  <a:srgbClr val="374151"/>
                </a:solidFill>
                <a:latin typeface="Microsoft YaHei" pitchFamily="34" charset="0"/>
                <a:ea typeface="Microsoft YaHei" pitchFamily="34" charset="-122"/>
                <a:cs typeface="Microsoft YaHei" pitchFamily="34" charset="-120"/>
              </a:rPr>
              <a:t>加硬性约束</a:t>
            </a:r>
            <a:endParaRPr lang="en-US" sz="1200" dirty="0"/>
          </a:p>
        </p:txBody>
      </p:sp>
      <p:sp>
        <p:nvSpPr>
          <p:cNvPr id="16" name="Shape 14"/>
          <p:cNvSpPr/>
          <p:nvPr/>
        </p:nvSpPr>
        <p:spPr>
          <a:xfrm>
            <a:off x="457200" y="2057400"/>
            <a:ext cx="2926080" cy="685800"/>
          </a:xfrm>
          <a:prstGeom prst="rect">
            <a:avLst/>
          </a:prstGeom>
          <a:solidFill>
            <a:srgbClr val="FFFFFF"/>
          </a:solidFill>
          <a:ln/>
        </p:spPr>
      </p:sp>
      <p:sp>
        <p:nvSpPr>
          <p:cNvPr id="17" name="Text 15"/>
          <p:cNvSpPr/>
          <p:nvPr/>
        </p:nvSpPr>
        <p:spPr>
          <a:xfrm>
            <a:off x="548640" y="2057400"/>
            <a:ext cx="2743200" cy="685800"/>
          </a:xfrm>
          <a:prstGeom prst="rect">
            <a:avLst/>
          </a:prstGeom>
          <a:noFill/>
          <a:ln/>
        </p:spPr>
        <p:txBody>
          <a:bodyPr wrap="square" rtlCol="0" anchor="ctr"/>
          <a:lstStyle/>
          <a:p>
            <a:pPr indent="0" marL="0">
              <a:buNone/>
            </a:pPr>
            <a:r>
              <a:rPr lang="en-US" sz="1200" dirty="0">
                <a:solidFill>
                  <a:srgbClr val="374151"/>
                </a:solidFill>
                <a:latin typeface="Microsoft YaHei" pitchFamily="34" charset="0"/>
                <a:ea typeface="Microsoft YaHei" pitchFamily="34" charset="-122"/>
                <a:cs typeface="Microsoft YaHei" pitchFamily="34" charset="-120"/>
              </a:rPr>
              <a:t>规则被绕过</a:t>
            </a:r>
            <a:endParaRPr lang="en-US" sz="1200" dirty="0"/>
          </a:p>
        </p:txBody>
      </p:sp>
      <p:sp>
        <p:nvSpPr>
          <p:cNvPr id="18" name="Shape 16"/>
          <p:cNvSpPr/>
          <p:nvPr/>
        </p:nvSpPr>
        <p:spPr>
          <a:xfrm>
            <a:off x="3383280" y="2057400"/>
            <a:ext cx="2560320" cy="685800"/>
          </a:xfrm>
          <a:prstGeom prst="rect">
            <a:avLst/>
          </a:prstGeom>
          <a:solidFill>
            <a:srgbClr val="FFFFFF"/>
          </a:solidFill>
          <a:ln/>
        </p:spPr>
      </p:sp>
      <p:sp>
        <p:nvSpPr>
          <p:cNvPr id="19" name="Text 17"/>
          <p:cNvSpPr/>
          <p:nvPr/>
        </p:nvSpPr>
        <p:spPr>
          <a:xfrm>
            <a:off x="3474720" y="2057400"/>
            <a:ext cx="2377440" cy="685800"/>
          </a:xfrm>
          <a:prstGeom prst="rect">
            <a:avLst/>
          </a:prstGeom>
          <a:noFill/>
          <a:ln/>
        </p:spPr>
        <p:txBody>
          <a:bodyPr wrap="square" rtlCol="0" anchor="ctr"/>
          <a:lstStyle/>
          <a:p>
            <a:pPr indent="0" marL="0">
              <a:buNone/>
            </a:pPr>
            <a:r>
              <a:rPr lang="en-US" sz="1200" dirty="0">
                <a:solidFill>
                  <a:srgbClr val="374151"/>
                </a:solidFill>
                <a:latin typeface="Microsoft YaHei" pitchFamily="34" charset="0"/>
                <a:ea typeface="Microsoft YaHei" pitchFamily="34" charset="-122"/>
                <a:cs typeface="Microsoft YaHei" pitchFamily="34" charset="-120"/>
              </a:rPr>
              <a:t>触发条件太模糊</a:t>
            </a:r>
            <a:endParaRPr lang="en-US" sz="1200" dirty="0"/>
          </a:p>
        </p:txBody>
      </p:sp>
      <p:sp>
        <p:nvSpPr>
          <p:cNvPr id="20" name="Shape 18"/>
          <p:cNvSpPr/>
          <p:nvPr/>
        </p:nvSpPr>
        <p:spPr>
          <a:xfrm>
            <a:off x="5943600" y="2057400"/>
            <a:ext cx="2743200" cy="685800"/>
          </a:xfrm>
          <a:prstGeom prst="rect">
            <a:avLst/>
          </a:prstGeom>
          <a:solidFill>
            <a:srgbClr val="FFFFFF"/>
          </a:solidFill>
          <a:ln/>
        </p:spPr>
      </p:sp>
      <p:sp>
        <p:nvSpPr>
          <p:cNvPr id="21" name="Text 19"/>
          <p:cNvSpPr/>
          <p:nvPr/>
        </p:nvSpPr>
        <p:spPr>
          <a:xfrm>
            <a:off x="6035040" y="2057400"/>
            <a:ext cx="2560320" cy="685800"/>
          </a:xfrm>
          <a:prstGeom prst="rect">
            <a:avLst/>
          </a:prstGeom>
          <a:noFill/>
          <a:ln/>
        </p:spPr>
        <p:txBody>
          <a:bodyPr wrap="square" rtlCol="0" anchor="ctr"/>
          <a:lstStyle/>
          <a:p>
            <a:pPr indent="0" marL="0">
              <a:buNone/>
            </a:pPr>
            <a:r>
              <a:rPr lang="en-US" sz="1200" dirty="0">
                <a:solidFill>
                  <a:srgbClr val="374151"/>
                </a:solidFill>
                <a:latin typeface="Microsoft YaHei" pitchFamily="34" charset="0"/>
                <a:ea typeface="Microsoft YaHei" pitchFamily="34" charset="-122"/>
                <a:cs typeface="Microsoft YaHei" pitchFamily="34" charset="-120"/>
              </a:rPr>
              <a:t>改成可检测信号</a:t>
            </a:r>
            <a:endParaRPr lang="en-US" sz="1200" dirty="0"/>
          </a:p>
        </p:txBody>
      </p:sp>
      <p:sp>
        <p:nvSpPr>
          <p:cNvPr id="22" name="Shape 20"/>
          <p:cNvSpPr/>
          <p:nvPr/>
        </p:nvSpPr>
        <p:spPr>
          <a:xfrm>
            <a:off x="457200" y="2834640"/>
            <a:ext cx="2926080" cy="685800"/>
          </a:xfrm>
          <a:prstGeom prst="rect">
            <a:avLst/>
          </a:prstGeom>
          <a:solidFill>
            <a:srgbClr val="F3F4F6"/>
          </a:solidFill>
          <a:ln/>
        </p:spPr>
      </p:sp>
      <p:sp>
        <p:nvSpPr>
          <p:cNvPr id="23" name="Text 21"/>
          <p:cNvSpPr/>
          <p:nvPr/>
        </p:nvSpPr>
        <p:spPr>
          <a:xfrm>
            <a:off x="548640" y="2834640"/>
            <a:ext cx="2743200" cy="685800"/>
          </a:xfrm>
          <a:prstGeom prst="rect">
            <a:avLst/>
          </a:prstGeom>
          <a:noFill/>
          <a:ln/>
        </p:spPr>
        <p:txBody>
          <a:bodyPr wrap="square" rtlCol="0" anchor="ctr"/>
          <a:lstStyle/>
          <a:p>
            <a:pPr indent="0" marL="0">
              <a:buNone/>
            </a:pPr>
            <a:r>
              <a:rPr lang="en-US" sz="1200" dirty="0">
                <a:solidFill>
                  <a:srgbClr val="374151"/>
                </a:solidFill>
                <a:latin typeface="Microsoft YaHei" pitchFamily="34" charset="0"/>
                <a:ea typeface="Microsoft YaHei" pitchFamily="34" charset="-122"/>
                <a:cs typeface="Microsoft YaHei" pitchFamily="34" charset="-120"/>
              </a:rPr>
              <a:t>边界情况乱发挥</a:t>
            </a:r>
            <a:endParaRPr lang="en-US" sz="1200" dirty="0"/>
          </a:p>
        </p:txBody>
      </p:sp>
      <p:sp>
        <p:nvSpPr>
          <p:cNvPr id="24" name="Shape 22"/>
          <p:cNvSpPr/>
          <p:nvPr/>
        </p:nvSpPr>
        <p:spPr>
          <a:xfrm>
            <a:off x="3383280" y="2834640"/>
            <a:ext cx="2560320" cy="685800"/>
          </a:xfrm>
          <a:prstGeom prst="rect">
            <a:avLst/>
          </a:prstGeom>
          <a:solidFill>
            <a:srgbClr val="F3F4F6"/>
          </a:solidFill>
          <a:ln/>
        </p:spPr>
      </p:sp>
      <p:sp>
        <p:nvSpPr>
          <p:cNvPr id="25" name="Text 23"/>
          <p:cNvSpPr/>
          <p:nvPr/>
        </p:nvSpPr>
        <p:spPr>
          <a:xfrm>
            <a:off x="3474720" y="2834640"/>
            <a:ext cx="2377440" cy="685800"/>
          </a:xfrm>
          <a:prstGeom prst="rect">
            <a:avLst/>
          </a:prstGeom>
          <a:noFill/>
          <a:ln/>
        </p:spPr>
        <p:txBody>
          <a:bodyPr wrap="square" rtlCol="0" anchor="ctr"/>
          <a:lstStyle/>
          <a:p>
            <a:pPr indent="0" marL="0">
              <a:buNone/>
            </a:pPr>
            <a:r>
              <a:rPr lang="en-US" sz="1200" dirty="0">
                <a:solidFill>
                  <a:srgbClr val="374151"/>
                </a:solidFill>
                <a:latin typeface="Microsoft YaHei" pitchFamily="34" charset="0"/>
                <a:ea typeface="Microsoft YaHei" pitchFamily="34" charset="-122"/>
                <a:cs typeface="Microsoft YaHei" pitchFamily="34" charset="-120"/>
              </a:rPr>
              <a:t>没有兜底规则</a:t>
            </a:r>
            <a:endParaRPr lang="en-US" sz="1200" dirty="0"/>
          </a:p>
        </p:txBody>
      </p:sp>
      <p:sp>
        <p:nvSpPr>
          <p:cNvPr id="26" name="Shape 24"/>
          <p:cNvSpPr/>
          <p:nvPr/>
        </p:nvSpPr>
        <p:spPr>
          <a:xfrm>
            <a:off x="5943600" y="2834640"/>
            <a:ext cx="2743200" cy="685800"/>
          </a:xfrm>
          <a:prstGeom prst="rect">
            <a:avLst/>
          </a:prstGeom>
          <a:solidFill>
            <a:srgbClr val="F3F4F6"/>
          </a:solidFill>
          <a:ln/>
        </p:spPr>
      </p:sp>
      <p:sp>
        <p:nvSpPr>
          <p:cNvPr id="27" name="Text 25"/>
          <p:cNvSpPr/>
          <p:nvPr/>
        </p:nvSpPr>
        <p:spPr>
          <a:xfrm>
            <a:off x="6035040" y="2834640"/>
            <a:ext cx="2560320" cy="685800"/>
          </a:xfrm>
          <a:prstGeom prst="rect">
            <a:avLst/>
          </a:prstGeom>
          <a:noFill/>
          <a:ln/>
        </p:spPr>
        <p:txBody>
          <a:bodyPr wrap="square" rtlCol="0" anchor="ctr"/>
          <a:lstStyle/>
          <a:p>
            <a:pPr indent="0" marL="0">
              <a:buNone/>
            </a:pPr>
            <a:r>
              <a:rPr lang="en-US" sz="1200" dirty="0">
                <a:solidFill>
                  <a:srgbClr val="374151"/>
                </a:solidFill>
                <a:latin typeface="Microsoft YaHei" pitchFamily="34" charset="0"/>
                <a:ea typeface="Microsoft YaHei" pitchFamily="34" charset="-122"/>
                <a:cs typeface="Microsoft YaHei" pitchFamily="34" charset="-120"/>
              </a:rPr>
              <a:t>加强兜底约束</a:t>
            </a:r>
            <a:endParaRPr lang="en-US" sz="1200" dirty="0"/>
          </a:p>
        </p:txBody>
      </p:sp>
      <p:sp>
        <p:nvSpPr>
          <p:cNvPr id="28" name="Shape 26"/>
          <p:cNvSpPr/>
          <p:nvPr/>
        </p:nvSpPr>
        <p:spPr>
          <a:xfrm>
            <a:off x="457200" y="3611880"/>
            <a:ext cx="2926080" cy="685800"/>
          </a:xfrm>
          <a:prstGeom prst="rect">
            <a:avLst/>
          </a:prstGeom>
          <a:solidFill>
            <a:srgbClr val="FFFFFF"/>
          </a:solidFill>
          <a:ln/>
        </p:spPr>
      </p:sp>
      <p:sp>
        <p:nvSpPr>
          <p:cNvPr id="29" name="Text 27"/>
          <p:cNvSpPr/>
          <p:nvPr/>
        </p:nvSpPr>
        <p:spPr>
          <a:xfrm>
            <a:off x="548640" y="3611880"/>
            <a:ext cx="2743200" cy="685800"/>
          </a:xfrm>
          <a:prstGeom prst="rect">
            <a:avLst/>
          </a:prstGeom>
          <a:noFill/>
          <a:ln/>
        </p:spPr>
        <p:txBody>
          <a:bodyPr wrap="square" rtlCol="0" anchor="ctr"/>
          <a:lstStyle/>
          <a:p>
            <a:pPr indent="0" marL="0">
              <a:buNone/>
            </a:pPr>
            <a:r>
              <a:rPr lang="en-US" sz="1200" dirty="0">
                <a:solidFill>
                  <a:srgbClr val="374151"/>
                </a:solidFill>
                <a:latin typeface="Microsoft YaHei" pitchFamily="34" charset="0"/>
                <a:ea typeface="Microsoft YaHei" pitchFamily="34" charset="-122"/>
                <a:cs typeface="Microsoft YaHei" pitchFamily="34" charset="-120"/>
              </a:rPr>
              <a:t>输出混了两个角色</a:t>
            </a:r>
            <a:endParaRPr lang="en-US" sz="1200" dirty="0"/>
          </a:p>
        </p:txBody>
      </p:sp>
      <p:sp>
        <p:nvSpPr>
          <p:cNvPr id="30" name="Shape 28"/>
          <p:cNvSpPr/>
          <p:nvPr/>
        </p:nvSpPr>
        <p:spPr>
          <a:xfrm>
            <a:off x="3383280" y="3611880"/>
            <a:ext cx="2560320" cy="685800"/>
          </a:xfrm>
          <a:prstGeom prst="rect">
            <a:avLst/>
          </a:prstGeom>
          <a:solidFill>
            <a:srgbClr val="FFFFFF"/>
          </a:solidFill>
          <a:ln/>
        </p:spPr>
      </p:sp>
      <p:sp>
        <p:nvSpPr>
          <p:cNvPr id="31" name="Text 29"/>
          <p:cNvSpPr/>
          <p:nvPr/>
        </p:nvSpPr>
        <p:spPr>
          <a:xfrm>
            <a:off x="3474720" y="3611880"/>
            <a:ext cx="2377440" cy="685800"/>
          </a:xfrm>
          <a:prstGeom prst="rect">
            <a:avLst/>
          </a:prstGeom>
          <a:noFill/>
          <a:ln/>
        </p:spPr>
        <p:txBody>
          <a:bodyPr wrap="square" rtlCol="0" anchor="ctr"/>
          <a:lstStyle/>
          <a:p>
            <a:pPr indent="0" marL="0">
              <a:buNone/>
            </a:pPr>
            <a:r>
              <a:rPr lang="en-US" sz="1200" dirty="0">
                <a:solidFill>
                  <a:srgbClr val="374151"/>
                </a:solidFill>
                <a:latin typeface="Microsoft YaHei" pitchFamily="34" charset="0"/>
                <a:ea typeface="Microsoft YaHei" pitchFamily="34" charset="-122"/>
                <a:cs typeface="Microsoft YaHei" pitchFamily="34" charset="-120"/>
              </a:rPr>
              <a:t>角色定义不清晰</a:t>
            </a:r>
            <a:endParaRPr lang="en-US" sz="1200" dirty="0"/>
          </a:p>
        </p:txBody>
      </p:sp>
      <p:sp>
        <p:nvSpPr>
          <p:cNvPr id="32" name="Shape 30"/>
          <p:cNvSpPr/>
          <p:nvPr/>
        </p:nvSpPr>
        <p:spPr>
          <a:xfrm>
            <a:off x="5943600" y="3611880"/>
            <a:ext cx="2743200" cy="685800"/>
          </a:xfrm>
          <a:prstGeom prst="rect">
            <a:avLst/>
          </a:prstGeom>
          <a:solidFill>
            <a:srgbClr val="FFFFFF"/>
          </a:solidFill>
          <a:ln/>
        </p:spPr>
      </p:sp>
      <p:sp>
        <p:nvSpPr>
          <p:cNvPr id="33" name="Text 31"/>
          <p:cNvSpPr/>
          <p:nvPr/>
        </p:nvSpPr>
        <p:spPr>
          <a:xfrm>
            <a:off x="6035040" y="3611880"/>
            <a:ext cx="2560320" cy="685800"/>
          </a:xfrm>
          <a:prstGeom prst="rect">
            <a:avLst/>
          </a:prstGeom>
          <a:noFill/>
          <a:ln/>
        </p:spPr>
        <p:txBody>
          <a:bodyPr wrap="square" rtlCol="0" anchor="ctr"/>
          <a:lstStyle/>
          <a:p>
            <a:pPr indent="0" marL="0">
              <a:buNone/>
            </a:pPr>
            <a:r>
              <a:rPr lang="en-US" sz="1200" dirty="0">
                <a:solidFill>
                  <a:srgbClr val="374151"/>
                </a:solidFill>
                <a:latin typeface="Microsoft YaHei" pitchFamily="34" charset="0"/>
                <a:ea typeface="Microsoft YaHei" pitchFamily="34" charset="-122"/>
                <a:cs typeface="Microsoft YaHei" pitchFamily="34" charset="-120"/>
              </a:rPr>
              <a:t>明确"不负责什么"</a:t>
            </a:r>
            <a:endParaRPr lang="en-US" sz="1200" dirty="0"/>
          </a:p>
        </p:txBody>
      </p:sp>
      <p:sp>
        <p:nvSpPr>
          <p:cNvPr id="34" name="Shape 32"/>
          <p:cNvSpPr/>
          <p:nvPr/>
        </p:nvSpPr>
        <p:spPr>
          <a:xfrm>
            <a:off x="8503920" y="4663440"/>
            <a:ext cx="365760" cy="365760"/>
          </a:xfrm>
          <a:prstGeom prst="ellipse">
            <a:avLst/>
          </a:prstGeom>
          <a:solidFill>
            <a:srgbClr val="EF4444"/>
          </a:solidFill>
          <a:ln/>
        </p:spPr>
      </p:sp>
      <p:sp>
        <p:nvSpPr>
          <p:cNvPr id="35" name="Text 33"/>
          <p:cNvSpPr/>
          <p:nvPr/>
        </p:nvSpPr>
        <p:spPr>
          <a:xfrm>
            <a:off x="8503920" y="4663440"/>
            <a:ext cx="365760" cy="36576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43</a:t>
            </a:r>
            <a:endParaRPr lang="en-US" sz="1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274320"/>
            <a:ext cx="8229600" cy="457200"/>
          </a:xfrm>
          <a:prstGeom prst="rect">
            <a:avLst/>
          </a:prstGeom>
          <a:noFill/>
          <a:ln/>
        </p:spPr>
        <p:txBody>
          <a:bodyPr wrap="square" rtlCol="0" anchor="ctr"/>
          <a:lstStyle/>
          <a:p>
            <a:pPr indent="0" marL="0">
              <a:buNone/>
            </a:pPr>
            <a:r>
              <a:rPr lang="en-US" sz="2400" b="1" dirty="0">
                <a:solidFill>
                  <a:srgbClr val="B91C1C"/>
                </a:solidFill>
                <a:latin typeface="Microsoft YaHei" pitchFamily="34" charset="0"/>
                <a:ea typeface="Microsoft YaHei" pitchFamily="34" charset="-122"/>
                <a:cs typeface="Microsoft YaHei" pitchFamily="34" charset="-120"/>
              </a:rPr>
              <a:t>练习五：搭建你的第一个Skill</a:t>
            </a:r>
            <a:endParaRPr lang="en-US" sz="2400" dirty="0"/>
          </a:p>
        </p:txBody>
      </p:sp>
      <p:sp>
        <p:nvSpPr>
          <p:cNvPr id="4" name="Shape 2"/>
          <p:cNvSpPr/>
          <p:nvPr/>
        </p:nvSpPr>
        <p:spPr>
          <a:xfrm>
            <a:off x="457200" y="1097280"/>
            <a:ext cx="8229600" cy="685800"/>
          </a:xfrm>
          <a:prstGeom prst="roundRect">
            <a:avLst>
              <a:gd name="adj" fmla="val 10667"/>
            </a:avLst>
          </a:prstGeom>
          <a:solidFill>
            <a:srgbClr val="F3F4F6"/>
          </a:solidFill>
          <a:ln/>
        </p:spPr>
      </p:sp>
      <p:sp>
        <p:nvSpPr>
          <p:cNvPr id="5" name="Shape 3"/>
          <p:cNvSpPr/>
          <p:nvPr/>
        </p:nvSpPr>
        <p:spPr>
          <a:xfrm>
            <a:off x="640080" y="1207008"/>
            <a:ext cx="457200" cy="457200"/>
          </a:xfrm>
          <a:prstGeom prst="ellipse">
            <a:avLst/>
          </a:prstGeom>
          <a:solidFill>
            <a:srgbClr val="EF4444"/>
          </a:solidFill>
          <a:ln/>
        </p:spPr>
      </p:sp>
      <p:sp>
        <p:nvSpPr>
          <p:cNvPr id="6" name="Text 4"/>
          <p:cNvSpPr/>
          <p:nvPr/>
        </p:nvSpPr>
        <p:spPr>
          <a:xfrm>
            <a:off x="640080" y="1207008"/>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p:nvPr/>
        </p:nvSpPr>
        <p:spPr>
          <a:xfrm>
            <a:off x="1280160" y="1097280"/>
            <a:ext cx="7223760" cy="685800"/>
          </a:xfrm>
          <a:prstGeom prst="rect">
            <a:avLst/>
          </a:prstGeom>
          <a:noFill/>
          <a:ln/>
        </p:spPr>
        <p:txBody>
          <a:bodyPr wrap="square" rtlCol="0" anchor="ctr"/>
          <a:lstStyle/>
          <a:p>
            <a:pPr indent="0" marL="0">
              <a:buNone/>
            </a:pPr>
            <a:r>
              <a:rPr lang="en-US" sz="1600" dirty="0">
                <a:solidFill>
                  <a:srgbClr val="B91C1C"/>
                </a:solidFill>
                <a:latin typeface="Microsoft YaHei" pitchFamily="34" charset="0"/>
                <a:ea typeface="Microsoft YaHei" pitchFamily="34" charset="-122"/>
                <a:cs typeface="Microsoft YaHei" pitchFamily="34" charset="-120"/>
              </a:rPr>
              <a:t>按五模块结构转化业务规则表</a:t>
            </a:r>
            <a:endParaRPr lang="en-US" sz="1600" dirty="0"/>
          </a:p>
        </p:txBody>
      </p:sp>
      <p:sp>
        <p:nvSpPr>
          <p:cNvPr id="8" name="Shape 6"/>
          <p:cNvSpPr/>
          <p:nvPr/>
        </p:nvSpPr>
        <p:spPr>
          <a:xfrm>
            <a:off x="457200" y="1920240"/>
            <a:ext cx="8229600" cy="685800"/>
          </a:xfrm>
          <a:prstGeom prst="roundRect">
            <a:avLst>
              <a:gd name="adj" fmla="val 10667"/>
            </a:avLst>
          </a:prstGeom>
          <a:solidFill>
            <a:srgbClr val="F3F4F6"/>
          </a:solidFill>
          <a:ln/>
        </p:spPr>
      </p:sp>
      <p:sp>
        <p:nvSpPr>
          <p:cNvPr id="9" name="Shape 7"/>
          <p:cNvSpPr/>
          <p:nvPr/>
        </p:nvSpPr>
        <p:spPr>
          <a:xfrm>
            <a:off x="640080" y="2029968"/>
            <a:ext cx="457200" cy="457200"/>
          </a:xfrm>
          <a:prstGeom prst="ellipse">
            <a:avLst/>
          </a:prstGeom>
          <a:solidFill>
            <a:srgbClr val="EF4444"/>
          </a:solidFill>
          <a:ln/>
        </p:spPr>
      </p:sp>
      <p:sp>
        <p:nvSpPr>
          <p:cNvPr id="10" name="Text 8"/>
          <p:cNvSpPr/>
          <p:nvPr/>
        </p:nvSpPr>
        <p:spPr>
          <a:xfrm>
            <a:off x="640080" y="2029968"/>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1" name="Text 9"/>
          <p:cNvSpPr/>
          <p:nvPr/>
        </p:nvSpPr>
        <p:spPr>
          <a:xfrm>
            <a:off x="1280160" y="1920240"/>
            <a:ext cx="7223760" cy="685800"/>
          </a:xfrm>
          <a:prstGeom prst="rect">
            <a:avLst/>
          </a:prstGeom>
          <a:noFill/>
          <a:ln/>
        </p:spPr>
        <p:txBody>
          <a:bodyPr wrap="square" rtlCol="0" anchor="ctr"/>
          <a:lstStyle/>
          <a:p>
            <a:pPr indent="0" marL="0">
              <a:buNone/>
            </a:pPr>
            <a:r>
              <a:rPr lang="en-US" sz="1600" dirty="0">
                <a:solidFill>
                  <a:srgbClr val="B91C1C"/>
                </a:solidFill>
                <a:latin typeface="Microsoft YaHei" pitchFamily="34" charset="0"/>
                <a:ea typeface="Microsoft YaHei" pitchFamily="34" charset="-122"/>
                <a:cs typeface="Microsoft YaHei" pitchFamily="34" charset="-120"/>
              </a:rPr>
              <a:t>录入AI平台并测试至少3次</a:t>
            </a:r>
            <a:endParaRPr lang="en-US" sz="1600" dirty="0"/>
          </a:p>
        </p:txBody>
      </p:sp>
      <p:sp>
        <p:nvSpPr>
          <p:cNvPr id="12" name="Shape 10"/>
          <p:cNvSpPr/>
          <p:nvPr/>
        </p:nvSpPr>
        <p:spPr>
          <a:xfrm>
            <a:off x="457200" y="2743200"/>
            <a:ext cx="8229600" cy="685800"/>
          </a:xfrm>
          <a:prstGeom prst="roundRect">
            <a:avLst>
              <a:gd name="adj" fmla="val 10667"/>
            </a:avLst>
          </a:prstGeom>
          <a:solidFill>
            <a:srgbClr val="F3F4F6"/>
          </a:solidFill>
          <a:ln/>
        </p:spPr>
      </p:sp>
      <p:sp>
        <p:nvSpPr>
          <p:cNvPr id="13" name="Shape 11"/>
          <p:cNvSpPr/>
          <p:nvPr/>
        </p:nvSpPr>
        <p:spPr>
          <a:xfrm>
            <a:off x="640080" y="2852928"/>
            <a:ext cx="457200" cy="457200"/>
          </a:xfrm>
          <a:prstGeom prst="ellipse">
            <a:avLst/>
          </a:prstGeom>
          <a:solidFill>
            <a:srgbClr val="EF4444"/>
          </a:solidFill>
          <a:ln/>
        </p:spPr>
      </p:sp>
      <p:sp>
        <p:nvSpPr>
          <p:cNvPr id="14" name="Text 12"/>
          <p:cNvSpPr/>
          <p:nvPr/>
        </p:nvSpPr>
        <p:spPr>
          <a:xfrm>
            <a:off x="640080" y="2852928"/>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5" name="Text 13"/>
          <p:cNvSpPr/>
          <p:nvPr/>
        </p:nvSpPr>
        <p:spPr>
          <a:xfrm>
            <a:off x="1280160" y="2743200"/>
            <a:ext cx="7223760" cy="685800"/>
          </a:xfrm>
          <a:prstGeom prst="rect">
            <a:avLst/>
          </a:prstGeom>
          <a:noFill/>
          <a:ln/>
        </p:spPr>
        <p:txBody>
          <a:bodyPr wrap="square" rtlCol="0" anchor="ctr"/>
          <a:lstStyle/>
          <a:p>
            <a:pPr indent="0" marL="0">
              <a:buNone/>
            </a:pPr>
            <a:r>
              <a:rPr lang="en-US" sz="1600" dirty="0">
                <a:solidFill>
                  <a:srgbClr val="B91C1C"/>
                </a:solidFill>
                <a:latin typeface="Microsoft YaHei" pitchFamily="34" charset="0"/>
                <a:ea typeface="Microsoft YaHei" pitchFamily="34" charset="-122"/>
                <a:cs typeface="Microsoft YaHei" pitchFamily="34" charset="-120"/>
              </a:rPr>
              <a:t>记录问题并修改</a:t>
            </a:r>
            <a:endParaRPr lang="en-US" sz="1600" dirty="0"/>
          </a:p>
        </p:txBody>
      </p:sp>
      <p:sp>
        <p:nvSpPr>
          <p:cNvPr id="16" name="Shape 14"/>
          <p:cNvSpPr/>
          <p:nvPr/>
        </p:nvSpPr>
        <p:spPr>
          <a:xfrm>
            <a:off x="457200" y="3566160"/>
            <a:ext cx="8229600" cy="685800"/>
          </a:xfrm>
          <a:prstGeom prst="roundRect">
            <a:avLst>
              <a:gd name="adj" fmla="val 10667"/>
            </a:avLst>
          </a:prstGeom>
          <a:solidFill>
            <a:srgbClr val="F3F4F6"/>
          </a:solidFill>
          <a:ln/>
        </p:spPr>
      </p:sp>
      <p:sp>
        <p:nvSpPr>
          <p:cNvPr id="17" name="Shape 15"/>
          <p:cNvSpPr/>
          <p:nvPr/>
        </p:nvSpPr>
        <p:spPr>
          <a:xfrm>
            <a:off x="640080" y="3675888"/>
            <a:ext cx="457200" cy="457200"/>
          </a:xfrm>
          <a:prstGeom prst="ellipse">
            <a:avLst/>
          </a:prstGeom>
          <a:solidFill>
            <a:srgbClr val="EF4444"/>
          </a:solidFill>
          <a:ln/>
        </p:spPr>
      </p:sp>
      <p:sp>
        <p:nvSpPr>
          <p:cNvPr id="18" name="Text 16"/>
          <p:cNvSpPr/>
          <p:nvPr/>
        </p:nvSpPr>
        <p:spPr>
          <a:xfrm>
            <a:off x="640080" y="3675888"/>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9" name="Text 17"/>
          <p:cNvSpPr/>
          <p:nvPr/>
        </p:nvSpPr>
        <p:spPr>
          <a:xfrm>
            <a:off x="1280160" y="3566160"/>
            <a:ext cx="7223760" cy="685800"/>
          </a:xfrm>
          <a:prstGeom prst="rect">
            <a:avLst/>
          </a:prstGeom>
          <a:noFill/>
          <a:ln/>
        </p:spPr>
        <p:txBody>
          <a:bodyPr wrap="square" rtlCol="0" anchor="ctr"/>
          <a:lstStyle/>
          <a:p>
            <a:pPr indent="0" marL="0">
              <a:buNone/>
            </a:pPr>
            <a:r>
              <a:rPr lang="en-US" sz="1600" dirty="0">
                <a:solidFill>
                  <a:srgbClr val="B91C1C"/>
                </a:solidFill>
                <a:latin typeface="Microsoft YaHei" pitchFamily="34" charset="0"/>
                <a:ea typeface="Microsoft YaHei" pitchFamily="34" charset="-122"/>
                <a:cs typeface="Microsoft YaHei" pitchFamily="34" charset="-120"/>
              </a:rPr>
              <a:t>给自己30分钟</a:t>
            </a:r>
            <a:endParaRPr lang="en-US" sz="1600" dirty="0"/>
          </a:p>
        </p:txBody>
      </p:sp>
      <p:sp>
        <p:nvSpPr>
          <p:cNvPr id="20" name="Shape 18"/>
          <p:cNvSpPr/>
          <p:nvPr/>
        </p:nvSpPr>
        <p:spPr>
          <a:xfrm>
            <a:off x="8503920" y="4663440"/>
            <a:ext cx="365760" cy="365760"/>
          </a:xfrm>
          <a:prstGeom prst="ellipse">
            <a:avLst/>
          </a:prstGeom>
          <a:solidFill>
            <a:srgbClr val="EF4444"/>
          </a:solidFill>
          <a:ln/>
        </p:spPr>
      </p:sp>
      <p:sp>
        <p:nvSpPr>
          <p:cNvPr id="21" name="Text 19"/>
          <p:cNvSpPr/>
          <p:nvPr/>
        </p:nvSpPr>
        <p:spPr>
          <a:xfrm>
            <a:off x="8503920" y="4663440"/>
            <a:ext cx="365760" cy="36576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44</a:t>
            </a:r>
            <a:endParaRPr lang="en-US" sz="1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B91C1C"/>
        </a:solidFill>
      </p:bgPr>
    </p:bg>
    <p:spTree>
      <p:nvGrpSpPr>
        <p:cNvPr id="1" name=""/>
        <p:cNvGrpSpPr/>
        <p:nvPr/>
      </p:nvGrpSpPr>
      <p:grpSpPr>
        <a:xfrm>
          <a:off x="0" y="0"/>
          <a:ext cx="0" cy="0"/>
          <a:chOff x="0" y="0"/>
          <a:chExt cx="0" cy="0"/>
        </a:xfrm>
      </p:grpSpPr>
      <p:sp>
        <p:nvSpPr>
          <p:cNvPr id="2" name="Shape 0"/>
          <p:cNvSpPr/>
          <p:nvPr/>
        </p:nvSpPr>
        <p:spPr>
          <a:xfrm>
            <a:off x="0" y="2103120"/>
            <a:ext cx="9144000" cy="54864"/>
          </a:xfrm>
          <a:prstGeom prst="rect">
            <a:avLst/>
          </a:prstGeom>
          <a:solidFill>
            <a:srgbClr val="EF4444"/>
          </a:solidFill>
          <a:ln/>
        </p:spPr>
      </p:sp>
      <p:sp>
        <p:nvSpPr>
          <p:cNvPr id="3" name="Text 1"/>
          <p:cNvSpPr/>
          <p:nvPr/>
        </p:nvSpPr>
        <p:spPr>
          <a:xfrm>
            <a:off x="457200" y="1645920"/>
            <a:ext cx="8229600" cy="548640"/>
          </a:xfrm>
          <a:prstGeom prst="rect">
            <a:avLst/>
          </a:prstGeom>
          <a:noFill/>
          <a:ln/>
        </p:spPr>
        <p:txBody>
          <a:bodyPr wrap="square" rtlCol="0" anchor="ctr"/>
          <a:lstStyle/>
          <a:p>
            <a:pPr indent="0" marL="0">
              <a:buNone/>
            </a:pPr>
            <a:r>
              <a:rPr lang="en-US" sz="2400" dirty="0">
                <a:solidFill>
                  <a:srgbClr val="F3F4F6"/>
                </a:solidFill>
                <a:latin typeface="Microsoft YaHei" pitchFamily="34" charset="0"/>
                <a:ea typeface="Microsoft YaHei" pitchFamily="34" charset="-122"/>
                <a:cs typeface="Microsoft YaHei" pitchFamily="34" charset="-120"/>
              </a:rPr>
              <a:t>第四部分</a:t>
            </a:r>
            <a:endParaRPr lang="en-US" sz="2400" dirty="0"/>
          </a:p>
        </p:txBody>
      </p:sp>
      <p:sp>
        <p:nvSpPr>
          <p:cNvPr id="4" name="Text 2"/>
          <p:cNvSpPr/>
          <p:nvPr/>
        </p:nvSpPr>
        <p:spPr>
          <a:xfrm>
            <a:off x="457200" y="2286000"/>
            <a:ext cx="8229600" cy="731520"/>
          </a:xfrm>
          <a:prstGeom prst="rect">
            <a:avLst/>
          </a:prstGeom>
          <a:noFill/>
          <a:ln/>
        </p:spPr>
        <p:txBody>
          <a:bodyPr wrap="square" rtlCol="0" anchor="ctr"/>
          <a:lstStyle/>
          <a:p>
            <a:pPr indent="0" marL="0">
              <a:buNone/>
            </a:pPr>
            <a:r>
              <a:rPr lang="en-US" sz="3800" b="1" dirty="0">
                <a:solidFill>
                  <a:srgbClr val="FFFFFF"/>
                </a:solidFill>
                <a:latin typeface="Microsoft YaHei" pitchFamily="34" charset="0"/>
                <a:ea typeface="Microsoft YaHei" pitchFamily="34" charset="-122"/>
                <a:cs typeface="Microsoft YaHei" pitchFamily="34" charset="-120"/>
              </a:rPr>
              <a:t>构建知识库</a:t>
            </a:r>
            <a:endParaRPr lang="en-US" sz="3800" dirty="0"/>
          </a:p>
        </p:txBody>
      </p:sp>
      <p:sp>
        <p:nvSpPr>
          <p:cNvPr id="5" name="Text 3"/>
          <p:cNvSpPr/>
          <p:nvPr/>
        </p:nvSpPr>
        <p:spPr>
          <a:xfrm>
            <a:off x="457200" y="3108960"/>
            <a:ext cx="8229600" cy="457200"/>
          </a:xfrm>
          <a:prstGeom prst="rect">
            <a:avLst/>
          </a:prstGeom>
          <a:noFill/>
          <a:ln/>
        </p:spPr>
        <p:txBody>
          <a:bodyPr wrap="square" rtlCol="0" anchor="ctr"/>
          <a:lstStyle/>
          <a:p>
            <a:pPr indent="0" marL="0">
              <a:buNone/>
            </a:pPr>
            <a:r>
              <a:rPr lang="en-US" sz="1800" dirty="0">
                <a:solidFill>
                  <a:srgbClr val="F3F4F6"/>
                </a:solidFill>
                <a:latin typeface="Microsoft YaHei" pitchFamily="34" charset="0"/>
                <a:ea typeface="Microsoft YaHei" pitchFamily="34" charset="-122"/>
                <a:cs typeface="Microsoft YaHei" pitchFamily="34" charset="-120"/>
              </a:rPr>
              <a:t>规则和知识库的分工</a:t>
            </a:r>
            <a:endParaRPr lang="en-US" sz="18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274320"/>
            <a:ext cx="8229600" cy="457200"/>
          </a:xfrm>
          <a:prstGeom prst="rect">
            <a:avLst/>
          </a:prstGeom>
          <a:noFill/>
          <a:ln/>
        </p:spPr>
        <p:txBody>
          <a:bodyPr wrap="square" rtlCol="0" anchor="ctr"/>
          <a:lstStyle/>
          <a:p>
            <a:pPr indent="0" marL="0">
              <a:buNone/>
            </a:pPr>
            <a:r>
              <a:rPr lang="en-US" sz="2400" b="1" dirty="0">
                <a:solidFill>
                  <a:srgbClr val="B91C1C"/>
                </a:solidFill>
                <a:latin typeface="Microsoft YaHei" pitchFamily="34" charset="0"/>
                <a:ea typeface="Microsoft YaHei" pitchFamily="34" charset="-122"/>
                <a:cs typeface="Microsoft YaHei" pitchFamily="34" charset="-120"/>
              </a:rPr>
              <a:t>规则 vs 知识库</a:t>
            </a:r>
            <a:endParaRPr lang="en-US" sz="2400" dirty="0"/>
          </a:p>
        </p:txBody>
      </p:sp>
      <p:sp>
        <p:nvSpPr>
          <p:cNvPr id="4" name="Shape 2"/>
          <p:cNvSpPr/>
          <p:nvPr/>
        </p:nvSpPr>
        <p:spPr>
          <a:xfrm>
            <a:off x="457200" y="914400"/>
            <a:ext cx="3931920" cy="3291840"/>
          </a:xfrm>
          <a:prstGeom prst="roundRect">
            <a:avLst>
              <a:gd name="adj" fmla="val 2778"/>
            </a:avLst>
          </a:prstGeom>
          <a:solidFill>
            <a:srgbClr val="B91C1C"/>
          </a:solidFill>
          <a:ln/>
        </p:spPr>
      </p:sp>
      <p:sp>
        <p:nvSpPr>
          <p:cNvPr id="5" name="Text 3"/>
          <p:cNvSpPr/>
          <p:nvPr/>
        </p:nvSpPr>
        <p:spPr>
          <a:xfrm>
            <a:off x="731520" y="1097280"/>
            <a:ext cx="3383280" cy="457200"/>
          </a:xfrm>
          <a:prstGeom prst="rect">
            <a:avLst/>
          </a:prstGeom>
          <a:noFill/>
          <a:ln/>
        </p:spPr>
        <p:txBody>
          <a:bodyPr wrap="square" rtlCol="0" anchor="ctr"/>
          <a:lstStyle/>
          <a:p>
            <a:pPr indent="0" marL="0">
              <a:buNone/>
            </a:pPr>
            <a:r>
              <a:rPr lang="en-US" sz="2000" b="1" dirty="0">
                <a:solidFill>
                  <a:srgbClr val="FFFFFF"/>
                </a:solidFill>
                <a:latin typeface="Microsoft YaHei" pitchFamily="34" charset="0"/>
                <a:ea typeface="Microsoft YaHei" pitchFamily="34" charset="-122"/>
                <a:cs typeface="Microsoft YaHei" pitchFamily="34" charset="-120"/>
              </a:rPr>
              <a:t>规则</a:t>
            </a:r>
            <a:endParaRPr lang="en-US" sz="2000" dirty="0"/>
          </a:p>
        </p:txBody>
      </p:sp>
      <p:sp>
        <p:nvSpPr>
          <p:cNvPr id="6" name="Text 4"/>
          <p:cNvSpPr/>
          <p:nvPr/>
        </p:nvSpPr>
        <p:spPr>
          <a:xfrm>
            <a:off x="731520" y="1554480"/>
            <a:ext cx="3383280" cy="365760"/>
          </a:xfrm>
          <a:prstGeom prst="rect">
            <a:avLst/>
          </a:prstGeom>
          <a:noFill/>
          <a:ln/>
        </p:spPr>
        <p:txBody>
          <a:bodyPr wrap="square" rtlCol="0" anchor="ctr"/>
          <a:lstStyle/>
          <a:p>
            <a:pPr indent="0" marL="0">
              <a:buNone/>
            </a:pPr>
            <a:r>
              <a:rPr lang="en-US" sz="1400" dirty="0">
                <a:solidFill>
                  <a:srgbClr val="EF4444"/>
                </a:solidFill>
                <a:latin typeface="Microsoft YaHei" pitchFamily="34" charset="0"/>
                <a:ea typeface="Microsoft YaHei" pitchFamily="34" charset="-122"/>
                <a:cs typeface="Microsoft YaHei" pitchFamily="34" charset="-120"/>
              </a:rPr>
              <a:t>决定"怎么做"</a:t>
            </a:r>
            <a:endParaRPr lang="en-US" sz="1400" dirty="0"/>
          </a:p>
        </p:txBody>
      </p:sp>
      <p:sp>
        <p:nvSpPr>
          <p:cNvPr id="7" name="Text 5"/>
          <p:cNvSpPr/>
          <p:nvPr/>
        </p:nvSpPr>
        <p:spPr>
          <a:xfrm>
            <a:off x="731520" y="2011680"/>
            <a:ext cx="3383280" cy="1097280"/>
          </a:xfrm>
          <a:prstGeom prst="rect">
            <a:avLst/>
          </a:prstGeom>
          <a:noFill/>
          <a:ln/>
        </p:spPr>
        <p:txBody>
          <a:bodyPr wrap="square" rtlCol="0" anchor="ctr"/>
          <a:lstStyle/>
          <a:p>
            <a:pPr indent="0" marL="0">
              <a:buNone/>
            </a:pPr>
            <a:r>
              <a:rPr lang="en-US" sz="1400" dirty="0">
                <a:solidFill>
                  <a:srgbClr val="F3F4F6"/>
                </a:solidFill>
                <a:latin typeface="Microsoft YaHei" pitchFamily="34" charset="0"/>
                <a:ea typeface="Microsoft YaHei" pitchFamily="34" charset="-122"/>
                <a:cs typeface="Microsoft YaHei" pitchFamily="34" charset="-120"/>
              </a:rPr>
              <a:t>• 处理流程</a:t>
            </a:r>
            <a:endParaRPr lang="en-US" sz="1400" dirty="0"/>
          </a:p>
          <a:p>
            <a:pPr indent="0" marL="0">
              <a:buNone/>
            </a:pPr>
            <a:r>
              <a:rPr lang="en-US" sz="1400" dirty="0">
                <a:solidFill>
                  <a:srgbClr val="F3F4F6"/>
                </a:solidFill>
                <a:latin typeface="Microsoft YaHei" pitchFamily="34" charset="0"/>
                <a:ea typeface="Microsoft YaHei" pitchFamily="34" charset="-122"/>
                <a:cs typeface="Microsoft YaHei" pitchFamily="34" charset="-120"/>
              </a:rPr>
              <a:t>• 判断逻辑</a:t>
            </a:r>
            <a:endParaRPr lang="en-US" sz="1400" dirty="0"/>
          </a:p>
          <a:p>
            <a:pPr indent="0" marL="0">
              <a:buNone/>
            </a:pPr>
            <a:r>
              <a:rPr lang="en-US" sz="1400" dirty="0">
                <a:solidFill>
                  <a:srgbClr val="F3F4F6"/>
                </a:solidFill>
                <a:latin typeface="Microsoft YaHei" pitchFamily="34" charset="0"/>
                <a:ea typeface="Microsoft YaHei" pitchFamily="34" charset="-122"/>
                <a:cs typeface="Microsoft YaHei" pitchFamily="34" charset="-120"/>
              </a:rPr>
              <a:t>• 执行标准</a:t>
            </a:r>
            <a:endParaRPr lang="en-US" sz="1400" dirty="0"/>
          </a:p>
        </p:txBody>
      </p:sp>
      <p:sp>
        <p:nvSpPr>
          <p:cNvPr id="8" name="Shape 6"/>
          <p:cNvSpPr/>
          <p:nvPr/>
        </p:nvSpPr>
        <p:spPr>
          <a:xfrm>
            <a:off x="731520" y="3200400"/>
            <a:ext cx="3383280" cy="731520"/>
          </a:xfrm>
          <a:prstGeom prst="roundRect">
            <a:avLst>
              <a:gd name="adj" fmla="val 10000"/>
            </a:avLst>
          </a:prstGeom>
          <a:solidFill>
            <a:srgbClr val="EF4444"/>
          </a:solidFill>
          <a:ln/>
        </p:spPr>
      </p:sp>
      <p:sp>
        <p:nvSpPr>
          <p:cNvPr id="9" name="Text 7"/>
          <p:cNvSpPr/>
          <p:nvPr/>
        </p:nvSpPr>
        <p:spPr>
          <a:xfrm>
            <a:off x="731520" y="3200400"/>
            <a:ext cx="3383280" cy="731520"/>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写进Skill指令</a:t>
            </a:r>
            <a:endParaRPr lang="en-US" sz="1400" dirty="0"/>
          </a:p>
        </p:txBody>
      </p:sp>
      <p:sp>
        <p:nvSpPr>
          <p:cNvPr id="10" name="Shape 8"/>
          <p:cNvSpPr/>
          <p:nvPr/>
        </p:nvSpPr>
        <p:spPr>
          <a:xfrm>
            <a:off x="4754880" y="914400"/>
            <a:ext cx="3931920" cy="3291840"/>
          </a:xfrm>
          <a:prstGeom prst="roundRect">
            <a:avLst>
              <a:gd name="adj" fmla="val 2778"/>
            </a:avLst>
          </a:prstGeom>
          <a:solidFill>
            <a:srgbClr val="F3F4F6"/>
          </a:solidFill>
          <a:ln/>
        </p:spPr>
      </p:sp>
      <p:sp>
        <p:nvSpPr>
          <p:cNvPr id="11" name="Text 9"/>
          <p:cNvSpPr/>
          <p:nvPr/>
        </p:nvSpPr>
        <p:spPr>
          <a:xfrm>
            <a:off x="5029200" y="1097280"/>
            <a:ext cx="3383280" cy="457200"/>
          </a:xfrm>
          <a:prstGeom prst="rect">
            <a:avLst/>
          </a:prstGeom>
          <a:noFill/>
          <a:ln/>
        </p:spPr>
        <p:txBody>
          <a:bodyPr wrap="square" rtlCol="0" anchor="ctr"/>
          <a:lstStyle/>
          <a:p>
            <a:pPr indent="0" marL="0">
              <a:buNone/>
            </a:pPr>
            <a:r>
              <a:rPr lang="en-US" sz="2000" b="1" dirty="0">
                <a:solidFill>
                  <a:srgbClr val="B91C1C"/>
                </a:solidFill>
                <a:latin typeface="Microsoft YaHei" pitchFamily="34" charset="0"/>
                <a:ea typeface="Microsoft YaHei" pitchFamily="34" charset="-122"/>
                <a:cs typeface="Microsoft YaHei" pitchFamily="34" charset="-120"/>
              </a:rPr>
              <a:t>知识库</a:t>
            </a:r>
            <a:endParaRPr lang="en-US" sz="2000" dirty="0"/>
          </a:p>
        </p:txBody>
      </p:sp>
      <p:sp>
        <p:nvSpPr>
          <p:cNvPr id="12" name="Text 10"/>
          <p:cNvSpPr/>
          <p:nvPr/>
        </p:nvSpPr>
        <p:spPr>
          <a:xfrm>
            <a:off x="5029200" y="1554480"/>
            <a:ext cx="3383280" cy="365760"/>
          </a:xfrm>
          <a:prstGeom prst="rect">
            <a:avLst/>
          </a:prstGeom>
          <a:noFill/>
          <a:ln/>
        </p:spPr>
        <p:txBody>
          <a:bodyPr wrap="square" rtlCol="0" anchor="ctr"/>
          <a:lstStyle/>
          <a:p>
            <a:pPr indent="0" marL="0">
              <a:buNone/>
            </a:pPr>
            <a:r>
              <a:rPr lang="en-US" sz="1400" dirty="0">
                <a:solidFill>
                  <a:srgbClr val="EF4444"/>
                </a:solidFill>
                <a:latin typeface="Microsoft YaHei" pitchFamily="34" charset="0"/>
                <a:ea typeface="Microsoft YaHei" pitchFamily="34" charset="-122"/>
                <a:cs typeface="Microsoft YaHei" pitchFamily="34" charset="-120"/>
              </a:rPr>
              <a:t>提供"凭什么做"</a:t>
            </a:r>
            <a:endParaRPr lang="en-US" sz="1400" dirty="0"/>
          </a:p>
        </p:txBody>
      </p:sp>
      <p:sp>
        <p:nvSpPr>
          <p:cNvPr id="13" name="Text 11"/>
          <p:cNvSpPr/>
          <p:nvPr/>
        </p:nvSpPr>
        <p:spPr>
          <a:xfrm>
            <a:off x="5029200" y="2011680"/>
            <a:ext cx="3383280" cy="1280160"/>
          </a:xfrm>
          <a:prstGeom prst="rect">
            <a:avLst/>
          </a:prstGeom>
          <a:noFill/>
          <a:ln/>
        </p:spPr>
        <p:txBody>
          <a:bodyPr wrap="square" rtlCol="0" anchor="ctr"/>
          <a:lstStyle/>
          <a:p>
            <a:pPr indent="0" marL="0">
              <a:buNone/>
            </a:pPr>
            <a:r>
              <a:rPr lang="en-US" sz="1400" dirty="0">
                <a:solidFill>
                  <a:srgbClr val="374151"/>
                </a:solidFill>
                <a:latin typeface="Microsoft YaHei" pitchFamily="34" charset="0"/>
                <a:ea typeface="Microsoft YaHei" pitchFamily="34" charset="-122"/>
                <a:cs typeface="Microsoft YaHei" pitchFamily="34" charset="-120"/>
              </a:rPr>
              <a:t>• 背景信息</a:t>
            </a:r>
            <a:endParaRPr lang="en-US" sz="1400" dirty="0"/>
          </a:p>
          <a:p>
            <a:pPr indent="0" marL="0">
              <a:buNone/>
            </a:pPr>
            <a:r>
              <a:rPr lang="en-US" sz="1400" dirty="0">
                <a:solidFill>
                  <a:srgbClr val="374151"/>
                </a:solidFill>
                <a:latin typeface="Microsoft YaHei" pitchFamily="34" charset="0"/>
                <a:ea typeface="Microsoft YaHei" pitchFamily="34" charset="-122"/>
                <a:cs typeface="Microsoft YaHei" pitchFamily="34" charset="-120"/>
              </a:rPr>
              <a:t>• 历史案例</a:t>
            </a:r>
            <a:endParaRPr lang="en-US" sz="1400" dirty="0"/>
          </a:p>
          <a:p>
            <a:pPr indent="0" marL="0">
              <a:buNone/>
            </a:pPr>
            <a:r>
              <a:rPr lang="en-US" sz="1400" dirty="0">
                <a:solidFill>
                  <a:srgbClr val="374151"/>
                </a:solidFill>
                <a:latin typeface="Microsoft YaHei" pitchFamily="34" charset="0"/>
                <a:ea typeface="Microsoft YaHei" pitchFamily="34" charset="-122"/>
                <a:cs typeface="Microsoft YaHei" pitchFamily="34" charset="-120"/>
              </a:rPr>
              <a:t>• 行业标准</a:t>
            </a:r>
            <a:endParaRPr lang="en-US" sz="1400" dirty="0"/>
          </a:p>
          <a:p>
            <a:pPr indent="0" marL="0">
              <a:buNone/>
            </a:pPr>
            <a:r>
              <a:rPr lang="en-US" sz="1400" dirty="0">
                <a:solidFill>
                  <a:srgbClr val="374151"/>
                </a:solidFill>
                <a:latin typeface="Microsoft YaHei" pitchFamily="34" charset="0"/>
                <a:ea typeface="Microsoft YaHei" pitchFamily="34" charset="-122"/>
                <a:cs typeface="Microsoft YaHei" pitchFamily="34" charset="-120"/>
              </a:rPr>
              <a:t>• 公司政策</a:t>
            </a:r>
            <a:endParaRPr lang="en-US" sz="1400" dirty="0"/>
          </a:p>
        </p:txBody>
      </p:sp>
      <p:sp>
        <p:nvSpPr>
          <p:cNvPr id="14" name="Shape 12"/>
          <p:cNvSpPr/>
          <p:nvPr/>
        </p:nvSpPr>
        <p:spPr>
          <a:xfrm>
            <a:off x="5029200" y="3200400"/>
            <a:ext cx="3383280" cy="731520"/>
          </a:xfrm>
          <a:prstGeom prst="roundRect">
            <a:avLst>
              <a:gd name="adj" fmla="val 10000"/>
            </a:avLst>
          </a:prstGeom>
          <a:solidFill>
            <a:srgbClr val="374151"/>
          </a:solidFill>
          <a:ln/>
        </p:spPr>
      </p:sp>
      <p:sp>
        <p:nvSpPr>
          <p:cNvPr id="15" name="Text 13"/>
          <p:cNvSpPr/>
          <p:nvPr/>
        </p:nvSpPr>
        <p:spPr>
          <a:xfrm>
            <a:off x="5029200" y="3200400"/>
            <a:ext cx="3383280" cy="731520"/>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独立存放，AI调取参考</a:t>
            </a:r>
            <a:endParaRPr lang="en-US" sz="1400" dirty="0"/>
          </a:p>
        </p:txBody>
      </p:sp>
      <p:sp>
        <p:nvSpPr>
          <p:cNvPr id="16" name="Shape 14"/>
          <p:cNvSpPr/>
          <p:nvPr/>
        </p:nvSpPr>
        <p:spPr>
          <a:xfrm>
            <a:off x="8503920" y="4663440"/>
            <a:ext cx="365760" cy="365760"/>
          </a:xfrm>
          <a:prstGeom prst="ellipse">
            <a:avLst/>
          </a:prstGeom>
          <a:solidFill>
            <a:srgbClr val="EF4444"/>
          </a:solidFill>
          <a:ln/>
        </p:spPr>
      </p:sp>
      <p:sp>
        <p:nvSpPr>
          <p:cNvPr id="17" name="Text 15"/>
          <p:cNvSpPr/>
          <p:nvPr/>
        </p:nvSpPr>
        <p:spPr>
          <a:xfrm>
            <a:off x="8503920" y="4663440"/>
            <a:ext cx="365760" cy="36576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46</a:t>
            </a:r>
            <a:endParaRPr lang="en-US" sz="10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274320"/>
            <a:ext cx="8229600" cy="457200"/>
          </a:xfrm>
          <a:prstGeom prst="rect">
            <a:avLst/>
          </a:prstGeom>
          <a:noFill/>
          <a:ln/>
        </p:spPr>
        <p:txBody>
          <a:bodyPr wrap="square" rtlCol="0" anchor="ctr"/>
          <a:lstStyle/>
          <a:p>
            <a:pPr indent="0" marL="0">
              <a:buNone/>
            </a:pPr>
            <a:r>
              <a:rPr lang="en-US" sz="2400" b="1" dirty="0">
                <a:solidFill>
                  <a:srgbClr val="B91C1C"/>
                </a:solidFill>
                <a:latin typeface="Microsoft YaHei" pitchFamily="34" charset="0"/>
                <a:ea typeface="Microsoft YaHei" pitchFamily="34" charset="-122"/>
                <a:cs typeface="Microsoft YaHei" pitchFamily="34" charset="-120"/>
              </a:rPr>
              <a:t>知识库的三类内容</a:t>
            </a:r>
            <a:endParaRPr lang="en-US" sz="2400" dirty="0"/>
          </a:p>
        </p:txBody>
      </p:sp>
      <p:sp>
        <p:nvSpPr>
          <p:cNvPr id="4" name="Shape 2"/>
          <p:cNvSpPr/>
          <p:nvPr/>
        </p:nvSpPr>
        <p:spPr>
          <a:xfrm>
            <a:off x="457200" y="1097280"/>
            <a:ext cx="2651760" cy="2926080"/>
          </a:xfrm>
          <a:prstGeom prst="roundRect">
            <a:avLst>
              <a:gd name="adj" fmla="val 3448"/>
            </a:avLst>
          </a:prstGeom>
          <a:solidFill>
            <a:srgbClr val="F3F4F6"/>
          </a:solidFill>
          <a:ln/>
        </p:spPr>
      </p:sp>
      <p:sp>
        <p:nvSpPr>
          <p:cNvPr id="5" name="Shape 3"/>
          <p:cNvSpPr/>
          <p:nvPr/>
        </p:nvSpPr>
        <p:spPr>
          <a:xfrm>
            <a:off x="1417320" y="1371600"/>
            <a:ext cx="731520" cy="731520"/>
          </a:xfrm>
          <a:prstGeom prst="ellipse">
            <a:avLst/>
          </a:prstGeom>
          <a:solidFill>
            <a:srgbClr val="EF4444"/>
          </a:solidFill>
          <a:ln/>
        </p:spPr>
      </p:sp>
      <p:sp>
        <p:nvSpPr>
          <p:cNvPr id="6" name="Text 4"/>
          <p:cNvSpPr/>
          <p:nvPr/>
        </p:nvSpPr>
        <p:spPr>
          <a:xfrm>
            <a:off x="1417320" y="1371600"/>
            <a:ext cx="731520" cy="731520"/>
          </a:xfrm>
          <a:prstGeom prst="rect">
            <a:avLst/>
          </a:prstGeom>
          <a:noFill/>
          <a:ln/>
        </p:spPr>
        <p:txBody>
          <a:bodyPr wrap="square"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1</a:t>
            </a:r>
            <a:endParaRPr lang="en-US" sz="2400" dirty="0"/>
          </a:p>
        </p:txBody>
      </p:sp>
      <p:sp>
        <p:nvSpPr>
          <p:cNvPr id="7" name="Text 5"/>
          <p:cNvSpPr/>
          <p:nvPr/>
        </p:nvSpPr>
        <p:spPr>
          <a:xfrm>
            <a:off x="640080" y="2286000"/>
            <a:ext cx="2286000" cy="365760"/>
          </a:xfrm>
          <a:prstGeom prst="rect">
            <a:avLst/>
          </a:prstGeom>
          <a:noFill/>
          <a:ln/>
        </p:spPr>
        <p:txBody>
          <a:bodyPr wrap="square" rtlCol="0" anchor="ctr"/>
          <a:lstStyle/>
          <a:p>
            <a:pPr algn="ctr" indent="0" marL="0">
              <a:buNone/>
            </a:pPr>
            <a:r>
              <a:rPr lang="en-US" sz="1600" b="1" dirty="0">
                <a:solidFill>
                  <a:srgbClr val="B91C1C"/>
                </a:solidFill>
                <a:latin typeface="Microsoft YaHei" pitchFamily="34" charset="0"/>
                <a:ea typeface="Microsoft YaHei" pitchFamily="34" charset="-122"/>
                <a:cs typeface="Microsoft YaHei" pitchFamily="34" charset="-120"/>
              </a:rPr>
              <a:t>案例库</a:t>
            </a:r>
            <a:endParaRPr lang="en-US" sz="1600" dirty="0"/>
          </a:p>
        </p:txBody>
      </p:sp>
      <p:sp>
        <p:nvSpPr>
          <p:cNvPr id="8" name="Text 6"/>
          <p:cNvSpPr/>
          <p:nvPr/>
        </p:nvSpPr>
        <p:spPr>
          <a:xfrm>
            <a:off x="640080" y="2651760"/>
            <a:ext cx="2286000" cy="274320"/>
          </a:xfrm>
          <a:prstGeom prst="rect">
            <a:avLst/>
          </a:prstGeom>
          <a:noFill/>
          <a:ln/>
        </p:spPr>
        <p:txBody>
          <a:bodyPr wrap="square" rtlCol="0" anchor="ctr"/>
          <a:lstStyle/>
          <a:p>
            <a:pPr algn="ctr" indent="0" marL="0">
              <a:buNone/>
            </a:pPr>
            <a:r>
              <a:rPr lang="en-US" sz="1200" dirty="0">
                <a:solidFill>
                  <a:srgbClr val="EF4444"/>
                </a:solidFill>
                <a:latin typeface="Microsoft YaHei" pitchFamily="34" charset="0"/>
                <a:ea typeface="Microsoft YaHei" pitchFamily="34" charset="-122"/>
                <a:cs typeface="Microsoft YaHei" pitchFamily="34" charset="-120"/>
              </a:rPr>
              <a:t>（最重要）</a:t>
            </a:r>
            <a:endParaRPr lang="en-US" sz="1200" dirty="0"/>
          </a:p>
        </p:txBody>
      </p:sp>
      <p:sp>
        <p:nvSpPr>
          <p:cNvPr id="9" name="Text 7"/>
          <p:cNvSpPr/>
          <p:nvPr/>
        </p:nvSpPr>
        <p:spPr>
          <a:xfrm>
            <a:off x="640080" y="3017520"/>
            <a:ext cx="2286000" cy="731520"/>
          </a:xfrm>
          <a:prstGeom prst="rect">
            <a:avLst/>
          </a:prstGeom>
          <a:noFill/>
          <a:ln/>
        </p:spPr>
        <p:txBody>
          <a:bodyPr wrap="square" rtlCol="0" anchor="ctr"/>
          <a:lstStyle/>
          <a:p>
            <a:pPr algn="ctr" indent="0" marL="0">
              <a:buNone/>
            </a:pPr>
            <a:r>
              <a:rPr lang="en-US" sz="1200" dirty="0">
                <a:solidFill>
                  <a:srgbClr val="374151"/>
                </a:solidFill>
                <a:latin typeface="Microsoft YaHei" pitchFamily="34" charset="0"/>
                <a:ea typeface="Microsoft YaHei" pitchFamily="34" charset="-122"/>
                <a:cs typeface="Microsoft YaHei" pitchFamily="34" charset="-120"/>
              </a:rPr>
              <a:t>背景→处理方式→结果→原因说明</a:t>
            </a:r>
            <a:endParaRPr lang="en-US" sz="1200" dirty="0"/>
          </a:p>
        </p:txBody>
      </p:sp>
      <p:sp>
        <p:nvSpPr>
          <p:cNvPr id="10" name="Shape 8"/>
          <p:cNvSpPr/>
          <p:nvPr/>
        </p:nvSpPr>
        <p:spPr>
          <a:xfrm>
            <a:off x="3291840" y="1097280"/>
            <a:ext cx="2651760" cy="2926080"/>
          </a:xfrm>
          <a:prstGeom prst="roundRect">
            <a:avLst>
              <a:gd name="adj" fmla="val 3448"/>
            </a:avLst>
          </a:prstGeom>
          <a:solidFill>
            <a:srgbClr val="F3F4F6"/>
          </a:solidFill>
          <a:ln/>
        </p:spPr>
      </p:sp>
      <p:sp>
        <p:nvSpPr>
          <p:cNvPr id="11" name="Shape 9"/>
          <p:cNvSpPr/>
          <p:nvPr/>
        </p:nvSpPr>
        <p:spPr>
          <a:xfrm>
            <a:off x="4251960" y="1371600"/>
            <a:ext cx="731520" cy="731520"/>
          </a:xfrm>
          <a:prstGeom prst="ellipse">
            <a:avLst/>
          </a:prstGeom>
          <a:solidFill>
            <a:srgbClr val="EF4444"/>
          </a:solidFill>
          <a:ln/>
        </p:spPr>
      </p:sp>
      <p:sp>
        <p:nvSpPr>
          <p:cNvPr id="12" name="Text 10"/>
          <p:cNvSpPr/>
          <p:nvPr/>
        </p:nvSpPr>
        <p:spPr>
          <a:xfrm>
            <a:off x="4251960" y="1371600"/>
            <a:ext cx="731520" cy="731520"/>
          </a:xfrm>
          <a:prstGeom prst="rect">
            <a:avLst/>
          </a:prstGeom>
          <a:noFill/>
          <a:ln/>
        </p:spPr>
        <p:txBody>
          <a:bodyPr wrap="square"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2</a:t>
            </a:r>
            <a:endParaRPr lang="en-US" sz="2400" dirty="0"/>
          </a:p>
        </p:txBody>
      </p:sp>
      <p:sp>
        <p:nvSpPr>
          <p:cNvPr id="13" name="Text 11"/>
          <p:cNvSpPr/>
          <p:nvPr/>
        </p:nvSpPr>
        <p:spPr>
          <a:xfrm>
            <a:off x="3474720" y="2286000"/>
            <a:ext cx="2286000" cy="365760"/>
          </a:xfrm>
          <a:prstGeom prst="rect">
            <a:avLst/>
          </a:prstGeom>
          <a:noFill/>
          <a:ln/>
        </p:spPr>
        <p:txBody>
          <a:bodyPr wrap="square" rtlCol="0" anchor="ctr"/>
          <a:lstStyle/>
          <a:p>
            <a:pPr algn="ctr" indent="0" marL="0">
              <a:buNone/>
            </a:pPr>
            <a:r>
              <a:rPr lang="en-US" sz="1600" b="1" dirty="0">
                <a:solidFill>
                  <a:srgbClr val="B91C1C"/>
                </a:solidFill>
                <a:latin typeface="Microsoft YaHei" pitchFamily="34" charset="0"/>
                <a:ea typeface="Microsoft YaHei" pitchFamily="34" charset="-122"/>
                <a:cs typeface="Microsoft YaHei" pitchFamily="34" charset="-120"/>
              </a:rPr>
              <a:t>规则库</a:t>
            </a:r>
            <a:endParaRPr lang="en-US" sz="1600" dirty="0"/>
          </a:p>
        </p:txBody>
      </p:sp>
      <p:sp>
        <p:nvSpPr>
          <p:cNvPr id="14" name="Text 12"/>
          <p:cNvSpPr/>
          <p:nvPr/>
        </p:nvSpPr>
        <p:spPr>
          <a:xfrm>
            <a:off x="3474720" y="2743200"/>
            <a:ext cx="2286000" cy="731520"/>
          </a:xfrm>
          <a:prstGeom prst="rect">
            <a:avLst/>
          </a:prstGeom>
          <a:noFill/>
          <a:ln/>
        </p:spPr>
        <p:txBody>
          <a:bodyPr wrap="square" rtlCol="0" anchor="ctr"/>
          <a:lstStyle/>
          <a:p>
            <a:pPr algn="ctr" indent="0" marL="0">
              <a:buNone/>
            </a:pPr>
            <a:r>
              <a:rPr lang="en-US" sz="1200" dirty="0">
                <a:solidFill>
                  <a:srgbClr val="374151"/>
                </a:solidFill>
                <a:latin typeface="Microsoft YaHei" pitchFamily="34" charset="0"/>
                <a:ea typeface="Microsoft YaHei" pitchFamily="34" charset="-122"/>
                <a:cs typeface="Microsoft YaHei" pitchFamily="34" charset="-120"/>
              </a:rPr>
              <a:t>标准、阈值、公式</a:t>
            </a:r>
            <a:endParaRPr lang="en-US" sz="1200" dirty="0"/>
          </a:p>
        </p:txBody>
      </p:sp>
      <p:sp>
        <p:nvSpPr>
          <p:cNvPr id="15" name="Shape 13"/>
          <p:cNvSpPr/>
          <p:nvPr/>
        </p:nvSpPr>
        <p:spPr>
          <a:xfrm>
            <a:off x="6126480" y="1097280"/>
            <a:ext cx="2651760" cy="2926080"/>
          </a:xfrm>
          <a:prstGeom prst="roundRect">
            <a:avLst>
              <a:gd name="adj" fmla="val 3448"/>
            </a:avLst>
          </a:prstGeom>
          <a:solidFill>
            <a:srgbClr val="F3F4F6"/>
          </a:solidFill>
          <a:ln/>
        </p:spPr>
      </p:sp>
      <p:sp>
        <p:nvSpPr>
          <p:cNvPr id="16" name="Shape 14"/>
          <p:cNvSpPr/>
          <p:nvPr/>
        </p:nvSpPr>
        <p:spPr>
          <a:xfrm>
            <a:off x="7086600" y="1371600"/>
            <a:ext cx="731520" cy="731520"/>
          </a:xfrm>
          <a:prstGeom prst="ellipse">
            <a:avLst/>
          </a:prstGeom>
          <a:solidFill>
            <a:srgbClr val="EF4444"/>
          </a:solidFill>
          <a:ln/>
        </p:spPr>
      </p:sp>
      <p:sp>
        <p:nvSpPr>
          <p:cNvPr id="17" name="Text 15"/>
          <p:cNvSpPr/>
          <p:nvPr/>
        </p:nvSpPr>
        <p:spPr>
          <a:xfrm>
            <a:off x="7086600" y="1371600"/>
            <a:ext cx="731520" cy="731520"/>
          </a:xfrm>
          <a:prstGeom prst="rect">
            <a:avLst/>
          </a:prstGeom>
          <a:noFill/>
          <a:ln/>
        </p:spPr>
        <p:txBody>
          <a:bodyPr wrap="square"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3</a:t>
            </a:r>
            <a:endParaRPr lang="en-US" sz="2400" dirty="0"/>
          </a:p>
        </p:txBody>
      </p:sp>
      <p:sp>
        <p:nvSpPr>
          <p:cNvPr id="18" name="Text 16"/>
          <p:cNvSpPr/>
          <p:nvPr/>
        </p:nvSpPr>
        <p:spPr>
          <a:xfrm>
            <a:off x="6309360" y="2286000"/>
            <a:ext cx="2286000" cy="365760"/>
          </a:xfrm>
          <a:prstGeom prst="rect">
            <a:avLst/>
          </a:prstGeom>
          <a:noFill/>
          <a:ln/>
        </p:spPr>
        <p:txBody>
          <a:bodyPr wrap="square" rtlCol="0" anchor="ctr"/>
          <a:lstStyle/>
          <a:p>
            <a:pPr algn="ctr" indent="0" marL="0">
              <a:buNone/>
            </a:pPr>
            <a:r>
              <a:rPr lang="en-US" sz="1600" b="1" dirty="0">
                <a:solidFill>
                  <a:srgbClr val="B91C1C"/>
                </a:solidFill>
                <a:latin typeface="Microsoft YaHei" pitchFamily="34" charset="0"/>
                <a:ea typeface="Microsoft YaHei" pitchFamily="34" charset="-122"/>
                <a:cs typeface="Microsoft YaHei" pitchFamily="34" charset="-120"/>
              </a:rPr>
              <a:t>模板库</a:t>
            </a:r>
            <a:endParaRPr lang="en-US" sz="1600" dirty="0"/>
          </a:p>
        </p:txBody>
      </p:sp>
      <p:sp>
        <p:nvSpPr>
          <p:cNvPr id="19" name="Text 17"/>
          <p:cNvSpPr/>
          <p:nvPr/>
        </p:nvSpPr>
        <p:spPr>
          <a:xfrm>
            <a:off x="6309360" y="2743200"/>
            <a:ext cx="2286000" cy="731520"/>
          </a:xfrm>
          <a:prstGeom prst="rect">
            <a:avLst/>
          </a:prstGeom>
          <a:noFill/>
          <a:ln/>
        </p:spPr>
        <p:txBody>
          <a:bodyPr wrap="square" rtlCol="0" anchor="ctr"/>
          <a:lstStyle/>
          <a:p>
            <a:pPr algn="ctr" indent="0" marL="0">
              <a:buNone/>
            </a:pPr>
            <a:r>
              <a:rPr lang="en-US" sz="1200" dirty="0">
                <a:solidFill>
                  <a:srgbClr val="374151"/>
                </a:solidFill>
                <a:latin typeface="Microsoft YaHei" pitchFamily="34" charset="0"/>
                <a:ea typeface="Microsoft YaHei" pitchFamily="34" charset="-122"/>
                <a:cs typeface="Microsoft YaHei" pitchFamily="34" charset="-120"/>
              </a:rPr>
              <a:t>话术、格式、结构</a:t>
            </a:r>
            <a:endParaRPr lang="en-US" sz="1200" dirty="0"/>
          </a:p>
        </p:txBody>
      </p:sp>
      <p:sp>
        <p:nvSpPr>
          <p:cNvPr id="20" name="Shape 18"/>
          <p:cNvSpPr/>
          <p:nvPr/>
        </p:nvSpPr>
        <p:spPr>
          <a:xfrm>
            <a:off x="8503920" y="4663440"/>
            <a:ext cx="365760" cy="365760"/>
          </a:xfrm>
          <a:prstGeom prst="ellipse">
            <a:avLst/>
          </a:prstGeom>
          <a:solidFill>
            <a:srgbClr val="EF4444"/>
          </a:solidFill>
          <a:ln/>
        </p:spPr>
      </p:sp>
      <p:sp>
        <p:nvSpPr>
          <p:cNvPr id="21" name="Text 19"/>
          <p:cNvSpPr/>
          <p:nvPr/>
        </p:nvSpPr>
        <p:spPr>
          <a:xfrm>
            <a:off x="8503920" y="4663440"/>
            <a:ext cx="365760" cy="36576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47</a:t>
            </a:r>
            <a:endParaRPr lang="en-US" sz="10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274320"/>
            <a:ext cx="8229600" cy="457200"/>
          </a:xfrm>
          <a:prstGeom prst="rect">
            <a:avLst/>
          </a:prstGeom>
          <a:noFill/>
          <a:ln/>
        </p:spPr>
        <p:txBody>
          <a:bodyPr wrap="square" rtlCol="0" anchor="ctr"/>
          <a:lstStyle/>
          <a:p>
            <a:pPr indent="0" marL="0">
              <a:buNone/>
            </a:pPr>
            <a:r>
              <a:rPr lang="en-US" sz="2200" b="1" dirty="0">
                <a:solidFill>
                  <a:srgbClr val="B91C1C"/>
                </a:solidFill>
                <a:latin typeface="Microsoft YaHei" pitchFamily="34" charset="0"/>
                <a:ea typeface="Microsoft YaHei" pitchFamily="34" charset="-122"/>
                <a:cs typeface="Microsoft YaHei" pitchFamily="34" charset="-120"/>
              </a:rPr>
              <a:t>各岗位知识库内容设计</a:t>
            </a:r>
            <a:endParaRPr lang="en-US" sz="2200" dirty="0"/>
          </a:p>
        </p:txBody>
      </p:sp>
      <p:sp>
        <p:nvSpPr>
          <p:cNvPr id="4" name="Shape 2"/>
          <p:cNvSpPr/>
          <p:nvPr/>
        </p:nvSpPr>
        <p:spPr>
          <a:xfrm>
            <a:off x="457200" y="777240"/>
            <a:ext cx="1645920" cy="457200"/>
          </a:xfrm>
          <a:prstGeom prst="rect">
            <a:avLst/>
          </a:prstGeom>
          <a:solidFill>
            <a:srgbClr val="B91C1C"/>
          </a:solidFill>
          <a:ln/>
        </p:spPr>
      </p:sp>
      <p:sp>
        <p:nvSpPr>
          <p:cNvPr id="5" name="Text 3"/>
          <p:cNvSpPr/>
          <p:nvPr/>
        </p:nvSpPr>
        <p:spPr>
          <a:xfrm>
            <a:off x="457200" y="777240"/>
            <a:ext cx="1645920" cy="457200"/>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岗位</a:t>
            </a:r>
            <a:endParaRPr lang="en-US" sz="1200" dirty="0"/>
          </a:p>
        </p:txBody>
      </p:sp>
      <p:sp>
        <p:nvSpPr>
          <p:cNvPr id="6" name="Shape 4"/>
          <p:cNvSpPr/>
          <p:nvPr/>
        </p:nvSpPr>
        <p:spPr>
          <a:xfrm>
            <a:off x="2103120" y="777240"/>
            <a:ext cx="2194560" cy="457200"/>
          </a:xfrm>
          <a:prstGeom prst="rect">
            <a:avLst/>
          </a:prstGeom>
          <a:solidFill>
            <a:srgbClr val="B91C1C"/>
          </a:solidFill>
          <a:ln/>
        </p:spPr>
      </p:sp>
      <p:sp>
        <p:nvSpPr>
          <p:cNvPr id="7" name="Text 5"/>
          <p:cNvSpPr/>
          <p:nvPr/>
        </p:nvSpPr>
        <p:spPr>
          <a:xfrm>
            <a:off x="2103120" y="777240"/>
            <a:ext cx="2194560" cy="457200"/>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案例库重点</a:t>
            </a:r>
            <a:endParaRPr lang="en-US" sz="1200" dirty="0"/>
          </a:p>
        </p:txBody>
      </p:sp>
      <p:sp>
        <p:nvSpPr>
          <p:cNvPr id="8" name="Shape 6"/>
          <p:cNvSpPr/>
          <p:nvPr/>
        </p:nvSpPr>
        <p:spPr>
          <a:xfrm>
            <a:off x="4297680" y="777240"/>
            <a:ext cx="2194560" cy="457200"/>
          </a:xfrm>
          <a:prstGeom prst="rect">
            <a:avLst/>
          </a:prstGeom>
          <a:solidFill>
            <a:srgbClr val="B91C1C"/>
          </a:solidFill>
          <a:ln/>
        </p:spPr>
      </p:sp>
      <p:sp>
        <p:nvSpPr>
          <p:cNvPr id="9" name="Text 7"/>
          <p:cNvSpPr/>
          <p:nvPr/>
        </p:nvSpPr>
        <p:spPr>
          <a:xfrm>
            <a:off x="4297680" y="777240"/>
            <a:ext cx="2194560" cy="457200"/>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规则库重点</a:t>
            </a:r>
            <a:endParaRPr lang="en-US" sz="1200" dirty="0"/>
          </a:p>
        </p:txBody>
      </p:sp>
      <p:sp>
        <p:nvSpPr>
          <p:cNvPr id="10" name="Shape 8"/>
          <p:cNvSpPr/>
          <p:nvPr/>
        </p:nvSpPr>
        <p:spPr>
          <a:xfrm>
            <a:off x="6492240" y="777240"/>
            <a:ext cx="2194560" cy="457200"/>
          </a:xfrm>
          <a:prstGeom prst="rect">
            <a:avLst/>
          </a:prstGeom>
          <a:solidFill>
            <a:srgbClr val="B91C1C"/>
          </a:solidFill>
          <a:ln/>
        </p:spPr>
      </p:sp>
      <p:sp>
        <p:nvSpPr>
          <p:cNvPr id="11" name="Text 9"/>
          <p:cNvSpPr/>
          <p:nvPr/>
        </p:nvSpPr>
        <p:spPr>
          <a:xfrm>
            <a:off x="6492240" y="777240"/>
            <a:ext cx="2194560" cy="457200"/>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模板库重点</a:t>
            </a:r>
            <a:endParaRPr lang="en-US" sz="1200" dirty="0"/>
          </a:p>
        </p:txBody>
      </p:sp>
      <p:sp>
        <p:nvSpPr>
          <p:cNvPr id="12" name="Shape 10"/>
          <p:cNvSpPr/>
          <p:nvPr/>
        </p:nvSpPr>
        <p:spPr>
          <a:xfrm>
            <a:off x="457200" y="1234440"/>
            <a:ext cx="1645920" cy="594360"/>
          </a:xfrm>
          <a:prstGeom prst="rect">
            <a:avLst/>
          </a:prstGeom>
          <a:solidFill>
            <a:srgbClr val="F3F4F6"/>
          </a:solidFill>
          <a:ln/>
        </p:spPr>
      </p:sp>
      <p:sp>
        <p:nvSpPr>
          <p:cNvPr id="13" name="Text 11"/>
          <p:cNvSpPr/>
          <p:nvPr/>
        </p:nvSpPr>
        <p:spPr>
          <a:xfrm>
            <a:off x="530352" y="1234440"/>
            <a:ext cx="1499616" cy="594360"/>
          </a:xfrm>
          <a:prstGeom prst="rect">
            <a:avLst/>
          </a:prstGeom>
          <a:noFill/>
          <a:ln/>
        </p:spPr>
        <p:txBody>
          <a:bodyPr wrap="square" rtlCol="0" anchor="ctr"/>
          <a:lstStyle/>
          <a:p>
            <a:pPr indent="0" marL="0">
              <a:buNone/>
            </a:pPr>
            <a:r>
              <a:rPr lang="en-US" sz="1000" dirty="0">
                <a:solidFill>
                  <a:srgbClr val="374151"/>
                </a:solidFill>
                <a:latin typeface="Microsoft YaHei" pitchFamily="34" charset="0"/>
                <a:ea typeface="Microsoft YaHei" pitchFamily="34" charset="-122"/>
                <a:cs typeface="Microsoft YaHei" pitchFamily="34" charset="-120"/>
              </a:rPr>
              <a:t>销售/BD</a:t>
            </a:r>
            <a:endParaRPr lang="en-US" sz="1000" dirty="0"/>
          </a:p>
        </p:txBody>
      </p:sp>
      <p:sp>
        <p:nvSpPr>
          <p:cNvPr id="14" name="Shape 12"/>
          <p:cNvSpPr/>
          <p:nvPr/>
        </p:nvSpPr>
        <p:spPr>
          <a:xfrm>
            <a:off x="2103120" y="1234440"/>
            <a:ext cx="2194560" cy="594360"/>
          </a:xfrm>
          <a:prstGeom prst="rect">
            <a:avLst/>
          </a:prstGeom>
          <a:solidFill>
            <a:srgbClr val="F3F4F6"/>
          </a:solidFill>
          <a:ln/>
        </p:spPr>
      </p:sp>
      <p:sp>
        <p:nvSpPr>
          <p:cNvPr id="15" name="Text 13"/>
          <p:cNvSpPr/>
          <p:nvPr/>
        </p:nvSpPr>
        <p:spPr>
          <a:xfrm>
            <a:off x="2176272" y="1234440"/>
            <a:ext cx="2048256" cy="594360"/>
          </a:xfrm>
          <a:prstGeom prst="rect">
            <a:avLst/>
          </a:prstGeom>
          <a:noFill/>
          <a:ln/>
        </p:spPr>
        <p:txBody>
          <a:bodyPr wrap="square" rtlCol="0" anchor="ctr"/>
          <a:lstStyle/>
          <a:p>
            <a:pPr indent="0" marL="0">
              <a:buNone/>
            </a:pPr>
            <a:r>
              <a:rPr lang="en-US" sz="1000" dirty="0">
                <a:solidFill>
                  <a:srgbClr val="374151"/>
                </a:solidFill>
                <a:latin typeface="Microsoft YaHei" pitchFamily="34" charset="0"/>
                <a:ea typeface="Microsoft YaHei" pitchFamily="34" charset="-122"/>
                <a:cs typeface="Microsoft YaHei" pitchFamily="34" charset="-120"/>
              </a:rPr>
              <a:t>赢单+失单案例</a:t>
            </a:r>
            <a:endParaRPr lang="en-US" sz="1000" dirty="0"/>
          </a:p>
        </p:txBody>
      </p:sp>
      <p:sp>
        <p:nvSpPr>
          <p:cNvPr id="16" name="Shape 14"/>
          <p:cNvSpPr/>
          <p:nvPr/>
        </p:nvSpPr>
        <p:spPr>
          <a:xfrm>
            <a:off x="4297680" y="1234440"/>
            <a:ext cx="2194560" cy="594360"/>
          </a:xfrm>
          <a:prstGeom prst="rect">
            <a:avLst/>
          </a:prstGeom>
          <a:solidFill>
            <a:srgbClr val="F3F4F6"/>
          </a:solidFill>
          <a:ln/>
        </p:spPr>
      </p:sp>
      <p:sp>
        <p:nvSpPr>
          <p:cNvPr id="17" name="Text 15"/>
          <p:cNvSpPr/>
          <p:nvPr/>
        </p:nvSpPr>
        <p:spPr>
          <a:xfrm>
            <a:off x="4370832" y="1234440"/>
            <a:ext cx="2048256" cy="594360"/>
          </a:xfrm>
          <a:prstGeom prst="rect">
            <a:avLst/>
          </a:prstGeom>
          <a:noFill/>
          <a:ln/>
        </p:spPr>
        <p:txBody>
          <a:bodyPr wrap="square" rtlCol="0" anchor="ctr"/>
          <a:lstStyle/>
          <a:p>
            <a:pPr indent="0" marL="0">
              <a:buNone/>
            </a:pPr>
            <a:r>
              <a:rPr lang="en-US" sz="1000" dirty="0">
                <a:solidFill>
                  <a:srgbClr val="374151"/>
                </a:solidFill>
                <a:latin typeface="Microsoft YaHei" pitchFamily="34" charset="0"/>
                <a:ea typeface="Microsoft YaHei" pitchFamily="34" charset="-122"/>
                <a:cs typeface="Microsoft YaHei" pitchFamily="34" charset="-120"/>
              </a:rPr>
              <a:t>客户分层、报价规则</a:t>
            </a:r>
            <a:endParaRPr lang="en-US" sz="1000" dirty="0"/>
          </a:p>
        </p:txBody>
      </p:sp>
      <p:sp>
        <p:nvSpPr>
          <p:cNvPr id="18" name="Shape 16"/>
          <p:cNvSpPr/>
          <p:nvPr/>
        </p:nvSpPr>
        <p:spPr>
          <a:xfrm>
            <a:off x="6492240" y="1234440"/>
            <a:ext cx="2194560" cy="594360"/>
          </a:xfrm>
          <a:prstGeom prst="rect">
            <a:avLst/>
          </a:prstGeom>
          <a:solidFill>
            <a:srgbClr val="F3F4F6"/>
          </a:solidFill>
          <a:ln/>
        </p:spPr>
      </p:sp>
      <p:sp>
        <p:nvSpPr>
          <p:cNvPr id="19" name="Text 17"/>
          <p:cNvSpPr/>
          <p:nvPr/>
        </p:nvSpPr>
        <p:spPr>
          <a:xfrm>
            <a:off x="6565392" y="1234440"/>
            <a:ext cx="2048256" cy="594360"/>
          </a:xfrm>
          <a:prstGeom prst="rect">
            <a:avLst/>
          </a:prstGeom>
          <a:noFill/>
          <a:ln/>
        </p:spPr>
        <p:txBody>
          <a:bodyPr wrap="square" rtlCol="0" anchor="ctr"/>
          <a:lstStyle/>
          <a:p>
            <a:pPr indent="0" marL="0">
              <a:buNone/>
            </a:pPr>
            <a:r>
              <a:rPr lang="en-US" sz="1000" dirty="0">
                <a:solidFill>
                  <a:srgbClr val="374151"/>
                </a:solidFill>
                <a:latin typeface="Microsoft YaHei" pitchFamily="34" charset="0"/>
                <a:ea typeface="Microsoft YaHei" pitchFamily="34" charset="-122"/>
                <a:cs typeface="Microsoft YaHei" pitchFamily="34" charset="-120"/>
              </a:rPr>
              <a:t>话术、报价单格式</a:t>
            </a:r>
            <a:endParaRPr lang="en-US" sz="1000" dirty="0"/>
          </a:p>
        </p:txBody>
      </p:sp>
      <p:sp>
        <p:nvSpPr>
          <p:cNvPr id="20" name="Shape 18"/>
          <p:cNvSpPr/>
          <p:nvPr/>
        </p:nvSpPr>
        <p:spPr>
          <a:xfrm>
            <a:off x="457200" y="1892808"/>
            <a:ext cx="1645920" cy="594360"/>
          </a:xfrm>
          <a:prstGeom prst="rect">
            <a:avLst/>
          </a:prstGeom>
          <a:solidFill>
            <a:srgbClr val="FFFFFF"/>
          </a:solidFill>
          <a:ln/>
        </p:spPr>
      </p:sp>
      <p:sp>
        <p:nvSpPr>
          <p:cNvPr id="21" name="Text 19"/>
          <p:cNvSpPr/>
          <p:nvPr/>
        </p:nvSpPr>
        <p:spPr>
          <a:xfrm>
            <a:off x="530352" y="1892808"/>
            <a:ext cx="1499616" cy="594360"/>
          </a:xfrm>
          <a:prstGeom prst="rect">
            <a:avLst/>
          </a:prstGeom>
          <a:noFill/>
          <a:ln/>
        </p:spPr>
        <p:txBody>
          <a:bodyPr wrap="square" rtlCol="0" anchor="ctr"/>
          <a:lstStyle/>
          <a:p>
            <a:pPr indent="0" marL="0">
              <a:buNone/>
            </a:pPr>
            <a:r>
              <a:rPr lang="en-US" sz="1000" dirty="0">
                <a:solidFill>
                  <a:srgbClr val="374151"/>
                </a:solidFill>
                <a:latin typeface="Microsoft YaHei" pitchFamily="34" charset="0"/>
                <a:ea typeface="Microsoft YaHei" pitchFamily="34" charset="-122"/>
                <a:cs typeface="Microsoft YaHei" pitchFamily="34" charset="-120"/>
              </a:rPr>
              <a:t>客服</a:t>
            </a:r>
            <a:endParaRPr lang="en-US" sz="1000" dirty="0"/>
          </a:p>
        </p:txBody>
      </p:sp>
      <p:sp>
        <p:nvSpPr>
          <p:cNvPr id="22" name="Shape 20"/>
          <p:cNvSpPr/>
          <p:nvPr/>
        </p:nvSpPr>
        <p:spPr>
          <a:xfrm>
            <a:off x="2103120" y="1892808"/>
            <a:ext cx="2194560" cy="594360"/>
          </a:xfrm>
          <a:prstGeom prst="rect">
            <a:avLst/>
          </a:prstGeom>
          <a:solidFill>
            <a:srgbClr val="FFFFFF"/>
          </a:solidFill>
          <a:ln/>
        </p:spPr>
      </p:sp>
      <p:sp>
        <p:nvSpPr>
          <p:cNvPr id="23" name="Text 21"/>
          <p:cNvSpPr/>
          <p:nvPr/>
        </p:nvSpPr>
        <p:spPr>
          <a:xfrm>
            <a:off x="2176272" y="1892808"/>
            <a:ext cx="2048256" cy="594360"/>
          </a:xfrm>
          <a:prstGeom prst="rect">
            <a:avLst/>
          </a:prstGeom>
          <a:noFill/>
          <a:ln/>
        </p:spPr>
        <p:txBody>
          <a:bodyPr wrap="square" rtlCol="0" anchor="ctr"/>
          <a:lstStyle/>
          <a:p>
            <a:pPr indent="0" marL="0">
              <a:buNone/>
            </a:pPr>
            <a:r>
              <a:rPr lang="en-US" sz="1000" dirty="0">
                <a:solidFill>
                  <a:srgbClr val="374151"/>
                </a:solidFill>
                <a:latin typeface="Microsoft YaHei" pitchFamily="34" charset="0"/>
                <a:ea typeface="Microsoft YaHei" pitchFamily="34" charset="-122"/>
                <a:cs typeface="Microsoft YaHei" pitchFamily="34" charset="-120"/>
              </a:rPr>
              <a:t>投诉处理案例</a:t>
            </a:r>
            <a:endParaRPr lang="en-US" sz="1000" dirty="0"/>
          </a:p>
        </p:txBody>
      </p:sp>
      <p:sp>
        <p:nvSpPr>
          <p:cNvPr id="24" name="Shape 22"/>
          <p:cNvSpPr/>
          <p:nvPr/>
        </p:nvSpPr>
        <p:spPr>
          <a:xfrm>
            <a:off x="4297680" y="1892808"/>
            <a:ext cx="2194560" cy="594360"/>
          </a:xfrm>
          <a:prstGeom prst="rect">
            <a:avLst/>
          </a:prstGeom>
          <a:solidFill>
            <a:srgbClr val="FFFFFF"/>
          </a:solidFill>
          <a:ln/>
        </p:spPr>
      </p:sp>
      <p:sp>
        <p:nvSpPr>
          <p:cNvPr id="25" name="Text 23"/>
          <p:cNvSpPr/>
          <p:nvPr/>
        </p:nvSpPr>
        <p:spPr>
          <a:xfrm>
            <a:off x="4370832" y="1892808"/>
            <a:ext cx="2048256" cy="594360"/>
          </a:xfrm>
          <a:prstGeom prst="rect">
            <a:avLst/>
          </a:prstGeom>
          <a:noFill/>
          <a:ln/>
        </p:spPr>
        <p:txBody>
          <a:bodyPr wrap="square" rtlCol="0" anchor="ctr"/>
          <a:lstStyle/>
          <a:p>
            <a:pPr indent="0" marL="0">
              <a:buNone/>
            </a:pPr>
            <a:r>
              <a:rPr lang="en-US" sz="1000" dirty="0">
                <a:solidFill>
                  <a:srgbClr val="374151"/>
                </a:solidFill>
                <a:latin typeface="Microsoft YaHei" pitchFamily="34" charset="0"/>
                <a:ea typeface="Microsoft YaHei" pitchFamily="34" charset="-122"/>
                <a:cs typeface="Microsoft YaHei" pitchFamily="34" charset="-120"/>
              </a:rPr>
              <a:t>补偿标准、升级流程</a:t>
            </a:r>
            <a:endParaRPr lang="en-US" sz="1000" dirty="0"/>
          </a:p>
        </p:txBody>
      </p:sp>
      <p:sp>
        <p:nvSpPr>
          <p:cNvPr id="26" name="Shape 24"/>
          <p:cNvSpPr/>
          <p:nvPr/>
        </p:nvSpPr>
        <p:spPr>
          <a:xfrm>
            <a:off x="6492240" y="1892808"/>
            <a:ext cx="2194560" cy="594360"/>
          </a:xfrm>
          <a:prstGeom prst="rect">
            <a:avLst/>
          </a:prstGeom>
          <a:solidFill>
            <a:srgbClr val="FFFFFF"/>
          </a:solidFill>
          <a:ln/>
        </p:spPr>
      </p:sp>
      <p:sp>
        <p:nvSpPr>
          <p:cNvPr id="27" name="Text 25"/>
          <p:cNvSpPr/>
          <p:nvPr/>
        </p:nvSpPr>
        <p:spPr>
          <a:xfrm>
            <a:off x="6565392" y="1892808"/>
            <a:ext cx="2048256" cy="594360"/>
          </a:xfrm>
          <a:prstGeom prst="rect">
            <a:avLst/>
          </a:prstGeom>
          <a:noFill/>
          <a:ln/>
        </p:spPr>
        <p:txBody>
          <a:bodyPr wrap="square" rtlCol="0" anchor="ctr"/>
          <a:lstStyle/>
          <a:p>
            <a:pPr indent="0" marL="0">
              <a:buNone/>
            </a:pPr>
            <a:r>
              <a:rPr lang="en-US" sz="1000" dirty="0">
                <a:solidFill>
                  <a:srgbClr val="374151"/>
                </a:solidFill>
                <a:latin typeface="Microsoft YaHei" pitchFamily="34" charset="0"/>
                <a:ea typeface="Microsoft YaHei" pitchFamily="34" charset="-122"/>
                <a:cs typeface="Microsoft YaHei" pitchFamily="34" charset="-120"/>
              </a:rPr>
              <a:t>FAQ、安抚话术</a:t>
            </a:r>
            <a:endParaRPr lang="en-US" sz="1000" dirty="0"/>
          </a:p>
        </p:txBody>
      </p:sp>
      <p:sp>
        <p:nvSpPr>
          <p:cNvPr id="28" name="Shape 26"/>
          <p:cNvSpPr/>
          <p:nvPr/>
        </p:nvSpPr>
        <p:spPr>
          <a:xfrm>
            <a:off x="457200" y="2551176"/>
            <a:ext cx="1645920" cy="594360"/>
          </a:xfrm>
          <a:prstGeom prst="rect">
            <a:avLst/>
          </a:prstGeom>
          <a:solidFill>
            <a:srgbClr val="F3F4F6"/>
          </a:solidFill>
          <a:ln/>
        </p:spPr>
      </p:sp>
      <p:sp>
        <p:nvSpPr>
          <p:cNvPr id="29" name="Text 27"/>
          <p:cNvSpPr/>
          <p:nvPr/>
        </p:nvSpPr>
        <p:spPr>
          <a:xfrm>
            <a:off x="530352" y="2551176"/>
            <a:ext cx="1499616" cy="594360"/>
          </a:xfrm>
          <a:prstGeom prst="rect">
            <a:avLst/>
          </a:prstGeom>
          <a:noFill/>
          <a:ln/>
        </p:spPr>
        <p:txBody>
          <a:bodyPr wrap="square" rtlCol="0" anchor="ctr"/>
          <a:lstStyle/>
          <a:p>
            <a:pPr indent="0" marL="0">
              <a:buNone/>
            </a:pPr>
            <a:r>
              <a:rPr lang="en-US" sz="1000" dirty="0">
                <a:solidFill>
                  <a:srgbClr val="374151"/>
                </a:solidFill>
                <a:latin typeface="Microsoft YaHei" pitchFamily="34" charset="0"/>
                <a:ea typeface="Microsoft YaHei" pitchFamily="34" charset="-122"/>
                <a:cs typeface="Microsoft YaHei" pitchFamily="34" charset="-120"/>
              </a:rPr>
              <a:t>运营</a:t>
            </a:r>
            <a:endParaRPr lang="en-US" sz="1000" dirty="0"/>
          </a:p>
        </p:txBody>
      </p:sp>
      <p:sp>
        <p:nvSpPr>
          <p:cNvPr id="30" name="Shape 28"/>
          <p:cNvSpPr/>
          <p:nvPr/>
        </p:nvSpPr>
        <p:spPr>
          <a:xfrm>
            <a:off x="2103120" y="2551176"/>
            <a:ext cx="2194560" cy="594360"/>
          </a:xfrm>
          <a:prstGeom prst="rect">
            <a:avLst/>
          </a:prstGeom>
          <a:solidFill>
            <a:srgbClr val="F3F4F6"/>
          </a:solidFill>
          <a:ln/>
        </p:spPr>
      </p:sp>
      <p:sp>
        <p:nvSpPr>
          <p:cNvPr id="31" name="Text 29"/>
          <p:cNvSpPr/>
          <p:nvPr/>
        </p:nvSpPr>
        <p:spPr>
          <a:xfrm>
            <a:off x="2176272" y="2551176"/>
            <a:ext cx="2048256" cy="594360"/>
          </a:xfrm>
          <a:prstGeom prst="rect">
            <a:avLst/>
          </a:prstGeom>
          <a:noFill/>
          <a:ln/>
        </p:spPr>
        <p:txBody>
          <a:bodyPr wrap="square" rtlCol="0" anchor="ctr"/>
          <a:lstStyle/>
          <a:p>
            <a:pPr indent="0" marL="0">
              <a:buNone/>
            </a:pPr>
            <a:r>
              <a:rPr lang="en-US" sz="1000" dirty="0">
                <a:solidFill>
                  <a:srgbClr val="374151"/>
                </a:solidFill>
                <a:latin typeface="Microsoft YaHei" pitchFamily="34" charset="0"/>
                <a:ea typeface="Microsoft YaHei" pitchFamily="34" charset="-122"/>
                <a:cs typeface="Microsoft YaHei" pitchFamily="34" charset="-120"/>
              </a:rPr>
              <a:t>活动复盘、数据异常</a:t>
            </a:r>
            <a:endParaRPr lang="en-US" sz="1000" dirty="0"/>
          </a:p>
        </p:txBody>
      </p:sp>
      <p:sp>
        <p:nvSpPr>
          <p:cNvPr id="32" name="Shape 30"/>
          <p:cNvSpPr/>
          <p:nvPr/>
        </p:nvSpPr>
        <p:spPr>
          <a:xfrm>
            <a:off x="4297680" y="2551176"/>
            <a:ext cx="2194560" cy="594360"/>
          </a:xfrm>
          <a:prstGeom prst="rect">
            <a:avLst/>
          </a:prstGeom>
          <a:solidFill>
            <a:srgbClr val="F3F4F6"/>
          </a:solidFill>
          <a:ln/>
        </p:spPr>
      </p:sp>
      <p:sp>
        <p:nvSpPr>
          <p:cNvPr id="33" name="Text 31"/>
          <p:cNvSpPr/>
          <p:nvPr/>
        </p:nvSpPr>
        <p:spPr>
          <a:xfrm>
            <a:off x="4370832" y="2551176"/>
            <a:ext cx="2048256" cy="594360"/>
          </a:xfrm>
          <a:prstGeom prst="rect">
            <a:avLst/>
          </a:prstGeom>
          <a:noFill/>
          <a:ln/>
        </p:spPr>
        <p:txBody>
          <a:bodyPr wrap="square" rtlCol="0" anchor="ctr"/>
          <a:lstStyle/>
          <a:p>
            <a:pPr indent="0" marL="0">
              <a:buNone/>
            </a:pPr>
            <a:r>
              <a:rPr lang="en-US" sz="1000" dirty="0">
                <a:solidFill>
                  <a:srgbClr val="374151"/>
                </a:solidFill>
                <a:latin typeface="Microsoft YaHei" pitchFamily="34" charset="0"/>
                <a:ea typeface="Microsoft YaHei" pitchFamily="34" charset="-122"/>
                <a:cs typeface="Microsoft YaHei" pitchFamily="34" charset="-120"/>
              </a:rPr>
              <a:t>数据基准线、活动规则</a:t>
            </a:r>
            <a:endParaRPr lang="en-US" sz="1000" dirty="0"/>
          </a:p>
        </p:txBody>
      </p:sp>
      <p:sp>
        <p:nvSpPr>
          <p:cNvPr id="34" name="Shape 32"/>
          <p:cNvSpPr/>
          <p:nvPr/>
        </p:nvSpPr>
        <p:spPr>
          <a:xfrm>
            <a:off x="6492240" y="2551176"/>
            <a:ext cx="2194560" cy="594360"/>
          </a:xfrm>
          <a:prstGeom prst="rect">
            <a:avLst/>
          </a:prstGeom>
          <a:solidFill>
            <a:srgbClr val="F3F4F6"/>
          </a:solidFill>
          <a:ln/>
        </p:spPr>
      </p:sp>
      <p:sp>
        <p:nvSpPr>
          <p:cNvPr id="35" name="Text 33"/>
          <p:cNvSpPr/>
          <p:nvPr/>
        </p:nvSpPr>
        <p:spPr>
          <a:xfrm>
            <a:off x="6565392" y="2551176"/>
            <a:ext cx="2048256" cy="594360"/>
          </a:xfrm>
          <a:prstGeom prst="rect">
            <a:avLst/>
          </a:prstGeom>
          <a:noFill/>
          <a:ln/>
        </p:spPr>
        <p:txBody>
          <a:bodyPr wrap="square" rtlCol="0" anchor="ctr"/>
          <a:lstStyle/>
          <a:p>
            <a:pPr indent="0" marL="0">
              <a:buNone/>
            </a:pPr>
            <a:r>
              <a:rPr lang="en-US" sz="1000" dirty="0">
                <a:solidFill>
                  <a:srgbClr val="374151"/>
                </a:solidFill>
                <a:latin typeface="Microsoft YaHei" pitchFamily="34" charset="0"/>
                <a:ea typeface="Microsoft YaHei" pitchFamily="34" charset="-122"/>
                <a:cs typeface="Microsoft YaHei" pitchFamily="34" charset="-120"/>
              </a:rPr>
              <a:t>周报模板</a:t>
            </a:r>
            <a:endParaRPr lang="en-US" sz="1000" dirty="0"/>
          </a:p>
        </p:txBody>
      </p:sp>
      <p:sp>
        <p:nvSpPr>
          <p:cNvPr id="36" name="Shape 34"/>
          <p:cNvSpPr/>
          <p:nvPr/>
        </p:nvSpPr>
        <p:spPr>
          <a:xfrm>
            <a:off x="457200" y="3209544"/>
            <a:ext cx="1645920" cy="594360"/>
          </a:xfrm>
          <a:prstGeom prst="rect">
            <a:avLst/>
          </a:prstGeom>
          <a:solidFill>
            <a:srgbClr val="FFFFFF"/>
          </a:solidFill>
          <a:ln/>
        </p:spPr>
      </p:sp>
      <p:sp>
        <p:nvSpPr>
          <p:cNvPr id="37" name="Text 35"/>
          <p:cNvSpPr/>
          <p:nvPr/>
        </p:nvSpPr>
        <p:spPr>
          <a:xfrm>
            <a:off x="530352" y="3209544"/>
            <a:ext cx="1499616" cy="594360"/>
          </a:xfrm>
          <a:prstGeom prst="rect">
            <a:avLst/>
          </a:prstGeom>
          <a:noFill/>
          <a:ln/>
        </p:spPr>
        <p:txBody>
          <a:bodyPr wrap="square" rtlCol="0" anchor="ctr"/>
          <a:lstStyle/>
          <a:p>
            <a:pPr indent="0" marL="0">
              <a:buNone/>
            </a:pPr>
            <a:r>
              <a:rPr lang="en-US" sz="1000" dirty="0">
                <a:solidFill>
                  <a:srgbClr val="374151"/>
                </a:solidFill>
                <a:latin typeface="Microsoft YaHei" pitchFamily="34" charset="0"/>
                <a:ea typeface="Microsoft YaHei" pitchFamily="34" charset="-122"/>
                <a:cs typeface="Microsoft YaHei" pitchFamily="34" charset="-120"/>
              </a:rPr>
              <a:t>产品</a:t>
            </a:r>
            <a:endParaRPr lang="en-US" sz="1000" dirty="0"/>
          </a:p>
        </p:txBody>
      </p:sp>
      <p:sp>
        <p:nvSpPr>
          <p:cNvPr id="38" name="Shape 36"/>
          <p:cNvSpPr/>
          <p:nvPr/>
        </p:nvSpPr>
        <p:spPr>
          <a:xfrm>
            <a:off x="2103120" y="3209544"/>
            <a:ext cx="2194560" cy="594360"/>
          </a:xfrm>
          <a:prstGeom prst="rect">
            <a:avLst/>
          </a:prstGeom>
          <a:solidFill>
            <a:srgbClr val="FFFFFF"/>
          </a:solidFill>
          <a:ln/>
        </p:spPr>
      </p:sp>
      <p:sp>
        <p:nvSpPr>
          <p:cNvPr id="39" name="Text 37"/>
          <p:cNvSpPr/>
          <p:nvPr/>
        </p:nvSpPr>
        <p:spPr>
          <a:xfrm>
            <a:off x="2176272" y="3209544"/>
            <a:ext cx="2048256" cy="594360"/>
          </a:xfrm>
          <a:prstGeom prst="rect">
            <a:avLst/>
          </a:prstGeom>
          <a:noFill/>
          <a:ln/>
        </p:spPr>
        <p:txBody>
          <a:bodyPr wrap="square" rtlCol="0" anchor="ctr"/>
          <a:lstStyle/>
          <a:p>
            <a:pPr indent="0" marL="0">
              <a:buNone/>
            </a:pPr>
            <a:r>
              <a:rPr lang="en-US" sz="1000" dirty="0">
                <a:solidFill>
                  <a:srgbClr val="374151"/>
                </a:solidFill>
                <a:latin typeface="Microsoft YaHei" pitchFamily="34" charset="0"/>
                <a:ea typeface="Microsoft YaHei" pitchFamily="34" charset="-122"/>
                <a:cs typeface="Microsoft YaHei" pitchFamily="34" charset="-120"/>
              </a:rPr>
              <a:t>需求拒绝+BUG案例</a:t>
            </a:r>
            <a:endParaRPr lang="en-US" sz="1000" dirty="0"/>
          </a:p>
        </p:txBody>
      </p:sp>
      <p:sp>
        <p:nvSpPr>
          <p:cNvPr id="40" name="Shape 38"/>
          <p:cNvSpPr/>
          <p:nvPr/>
        </p:nvSpPr>
        <p:spPr>
          <a:xfrm>
            <a:off x="4297680" y="3209544"/>
            <a:ext cx="2194560" cy="594360"/>
          </a:xfrm>
          <a:prstGeom prst="rect">
            <a:avLst/>
          </a:prstGeom>
          <a:solidFill>
            <a:srgbClr val="FFFFFF"/>
          </a:solidFill>
          <a:ln/>
        </p:spPr>
      </p:sp>
      <p:sp>
        <p:nvSpPr>
          <p:cNvPr id="41" name="Text 39"/>
          <p:cNvSpPr/>
          <p:nvPr/>
        </p:nvSpPr>
        <p:spPr>
          <a:xfrm>
            <a:off x="4370832" y="3209544"/>
            <a:ext cx="2048256" cy="594360"/>
          </a:xfrm>
          <a:prstGeom prst="rect">
            <a:avLst/>
          </a:prstGeom>
          <a:noFill/>
          <a:ln/>
        </p:spPr>
        <p:txBody>
          <a:bodyPr wrap="square" rtlCol="0" anchor="ctr"/>
          <a:lstStyle/>
          <a:p>
            <a:pPr indent="0" marL="0">
              <a:buNone/>
            </a:pPr>
            <a:r>
              <a:rPr lang="en-US" sz="1000" dirty="0">
                <a:solidFill>
                  <a:srgbClr val="374151"/>
                </a:solidFill>
                <a:latin typeface="Microsoft YaHei" pitchFamily="34" charset="0"/>
                <a:ea typeface="Microsoft YaHei" pitchFamily="34" charset="-122"/>
                <a:cs typeface="Microsoft YaHei" pitchFamily="34" charset="-120"/>
              </a:rPr>
              <a:t>需求优先级框架</a:t>
            </a:r>
            <a:endParaRPr lang="en-US" sz="1000" dirty="0"/>
          </a:p>
        </p:txBody>
      </p:sp>
      <p:sp>
        <p:nvSpPr>
          <p:cNvPr id="42" name="Shape 40"/>
          <p:cNvSpPr/>
          <p:nvPr/>
        </p:nvSpPr>
        <p:spPr>
          <a:xfrm>
            <a:off x="6492240" y="3209544"/>
            <a:ext cx="2194560" cy="594360"/>
          </a:xfrm>
          <a:prstGeom prst="rect">
            <a:avLst/>
          </a:prstGeom>
          <a:solidFill>
            <a:srgbClr val="FFFFFF"/>
          </a:solidFill>
          <a:ln/>
        </p:spPr>
      </p:sp>
      <p:sp>
        <p:nvSpPr>
          <p:cNvPr id="43" name="Text 41"/>
          <p:cNvSpPr/>
          <p:nvPr/>
        </p:nvSpPr>
        <p:spPr>
          <a:xfrm>
            <a:off x="6565392" y="3209544"/>
            <a:ext cx="2048256" cy="594360"/>
          </a:xfrm>
          <a:prstGeom prst="rect">
            <a:avLst/>
          </a:prstGeom>
          <a:noFill/>
          <a:ln/>
        </p:spPr>
        <p:txBody>
          <a:bodyPr wrap="square" rtlCol="0" anchor="ctr"/>
          <a:lstStyle/>
          <a:p>
            <a:pPr indent="0" marL="0">
              <a:buNone/>
            </a:pPr>
            <a:r>
              <a:rPr lang="en-US" sz="1000" dirty="0">
                <a:solidFill>
                  <a:srgbClr val="374151"/>
                </a:solidFill>
                <a:latin typeface="Microsoft YaHei" pitchFamily="34" charset="0"/>
                <a:ea typeface="Microsoft YaHei" pitchFamily="34" charset="-122"/>
                <a:cs typeface="Microsoft YaHei" pitchFamily="34" charset="-120"/>
              </a:rPr>
              <a:t>PRD模板</a:t>
            </a:r>
            <a:endParaRPr lang="en-US" sz="1000" dirty="0"/>
          </a:p>
        </p:txBody>
      </p:sp>
      <p:sp>
        <p:nvSpPr>
          <p:cNvPr id="44" name="Shape 42"/>
          <p:cNvSpPr/>
          <p:nvPr/>
        </p:nvSpPr>
        <p:spPr>
          <a:xfrm>
            <a:off x="457200" y="3867912"/>
            <a:ext cx="1645920" cy="594360"/>
          </a:xfrm>
          <a:prstGeom prst="rect">
            <a:avLst/>
          </a:prstGeom>
          <a:solidFill>
            <a:srgbClr val="F3F4F6"/>
          </a:solidFill>
          <a:ln/>
        </p:spPr>
      </p:sp>
      <p:sp>
        <p:nvSpPr>
          <p:cNvPr id="45" name="Text 43"/>
          <p:cNvSpPr/>
          <p:nvPr/>
        </p:nvSpPr>
        <p:spPr>
          <a:xfrm>
            <a:off x="530352" y="3867912"/>
            <a:ext cx="1499616" cy="594360"/>
          </a:xfrm>
          <a:prstGeom prst="rect">
            <a:avLst/>
          </a:prstGeom>
          <a:noFill/>
          <a:ln/>
        </p:spPr>
        <p:txBody>
          <a:bodyPr wrap="square" rtlCol="0" anchor="ctr"/>
          <a:lstStyle/>
          <a:p>
            <a:pPr indent="0" marL="0">
              <a:buNone/>
            </a:pPr>
            <a:r>
              <a:rPr lang="en-US" sz="1000" dirty="0">
                <a:solidFill>
                  <a:srgbClr val="374151"/>
                </a:solidFill>
                <a:latin typeface="Microsoft YaHei" pitchFamily="34" charset="0"/>
                <a:ea typeface="Microsoft YaHei" pitchFamily="34" charset="-122"/>
                <a:cs typeface="Microsoft YaHei" pitchFamily="34" charset="-120"/>
              </a:rPr>
              <a:t>财务</a:t>
            </a:r>
            <a:endParaRPr lang="en-US" sz="1000" dirty="0"/>
          </a:p>
        </p:txBody>
      </p:sp>
      <p:sp>
        <p:nvSpPr>
          <p:cNvPr id="46" name="Shape 44"/>
          <p:cNvSpPr/>
          <p:nvPr/>
        </p:nvSpPr>
        <p:spPr>
          <a:xfrm>
            <a:off x="2103120" y="3867912"/>
            <a:ext cx="2194560" cy="594360"/>
          </a:xfrm>
          <a:prstGeom prst="rect">
            <a:avLst/>
          </a:prstGeom>
          <a:solidFill>
            <a:srgbClr val="F3F4F6"/>
          </a:solidFill>
          <a:ln/>
        </p:spPr>
      </p:sp>
      <p:sp>
        <p:nvSpPr>
          <p:cNvPr id="47" name="Text 45"/>
          <p:cNvSpPr/>
          <p:nvPr/>
        </p:nvSpPr>
        <p:spPr>
          <a:xfrm>
            <a:off x="2176272" y="3867912"/>
            <a:ext cx="2048256" cy="594360"/>
          </a:xfrm>
          <a:prstGeom prst="rect">
            <a:avLst/>
          </a:prstGeom>
          <a:noFill/>
          <a:ln/>
        </p:spPr>
        <p:txBody>
          <a:bodyPr wrap="square" rtlCol="0" anchor="ctr"/>
          <a:lstStyle/>
          <a:p>
            <a:pPr indent="0" marL="0">
              <a:buNone/>
            </a:pPr>
            <a:r>
              <a:rPr lang="en-US" sz="1000" dirty="0">
                <a:solidFill>
                  <a:srgbClr val="374151"/>
                </a:solidFill>
                <a:latin typeface="Microsoft YaHei" pitchFamily="34" charset="0"/>
                <a:ea typeface="Microsoft YaHei" pitchFamily="34" charset="-122"/>
                <a:cs typeface="Microsoft YaHei" pitchFamily="34" charset="-120"/>
              </a:rPr>
              <a:t>审核通过/拒绝案例</a:t>
            </a:r>
            <a:endParaRPr lang="en-US" sz="1000" dirty="0"/>
          </a:p>
        </p:txBody>
      </p:sp>
      <p:sp>
        <p:nvSpPr>
          <p:cNvPr id="48" name="Shape 46"/>
          <p:cNvSpPr/>
          <p:nvPr/>
        </p:nvSpPr>
        <p:spPr>
          <a:xfrm>
            <a:off x="4297680" y="3867912"/>
            <a:ext cx="2194560" cy="594360"/>
          </a:xfrm>
          <a:prstGeom prst="rect">
            <a:avLst/>
          </a:prstGeom>
          <a:solidFill>
            <a:srgbClr val="F3F4F6"/>
          </a:solidFill>
          <a:ln/>
        </p:spPr>
      </p:sp>
      <p:sp>
        <p:nvSpPr>
          <p:cNvPr id="49" name="Text 47"/>
          <p:cNvSpPr/>
          <p:nvPr/>
        </p:nvSpPr>
        <p:spPr>
          <a:xfrm>
            <a:off x="4370832" y="3867912"/>
            <a:ext cx="2048256" cy="594360"/>
          </a:xfrm>
          <a:prstGeom prst="rect">
            <a:avLst/>
          </a:prstGeom>
          <a:noFill/>
          <a:ln/>
        </p:spPr>
        <p:txBody>
          <a:bodyPr wrap="square" rtlCol="0" anchor="ctr"/>
          <a:lstStyle/>
          <a:p>
            <a:pPr indent="0" marL="0">
              <a:buNone/>
            </a:pPr>
            <a:r>
              <a:rPr lang="en-US" sz="1000" dirty="0">
                <a:solidFill>
                  <a:srgbClr val="374151"/>
                </a:solidFill>
                <a:latin typeface="Microsoft YaHei" pitchFamily="34" charset="0"/>
                <a:ea typeface="Microsoft YaHei" pitchFamily="34" charset="-122"/>
                <a:cs typeface="Microsoft YaHei" pitchFamily="34" charset="-120"/>
              </a:rPr>
              <a:t>审批权限表、合规红线</a:t>
            </a:r>
            <a:endParaRPr lang="en-US" sz="1000" dirty="0"/>
          </a:p>
        </p:txBody>
      </p:sp>
      <p:sp>
        <p:nvSpPr>
          <p:cNvPr id="50" name="Shape 48"/>
          <p:cNvSpPr/>
          <p:nvPr/>
        </p:nvSpPr>
        <p:spPr>
          <a:xfrm>
            <a:off x="6492240" y="3867912"/>
            <a:ext cx="2194560" cy="594360"/>
          </a:xfrm>
          <a:prstGeom prst="rect">
            <a:avLst/>
          </a:prstGeom>
          <a:solidFill>
            <a:srgbClr val="F3F4F6"/>
          </a:solidFill>
          <a:ln/>
        </p:spPr>
      </p:sp>
      <p:sp>
        <p:nvSpPr>
          <p:cNvPr id="51" name="Text 49"/>
          <p:cNvSpPr/>
          <p:nvPr/>
        </p:nvSpPr>
        <p:spPr>
          <a:xfrm>
            <a:off x="6565392" y="3867912"/>
            <a:ext cx="2048256" cy="594360"/>
          </a:xfrm>
          <a:prstGeom prst="rect">
            <a:avLst/>
          </a:prstGeom>
          <a:noFill/>
          <a:ln/>
        </p:spPr>
        <p:txBody>
          <a:bodyPr wrap="square" rtlCol="0" anchor="ctr"/>
          <a:lstStyle/>
          <a:p>
            <a:pPr indent="0" marL="0">
              <a:buNone/>
            </a:pPr>
            <a:r>
              <a:rPr lang="en-US" sz="1000" dirty="0">
                <a:solidFill>
                  <a:srgbClr val="374151"/>
                </a:solidFill>
                <a:latin typeface="Microsoft YaHei" pitchFamily="34" charset="0"/>
                <a:ea typeface="Microsoft YaHei" pitchFamily="34" charset="-122"/>
                <a:cs typeface="Microsoft YaHei" pitchFamily="34" charset="-120"/>
              </a:rPr>
              <a:t>审核意见格式</a:t>
            </a:r>
            <a:endParaRPr lang="en-US" sz="1000" dirty="0"/>
          </a:p>
        </p:txBody>
      </p:sp>
      <p:sp>
        <p:nvSpPr>
          <p:cNvPr id="52" name="Shape 50"/>
          <p:cNvSpPr/>
          <p:nvPr/>
        </p:nvSpPr>
        <p:spPr>
          <a:xfrm>
            <a:off x="8503920" y="4663440"/>
            <a:ext cx="365760" cy="365760"/>
          </a:xfrm>
          <a:prstGeom prst="ellipse">
            <a:avLst/>
          </a:prstGeom>
          <a:solidFill>
            <a:srgbClr val="EF4444"/>
          </a:solidFill>
          <a:ln/>
        </p:spPr>
      </p:sp>
      <p:sp>
        <p:nvSpPr>
          <p:cNvPr id="53" name="Text 51"/>
          <p:cNvSpPr/>
          <p:nvPr/>
        </p:nvSpPr>
        <p:spPr>
          <a:xfrm>
            <a:off x="8503920" y="4663440"/>
            <a:ext cx="365760" cy="36576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48</a:t>
            </a:r>
            <a:endParaRPr lang="en-US" sz="10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B91C1C"/>
        </a:solidFill>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EF4444"/>
          </a:solidFill>
          <a:ln/>
        </p:spPr>
      </p:sp>
      <p:sp>
        <p:nvSpPr>
          <p:cNvPr id="3" name="Text 1"/>
          <p:cNvSpPr/>
          <p:nvPr/>
        </p:nvSpPr>
        <p:spPr>
          <a:xfrm>
            <a:off x="457200" y="1371600"/>
            <a:ext cx="8229600" cy="457200"/>
          </a:xfrm>
          <a:prstGeom prst="rect">
            <a:avLst/>
          </a:prstGeom>
          <a:noFill/>
          <a:ln/>
        </p:spPr>
        <p:txBody>
          <a:bodyPr wrap="square" rtlCol="0" anchor="ctr"/>
          <a:lstStyle/>
          <a:p>
            <a:pPr indent="0" marL="0">
              <a:buNone/>
            </a:pPr>
            <a:r>
              <a:rPr lang="en-US" sz="2000" dirty="0">
                <a:solidFill>
                  <a:srgbClr val="F3F4F6"/>
                </a:solidFill>
                <a:latin typeface="Microsoft YaHei" pitchFamily="34" charset="0"/>
                <a:ea typeface="Microsoft YaHei" pitchFamily="34" charset="-122"/>
                <a:cs typeface="Microsoft YaHei" pitchFamily="34" charset="-120"/>
              </a:rPr>
              <a:t>第二天 · 上午</a:t>
            </a:r>
            <a:endParaRPr lang="en-US" sz="2000" dirty="0"/>
          </a:p>
        </p:txBody>
      </p:sp>
      <p:sp>
        <p:nvSpPr>
          <p:cNvPr id="4" name="Text 2"/>
          <p:cNvSpPr/>
          <p:nvPr/>
        </p:nvSpPr>
        <p:spPr>
          <a:xfrm>
            <a:off x="457200" y="1920240"/>
            <a:ext cx="8229600" cy="1097280"/>
          </a:xfrm>
          <a:prstGeom prst="rect">
            <a:avLst/>
          </a:prstGeom>
          <a:noFill/>
          <a:ln/>
        </p:spPr>
        <p:txBody>
          <a:bodyPr wrap="square" rtlCol="0" anchor="ctr"/>
          <a:lstStyle/>
          <a:p>
            <a:pPr indent="0" marL="0">
              <a:buNone/>
            </a:pPr>
            <a:r>
              <a:rPr lang="en-US" sz="5600" b="1" dirty="0">
                <a:solidFill>
                  <a:srgbClr val="FFFFFF"/>
                </a:solidFill>
                <a:latin typeface="Microsoft YaHei" pitchFamily="34" charset="0"/>
                <a:ea typeface="Microsoft YaHei" pitchFamily="34" charset="-122"/>
                <a:cs typeface="Microsoft YaHei" pitchFamily="34" charset="-120"/>
              </a:rPr>
              <a:t>验收与激活</a:t>
            </a:r>
            <a:endParaRPr lang="en-US" sz="5600" dirty="0"/>
          </a:p>
        </p:txBody>
      </p:sp>
      <p:sp>
        <p:nvSpPr>
          <p:cNvPr id="5" name="Shape 3"/>
          <p:cNvSpPr/>
          <p:nvPr/>
        </p:nvSpPr>
        <p:spPr>
          <a:xfrm>
            <a:off x="457200" y="3108960"/>
            <a:ext cx="1828800" cy="54864"/>
          </a:xfrm>
          <a:prstGeom prst="rect">
            <a:avLst/>
          </a:prstGeom>
          <a:solidFill>
            <a:srgbClr val="EF4444"/>
          </a:solidFill>
          <a:ln/>
        </p:spPr>
      </p:sp>
      <p:sp>
        <p:nvSpPr>
          <p:cNvPr id="6" name="Text 4"/>
          <p:cNvSpPr/>
          <p:nvPr/>
        </p:nvSpPr>
        <p:spPr>
          <a:xfrm>
            <a:off x="457200" y="3291840"/>
            <a:ext cx="8229600" cy="548640"/>
          </a:xfrm>
          <a:prstGeom prst="rect">
            <a:avLst/>
          </a:prstGeom>
          <a:noFill/>
          <a:ln/>
        </p:spPr>
        <p:txBody>
          <a:bodyPr wrap="square" rtlCol="0" anchor="ctr"/>
          <a:lstStyle/>
          <a:p>
            <a:pPr indent="0" marL="0">
              <a:buNone/>
            </a:pPr>
            <a:r>
              <a:rPr lang="en-US" sz="1800" dirty="0">
                <a:solidFill>
                  <a:srgbClr val="F3F4F6"/>
                </a:solidFill>
                <a:latin typeface="Microsoft YaHei" pitchFamily="34" charset="0"/>
                <a:ea typeface="Microsoft YaHei" pitchFamily="34" charset="-122"/>
                <a:cs typeface="Microsoft YaHei" pitchFamily="34" charset="-120"/>
              </a:rPr>
              <a:t>真正的验收才算数，然后让它主动工作</a:t>
            </a:r>
            <a:endParaRPr lang="en-US" sz="1800" dirty="0"/>
          </a:p>
        </p:txBody>
      </p:sp>
      <p:sp>
        <p:nvSpPr>
          <p:cNvPr id="7" name="Shape 5"/>
          <p:cNvSpPr/>
          <p:nvPr/>
        </p:nvSpPr>
        <p:spPr>
          <a:xfrm>
            <a:off x="8503920" y="4663440"/>
            <a:ext cx="365760" cy="365760"/>
          </a:xfrm>
          <a:prstGeom prst="ellipse">
            <a:avLst/>
          </a:prstGeom>
          <a:solidFill>
            <a:srgbClr val="EF4444"/>
          </a:solidFill>
          <a:ln/>
        </p:spPr>
      </p:sp>
      <p:sp>
        <p:nvSpPr>
          <p:cNvPr id="8" name="Text 6"/>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55</a:t>
            </a:r>
            <a:endParaRPr lang="en-US" sz="12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274320"/>
            <a:ext cx="8229600" cy="548640"/>
          </a:xfrm>
          <a:prstGeom prst="rect">
            <a:avLst/>
          </a:prstGeom>
          <a:noFill/>
          <a:ln/>
        </p:spPr>
        <p:txBody>
          <a:bodyPr wrap="square" rtlCol="0" anchor="ctr"/>
          <a:lstStyle/>
          <a:p>
            <a:pPr indent="0" marL="0">
              <a:buNone/>
            </a:pPr>
            <a:r>
              <a:rPr lang="en-US" sz="3200" b="1" dirty="0">
                <a:solidFill>
                  <a:srgbClr val="B91C1C"/>
                </a:solidFill>
                <a:latin typeface="Microsoft YaHei" pitchFamily="34" charset="0"/>
                <a:ea typeface="Microsoft YaHei" pitchFamily="34" charset="-122"/>
                <a:cs typeface="Microsoft YaHei" pitchFamily="34" charset="-120"/>
              </a:rPr>
              <a:t>开场：昨晚发生了什么</a:t>
            </a:r>
            <a:endParaRPr lang="en-US" sz="3200" dirty="0"/>
          </a:p>
        </p:txBody>
      </p:sp>
      <p:sp>
        <p:nvSpPr>
          <p:cNvPr id="4" name="Text 2"/>
          <p:cNvSpPr/>
          <p:nvPr/>
        </p:nvSpPr>
        <p:spPr>
          <a:xfrm>
            <a:off x="457200" y="868680"/>
            <a:ext cx="2743200" cy="365760"/>
          </a:xfrm>
          <a:prstGeom prst="rect">
            <a:avLst/>
          </a:prstGeom>
          <a:noFill/>
          <a:ln/>
        </p:spPr>
        <p:txBody>
          <a:bodyPr wrap="square" rtlCol="0" anchor="ctr"/>
          <a:lstStyle/>
          <a:p>
            <a:pPr indent="0" marL="0">
              <a:buNone/>
            </a:pPr>
            <a:r>
              <a:rPr lang="en-US" sz="1600" b="1" dirty="0">
                <a:solidFill>
                  <a:srgbClr val="EF4444"/>
                </a:solidFill>
                <a:latin typeface="Microsoft YaHei" pitchFamily="34" charset="0"/>
                <a:ea typeface="Microsoft YaHei" pitchFamily="34" charset="-122"/>
                <a:cs typeface="Microsoft YaHei" pitchFamily="34" charset="-120"/>
              </a:rPr>
              <a:t>问题引导</a:t>
            </a:r>
            <a:endParaRPr lang="en-US" sz="1600" dirty="0"/>
          </a:p>
        </p:txBody>
      </p:sp>
      <p:sp>
        <p:nvSpPr>
          <p:cNvPr id="5" name="Shape 3"/>
          <p:cNvSpPr/>
          <p:nvPr/>
        </p:nvSpPr>
        <p:spPr>
          <a:xfrm>
            <a:off x="457200" y="1371600"/>
            <a:ext cx="8229600" cy="914400"/>
          </a:xfrm>
          <a:prstGeom prst="roundRect">
            <a:avLst>
              <a:gd name="adj" fmla="val 8000"/>
            </a:avLst>
          </a:prstGeom>
          <a:solidFill>
            <a:srgbClr val="F3F4F6"/>
          </a:solidFill>
          <a:ln/>
        </p:spPr>
      </p:sp>
      <p:sp>
        <p:nvSpPr>
          <p:cNvPr id="6" name="Shape 4"/>
          <p:cNvSpPr/>
          <p:nvPr/>
        </p:nvSpPr>
        <p:spPr>
          <a:xfrm>
            <a:off x="640080" y="1600200"/>
            <a:ext cx="457200" cy="457200"/>
          </a:xfrm>
          <a:prstGeom prst="ellipse">
            <a:avLst/>
          </a:prstGeom>
          <a:solidFill>
            <a:srgbClr val="EF4444"/>
          </a:solidFill>
          <a:ln/>
        </p:spPr>
      </p:sp>
      <p:sp>
        <p:nvSpPr>
          <p:cNvPr id="7" name="Text 5"/>
          <p:cNvSpPr/>
          <p:nvPr/>
        </p:nvSpPr>
        <p:spPr>
          <a:xfrm>
            <a:off x="640080" y="1600200"/>
            <a:ext cx="457200" cy="45720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8" name="Text 6"/>
          <p:cNvSpPr/>
          <p:nvPr/>
        </p:nvSpPr>
        <p:spPr>
          <a:xfrm>
            <a:off x="1280160" y="1371600"/>
            <a:ext cx="7132320" cy="914400"/>
          </a:xfrm>
          <a:prstGeom prst="rect">
            <a:avLst/>
          </a:prstGeom>
          <a:noFill/>
          <a:ln/>
        </p:spPr>
        <p:txBody>
          <a:bodyPr wrap="square" rtlCol="0" anchor="ctr"/>
          <a:lstStyle/>
          <a:p>
            <a:pPr indent="0" marL="0">
              <a:buNone/>
            </a:pPr>
            <a:r>
              <a:rPr lang="en-US" sz="1600" dirty="0">
                <a:solidFill>
                  <a:srgbClr val="374151"/>
                </a:solidFill>
                <a:latin typeface="Microsoft YaHei" pitchFamily="34" charset="0"/>
                <a:ea typeface="Microsoft YaHei" pitchFamily="34" charset="-122"/>
                <a:cs typeface="Microsoft YaHei" pitchFamily="34" charset="-120"/>
              </a:rPr>
              <a:t>有没有遇到AI输出让你很意外的结果？</a:t>
            </a:r>
            <a:endParaRPr lang="en-US" sz="1600" dirty="0"/>
          </a:p>
        </p:txBody>
      </p:sp>
      <p:sp>
        <p:nvSpPr>
          <p:cNvPr id="9" name="Shape 7"/>
          <p:cNvSpPr/>
          <p:nvPr/>
        </p:nvSpPr>
        <p:spPr>
          <a:xfrm>
            <a:off x="457200" y="2468880"/>
            <a:ext cx="8229600" cy="914400"/>
          </a:xfrm>
          <a:prstGeom prst="roundRect">
            <a:avLst>
              <a:gd name="adj" fmla="val 8000"/>
            </a:avLst>
          </a:prstGeom>
          <a:solidFill>
            <a:srgbClr val="F3F4F6"/>
          </a:solidFill>
          <a:ln/>
        </p:spPr>
      </p:sp>
      <p:sp>
        <p:nvSpPr>
          <p:cNvPr id="10" name="Shape 8"/>
          <p:cNvSpPr/>
          <p:nvPr/>
        </p:nvSpPr>
        <p:spPr>
          <a:xfrm>
            <a:off x="640080" y="2697480"/>
            <a:ext cx="457200" cy="457200"/>
          </a:xfrm>
          <a:prstGeom prst="ellipse">
            <a:avLst/>
          </a:prstGeom>
          <a:solidFill>
            <a:srgbClr val="EF4444"/>
          </a:solidFill>
          <a:ln/>
        </p:spPr>
      </p:sp>
      <p:sp>
        <p:nvSpPr>
          <p:cNvPr id="11" name="Text 9"/>
          <p:cNvSpPr/>
          <p:nvPr/>
        </p:nvSpPr>
        <p:spPr>
          <a:xfrm>
            <a:off x="640080" y="2697480"/>
            <a:ext cx="457200" cy="45720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12" name="Text 10"/>
          <p:cNvSpPr/>
          <p:nvPr/>
        </p:nvSpPr>
        <p:spPr>
          <a:xfrm>
            <a:off x="1280160" y="2468880"/>
            <a:ext cx="7132320" cy="914400"/>
          </a:xfrm>
          <a:prstGeom prst="rect">
            <a:avLst/>
          </a:prstGeom>
          <a:noFill/>
          <a:ln/>
        </p:spPr>
        <p:txBody>
          <a:bodyPr wrap="square" rtlCol="0" anchor="ctr"/>
          <a:lstStyle/>
          <a:p>
            <a:pPr indent="0" marL="0">
              <a:buNone/>
            </a:pPr>
            <a:r>
              <a:rPr lang="en-US" sz="1600" dirty="0">
                <a:solidFill>
                  <a:srgbClr val="374151"/>
                </a:solidFill>
                <a:latin typeface="Microsoft YaHei" pitchFamily="34" charset="0"/>
                <a:ea typeface="Microsoft YaHei" pitchFamily="34" charset="-122"/>
                <a:cs typeface="Microsoft YaHei" pitchFamily="34" charset="-120"/>
              </a:rPr>
              <a:t>有没有发现某条规则「感觉写清楚了，但AI就是不按那条规则处理」？</a:t>
            </a:r>
            <a:endParaRPr lang="en-US" sz="1600" dirty="0"/>
          </a:p>
        </p:txBody>
      </p:sp>
      <p:sp>
        <p:nvSpPr>
          <p:cNvPr id="13" name="Shape 11"/>
          <p:cNvSpPr/>
          <p:nvPr/>
        </p:nvSpPr>
        <p:spPr>
          <a:xfrm>
            <a:off x="457200" y="3566160"/>
            <a:ext cx="8229600" cy="914400"/>
          </a:xfrm>
          <a:prstGeom prst="roundRect">
            <a:avLst>
              <a:gd name="adj" fmla="val 8000"/>
            </a:avLst>
          </a:prstGeom>
          <a:solidFill>
            <a:srgbClr val="F3F4F6"/>
          </a:solidFill>
          <a:ln/>
        </p:spPr>
      </p:sp>
      <p:sp>
        <p:nvSpPr>
          <p:cNvPr id="14" name="Shape 12"/>
          <p:cNvSpPr/>
          <p:nvPr/>
        </p:nvSpPr>
        <p:spPr>
          <a:xfrm>
            <a:off x="640080" y="3794760"/>
            <a:ext cx="457200" cy="457200"/>
          </a:xfrm>
          <a:prstGeom prst="ellipse">
            <a:avLst/>
          </a:prstGeom>
          <a:solidFill>
            <a:srgbClr val="EF4444"/>
          </a:solidFill>
          <a:ln/>
        </p:spPr>
      </p:sp>
      <p:sp>
        <p:nvSpPr>
          <p:cNvPr id="15" name="Text 13"/>
          <p:cNvSpPr/>
          <p:nvPr/>
        </p:nvSpPr>
        <p:spPr>
          <a:xfrm>
            <a:off x="640080" y="3794760"/>
            <a:ext cx="457200" cy="45720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16" name="Text 14"/>
          <p:cNvSpPr/>
          <p:nvPr/>
        </p:nvSpPr>
        <p:spPr>
          <a:xfrm>
            <a:off x="1280160" y="3566160"/>
            <a:ext cx="7132320" cy="914400"/>
          </a:xfrm>
          <a:prstGeom prst="rect">
            <a:avLst/>
          </a:prstGeom>
          <a:noFill/>
          <a:ln/>
        </p:spPr>
        <p:txBody>
          <a:bodyPr wrap="square" rtlCol="0" anchor="ctr"/>
          <a:lstStyle/>
          <a:p>
            <a:pPr indent="0" marL="0">
              <a:buNone/>
            </a:pPr>
            <a:r>
              <a:rPr lang="en-US" sz="1600" dirty="0">
                <a:solidFill>
                  <a:srgbClr val="374151"/>
                </a:solidFill>
                <a:latin typeface="Microsoft YaHei" pitchFamily="34" charset="0"/>
                <a:ea typeface="Microsoft YaHei" pitchFamily="34" charset="-122"/>
                <a:cs typeface="Microsoft YaHei" pitchFamily="34" charset="-120"/>
              </a:rPr>
              <a:t>有没有遇到某个输入让AI在完全没预料到的方向上发挥？</a:t>
            </a:r>
            <a:endParaRPr lang="en-US" sz="1600" dirty="0"/>
          </a:p>
        </p:txBody>
      </p:sp>
      <p:sp>
        <p:nvSpPr>
          <p:cNvPr id="17" name="Shape 15"/>
          <p:cNvSpPr/>
          <p:nvPr/>
        </p:nvSpPr>
        <p:spPr>
          <a:xfrm>
            <a:off x="8503920" y="4663440"/>
            <a:ext cx="365760" cy="365760"/>
          </a:xfrm>
          <a:prstGeom prst="ellipse">
            <a:avLst/>
          </a:prstGeom>
          <a:solidFill>
            <a:srgbClr val="EF4444"/>
          </a:solidFill>
          <a:ln/>
        </p:spPr>
      </p:sp>
      <p:sp>
        <p:nvSpPr>
          <p:cNvPr id="18" name="Text 16"/>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56</a:t>
            </a:r>
            <a:endParaRPr lang="en-US" sz="12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274320"/>
            <a:ext cx="8229600" cy="548640"/>
          </a:xfrm>
          <a:prstGeom prst="rect">
            <a:avLst/>
          </a:prstGeom>
          <a:noFill/>
          <a:ln/>
        </p:spPr>
        <p:txBody>
          <a:bodyPr wrap="square" rtlCol="0" anchor="ctr"/>
          <a:lstStyle/>
          <a:p>
            <a:pPr indent="0" marL="0">
              <a:buNone/>
            </a:pPr>
            <a:r>
              <a:rPr lang="en-US" sz="3200" b="1" dirty="0">
                <a:solidFill>
                  <a:srgbClr val="B91C1C"/>
                </a:solidFill>
                <a:latin typeface="Microsoft YaHei" pitchFamily="34" charset="0"/>
                <a:ea typeface="Microsoft YaHei" pitchFamily="34" charset="-122"/>
                <a:cs typeface="Microsoft YaHei" pitchFamily="34" charset="-120"/>
              </a:rPr>
              <a:t>「感觉还行」不是验收</a:t>
            </a:r>
            <a:endParaRPr lang="en-US" sz="3200" dirty="0"/>
          </a:p>
        </p:txBody>
      </p:sp>
      <p:sp>
        <p:nvSpPr>
          <p:cNvPr id="4" name="Shape 2"/>
          <p:cNvSpPr/>
          <p:nvPr/>
        </p:nvSpPr>
        <p:spPr>
          <a:xfrm>
            <a:off x="457200" y="1097280"/>
            <a:ext cx="3931920" cy="2286000"/>
          </a:xfrm>
          <a:prstGeom prst="roundRect">
            <a:avLst>
              <a:gd name="adj" fmla="val 4000"/>
            </a:avLst>
          </a:prstGeom>
          <a:solidFill>
            <a:srgbClr val="F3F4F6"/>
          </a:solidFill>
          <a:ln/>
        </p:spPr>
      </p:sp>
      <p:sp>
        <p:nvSpPr>
          <p:cNvPr id="5" name="Shape 3"/>
          <p:cNvSpPr/>
          <p:nvPr/>
        </p:nvSpPr>
        <p:spPr>
          <a:xfrm>
            <a:off x="2011680" y="1280160"/>
            <a:ext cx="731520" cy="731520"/>
          </a:xfrm>
          <a:prstGeom prst="ellipse">
            <a:avLst/>
          </a:prstGeom>
          <a:solidFill>
            <a:srgbClr val="374151"/>
          </a:solidFill>
          <a:ln/>
        </p:spPr>
      </p:sp>
      <p:sp>
        <p:nvSpPr>
          <p:cNvPr id="6" name="Text 4"/>
          <p:cNvSpPr/>
          <p:nvPr/>
        </p:nvSpPr>
        <p:spPr>
          <a:xfrm>
            <a:off x="2011680" y="1280160"/>
            <a:ext cx="731520" cy="731520"/>
          </a:xfrm>
          <a:prstGeom prst="rect">
            <a:avLst/>
          </a:prstGeom>
          <a:noFill/>
          <a:ln/>
        </p:spPr>
        <p:txBody>
          <a:bodyPr wrap="square"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X</a:t>
            </a:r>
            <a:endParaRPr lang="en-US" sz="2800" dirty="0"/>
          </a:p>
        </p:txBody>
      </p:sp>
      <p:sp>
        <p:nvSpPr>
          <p:cNvPr id="7" name="Text 5"/>
          <p:cNvSpPr/>
          <p:nvPr/>
        </p:nvSpPr>
        <p:spPr>
          <a:xfrm>
            <a:off x="640080" y="2103120"/>
            <a:ext cx="3566160" cy="457200"/>
          </a:xfrm>
          <a:prstGeom prst="rect">
            <a:avLst/>
          </a:prstGeom>
          <a:noFill/>
          <a:ln/>
        </p:spPr>
        <p:txBody>
          <a:bodyPr wrap="square" rtlCol="0" anchor="ctr"/>
          <a:lstStyle/>
          <a:p>
            <a:pPr algn="ctr" indent="0" marL="0">
              <a:buNone/>
            </a:pPr>
            <a:r>
              <a:rPr lang="en-US" sz="1600" b="1" dirty="0">
                <a:solidFill>
                  <a:srgbClr val="374151"/>
                </a:solidFill>
                <a:latin typeface="Microsoft YaHei" pitchFamily="34" charset="0"/>
                <a:ea typeface="Microsoft YaHei" pitchFamily="34" charset="-122"/>
                <a:cs typeface="Microsoft YaHei" pitchFamily="34" charset="-120"/>
              </a:rPr>
              <a:t>用「为它定制的」数据测试</a:t>
            </a:r>
            <a:endParaRPr lang="en-US" sz="1600" dirty="0"/>
          </a:p>
        </p:txBody>
      </p:sp>
      <p:sp>
        <p:nvSpPr>
          <p:cNvPr id="8" name="Text 6"/>
          <p:cNvSpPr/>
          <p:nvPr/>
        </p:nvSpPr>
        <p:spPr>
          <a:xfrm>
            <a:off x="640080" y="2560320"/>
            <a:ext cx="3566160" cy="457200"/>
          </a:xfrm>
          <a:prstGeom prst="rect">
            <a:avLst/>
          </a:prstGeom>
          <a:noFill/>
          <a:ln/>
        </p:spPr>
        <p:txBody>
          <a:bodyPr wrap="square" rtlCol="0" anchor="ctr"/>
          <a:lstStyle/>
          <a:p>
            <a:pPr algn="ctr" indent="0" marL="0">
              <a:buNone/>
            </a:pPr>
            <a:r>
              <a:rPr lang="en-US" sz="1400" dirty="0">
                <a:solidFill>
                  <a:srgbClr val="374151"/>
                </a:solidFill>
                <a:latin typeface="Microsoft YaHei" pitchFamily="34" charset="0"/>
                <a:ea typeface="Microsoft YaHei" pitchFamily="34" charset="-122"/>
                <a:cs typeface="Microsoft YaHei" pitchFamily="34" charset="-120"/>
              </a:rPr>
              <a:t>找不到真正的问题</a:t>
            </a:r>
            <a:endParaRPr lang="en-US" sz="1400" dirty="0"/>
          </a:p>
        </p:txBody>
      </p:sp>
      <p:sp>
        <p:nvSpPr>
          <p:cNvPr id="9" name="Text 7"/>
          <p:cNvSpPr/>
          <p:nvPr/>
        </p:nvSpPr>
        <p:spPr>
          <a:xfrm>
            <a:off x="4114800" y="2011680"/>
            <a:ext cx="914400" cy="731520"/>
          </a:xfrm>
          <a:prstGeom prst="rect">
            <a:avLst/>
          </a:prstGeom>
          <a:noFill/>
          <a:ln/>
        </p:spPr>
        <p:txBody>
          <a:bodyPr wrap="square" rtlCol="0" anchor="ctr"/>
          <a:lstStyle/>
          <a:p>
            <a:pPr algn="ctr" indent="0" marL="0">
              <a:buNone/>
            </a:pPr>
            <a:r>
              <a:rPr lang="en-US" sz="3200" b="1" dirty="0">
                <a:solidFill>
                  <a:srgbClr val="EF4444"/>
                </a:solidFill>
                <a:latin typeface="Arial" pitchFamily="34" charset="0"/>
                <a:ea typeface="Arial" pitchFamily="34" charset="-122"/>
                <a:cs typeface="Arial" pitchFamily="34" charset="-120"/>
              </a:rPr>
              <a:t>&gt;&gt;&gt;</a:t>
            </a:r>
            <a:endParaRPr lang="en-US" sz="3200" dirty="0"/>
          </a:p>
        </p:txBody>
      </p:sp>
      <p:sp>
        <p:nvSpPr>
          <p:cNvPr id="10" name="Shape 8"/>
          <p:cNvSpPr/>
          <p:nvPr/>
        </p:nvSpPr>
        <p:spPr>
          <a:xfrm>
            <a:off x="4754880" y="1097280"/>
            <a:ext cx="3931920" cy="2286000"/>
          </a:xfrm>
          <a:prstGeom prst="roundRect">
            <a:avLst>
              <a:gd name="adj" fmla="val 4000"/>
            </a:avLst>
          </a:prstGeom>
          <a:solidFill>
            <a:srgbClr val="B91C1C"/>
          </a:solidFill>
          <a:ln/>
        </p:spPr>
      </p:sp>
      <p:sp>
        <p:nvSpPr>
          <p:cNvPr id="11" name="Shape 9"/>
          <p:cNvSpPr/>
          <p:nvPr/>
        </p:nvSpPr>
        <p:spPr>
          <a:xfrm>
            <a:off x="6309360" y="1280160"/>
            <a:ext cx="731520" cy="731520"/>
          </a:xfrm>
          <a:prstGeom prst="ellipse">
            <a:avLst/>
          </a:prstGeom>
          <a:solidFill>
            <a:srgbClr val="EF4444"/>
          </a:solidFill>
          <a:ln/>
        </p:spPr>
      </p:sp>
      <p:sp>
        <p:nvSpPr>
          <p:cNvPr id="12" name="Text 10"/>
          <p:cNvSpPr/>
          <p:nvPr/>
        </p:nvSpPr>
        <p:spPr>
          <a:xfrm>
            <a:off x="6309360" y="1280160"/>
            <a:ext cx="731520" cy="731520"/>
          </a:xfrm>
          <a:prstGeom prst="rect">
            <a:avLst/>
          </a:prstGeom>
          <a:noFill/>
          <a:ln/>
        </p:spPr>
        <p:txBody>
          <a:bodyPr wrap="square"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a:t>
            </a:r>
            <a:endParaRPr lang="en-US" sz="2800" dirty="0"/>
          </a:p>
        </p:txBody>
      </p:sp>
      <p:sp>
        <p:nvSpPr>
          <p:cNvPr id="13" name="Text 11"/>
          <p:cNvSpPr/>
          <p:nvPr/>
        </p:nvSpPr>
        <p:spPr>
          <a:xfrm>
            <a:off x="4937760" y="2103120"/>
            <a:ext cx="3566160" cy="457200"/>
          </a:xfrm>
          <a:prstGeom prst="rect">
            <a:avLst/>
          </a:prstGeom>
          <a:noFill/>
          <a:ln/>
        </p:spPr>
        <p:txBody>
          <a:bodyPr wrap="square" rtlCol="0" anchor="ctr"/>
          <a:lstStyle/>
          <a:p>
            <a:pPr algn="ctr" indent="0" marL="0">
              <a:buNone/>
            </a:pPr>
            <a:r>
              <a:rPr lang="en-US" sz="1600" b="1" dirty="0">
                <a:solidFill>
                  <a:srgbClr val="FFFFFF"/>
                </a:solidFill>
                <a:latin typeface="Microsoft YaHei" pitchFamily="34" charset="0"/>
                <a:ea typeface="Microsoft YaHei" pitchFamily="34" charset="-122"/>
                <a:cs typeface="Microsoft YaHei" pitchFamily="34" charset="-120"/>
              </a:rPr>
              <a:t>真正的验收</a:t>
            </a:r>
            <a:endParaRPr lang="en-US" sz="1600" dirty="0"/>
          </a:p>
        </p:txBody>
      </p:sp>
      <p:sp>
        <p:nvSpPr>
          <p:cNvPr id="14" name="Text 12"/>
          <p:cNvSpPr/>
          <p:nvPr/>
        </p:nvSpPr>
        <p:spPr>
          <a:xfrm>
            <a:off x="4937760" y="2560320"/>
            <a:ext cx="3566160" cy="457200"/>
          </a:xfrm>
          <a:prstGeom prst="rect">
            <a:avLst/>
          </a:prstGeom>
          <a:noFill/>
          <a:ln/>
        </p:spPr>
        <p:txBody>
          <a:bodyPr wrap="square" rtlCol="0" anchor="ctr"/>
          <a:lstStyle/>
          <a:p>
            <a:pPr algn="ctr" indent="0" marL="0">
              <a:buNone/>
            </a:pPr>
            <a:r>
              <a:rPr lang="en-US" sz="1400" dirty="0">
                <a:solidFill>
                  <a:srgbClr val="F3F4F6"/>
                </a:solidFill>
                <a:latin typeface="Microsoft YaHei" pitchFamily="34" charset="0"/>
                <a:ea typeface="Microsoft YaHei" pitchFamily="34" charset="-122"/>
                <a:cs typeface="Microsoft YaHei" pitchFamily="34" charset="-120"/>
              </a:rPr>
              <a:t>用「从来没见过」的真实数据</a:t>
            </a:r>
            <a:endParaRPr lang="en-US" sz="1400" dirty="0"/>
          </a:p>
        </p:txBody>
      </p:sp>
      <p:sp>
        <p:nvSpPr>
          <p:cNvPr id="15" name="Shape 13"/>
          <p:cNvSpPr/>
          <p:nvPr/>
        </p:nvSpPr>
        <p:spPr>
          <a:xfrm>
            <a:off x="457200" y="3657600"/>
            <a:ext cx="8229600" cy="914400"/>
          </a:xfrm>
          <a:prstGeom prst="roundRect">
            <a:avLst>
              <a:gd name="adj" fmla="val 8000"/>
            </a:avLst>
          </a:prstGeom>
          <a:solidFill>
            <a:srgbClr val="EF4444"/>
          </a:solidFill>
          <a:ln/>
        </p:spPr>
      </p:sp>
      <p:sp>
        <p:nvSpPr>
          <p:cNvPr id="16" name="Text 14"/>
          <p:cNvSpPr/>
          <p:nvPr/>
        </p:nvSpPr>
        <p:spPr>
          <a:xfrm>
            <a:off x="457200" y="3657600"/>
            <a:ext cx="8229600" cy="914400"/>
          </a:xfrm>
          <a:prstGeom prst="rect">
            <a:avLst/>
          </a:prstGeom>
          <a:noFill/>
          <a:ln/>
        </p:spPr>
        <p:txBody>
          <a:bodyPr wrap="square" rtlCol="0" anchor="ctr"/>
          <a:lstStyle/>
          <a:p>
            <a:pPr algn="ctr" indent="0" marL="0">
              <a:buNone/>
            </a:pPr>
            <a:r>
              <a:rPr lang="en-US" sz="1800" b="1" dirty="0">
                <a:solidFill>
                  <a:srgbClr val="FFFFFF"/>
                </a:solidFill>
                <a:latin typeface="Microsoft YaHei" pitchFamily="34" charset="0"/>
                <a:ea typeface="Microsoft YaHei" pitchFamily="34" charset="-122"/>
                <a:cs typeface="Microsoft YaHei" pitchFamily="34" charset="-120"/>
              </a:rPr>
              <a:t>核心观点：用「从来没见过」的真实数据，才能发现「真正的问题」</a:t>
            </a:r>
            <a:endParaRPr lang="en-US" sz="1800" dirty="0"/>
          </a:p>
        </p:txBody>
      </p:sp>
      <p:sp>
        <p:nvSpPr>
          <p:cNvPr id="17" name="Shape 15"/>
          <p:cNvSpPr/>
          <p:nvPr/>
        </p:nvSpPr>
        <p:spPr>
          <a:xfrm>
            <a:off x="8503920" y="4663440"/>
            <a:ext cx="365760" cy="365760"/>
          </a:xfrm>
          <a:prstGeom prst="ellipse">
            <a:avLst/>
          </a:prstGeom>
          <a:solidFill>
            <a:srgbClr val="EF4444"/>
          </a:solidFill>
          <a:ln/>
        </p:spPr>
      </p:sp>
      <p:sp>
        <p:nvSpPr>
          <p:cNvPr id="18" name="Text 16"/>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57</a:t>
            </a:r>
            <a:endParaRPr lang="en-US" sz="12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274320"/>
            <a:ext cx="8229600" cy="548640"/>
          </a:xfrm>
          <a:prstGeom prst="rect">
            <a:avLst/>
          </a:prstGeom>
          <a:noFill/>
          <a:ln/>
        </p:spPr>
        <p:txBody>
          <a:bodyPr wrap="square" rtlCol="0" anchor="ctr"/>
          <a:lstStyle/>
          <a:p>
            <a:pPr indent="0" marL="0">
              <a:buNone/>
            </a:pPr>
            <a:r>
              <a:rPr lang="en-US" sz="3200" b="1" dirty="0">
                <a:solidFill>
                  <a:srgbClr val="B91C1C"/>
                </a:solidFill>
                <a:latin typeface="Microsoft YaHei" pitchFamily="34" charset="0"/>
                <a:ea typeface="Microsoft YaHei" pitchFamily="34" charset="-122"/>
                <a:cs typeface="Microsoft YaHei" pitchFamily="34" charset="-120"/>
              </a:rPr>
              <a:t>三类测试用例缺一不可</a:t>
            </a:r>
            <a:endParaRPr lang="en-US" sz="3200" dirty="0"/>
          </a:p>
        </p:txBody>
      </p:sp>
      <p:sp>
        <p:nvSpPr>
          <p:cNvPr id="4" name="Shape 2"/>
          <p:cNvSpPr/>
          <p:nvPr/>
        </p:nvSpPr>
        <p:spPr>
          <a:xfrm>
            <a:off x="457200" y="914400"/>
            <a:ext cx="1645920" cy="457200"/>
          </a:xfrm>
          <a:prstGeom prst="rect">
            <a:avLst/>
          </a:prstGeom>
          <a:solidFill>
            <a:srgbClr val="B91C1C"/>
          </a:solidFill>
          <a:ln/>
        </p:spPr>
      </p:sp>
      <p:sp>
        <p:nvSpPr>
          <p:cNvPr id="5" name="Text 3"/>
          <p:cNvSpPr/>
          <p:nvPr/>
        </p:nvSpPr>
        <p:spPr>
          <a:xfrm>
            <a:off x="457200" y="914400"/>
            <a:ext cx="1645920" cy="457200"/>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测试类型</a:t>
            </a:r>
            <a:endParaRPr lang="en-US" sz="1400" dirty="0"/>
          </a:p>
        </p:txBody>
      </p:sp>
      <p:sp>
        <p:nvSpPr>
          <p:cNvPr id="6" name="Shape 4"/>
          <p:cNvSpPr/>
          <p:nvPr/>
        </p:nvSpPr>
        <p:spPr>
          <a:xfrm>
            <a:off x="2103120" y="914400"/>
            <a:ext cx="3200400" cy="457200"/>
          </a:xfrm>
          <a:prstGeom prst="rect">
            <a:avLst/>
          </a:prstGeom>
          <a:solidFill>
            <a:srgbClr val="B91C1C"/>
          </a:solidFill>
          <a:ln/>
        </p:spPr>
      </p:sp>
      <p:sp>
        <p:nvSpPr>
          <p:cNvPr id="7" name="Text 5"/>
          <p:cNvSpPr/>
          <p:nvPr/>
        </p:nvSpPr>
        <p:spPr>
          <a:xfrm>
            <a:off x="2103120" y="914400"/>
            <a:ext cx="3200400" cy="457200"/>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什么是这类测试</a:t>
            </a:r>
            <a:endParaRPr lang="en-US" sz="1400" dirty="0"/>
          </a:p>
        </p:txBody>
      </p:sp>
      <p:sp>
        <p:nvSpPr>
          <p:cNvPr id="8" name="Shape 6"/>
          <p:cNvSpPr/>
          <p:nvPr/>
        </p:nvSpPr>
        <p:spPr>
          <a:xfrm>
            <a:off x="5303520" y="914400"/>
            <a:ext cx="3383280" cy="457200"/>
          </a:xfrm>
          <a:prstGeom prst="rect">
            <a:avLst/>
          </a:prstGeom>
          <a:solidFill>
            <a:srgbClr val="B91C1C"/>
          </a:solidFill>
          <a:ln/>
        </p:spPr>
      </p:sp>
      <p:sp>
        <p:nvSpPr>
          <p:cNvPr id="9" name="Text 7"/>
          <p:cNvSpPr/>
          <p:nvPr/>
        </p:nvSpPr>
        <p:spPr>
          <a:xfrm>
            <a:off x="5303520" y="914400"/>
            <a:ext cx="3383280" cy="457200"/>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为什么不能跳过</a:t>
            </a:r>
            <a:endParaRPr lang="en-US" sz="1400" dirty="0"/>
          </a:p>
        </p:txBody>
      </p:sp>
      <p:sp>
        <p:nvSpPr>
          <p:cNvPr id="10" name="Shape 8"/>
          <p:cNvSpPr/>
          <p:nvPr/>
        </p:nvSpPr>
        <p:spPr>
          <a:xfrm>
            <a:off x="457200" y="1371600"/>
            <a:ext cx="1645920" cy="822960"/>
          </a:xfrm>
          <a:prstGeom prst="rect">
            <a:avLst/>
          </a:prstGeom>
          <a:solidFill>
            <a:srgbClr val="F3F4F6"/>
          </a:solidFill>
          <a:ln/>
        </p:spPr>
      </p:sp>
      <p:sp>
        <p:nvSpPr>
          <p:cNvPr id="11" name="Shape 9"/>
          <p:cNvSpPr/>
          <p:nvPr/>
        </p:nvSpPr>
        <p:spPr>
          <a:xfrm>
            <a:off x="2103120" y="1371600"/>
            <a:ext cx="3200400" cy="822960"/>
          </a:xfrm>
          <a:prstGeom prst="rect">
            <a:avLst/>
          </a:prstGeom>
          <a:solidFill>
            <a:srgbClr val="F3F4F6"/>
          </a:solidFill>
          <a:ln/>
        </p:spPr>
      </p:sp>
      <p:sp>
        <p:nvSpPr>
          <p:cNvPr id="12" name="Shape 10"/>
          <p:cNvSpPr/>
          <p:nvPr/>
        </p:nvSpPr>
        <p:spPr>
          <a:xfrm>
            <a:off x="5303520" y="1371600"/>
            <a:ext cx="3383280" cy="822960"/>
          </a:xfrm>
          <a:prstGeom prst="rect">
            <a:avLst/>
          </a:prstGeom>
          <a:solidFill>
            <a:srgbClr val="F3F4F6"/>
          </a:solidFill>
          <a:ln/>
        </p:spPr>
      </p:sp>
      <p:sp>
        <p:nvSpPr>
          <p:cNvPr id="13" name="Shape 11"/>
          <p:cNvSpPr/>
          <p:nvPr/>
        </p:nvSpPr>
        <p:spPr>
          <a:xfrm>
            <a:off x="594360" y="1554480"/>
            <a:ext cx="457200" cy="457200"/>
          </a:xfrm>
          <a:prstGeom prst="ellipse">
            <a:avLst/>
          </a:prstGeom>
          <a:solidFill>
            <a:srgbClr val="EF4444"/>
          </a:solidFill>
          <a:ln/>
        </p:spPr>
      </p:sp>
      <p:sp>
        <p:nvSpPr>
          <p:cNvPr id="14" name="Text 12"/>
          <p:cNvSpPr/>
          <p:nvPr/>
        </p:nvSpPr>
        <p:spPr>
          <a:xfrm>
            <a:off x="594360" y="1554480"/>
            <a:ext cx="457200" cy="45720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15" name="Text 13"/>
          <p:cNvSpPr/>
          <p:nvPr/>
        </p:nvSpPr>
        <p:spPr>
          <a:xfrm>
            <a:off x="1143000" y="1371600"/>
            <a:ext cx="822960" cy="822960"/>
          </a:xfrm>
          <a:prstGeom prst="rect">
            <a:avLst/>
          </a:prstGeom>
          <a:noFill/>
          <a:ln/>
        </p:spPr>
        <p:txBody>
          <a:bodyPr wrap="square" rtlCol="0" anchor="ctr"/>
          <a:lstStyle/>
          <a:p>
            <a:pPr indent="0" marL="0">
              <a:buNone/>
            </a:pPr>
            <a:r>
              <a:rPr lang="en-US" sz="1400" b="1" dirty="0">
                <a:solidFill>
                  <a:srgbClr val="B91C1C"/>
                </a:solidFill>
                <a:latin typeface="Microsoft YaHei" pitchFamily="34" charset="0"/>
                <a:ea typeface="Microsoft YaHei" pitchFamily="34" charset="-122"/>
                <a:cs typeface="Microsoft YaHei" pitchFamily="34" charset="-120"/>
              </a:rPr>
              <a:t>标准情形</a:t>
            </a:r>
            <a:endParaRPr lang="en-US" sz="1400" dirty="0"/>
          </a:p>
        </p:txBody>
      </p:sp>
      <p:sp>
        <p:nvSpPr>
          <p:cNvPr id="16" name="Text 14"/>
          <p:cNvSpPr/>
          <p:nvPr/>
        </p:nvSpPr>
        <p:spPr>
          <a:xfrm>
            <a:off x="2286000" y="1371600"/>
            <a:ext cx="2834640" cy="82296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最典型的、规则完全覆盖的输入</a:t>
            </a:r>
            <a:endParaRPr lang="en-US" sz="1300" dirty="0"/>
          </a:p>
        </p:txBody>
      </p:sp>
      <p:sp>
        <p:nvSpPr>
          <p:cNvPr id="17" name="Text 15"/>
          <p:cNvSpPr/>
          <p:nvPr/>
        </p:nvSpPr>
        <p:spPr>
          <a:xfrm>
            <a:off x="5486400" y="1371600"/>
            <a:ext cx="3017520" cy="82296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确认基础功能正常</a:t>
            </a:r>
            <a:endParaRPr lang="en-US" sz="1300" dirty="0"/>
          </a:p>
        </p:txBody>
      </p:sp>
      <p:sp>
        <p:nvSpPr>
          <p:cNvPr id="18" name="Shape 16"/>
          <p:cNvSpPr/>
          <p:nvPr/>
        </p:nvSpPr>
        <p:spPr>
          <a:xfrm>
            <a:off x="457200" y="2194560"/>
            <a:ext cx="1645920" cy="822960"/>
          </a:xfrm>
          <a:prstGeom prst="rect">
            <a:avLst/>
          </a:prstGeom>
          <a:solidFill>
            <a:srgbClr val="FFFFFF"/>
          </a:solidFill>
          <a:ln/>
        </p:spPr>
      </p:sp>
      <p:sp>
        <p:nvSpPr>
          <p:cNvPr id="19" name="Shape 17"/>
          <p:cNvSpPr/>
          <p:nvPr/>
        </p:nvSpPr>
        <p:spPr>
          <a:xfrm>
            <a:off x="2103120" y="2194560"/>
            <a:ext cx="3200400" cy="822960"/>
          </a:xfrm>
          <a:prstGeom prst="rect">
            <a:avLst/>
          </a:prstGeom>
          <a:solidFill>
            <a:srgbClr val="FFFFFF"/>
          </a:solidFill>
          <a:ln/>
        </p:spPr>
      </p:sp>
      <p:sp>
        <p:nvSpPr>
          <p:cNvPr id="20" name="Shape 18"/>
          <p:cNvSpPr/>
          <p:nvPr/>
        </p:nvSpPr>
        <p:spPr>
          <a:xfrm>
            <a:off x="5303520" y="2194560"/>
            <a:ext cx="3383280" cy="822960"/>
          </a:xfrm>
          <a:prstGeom prst="rect">
            <a:avLst/>
          </a:prstGeom>
          <a:solidFill>
            <a:srgbClr val="FFFFFF"/>
          </a:solidFill>
          <a:ln/>
        </p:spPr>
      </p:sp>
      <p:sp>
        <p:nvSpPr>
          <p:cNvPr id="21" name="Shape 19"/>
          <p:cNvSpPr/>
          <p:nvPr/>
        </p:nvSpPr>
        <p:spPr>
          <a:xfrm>
            <a:off x="594360" y="2377440"/>
            <a:ext cx="457200" cy="457200"/>
          </a:xfrm>
          <a:prstGeom prst="ellipse">
            <a:avLst/>
          </a:prstGeom>
          <a:solidFill>
            <a:srgbClr val="EF4444"/>
          </a:solidFill>
          <a:ln/>
        </p:spPr>
      </p:sp>
      <p:sp>
        <p:nvSpPr>
          <p:cNvPr id="22" name="Text 20"/>
          <p:cNvSpPr/>
          <p:nvPr/>
        </p:nvSpPr>
        <p:spPr>
          <a:xfrm>
            <a:off x="594360" y="2377440"/>
            <a:ext cx="457200" cy="45720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23" name="Text 21"/>
          <p:cNvSpPr/>
          <p:nvPr/>
        </p:nvSpPr>
        <p:spPr>
          <a:xfrm>
            <a:off x="1143000" y="2194560"/>
            <a:ext cx="822960" cy="822960"/>
          </a:xfrm>
          <a:prstGeom prst="rect">
            <a:avLst/>
          </a:prstGeom>
          <a:noFill/>
          <a:ln/>
        </p:spPr>
        <p:txBody>
          <a:bodyPr wrap="square" rtlCol="0" anchor="ctr"/>
          <a:lstStyle/>
          <a:p>
            <a:pPr indent="0" marL="0">
              <a:buNone/>
            </a:pPr>
            <a:r>
              <a:rPr lang="en-US" sz="1400" b="1" dirty="0">
                <a:solidFill>
                  <a:srgbClr val="B91C1C"/>
                </a:solidFill>
                <a:latin typeface="Microsoft YaHei" pitchFamily="34" charset="0"/>
                <a:ea typeface="Microsoft YaHei" pitchFamily="34" charset="-122"/>
                <a:cs typeface="Microsoft YaHei" pitchFamily="34" charset="-120"/>
              </a:rPr>
              <a:t>边界情况</a:t>
            </a:r>
            <a:endParaRPr lang="en-US" sz="1400" dirty="0"/>
          </a:p>
        </p:txBody>
      </p:sp>
      <p:sp>
        <p:nvSpPr>
          <p:cNvPr id="24" name="Text 22"/>
          <p:cNvSpPr/>
          <p:nvPr/>
        </p:nvSpPr>
        <p:spPr>
          <a:xfrm>
            <a:off x="2286000" y="2194560"/>
            <a:ext cx="2834640" cy="82296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刚好在规则阈值附近的输入</a:t>
            </a:r>
            <a:endParaRPr lang="en-US" sz="1300" dirty="0"/>
          </a:p>
        </p:txBody>
      </p:sp>
      <p:sp>
        <p:nvSpPr>
          <p:cNvPr id="25" name="Text 23"/>
          <p:cNvSpPr/>
          <p:nvPr/>
        </p:nvSpPr>
        <p:spPr>
          <a:xfrm>
            <a:off x="5486400" y="2194560"/>
            <a:ext cx="3017520" cy="82296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最容易出现AI自由发挥的地方</a:t>
            </a:r>
            <a:endParaRPr lang="en-US" sz="1300" dirty="0"/>
          </a:p>
        </p:txBody>
      </p:sp>
      <p:sp>
        <p:nvSpPr>
          <p:cNvPr id="26" name="Shape 24"/>
          <p:cNvSpPr/>
          <p:nvPr/>
        </p:nvSpPr>
        <p:spPr>
          <a:xfrm>
            <a:off x="457200" y="3017520"/>
            <a:ext cx="1645920" cy="822960"/>
          </a:xfrm>
          <a:prstGeom prst="rect">
            <a:avLst/>
          </a:prstGeom>
          <a:solidFill>
            <a:srgbClr val="F3F4F6"/>
          </a:solidFill>
          <a:ln/>
        </p:spPr>
      </p:sp>
      <p:sp>
        <p:nvSpPr>
          <p:cNvPr id="27" name="Shape 25"/>
          <p:cNvSpPr/>
          <p:nvPr/>
        </p:nvSpPr>
        <p:spPr>
          <a:xfrm>
            <a:off x="2103120" y="3017520"/>
            <a:ext cx="3200400" cy="822960"/>
          </a:xfrm>
          <a:prstGeom prst="rect">
            <a:avLst/>
          </a:prstGeom>
          <a:solidFill>
            <a:srgbClr val="F3F4F6"/>
          </a:solidFill>
          <a:ln/>
        </p:spPr>
      </p:sp>
      <p:sp>
        <p:nvSpPr>
          <p:cNvPr id="28" name="Shape 26"/>
          <p:cNvSpPr/>
          <p:nvPr/>
        </p:nvSpPr>
        <p:spPr>
          <a:xfrm>
            <a:off x="5303520" y="3017520"/>
            <a:ext cx="3383280" cy="822960"/>
          </a:xfrm>
          <a:prstGeom prst="rect">
            <a:avLst/>
          </a:prstGeom>
          <a:solidFill>
            <a:srgbClr val="F3F4F6"/>
          </a:solidFill>
          <a:ln/>
        </p:spPr>
      </p:sp>
      <p:sp>
        <p:nvSpPr>
          <p:cNvPr id="29" name="Shape 27"/>
          <p:cNvSpPr/>
          <p:nvPr/>
        </p:nvSpPr>
        <p:spPr>
          <a:xfrm>
            <a:off x="594360" y="3200400"/>
            <a:ext cx="457200" cy="457200"/>
          </a:xfrm>
          <a:prstGeom prst="ellipse">
            <a:avLst/>
          </a:prstGeom>
          <a:solidFill>
            <a:srgbClr val="EF4444"/>
          </a:solidFill>
          <a:ln/>
        </p:spPr>
      </p:sp>
      <p:sp>
        <p:nvSpPr>
          <p:cNvPr id="30" name="Text 28"/>
          <p:cNvSpPr/>
          <p:nvPr/>
        </p:nvSpPr>
        <p:spPr>
          <a:xfrm>
            <a:off x="594360" y="3200400"/>
            <a:ext cx="457200" cy="45720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31" name="Text 29"/>
          <p:cNvSpPr/>
          <p:nvPr/>
        </p:nvSpPr>
        <p:spPr>
          <a:xfrm>
            <a:off x="1143000" y="3017520"/>
            <a:ext cx="822960" cy="822960"/>
          </a:xfrm>
          <a:prstGeom prst="rect">
            <a:avLst/>
          </a:prstGeom>
          <a:noFill/>
          <a:ln/>
        </p:spPr>
        <p:txBody>
          <a:bodyPr wrap="square" rtlCol="0" anchor="ctr"/>
          <a:lstStyle/>
          <a:p>
            <a:pPr indent="0" marL="0">
              <a:buNone/>
            </a:pPr>
            <a:r>
              <a:rPr lang="en-US" sz="1400" b="1" dirty="0">
                <a:solidFill>
                  <a:srgbClr val="B91C1C"/>
                </a:solidFill>
                <a:latin typeface="Microsoft YaHei" pitchFamily="34" charset="0"/>
                <a:ea typeface="Microsoft YaHei" pitchFamily="34" charset="-122"/>
                <a:cs typeface="Microsoft YaHei" pitchFamily="34" charset="-120"/>
              </a:rPr>
              <a:t>意外情况</a:t>
            </a:r>
            <a:endParaRPr lang="en-US" sz="1400" dirty="0"/>
          </a:p>
        </p:txBody>
      </p:sp>
      <p:sp>
        <p:nvSpPr>
          <p:cNvPr id="32" name="Text 30"/>
          <p:cNvSpPr/>
          <p:nvPr/>
        </p:nvSpPr>
        <p:spPr>
          <a:xfrm>
            <a:off x="2286000" y="3017520"/>
            <a:ext cx="2834640" cy="82296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规则完全没提到的情形</a:t>
            </a:r>
            <a:endParaRPr lang="en-US" sz="1300" dirty="0"/>
          </a:p>
        </p:txBody>
      </p:sp>
      <p:sp>
        <p:nvSpPr>
          <p:cNvPr id="33" name="Text 31"/>
          <p:cNvSpPr/>
          <p:nvPr/>
        </p:nvSpPr>
        <p:spPr>
          <a:xfrm>
            <a:off x="5486400" y="3017520"/>
            <a:ext cx="3017520" cy="82296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检验兜底规则是否真的兜得住</a:t>
            </a:r>
            <a:endParaRPr lang="en-US" sz="1300" dirty="0"/>
          </a:p>
        </p:txBody>
      </p:sp>
      <p:sp>
        <p:nvSpPr>
          <p:cNvPr id="34" name="Shape 32"/>
          <p:cNvSpPr/>
          <p:nvPr/>
        </p:nvSpPr>
        <p:spPr>
          <a:xfrm>
            <a:off x="2103120" y="914400"/>
            <a:ext cx="18288" cy="3840480"/>
          </a:xfrm>
          <a:prstGeom prst="rect">
            <a:avLst/>
          </a:prstGeom>
          <a:solidFill>
            <a:srgbClr val="374151">
              <a:alpha val="30000"/>
            </a:srgbClr>
          </a:solidFill>
          <a:ln/>
        </p:spPr>
      </p:sp>
      <p:sp>
        <p:nvSpPr>
          <p:cNvPr id="35" name="Shape 33"/>
          <p:cNvSpPr/>
          <p:nvPr/>
        </p:nvSpPr>
        <p:spPr>
          <a:xfrm>
            <a:off x="5303520" y="914400"/>
            <a:ext cx="18288" cy="3840480"/>
          </a:xfrm>
          <a:prstGeom prst="rect">
            <a:avLst/>
          </a:prstGeom>
          <a:solidFill>
            <a:srgbClr val="374151">
              <a:alpha val="30000"/>
            </a:srgbClr>
          </a:solidFill>
          <a:ln/>
        </p:spPr>
      </p:sp>
      <p:sp>
        <p:nvSpPr>
          <p:cNvPr id="36" name="Shape 34"/>
          <p:cNvSpPr/>
          <p:nvPr/>
        </p:nvSpPr>
        <p:spPr>
          <a:xfrm>
            <a:off x="8503920" y="4663440"/>
            <a:ext cx="365760" cy="365760"/>
          </a:xfrm>
          <a:prstGeom prst="ellipse">
            <a:avLst/>
          </a:prstGeom>
          <a:solidFill>
            <a:srgbClr val="EF4444"/>
          </a:solidFill>
          <a:ln/>
        </p:spPr>
      </p:sp>
      <p:sp>
        <p:nvSpPr>
          <p:cNvPr id="37" name="Text 35"/>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58</a:t>
            </a:r>
            <a:endParaRPr lang="en-US" sz="12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274320"/>
            <a:ext cx="8229600" cy="548640"/>
          </a:xfrm>
          <a:prstGeom prst="rect">
            <a:avLst/>
          </a:prstGeom>
          <a:noFill/>
          <a:ln/>
        </p:spPr>
        <p:txBody>
          <a:bodyPr wrap="square" rtlCol="0" anchor="ctr"/>
          <a:lstStyle/>
          <a:p>
            <a:pPr indent="0" marL="0">
              <a:buNone/>
            </a:pPr>
            <a:r>
              <a:rPr lang="en-US" sz="3200" b="1" dirty="0">
                <a:solidFill>
                  <a:srgbClr val="B91C1C"/>
                </a:solidFill>
                <a:latin typeface="Microsoft YaHei" pitchFamily="34" charset="0"/>
                <a:ea typeface="Microsoft YaHei" pitchFamily="34" charset="-122"/>
                <a:cs typeface="Microsoft YaHei" pitchFamily="34" charset="-120"/>
              </a:rPr>
              <a:t>真实验收的三个基本要求</a:t>
            </a:r>
            <a:endParaRPr lang="en-US" sz="3200" dirty="0"/>
          </a:p>
        </p:txBody>
      </p:sp>
      <p:sp>
        <p:nvSpPr>
          <p:cNvPr id="4" name="Shape 2"/>
          <p:cNvSpPr/>
          <p:nvPr/>
        </p:nvSpPr>
        <p:spPr>
          <a:xfrm>
            <a:off x="457200" y="1005840"/>
            <a:ext cx="8229600" cy="1097280"/>
          </a:xfrm>
          <a:prstGeom prst="roundRect">
            <a:avLst>
              <a:gd name="adj" fmla="val 8333"/>
            </a:avLst>
          </a:prstGeom>
          <a:solidFill>
            <a:srgbClr val="F3F4F6"/>
          </a:solidFill>
          <a:ln/>
        </p:spPr>
      </p:sp>
      <p:sp>
        <p:nvSpPr>
          <p:cNvPr id="5" name="Shape 3"/>
          <p:cNvSpPr/>
          <p:nvPr/>
        </p:nvSpPr>
        <p:spPr>
          <a:xfrm>
            <a:off x="731520" y="1325880"/>
            <a:ext cx="457200" cy="457200"/>
          </a:xfrm>
          <a:prstGeom prst="ellipse">
            <a:avLst/>
          </a:prstGeom>
          <a:solidFill>
            <a:srgbClr val="EF4444"/>
          </a:solidFill>
          <a:ln/>
        </p:spPr>
      </p:sp>
      <p:sp>
        <p:nvSpPr>
          <p:cNvPr id="6" name="Text 4"/>
          <p:cNvSpPr/>
          <p:nvPr/>
        </p:nvSpPr>
        <p:spPr>
          <a:xfrm>
            <a:off x="731520" y="1325880"/>
            <a:ext cx="457200" cy="45720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7" name="Text 5"/>
          <p:cNvSpPr/>
          <p:nvPr/>
        </p:nvSpPr>
        <p:spPr>
          <a:xfrm>
            <a:off x="1371600" y="1143000"/>
            <a:ext cx="7040880" cy="457200"/>
          </a:xfrm>
          <a:prstGeom prst="rect">
            <a:avLst/>
          </a:prstGeom>
          <a:noFill/>
          <a:ln/>
        </p:spPr>
        <p:txBody>
          <a:bodyPr wrap="square" rtlCol="0" anchor="ctr"/>
          <a:lstStyle/>
          <a:p>
            <a:pPr indent="0" marL="0">
              <a:buNone/>
            </a:pPr>
            <a:r>
              <a:rPr lang="en-US" sz="1800" b="1" dirty="0">
                <a:solidFill>
                  <a:srgbClr val="B91C1C"/>
                </a:solidFill>
                <a:latin typeface="Microsoft YaHei" pitchFamily="34" charset="0"/>
                <a:ea typeface="Microsoft YaHei" pitchFamily="34" charset="-122"/>
                <a:cs typeface="Microsoft YaHei" pitchFamily="34" charset="-120"/>
              </a:rPr>
              <a:t>用「从来没见过」的真实数据</a:t>
            </a:r>
            <a:endParaRPr lang="en-US" sz="1800" dirty="0"/>
          </a:p>
        </p:txBody>
      </p:sp>
      <p:sp>
        <p:nvSpPr>
          <p:cNvPr id="8" name="Text 6"/>
          <p:cNvSpPr/>
          <p:nvPr/>
        </p:nvSpPr>
        <p:spPr>
          <a:xfrm>
            <a:off x="1371600" y="1554480"/>
            <a:ext cx="7040880" cy="45720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不是为它定制的数据，而是真实场景中从未处理过的案例</a:t>
            </a:r>
            <a:endParaRPr lang="en-US" sz="1300" dirty="0"/>
          </a:p>
        </p:txBody>
      </p:sp>
      <p:sp>
        <p:nvSpPr>
          <p:cNvPr id="9" name="Shape 7"/>
          <p:cNvSpPr/>
          <p:nvPr/>
        </p:nvSpPr>
        <p:spPr>
          <a:xfrm>
            <a:off x="457200" y="2240280"/>
            <a:ext cx="8229600" cy="1097280"/>
          </a:xfrm>
          <a:prstGeom prst="roundRect">
            <a:avLst>
              <a:gd name="adj" fmla="val 8333"/>
            </a:avLst>
          </a:prstGeom>
          <a:solidFill>
            <a:srgbClr val="F3F4F6"/>
          </a:solidFill>
          <a:ln/>
        </p:spPr>
      </p:sp>
      <p:sp>
        <p:nvSpPr>
          <p:cNvPr id="10" name="Shape 8"/>
          <p:cNvSpPr/>
          <p:nvPr/>
        </p:nvSpPr>
        <p:spPr>
          <a:xfrm>
            <a:off x="731520" y="2560320"/>
            <a:ext cx="457200" cy="457200"/>
          </a:xfrm>
          <a:prstGeom prst="ellipse">
            <a:avLst/>
          </a:prstGeom>
          <a:solidFill>
            <a:srgbClr val="EF4444"/>
          </a:solidFill>
          <a:ln/>
        </p:spPr>
      </p:sp>
      <p:sp>
        <p:nvSpPr>
          <p:cNvPr id="11" name="Text 9"/>
          <p:cNvSpPr/>
          <p:nvPr/>
        </p:nvSpPr>
        <p:spPr>
          <a:xfrm>
            <a:off x="731520" y="2560320"/>
            <a:ext cx="457200" cy="45720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12" name="Text 10"/>
          <p:cNvSpPr/>
          <p:nvPr/>
        </p:nvSpPr>
        <p:spPr>
          <a:xfrm>
            <a:off x="1371600" y="2377440"/>
            <a:ext cx="7040880" cy="457200"/>
          </a:xfrm>
          <a:prstGeom prst="rect">
            <a:avLst/>
          </a:prstGeom>
          <a:noFill/>
          <a:ln/>
        </p:spPr>
        <p:txBody>
          <a:bodyPr wrap="square" rtlCol="0" anchor="ctr"/>
          <a:lstStyle/>
          <a:p>
            <a:pPr indent="0" marL="0">
              <a:buNone/>
            </a:pPr>
            <a:r>
              <a:rPr lang="en-US" sz="1800" b="1" dirty="0">
                <a:solidFill>
                  <a:srgbClr val="B91C1C"/>
                </a:solidFill>
                <a:latin typeface="Microsoft YaHei" pitchFamily="34" charset="0"/>
                <a:ea typeface="Microsoft YaHei" pitchFamily="34" charset="-122"/>
                <a:cs typeface="Microsoft YaHei" pitchFamily="34" charset="-120"/>
              </a:rPr>
              <a:t>三类测试用例缺一不可</a:t>
            </a:r>
            <a:endParaRPr lang="en-US" sz="1800" dirty="0"/>
          </a:p>
        </p:txBody>
      </p:sp>
      <p:sp>
        <p:nvSpPr>
          <p:cNvPr id="13" name="Text 11"/>
          <p:cNvSpPr/>
          <p:nvPr/>
        </p:nvSpPr>
        <p:spPr>
          <a:xfrm>
            <a:off x="1371600" y="2788920"/>
            <a:ext cx="7040880" cy="45720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标准情形 + 边界情况 + 意外情况，缺一不可</a:t>
            </a:r>
            <a:endParaRPr lang="en-US" sz="1300" dirty="0"/>
          </a:p>
        </p:txBody>
      </p:sp>
      <p:sp>
        <p:nvSpPr>
          <p:cNvPr id="14" name="Shape 12"/>
          <p:cNvSpPr/>
          <p:nvPr/>
        </p:nvSpPr>
        <p:spPr>
          <a:xfrm>
            <a:off x="457200" y="3474720"/>
            <a:ext cx="8229600" cy="1097280"/>
          </a:xfrm>
          <a:prstGeom prst="roundRect">
            <a:avLst>
              <a:gd name="adj" fmla="val 8333"/>
            </a:avLst>
          </a:prstGeom>
          <a:solidFill>
            <a:srgbClr val="F3F4F6"/>
          </a:solidFill>
          <a:ln/>
        </p:spPr>
      </p:sp>
      <p:sp>
        <p:nvSpPr>
          <p:cNvPr id="15" name="Shape 13"/>
          <p:cNvSpPr/>
          <p:nvPr/>
        </p:nvSpPr>
        <p:spPr>
          <a:xfrm>
            <a:off x="731520" y="3794760"/>
            <a:ext cx="457200" cy="457200"/>
          </a:xfrm>
          <a:prstGeom prst="ellipse">
            <a:avLst/>
          </a:prstGeom>
          <a:solidFill>
            <a:srgbClr val="EF4444"/>
          </a:solidFill>
          <a:ln/>
        </p:spPr>
      </p:sp>
      <p:sp>
        <p:nvSpPr>
          <p:cNvPr id="16" name="Text 14"/>
          <p:cNvSpPr/>
          <p:nvPr/>
        </p:nvSpPr>
        <p:spPr>
          <a:xfrm>
            <a:off x="731520" y="3794760"/>
            <a:ext cx="457200" cy="45720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17" name="Text 15"/>
          <p:cNvSpPr/>
          <p:nvPr/>
        </p:nvSpPr>
        <p:spPr>
          <a:xfrm>
            <a:off x="1371600" y="3611880"/>
            <a:ext cx="7040880" cy="457200"/>
          </a:xfrm>
          <a:prstGeom prst="rect">
            <a:avLst/>
          </a:prstGeom>
          <a:noFill/>
          <a:ln/>
        </p:spPr>
        <p:txBody>
          <a:bodyPr wrap="square" rtlCol="0" anchor="ctr"/>
          <a:lstStyle/>
          <a:p>
            <a:pPr indent="0" marL="0">
              <a:buNone/>
            </a:pPr>
            <a:r>
              <a:rPr lang="en-US" sz="1800" b="1" dirty="0">
                <a:solidFill>
                  <a:srgbClr val="B91C1C"/>
                </a:solidFill>
                <a:latin typeface="Microsoft YaHei" pitchFamily="34" charset="0"/>
                <a:ea typeface="Microsoft YaHei" pitchFamily="34" charset="-122"/>
                <a:cs typeface="Microsoft YaHei" pitchFamily="34" charset="-120"/>
              </a:rPr>
              <a:t>结果要对标具体标准</a:t>
            </a:r>
            <a:endParaRPr lang="en-US" sz="1800" dirty="0"/>
          </a:p>
        </p:txBody>
      </p:sp>
      <p:sp>
        <p:nvSpPr>
          <p:cNvPr id="18" name="Text 16"/>
          <p:cNvSpPr/>
          <p:nvPr/>
        </p:nvSpPr>
        <p:spPr>
          <a:xfrm>
            <a:off x="1371600" y="4023360"/>
            <a:ext cx="7040880" cy="45720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不用「感觉」判断，而是与预设的标准进行对比</a:t>
            </a:r>
            <a:endParaRPr lang="en-US" sz="1300" dirty="0"/>
          </a:p>
        </p:txBody>
      </p:sp>
      <p:sp>
        <p:nvSpPr>
          <p:cNvPr id="19" name="Shape 17"/>
          <p:cNvSpPr/>
          <p:nvPr/>
        </p:nvSpPr>
        <p:spPr>
          <a:xfrm>
            <a:off x="8503920" y="4663440"/>
            <a:ext cx="365760" cy="365760"/>
          </a:xfrm>
          <a:prstGeom prst="ellipse">
            <a:avLst/>
          </a:prstGeom>
          <a:solidFill>
            <a:srgbClr val="EF4444"/>
          </a:solidFill>
          <a:ln/>
        </p:spPr>
      </p:sp>
      <p:sp>
        <p:nvSpPr>
          <p:cNvPr id="20" name="Text 18"/>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59</a:t>
            </a:r>
            <a:endParaRPr lang="en-US" sz="12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274320"/>
            <a:ext cx="8229600" cy="548640"/>
          </a:xfrm>
          <a:prstGeom prst="rect">
            <a:avLst/>
          </a:prstGeom>
          <a:noFill/>
          <a:ln/>
        </p:spPr>
        <p:txBody>
          <a:bodyPr wrap="square" rtlCol="0" anchor="ctr"/>
          <a:lstStyle/>
          <a:p>
            <a:pPr indent="0" marL="0">
              <a:buNone/>
            </a:pPr>
            <a:r>
              <a:rPr lang="en-US" sz="3200" b="1" dirty="0">
                <a:solidFill>
                  <a:srgbClr val="B91C1C"/>
                </a:solidFill>
                <a:latin typeface="Microsoft YaHei" pitchFamily="34" charset="0"/>
                <a:ea typeface="Microsoft YaHei" pitchFamily="34" charset="-122"/>
                <a:cs typeface="Microsoft YaHei" pitchFamily="34" charset="-120"/>
              </a:rPr>
              <a:t>五类问题的诊断与解法</a:t>
            </a:r>
            <a:endParaRPr lang="en-US" sz="3200" dirty="0"/>
          </a:p>
        </p:txBody>
      </p:sp>
      <p:sp>
        <p:nvSpPr>
          <p:cNvPr id="4" name="Shape 2"/>
          <p:cNvSpPr/>
          <p:nvPr/>
        </p:nvSpPr>
        <p:spPr>
          <a:xfrm>
            <a:off x="457200" y="914400"/>
            <a:ext cx="1645920" cy="411480"/>
          </a:xfrm>
          <a:prstGeom prst="rect">
            <a:avLst/>
          </a:prstGeom>
          <a:solidFill>
            <a:srgbClr val="B91C1C"/>
          </a:solidFill>
          <a:ln/>
        </p:spPr>
      </p:sp>
      <p:sp>
        <p:nvSpPr>
          <p:cNvPr id="5" name="Text 3"/>
          <p:cNvSpPr/>
          <p:nvPr/>
        </p:nvSpPr>
        <p:spPr>
          <a:xfrm>
            <a:off x="457200" y="914400"/>
            <a:ext cx="1645920" cy="411480"/>
          </a:xfrm>
          <a:prstGeom prst="rect">
            <a:avLst/>
          </a:prstGeom>
          <a:noFill/>
          <a:ln/>
        </p:spPr>
        <p:txBody>
          <a:bodyPr wrap="square"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问题类型</a:t>
            </a:r>
            <a:endParaRPr lang="en-US" sz="1300" dirty="0"/>
          </a:p>
        </p:txBody>
      </p:sp>
      <p:sp>
        <p:nvSpPr>
          <p:cNvPr id="6" name="Shape 4"/>
          <p:cNvSpPr/>
          <p:nvPr/>
        </p:nvSpPr>
        <p:spPr>
          <a:xfrm>
            <a:off x="2103120" y="914400"/>
            <a:ext cx="3474720" cy="411480"/>
          </a:xfrm>
          <a:prstGeom prst="rect">
            <a:avLst/>
          </a:prstGeom>
          <a:solidFill>
            <a:srgbClr val="B91C1C"/>
          </a:solidFill>
          <a:ln/>
        </p:spPr>
      </p:sp>
      <p:sp>
        <p:nvSpPr>
          <p:cNvPr id="7" name="Text 5"/>
          <p:cNvSpPr/>
          <p:nvPr/>
        </p:nvSpPr>
        <p:spPr>
          <a:xfrm>
            <a:off x="2103120" y="914400"/>
            <a:ext cx="3474720" cy="411480"/>
          </a:xfrm>
          <a:prstGeom prst="rect">
            <a:avLst/>
          </a:prstGeom>
          <a:noFill/>
          <a:ln/>
        </p:spPr>
        <p:txBody>
          <a:bodyPr wrap="square"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症状</a:t>
            </a:r>
            <a:endParaRPr lang="en-US" sz="1300" dirty="0"/>
          </a:p>
        </p:txBody>
      </p:sp>
      <p:sp>
        <p:nvSpPr>
          <p:cNvPr id="8" name="Shape 6"/>
          <p:cNvSpPr/>
          <p:nvPr/>
        </p:nvSpPr>
        <p:spPr>
          <a:xfrm>
            <a:off x="5577840" y="914400"/>
            <a:ext cx="3108960" cy="411480"/>
          </a:xfrm>
          <a:prstGeom prst="rect">
            <a:avLst/>
          </a:prstGeom>
          <a:solidFill>
            <a:srgbClr val="B91C1C"/>
          </a:solidFill>
          <a:ln/>
        </p:spPr>
      </p:sp>
      <p:sp>
        <p:nvSpPr>
          <p:cNvPr id="9" name="Text 7"/>
          <p:cNvSpPr/>
          <p:nvPr/>
        </p:nvSpPr>
        <p:spPr>
          <a:xfrm>
            <a:off x="5577840" y="914400"/>
            <a:ext cx="3108960" cy="411480"/>
          </a:xfrm>
          <a:prstGeom prst="rect">
            <a:avLst/>
          </a:prstGeom>
          <a:noFill/>
          <a:ln/>
        </p:spPr>
        <p:txBody>
          <a:bodyPr wrap="square"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解法</a:t>
            </a:r>
            <a:endParaRPr lang="en-US" sz="1300" dirty="0"/>
          </a:p>
        </p:txBody>
      </p:sp>
      <p:sp>
        <p:nvSpPr>
          <p:cNvPr id="10" name="Shape 8"/>
          <p:cNvSpPr/>
          <p:nvPr/>
        </p:nvSpPr>
        <p:spPr>
          <a:xfrm>
            <a:off x="457200" y="1325880"/>
            <a:ext cx="8229600" cy="685800"/>
          </a:xfrm>
          <a:prstGeom prst="rect">
            <a:avLst/>
          </a:prstGeom>
          <a:solidFill>
            <a:srgbClr val="F3F4F6"/>
          </a:solidFill>
          <a:ln/>
        </p:spPr>
      </p:sp>
      <p:sp>
        <p:nvSpPr>
          <p:cNvPr id="11" name="Shape 9"/>
          <p:cNvSpPr/>
          <p:nvPr/>
        </p:nvSpPr>
        <p:spPr>
          <a:xfrm>
            <a:off x="457200" y="1325880"/>
            <a:ext cx="73152" cy="685800"/>
          </a:xfrm>
          <a:prstGeom prst="rect">
            <a:avLst/>
          </a:prstGeom>
          <a:solidFill>
            <a:srgbClr val="EF4444"/>
          </a:solidFill>
          <a:ln/>
        </p:spPr>
      </p:sp>
      <p:sp>
        <p:nvSpPr>
          <p:cNvPr id="12" name="Text 10"/>
          <p:cNvSpPr/>
          <p:nvPr/>
        </p:nvSpPr>
        <p:spPr>
          <a:xfrm>
            <a:off x="594360" y="1325880"/>
            <a:ext cx="1463040" cy="685800"/>
          </a:xfrm>
          <a:prstGeom prst="rect">
            <a:avLst/>
          </a:prstGeom>
          <a:noFill/>
          <a:ln/>
        </p:spPr>
        <p:txBody>
          <a:bodyPr wrap="square" rtlCol="0" anchor="ctr"/>
          <a:lstStyle/>
          <a:p>
            <a:pPr indent="0" marL="0">
              <a:buNone/>
            </a:pPr>
            <a:r>
              <a:rPr lang="en-US" sz="1200" b="1" dirty="0">
                <a:solidFill>
                  <a:srgbClr val="B91C1C"/>
                </a:solidFill>
                <a:latin typeface="Microsoft YaHei" pitchFamily="34" charset="0"/>
                <a:ea typeface="Microsoft YaHei" pitchFamily="34" charset="-122"/>
                <a:cs typeface="Microsoft YaHei" pitchFamily="34" charset="-120"/>
              </a:rPr>
              <a:t>格式问题</a:t>
            </a:r>
            <a:endParaRPr lang="en-US" sz="1200" dirty="0"/>
          </a:p>
        </p:txBody>
      </p:sp>
      <p:sp>
        <p:nvSpPr>
          <p:cNvPr id="13" name="Text 11"/>
          <p:cNvSpPr/>
          <p:nvPr/>
        </p:nvSpPr>
        <p:spPr>
          <a:xfrm>
            <a:off x="2194560" y="1325880"/>
            <a:ext cx="3291840" cy="685800"/>
          </a:xfrm>
          <a:prstGeom prst="rect">
            <a:avLst/>
          </a:prstGeom>
          <a:noFill/>
          <a:ln/>
        </p:spPr>
        <p:txBody>
          <a:bodyPr wrap="square" rtlCol="0" anchor="ctr"/>
          <a:lstStyle/>
          <a:p>
            <a:pPr indent="0" marL="0">
              <a:buNone/>
            </a:pPr>
            <a:r>
              <a:rPr lang="en-US" sz="1100" dirty="0">
                <a:solidFill>
                  <a:srgbClr val="374151"/>
                </a:solidFill>
                <a:latin typeface="Microsoft YaHei" pitchFamily="34" charset="0"/>
                <a:ea typeface="Microsoft YaHei" pitchFamily="34" charset="-122"/>
                <a:cs typeface="Microsoft YaHei" pitchFamily="34" charset="-120"/>
              </a:rPr>
              <a:t>字段名称不固定</a:t>
            </a:r>
            <a:endParaRPr lang="en-US" sz="1100" dirty="0"/>
          </a:p>
        </p:txBody>
      </p:sp>
      <p:sp>
        <p:nvSpPr>
          <p:cNvPr id="14" name="Text 12"/>
          <p:cNvSpPr/>
          <p:nvPr/>
        </p:nvSpPr>
        <p:spPr>
          <a:xfrm>
            <a:off x="5669280" y="1325880"/>
            <a:ext cx="2926080" cy="685800"/>
          </a:xfrm>
          <a:prstGeom prst="rect">
            <a:avLst/>
          </a:prstGeom>
          <a:noFill/>
          <a:ln/>
        </p:spPr>
        <p:txBody>
          <a:bodyPr wrap="square" rtlCol="0" anchor="ctr"/>
          <a:lstStyle/>
          <a:p>
            <a:pPr indent="0" marL="0">
              <a:buNone/>
            </a:pPr>
            <a:r>
              <a:rPr lang="en-US" sz="1200" b="1" dirty="0">
                <a:solidFill>
                  <a:srgbClr val="EF4444"/>
                </a:solidFill>
                <a:latin typeface="Microsoft YaHei" pitchFamily="34" charset="0"/>
                <a:ea typeface="Microsoft YaHei" pitchFamily="34" charset="-122"/>
                <a:cs typeface="Microsoft YaHei" pitchFamily="34" charset="-120"/>
              </a:rPr>
              <a:t>加硬性约束</a:t>
            </a:r>
            <a:endParaRPr lang="en-US" sz="1200" dirty="0"/>
          </a:p>
        </p:txBody>
      </p:sp>
      <p:sp>
        <p:nvSpPr>
          <p:cNvPr id="15" name="Shape 13"/>
          <p:cNvSpPr/>
          <p:nvPr/>
        </p:nvSpPr>
        <p:spPr>
          <a:xfrm>
            <a:off x="457200" y="2011680"/>
            <a:ext cx="8229600" cy="685800"/>
          </a:xfrm>
          <a:prstGeom prst="rect">
            <a:avLst/>
          </a:prstGeom>
          <a:solidFill>
            <a:srgbClr val="FFFFFF"/>
          </a:solidFill>
          <a:ln/>
        </p:spPr>
      </p:sp>
      <p:sp>
        <p:nvSpPr>
          <p:cNvPr id="16" name="Shape 14"/>
          <p:cNvSpPr/>
          <p:nvPr/>
        </p:nvSpPr>
        <p:spPr>
          <a:xfrm>
            <a:off x="457200" y="2011680"/>
            <a:ext cx="73152" cy="685800"/>
          </a:xfrm>
          <a:prstGeom prst="rect">
            <a:avLst/>
          </a:prstGeom>
          <a:solidFill>
            <a:srgbClr val="EF4444"/>
          </a:solidFill>
          <a:ln/>
        </p:spPr>
      </p:sp>
      <p:sp>
        <p:nvSpPr>
          <p:cNvPr id="17" name="Text 15"/>
          <p:cNvSpPr/>
          <p:nvPr/>
        </p:nvSpPr>
        <p:spPr>
          <a:xfrm>
            <a:off x="594360" y="2011680"/>
            <a:ext cx="1463040" cy="685800"/>
          </a:xfrm>
          <a:prstGeom prst="rect">
            <a:avLst/>
          </a:prstGeom>
          <a:noFill/>
          <a:ln/>
        </p:spPr>
        <p:txBody>
          <a:bodyPr wrap="square" rtlCol="0" anchor="ctr"/>
          <a:lstStyle/>
          <a:p>
            <a:pPr indent="0" marL="0">
              <a:buNone/>
            </a:pPr>
            <a:r>
              <a:rPr lang="en-US" sz="1200" b="1" dirty="0">
                <a:solidFill>
                  <a:srgbClr val="B91C1C"/>
                </a:solidFill>
                <a:latin typeface="Microsoft YaHei" pitchFamily="34" charset="0"/>
                <a:ea typeface="Microsoft YaHei" pitchFamily="34" charset="-122"/>
                <a:cs typeface="Microsoft YaHei" pitchFamily="34" charset="-120"/>
              </a:rPr>
              <a:t>规则遗漏</a:t>
            </a:r>
            <a:endParaRPr lang="en-US" sz="1200" dirty="0"/>
          </a:p>
        </p:txBody>
      </p:sp>
      <p:sp>
        <p:nvSpPr>
          <p:cNvPr id="18" name="Text 16"/>
          <p:cNvSpPr/>
          <p:nvPr/>
        </p:nvSpPr>
        <p:spPr>
          <a:xfrm>
            <a:off x="2194560" y="2011680"/>
            <a:ext cx="3291840" cy="685800"/>
          </a:xfrm>
          <a:prstGeom prst="rect">
            <a:avLst/>
          </a:prstGeom>
          <a:noFill/>
          <a:ln/>
        </p:spPr>
        <p:txBody>
          <a:bodyPr wrap="square" rtlCol="0" anchor="ctr"/>
          <a:lstStyle/>
          <a:p>
            <a:pPr indent="0" marL="0">
              <a:buNone/>
            </a:pPr>
            <a:r>
              <a:rPr lang="en-US" sz="1100" dirty="0">
                <a:solidFill>
                  <a:srgbClr val="374151"/>
                </a:solidFill>
                <a:latin typeface="Microsoft YaHei" pitchFamily="34" charset="0"/>
                <a:ea typeface="Microsoft YaHei" pitchFamily="34" charset="-122"/>
                <a:cs typeface="Microsoft YaHei" pitchFamily="34" charset="-120"/>
              </a:rPr>
              <a:t>某类情形没有触发正确规则</a:t>
            </a:r>
            <a:endParaRPr lang="en-US" sz="1100" dirty="0"/>
          </a:p>
        </p:txBody>
      </p:sp>
      <p:sp>
        <p:nvSpPr>
          <p:cNvPr id="19" name="Text 17"/>
          <p:cNvSpPr/>
          <p:nvPr/>
        </p:nvSpPr>
        <p:spPr>
          <a:xfrm>
            <a:off x="5669280" y="2011680"/>
            <a:ext cx="2926080" cy="685800"/>
          </a:xfrm>
          <a:prstGeom prst="rect">
            <a:avLst/>
          </a:prstGeom>
          <a:noFill/>
          <a:ln/>
        </p:spPr>
        <p:txBody>
          <a:bodyPr wrap="square" rtlCol="0" anchor="ctr"/>
          <a:lstStyle/>
          <a:p>
            <a:pPr indent="0" marL="0">
              <a:buNone/>
            </a:pPr>
            <a:r>
              <a:rPr lang="en-US" sz="1200" b="1" dirty="0">
                <a:solidFill>
                  <a:srgbClr val="EF4444"/>
                </a:solidFill>
                <a:latin typeface="Microsoft YaHei" pitchFamily="34" charset="0"/>
                <a:ea typeface="Microsoft YaHei" pitchFamily="34" charset="-122"/>
                <a:cs typeface="Microsoft YaHei" pitchFamily="34" charset="-120"/>
              </a:rPr>
              <a:t>改触发条件为可检测信号</a:t>
            </a:r>
            <a:endParaRPr lang="en-US" sz="1200" dirty="0"/>
          </a:p>
        </p:txBody>
      </p:sp>
      <p:sp>
        <p:nvSpPr>
          <p:cNvPr id="20" name="Shape 18"/>
          <p:cNvSpPr/>
          <p:nvPr/>
        </p:nvSpPr>
        <p:spPr>
          <a:xfrm>
            <a:off x="457200" y="2697480"/>
            <a:ext cx="8229600" cy="685800"/>
          </a:xfrm>
          <a:prstGeom prst="rect">
            <a:avLst/>
          </a:prstGeom>
          <a:solidFill>
            <a:srgbClr val="F3F4F6"/>
          </a:solidFill>
          <a:ln/>
        </p:spPr>
      </p:sp>
      <p:sp>
        <p:nvSpPr>
          <p:cNvPr id="21" name="Shape 19"/>
          <p:cNvSpPr/>
          <p:nvPr/>
        </p:nvSpPr>
        <p:spPr>
          <a:xfrm>
            <a:off x="457200" y="2697480"/>
            <a:ext cx="73152" cy="685800"/>
          </a:xfrm>
          <a:prstGeom prst="rect">
            <a:avLst/>
          </a:prstGeom>
          <a:solidFill>
            <a:srgbClr val="EF4444"/>
          </a:solidFill>
          <a:ln/>
        </p:spPr>
      </p:sp>
      <p:sp>
        <p:nvSpPr>
          <p:cNvPr id="22" name="Text 20"/>
          <p:cNvSpPr/>
          <p:nvPr/>
        </p:nvSpPr>
        <p:spPr>
          <a:xfrm>
            <a:off x="594360" y="2697480"/>
            <a:ext cx="1463040" cy="685800"/>
          </a:xfrm>
          <a:prstGeom prst="rect">
            <a:avLst/>
          </a:prstGeom>
          <a:noFill/>
          <a:ln/>
        </p:spPr>
        <p:txBody>
          <a:bodyPr wrap="square" rtlCol="0" anchor="ctr"/>
          <a:lstStyle/>
          <a:p>
            <a:pPr indent="0" marL="0">
              <a:buNone/>
            </a:pPr>
            <a:r>
              <a:rPr lang="en-US" sz="1200" b="1" dirty="0">
                <a:solidFill>
                  <a:srgbClr val="B91C1C"/>
                </a:solidFill>
                <a:latin typeface="Microsoft YaHei" pitchFamily="34" charset="0"/>
                <a:ea typeface="Microsoft YaHei" pitchFamily="34" charset="-122"/>
                <a:cs typeface="Microsoft YaHei" pitchFamily="34" charset="-120"/>
              </a:rPr>
              <a:t>意外未覆盖</a:t>
            </a:r>
            <a:endParaRPr lang="en-US" sz="1200" dirty="0"/>
          </a:p>
        </p:txBody>
      </p:sp>
      <p:sp>
        <p:nvSpPr>
          <p:cNvPr id="23" name="Text 21"/>
          <p:cNvSpPr/>
          <p:nvPr/>
        </p:nvSpPr>
        <p:spPr>
          <a:xfrm>
            <a:off x="2194560" y="2697480"/>
            <a:ext cx="3291840" cy="685800"/>
          </a:xfrm>
          <a:prstGeom prst="rect">
            <a:avLst/>
          </a:prstGeom>
          <a:noFill/>
          <a:ln/>
        </p:spPr>
        <p:txBody>
          <a:bodyPr wrap="square" rtlCol="0" anchor="ctr"/>
          <a:lstStyle/>
          <a:p>
            <a:pPr indent="0" marL="0">
              <a:buNone/>
            </a:pPr>
            <a:r>
              <a:rPr lang="en-US" sz="1100" dirty="0">
                <a:solidFill>
                  <a:srgbClr val="374151"/>
                </a:solidFill>
                <a:latin typeface="Microsoft YaHei" pitchFamily="34" charset="0"/>
                <a:ea typeface="Microsoft YaHei" pitchFamily="34" charset="-122"/>
                <a:cs typeface="Microsoft YaHei" pitchFamily="34" charset="-120"/>
              </a:rPr>
              <a:t>编了答案而不是审核标记</a:t>
            </a:r>
            <a:endParaRPr lang="en-US" sz="1100" dirty="0"/>
          </a:p>
        </p:txBody>
      </p:sp>
      <p:sp>
        <p:nvSpPr>
          <p:cNvPr id="24" name="Text 22"/>
          <p:cNvSpPr/>
          <p:nvPr/>
        </p:nvSpPr>
        <p:spPr>
          <a:xfrm>
            <a:off x="5669280" y="2697480"/>
            <a:ext cx="2926080" cy="685800"/>
          </a:xfrm>
          <a:prstGeom prst="rect">
            <a:avLst/>
          </a:prstGeom>
          <a:noFill/>
          <a:ln/>
        </p:spPr>
        <p:txBody>
          <a:bodyPr wrap="square" rtlCol="0" anchor="ctr"/>
          <a:lstStyle/>
          <a:p>
            <a:pPr indent="0" marL="0">
              <a:buNone/>
            </a:pPr>
            <a:r>
              <a:rPr lang="en-US" sz="1200" b="1" dirty="0">
                <a:solidFill>
                  <a:srgbClr val="EF4444"/>
                </a:solidFill>
                <a:latin typeface="Microsoft YaHei" pitchFamily="34" charset="0"/>
                <a:ea typeface="Microsoft YaHei" pitchFamily="34" charset="-122"/>
                <a:cs typeface="Microsoft YaHei" pitchFamily="34" charset="-120"/>
              </a:rPr>
              <a:t>重写兜底规则</a:t>
            </a:r>
            <a:endParaRPr lang="en-US" sz="1200" dirty="0"/>
          </a:p>
        </p:txBody>
      </p:sp>
      <p:sp>
        <p:nvSpPr>
          <p:cNvPr id="25" name="Shape 23"/>
          <p:cNvSpPr/>
          <p:nvPr/>
        </p:nvSpPr>
        <p:spPr>
          <a:xfrm>
            <a:off x="457200" y="3383280"/>
            <a:ext cx="8229600" cy="685800"/>
          </a:xfrm>
          <a:prstGeom prst="rect">
            <a:avLst/>
          </a:prstGeom>
          <a:solidFill>
            <a:srgbClr val="FFFFFF"/>
          </a:solidFill>
          <a:ln/>
        </p:spPr>
      </p:sp>
      <p:sp>
        <p:nvSpPr>
          <p:cNvPr id="26" name="Shape 24"/>
          <p:cNvSpPr/>
          <p:nvPr/>
        </p:nvSpPr>
        <p:spPr>
          <a:xfrm>
            <a:off x="457200" y="3383280"/>
            <a:ext cx="73152" cy="685800"/>
          </a:xfrm>
          <a:prstGeom prst="rect">
            <a:avLst/>
          </a:prstGeom>
          <a:solidFill>
            <a:srgbClr val="EF4444"/>
          </a:solidFill>
          <a:ln/>
        </p:spPr>
      </p:sp>
      <p:sp>
        <p:nvSpPr>
          <p:cNvPr id="27" name="Text 25"/>
          <p:cNvSpPr/>
          <p:nvPr/>
        </p:nvSpPr>
        <p:spPr>
          <a:xfrm>
            <a:off x="594360" y="3383280"/>
            <a:ext cx="1463040" cy="685800"/>
          </a:xfrm>
          <a:prstGeom prst="rect">
            <a:avLst/>
          </a:prstGeom>
          <a:noFill/>
          <a:ln/>
        </p:spPr>
        <p:txBody>
          <a:bodyPr wrap="square" rtlCol="0" anchor="ctr"/>
          <a:lstStyle/>
          <a:p>
            <a:pPr indent="0" marL="0">
              <a:buNone/>
            </a:pPr>
            <a:r>
              <a:rPr lang="en-US" sz="1200" b="1" dirty="0">
                <a:solidFill>
                  <a:srgbClr val="B91C1C"/>
                </a:solidFill>
                <a:latin typeface="Microsoft YaHei" pitchFamily="34" charset="0"/>
                <a:ea typeface="Microsoft YaHei" pitchFamily="34" charset="-122"/>
                <a:cs typeface="Microsoft YaHei" pitchFamily="34" charset="-120"/>
              </a:rPr>
              <a:t>稳定性问题</a:t>
            </a:r>
            <a:endParaRPr lang="en-US" sz="1200" dirty="0"/>
          </a:p>
        </p:txBody>
      </p:sp>
      <p:sp>
        <p:nvSpPr>
          <p:cNvPr id="28" name="Text 26"/>
          <p:cNvSpPr/>
          <p:nvPr/>
        </p:nvSpPr>
        <p:spPr>
          <a:xfrm>
            <a:off x="2194560" y="3383280"/>
            <a:ext cx="3291840" cy="685800"/>
          </a:xfrm>
          <a:prstGeom prst="rect">
            <a:avLst/>
          </a:prstGeom>
          <a:noFill/>
          <a:ln/>
        </p:spPr>
        <p:txBody>
          <a:bodyPr wrap="square" rtlCol="0" anchor="ctr"/>
          <a:lstStyle/>
          <a:p>
            <a:pPr indent="0" marL="0">
              <a:buNone/>
            </a:pPr>
            <a:r>
              <a:rPr lang="en-US" sz="1100" dirty="0">
                <a:solidFill>
                  <a:srgbClr val="374151"/>
                </a:solidFill>
                <a:latin typeface="Microsoft YaHei" pitchFamily="34" charset="0"/>
                <a:ea typeface="Microsoft YaHei" pitchFamily="34" charset="-122"/>
                <a:cs typeface="Microsoft YaHei" pitchFamily="34" charset="-120"/>
              </a:rPr>
              <a:t>同样输入给两次结果不一样</a:t>
            </a:r>
            <a:endParaRPr lang="en-US" sz="1100" dirty="0"/>
          </a:p>
        </p:txBody>
      </p:sp>
      <p:sp>
        <p:nvSpPr>
          <p:cNvPr id="29" name="Text 27"/>
          <p:cNvSpPr/>
          <p:nvPr/>
        </p:nvSpPr>
        <p:spPr>
          <a:xfrm>
            <a:off x="5669280" y="3383280"/>
            <a:ext cx="2926080" cy="685800"/>
          </a:xfrm>
          <a:prstGeom prst="rect">
            <a:avLst/>
          </a:prstGeom>
          <a:noFill/>
          <a:ln/>
        </p:spPr>
        <p:txBody>
          <a:bodyPr wrap="square" rtlCol="0" anchor="ctr"/>
          <a:lstStyle/>
          <a:p>
            <a:pPr indent="0" marL="0">
              <a:buNone/>
            </a:pPr>
            <a:r>
              <a:rPr lang="en-US" sz="1200" b="1" dirty="0">
                <a:solidFill>
                  <a:srgbClr val="EF4444"/>
                </a:solidFill>
                <a:latin typeface="Microsoft YaHei" pitchFamily="34" charset="0"/>
                <a:ea typeface="Microsoft YaHei" pitchFamily="34" charset="-122"/>
                <a:cs typeface="Microsoft YaHei" pitchFamily="34" charset="-120"/>
              </a:rPr>
              <a:t>识别摇摆点，写得更精确</a:t>
            </a:r>
            <a:endParaRPr lang="en-US" sz="1200" dirty="0"/>
          </a:p>
        </p:txBody>
      </p:sp>
      <p:sp>
        <p:nvSpPr>
          <p:cNvPr id="30" name="Shape 28"/>
          <p:cNvSpPr/>
          <p:nvPr/>
        </p:nvSpPr>
        <p:spPr>
          <a:xfrm>
            <a:off x="457200" y="4069080"/>
            <a:ext cx="8229600" cy="685800"/>
          </a:xfrm>
          <a:prstGeom prst="rect">
            <a:avLst/>
          </a:prstGeom>
          <a:solidFill>
            <a:srgbClr val="F3F4F6"/>
          </a:solidFill>
          <a:ln/>
        </p:spPr>
      </p:sp>
      <p:sp>
        <p:nvSpPr>
          <p:cNvPr id="31" name="Shape 29"/>
          <p:cNvSpPr/>
          <p:nvPr/>
        </p:nvSpPr>
        <p:spPr>
          <a:xfrm>
            <a:off x="457200" y="4069080"/>
            <a:ext cx="73152" cy="685800"/>
          </a:xfrm>
          <a:prstGeom prst="rect">
            <a:avLst/>
          </a:prstGeom>
          <a:solidFill>
            <a:srgbClr val="EF4444"/>
          </a:solidFill>
          <a:ln/>
        </p:spPr>
      </p:sp>
      <p:sp>
        <p:nvSpPr>
          <p:cNvPr id="32" name="Text 30"/>
          <p:cNvSpPr/>
          <p:nvPr/>
        </p:nvSpPr>
        <p:spPr>
          <a:xfrm>
            <a:off x="594360" y="4069080"/>
            <a:ext cx="1463040" cy="685800"/>
          </a:xfrm>
          <a:prstGeom prst="rect">
            <a:avLst/>
          </a:prstGeom>
          <a:noFill/>
          <a:ln/>
        </p:spPr>
        <p:txBody>
          <a:bodyPr wrap="square" rtlCol="0" anchor="ctr"/>
          <a:lstStyle/>
          <a:p>
            <a:pPr indent="0" marL="0">
              <a:buNone/>
            </a:pPr>
            <a:r>
              <a:rPr lang="en-US" sz="1200" b="1" dirty="0">
                <a:solidFill>
                  <a:srgbClr val="B91C1C"/>
                </a:solidFill>
                <a:latin typeface="Microsoft YaHei" pitchFamily="34" charset="0"/>
                <a:ea typeface="Microsoft YaHei" pitchFamily="34" charset="-122"/>
                <a:cs typeface="Microsoft YaHei" pitchFamily="34" charset="-120"/>
              </a:rPr>
              <a:t>知识库缺口</a:t>
            </a:r>
            <a:endParaRPr lang="en-US" sz="1200" dirty="0"/>
          </a:p>
        </p:txBody>
      </p:sp>
      <p:sp>
        <p:nvSpPr>
          <p:cNvPr id="33" name="Text 31"/>
          <p:cNvSpPr/>
          <p:nvPr/>
        </p:nvSpPr>
        <p:spPr>
          <a:xfrm>
            <a:off x="2194560" y="4069080"/>
            <a:ext cx="3291840" cy="685800"/>
          </a:xfrm>
          <a:prstGeom prst="rect">
            <a:avLst/>
          </a:prstGeom>
          <a:noFill/>
          <a:ln/>
        </p:spPr>
        <p:txBody>
          <a:bodyPr wrap="square" rtlCol="0" anchor="ctr"/>
          <a:lstStyle/>
          <a:p>
            <a:pPr indent="0" marL="0">
              <a:buNone/>
            </a:pPr>
            <a:r>
              <a:rPr lang="en-US" sz="1100" dirty="0">
                <a:solidFill>
                  <a:srgbClr val="374151"/>
                </a:solidFill>
                <a:latin typeface="Microsoft YaHei" pitchFamily="34" charset="0"/>
                <a:ea typeface="Microsoft YaHei" pitchFamily="34" charset="-122"/>
                <a:cs typeface="Microsoft YaHei" pitchFamily="34" charset="-120"/>
              </a:rPr>
              <a:t>内容感觉是AI胡说的</a:t>
            </a:r>
            <a:endParaRPr lang="en-US" sz="1100" dirty="0"/>
          </a:p>
        </p:txBody>
      </p:sp>
      <p:sp>
        <p:nvSpPr>
          <p:cNvPr id="34" name="Text 32"/>
          <p:cNvSpPr/>
          <p:nvPr/>
        </p:nvSpPr>
        <p:spPr>
          <a:xfrm>
            <a:off x="5669280" y="4069080"/>
            <a:ext cx="2926080" cy="685800"/>
          </a:xfrm>
          <a:prstGeom prst="rect">
            <a:avLst/>
          </a:prstGeom>
          <a:noFill/>
          <a:ln/>
        </p:spPr>
        <p:txBody>
          <a:bodyPr wrap="square" rtlCol="0" anchor="ctr"/>
          <a:lstStyle/>
          <a:p>
            <a:pPr indent="0" marL="0">
              <a:buNone/>
            </a:pPr>
            <a:r>
              <a:rPr lang="en-US" sz="1200" b="1" dirty="0">
                <a:solidFill>
                  <a:srgbClr val="EF4444"/>
                </a:solidFill>
                <a:latin typeface="Microsoft YaHei" pitchFamily="34" charset="0"/>
                <a:ea typeface="Microsoft YaHei" pitchFamily="34" charset="-122"/>
                <a:cs typeface="Microsoft YaHei" pitchFamily="34" charset="-120"/>
              </a:rPr>
              <a:t>补充对应知识库内容</a:t>
            </a:r>
            <a:endParaRPr lang="en-US" sz="1200" dirty="0"/>
          </a:p>
        </p:txBody>
      </p:sp>
      <p:sp>
        <p:nvSpPr>
          <p:cNvPr id="35" name="Shape 33"/>
          <p:cNvSpPr/>
          <p:nvPr/>
        </p:nvSpPr>
        <p:spPr>
          <a:xfrm>
            <a:off x="8503920" y="4663440"/>
            <a:ext cx="365760" cy="365760"/>
          </a:xfrm>
          <a:prstGeom prst="ellipse">
            <a:avLst/>
          </a:prstGeom>
          <a:solidFill>
            <a:srgbClr val="EF4444"/>
          </a:solidFill>
          <a:ln/>
        </p:spPr>
      </p:sp>
      <p:sp>
        <p:nvSpPr>
          <p:cNvPr id="36" name="Text 34"/>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60</a:t>
            </a:r>
            <a:endParaRPr lang="en-US" sz="12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Shape 1"/>
          <p:cNvSpPr/>
          <p:nvPr/>
        </p:nvSpPr>
        <p:spPr>
          <a:xfrm>
            <a:off x="457200" y="274320"/>
            <a:ext cx="1645920" cy="457200"/>
          </a:xfrm>
          <a:prstGeom prst="roundRect">
            <a:avLst>
              <a:gd name="adj" fmla="val 16000"/>
            </a:avLst>
          </a:prstGeom>
          <a:solidFill>
            <a:srgbClr val="EF4444"/>
          </a:solidFill>
          <a:ln/>
        </p:spPr>
      </p:sp>
      <p:sp>
        <p:nvSpPr>
          <p:cNvPr id="4" name="Text 2"/>
          <p:cNvSpPr/>
          <p:nvPr/>
        </p:nvSpPr>
        <p:spPr>
          <a:xfrm>
            <a:off x="457200" y="274320"/>
            <a:ext cx="1645920" cy="457200"/>
          </a:xfrm>
          <a:prstGeom prst="rect">
            <a:avLst/>
          </a:prstGeom>
          <a:noFill/>
          <a:ln/>
        </p:spPr>
        <p:txBody>
          <a:bodyPr wrap="square" rtlCol="0" anchor="ctr"/>
          <a:lstStyle/>
          <a:p>
            <a:pPr algn="ctr" indent="0" marL="0">
              <a:buNone/>
            </a:pPr>
            <a:r>
              <a:rPr lang="en-US" sz="1600" b="1" dirty="0">
                <a:solidFill>
                  <a:srgbClr val="FFFFFF"/>
                </a:solidFill>
                <a:latin typeface="Microsoft YaHei" pitchFamily="34" charset="0"/>
                <a:ea typeface="Microsoft YaHei" pitchFamily="34" charset="-122"/>
                <a:cs typeface="Microsoft YaHei" pitchFamily="34" charset="-120"/>
              </a:rPr>
              <a:t>问题 01</a:t>
            </a:r>
            <a:endParaRPr lang="en-US" sz="1600" dirty="0"/>
          </a:p>
        </p:txBody>
      </p:sp>
      <p:sp>
        <p:nvSpPr>
          <p:cNvPr id="5" name="Text 3"/>
          <p:cNvSpPr/>
          <p:nvPr/>
        </p:nvSpPr>
        <p:spPr>
          <a:xfrm>
            <a:off x="2286000" y="274320"/>
            <a:ext cx="4572000" cy="457200"/>
          </a:xfrm>
          <a:prstGeom prst="rect">
            <a:avLst/>
          </a:prstGeom>
          <a:noFill/>
          <a:ln/>
        </p:spPr>
        <p:txBody>
          <a:bodyPr wrap="square" rtlCol="0" anchor="ctr"/>
          <a:lstStyle/>
          <a:p>
            <a:pPr indent="0" marL="0">
              <a:buNone/>
            </a:pPr>
            <a:r>
              <a:rPr lang="en-US" sz="2800" b="1" dirty="0">
                <a:solidFill>
                  <a:srgbClr val="B91C1C"/>
                </a:solidFill>
                <a:latin typeface="Microsoft YaHei" pitchFamily="34" charset="0"/>
                <a:ea typeface="Microsoft YaHei" pitchFamily="34" charset="-122"/>
                <a:cs typeface="Microsoft YaHei" pitchFamily="34" charset="-120"/>
              </a:rPr>
              <a:t>格式问题</a:t>
            </a:r>
            <a:endParaRPr lang="en-US" sz="2800" dirty="0"/>
          </a:p>
        </p:txBody>
      </p:sp>
      <p:sp>
        <p:nvSpPr>
          <p:cNvPr id="6" name="Shape 4"/>
          <p:cNvSpPr/>
          <p:nvPr/>
        </p:nvSpPr>
        <p:spPr>
          <a:xfrm>
            <a:off x="457200" y="1005840"/>
            <a:ext cx="2651760" cy="3291840"/>
          </a:xfrm>
          <a:prstGeom prst="roundRect">
            <a:avLst>
              <a:gd name="adj" fmla="val 3448"/>
            </a:avLst>
          </a:prstGeom>
          <a:solidFill>
            <a:srgbClr val="F3F4F6"/>
          </a:solidFill>
          <a:ln/>
        </p:spPr>
      </p:sp>
      <p:sp>
        <p:nvSpPr>
          <p:cNvPr id="7" name="Shape 5"/>
          <p:cNvSpPr/>
          <p:nvPr/>
        </p:nvSpPr>
        <p:spPr>
          <a:xfrm>
            <a:off x="457200" y="1005840"/>
            <a:ext cx="2651760" cy="91440"/>
          </a:xfrm>
          <a:prstGeom prst="rect">
            <a:avLst/>
          </a:prstGeom>
          <a:solidFill>
            <a:srgbClr val="374151"/>
          </a:solidFill>
          <a:ln/>
        </p:spPr>
      </p:sp>
      <p:sp>
        <p:nvSpPr>
          <p:cNvPr id="8" name="Text 6"/>
          <p:cNvSpPr/>
          <p:nvPr/>
        </p:nvSpPr>
        <p:spPr>
          <a:xfrm>
            <a:off x="457200" y="1234440"/>
            <a:ext cx="2651760" cy="457200"/>
          </a:xfrm>
          <a:prstGeom prst="rect">
            <a:avLst/>
          </a:prstGeom>
          <a:noFill/>
          <a:ln/>
        </p:spPr>
        <p:txBody>
          <a:bodyPr wrap="square" rtlCol="0" anchor="ctr"/>
          <a:lstStyle/>
          <a:p>
            <a:pPr algn="ctr" indent="0" marL="0">
              <a:buNone/>
            </a:pPr>
            <a:r>
              <a:rPr lang="en-US" sz="1800" b="1" dirty="0">
                <a:solidFill>
                  <a:srgbClr val="374151"/>
                </a:solidFill>
                <a:latin typeface="Microsoft YaHei" pitchFamily="34" charset="0"/>
                <a:ea typeface="Microsoft YaHei" pitchFamily="34" charset="-122"/>
                <a:cs typeface="Microsoft YaHei" pitchFamily="34" charset="-120"/>
              </a:rPr>
              <a:t>症状</a:t>
            </a:r>
            <a:endParaRPr lang="en-US" sz="1800" dirty="0"/>
          </a:p>
        </p:txBody>
      </p:sp>
      <p:sp>
        <p:nvSpPr>
          <p:cNvPr id="9" name="Text 7"/>
          <p:cNvSpPr/>
          <p:nvPr/>
        </p:nvSpPr>
        <p:spPr>
          <a:xfrm>
            <a:off x="640080" y="1828800"/>
            <a:ext cx="2286000" cy="2286000"/>
          </a:xfrm>
          <a:prstGeom prst="rect">
            <a:avLst/>
          </a:prstGeom>
          <a:noFill/>
          <a:ln/>
        </p:spPr>
        <p:txBody>
          <a:bodyPr wrap="square" rtlCol="0" anchor="t"/>
          <a:lstStyle/>
          <a:p>
            <a:pPr indent="0" marL="0">
              <a:buNone/>
            </a:pPr>
            <a:r>
              <a:rPr lang="en-US" sz="1400" dirty="0">
                <a:solidFill>
                  <a:srgbClr val="374151"/>
                </a:solidFill>
                <a:latin typeface="Microsoft YaHei" pitchFamily="34" charset="0"/>
                <a:ea typeface="Microsoft YaHei" pitchFamily="34" charset="-122"/>
                <a:cs typeface="Microsoft YaHei" pitchFamily="34" charset="-120"/>
              </a:rPr>
              <a:t>输出的字段名称不固定、顺序每次不同</a:t>
            </a:r>
            <a:endParaRPr lang="en-US" sz="1400" dirty="0"/>
          </a:p>
        </p:txBody>
      </p:sp>
      <p:sp>
        <p:nvSpPr>
          <p:cNvPr id="10" name="Shape 8"/>
          <p:cNvSpPr/>
          <p:nvPr/>
        </p:nvSpPr>
        <p:spPr>
          <a:xfrm>
            <a:off x="3246120" y="1005840"/>
            <a:ext cx="2651760" cy="3291840"/>
          </a:xfrm>
          <a:prstGeom prst="roundRect">
            <a:avLst>
              <a:gd name="adj" fmla="val 3448"/>
            </a:avLst>
          </a:prstGeom>
          <a:solidFill>
            <a:srgbClr val="F3F4F6"/>
          </a:solidFill>
          <a:ln/>
        </p:spPr>
      </p:sp>
      <p:sp>
        <p:nvSpPr>
          <p:cNvPr id="11" name="Shape 9"/>
          <p:cNvSpPr/>
          <p:nvPr/>
        </p:nvSpPr>
        <p:spPr>
          <a:xfrm>
            <a:off x="3246120" y="1005840"/>
            <a:ext cx="2651760" cy="91440"/>
          </a:xfrm>
          <a:prstGeom prst="rect">
            <a:avLst/>
          </a:prstGeom>
          <a:solidFill>
            <a:srgbClr val="B91C1C"/>
          </a:solidFill>
          <a:ln/>
        </p:spPr>
      </p:sp>
      <p:sp>
        <p:nvSpPr>
          <p:cNvPr id="12" name="Text 10"/>
          <p:cNvSpPr/>
          <p:nvPr/>
        </p:nvSpPr>
        <p:spPr>
          <a:xfrm>
            <a:off x="3246120" y="1234440"/>
            <a:ext cx="2651760" cy="457200"/>
          </a:xfrm>
          <a:prstGeom prst="rect">
            <a:avLst/>
          </a:prstGeom>
          <a:noFill/>
          <a:ln/>
        </p:spPr>
        <p:txBody>
          <a:bodyPr wrap="square" rtlCol="0" anchor="ctr"/>
          <a:lstStyle/>
          <a:p>
            <a:pPr algn="ctr" indent="0" marL="0">
              <a:buNone/>
            </a:pPr>
            <a:r>
              <a:rPr lang="en-US" sz="1800" b="1" dirty="0">
                <a:solidFill>
                  <a:srgbClr val="B91C1C"/>
                </a:solidFill>
                <a:latin typeface="Microsoft YaHei" pitchFamily="34" charset="0"/>
                <a:ea typeface="Microsoft YaHei" pitchFamily="34" charset="-122"/>
                <a:cs typeface="Microsoft YaHei" pitchFamily="34" charset="-120"/>
              </a:rPr>
              <a:t>根本原因</a:t>
            </a:r>
            <a:endParaRPr lang="en-US" sz="1800" dirty="0"/>
          </a:p>
        </p:txBody>
      </p:sp>
      <p:sp>
        <p:nvSpPr>
          <p:cNvPr id="13" name="Text 11"/>
          <p:cNvSpPr/>
          <p:nvPr/>
        </p:nvSpPr>
        <p:spPr>
          <a:xfrm>
            <a:off x="3429000" y="1828800"/>
            <a:ext cx="2286000" cy="2286000"/>
          </a:xfrm>
          <a:prstGeom prst="rect">
            <a:avLst/>
          </a:prstGeom>
          <a:noFill/>
          <a:ln/>
        </p:spPr>
        <p:txBody>
          <a:bodyPr wrap="square" rtlCol="0" anchor="t"/>
          <a:lstStyle/>
          <a:p>
            <a:pPr indent="0" marL="0">
              <a:buNone/>
            </a:pPr>
            <a:r>
              <a:rPr lang="en-US" sz="1400" dirty="0">
                <a:solidFill>
                  <a:srgbClr val="374151"/>
                </a:solidFill>
                <a:latin typeface="Microsoft YaHei" pitchFamily="34" charset="0"/>
                <a:ea typeface="Microsoft YaHei" pitchFamily="34" charset="-122"/>
                <a:cs typeface="Microsoft YaHei" pitchFamily="34" charset="-120"/>
              </a:rPr>
              <a:t>格式模板写法不够硬</a:t>
            </a:r>
            <a:endParaRPr lang="en-US" sz="1400" dirty="0"/>
          </a:p>
        </p:txBody>
      </p:sp>
      <p:sp>
        <p:nvSpPr>
          <p:cNvPr id="14" name="Shape 12"/>
          <p:cNvSpPr/>
          <p:nvPr/>
        </p:nvSpPr>
        <p:spPr>
          <a:xfrm>
            <a:off x="6035040" y="1005840"/>
            <a:ext cx="2651760" cy="3291840"/>
          </a:xfrm>
          <a:prstGeom prst="roundRect">
            <a:avLst>
              <a:gd name="adj" fmla="val 3448"/>
            </a:avLst>
          </a:prstGeom>
          <a:solidFill>
            <a:srgbClr val="F3F4F6"/>
          </a:solidFill>
          <a:ln/>
        </p:spPr>
      </p:sp>
      <p:sp>
        <p:nvSpPr>
          <p:cNvPr id="15" name="Shape 13"/>
          <p:cNvSpPr/>
          <p:nvPr/>
        </p:nvSpPr>
        <p:spPr>
          <a:xfrm>
            <a:off x="6035040" y="1005840"/>
            <a:ext cx="2651760" cy="91440"/>
          </a:xfrm>
          <a:prstGeom prst="rect">
            <a:avLst/>
          </a:prstGeom>
          <a:solidFill>
            <a:srgbClr val="EF4444"/>
          </a:solidFill>
          <a:ln/>
        </p:spPr>
      </p:sp>
      <p:sp>
        <p:nvSpPr>
          <p:cNvPr id="16" name="Text 14"/>
          <p:cNvSpPr/>
          <p:nvPr/>
        </p:nvSpPr>
        <p:spPr>
          <a:xfrm>
            <a:off x="6035040" y="1234440"/>
            <a:ext cx="2651760" cy="457200"/>
          </a:xfrm>
          <a:prstGeom prst="rect">
            <a:avLst/>
          </a:prstGeom>
          <a:noFill/>
          <a:ln/>
        </p:spPr>
        <p:txBody>
          <a:bodyPr wrap="square" rtlCol="0" anchor="ctr"/>
          <a:lstStyle/>
          <a:p>
            <a:pPr algn="ctr" indent="0" marL="0">
              <a:buNone/>
            </a:pPr>
            <a:r>
              <a:rPr lang="en-US" sz="1800" b="1" dirty="0">
                <a:solidFill>
                  <a:srgbClr val="EF4444"/>
                </a:solidFill>
                <a:latin typeface="Microsoft YaHei" pitchFamily="34" charset="0"/>
                <a:ea typeface="Microsoft YaHei" pitchFamily="34" charset="-122"/>
                <a:cs typeface="Microsoft YaHei" pitchFamily="34" charset="-120"/>
              </a:rPr>
              <a:t>解法</a:t>
            </a:r>
            <a:endParaRPr lang="en-US" sz="1800" dirty="0"/>
          </a:p>
        </p:txBody>
      </p:sp>
      <p:sp>
        <p:nvSpPr>
          <p:cNvPr id="17" name="Text 15"/>
          <p:cNvSpPr/>
          <p:nvPr/>
        </p:nvSpPr>
        <p:spPr>
          <a:xfrm>
            <a:off x="6217920" y="1828800"/>
            <a:ext cx="2286000" cy="2286000"/>
          </a:xfrm>
          <a:prstGeom prst="rect">
            <a:avLst/>
          </a:prstGeom>
          <a:noFill/>
          <a:ln/>
        </p:spPr>
        <p:txBody>
          <a:bodyPr wrap="square" rtlCol="0" anchor="t"/>
          <a:lstStyle/>
          <a:p>
            <a:pPr indent="0" marL="0">
              <a:buNone/>
            </a:pPr>
            <a:r>
              <a:rPr lang="en-US" sz="1400" dirty="0">
                <a:solidFill>
                  <a:srgbClr val="374151"/>
                </a:solidFill>
                <a:latin typeface="Microsoft YaHei" pitchFamily="34" charset="0"/>
                <a:ea typeface="Microsoft YaHei" pitchFamily="34" charset="-122"/>
                <a:cs typeface="Microsoft YaHei" pitchFamily="34" charset="-120"/>
              </a:rPr>
              <a:t>加硬性约束：每个字段都要输出，不得合并、删减或重命名字段</a:t>
            </a:r>
            <a:endParaRPr lang="en-US" sz="1400" dirty="0"/>
          </a:p>
        </p:txBody>
      </p:sp>
      <p:sp>
        <p:nvSpPr>
          <p:cNvPr id="18" name="Shape 16"/>
          <p:cNvSpPr/>
          <p:nvPr/>
        </p:nvSpPr>
        <p:spPr>
          <a:xfrm>
            <a:off x="8503920" y="4663440"/>
            <a:ext cx="365760" cy="365760"/>
          </a:xfrm>
          <a:prstGeom prst="ellipse">
            <a:avLst/>
          </a:prstGeom>
          <a:solidFill>
            <a:srgbClr val="EF4444"/>
          </a:solidFill>
          <a:ln/>
        </p:spPr>
      </p:sp>
      <p:sp>
        <p:nvSpPr>
          <p:cNvPr id="19" name="Text 17"/>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61</a:t>
            </a:r>
            <a:endParaRPr lang="en-US" sz="12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Shape 1"/>
          <p:cNvSpPr/>
          <p:nvPr/>
        </p:nvSpPr>
        <p:spPr>
          <a:xfrm>
            <a:off x="457200" y="274320"/>
            <a:ext cx="1645920" cy="457200"/>
          </a:xfrm>
          <a:prstGeom prst="roundRect">
            <a:avLst>
              <a:gd name="adj" fmla="val 16000"/>
            </a:avLst>
          </a:prstGeom>
          <a:solidFill>
            <a:srgbClr val="EF4444"/>
          </a:solidFill>
          <a:ln/>
        </p:spPr>
      </p:sp>
      <p:sp>
        <p:nvSpPr>
          <p:cNvPr id="4" name="Text 2"/>
          <p:cNvSpPr/>
          <p:nvPr/>
        </p:nvSpPr>
        <p:spPr>
          <a:xfrm>
            <a:off x="457200" y="274320"/>
            <a:ext cx="1645920" cy="457200"/>
          </a:xfrm>
          <a:prstGeom prst="rect">
            <a:avLst/>
          </a:prstGeom>
          <a:noFill/>
          <a:ln/>
        </p:spPr>
        <p:txBody>
          <a:bodyPr wrap="square" rtlCol="0" anchor="ctr"/>
          <a:lstStyle/>
          <a:p>
            <a:pPr algn="ctr" indent="0" marL="0">
              <a:buNone/>
            </a:pPr>
            <a:r>
              <a:rPr lang="en-US" sz="1600" b="1" dirty="0">
                <a:solidFill>
                  <a:srgbClr val="FFFFFF"/>
                </a:solidFill>
                <a:latin typeface="Microsoft YaHei" pitchFamily="34" charset="0"/>
                <a:ea typeface="Microsoft YaHei" pitchFamily="34" charset="-122"/>
                <a:cs typeface="Microsoft YaHei" pitchFamily="34" charset="-120"/>
              </a:rPr>
              <a:t>问题 02</a:t>
            </a:r>
            <a:endParaRPr lang="en-US" sz="1600" dirty="0"/>
          </a:p>
        </p:txBody>
      </p:sp>
      <p:sp>
        <p:nvSpPr>
          <p:cNvPr id="5" name="Text 3"/>
          <p:cNvSpPr/>
          <p:nvPr/>
        </p:nvSpPr>
        <p:spPr>
          <a:xfrm>
            <a:off x="2286000" y="274320"/>
            <a:ext cx="4572000" cy="457200"/>
          </a:xfrm>
          <a:prstGeom prst="rect">
            <a:avLst/>
          </a:prstGeom>
          <a:noFill/>
          <a:ln/>
        </p:spPr>
        <p:txBody>
          <a:bodyPr wrap="square" rtlCol="0" anchor="ctr"/>
          <a:lstStyle/>
          <a:p>
            <a:pPr indent="0" marL="0">
              <a:buNone/>
            </a:pPr>
            <a:r>
              <a:rPr lang="en-US" sz="2800" b="1" dirty="0">
                <a:solidFill>
                  <a:srgbClr val="B91C1C"/>
                </a:solidFill>
                <a:latin typeface="Microsoft YaHei" pitchFamily="34" charset="0"/>
                <a:ea typeface="Microsoft YaHei" pitchFamily="34" charset="-122"/>
                <a:cs typeface="Microsoft YaHei" pitchFamily="34" charset="-120"/>
              </a:rPr>
              <a:t>规则遗漏</a:t>
            </a:r>
            <a:endParaRPr lang="en-US" sz="2800" dirty="0"/>
          </a:p>
        </p:txBody>
      </p:sp>
      <p:sp>
        <p:nvSpPr>
          <p:cNvPr id="6" name="Shape 4"/>
          <p:cNvSpPr/>
          <p:nvPr/>
        </p:nvSpPr>
        <p:spPr>
          <a:xfrm>
            <a:off x="457200" y="1005840"/>
            <a:ext cx="2651760" cy="3291840"/>
          </a:xfrm>
          <a:prstGeom prst="roundRect">
            <a:avLst>
              <a:gd name="adj" fmla="val 3448"/>
            </a:avLst>
          </a:prstGeom>
          <a:solidFill>
            <a:srgbClr val="F3F4F6"/>
          </a:solidFill>
          <a:ln/>
        </p:spPr>
      </p:sp>
      <p:sp>
        <p:nvSpPr>
          <p:cNvPr id="7" name="Shape 5"/>
          <p:cNvSpPr/>
          <p:nvPr/>
        </p:nvSpPr>
        <p:spPr>
          <a:xfrm>
            <a:off x="457200" y="1005840"/>
            <a:ext cx="2651760" cy="91440"/>
          </a:xfrm>
          <a:prstGeom prst="rect">
            <a:avLst/>
          </a:prstGeom>
          <a:solidFill>
            <a:srgbClr val="374151"/>
          </a:solidFill>
          <a:ln/>
        </p:spPr>
      </p:sp>
      <p:sp>
        <p:nvSpPr>
          <p:cNvPr id="8" name="Text 6"/>
          <p:cNvSpPr/>
          <p:nvPr/>
        </p:nvSpPr>
        <p:spPr>
          <a:xfrm>
            <a:off x="457200" y="1234440"/>
            <a:ext cx="2651760" cy="457200"/>
          </a:xfrm>
          <a:prstGeom prst="rect">
            <a:avLst/>
          </a:prstGeom>
          <a:noFill/>
          <a:ln/>
        </p:spPr>
        <p:txBody>
          <a:bodyPr wrap="square" rtlCol="0" anchor="ctr"/>
          <a:lstStyle/>
          <a:p>
            <a:pPr algn="ctr" indent="0" marL="0">
              <a:buNone/>
            </a:pPr>
            <a:r>
              <a:rPr lang="en-US" sz="1800" b="1" dirty="0">
                <a:solidFill>
                  <a:srgbClr val="374151"/>
                </a:solidFill>
                <a:latin typeface="Microsoft YaHei" pitchFamily="34" charset="0"/>
                <a:ea typeface="Microsoft YaHei" pitchFamily="34" charset="-122"/>
                <a:cs typeface="Microsoft YaHei" pitchFamily="34" charset="-120"/>
              </a:rPr>
              <a:t>症状</a:t>
            </a:r>
            <a:endParaRPr lang="en-US" sz="1800" dirty="0"/>
          </a:p>
        </p:txBody>
      </p:sp>
      <p:sp>
        <p:nvSpPr>
          <p:cNvPr id="9" name="Text 7"/>
          <p:cNvSpPr/>
          <p:nvPr/>
        </p:nvSpPr>
        <p:spPr>
          <a:xfrm>
            <a:off x="640080" y="1828800"/>
            <a:ext cx="2286000" cy="2286000"/>
          </a:xfrm>
          <a:prstGeom prst="rect">
            <a:avLst/>
          </a:prstGeom>
          <a:noFill/>
          <a:ln/>
        </p:spPr>
        <p:txBody>
          <a:bodyPr wrap="square" rtlCol="0" anchor="t"/>
          <a:lstStyle/>
          <a:p>
            <a:pPr indent="0" marL="0">
              <a:buNone/>
            </a:pPr>
            <a:r>
              <a:rPr lang="en-US" sz="1400" dirty="0">
                <a:solidFill>
                  <a:srgbClr val="374151"/>
                </a:solidFill>
                <a:latin typeface="Microsoft YaHei" pitchFamily="34" charset="0"/>
                <a:ea typeface="Microsoft YaHei" pitchFamily="34" charset="-122"/>
                <a:cs typeface="Microsoft YaHei" pitchFamily="34" charset="-120"/>
              </a:rPr>
              <a:t>某类情形应该按规则X处理，但AI没有触发</a:t>
            </a:r>
            <a:endParaRPr lang="en-US" sz="1400" dirty="0"/>
          </a:p>
        </p:txBody>
      </p:sp>
      <p:sp>
        <p:nvSpPr>
          <p:cNvPr id="10" name="Shape 8"/>
          <p:cNvSpPr/>
          <p:nvPr/>
        </p:nvSpPr>
        <p:spPr>
          <a:xfrm>
            <a:off x="3246120" y="1005840"/>
            <a:ext cx="2651760" cy="3291840"/>
          </a:xfrm>
          <a:prstGeom prst="roundRect">
            <a:avLst>
              <a:gd name="adj" fmla="val 3448"/>
            </a:avLst>
          </a:prstGeom>
          <a:solidFill>
            <a:srgbClr val="F3F4F6"/>
          </a:solidFill>
          <a:ln/>
        </p:spPr>
      </p:sp>
      <p:sp>
        <p:nvSpPr>
          <p:cNvPr id="11" name="Shape 9"/>
          <p:cNvSpPr/>
          <p:nvPr/>
        </p:nvSpPr>
        <p:spPr>
          <a:xfrm>
            <a:off x="3246120" y="1005840"/>
            <a:ext cx="2651760" cy="91440"/>
          </a:xfrm>
          <a:prstGeom prst="rect">
            <a:avLst/>
          </a:prstGeom>
          <a:solidFill>
            <a:srgbClr val="B91C1C"/>
          </a:solidFill>
          <a:ln/>
        </p:spPr>
      </p:sp>
      <p:sp>
        <p:nvSpPr>
          <p:cNvPr id="12" name="Text 10"/>
          <p:cNvSpPr/>
          <p:nvPr/>
        </p:nvSpPr>
        <p:spPr>
          <a:xfrm>
            <a:off x="3246120" y="1234440"/>
            <a:ext cx="2651760" cy="457200"/>
          </a:xfrm>
          <a:prstGeom prst="rect">
            <a:avLst/>
          </a:prstGeom>
          <a:noFill/>
          <a:ln/>
        </p:spPr>
        <p:txBody>
          <a:bodyPr wrap="square" rtlCol="0" anchor="ctr"/>
          <a:lstStyle/>
          <a:p>
            <a:pPr algn="ctr" indent="0" marL="0">
              <a:buNone/>
            </a:pPr>
            <a:r>
              <a:rPr lang="en-US" sz="1800" b="1" dirty="0">
                <a:solidFill>
                  <a:srgbClr val="B91C1C"/>
                </a:solidFill>
                <a:latin typeface="Microsoft YaHei" pitchFamily="34" charset="0"/>
                <a:ea typeface="Microsoft YaHei" pitchFamily="34" charset="-122"/>
                <a:cs typeface="Microsoft YaHei" pitchFamily="34" charset="-120"/>
              </a:rPr>
              <a:t>根本原因</a:t>
            </a:r>
            <a:endParaRPr lang="en-US" sz="1800" dirty="0"/>
          </a:p>
        </p:txBody>
      </p:sp>
      <p:sp>
        <p:nvSpPr>
          <p:cNvPr id="13" name="Text 11"/>
          <p:cNvSpPr/>
          <p:nvPr/>
        </p:nvSpPr>
        <p:spPr>
          <a:xfrm>
            <a:off x="3429000" y="1828800"/>
            <a:ext cx="2286000" cy="2286000"/>
          </a:xfrm>
          <a:prstGeom prst="rect">
            <a:avLst/>
          </a:prstGeom>
          <a:noFill/>
          <a:ln/>
        </p:spPr>
        <p:txBody>
          <a:bodyPr wrap="square" rtlCol="0" anchor="t"/>
          <a:lstStyle/>
          <a:p>
            <a:pPr indent="0" marL="0">
              <a:buNone/>
            </a:pPr>
            <a:r>
              <a:rPr lang="en-US" sz="1400" dirty="0">
                <a:solidFill>
                  <a:srgbClr val="374151"/>
                </a:solidFill>
                <a:latin typeface="Microsoft YaHei" pitchFamily="34" charset="0"/>
                <a:ea typeface="Microsoft YaHei" pitchFamily="34" charset="-122"/>
                <a:cs typeface="Microsoft YaHei" pitchFamily="34" charset="-120"/>
              </a:rPr>
              <a:t>触发条件太模糊，或被另一条规则「吸收」</a:t>
            </a:r>
            <a:endParaRPr lang="en-US" sz="1400" dirty="0"/>
          </a:p>
        </p:txBody>
      </p:sp>
      <p:sp>
        <p:nvSpPr>
          <p:cNvPr id="14" name="Shape 12"/>
          <p:cNvSpPr/>
          <p:nvPr/>
        </p:nvSpPr>
        <p:spPr>
          <a:xfrm>
            <a:off x="6035040" y="1005840"/>
            <a:ext cx="2651760" cy="3291840"/>
          </a:xfrm>
          <a:prstGeom prst="roundRect">
            <a:avLst>
              <a:gd name="adj" fmla="val 3448"/>
            </a:avLst>
          </a:prstGeom>
          <a:solidFill>
            <a:srgbClr val="F3F4F6"/>
          </a:solidFill>
          <a:ln/>
        </p:spPr>
      </p:sp>
      <p:sp>
        <p:nvSpPr>
          <p:cNvPr id="15" name="Shape 13"/>
          <p:cNvSpPr/>
          <p:nvPr/>
        </p:nvSpPr>
        <p:spPr>
          <a:xfrm>
            <a:off x="6035040" y="1005840"/>
            <a:ext cx="2651760" cy="91440"/>
          </a:xfrm>
          <a:prstGeom prst="rect">
            <a:avLst/>
          </a:prstGeom>
          <a:solidFill>
            <a:srgbClr val="EF4444"/>
          </a:solidFill>
          <a:ln/>
        </p:spPr>
      </p:sp>
      <p:sp>
        <p:nvSpPr>
          <p:cNvPr id="16" name="Text 14"/>
          <p:cNvSpPr/>
          <p:nvPr/>
        </p:nvSpPr>
        <p:spPr>
          <a:xfrm>
            <a:off x="6035040" y="1234440"/>
            <a:ext cx="2651760" cy="457200"/>
          </a:xfrm>
          <a:prstGeom prst="rect">
            <a:avLst/>
          </a:prstGeom>
          <a:noFill/>
          <a:ln/>
        </p:spPr>
        <p:txBody>
          <a:bodyPr wrap="square" rtlCol="0" anchor="ctr"/>
          <a:lstStyle/>
          <a:p>
            <a:pPr algn="ctr" indent="0" marL="0">
              <a:buNone/>
            </a:pPr>
            <a:r>
              <a:rPr lang="en-US" sz="1800" b="1" dirty="0">
                <a:solidFill>
                  <a:srgbClr val="EF4444"/>
                </a:solidFill>
                <a:latin typeface="Microsoft YaHei" pitchFamily="34" charset="0"/>
                <a:ea typeface="Microsoft YaHei" pitchFamily="34" charset="-122"/>
                <a:cs typeface="Microsoft YaHei" pitchFamily="34" charset="-120"/>
              </a:rPr>
              <a:t>解法</a:t>
            </a:r>
            <a:endParaRPr lang="en-US" sz="1800" dirty="0"/>
          </a:p>
        </p:txBody>
      </p:sp>
      <p:sp>
        <p:nvSpPr>
          <p:cNvPr id="17" name="Text 15"/>
          <p:cNvSpPr/>
          <p:nvPr/>
        </p:nvSpPr>
        <p:spPr>
          <a:xfrm>
            <a:off x="6217920" y="1828800"/>
            <a:ext cx="2286000" cy="2286000"/>
          </a:xfrm>
          <a:prstGeom prst="rect">
            <a:avLst/>
          </a:prstGeom>
          <a:noFill/>
          <a:ln/>
        </p:spPr>
        <p:txBody>
          <a:bodyPr wrap="square" rtlCol="0" anchor="t"/>
          <a:lstStyle/>
          <a:p>
            <a:pPr indent="0" marL="0">
              <a:buNone/>
            </a:pPr>
            <a:r>
              <a:rPr lang="en-US" sz="1400" dirty="0">
                <a:solidFill>
                  <a:srgbClr val="374151"/>
                </a:solidFill>
                <a:latin typeface="Microsoft YaHei" pitchFamily="34" charset="0"/>
                <a:ea typeface="Microsoft YaHei" pitchFamily="34" charset="-122"/>
                <a:cs typeface="Microsoft YaHei" pitchFamily="34" charset="-120"/>
              </a:rPr>
              <a:t>改成AI能从文字里直接检测到的具体信号</a:t>
            </a:r>
            <a:endParaRPr lang="en-US" sz="1400" dirty="0"/>
          </a:p>
        </p:txBody>
      </p:sp>
      <p:sp>
        <p:nvSpPr>
          <p:cNvPr id="18" name="Shape 16"/>
          <p:cNvSpPr/>
          <p:nvPr/>
        </p:nvSpPr>
        <p:spPr>
          <a:xfrm>
            <a:off x="8503920" y="4663440"/>
            <a:ext cx="365760" cy="365760"/>
          </a:xfrm>
          <a:prstGeom prst="ellipse">
            <a:avLst/>
          </a:prstGeom>
          <a:solidFill>
            <a:srgbClr val="EF4444"/>
          </a:solidFill>
          <a:ln/>
        </p:spPr>
      </p:sp>
      <p:sp>
        <p:nvSpPr>
          <p:cNvPr id="19" name="Text 17"/>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62</a:t>
            </a:r>
            <a:endParaRPr lang="en-US" sz="12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Shape 1"/>
          <p:cNvSpPr/>
          <p:nvPr/>
        </p:nvSpPr>
        <p:spPr>
          <a:xfrm>
            <a:off x="457200" y="274320"/>
            <a:ext cx="1645920" cy="457200"/>
          </a:xfrm>
          <a:prstGeom prst="roundRect">
            <a:avLst>
              <a:gd name="adj" fmla="val 16000"/>
            </a:avLst>
          </a:prstGeom>
          <a:solidFill>
            <a:srgbClr val="EF4444"/>
          </a:solidFill>
          <a:ln/>
        </p:spPr>
      </p:sp>
      <p:sp>
        <p:nvSpPr>
          <p:cNvPr id="4" name="Text 2"/>
          <p:cNvSpPr/>
          <p:nvPr/>
        </p:nvSpPr>
        <p:spPr>
          <a:xfrm>
            <a:off x="457200" y="274320"/>
            <a:ext cx="1645920" cy="457200"/>
          </a:xfrm>
          <a:prstGeom prst="rect">
            <a:avLst/>
          </a:prstGeom>
          <a:noFill/>
          <a:ln/>
        </p:spPr>
        <p:txBody>
          <a:bodyPr wrap="square" rtlCol="0" anchor="ctr"/>
          <a:lstStyle/>
          <a:p>
            <a:pPr algn="ctr" indent="0" marL="0">
              <a:buNone/>
            </a:pPr>
            <a:r>
              <a:rPr lang="en-US" sz="1600" b="1" dirty="0">
                <a:solidFill>
                  <a:srgbClr val="FFFFFF"/>
                </a:solidFill>
                <a:latin typeface="Microsoft YaHei" pitchFamily="34" charset="0"/>
                <a:ea typeface="Microsoft YaHei" pitchFamily="34" charset="-122"/>
                <a:cs typeface="Microsoft YaHei" pitchFamily="34" charset="-120"/>
              </a:rPr>
              <a:t>问题 03</a:t>
            </a:r>
            <a:endParaRPr lang="en-US" sz="1600" dirty="0"/>
          </a:p>
        </p:txBody>
      </p:sp>
      <p:sp>
        <p:nvSpPr>
          <p:cNvPr id="5" name="Text 3"/>
          <p:cNvSpPr/>
          <p:nvPr/>
        </p:nvSpPr>
        <p:spPr>
          <a:xfrm>
            <a:off x="2286000" y="274320"/>
            <a:ext cx="4572000" cy="457200"/>
          </a:xfrm>
          <a:prstGeom prst="rect">
            <a:avLst/>
          </a:prstGeom>
          <a:noFill/>
          <a:ln/>
        </p:spPr>
        <p:txBody>
          <a:bodyPr wrap="square" rtlCol="0" anchor="ctr"/>
          <a:lstStyle/>
          <a:p>
            <a:pPr indent="0" marL="0">
              <a:buNone/>
            </a:pPr>
            <a:r>
              <a:rPr lang="en-US" sz="2800" b="1" dirty="0">
                <a:solidFill>
                  <a:srgbClr val="B91C1C"/>
                </a:solidFill>
                <a:latin typeface="Microsoft YaHei" pitchFamily="34" charset="0"/>
                <a:ea typeface="Microsoft YaHei" pitchFamily="34" charset="-122"/>
                <a:cs typeface="Microsoft YaHei" pitchFamily="34" charset="-120"/>
              </a:rPr>
              <a:t>意外情况未覆盖</a:t>
            </a:r>
            <a:endParaRPr lang="en-US" sz="2800" dirty="0"/>
          </a:p>
        </p:txBody>
      </p:sp>
      <p:sp>
        <p:nvSpPr>
          <p:cNvPr id="6" name="Shape 4"/>
          <p:cNvSpPr/>
          <p:nvPr/>
        </p:nvSpPr>
        <p:spPr>
          <a:xfrm>
            <a:off x="457200" y="1005840"/>
            <a:ext cx="2651760" cy="3291840"/>
          </a:xfrm>
          <a:prstGeom prst="roundRect">
            <a:avLst>
              <a:gd name="adj" fmla="val 3448"/>
            </a:avLst>
          </a:prstGeom>
          <a:solidFill>
            <a:srgbClr val="F3F4F6"/>
          </a:solidFill>
          <a:ln/>
        </p:spPr>
      </p:sp>
      <p:sp>
        <p:nvSpPr>
          <p:cNvPr id="7" name="Shape 5"/>
          <p:cNvSpPr/>
          <p:nvPr/>
        </p:nvSpPr>
        <p:spPr>
          <a:xfrm>
            <a:off x="457200" y="1005840"/>
            <a:ext cx="2651760" cy="91440"/>
          </a:xfrm>
          <a:prstGeom prst="rect">
            <a:avLst/>
          </a:prstGeom>
          <a:solidFill>
            <a:srgbClr val="374151"/>
          </a:solidFill>
          <a:ln/>
        </p:spPr>
      </p:sp>
      <p:sp>
        <p:nvSpPr>
          <p:cNvPr id="8" name="Text 6"/>
          <p:cNvSpPr/>
          <p:nvPr/>
        </p:nvSpPr>
        <p:spPr>
          <a:xfrm>
            <a:off x="457200" y="1234440"/>
            <a:ext cx="2651760" cy="457200"/>
          </a:xfrm>
          <a:prstGeom prst="rect">
            <a:avLst/>
          </a:prstGeom>
          <a:noFill/>
          <a:ln/>
        </p:spPr>
        <p:txBody>
          <a:bodyPr wrap="square" rtlCol="0" anchor="ctr"/>
          <a:lstStyle/>
          <a:p>
            <a:pPr algn="ctr" indent="0" marL="0">
              <a:buNone/>
            </a:pPr>
            <a:r>
              <a:rPr lang="en-US" sz="1800" b="1" dirty="0">
                <a:solidFill>
                  <a:srgbClr val="374151"/>
                </a:solidFill>
                <a:latin typeface="Microsoft YaHei" pitchFamily="34" charset="0"/>
                <a:ea typeface="Microsoft YaHei" pitchFamily="34" charset="-122"/>
                <a:cs typeface="Microsoft YaHei" pitchFamily="34" charset="-120"/>
              </a:rPr>
              <a:t>症状</a:t>
            </a:r>
            <a:endParaRPr lang="en-US" sz="1800" dirty="0"/>
          </a:p>
        </p:txBody>
      </p:sp>
      <p:sp>
        <p:nvSpPr>
          <p:cNvPr id="9" name="Text 7"/>
          <p:cNvSpPr/>
          <p:nvPr/>
        </p:nvSpPr>
        <p:spPr>
          <a:xfrm>
            <a:off x="640080" y="1828800"/>
            <a:ext cx="2286000" cy="2286000"/>
          </a:xfrm>
          <a:prstGeom prst="rect">
            <a:avLst/>
          </a:prstGeom>
          <a:noFill/>
          <a:ln/>
        </p:spPr>
        <p:txBody>
          <a:bodyPr wrap="square" rtlCol="0" anchor="t"/>
          <a:lstStyle/>
          <a:p>
            <a:pPr indent="0" marL="0">
              <a:buNone/>
            </a:pPr>
            <a:r>
              <a:rPr lang="en-US" sz="1400" dirty="0">
                <a:solidFill>
                  <a:srgbClr val="374151"/>
                </a:solidFill>
                <a:latin typeface="Microsoft YaHei" pitchFamily="34" charset="0"/>
                <a:ea typeface="Microsoft YaHei" pitchFamily="34" charset="-122"/>
                <a:cs typeface="Microsoft YaHei" pitchFamily="34" charset="-120"/>
              </a:rPr>
              <a:t>遇到规则没提到的情形，AI编了答案</a:t>
            </a:r>
            <a:endParaRPr lang="en-US" sz="1400" dirty="0"/>
          </a:p>
        </p:txBody>
      </p:sp>
      <p:sp>
        <p:nvSpPr>
          <p:cNvPr id="10" name="Shape 8"/>
          <p:cNvSpPr/>
          <p:nvPr/>
        </p:nvSpPr>
        <p:spPr>
          <a:xfrm>
            <a:off x="3246120" y="1005840"/>
            <a:ext cx="2651760" cy="3291840"/>
          </a:xfrm>
          <a:prstGeom prst="roundRect">
            <a:avLst>
              <a:gd name="adj" fmla="val 3448"/>
            </a:avLst>
          </a:prstGeom>
          <a:solidFill>
            <a:srgbClr val="F3F4F6"/>
          </a:solidFill>
          <a:ln/>
        </p:spPr>
      </p:sp>
      <p:sp>
        <p:nvSpPr>
          <p:cNvPr id="11" name="Shape 9"/>
          <p:cNvSpPr/>
          <p:nvPr/>
        </p:nvSpPr>
        <p:spPr>
          <a:xfrm>
            <a:off x="3246120" y="1005840"/>
            <a:ext cx="2651760" cy="91440"/>
          </a:xfrm>
          <a:prstGeom prst="rect">
            <a:avLst/>
          </a:prstGeom>
          <a:solidFill>
            <a:srgbClr val="B91C1C"/>
          </a:solidFill>
          <a:ln/>
        </p:spPr>
      </p:sp>
      <p:sp>
        <p:nvSpPr>
          <p:cNvPr id="12" name="Text 10"/>
          <p:cNvSpPr/>
          <p:nvPr/>
        </p:nvSpPr>
        <p:spPr>
          <a:xfrm>
            <a:off x="3246120" y="1234440"/>
            <a:ext cx="2651760" cy="457200"/>
          </a:xfrm>
          <a:prstGeom prst="rect">
            <a:avLst/>
          </a:prstGeom>
          <a:noFill/>
          <a:ln/>
        </p:spPr>
        <p:txBody>
          <a:bodyPr wrap="square" rtlCol="0" anchor="ctr"/>
          <a:lstStyle/>
          <a:p>
            <a:pPr algn="ctr" indent="0" marL="0">
              <a:buNone/>
            </a:pPr>
            <a:r>
              <a:rPr lang="en-US" sz="1800" b="1" dirty="0">
                <a:solidFill>
                  <a:srgbClr val="B91C1C"/>
                </a:solidFill>
                <a:latin typeface="Microsoft YaHei" pitchFamily="34" charset="0"/>
                <a:ea typeface="Microsoft YaHei" pitchFamily="34" charset="-122"/>
                <a:cs typeface="Microsoft YaHei" pitchFamily="34" charset="-120"/>
              </a:rPr>
              <a:t>根本原因</a:t>
            </a:r>
            <a:endParaRPr lang="en-US" sz="1800" dirty="0"/>
          </a:p>
        </p:txBody>
      </p:sp>
      <p:sp>
        <p:nvSpPr>
          <p:cNvPr id="13" name="Text 11"/>
          <p:cNvSpPr/>
          <p:nvPr/>
        </p:nvSpPr>
        <p:spPr>
          <a:xfrm>
            <a:off x="3429000" y="1828800"/>
            <a:ext cx="2286000" cy="2286000"/>
          </a:xfrm>
          <a:prstGeom prst="rect">
            <a:avLst/>
          </a:prstGeom>
          <a:noFill/>
          <a:ln/>
        </p:spPr>
        <p:txBody>
          <a:bodyPr wrap="square" rtlCol="0" anchor="t"/>
          <a:lstStyle/>
          <a:p>
            <a:pPr indent="0" marL="0">
              <a:buNone/>
            </a:pPr>
            <a:r>
              <a:rPr lang="en-US" sz="1400" dirty="0">
                <a:solidFill>
                  <a:srgbClr val="374151"/>
                </a:solidFill>
                <a:latin typeface="Microsoft YaHei" pitchFamily="34" charset="0"/>
                <a:ea typeface="Microsoft YaHei" pitchFamily="34" charset="-122"/>
                <a:cs typeface="Microsoft YaHei" pitchFamily="34" charset="-120"/>
              </a:rPr>
              <a:t>兜底规则不够明确</a:t>
            </a:r>
            <a:endParaRPr lang="en-US" sz="1400" dirty="0"/>
          </a:p>
        </p:txBody>
      </p:sp>
      <p:sp>
        <p:nvSpPr>
          <p:cNvPr id="14" name="Shape 12"/>
          <p:cNvSpPr/>
          <p:nvPr/>
        </p:nvSpPr>
        <p:spPr>
          <a:xfrm>
            <a:off x="6035040" y="1005840"/>
            <a:ext cx="2651760" cy="3291840"/>
          </a:xfrm>
          <a:prstGeom prst="roundRect">
            <a:avLst>
              <a:gd name="adj" fmla="val 3448"/>
            </a:avLst>
          </a:prstGeom>
          <a:solidFill>
            <a:srgbClr val="F3F4F6"/>
          </a:solidFill>
          <a:ln/>
        </p:spPr>
      </p:sp>
      <p:sp>
        <p:nvSpPr>
          <p:cNvPr id="15" name="Shape 13"/>
          <p:cNvSpPr/>
          <p:nvPr/>
        </p:nvSpPr>
        <p:spPr>
          <a:xfrm>
            <a:off x="6035040" y="1005840"/>
            <a:ext cx="2651760" cy="91440"/>
          </a:xfrm>
          <a:prstGeom prst="rect">
            <a:avLst/>
          </a:prstGeom>
          <a:solidFill>
            <a:srgbClr val="EF4444"/>
          </a:solidFill>
          <a:ln/>
        </p:spPr>
      </p:sp>
      <p:sp>
        <p:nvSpPr>
          <p:cNvPr id="16" name="Text 14"/>
          <p:cNvSpPr/>
          <p:nvPr/>
        </p:nvSpPr>
        <p:spPr>
          <a:xfrm>
            <a:off x="6035040" y="1234440"/>
            <a:ext cx="2651760" cy="457200"/>
          </a:xfrm>
          <a:prstGeom prst="rect">
            <a:avLst/>
          </a:prstGeom>
          <a:noFill/>
          <a:ln/>
        </p:spPr>
        <p:txBody>
          <a:bodyPr wrap="square" rtlCol="0" anchor="ctr"/>
          <a:lstStyle/>
          <a:p>
            <a:pPr algn="ctr" indent="0" marL="0">
              <a:buNone/>
            </a:pPr>
            <a:r>
              <a:rPr lang="en-US" sz="1800" b="1" dirty="0">
                <a:solidFill>
                  <a:srgbClr val="EF4444"/>
                </a:solidFill>
                <a:latin typeface="Microsoft YaHei" pitchFamily="34" charset="0"/>
                <a:ea typeface="Microsoft YaHei" pitchFamily="34" charset="-122"/>
                <a:cs typeface="Microsoft YaHei" pitchFamily="34" charset="-120"/>
              </a:rPr>
              <a:t>解法</a:t>
            </a:r>
            <a:endParaRPr lang="en-US" sz="1800" dirty="0"/>
          </a:p>
        </p:txBody>
      </p:sp>
      <p:sp>
        <p:nvSpPr>
          <p:cNvPr id="17" name="Text 15"/>
          <p:cNvSpPr/>
          <p:nvPr/>
        </p:nvSpPr>
        <p:spPr>
          <a:xfrm>
            <a:off x="6217920" y="1828800"/>
            <a:ext cx="2286000" cy="2286000"/>
          </a:xfrm>
          <a:prstGeom prst="rect">
            <a:avLst/>
          </a:prstGeom>
          <a:noFill/>
          <a:ln/>
        </p:spPr>
        <p:txBody>
          <a:bodyPr wrap="square" rtlCol="0" anchor="t"/>
          <a:lstStyle/>
          <a:p>
            <a:pPr indent="0" marL="0">
              <a:buNone/>
            </a:pPr>
            <a:r>
              <a:rPr lang="en-US" sz="1400" dirty="0">
                <a:solidFill>
                  <a:srgbClr val="374151"/>
                </a:solidFill>
                <a:latin typeface="Microsoft YaHei" pitchFamily="34" charset="0"/>
                <a:ea typeface="Microsoft YaHei" pitchFamily="34" charset="-122"/>
                <a:cs typeface="Microsoft YaHei" pitchFamily="34" charset="-120"/>
              </a:rPr>
              <a:t>重写为「必须强制输出⚠️需要人工审核」</a:t>
            </a:r>
            <a:endParaRPr lang="en-US" sz="1400" dirty="0"/>
          </a:p>
        </p:txBody>
      </p:sp>
      <p:sp>
        <p:nvSpPr>
          <p:cNvPr id="18" name="Shape 16"/>
          <p:cNvSpPr/>
          <p:nvPr/>
        </p:nvSpPr>
        <p:spPr>
          <a:xfrm>
            <a:off x="8503920" y="4663440"/>
            <a:ext cx="365760" cy="365760"/>
          </a:xfrm>
          <a:prstGeom prst="ellipse">
            <a:avLst/>
          </a:prstGeom>
          <a:solidFill>
            <a:srgbClr val="EF4444"/>
          </a:solidFill>
          <a:ln/>
        </p:spPr>
      </p:sp>
      <p:sp>
        <p:nvSpPr>
          <p:cNvPr id="19" name="Text 17"/>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63</a:t>
            </a:r>
            <a:endParaRPr lang="en-US" sz="12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Shape 1"/>
          <p:cNvSpPr/>
          <p:nvPr/>
        </p:nvSpPr>
        <p:spPr>
          <a:xfrm>
            <a:off x="457200" y="274320"/>
            <a:ext cx="1645920" cy="457200"/>
          </a:xfrm>
          <a:prstGeom prst="roundRect">
            <a:avLst>
              <a:gd name="adj" fmla="val 16000"/>
            </a:avLst>
          </a:prstGeom>
          <a:solidFill>
            <a:srgbClr val="EF4444"/>
          </a:solidFill>
          <a:ln/>
        </p:spPr>
      </p:sp>
      <p:sp>
        <p:nvSpPr>
          <p:cNvPr id="4" name="Text 2"/>
          <p:cNvSpPr/>
          <p:nvPr/>
        </p:nvSpPr>
        <p:spPr>
          <a:xfrm>
            <a:off x="457200" y="274320"/>
            <a:ext cx="1645920" cy="457200"/>
          </a:xfrm>
          <a:prstGeom prst="rect">
            <a:avLst/>
          </a:prstGeom>
          <a:noFill/>
          <a:ln/>
        </p:spPr>
        <p:txBody>
          <a:bodyPr wrap="square" rtlCol="0" anchor="ctr"/>
          <a:lstStyle/>
          <a:p>
            <a:pPr algn="ctr" indent="0" marL="0">
              <a:buNone/>
            </a:pPr>
            <a:r>
              <a:rPr lang="en-US" sz="1600" b="1" dirty="0">
                <a:solidFill>
                  <a:srgbClr val="FFFFFF"/>
                </a:solidFill>
                <a:latin typeface="Microsoft YaHei" pitchFamily="34" charset="0"/>
                <a:ea typeface="Microsoft YaHei" pitchFamily="34" charset="-122"/>
                <a:cs typeface="Microsoft YaHei" pitchFamily="34" charset="-120"/>
              </a:rPr>
              <a:t>问题 04</a:t>
            </a:r>
            <a:endParaRPr lang="en-US" sz="1600" dirty="0"/>
          </a:p>
        </p:txBody>
      </p:sp>
      <p:sp>
        <p:nvSpPr>
          <p:cNvPr id="5" name="Text 3"/>
          <p:cNvSpPr/>
          <p:nvPr/>
        </p:nvSpPr>
        <p:spPr>
          <a:xfrm>
            <a:off x="2286000" y="274320"/>
            <a:ext cx="4572000" cy="457200"/>
          </a:xfrm>
          <a:prstGeom prst="rect">
            <a:avLst/>
          </a:prstGeom>
          <a:noFill/>
          <a:ln/>
        </p:spPr>
        <p:txBody>
          <a:bodyPr wrap="square" rtlCol="0" anchor="ctr"/>
          <a:lstStyle/>
          <a:p>
            <a:pPr indent="0" marL="0">
              <a:buNone/>
            </a:pPr>
            <a:r>
              <a:rPr lang="en-US" sz="2800" b="1" dirty="0">
                <a:solidFill>
                  <a:srgbClr val="B91C1C"/>
                </a:solidFill>
                <a:latin typeface="Microsoft YaHei" pitchFamily="34" charset="0"/>
                <a:ea typeface="Microsoft YaHei" pitchFamily="34" charset="-122"/>
                <a:cs typeface="Microsoft YaHei" pitchFamily="34" charset="-120"/>
              </a:rPr>
              <a:t>稳定性问题</a:t>
            </a:r>
            <a:endParaRPr lang="en-US" sz="2800" dirty="0"/>
          </a:p>
        </p:txBody>
      </p:sp>
      <p:sp>
        <p:nvSpPr>
          <p:cNvPr id="6" name="Shape 4"/>
          <p:cNvSpPr/>
          <p:nvPr/>
        </p:nvSpPr>
        <p:spPr>
          <a:xfrm>
            <a:off x="457200" y="1005840"/>
            <a:ext cx="2651760" cy="3291840"/>
          </a:xfrm>
          <a:prstGeom prst="roundRect">
            <a:avLst>
              <a:gd name="adj" fmla="val 3448"/>
            </a:avLst>
          </a:prstGeom>
          <a:solidFill>
            <a:srgbClr val="F3F4F6"/>
          </a:solidFill>
          <a:ln/>
        </p:spPr>
      </p:sp>
      <p:sp>
        <p:nvSpPr>
          <p:cNvPr id="7" name="Shape 5"/>
          <p:cNvSpPr/>
          <p:nvPr/>
        </p:nvSpPr>
        <p:spPr>
          <a:xfrm>
            <a:off x="457200" y="1005840"/>
            <a:ext cx="2651760" cy="91440"/>
          </a:xfrm>
          <a:prstGeom prst="rect">
            <a:avLst/>
          </a:prstGeom>
          <a:solidFill>
            <a:srgbClr val="374151"/>
          </a:solidFill>
          <a:ln/>
        </p:spPr>
      </p:sp>
      <p:sp>
        <p:nvSpPr>
          <p:cNvPr id="8" name="Text 6"/>
          <p:cNvSpPr/>
          <p:nvPr/>
        </p:nvSpPr>
        <p:spPr>
          <a:xfrm>
            <a:off x="457200" y="1234440"/>
            <a:ext cx="2651760" cy="457200"/>
          </a:xfrm>
          <a:prstGeom prst="rect">
            <a:avLst/>
          </a:prstGeom>
          <a:noFill/>
          <a:ln/>
        </p:spPr>
        <p:txBody>
          <a:bodyPr wrap="square" rtlCol="0" anchor="ctr"/>
          <a:lstStyle/>
          <a:p>
            <a:pPr algn="ctr" indent="0" marL="0">
              <a:buNone/>
            </a:pPr>
            <a:r>
              <a:rPr lang="en-US" sz="1800" b="1" dirty="0">
                <a:solidFill>
                  <a:srgbClr val="374151"/>
                </a:solidFill>
                <a:latin typeface="Microsoft YaHei" pitchFamily="34" charset="0"/>
                <a:ea typeface="Microsoft YaHei" pitchFamily="34" charset="-122"/>
                <a:cs typeface="Microsoft YaHei" pitchFamily="34" charset="-120"/>
              </a:rPr>
              <a:t>症状</a:t>
            </a:r>
            <a:endParaRPr lang="en-US" sz="1800" dirty="0"/>
          </a:p>
        </p:txBody>
      </p:sp>
      <p:sp>
        <p:nvSpPr>
          <p:cNvPr id="9" name="Text 7"/>
          <p:cNvSpPr/>
          <p:nvPr/>
        </p:nvSpPr>
        <p:spPr>
          <a:xfrm>
            <a:off x="640080" y="1828800"/>
            <a:ext cx="2286000" cy="2286000"/>
          </a:xfrm>
          <a:prstGeom prst="rect">
            <a:avLst/>
          </a:prstGeom>
          <a:noFill/>
          <a:ln/>
        </p:spPr>
        <p:txBody>
          <a:bodyPr wrap="square" rtlCol="0" anchor="t"/>
          <a:lstStyle/>
          <a:p>
            <a:pPr indent="0" marL="0">
              <a:buNone/>
            </a:pPr>
            <a:r>
              <a:rPr lang="en-US" sz="1400" dirty="0">
                <a:solidFill>
                  <a:srgbClr val="374151"/>
                </a:solidFill>
                <a:latin typeface="Microsoft YaHei" pitchFamily="34" charset="0"/>
                <a:ea typeface="Microsoft YaHei" pitchFamily="34" charset="-122"/>
                <a:cs typeface="Microsoft YaHei" pitchFamily="34" charset="-120"/>
              </a:rPr>
              <a:t>同样的输入，给两次，输出不一样</a:t>
            </a:r>
            <a:endParaRPr lang="en-US" sz="1400" dirty="0"/>
          </a:p>
        </p:txBody>
      </p:sp>
      <p:sp>
        <p:nvSpPr>
          <p:cNvPr id="10" name="Shape 8"/>
          <p:cNvSpPr/>
          <p:nvPr/>
        </p:nvSpPr>
        <p:spPr>
          <a:xfrm>
            <a:off x="3246120" y="1005840"/>
            <a:ext cx="2651760" cy="3291840"/>
          </a:xfrm>
          <a:prstGeom prst="roundRect">
            <a:avLst>
              <a:gd name="adj" fmla="val 3448"/>
            </a:avLst>
          </a:prstGeom>
          <a:solidFill>
            <a:srgbClr val="F3F4F6"/>
          </a:solidFill>
          <a:ln/>
        </p:spPr>
      </p:sp>
      <p:sp>
        <p:nvSpPr>
          <p:cNvPr id="11" name="Shape 9"/>
          <p:cNvSpPr/>
          <p:nvPr/>
        </p:nvSpPr>
        <p:spPr>
          <a:xfrm>
            <a:off x="3246120" y="1005840"/>
            <a:ext cx="2651760" cy="91440"/>
          </a:xfrm>
          <a:prstGeom prst="rect">
            <a:avLst/>
          </a:prstGeom>
          <a:solidFill>
            <a:srgbClr val="B91C1C"/>
          </a:solidFill>
          <a:ln/>
        </p:spPr>
      </p:sp>
      <p:sp>
        <p:nvSpPr>
          <p:cNvPr id="12" name="Text 10"/>
          <p:cNvSpPr/>
          <p:nvPr/>
        </p:nvSpPr>
        <p:spPr>
          <a:xfrm>
            <a:off x="3246120" y="1234440"/>
            <a:ext cx="2651760" cy="457200"/>
          </a:xfrm>
          <a:prstGeom prst="rect">
            <a:avLst/>
          </a:prstGeom>
          <a:noFill/>
          <a:ln/>
        </p:spPr>
        <p:txBody>
          <a:bodyPr wrap="square" rtlCol="0" anchor="ctr"/>
          <a:lstStyle/>
          <a:p>
            <a:pPr algn="ctr" indent="0" marL="0">
              <a:buNone/>
            </a:pPr>
            <a:r>
              <a:rPr lang="en-US" sz="1800" b="1" dirty="0">
                <a:solidFill>
                  <a:srgbClr val="B91C1C"/>
                </a:solidFill>
                <a:latin typeface="Microsoft YaHei" pitchFamily="34" charset="0"/>
                <a:ea typeface="Microsoft YaHei" pitchFamily="34" charset="-122"/>
                <a:cs typeface="Microsoft YaHei" pitchFamily="34" charset="-120"/>
              </a:rPr>
              <a:t>根本原因</a:t>
            </a:r>
            <a:endParaRPr lang="en-US" sz="1800" dirty="0"/>
          </a:p>
        </p:txBody>
      </p:sp>
      <p:sp>
        <p:nvSpPr>
          <p:cNvPr id="13" name="Text 11"/>
          <p:cNvSpPr/>
          <p:nvPr/>
        </p:nvSpPr>
        <p:spPr>
          <a:xfrm>
            <a:off x="3429000" y="1828800"/>
            <a:ext cx="2286000" cy="2286000"/>
          </a:xfrm>
          <a:prstGeom prst="rect">
            <a:avLst/>
          </a:prstGeom>
          <a:noFill/>
          <a:ln/>
        </p:spPr>
        <p:txBody>
          <a:bodyPr wrap="square" rtlCol="0" anchor="t"/>
          <a:lstStyle/>
          <a:p>
            <a:pPr indent="0" marL="0">
              <a:buNone/>
            </a:pPr>
            <a:r>
              <a:rPr lang="en-US" sz="1400" dirty="0">
                <a:solidFill>
                  <a:srgbClr val="374151"/>
                </a:solidFill>
                <a:latin typeface="Microsoft YaHei" pitchFamily="34" charset="0"/>
                <a:ea typeface="Microsoft YaHei" pitchFamily="34" charset="-122"/>
                <a:cs typeface="Microsoft YaHei" pitchFamily="34" charset="-120"/>
              </a:rPr>
              <a:t>规则对边界情形的覆盖不够</a:t>
            </a:r>
            <a:endParaRPr lang="en-US" sz="1400" dirty="0"/>
          </a:p>
        </p:txBody>
      </p:sp>
      <p:sp>
        <p:nvSpPr>
          <p:cNvPr id="14" name="Shape 12"/>
          <p:cNvSpPr/>
          <p:nvPr/>
        </p:nvSpPr>
        <p:spPr>
          <a:xfrm>
            <a:off x="6035040" y="1005840"/>
            <a:ext cx="2651760" cy="3291840"/>
          </a:xfrm>
          <a:prstGeom prst="roundRect">
            <a:avLst>
              <a:gd name="adj" fmla="val 3448"/>
            </a:avLst>
          </a:prstGeom>
          <a:solidFill>
            <a:srgbClr val="F3F4F6"/>
          </a:solidFill>
          <a:ln/>
        </p:spPr>
      </p:sp>
      <p:sp>
        <p:nvSpPr>
          <p:cNvPr id="15" name="Shape 13"/>
          <p:cNvSpPr/>
          <p:nvPr/>
        </p:nvSpPr>
        <p:spPr>
          <a:xfrm>
            <a:off x="6035040" y="1005840"/>
            <a:ext cx="2651760" cy="91440"/>
          </a:xfrm>
          <a:prstGeom prst="rect">
            <a:avLst/>
          </a:prstGeom>
          <a:solidFill>
            <a:srgbClr val="EF4444"/>
          </a:solidFill>
          <a:ln/>
        </p:spPr>
      </p:sp>
      <p:sp>
        <p:nvSpPr>
          <p:cNvPr id="16" name="Text 14"/>
          <p:cNvSpPr/>
          <p:nvPr/>
        </p:nvSpPr>
        <p:spPr>
          <a:xfrm>
            <a:off x="6035040" y="1234440"/>
            <a:ext cx="2651760" cy="457200"/>
          </a:xfrm>
          <a:prstGeom prst="rect">
            <a:avLst/>
          </a:prstGeom>
          <a:noFill/>
          <a:ln/>
        </p:spPr>
        <p:txBody>
          <a:bodyPr wrap="square" rtlCol="0" anchor="ctr"/>
          <a:lstStyle/>
          <a:p>
            <a:pPr algn="ctr" indent="0" marL="0">
              <a:buNone/>
            </a:pPr>
            <a:r>
              <a:rPr lang="en-US" sz="1800" b="1" dirty="0">
                <a:solidFill>
                  <a:srgbClr val="EF4444"/>
                </a:solidFill>
                <a:latin typeface="Microsoft YaHei" pitchFamily="34" charset="0"/>
                <a:ea typeface="Microsoft YaHei" pitchFamily="34" charset="-122"/>
                <a:cs typeface="Microsoft YaHei" pitchFamily="34" charset="-120"/>
              </a:rPr>
              <a:t>解法</a:t>
            </a:r>
            <a:endParaRPr lang="en-US" sz="1800" dirty="0"/>
          </a:p>
        </p:txBody>
      </p:sp>
      <p:sp>
        <p:nvSpPr>
          <p:cNvPr id="17" name="Text 15"/>
          <p:cNvSpPr/>
          <p:nvPr/>
        </p:nvSpPr>
        <p:spPr>
          <a:xfrm>
            <a:off x="6217920" y="1828800"/>
            <a:ext cx="2286000" cy="2286000"/>
          </a:xfrm>
          <a:prstGeom prst="rect">
            <a:avLst/>
          </a:prstGeom>
          <a:noFill/>
          <a:ln/>
        </p:spPr>
        <p:txBody>
          <a:bodyPr wrap="square" rtlCol="0" anchor="t"/>
          <a:lstStyle/>
          <a:p>
            <a:pPr indent="0" marL="0">
              <a:buNone/>
            </a:pPr>
            <a:r>
              <a:rPr lang="en-US" sz="1400" dirty="0">
                <a:solidFill>
                  <a:srgbClr val="374151"/>
                </a:solidFill>
                <a:latin typeface="Microsoft YaHei" pitchFamily="34" charset="0"/>
                <a:ea typeface="Microsoft YaHei" pitchFamily="34" charset="-122"/>
                <a:cs typeface="Microsoft YaHei" pitchFamily="34" charset="-120"/>
              </a:rPr>
              <a:t>识别稳定性差的触发点，写得更精确</a:t>
            </a:r>
            <a:endParaRPr lang="en-US" sz="1400" dirty="0"/>
          </a:p>
        </p:txBody>
      </p:sp>
      <p:sp>
        <p:nvSpPr>
          <p:cNvPr id="18" name="Shape 16"/>
          <p:cNvSpPr/>
          <p:nvPr/>
        </p:nvSpPr>
        <p:spPr>
          <a:xfrm>
            <a:off x="8503920" y="4663440"/>
            <a:ext cx="365760" cy="365760"/>
          </a:xfrm>
          <a:prstGeom prst="ellipse">
            <a:avLst/>
          </a:prstGeom>
          <a:solidFill>
            <a:srgbClr val="EF4444"/>
          </a:solidFill>
          <a:ln/>
        </p:spPr>
      </p:sp>
      <p:sp>
        <p:nvSpPr>
          <p:cNvPr id="19" name="Text 17"/>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64</a:t>
            </a:r>
            <a:endParaRPr lang="en-US" sz="12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Shape 1"/>
          <p:cNvSpPr/>
          <p:nvPr/>
        </p:nvSpPr>
        <p:spPr>
          <a:xfrm>
            <a:off x="457200" y="274320"/>
            <a:ext cx="1645920" cy="457200"/>
          </a:xfrm>
          <a:prstGeom prst="roundRect">
            <a:avLst>
              <a:gd name="adj" fmla="val 16000"/>
            </a:avLst>
          </a:prstGeom>
          <a:solidFill>
            <a:srgbClr val="EF4444"/>
          </a:solidFill>
          <a:ln/>
        </p:spPr>
      </p:sp>
      <p:sp>
        <p:nvSpPr>
          <p:cNvPr id="4" name="Text 2"/>
          <p:cNvSpPr/>
          <p:nvPr/>
        </p:nvSpPr>
        <p:spPr>
          <a:xfrm>
            <a:off x="457200" y="274320"/>
            <a:ext cx="1645920" cy="457200"/>
          </a:xfrm>
          <a:prstGeom prst="rect">
            <a:avLst/>
          </a:prstGeom>
          <a:noFill/>
          <a:ln/>
        </p:spPr>
        <p:txBody>
          <a:bodyPr wrap="square" rtlCol="0" anchor="ctr"/>
          <a:lstStyle/>
          <a:p>
            <a:pPr algn="ctr" indent="0" marL="0">
              <a:buNone/>
            </a:pPr>
            <a:r>
              <a:rPr lang="en-US" sz="1600" b="1" dirty="0">
                <a:solidFill>
                  <a:srgbClr val="FFFFFF"/>
                </a:solidFill>
                <a:latin typeface="Microsoft YaHei" pitchFamily="34" charset="0"/>
                <a:ea typeface="Microsoft YaHei" pitchFamily="34" charset="-122"/>
                <a:cs typeface="Microsoft YaHei" pitchFamily="34" charset="-120"/>
              </a:rPr>
              <a:t>问题 05</a:t>
            </a:r>
            <a:endParaRPr lang="en-US" sz="1600" dirty="0"/>
          </a:p>
        </p:txBody>
      </p:sp>
      <p:sp>
        <p:nvSpPr>
          <p:cNvPr id="5" name="Text 3"/>
          <p:cNvSpPr/>
          <p:nvPr/>
        </p:nvSpPr>
        <p:spPr>
          <a:xfrm>
            <a:off x="2286000" y="274320"/>
            <a:ext cx="4572000" cy="457200"/>
          </a:xfrm>
          <a:prstGeom prst="rect">
            <a:avLst/>
          </a:prstGeom>
          <a:noFill/>
          <a:ln/>
        </p:spPr>
        <p:txBody>
          <a:bodyPr wrap="square" rtlCol="0" anchor="ctr"/>
          <a:lstStyle/>
          <a:p>
            <a:pPr indent="0" marL="0">
              <a:buNone/>
            </a:pPr>
            <a:r>
              <a:rPr lang="en-US" sz="2800" b="1" dirty="0">
                <a:solidFill>
                  <a:srgbClr val="B91C1C"/>
                </a:solidFill>
                <a:latin typeface="Microsoft YaHei" pitchFamily="34" charset="0"/>
                <a:ea typeface="Microsoft YaHei" pitchFamily="34" charset="-122"/>
                <a:cs typeface="Microsoft YaHei" pitchFamily="34" charset="-120"/>
              </a:rPr>
              <a:t>知识库缺口</a:t>
            </a:r>
            <a:endParaRPr lang="en-US" sz="2800" dirty="0"/>
          </a:p>
        </p:txBody>
      </p:sp>
      <p:sp>
        <p:nvSpPr>
          <p:cNvPr id="6" name="Shape 4"/>
          <p:cNvSpPr/>
          <p:nvPr/>
        </p:nvSpPr>
        <p:spPr>
          <a:xfrm>
            <a:off x="457200" y="1005840"/>
            <a:ext cx="2651760" cy="3291840"/>
          </a:xfrm>
          <a:prstGeom prst="roundRect">
            <a:avLst>
              <a:gd name="adj" fmla="val 3448"/>
            </a:avLst>
          </a:prstGeom>
          <a:solidFill>
            <a:srgbClr val="F3F4F6"/>
          </a:solidFill>
          <a:ln/>
        </p:spPr>
      </p:sp>
      <p:sp>
        <p:nvSpPr>
          <p:cNvPr id="7" name="Shape 5"/>
          <p:cNvSpPr/>
          <p:nvPr/>
        </p:nvSpPr>
        <p:spPr>
          <a:xfrm>
            <a:off x="457200" y="1005840"/>
            <a:ext cx="2651760" cy="91440"/>
          </a:xfrm>
          <a:prstGeom prst="rect">
            <a:avLst/>
          </a:prstGeom>
          <a:solidFill>
            <a:srgbClr val="374151"/>
          </a:solidFill>
          <a:ln/>
        </p:spPr>
      </p:sp>
      <p:sp>
        <p:nvSpPr>
          <p:cNvPr id="8" name="Text 6"/>
          <p:cNvSpPr/>
          <p:nvPr/>
        </p:nvSpPr>
        <p:spPr>
          <a:xfrm>
            <a:off x="457200" y="1234440"/>
            <a:ext cx="2651760" cy="457200"/>
          </a:xfrm>
          <a:prstGeom prst="rect">
            <a:avLst/>
          </a:prstGeom>
          <a:noFill/>
          <a:ln/>
        </p:spPr>
        <p:txBody>
          <a:bodyPr wrap="square" rtlCol="0" anchor="ctr"/>
          <a:lstStyle/>
          <a:p>
            <a:pPr algn="ctr" indent="0" marL="0">
              <a:buNone/>
            </a:pPr>
            <a:r>
              <a:rPr lang="en-US" sz="1800" b="1" dirty="0">
                <a:solidFill>
                  <a:srgbClr val="374151"/>
                </a:solidFill>
                <a:latin typeface="Microsoft YaHei" pitchFamily="34" charset="0"/>
                <a:ea typeface="Microsoft YaHei" pitchFamily="34" charset="-122"/>
                <a:cs typeface="Microsoft YaHei" pitchFamily="34" charset="-120"/>
              </a:rPr>
              <a:t>症状</a:t>
            </a:r>
            <a:endParaRPr lang="en-US" sz="1800" dirty="0"/>
          </a:p>
        </p:txBody>
      </p:sp>
      <p:sp>
        <p:nvSpPr>
          <p:cNvPr id="9" name="Text 7"/>
          <p:cNvSpPr/>
          <p:nvPr/>
        </p:nvSpPr>
        <p:spPr>
          <a:xfrm>
            <a:off x="640080" y="1828800"/>
            <a:ext cx="2286000" cy="2286000"/>
          </a:xfrm>
          <a:prstGeom prst="rect">
            <a:avLst/>
          </a:prstGeom>
          <a:noFill/>
          <a:ln/>
        </p:spPr>
        <p:txBody>
          <a:bodyPr wrap="square" rtlCol="0" anchor="t"/>
          <a:lstStyle/>
          <a:p>
            <a:pPr indent="0" marL="0">
              <a:buNone/>
            </a:pPr>
            <a:r>
              <a:rPr lang="en-US" sz="1400" dirty="0">
                <a:solidFill>
                  <a:srgbClr val="374151"/>
                </a:solidFill>
                <a:latin typeface="Microsoft YaHei" pitchFamily="34" charset="0"/>
                <a:ea typeface="Microsoft YaHei" pitchFamily="34" charset="-122"/>
                <a:cs typeface="Microsoft YaHei" pitchFamily="34" charset="-120"/>
              </a:rPr>
              <a:t>格式正确、规则正确，但建议内容「感觉是AI胡说的」</a:t>
            </a:r>
            <a:endParaRPr lang="en-US" sz="1400" dirty="0"/>
          </a:p>
        </p:txBody>
      </p:sp>
      <p:sp>
        <p:nvSpPr>
          <p:cNvPr id="10" name="Shape 8"/>
          <p:cNvSpPr/>
          <p:nvPr/>
        </p:nvSpPr>
        <p:spPr>
          <a:xfrm>
            <a:off x="3246120" y="1005840"/>
            <a:ext cx="2651760" cy="3291840"/>
          </a:xfrm>
          <a:prstGeom prst="roundRect">
            <a:avLst>
              <a:gd name="adj" fmla="val 3448"/>
            </a:avLst>
          </a:prstGeom>
          <a:solidFill>
            <a:srgbClr val="F3F4F6"/>
          </a:solidFill>
          <a:ln/>
        </p:spPr>
      </p:sp>
      <p:sp>
        <p:nvSpPr>
          <p:cNvPr id="11" name="Shape 9"/>
          <p:cNvSpPr/>
          <p:nvPr/>
        </p:nvSpPr>
        <p:spPr>
          <a:xfrm>
            <a:off x="3246120" y="1005840"/>
            <a:ext cx="2651760" cy="91440"/>
          </a:xfrm>
          <a:prstGeom prst="rect">
            <a:avLst/>
          </a:prstGeom>
          <a:solidFill>
            <a:srgbClr val="B91C1C"/>
          </a:solidFill>
          <a:ln/>
        </p:spPr>
      </p:sp>
      <p:sp>
        <p:nvSpPr>
          <p:cNvPr id="12" name="Text 10"/>
          <p:cNvSpPr/>
          <p:nvPr/>
        </p:nvSpPr>
        <p:spPr>
          <a:xfrm>
            <a:off x="3246120" y="1234440"/>
            <a:ext cx="2651760" cy="457200"/>
          </a:xfrm>
          <a:prstGeom prst="rect">
            <a:avLst/>
          </a:prstGeom>
          <a:noFill/>
          <a:ln/>
        </p:spPr>
        <p:txBody>
          <a:bodyPr wrap="square" rtlCol="0" anchor="ctr"/>
          <a:lstStyle/>
          <a:p>
            <a:pPr algn="ctr" indent="0" marL="0">
              <a:buNone/>
            </a:pPr>
            <a:r>
              <a:rPr lang="en-US" sz="1800" b="1" dirty="0">
                <a:solidFill>
                  <a:srgbClr val="B91C1C"/>
                </a:solidFill>
                <a:latin typeface="Microsoft YaHei" pitchFamily="34" charset="0"/>
                <a:ea typeface="Microsoft YaHei" pitchFamily="34" charset="-122"/>
                <a:cs typeface="Microsoft YaHei" pitchFamily="34" charset="-120"/>
              </a:rPr>
              <a:t>根本原因</a:t>
            </a:r>
            <a:endParaRPr lang="en-US" sz="1800" dirty="0"/>
          </a:p>
        </p:txBody>
      </p:sp>
      <p:sp>
        <p:nvSpPr>
          <p:cNvPr id="13" name="Text 11"/>
          <p:cNvSpPr/>
          <p:nvPr/>
        </p:nvSpPr>
        <p:spPr>
          <a:xfrm>
            <a:off x="3429000" y="1828800"/>
            <a:ext cx="2286000" cy="2286000"/>
          </a:xfrm>
          <a:prstGeom prst="rect">
            <a:avLst/>
          </a:prstGeom>
          <a:noFill/>
          <a:ln/>
        </p:spPr>
        <p:txBody>
          <a:bodyPr wrap="square" rtlCol="0" anchor="t"/>
          <a:lstStyle/>
          <a:p>
            <a:pPr indent="0" marL="0">
              <a:buNone/>
            </a:pPr>
            <a:r>
              <a:rPr lang="en-US" sz="1400" dirty="0">
                <a:solidFill>
                  <a:srgbClr val="374151"/>
                </a:solidFill>
                <a:latin typeface="Microsoft YaHei" pitchFamily="34" charset="0"/>
                <a:ea typeface="Microsoft YaHei" pitchFamily="34" charset="-122"/>
                <a:cs typeface="Microsoft YaHei" pitchFamily="34" charset="-120"/>
              </a:rPr>
              <a:t>知识库里缺少支撑这个判断的具体内容</a:t>
            </a:r>
            <a:endParaRPr lang="en-US" sz="1400" dirty="0"/>
          </a:p>
        </p:txBody>
      </p:sp>
      <p:sp>
        <p:nvSpPr>
          <p:cNvPr id="14" name="Shape 12"/>
          <p:cNvSpPr/>
          <p:nvPr/>
        </p:nvSpPr>
        <p:spPr>
          <a:xfrm>
            <a:off x="6035040" y="1005840"/>
            <a:ext cx="2651760" cy="3291840"/>
          </a:xfrm>
          <a:prstGeom prst="roundRect">
            <a:avLst>
              <a:gd name="adj" fmla="val 3448"/>
            </a:avLst>
          </a:prstGeom>
          <a:solidFill>
            <a:srgbClr val="F3F4F6"/>
          </a:solidFill>
          <a:ln/>
        </p:spPr>
      </p:sp>
      <p:sp>
        <p:nvSpPr>
          <p:cNvPr id="15" name="Shape 13"/>
          <p:cNvSpPr/>
          <p:nvPr/>
        </p:nvSpPr>
        <p:spPr>
          <a:xfrm>
            <a:off x="6035040" y="1005840"/>
            <a:ext cx="2651760" cy="91440"/>
          </a:xfrm>
          <a:prstGeom prst="rect">
            <a:avLst/>
          </a:prstGeom>
          <a:solidFill>
            <a:srgbClr val="EF4444"/>
          </a:solidFill>
          <a:ln/>
        </p:spPr>
      </p:sp>
      <p:sp>
        <p:nvSpPr>
          <p:cNvPr id="16" name="Text 14"/>
          <p:cNvSpPr/>
          <p:nvPr/>
        </p:nvSpPr>
        <p:spPr>
          <a:xfrm>
            <a:off x="6035040" y="1234440"/>
            <a:ext cx="2651760" cy="457200"/>
          </a:xfrm>
          <a:prstGeom prst="rect">
            <a:avLst/>
          </a:prstGeom>
          <a:noFill/>
          <a:ln/>
        </p:spPr>
        <p:txBody>
          <a:bodyPr wrap="square" rtlCol="0" anchor="ctr"/>
          <a:lstStyle/>
          <a:p>
            <a:pPr algn="ctr" indent="0" marL="0">
              <a:buNone/>
            </a:pPr>
            <a:r>
              <a:rPr lang="en-US" sz="1800" b="1" dirty="0">
                <a:solidFill>
                  <a:srgbClr val="EF4444"/>
                </a:solidFill>
                <a:latin typeface="Microsoft YaHei" pitchFamily="34" charset="0"/>
                <a:ea typeface="Microsoft YaHei" pitchFamily="34" charset="-122"/>
                <a:cs typeface="Microsoft YaHei" pitchFamily="34" charset="-120"/>
              </a:rPr>
              <a:t>解法</a:t>
            </a:r>
            <a:endParaRPr lang="en-US" sz="1800" dirty="0"/>
          </a:p>
        </p:txBody>
      </p:sp>
      <p:sp>
        <p:nvSpPr>
          <p:cNvPr id="17" name="Text 15"/>
          <p:cNvSpPr/>
          <p:nvPr/>
        </p:nvSpPr>
        <p:spPr>
          <a:xfrm>
            <a:off x="6217920" y="1828800"/>
            <a:ext cx="2286000" cy="2286000"/>
          </a:xfrm>
          <a:prstGeom prst="rect">
            <a:avLst/>
          </a:prstGeom>
          <a:noFill/>
          <a:ln/>
        </p:spPr>
        <p:txBody>
          <a:bodyPr wrap="square" rtlCol="0" anchor="t"/>
          <a:lstStyle/>
          <a:p>
            <a:pPr indent="0" marL="0">
              <a:buNone/>
            </a:pPr>
            <a:r>
              <a:rPr lang="en-US" sz="1400" dirty="0">
                <a:solidFill>
                  <a:srgbClr val="374151"/>
                </a:solidFill>
                <a:latin typeface="Microsoft YaHei" pitchFamily="34" charset="0"/>
                <a:ea typeface="Microsoft YaHei" pitchFamily="34" charset="-122"/>
                <a:cs typeface="Microsoft YaHei" pitchFamily="34" charset="-120"/>
              </a:rPr>
              <a:t>识别AI凭空发挥的信息点，补充对应知识库内容</a:t>
            </a:r>
            <a:endParaRPr lang="en-US" sz="1400" dirty="0"/>
          </a:p>
        </p:txBody>
      </p:sp>
      <p:sp>
        <p:nvSpPr>
          <p:cNvPr id="18" name="Shape 16"/>
          <p:cNvSpPr/>
          <p:nvPr/>
        </p:nvSpPr>
        <p:spPr>
          <a:xfrm>
            <a:off x="8503920" y="4663440"/>
            <a:ext cx="365760" cy="365760"/>
          </a:xfrm>
          <a:prstGeom prst="ellipse">
            <a:avLst/>
          </a:prstGeom>
          <a:solidFill>
            <a:srgbClr val="EF4444"/>
          </a:solidFill>
          <a:ln/>
        </p:spPr>
      </p:sp>
      <p:sp>
        <p:nvSpPr>
          <p:cNvPr id="19" name="Text 17"/>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65</a:t>
            </a:r>
            <a:endParaRPr lang="en-US" sz="12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274320"/>
            <a:ext cx="8229600" cy="548640"/>
          </a:xfrm>
          <a:prstGeom prst="rect">
            <a:avLst/>
          </a:prstGeom>
          <a:noFill/>
          <a:ln/>
        </p:spPr>
        <p:txBody>
          <a:bodyPr wrap="square" rtlCol="0" anchor="ctr"/>
          <a:lstStyle/>
          <a:p>
            <a:pPr indent="0" marL="0">
              <a:buNone/>
            </a:pPr>
            <a:r>
              <a:rPr lang="en-US" sz="3200" b="1" dirty="0">
                <a:solidFill>
                  <a:srgbClr val="B91C1C"/>
                </a:solidFill>
                <a:latin typeface="Microsoft YaHei" pitchFamily="34" charset="0"/>
                <a:ea typeface="Microsoft YaHei" pitchFamily="34" charset="-122"/>
                <a:cs typeface="Microsoft YaHei" pitchFamily="34" charset="-120"/>
              </a:rPr>
              <a:t>Skill成熟度的三个阶段</a:t>
            </a:r>
            <a:endParaRPr lang="en-US" sz="3200" dirty="0"/>
          </a:p>
        </p:txBody>
      </p:sp>
      <p:sp>
        <p:nvSpPr>
          <p:cNvPr id="4" name="Shape 2"/>
          <p:cNvSpPr/>
          <p:nvPr/>
        </p:nvSpPr>
        <p:spPr>
          <a:xfrm>
            <a:off x="457200" y="914400"/>
            <a:ext cx="2651760" cy="3657600"/>
          </a:xfrm>
          <a:prstGeom prst="roundRect">
            <a:avLst>
              <a:gd name="adj" fmla="val 3448"/>
            </a:avLst>
          </a:prstGeom>
          <a:solidFill>
            <a:srgbClr val="F3F4F6"/>
          </a:solidFill>
          <a:ln/>
        </p:spPr>
      </p:sp>
      <p:sp>
        <p:nvSpPr>
          <p:cNvPr id="5" name="Shape 3"/>
          <p:cNvSpPr/>
          <p:nvPr/>
        </p:nvSpPr>
        <p:spPr>
          <a:xfrm>
            <a:off x="457200" y="914400"/>
            <a:ext cx="2651760" cy="109728"/>
          </a:xfrm>
          <a:prstGeom prst="rect">
            <a:avLst/>
          </a:prstGeom>
          <a:solidFill>
            <a:srgbClr val="374151"/>
          </a:solidFill>
          <a:ln/>
        </p:spPr>
      </p:sp>
      <p:sp>
        <p:nvSpPr>
          <p:cNvPr id="6" name="Shape 4"/>
          <p:cNvSpPr/>
          <p:nvPr/>
        </p:nvSpPr>
        <p:spPr>
          <a:xfrm>
            <a:off x="1371600" y="1143000"/>
            <a:ext cx="822960" cy="822960"/>
          </a:xfrm>
          <a:prstGeom prst="ellipse">
            <a:avLst/>
          </a:prstGeom>
          <a:solidFill>
            <a:srgbClr val="374151"/>
          </a:solidFill>
          <a:ln/>
        </p:spPr>
      </p:sp>
      <p:sp>
        <p:nvSpPr>
          <p:cNvPr id="7" name="Text 5"/>
          <p:cNvSpPr/>
          <p:nvPr/>
        </p:nvSpPr>
        <p:spPr>
          <a:xfrm>
            <a:off x="1371600" y="1143000"/>
            <a:ext cx="822960" cy="822960"/>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能用</a:t>
            </a:r>
            <a:endParaRPr lang="en-US" sz="1400" dirty="0"/>
          </a:p>
        </p:txBody>
      </p:sp>
      <p:sp>
        <p:nvSpPr>
          <p:cNvPr id="8" name="Text 6"/>
          <p:cNvSpPr/>
          <p:nvPr/>
        </p:nvSpPr>
        <p:spPr>
          <a:xfrm>
            <a:off x="640080" y="2103120"/>
            <a:ext cx="2286000" cy="365760"/>
          </a:xfrm>
          <a:prstGeom prst="rect">
            <a:avLst/>
          </a:prstGeom>
          <a:noFill/>
          <a:ln/>
        </p:spPr>
        <p:txBody>
          <a:bodyPr wrap="square" rtlCol="0" anchor="ctr"/>
          <a:lstStyle/>
          <a:p>
            <a:pPr indent="0" marL="0">
              <a:buNone/>
            </a:pPr>
            <a:r>
              <a:rPr lang="en-US" sz="1100" dirty="0">
                <a:solidFill>
                  <a:srgbClr val="374151"/>
                </a:solidFill>
                <a:latin typeface="Microsoft YaHei" pitchFamily="34" charset="0"/>
                <a:ea typeface="Microsoft YaHei" pitchFamily="34" charset="-122"/>
                <a:cs typeface="Microsoft YaHei" pitchFamily="34" charset="-120"/>
              </a:rPr>
              <a:t>• 标准情形稳定</a:t>
            </a:r>
            <a:endParaRPr lang="en-US" sz="1100" dirty="0"/>
          </a:p>
        </p:txBody>
      </p:sp>
      <p:sp>
        <p:nvSpPr>
          <p:cNvPr id="9" name="Text 7"/>
          <p:cNvSpPr/>
          <p:nvPr/>
        </p:nvSpPr>
        <p:spPr>
          <a:xfrm>
            <a:off x="640080" y="2468880"/>
            <a:ext cx="2286000" cy="365760"/>
          </a:xfrm>
          <a:prstGeom prst="rect">
            <a:avLst/>
          </a:prstGeom>
          <a:noFill/>
          <a:ln/>
        </p:spPr>
        <p:txBody>
          <a:bodyPr wrap="square" rtlCol="0" anchor="ctr"/>
          <a:lstStyle/>
          <a:p>
            <a:pPr indent="0" marL="0">
              <a:buNone/>
            </a:pPr>
            <a:r>
              <a:rPr lang="en-US" sz="1100" dirty="0">
                <a:solidFill>
                  <a:srgbClr val="374151"/>
                </a:solidFill>
                <a:latin typeface="Microsoft YaHei" pitchFamily="34" charset="0"/>
                <a:ea typeface="Microsoft YaHei" pitchFamily="34" charset="-122"/>
                <a:cs typeface="Microsoft YaHei" pitchFamily="34" charset="-120"/>
              </a:rPr>
              <a:t>• 边界仍需复核</a:t>
            </a:r>
            <a:endParaRPr lang="en-US" sz="1100" dirty="0"/>
          </a:p>
        </p:txBody>
      </p:sp>
      <p:sp>
        <p:nvSpPr>
          <p:cNvPr id="10" name="Shape 8"/>
          <p:cNvSpPr/>
          <p:nvPr/>
        </p:nvSpPr>
        <p:spPr>
          <a:xfrm>
            <a:off x="731520" y="2926080"/>
            <a:ext cx="2103120" cy="18288"/>
          </a:xfrm>
          <a:prstGeom prst="rect">
            <a:avLst/>
          </a:prstGeom>
          <a:solidFill>
            <a:srgbClr val="374151">
              <a:alpha val="50000"/>
            </a:srgbClr>
          </a:solidFill>
          <a:ln/>
        </p:spPr>
      </p:sp>
      <p:sp>
        <p:nvSpPr>
          <p:cNvPr id="11" name="Text 9"/>
          <p:cNvSpPr/>
          <p:nvPr/>
        </p:nvSpPr>
        <p:spPr>
          <a:xfrm>
            <a:off x="640080" y="3017520"/>
            <a:ext cx="2286000" cy="274320"/>
          </a:xfrm>
          <a:prstGeom prst="rect">
            <a:avLst/>
          </a:prstGeom>
          <a:noFill/>
          <a:ln/>
        </p:spPr>
        <p:txBody>
          <a:bodyPr wrap="square" rtlCol="0" anchor="ctr"/>
          <a:lstStyle/>
          <a:p>
            <a:pPr indent="0" marL="0">
              <a:buNone/>
            </a:pPr>
            <a:r>
              <a:rPr lang="en-US" sz="1000" b="1" dirty="0">
                <a:solidFill>
                  <a:srgbClr val="374151"/>
                </a:solidFill>
                <a:latin typeface="Microsoft YaHei" pitchFamily="34" charset="0"/>
                <a:ea typeface="Microsoft YaHei" pitchFamily="34" charset="-122"/>
                <a:cs typeface="Microsoft YaHei" pitchFamily="34" charset="-120"/>
              </a:rPr>
              <a:t>使用方式</a:t>
            </a:r>
            <a:endParaRPr lang="en-US" sz="1000" dirty="0"/>
          </a:p>
        </p:txBody>
      </p:sp>
      <p:sp>
        <p:nvSpPr>
          <p:cNvPr id="12" name="Text 10"/>
          <p:cNvSpPr/>
          <p:nvPr/>
        </p:nvSpPr>
        <p:spPr>
          <a:xfrm>
            <a:off x="640080" y="3246120"/>
            <a:ext cx="2286000" cy="320040"/>
          </a:xfrm>
          <a:prstGeom prst="rect">
            <a:avLst/>
          </a:prstGeom>
          <a:noFill/>
          <a:ln/>
        </p:spPr>
        <p:txBody>
          <a:bodyPr wrap="square" rtlCol="0" anchor="ctr"/>
          <a:lstStyle/>
          <a:p>
            <a:pPr indent="0" marL="0">
              <a:buNone/>
            </a:pPr>
            <a:r>
              <a:rPr lang="en-US" sz="1200" b="1" dirty="0">
                <a:solidFill>
                  <a:srgbClr val="374151"/>
                </a:solidFill>
                <a:latin typeface="Microsoft YaHei" pitchFamily="34" charset="0"/>
                <a:ea typeface="Microsoft YaHei" pitchFamily="34" charset="-122"/>
                <a:cs typeface="Microsoft YaHei" pitchFamily="34" charset="-120"/>
              </a:rPr>
              <a:t>人工逐条检查</a:t>
            </a:r>
            <a:endParaRPr lang="en-US" sz="1200" dirty="0"/>
          </a:p>
        </p:txBody>
      </p:sp>
      <p:sp>
        <p:nvSpPr>
          <p:cNvPr id="13" name="Text 11"/>
          <p:cNvSpPr/>
          <p:nvPr/>
        </p:nvSpPr>
        <p:spPr>
          <a:xfrm>
            <a:off x="640080" y="3611880"/>
            <a:ext cx="2286000" cy="274320"/>
          </a:xfrm>
          <a:prstGeom prst="rect">
            <a:avLst/>
          </a:prstGeom>
          <a:noFill/>
          <a:ln/>
        </p:spPr>
        <p:txBody>
          <a:bodyPr wrap="square" rtlCol="0" anchor="ctr"/>
          <a:lstStyle/>
          <a:p>
            <a:pPr indent="0" marL="0">
              <a:buNone/>
            </a:pPr>
            <a:r>
              <a:rPr lang="en-US" sz="1000" b="1" dirty="0">
                <a:solidFill>
                  <a:srgbClr val="374151"/>
                </a:solidFill>
                <a:latin typeface="Microsoft YaHei" pitchFamily="34" charset="0"/>
                <a:ea typeface="Microsoft YaHei" pitchFamily="34" charset="-122"/>
                <a:cs typeface="Microsoft YaHei" pitchFamily="34" charset="-120"/>
              </a:rPr>
              <a:t>下一步</a:t>
            </a:r>
            <a:endParaRPr lang="en-US" sz="1000" dirty="0"/>
          </a:p>
        </p:txBody>
      </p:sp>
      <p:sp>
        <p:nvSpPr>
          <p:cNvPr id="14" name="Text 12"/>
          <p:cNvSpPr/>
          <p:nvPr/>
        </p:nvSpPr>
        <p:spPr>
          <a:xfrm>
            <a:off x="640080" y="3840480"/>
            <a:ext cx="2286000" cy="320040"/>
          </a:xfrm>
          <a:prstGeom prst="rect">
            <a:avLst/>
          </a:prstGeom>
          <a:noFill/>
          <a:ln/>
        </p:spPr>
        <p:txBody>
          <a:bodyPr wrap="square" rtlCol="0" anchor="ctr"/>
          <a:lstStyle/>
          <a:p>
            <a:pPr indent="0" marL="0">
              <a:buNone/>
            </a:pPr>
            <a:r>
              <a:rPr lang="en-US" sz="1200" dirty="0">
                <a:solidFill>
                  <a:srgbClr val="B91C1C"/>
                </a:solidFill>
                <a:latin typeface="Microsoft YaHei" pitchFamily="34" charset="0"/>
                <a:ea typeface="Microsoft YaHei" pitchFamily="34" charset="-122"/>
                <a:cs typeface="Microsoft YaHei" pitchFamily="34" charset="-120"/>
              </a:rPr>
              <a:t>积累更多案例</a:t>
            </a:r>
            <a:endParaRPr lang="en-US" sz="1200" dirty="0"/>
          </a:p>
        </p:txBody>
      </p:sp>
      <p:sp>
        <p:nvSpPr>
          <p:cNvPr id="15" name="Shape 13"/>
          <p:cNvSpPr/>
          <p:nvPr/>
        </p:nvSpPr>
        <p:spPr>
          <a:xfrm>
            <a:off x="3246120" y="914400"/>
            <a:ext cx="2651760" cy="3657600"/>
          </a:xfrm>
          <a:prstGeom prst="roundRect">
            <a:avLst>
              <a:gd name="adj" fmla="val 3448"/>
            </a:avLst>
          </a:prstGeom>
          <a:solidFill>
            <a:srgbClr val="F3F4F6"/>
          </a:solidFill>
          <a:ln/>
        </p:spPr>
      </p:sp>
      <p:sp>
        <p:nvSpPr>
          <p:cNvPr id="16" name="Shape 14"/>
          <p:cNvSpPr/>
          <p:nvPr/>
        </p:nvSpPr>
        <p:spPr>
          <a:xfrm>
            <a:off x="3246120" y="914400"/>
            <a:ext cx="2651760" cy="109728"/>
          </a:xfrm>
          <a:prstGeom prst="rect">
            <a:avLst/>
          </a:prstGeom>
          <a:solidFill>
            <a:srgbClr val="B91C1C"/>
          </a:solidFill>
          <a:ln/>
        </p:spPr>
      </p:sp>
      <p:sp>
        <p:nvSpPr>
          <p:cNvPr id="17" name="Shape 15"/>
          <p:cNvSpPr/>
          <p:nvPr/>
        </p:nvSpPr>
        <p:spPr>
          <a:xfrm>
            <a:off x="4160520" y="1143000"/>
            <a:ext cx="822960" cy="822960"/>
          </a:xfrm>
          <a:prstGeom prst="ellipse">
            <a:avLst/>
          </a:prstGeom>
          <a:solidFill>
            <a:srgbClr val="B91C1C"/>
          </a:solidFill>
          <a:ln/>
        </p:spPr>
      </p:sp>
      <p:sp>
        <p:nvSpPr>
          <p:cNvPr id="18" name="Text 16"/>
          <p:cNvSpPr/>
          <p:nvPr/>
        </p:nvSpPr>
        <p:spPr>
          <a:xfrm>
            <a:off x="4160520" y="1143000"/>
            <a:ext cx="822960" cy="822960"/>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好用</a:t>
            </a:r>
            <a:endParaRPr lang="en-US" sz="1400" dirty="0"/>
          </a:p>
        </p:txBody>
      </p:sp>
      <p:sp>
        <p:nvSpPr>
          <p:cNvPr id="19" name="Text 17"/>
          <p:cNvSpPr/>
          <p:nvPr/>
        </p:nvSpPr>
        <p:spPr>
          <a:xfrm>
            <a:off x="3429000" y="2103120"/>
            <a:ext cx="2286000" cy="365760"/>
          </a:xfrm>
          <a:prstGeom prst="rect">
            <a:avLst/>
          </a:prstGeom>
          <a:noFill/>
          <a:ln/>
        </p:spPr>
        <p:txBody>
          <a:bodyPr wrap="square" rtlCol="0" anchor="ctr"/>
          <a:lstStyle/>
          <a:p>
            <a:pPr indent="0" marL="0">
              <a:buNone/>
            </a:pPr>
            <a:r>
              <a:rPr lang="en-US" sz="1100" dirty="0">
                <a:solidFill>
                  <a:srgbClr val="374151"/>
                </a:solidFill>
                <a:latin typeface="Microsoft YaHei" pitchFamily="34" charset="0"/>
                <a:ea typeface="Microsoft YaHei" pitchFamily="34" charset="-122"/>
                <a:cs typeface="Microsoft YaHei" pitchFamily="34" charset="-120"/>
              </a:rPr>
              <a:t>• 三类测试基本稳定</a:t>
            </a:r>
            <a:endParaRPr lang="en-US" sz="1100" dirty="0"/>
          </a:p>
        </p:txBody>
      </p:sp>
      <p:sp>
        <p:nvSpPr>
          <p:cNvPr id="20" name="Text 18"/>
          <p:cNvSpPr/>
          <p:nvPr/>
        </p:nvSpPr>
        <p:spPr>
          <a:xfrm>
            <a:off x="3429000" y="2468880"/>
            <a:ext cx="2286000" cy="365760"/>
          </a:xfrm>
          <a:prstGeom prst="rect">
            <a:avLst/>
          </a:prstGeom>
          <a:noFill/>
          <a:ln/>
        </p:spPr>
        <p:txBody>
          <a:bodyPr wrap="square" rtlCol="0" anchor="ctr"/>
          <a:lstStyle/>
          <a:p>
            <a:pPr indent="0" marL="0">
              <a:buNone/>
            </a:pPr>
            <a:r>
              <a:rPr lang="en-US" sz="1100" dirty="0">
                <a:solidFill>
                  <a:srgbClr val="374151"/>
                </a:solidFill>
                <a:latin typeface="Microsoft YaHei" pitchFamily="34" charset="0"/>
                <a:ea typeface="Microsoft YaHei" pitchFamily="34" charset="-122"/>
                <a:cs typeface="Microsoft YaHei" pitchFamily="34" charset="-120"/>
              </a:rPr>
              <a:t>• 人工抽查</a:t>
            </a:r>
            <a:endParaRPr lang="en-US" sz="1100" dirty="0"/>
          </a:p>
        </p:txBody>
      </p:sp>
      <p:sp>
        <p:nvSpPr>
          <p:cNvPr id="21" name="Shape 19"/>
          <p:cNvSpPr/>
          <p:nvPr/>
        </p:nvSpPr>
        <p:spPr>
          <a:xfrm>
            <a:off x="3520440" y="2926080"/>
            <a:ext cx="2103120" cy="18288"/>
          </a:xfrm>
          <a:prstGeom prst="rect">
            <a:avLst/>
          </a:prstGeom>
          <a:solidFill>
            <a:srgbClr val="374151">
              <a:alpha val="50000"/>
            </a:srgbClr>
          </a:solidFill>
          <a:ln/>
        </p:spPr>
      </p:sp>
      <p:sp>
        <p:nvSpPr>
          <p:cNvPr id="22" name="Text 20"/>
          <p:cNvSpPr/>
          <p:nvPr/>
        </p:nvSpPr>
        <p:spPr>
          <a:xfrm>
            <a:off x="3429000" y="3017520"/>
            <a:ext cx="2286000" cy="274320"/>
          </a:xfrm>
          <a:prstGeom prst="rect">
            <a:avLst/>
          </a:prstGeom>
          <a:noFill/>
          <a:ln/>
        </p:spPr>
        <p:txBody>
          <a:bodyPr wrap="square" rtlCol="0" anchor="ctr"/>
          <a:lstStyle/>
          <a:p>
            <a:pPr indent="0" marL="0">
              <a:buNone/>
            </a:pPr>
            <a:r>
              <a:rPr lang="en-US" sz="1000" b="1" dirty="0">
                <a:solidFill>
                  <a:srgbClr val="374151"/>
                </a:solidFill>
                <a:latin typeface="Microsoft YaHei" pitchFamily="34" charset="0"/>
                <a:ea typeface="Microsoft YaHei" pitchFamily="34" charset="-122"/>
                <a:cs typeface="Microsoft YaHei" pitchFamily="34" charset="-120"/>
              </a:rPr>
              <a:t>使用方式</a:t>
            </a:r>
            <a:endParaRPr lang="en-US" sz="1000" dirty="0"/>
          </a:p>
        </p:txBody>
      </p:sp>
      <p:sp>
        <p:nvSpPr>
          <p:cNvPr id="23" name="Text 21"/>
          <p:cNvSpPr/>
          <p:nvPr/>
        </p:nvSpPr>
        <p:spPr>
          <a:xfrm>
            <a:off x="3429000" y="3246120"/>
            <a:ext cx="2286000" cy="320040"/>
          </a:xfrm>
          <a:prstGeom prst="rect">
            <a:avLst/>
          </a:prstGeom>
          <a:noFill/>
          <a:ln/>
        </p:spPr>
        <p:txBody>
          <a:bodyPr wrap="square" rtlCol="0" anchor="ctr"/>
          <a:lstStyle/>
          <a:p>
            <a:pPr indent="0" marL="0">
              <a:buNone/>
            </a:pPr>
            <a:r>
              <a:rPr lang="en-US" sz="1200" b="1" dirty="0">
                <a:solidFill>
                  <a:srgbClr val="B91C1C"/>
                </a:solidFill>
                <a:latin typeface="Microsoft YaHei" pitchFamily="34" charset="0"/>
                <a:ea typeface="Microsoft YaHei" pitchFamily="34" charset="-122"/>
                <a:cs typeface="Microsoft YaHei" pitchFamily="34" charset="-120"/>
              </a:rPr>
              <a:t>结果可直接使用</a:t>
            </a:r>
            <a:endParaRPr lang="en-US" sz="1200" dirty="0"/>
          </a:p>
        </p:txBody>
      </p:sp>
      <p:sp>
        <p:nvSpPr>
          <p:cNvPr id="24" name="Text 22"/>
          <p:cNvSpPr/>
          <p:nvPr/>
        </p:nvSpPr>
        <p:spPr>
          <a:xfrm>
            <a:off x="3429000" y="3611880"/>
            <a:ext cx="2286000" cy="274320"/>
          </a:xfrm>
          <a:prstGeom prst="rect">
            <a:avLst/>
          </a:prstGeom>
          <a:noFill/>
          <a:ln/>
        </p:spPr>
        <p:txBody>
          <a:bodyPr wrap="square" rtlCol="0" anchor="ctr"/>
          <a:lstStyle/>
          <a:p>
            <a:pPr indent="0" marL="0">
              <a:buNone/>
            </a:pPr>
            <a:r>
              <a:rPr lang="en-US" sz="1000" b="1" dirty="0">
                <a:solidFill>
                  <a:srgbClr val="374151"/>
                </a:solidFill>
                <a:latin typeface="Microsoft YaHei" pitchFamily="34" charset="0"/>
                <a:ea typeface="Microsoft YaHei" pitchFamily="34" charset="-122"/>
                <a:cs typeface="Microsoft YaHei" pitchFamily="34" charset="-120"/>
              </a:rPr>
              <a:t>下一步</a:t>
            </a:r>
            <a:endParaRPr lang="en-US" sz="1000" dirty="0"/>
          </a:p>
        </p:txBody>
      </p:sp>
      <p:sp>
        <p:nvSpPr>
          <p:cNvPr id="25" name="Text 23"/>
          <p:cNvSpPr/>
          <p:nvPr/>
        </p:nvSpPr>
        <p:spPr>
          <a:xfrm>
            <a:off x="3429000" y="3840480"/>
            <a:ext cx="2286000" cy="320040"/>
          </a:xfrm>
          <a:prstGeom prst="rect">
            <a:avLst/>
          </a:prstGeom>
          <a:noFill/>
          <a:ln/>
        </p:spPr>
        <p:txBody>
          <a:bodyPr wrap="square" rtlCol="0" anchor="ctr"/>
          <a:lstStyle/>
          <a:p>
            <a:pPr indent="0" marL="0">
              <a:buNone/>
            </a:pPr>
            <a:r>
              <a:rPr lang="en-US" sz="1200" dirty="0">
                <a:solidFill>
                  <a:srgbClr val="B91C1C"/>
                </a:solidFill>
                <a:latin typeface="Microsoft YaHei" pitchFamily="34" charset="0"/>
                <a:ea typeface="Microsoft YaHei" pitchFamily="34" charset="-122"/>
                <a:cs typeface="Microsoft YaHei" pitchFamily="34" charset="-120"/>
              </a:rPr>
              <a:t>扩大使用范围</a:t>
            </a:r>
            <a:endParaRPr lang="en-US" sz="1200" dirty="0"/>
          </a:p>
        </p:txBody>
      </p:sp>
      <p:sp>
        <p:nvSpPr>
          <p:cNvPr id="26" name="Shape 24"/>
          <p:cNvSpPr/>
          <p:nvPr/>
        </p:nvSpPr>
        <p:spPr>
          <a:xfrm>
            <a:off x="6035040" y="914400"/>
            <a:ext cx="2651760" cy="3657600"/>
          </a:xfrm>
          <a:prstGeom prst="roundRect">
            <a:avLst>
              <a:gd name="adj" fmla="val 3448"/>
            </a:avLst>
          </a:prstGeom>
          <a:solidFill>
            <a:srgbClr val="F3F4F6"/>
          </a:solidFill>
          <a:ln/>
        </p:spPr>
      </p:sp>
      <p:sp>
        <p:nvSpPr>
          <p:cNvPr id="27" name="Shape 25"/>
          <p:cNvSpPr/>
          <p:nvPr/>
        </p:nvSpPr>
        <p:spPr>
          <a:xfrm>
            <a:off x="6035040" y="914400"/>
            <a:ext cx="2651760" cy="109728"/>
          </a:xfrm>
          <a:prstGeom prst="rect">
            <a:avLst/>
          </a:prstGeom>
          <a:solidFill>
            <a:srgbClr val="EF4444"/>
          </a:solidFill>
          <a:ln/>
        </p:spPr>
      </p:sp>
      <p:sp>
        <p:nvSpPr>
          <p:cNvPr id="28" name="Shape 26"/>
          <p:cNvSpPr/>
          <p:nvPr/>
        </p:nvSpPr>
        <p:spPr>
          <a:xfrm>
            <a:off x="6949440" y="1143000"/>
            <a:ext cx="822960" cy="822960"/>
          </a:xfrm>
          <a:prstGeom prst="ellipse">
            <a:avLst/>
          </a:prstGeom>
          <a:solidFill>
            <a:srgbClr val="EF4444"/>
          </a:solidFill>
          <a:ln/>
        </p:spPr>
      </p:sp>
      <p:sp>
        <p:nvSpPr>
          <p:cNvPr id="29" name="Text 27"/>
          <p:cNvSpPr/>
          <p:nvPr/>
        </p:nvSpPr>
        <p:spPr>
          <a:xfrm>
            <a:off x="6949440" y="1143000"/>
            <a:ext cx="822960" cy="822960"/>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离不开</a:t>
            </a:r>
            <a:endParaRPr lang="en-US" sz="1400" dirty="0"/>
          </a:p>
        </p:txBody>
      </p:sp>
      <p:sp>
        <p:nvSpPr>
          <p:cNvPr id="30" name="Text 28"/>
          <p:cNvSpPr/>
          <p:nvPr/>
        </p:nvSpPr>
        <p:spPr>
          <a:xfrm>
            <a:off x="6217920" y="2103120"/>
            <a:ext cx="2286000" cy="365760"/>
          </a:xfrm>
          <a:prstGeom prst="rect">
            <a:avLst/>
          </a:prstGeom>
          <a:noFill/>
          <a:ln/>
        </p:spPr>
        <p:txBody>
          <a:bodyPr wrap="square" rtlCol="0" anchor="ctr"/>
          <a:lstStyle/>
          <a:p>
            <a:pPr indent="0" marL="0">
              <a:buNone/>
            </a:pPr>
            <a:r>
              <a:rPr lang="en-US" sz="1100" dirty="0">
                <a:solidFill>
                  <a:srgbClr val="374151"/>
                </a:solidFill>
                <a:latin typeface="Microsoft YaHei" pitchFamily="34" charset="0"/>
                <a:ea typeface="Microsoft YaHei" pitchFamily="34" charset="-122"/>
                <a:cs typeface="Microsoft YaHei" pitchFamily="34" charset="-120"/>
              </a:rPr>
              <a:t>• 团队默认工具</a:t>
            </a:r>
            <a:endParaRPr lang="en-US" sz="1100" dirty="0"/>
          </a:p>
        </p:txBody>
      </p:sp>
      <p:sp>
        <p:nvSpPr>
          <p:cNvPr id="31" name="Text 29"/>
          <p:cNvSpPr/>
          <p:nvPr/>
        </p:nvSpPr>
        <p:spPr>
          <a:xfrm>
            <a:off x="6217920" y="2468880"/>
            <a:ext cx="2286000" cy="365760"/>
          </a:xfrm>
          <a:prstGeom prst="rect">
            <a:avLst/>
          </a:prstGeom>
          <a:noFill/>
          <a:ln/>
        </p:spPr>
        <p:txBody>
          <a:bodyPr wrap="square" rtlCol="0" anchor="ctr"/>
          <a:lstStyle/>
          <a:p>
            <a:pPr indent="0" marL="0">
              <a:buNone/>
            </a:pPr>
            <a:r>
              <a:rPr lang="en-US" sz="1100" dirty="0">
                <a:solidFill>
                  <a:srgbClr val="374151"/>
                </a:solidFill>
                <a:latin typeface="Microsoft YaHei" pitchFamily="34" charset="0"/>
                <a:ea typeface="Microsoft YaHei" pitchFamily="34" charset="-122"/>
                <a:cs typeface="Microsoft YaHei" pitchFamily="34" charset="-120"/>
              </a:rPr>
              <a:t>• 发现它不在就觉得效率下降</a:t>
            </a:r>
            <a:endParaRPr lang="en-US" sz="1100" dirty="0"/>
          </a:p>
        </p:txBody>
      </p:sp>
      <p:sp>
        <p:nvSpPr>
          <p:cNvPr id="32" name="Shape 30"/>
          <p:cNvSpPr/>
          <p:nvPr/>
        </p:nvSpPr>
        <p:spPr>
          <a:xfrm>
            <a:off x="6309360" y="2926080"/>
            <a:ext cx="2103120" cy="18288"/>
          </a:xfrm>
          <a:prstGeom prst="rect">
            <a:avLst/>
          </a:prstGeom>
          <a:solidFill>
            <a:srgbClr val="374151">
              <a:alpha val="50000"/>
            </a:srgbClr>
          </a:solidFill>
          <a:ln/>
        </p:spPr>
      </p:sp>
      <p:sp>
        <p:nvSpPr>
          <p:cNvPr id="33" name="Text 31"/>
          <p:cNvSpPr/>
          <p:nvPr/>
        </p:nvSpPr>
        <p:spPr>
          <a:xfrm>
            <a:off x="6217920" y="3017520"/>
            <a:ext cx="2286000" cy="274320"/>
          </a:xfrm>
          <a:prstGeom prst="rect">
            <a:avLst/>
          </a:prstGeom>
          <a:noFill/>
          <a:ln/>
        </p:spPr>
        <p:txBody>
          <a:bodyPr wrap="square" rtlCol="0" anchor="ctr"/>
          <a:lstStyle/>
          <a:p>
            <a:pPr indent="0" marL="0">
              <a:buNone/>
            </a:pPr>
            <a:r>
              <a:rPr lang="en-US" sz="1000" b="1" dirty="0">
                <a:solidFill>
                  <a:srgbClr val="374151"/>
                </a:solidFill>
                <a:latin typeface="Microsoft YaHei" pitchFamily="34" charset="0"/>
                <a:ea typeface="Microsoft YaHei" pitchFamily="34" charset="-122"/>
                <a:cs typeface="Microsoft YaHei" pitchFamily="34" charset="-120"/>
              </a:rPr>
              <a:t>使用方式</a:t>
            </a:r>
            <a:endParaRPr lang="en-US" sz="1000" dirty="0"/>
          </a:p>
        </p:txBody>
      </p:sp>
      <p:sp>
        <p:nvSpPr>
          <p:cNvPr id="34" name="Text 32"/>
          <p:cNvSpPr/>
          <p:nvPr/>
        </p:nvSpPr>
        <p:spPr>
          <a:xfrm>
            <a:off x="6217920" y="3246120"/>
            <a:ext cx="2286000" cy="320040"/>
          </a:xfrm>
          <a:prstGeom prst="rect">
            <a:avLst/>
          </a:prstGeom>
          <a:noFill/>
          <a:ln/>
        </p:spPr>
        <p:txBody>
          <a:bodyPr wrap="square" rtlCol="0" anchor="ctr"/>
          <a:lstStyle/>
          <a:p>
            <a:pPr indent="0" marL="0">
              <a:buNone/>
            </a:pPr>
            <a:r>
              <a:rPr lang="en-US" sz="1200" b="1" dirty="0">
                <a:solidFill>
                  <a:srgbClr val="EF4444"/>
                </a:solidFill>
                <a:latin typeface="Microsoft YaHei" pitchFamily="34" charset="0"/>
                <a:ea typeface="Microsoft YaHei" pitchFamily="34" charset="-122"/>
                <a:cs typeface="Microsoft YaHei" pitchFamily="34" charset="-120"/>
              </a:rPr>
              <a:t>推广到更多场景</a:t>
            </a:r>
            <a:endParaRPr lang="en-US" sz="1200" dirty="0"/>
          </a:p>
        </p:txBody>
      </p:sp>
      <p:sp>
        <p:nvSpPr>
          <p:cNvPr id="35" name="Text 33"/>
          <p:cNvSpPr/>
          <p:nvPr/>
        </p:nvSpPr>
        <p:spPr>
          <a:xfrm>
            <a:off x="6217920" y="3611880"/>
            <a:ext cx="2286000" cy="274320"/>
          </a:xfrm>
          <a:prstGeom prst="rect">
            <a:avLst/>
          </a:prstGeom>
          <a:noFill/>
          <a:ln/>
        </p:spPr>
        <p:txBody>
          <a:bodyPr wrap="square" rtlCol="0" anchor="ctr"/>
          <a:lstStyle/>
          <a:p>
            <a:pPr indent="0" marL="0">
              <a:buNone/>
            </a:pPr>
            <a:r>
              <a:rPr lang="en-US" sz="1000" b="1" dirty="0">
                <a:solidFill>
                  <a:srgbClr val="374151"/>
                </a:solidFill>
                <a:latin typeface="Microsoft YaHei" pitchFamily="34" charset="0"/>
                <a:ea typeface="Microsoft YaHei" pitchFamily="34" charset="-122"/>
                <a:cs typeface="Microsoft YaHei" pitchFamily="34" charset="-120"/>
              </a:rPr>
              <a:t>下一步</a:t>
            </a:r>
            <a:endParaRPr lang="en-US" sz="1000" dirty="0"/>
          </a:p>
        </p:txBody>
      </p:sp>
      <p:sp>
        <p:nvSpPr>
          <p:cNvPr id="36" name="Text 34"/>
          <p:cNvSpPr/>
          <p:nvPr/>
        </p:nvSpPr>
        <p:spPr>
          <a:xfrm>
            <a:off x="6217920" y="3840480"/>
            <a:ext cx="2286000" cy="320040"/>
          </a:xfrm>
          <a:prstGeom prst="rect">
            <a:avLst/>
          </a:prstGeom>
          <a:noFill/>
          <a:ln/>
        </p:spPr>
        <p:txBody>
          <a:bodyPr wrap="square" rtlCol="0" anchor="ctr"/>
          <a:lstStyle/>
          <a:p>
            <a:pPr indent="0" marL="0">
              <a:buNone/>
            </a:pPr>
            <a:r>
              <a:rPr lang="en-US" sz="1200" dirty="0">
                <a:solidFill>
                  <a:srgbClr val="B91C1C"/>
                </a:solidFill>
                <a:latin typeface="Microsoft YaHei" pitchFamily="34" charset="0"/>
                <a:ea typeface="Microsoft YaHei" pitchFamily="34" charset="-122"/>
                <a:cs typeface="Microsoft YaHei" pitchFamily="34" charset="-120"/>
              </a:rPr>
              <a:t>建立版本管理</a:t>
            </a:r>
            <a:endParaRPr lang="en-US" sz="1200" dirty="0"/>
          </a:p>
        </p:txBody>
      </p:sp>
      <p:sp>
        <p:nvSpPr>
          <p:cNvPr id="37" name="Shape 35"/>
          <p:cNvSpPr/>
          <p:nvPr/>
        </p:nvSpPr>
        <p:spPr>
          <a:xfrm>
            <a:off x="8503920" y="4663440"/>
            <a:ext cx="365760" cy="365760"/>
          </a:xfrm>
          <a:prstGeom prst="ellipse">
            <a:avLst/>
          </a:prstGeom>
          <a:solidFill>
            <a:srgbClr val="EF4444"/>
          </a:solidFill>
          <a:ln/>
        </p:spPr>
      </p:sp>
      <p:sp>
        <p:nvSpPr>
          <p:cNvPr id="38" name="Text 36"/>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66</a:t>
            </a:r>
            <a:endParaRPr lang="en-US" sz="12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Shape 1"/>
          <p:cNvSpPr/>
          <p:nvPr/>
        </p:nvSpPr>
        <p:spPr>
          <a:xfrm>
            <a:off x="457200" y="274320"/>
            <a:ext cx="1645920" cy="457200"/>
          </a:xfrm>
          <a:prstGeom prst="roundRect">
            <a:avLst>
              <a:gd name="adj" fmla="val 16000"/>
            </a:avLst>
          </a:prstGeom>
          <a:solidFill>
            <a:srgbClr val="EF4444"/>
          </a:solidFill>
          <a:ln/>
        </p:spPr>
      </p:sp>
      <p:sp>
        <p:nvSpPr>
          <p:cNvPr id="4" name="Text 2"/>
          <p:cNvSpPr/>
          <p:nvPr/>
        </p:nvSpPr>
        <p:spPr>
          <a:xfrm>
            <a:off x="457200" y="274320"/>
            <a:ext cx="1645920" cy="457200"/>
          </a:xfrm>
          <a:prstGeom prst="rect">
            <a:avLst/>
          </a:prstGeom>
          <a:noFill/>
          <a:ln/>
        </p:spPr>
        <p:txBody>
          <a:bodyPr wrap="square" rtlCol="0" anchor="ctr"/>
          <a:lstStyle/>
          <a:p>
            <a:pPr algn="ctr" indent="0" marL="0">
              <a:buNone/>
            </a:pPr>
            <a:r>
              <a:rPr lang="en-US" sz="1600" b="1" dirty="0">
                <a:solidFill>
                  <a:srgbClr val="FFFFFF"/>
                </a:solidFill>
                <a:latin typeface="Microsoft YaHei" pitchFamily="34" charset="0"/>
                <a:ea typeface="Microsoft YaHei" pitchFamily="34" charset="-122"/>
                <a:cs typeface="Microsoft YaHei" pitchFamily="34" charset="-120"/>
              </a:rPr>
              <a:t>练习七</a:t>
            </a:r>
            <a:endParaRPr lang="en-US" sz="1600" dirty="0"/>
          </a:p>
        </p:txBody>
      </p:sp>
      <p:sp>
        <p:nvSpPr>
          <p:cNvPr id="5" name="Text 3"/>
          <p:cNvSpPr/>
          <p:nvPr/>
        </p:nvSpPr>
        <p:spPr>
          <a:xfrm>
            <a:off x="2286000" y="274320"/>
            <a:ext cx="4572000" cy="457200"/>
          </a:xfrm>
          <a:prstGeom prst="rect">
            <a:avLst/>
          </a:prstGeom>
          <a:noFill/>
          <a:ln/>
        </p:spPr>
        <p:txBody>
          <a:bodyPr wrap="square" rtlCol="0" anchor="ctr"/>
          <a:lstStyle/>
          <a:p>
            <a:pPr indent="0" marL="0">
              <a:buNone/>
            </a:pPr>
            <a:r>
              <a:rPr lang="en-US" sz="2800" b="1" dirty="0">
                <a:solidFill>
                  <a:srgbClr val="B91C1C"/>
                </a:solidFill>
                <a:latin typeface="Microsoft YaHei" pitchFamily="34" charset="0"/>
                <a:ea typeface="Microsoft YaHei" pitchFamily="34" charset="-122"/>
                <a:cs typeface="Microsoft YaHei" pitchFamily="34" charset="-120"/>
              </a:rPr>
              <a:t>正式验收</a:t>
            </a:r>
            <a:endParaRPr lang="en-US" sz="2800" dirty="0"/>
          </a:p>
        </p:txBody>
      </p:sp>
      <p:sp>
        <p:nvSpPr>
          <p:cNvPr id="6" name="Shape 4"/>
          <p:cNvSpPr/>
          <p:nvPr/>
        </p:nvSpPr>
        <p:spPr>
          <a:xfrm>
            <a:off x="457200" y="914400"/>
            <a:ext cx="8229600" cy="3657600"/>
          </a:xfrm>
          <a:prstGeom prst="roundRect">
            <a:avLst>
              <a:gd name="adj" fmla="val 3000"/>
            </a:avLst>
          </a:prstGeom>
          <a:solidFill>
            <a:srgbClr val="F3F4F6"/>
          </a:solidFill>
          <a:ln/>
        </p:spPr>
      </p:sp>
      <p:sp>
        <p:nvSpPr>
          <p:cNvPr id="7" name="Shape 5"/>
          <p:cNvSpPr/>
          <p:nvPr/>
        </p:nvSpPr>
        <p:spPr>
          <a:xfrm>
            <a:off x="731520" y="1325880"/>
            <a:ext cx="457200" cy="457200"/>
          </a:xfrm>
          <a:prstGeom prst="ellipse">
            <a:avLst/>
          </a:prstGeom>
          <a:solidFill>
            <a:srgbClr val="EF4444"/>
          </a:solidFill>
          <a:ln/>
        </p:spPr>
      </p:sp>
      <p:sp>
        <p:nvSpPr>
          <p:cNvPr id="8" name="Text 6"/>
          <p:cNvSpPr/>
          <p:nvPr/>
        </p:nvSpPr>
        <p:spPr>
          <a:xfrm>
            <a:off x="731520" y="1325880"/>
            <a:ext cx="457200" cy="45720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9" name="Text 7"/>
          <p:cNvSpPr/>
          <p:nvPr/>
        </p:nvSpPr>
        <p:spPr>
          <a:xfrm>
            <a:off x="1371600" y="1188720"/>
            <a:ext cx="7040880" cy="731520"/>
          </a:xfrm>
          <a:prstGeom prst="rect">
            <a:avLst/>
          </a:prstGeom>
          <a:noFill/>
          <a:ln/>
        </p:spPr>
        <p:txBody>
          <a:bodyPr wrap="square" rtlCol="0" anchor="ctr"/>
          <a:lstStyle/>
          <a:p>
            <a:pPr indent="0" marL="0">
              <a:buNone/>
            </a:pPr>
            <a:r>
              <a:rPr lang="en-US" sz="1800" dirty="0">
                <a:solidFill>
                  <a:srgbClr val="374151"/>
                </a:solidFill>
                <a:latin typeface="Microsoft YaHei" pitchFamily="34" charset="0"/>
                <a:ea typeface="Microsoft YaHei" pitchFamily="34" charset="-122"/>
                <a:cs typeface="Microsoft YaHei" pitchFamily="34" charset="-120"/>
              </a:rPr>
              <a:t>用昨晚准备的6条测试数据</a:t>
            </a:r>
            <a:endParaRPr lang="en-US" sz="1800" dirty="0"/>
          </a:p>
        </p:txBody>
      </p:sp>
      <p:sp>
        <p:nvSpPr>
          <p:cNvPr id="10" name="Shape 8"/>
          <p:cNvSpPr/>
          <p:nvPr/>
        </p:nvSpPr>
        <p:spPr>
          <a:xfrm>
            <a:off x="731520" y="2148840"/>
            <a:ext cx="457200" cy="457200"/>
          </a:xfrm>
          <a:prstGeom prst="ellipse">
            <a:avLst/>
          </a:prstGeom>
          <a:solidFill>
            <a:srgbClr val="EF4444"/>
          </a:solidFill>
          <a:ln/>
        </p:spPr>
      </p:sp>
      <p:sp>
        <p:nvSpPr>
          <p:cNvPr id="11" name="Text 9"/>
          <p:cNvSpPr/>
          <p:nvPr/>
        </p:nvSpPr>
        <p:spPr>
          <a:xfrm>
            <a:off x="731520" y="2148840"/>
            <a:ext cx="457200" cy="45720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12" name="Text 10"/>
          <p:cNvSpPr/>
          <p:nvPr/>
        </p:nvSpPr>
        <p:spPr>
          <a:xfrm>
            <a:off x="1371600" y="2011680"/>
            <a:ext cx="7040880" cy="731520"/>
          </a:xfrm>
          <a:prstGeom prst="rect">
            <a:avLst/>
          </a:prstGeom>
          <a:noFill/>
          <a:ln/>
        </p:spPr>
        <p:txBody>
          <a:bodyPr wrap="square" rtlCol="0" anchor="ctr"/>
          <a:lstStyle/>
          <a:p>
            <a:pPr indent="0" marL="0">
              <a:buNone/>
            </a:pPr>
            <a:r>
              <a:rPr lang="en-US" sz="1800" dirty="0">
                <a:solidFill>
                  <a:srgbClr val="374151"/>
                </a:solidFill>
                <a:latin typeface="Microsoft YaHei" pitchFamily="34" charset="0"/>
                <a:ea typeface="Microsoft YaHei" pitchFamily="34" charset="-122"/>
                <a:cs typeface="Microsoft YaHei" pitchFamily="34" charset="-120"/>
              </a:rPr>
              <a:t>对每个Skill各做3条以上的正式验收测试</a:t>
            </a:r>
            <a:endParaRPr lang="en-US" sz="1800" dirty="0"/>
          </a:p>
        </p:txBody>
      </p:sp>
      <p:sp>
        <p:nvSpPr>
          <p:cNvPr id="13" name="Shape 11"/>
          <p:cNvSpPr/>
          <p:nvPr/>
        </p:nvSpPr>
        <p:spPr>
          <a:xfrm>
            <a:off x="731520" y="2971800"/>
            <a:ext cx="457200" cy="457200"/>
          </a:xfrm>
          <a:prstGeom prst="ellipse">
            <a:avLst/>
          </a:prstGeom>
          <a:solidFill>
            <a:srgbClr val="EF4444"/>
          </a:solidFill>
          <a:ln/>
        </p:spPr>
      </p:sp>
      <p:sp>
        <p:nvSpPr>
          <p:cNvPr id="14" name="Text 12"/>
          <p:cNvSpPr/>
          <p:nvPr/>
        </p:nvSpPr>
        <p:spPr>
          <a:xfrm>
            <a:off x="731520" y="2971800"/>
            <a:ext cx="457200" cy="45720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15" name="Text 13"/>
          <p:cNvSpPr/>
          <p:nvPr/>
        </p:nvSpPr>
        <p:spPr>
          <a:xfrm>
            <a:off x="1371600" y="2834640"/>
            <a:ext cx="7040880" cy="731520"/>
          </a:xfrm>
          <a:prstGeom prst="rect">
            <a:avLst/>
          </a:prstGeom>
          <a:noFill/>
          <a:ln/>
        </p:spPr>
        <p:txBody>
          <a:bodyPr wrap="square" rtlCol="0" anchor="ctr"/>
          <a:lstStyle/>
          <a:p>
            <a:pPr indent="0" marL="0">
              <a:buNone/>
            </a:pPr>
            <a:r>
              <a:rPr lang="en-US" sz="1800" dirty="0">
                <a:solidFill>
                  <a:srgbClr val="374151"/>
                </a:solidFill>
                <a:latin typeface="Microsoft YaHei" pitchFamily="34" charset="0"/>
                <a:ea typeface="Microsoft YaHei" pitchFamily="34" charset="-122"/>
                <a:cs typeface="Microsoft YaHei" pitchFamily="34" charset="-120"/>
              </a:rPr>
              <a:t>每条测试都要填完整的验收记录</a:t>
            </a:r>
            <a:endParaRPr lang="en-US" sz="1800" dirty="0"/>
          </a:p>
        </p:txBody>
      </p:sp>
      <p:sp>
        <p:nvSpPr>
          <p:cNvPr id="16" name="Shape 14"/>
          <p:cNvSpPr/>
          <p:nvPr/>
        </p:nvSpPr>
        <p:spPr>
          <a:xfrm>
            <a:off x="731520" y="3794760"/>
            <a:ext cx="457200" cy="457200"/>
          </a:xfrm>
          <a:prstGeom prst="ellipse">
            <a:avLst/>
          </a:prstGeom>
          <a:solidFill>
            <a:srgbClr val="EF4444"/>
          </a:solidFill>
          <a:ln/>
        </p:spPr>
      </p:sp>
      <p:sp>
        <p:nvSpPr>
          <p:cNvPr id="17" name="Text 15"/>
          <p:cNvSpPr/>
          <p:nvPr/>
        </p:nvSpPr>
        <p:spPr>
          <a:xfrm>
            <a:off x="731520" y="3794760"/>
            <a:ext cx="457200" cy="45720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4</a:t>
            </a:r>
            <a:endParaRPr lang="en-US" sz="1800" dirty="0"/>
          </a:p>
        </p:txBody>
      </p:sp>
      <p:sp>
        <p:nvSpPr>
          <p:cNvPr id="18" name="Text 16"/>
          <p:cNvSpPr/>
          <p:nvPr/>
        </p:nvSpPr>
        <p:spPr>
          <a:xfrm>
            <a:off x="1371600" y="3657600"/>
            <a:ext cx="7040880" cy="731520"/>
          </a:xfrm>
          <a:prstGeom prst="rect">
            <a:avLst/>
          </a:prstGeom>
          <a:noFill/>
          <a:ln/>
        </p:spPr>
        <p:txBody>
          <a:bodyPr wrap="square" rtlCol="0" anchor="ctr"/>
          <a:lstStyle/>
          <a:p>
            <a:pPr indent="0" marL="0">
              <a:buNone/>
            </a:pPr>
            <a:r>
              <a:rPr lang="en-US" sz="1800" dirty="0">
                <a:solidFill>
                  <a:srgbClr val="374151"/>
                </a:solidFill>
                <a:latin typeface="Microsoft YaHei" pitchFamily="34" charset="0"/>
                <a:ea typeface="Microsoft YaHei" pitchFamily="34" charset="-122"/>
                <a:cs typeface="Microsoft YaHei" pitchFamily="34" charset="-120"/>
              </a:rPr>
              <a:t>给自己30分钟</a:t>
            </a:r>
            <a:endParaRPr lang="en-US" sz="1800" dirty="0"/>
          </a:p>
        </p:txBody>
      </p:sp>
      <p:sp>
        <p:nvSpPr>
          <p:cNvPr id="19" name="Shape 17"/>
          <p:cNvSpPr/>
          <p:nvPr/>
        </p:nvSpPr>
        <p:spPr>
          <a:xfrm>
            <a:off x="5943600" y="3931920"/>
            <a:ext cx="2468880" cy="457200"/>
          </a:xfrm>
          <a:prstGeom prst="roundRect">
            <a:avLst>
              <a:gd name="adj" fmla="val 16000"/>
            </a:avLst>
          </a:prstGeom>
          <a:solidFill>
            <a:srgbClr val="B91C1C"/>
          </a:solidFill>
          <a:ln/>
        </p:spPr>
      </p:sp>
      <p:sp>
        <p:nvSpPr>
          <p:cNvPr id="20" name="Text 18"/>
          <p:cNvSpPr/>
          <p:nvPr/>
        </p:nvSpPr>
        <p:spPr>
          <a:xfrm>
            <a:off x="5943600" y="3931920"/>
            <a:ext cx="2468880" cy="457200"/>
          </a:xfrm>
          <a:prstGeom prst="rect">
            <a:avLst/>
          </a:prstGeom>
          <a:noFill/>
          <a:ln/>
        </p:spPr>
        <p:txBody>
          <a:bodyPr wrap="square" rtlCol="0" anchor="ctr"/>
          <a:lstStyle/>
          <a:p>
            <a:pPr algn="ctr" indent="0" marL="0">
              <a:buNone/>
            </a:pPr>
            <a:r>
              <a:rPr lang="en-US" sz="1600" b="1" dirty="0">
                <a:solidFill>
                  <a:srgbClr val="FFFFFF"/>
                </a:solidFill>
                <a:latin typeface="Microsoft YaHei" pitchFamily="34" charset="0"/>
                <a:ea typeface="Microsoft YaHei" pitchFamily="34" charset="-122"/>
                <a:cs typeface="Microsoft YaHei" pitchFamily="34" charset="-120"/>
              </a:rPr>
              <a:t>⏱ 30分钟</a:t>
            </a:r>
            <a:endParaRPr lang="en-US" sz="1600" dirty="0"/>
          </a:p>
        </p:txBody>
      </p:sp>
      <p:sp>
        <p:nvSpPr>
          <p:cNvPr id="21" name="Shape 19"/>
          <p:cNvSpPr/>
          <p:nvPr/>
        </p:nvSpPr>
        <p:spPr>
          <a:xfrm>
            <a:off x="8503920" y="4663440"/>
            <a:ext cx="365760" cy="365760"/>
          </a:xfrm>
          <a:prstGeom prst="ellipse">
            <a:avLst/>
          </a:prstGeom>
          <a:solidFill>
            <a:srgbClr val="EF4444"/>
          </a:solidFill>
          <a:ln/>
        </p:spPr>
      </p:sp>
      <p:sp>
        <p:nvSpPr>
          <p:cNvPr id="22" name="Text 20"/>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67</a:t>
            </a:r>
            <a:endParaRPr lang="en-US" sz="12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B91C1C"/>
        </a:solidFill>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EF4444"/>
          </a:solidFill>
          <a:ln/>
        </p:spPr>
      </p:sp>
      <p:sp>
        <p:nvSpPr>
          <p:cNvPr id="3" name="Text 1"/>
          <p:cNvSpPr/>
          <p:nvPr/>
        </p:nvSpPr>
        <p:spPr>
          <a:xfrm>
            <a:off x="457200" y="1371600"/>
            <a:ext cx="8229600" cy="457200"/>
          </a:xfrm>
          <a:prstGeom prst="rect">
            <a:avLst/>
          </a:prstGeom>
          <a:noFill/>
          <a:ln/>
        </p:spPr>
        <p:txBody>
          <a:bodyPr wrap="square" rtlCol="0" anchor="ctr"/>
          <a:lstStyle/>
          <a:p>
            <a:pPr indent="0" marL="0">
              <a:buNone/>
            </a:pPr>
            <a:r>
              <a:rPr lang="en-US" sz="2000" dirty="0">
                <a:solidFill>
                  <a:srgbClr val="F3F4F6"/>
                </a:solidFill>
                <a:latin typeface="Microsoft YaHei" pitchFamily="34" charset="0"/>
                <a:ea typeface="Microsoft YaHei" pitchFamily="34" charset="-122"/>
                <a:cs typeface="Microsoft YaHei" pitchFamily="34" charset="-120"/>
              </a:rPr>
              <a:t>第七部分</a:t>
            </a:r>
            <a:endParaRPr lang="en-US" sz="2000" dirty="0"/>
          </a:p>
        </p:txBody>
      </p:sp>
      <p:sp>
        <p:nvSpPr>
          <p:cNvPr id="4" name="Text 2"/>
          <p:cNvSpPr/>
          <p:nvPr/>
        </p:nvSpPr>
        <p:spPr>
          <a:xfrm>
            <a:off x="457200" y="1920240"/>
            <a:ext cx="8229600" cy="1097280"/>
          </a:xfrm>
          <a:prstGeom prst="rect">
            <a:avLst/>
          </a:prstGeom>
          <a:noFill/>
          <a:ln/>
        </p:spPr>
        <p:txBody>
          <a:bodyPr wrap="square" rtlCol="0" anchor="ctr"/>
          <a:lstStyle/>
          <a:p>
            <a:pPr indent="0" marL="0">
              <a:buNone/>
            </a:pPr>
            <a:r>
              <a:rPr lang="en-US" sz="5600" b="1" dirty="0">
                <a:solidFill>
                  <a:srgbClr val="FFFFFF"/>
                </a:solidFill>
                <a:latin typeface="Microsoft YaHei" pitchFamily="34" charset="0"/>
                <a:ea typeface="Microsoft YaHei" pitchFamily="34" charset="-122"/>
                <a:cs typeface="Microsoft YaHei" pitchFamily="34" charset="-120"/>
              </a:rPr>
              <a:t>定时任务</a:t>
            </a:r>
            <a:endParaRPr lang="en-US" sz="5600" dirty="0"/>
          </a:p>
        </p:txBody>
      </p:sp>
      <p:sp>
        <p:nvSpPr>
          <p:cNvPr id="5" name="Shape 3"/>
          <p:cNvSpPr/>
          <p:nvPr/>
        </p:nvSpPr>
        <p:spPr>
          <a:xfrm>
            <a:off x="457200" y="3108960"/>
            <a:ext cx="1828800" cy="54864"/>
          </a:xfrm>
          <a:prstGeom prst="rect">
            <a:avLst/>
          </a:prstGeom>
          <a:solidFill>
            <a:srgbClr val="EF4444"/>
          </a:solidFill>
          <a:ln/>
        </p:spPr>
      </p:sp>
      <p:sp>
        <p:nvSpPr>
          <p:cNvPr id="6" name="Text 4"/>
          <p:cNvSpPr/>
          <p:nvPr/>
        </p:nvSpPr>
        <p:spPr>
          <a:xfrm>
            <a:off x="457200" y="3291840"/>
            <a:ext cx="8229600" cy="548640"/>
          </a:xfrm>
          <a:prstGeom prst="rect">
            <a:avLst/>
          </a:prstGeom>
          <a:noFill/>
          <a:ln/>
        </p:spPr>
        <p:txBody>
          <a:bodyPr wrap="square" rtlCol="0" anchor="ctr"/>
          <a:lstStyle/>
          <a:p>
            <a:pPr indent="0" marL="0">
              <a:buNone/>
            </a:pPr>
            <a:r>
              <a:rPr lang="en-US" sz="1800" dirty="0">
                <a:solidFill>
                  <a:srgbClr val="F3F4F6"/>
                </a:solidFill>
                <a:latin typeface="Microsoft YaHei" pitchFamily="34" charset="0"/>
                <a:ea typeface="Microsoft YaHei" pitchFamily="34" charset="-122"/>
                <a:cs typeface="Microsoft YaHei" pitchFamily="34" charset="-120"/>
              </a:rPr>
              <a:t>让数字员工主动工作</a:t>
            </a:r>
            <a:endParaRPr lang="en-US" sz="1800" dirty="0"/>
          </a:p>
        </p:txBody>
      </p:sp>
      <p:sp>
        <p:nvSpPr>
          <p:cNvPr id="7" name="Shape 5"/>
          <p:cNvSpPr/>
          <p:nvPr/>
        </p:nvSpPr>
        <p:spPr>
          <a:xfrm>
            <a:off x="8503920" y="4663440"/>
            <a:ext cx="365760" cy="365760"/>
          </a:xfrm>
          <a:prstGeom prst="ellipse">
            <a:avLst/>
          </a:prstGeom>
          <a:solidFill>
            <a:srgbClr val="EF4444"/>
          </a:solidFill>
          <a:ln/>
        </p:spPr>
      </p:sp>
      <p:sp>
        <p:nvSpPr>
          <p:cNvPr id="8" name="Text 6"/>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68</a:t>
            </a:r>
            <a:endParaRPr lang="en-US" sz="12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274320"/>
            <a:ext cx="8229600" cy="548640"/>
          </a:xfrm>
          <a:prstGeom prst="rect">
            <a:avLst/>
          </a:prstGeom>
          <a:noFill/>
          <a:ln/>
        </p:spPr>
        <p:txBody>
          <a:bodyPr wrap="square" rtlCol="0" anchor="ctr"/>
          <a:lstStyle/>
          <a:p>
            <a:pPr indent="0" marL="0">
              <a:buNone/>
            </a:pPr>
            <a:r>
              <a:rPr lang="en-US" sz="2800" b="1" dirty="0">
                <a:solidFill>
                  <a:srgbClr val="B91C1C"/>
                </a:solidFill>
                <a:latin typeface="Microsoft YaHei" pitchFamily="34" charset="0"/>
                <a:ea typeface="Microsoft YaHei" pitchFamily="34" charset="-122"/>
                <a:cs typeface="Microsoft YaHei" pitchFamily="34" charset="-120"/>
              </a:rPr>
              <a:t>从「叫醒才工作」到「按时主动执行」</a:t>
            </a:r>
            <a:endParaRPr lang="en-US" sz="2800" dirty="0"/>
          </a:p>
        </p:txBody>
      </p:sp>
      <p:sp>
        <p:nvSpPr>
          <p:cNvPr id="4" name="Shape 2"/>
          <p:cNvSpPr/>
          <p:nvPr/>
        </p:nvSpPr>
        <p:spPr>
          <a:xfrm>
            <a:off x="457200" y="1005840"/>
            <a:ext cx="3931920" cy="2011680"/>
          </a:xfrm>
          <a:prstGeom prst="roundRect">
            <a:avLst>
              <a:gd name="adj" fmla="val 4545"/>
            </a:avLst>
          </a:prstGeom>
          <a:solidFill>
            <a:srgbClr val="F3F4F6"/>
          </a:solidFill>
          <a:ln/>
        </p:spPr>
      </p:sp>
      <p:sp>
        <p:nvSpPr>
          <p:cNvPr id="5" name="Shape 3"/>
          <p:cNvSpPr/>
          <p:nvPr/>
        </p:nvSpPr>
        <p:spPr>
          <a:xfrm>
            <a:off x="2011680" y="1188720"/>
            <a:ext cx="640080" cy="640080"/>
          </a:xfrm>
          <a:prstGeom prst="ellipse">
            <a:avLst/>
          </a:prstGeom>
          <a:solidFill>
            <a:srgbClr val="374151"/>
          </a:solidFill>
          <a:ln/>
        </p:spPr>
      </p:sp>
      <p:sp>
        <p:nvSpPr>
          <p:cNvPr id="6" name="Text 4"/>
          <p:cNvSpPr/>
          <p:nvPr/>
        </p:nvSpPr>
        <p:spPr>
          <a:xfrm>
            <a:off x="2011680" y="1188720"/>
            <a:ext cx="640080" cy="640080"/>
          </a:xfrm>
          <a:prstGeom prst="rect">
            <a:avLst/>
          </a:prstGeom>
          <a:noFill/>
          <a:ln/>
        </p:spPr>
        <p:txBody>
          <a:bodyPr wrap="square"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X</a:t>
            </a:r>
            <a:endParaRPr lang="en-US" sz="2400" dirty="0"/>
          </a:p>
        </p:txBody>
      </p:sp>
      <p:sp>
        <p:nvSpPr>
          <p:cNvPr id="7" name="Text 5"/>
          <p:cNvSpPr/>
          <p:nvPr/>
        </p:nvSpPr>
        <p:spPr>
          <a:xfrm>
            <a:off x="640080" y="1920240"/>
            <a:ext cx="3566160" cy="457200"/>
          </a:xfrm>
          <a:prstGeom prst="rect">
            <a:avLst/>
          </a:prstGeom>
          <a:noFill/>
          <a:ln/>
        </p:spPr>
        <p:txBody>
          <a:bodyPr wrap="square" rtlCol="0" anchor="ctr"/>
          <a:lstStyle/>
          <a:p>
            <a:pPr algn="ctr" indent="0" marL="0">
              <a:buNone/>
            </a:pPr>
            <a:r>
              <a:rPr lang="en-US" sz="2000" b="1" dirty="0">
                <a:solidFill>
                  <a:srgbClr val="374151"/>
                </a:solidFill>
                <a:latin typeface="Microsoft YaHei" pitchFamily="34" charset="0"/>
                <a:ea typeface="Microsoft YaHei" pitchFamily="34" charset="-122"/>
                <a:cs typeface="Microsoft YaHei" pitchFamily="34" charset="-120"/>
              </a:rPr>
              <a:t>被动</a:t>
            </a:r>
            <a:endParaRPr lang="en-US" sz="2000" dirty="0"/>
          </a:p>
        </p:txBody>
      </p:sp>
      <p:sp>
        <p:nvSpPr>
          <p:cNvPr id="8" name="Text 6"/>
          <p:cNvSpPr/>
          <p:nvPr/>
        </p:nvSpPr>
        <p:spPr>
          <a:xfrm>
            <a:off x="640080" y="2377440"/>
            <a:ext cx="3566160" cy="457200"/>
          </a:xfrm>
          <a:prstGeom prst="rect">
            <a:avLst/>
          </a:prstGeom>
          <a:noFill/>
          <a:ln/>
        </p:spPr>
        <p:txBody>
          <a:bodyPr wrap="square" rtlCol="0" anchor="ctr"/>
          <a:lstStyle/>
          <a:p>
            <a:pPr algn="ctr" indent="0" marL="0">
              <a:buNone/>
            </a:pPr>
            <a:r>
              <a:rPr lang="en-US" sz="1300" dirty="0">
                <a:solidFill>
                  <a:srgbClr val="374151"/>
                </a:solidFill>
                <a:latin typeface="Microsoft YaHei" pitchFamily="34" charset="0"/>
                <a:ea typeface="Microsoft YaHei" pitchFamily="34" charset="-122"/>
                <a:cs typeface="Microsoft YaHei" pitchFamily="34" charset="-120"/>
              </a:rPr>
              <a:t>你输入，它处理，你不来，它不动</a:t>
            </a:r>
            <a:endParaRPr lang="en-US" sz="1300" dirty="0"/>
          </a:p>
        </p:txBody>
      </p:sp>
      <p:sp>
        <p:nvSpPr>
          <p:cNvPr id="9" name="Text 7"/>
          <p:cNvSpPr/>
          <p:nvPr/>
        </p:nvSpPr>
        <p:spPr>
          <a:xfrm>
            <a:off x="4114800" y="1737360"/>
            <a:ext cx="914400" cy="731520"/>
          </a:xfrm>
          <a:prstGeom prst="rect">
            <a:avLst/>
          </a:prstGeom>
          <a:noFill/>
          <a:ln/>
        </p:spPr>
        <p:txBody>
          <a:bodyPr wrap="square" rtlCol="0" anchor="ctr"/>
          <a:lstStyle/>
          <a:p>
            <a:pPr algn="ctr" indent="0" marL="0">
              <a:buNone/>
            </a:pPr>
            <a:r>
              <a:rPr lang="en-US" sz="2800" b="1" dirty="0">
                <a:solidFill>
                  <a:srgbClr val="EF4444"/>
                </a:solidFill>
                <a:latin typeface="Arial" pitchFamily="34" charset="0"/>
                <a:ea typeface="Arial" pitchFamily="34" charset="-122"/>
                <a:cs typeface="Arial" pitchFamily="34" charset="-120"/>
              </a:rPr>
              <a:t>&gt;&gt;&gt;</a:t>
            </a:r>
            <a:endParaRPr lang="en-US" sz="2800" dirty="0"/>
          </a:p>
        </p:txBody>
      </p:sp>
      <p:sp>
        <p:nvSpPr>
          <p:cNvPr id="10" name="Shape 8"/>
          <p:cNvSpPr/>
          <p:nvPr/>
        </p:nvSpPr>
        <p:spPr>
          <a:xfrm>
            <a:off x="4754880" y="1005840"/>
            <a:ext cx="3931920" cy="2011680"/>
          </a:xfrm>
          <a:prstGeom prst="roundRect">
            <a:avLst>
              <a:gd name="adj" fmla="val 4545"/>
            </a:avLst>
          </a:prstGeom>
          <a:solidFill>
            <a:srgbClr val="B91C1C"/>
          </a:solidFill>
          <a:ln/>
        </p:spPr>
      </p:sp>
      <p:sp>
        <p:nvSpPr>
          <p:cNvPr id="11" name="Shape 9"/>
          <p:cNvSpPr/>
          <p:nvPr/>
        </p:nvSpPr>
        <p:spPr>
          <a:xfrm>
            <a:off x="6309360" y="1188720"/>
            <a:ext cx="640080" cy="640080"/>
          </a:xfrm>
          <a:prstGeom prst="ellipse">
            <a:avLst/>
          </a:prstGeom>
          <a:solidFill>
            <a:srgbClr val="EF4444"/>
          </a:solidFill>
          <a:ln/>
        </p:spPr>
      </p:sp>
      <p:sp>
        <p:nvSpPr>
          <p:cNvPr id="12" name="Text 10"/>
          <p:cNvSpPr/>
          <p:nvPr/>
        </p:nvSpPr>
        <p:spPr>
          <a:xfrm>
            <a:off x="6309360" y="1188720"/>
            <a:ext cx="640080" cy="640080"/>
          </a:xfrm>
          <a:prstGeom prst="rect">
            <a:avLst/>
          </a:prstGeom>
          <a:noFill/>
          <a:ln/>
        </p:spPr>
        <p:txBody>
          <a:bodyPr wrap="square"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a:t>
            </a:r>
            <a:endParaRPr lang="en-US" sz="2400" dirty="0"/>
          </a:p>
        </p:txBody>
      </p:sp>
      <p:sp>
        <p:nvSpPr>
          <p:cNvPr id="13" name="Text 11"/>
          <p:cNvSpPr/>
          <p:nvPr/>
        </p:nvSpPr>
        <p:spPr>
          <a:xfrm>
            <a:off x="4937760" y="1920240"/>
            <a:ext cx="3566160" cy="457200"/>
          </a:xfrm>
          <a:prstGeom prst="rect">
            <a:avLst/>
          </a:prstGeom>
          <a:noFill/>
          <a:ln/>
        </p:spPr>
        <p:txBody>
          <a:bodyPr wrap="square" rtlCol="0" anchor="ctr"/>
          <a:lstStyle/>
          <a:p>
            <a:pPr algn="ctr" indent="0" marL="0">
              <a:buNone/>
            </a:pPr>
            <a:r>
              <a:rPr lang="en-US" sz="2000" b="1" dirty="0">
                <a:solidFill>
                  <a:srgbClr val="FFFFFF"/>
                </a:solidFill>
                <a:latin typeface="Microsoft YaHei" pitchFamily="34" charset="0"/>
                <a:ea typeface="Microsoft YaHei" pitchFamily="34" charset="-122"/>
                <a:cs typeface="Microsoft YaHei" pitchFamily="34" charset="-120"/>
              </a:rPr>
              <a:t>主动</a:t>
            </a:r>
            <a:endParaRPr lang="en-US" sz="2000" dirty="0"/>
          </a:p>
        </p:txBody>
      </p:sp>
      <p:sp>
        <p:nvSpPr>
          <p:cNvPr id="14" name="Text 12"/>
          <p:cNvSpPr/>
          <p:nvPr/>
        </p:nvSpPr>
        <p:spPr>
          <a:xfrm>
            <a:off x="4937760" y="2377440"/>
            <a:ext cx="3566160" cy="457200"/>
          </a:xfrm>
          <a:prstGeom prst="rect">
            <a:avLst/>
          </a:prstGeom>
          <a:noFill/>
          <a:ln/>
        </p:spPr>
        <p:txBody>
          <a:bodyPr wrap="square" rtlCol="0" anchor="ctr"/>
          <a:lstStyle/>
          <a:p>
            <a:pPr algn="ctr" indent="0" marL="0">
              <a:buNone/>
            </a:pPr>
            <a:r>
              <a:rPr lang="en-US" sz="1200" dirty="0">
                <a:solidFill>
                  <a:srgbClr val="F3F4F6"/>
                </a:solidFill>
                <a:latin typeface="Microsoft YaHei" pitchFamily="34" charset="0"/>
                <a:ea typeface="Microsoft YaHei" pitchFamily="34" charset="-122"/>
                <a:cs typeface="Microsoft YaHei" pitchFamily="34" charset="-120"/>
              </a:rPr>
              <a:t>每天的数据日报、每周的跟进提醒、每月的汇总报告</a:t>
            </a:r>
            <a:endParaRPr lang="en-US" sz="1200" dirty="0"/>
          </a:p>
        </p:txBody>
      </p:sp>
      <p:sp>
        <p:nvSpPr>
          <p:cNvPr id="15" name="Shape 13"/>
          <p:cNvSpPr/>
          <p:nvPr/>
        </p:nvSpPr>
        <p:spPr>
          <a:xfrm>
            <a:off x="457200" y="3291840"/>
            <a:ext cx="8229600" cy="1371600"/>
          </a:xfrm>
          <a:prstGeom prst="roundRect">
            <a:avLst>
              <a:gd name="adj" fmla="val 6667"/>
            </a:avLst>
          </a:prstGeom>
          <a:solidFill>
            <a:srgbClr val="EF4444"/>
          </a:solidFill>
          <a:ln/>
        </p:spPr>
      </p:sp>
      <p:sp>
        <p:nvSpPr>
          <p:cNvPr id="16" name="Text 14"/>
          <p:cNvSpPr/>
          <p:nvPr/>
        </p:nvSpPr>
        <p:spPr>
          <a:xfrm>
            <a:off x="640080" y="3474720"/>
            <a:ext cx="7863840" cy="457200"/>
          </a:xfrm>
          <a:prstGeom prst="rect">
            <a:avLst/>
          </a:prstGeom>
          <a:noFill/>
          <a:ln/>
        </p:spPr>
        <p:txBody>
          <a:bodyPr wrap="square" rtlCol="0" anchor="ctr"/>
          <a:lstStyle/>
          <a:p>
            <a:pPr algn="ctr" indent="0" marL="0">
              <a:buNone/>
            </a:pPr>
            <a:r>
              <a:rPr lang="en-US" sz="1800" b="1" dirty="0">
                <a:solidFill>
                  <a:srgbClr val="FFFFFF"/>
                </a:solidFill>
                <a:latin typeface="Microsoft YaHei" pitchFamily="34" charset="0"/>
                <a:ea typeface="Microsoft YaHei" pitchFamily="34" charset="-122"/>
                <a:cs typeface="Microsoft YaHei" pitchFamily="34" charset="-120"/>
              </a:rPr>
              <a:t>定时任务的价值</a:t>
            </a:r>
            <a:endParaRPr lang="en-US" sz="1800" dirty="0"/>
          </a:p>
        </p:txBody>
      </p:sp>
      <p:sp>
        <p:nvSpPr>
          <p:cNvPr id="17" name="Text 15"/>
          <p:cNvSpPr/>
          <p:nvPr/>
        </p:nvSpPr>
        <p:spPr>
          <a:xfrm>
            <a:off x="640080" y="3931920"/>
            <a:ext cx="7863840" cy="548640"/>
          </a:xfrm>
          <a:prstGeom prst="rect">
            <a:avLst/>
          </a:prstGeom>
          <a:noFill/>
          <a:ln/>
        </p:spPr>
        <p:txBody>
          <a:bodyPr wrap="square" rtlCol="0" anchor="ctr"/>
          <a:lstStyle/>
          <a:p>
            <a:pPr algn="ctr" indent="0" marL="0">
              <a:buNone/>
            </a:pPr>
            <a:r>
              <a:rPr lang="en-US" sz="2000" dirty="0">
                <a:solidFill>
                  <a:srgbClr val="FFFFFF"/>
                </a:solidFill>
                <a:latin typeface="Microsoft YaHei" pitchFamily="34" charset="0"/>
                <a:ea typeface="Microsoft YaHei" pitchFamily="34" charset="-122"/>
                <a:cs typeface="Microsoft YaHei" pitchFamily="34" charset="-120"/>
              </a:rPr>
              <a:t>把「我需要主动去要结果」变成「结果按时主动出现」</a:t>
            </a:r>
            <a:endParaRPr lang="en-US" sz="2000" dirty="0"/>
          </a:p>
        </p:txBody>
      </p:sp>
      <p:sp>
        <p:nvSpPr>
          <p:cNvPr id="18" name="Shape 16"/>
          <p:cNvSpPr/>
          <p:nvPr/>
        </p:nvSpPr>
        <p:spPr>
          <a:xfrm>
            <a:off x="8503920" y="4663440"/>
            <a:ext cx="365760" cy="365760"/>
          </a:xfrm>
          <a:prstGeom prst="ellipse">
            <a:avLst/>
          </a:prstGeom>
          <a:solidFill>
            <a:srgbClr val="EF4444"/>
          </a:solidFill>
          <a:ln/>
        </p:spPr>
      </p:sp>
      <p:sp>
        <p:nvSpPr>
          <p:cNvPr id="19" name="Text 17"/>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69</a:t>
            </a:r>
            <a:endParaRPr lang="en-US" sz="12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274320"/>
            <a:ext cx="8229600" cy="548640"/>
          </a:xfrm>
          <a:prstGeom prst="rect">
            <a:avLst/>
          </a:prstGeom>
          <a:noFill/>
          <a:ln/>
        </p:spPr>
        <p:txBody>
          <a:bodyPr wrap="square" rtlCol="0" anchor="ctr"/>
          <a:lstStyle/>
          <a:p>
            <a:pPr indent="0" marL="0">
              <a:buNone/>
            </a:pPr>
            <a:r>
              <a:rPr lang="en-US" sz="3000" b="1" dirty="0">
                <a:solidFill>
                  <a:srgbClr val="B91C1C"/>
                </a:solidFill>
                <a:latin typeface="Microsoft YaHei" pitchFamily="34" charset="0"/>
                <a:ea typeface="Microsoft YaHei" pitchFamily="34" charset="-122"/>
                <a:cs typeface="Microsoft YaHei" pitchFamily="34" charset="-120"/>
              </a:rPr>
              <a:t>什么任务适合设置定时执行</a:t>
            </a:r>
            <a:endParaRPr lang="en-US" sz="3000" dirty="0"/>
          </a:p>
        </p:txBody>
      </p:sp>
      <p:sp>
        <p:nvSpPr>
          <p:cNvPr id="4" name="Shape 2"/>
          <p:cNvSpPr/>
          <p:nvPr/>
        </p:nvSpPr>
        <p:spPr>
          <a:xfrm>
            <a:off x="457200" y="1005840"/>
            <a:ext cx="4023360" cy="1645920"/>
          </a:xfrm>
          <a:prstGeom prst="roundRect">
            <a:avLst>
              <a:gd name="adj" fmla="val 5556"/>
            </a:avLst>
          </a:prstGeom>
          <a:solidFill>
            <a:srgbClr val="F3F4F6"/>
          </a:solidFill>
          <a:ln/>
        </p:spPr>
      </p:sp>
      <p:sp>
        <p:nvSpPr>
          <p:cNvPr id="5" name="Shape 3"/>
          <p:cNvSpPr/>
          <p:nvPr/>
        </p:nvSpPr>
        <p:spPr>
          <a:xfrm>
            <a:off x="640080" y="1188720"/>
            <a:ext cx="548640" cy="548640"/>
          </a:xfrm>
          <a:prstGeom prst="ellipse">
            <a:avLst/>
          </a:prstGeom>
          <a:solidFill>
            <a:srgbClr val="EF4444"/>
          </a:solidFill>
          <a:ln/>
        </p:spPr>
      </p:sp>
      <p:sp>
        <p:nvSpPr>
          <p:cNvPr id="6" name="Text 4"/>
          <p:cNvSpPr/>
          <p:nvPr/>
        </p:nvSpPr>
        <p:spPr>
          <a:xfrm>
            <a:off x="640080" y="1188720"/>
            <a:ext cx="548640" cy="54864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7" name="Text 5"/>
          <p:cNvSpPr/>
          <p:nvPr/>
        </p:nvSpPr>
        <p:spPr>
          <a:xfrm>
            <a:off x="1325880" y="1234440"/>
            <a:ext cx="2926080" cy="457200"/>
          </a:xfrm>
          <a:prstGeom prst="rect">
            <a:avLst/>
          </a:prstGeom>
          <a:noFill/>
          <a:ln/>
        </p:spPr>
        <p:txBody>
          <a:bodyPr wrap="square" rtlCol="0" anchor="ctr"/>
          <a:lstStyle/>
          <a:p>
            <a:pPr indent="0" marL="0">
              <a:buNone/>
            </a:pPr>
            <a:r>
              <a:rPr lang="en-US" sz="1800" b="1" dirty="0">
                <a:solidFill>
                  <a:srgbClr val="B91C1C"/>
                </a:solidFill>
                <a:latin typeface="Microsoft YaHei" pitchFamily="34" charset="0"/>
                <a:ea typeface="Microsoft YaHei" pitchFamily="34" charset="-122"/>
                <a:cs typeface="Microsoft YaHei" pitchFamily="34" charset="-120"/>
              </a:rPr>
              <a:t>周期固定</a:t>
            </a:r>
            <a:endParaRPr lang="en-US" sz="1800" dirty="0"/>
          </a:p>
        </p:txBody>
      </p:sp>
      <p:sp>
        <p:nvSpPr>
          <p:cNvPr id="8" name="Text 6"/>
          <p:cNvSpPr/>
          <p:nvPr/>
        </p:nvSpPr>
        <p:spPr>
          <a:xfrm>
            <a:off x="640080" y="1874520"/>
            <a:ext cx="3657600" cy="64008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能说出「每天/周/月的某个时间点做」</a:t>
            </a:r>
            <a:endParaRPr lang="en-US" sz="1300" dirty="0"/>
          </a:p>
        </p:txBody>
      </p:sp>
      <p:sp>
        <p:nvSpPr>
          <p:cNvPr id="9" name="Shape 7"/>
          <p:cNvSpPr/>
          <p:nvPr/>
        </p:nvSpPr>
        <p:spPr>
          <a:xfrm>
            <a:off x="4663440" y="1005840"/>
            <a:ext cx="4023360" cy="1645920"/>
          </a:xfrm>
          <a:prstGeom prst="roundRect">
            <a:avLst>
              <a:gd name="adj" fmla="val 5556"/>
            </a:avLst>
          </a:prstGeom>
          <a:solidFill>
            <a:srgbClr val="F3F4F6"/>
          </a:solidFill>
          <a:ln/>
        </p:spPr>
      </p:sp>
      <p:sp>
        <p:nvSpPr>
          <p:cNvPr id="10" name="Shape 8"/>
          <p:cNvSpPr/>
          <p:nvPr/>
        </p:nvSpPr>
        <p:spPr>
          <a:xfrm>
            <a:off x="4846320" y="1188720"/>
            <a:ext cx="548640" cy="548640"/>
          </a:xfrm>
          <a:prstGeom prst="ellipse">
            <a:avLst/>
          </a:prstGeom>
          <a:solidFill>
            <a:srgbClr val="EF4444"/>
          </a:solidFill>
          <a:ln/>
        </p:spPr>
      </p:sp>
      <p:sp>
        <p:nvSpPr>
          <p:cNvPr id="11" name="Text 9"/>
          <p:cNvSpPr/>
          <p:nvPr/>
        </p:nvSpPr>
        <p:spPr>
          <a:xfrm>
            <a:off x="4846320" y="1188720"/>
            <a:ext cx="548640" cy="54864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12" name="Text 10"/>
          <p:cNvSpPr/>
          <p:nvPr/>
        </p:nvSpPr>
        <p:spPr>
          <a:xfrm>
            <a:off x="5532120" y="1234440"/>
            <a:ext cx="2926080" cy="457200"/>
          </a:xfrm>
          <a:prstGeom prst="rect">
            <a:avLst/>
          </a:prstGeom>
          <a:noFill/>
          <a:ln/>
        </p:spPr>
        <p:txBody>
          <a:bodyPr wrap="square" rtlCol="0" anchor="ctr"/>
          <a:lstStyle/>
          <a:p>
            <a:pPr indent="0" marL="0">
              <a:buNone/>
            </a:pPr>
            <a:r>
              <a:rPr lang="en-US" sz="1800" b="1" dirty="0">
                <a:solidFill>
                  <a:srgbClr val="B91C1C"/>
                </a:solidFill>
                <a:latin typeface="Microsoft YaHei" pitchFamily="34" charset="0"/>
                <a:ea typeface="Microsoft YaHei" pitchFamily="34" charset="-122"/>
                <a:cs typeface="Microsoft YaHei" pitchFamily="34" charset="-120"/>
              </a:rPr>
              <a:t>触发条件明确</a:t>
            </a:r>
            <a:endParaRPr lang="en-US" sz="1800" dirty="0"/>
          </a:p>
        </p:txBody>
      </p:sp>
      <p:sp>
        <p:nvSpPr>
          <p:cNvPr id="13" name="Text 11"/>
          <p:cNvSpPr/>
          <p:nvPr/>
        </p:nvSpPr>
        <p:spPr>
          <a:xfrm>
            <a:off x="4846320" y="1874520"/>
            <a:ext cx="3657600" cy="64008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时间到了就该跑</a:t>
            </a:r>
            <a:endParaRPr lang="en-US" sz="1300" dirty="0"/>
          </a:p>
        </p:txBody>
      </p:sp>
      <p:sp>
        <p:nvSpPr>
          <p:cNvPr id="14" name="Shape 12"/>
          <p:cNvSpPr/>
          <p:nvPr/>
        </p:nvSpPr>
        <p:spPr>
          <a:xfrm>
            <a:off x="457200" y="2834640"/>
            <a:ext cx="4023360" cy="1645920"/>
          </a:xfrm>
          <a:prstGeom prst="roundRect">
            <a:avLst>
              <a:gd name="adj" fmla="val 5556"/>
            </a:avLst>
          </a:prstGeom>
          <a:solidFill>
            <a:srgbClr val="F3F4F6"/>
          </a:solidFill>
          <a:ln/>
        </p:spPr>
      </p:sp>
      <p:sp>
        <p:nvSpPr>
          <p:cNvPr id="15" name="Shape 13"/>
          <p:cNvSpPr/>
          <p:nvPr/>
        </p:nvSpPr>
        <p:spPr>
          <a:xfrm>
            <a:off x="640080" y="3017520"/>
            <a:ext cx="548640" cy="548640"/>
          </a:xfrm>
          <a:prstGeom prst="ellipse">
            <a:avLst/>
          </a:prstGeom>
          <a:solidFill>
            <a:srgbClr val="EF4444"/>
          </a:solidFill>
          <a:ln/>
        </p:spPr>
      </p:sp>
      <p:sp>
        <p:nvSpPr>
          <p:cNvPr id="16" name="Text 14"/>
          <p:cNvSpPr/>
          <p:nvPr/>
        </p:nvSpPr>
        <p:spPr>
          <a:xfrm>
            <a:off x="640080" y="3017520"/>
            <a:ext cx="548640" cy="54864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17" name="Text 15"/>
          <p:cNvSpPr/>
          <p:nvPr/>
        </p:nvSpPr>
        <p:spPr>
          <a:xfrm>
            <a:off x="1325880" y="3063240"/>
            <a:ext cx="2926080" cy="457200"/>
          </a:xfrm>
          <a:prstGeom prst="rect">
            <a:avLst/>
          </a:prstGeom>
          <a:noFill/>
          <a:ln/>
        </p:spPr>
        <p:txBody>
          <a:bodyPr wrap="square" rtlCol="0" anchor="ctr"/>
          <a:lstStyle/>
          <a:p>
            <a:pPr indent="0" marL="0">
              <a:buNone/>
            </a:pPr>
            <a:r>
              <a:rPr lang="en-US" sz="1800" b="1" dirty="0">
                <a:solidFill>
                  <a:srgbClr val="B91C1C"/>
                </a:solidFill>
                <a:latin typeface="Microsoft YaHei" pitchFamily="34" charset="0"/>
                <a:ea typeface="Microsoft YaHei" pitchFamily="34" charset="-122"/>
                <a:cs typeface="Microsoft YaHei" pitchFamily="34" charset="-120"/>
              </a:rPr>
              <a:t>输入数据可自动获取</a:t>
            </a:r>
            <a:endParaRPr lang="en-US" sz="1800" dirty="0"/>
          </a:p>
        </p:txBody>
      </p:sp>
      <p:sp>
        <p:nvSpPr>
          <p:cNvPr id="18" name="Text 16"/>
          <p:cNvSpPr/>
          <p:nvPr/>
        </p:nvSpPr>
        <p:spPr>
          <a:xfrm>
            <a:off x="640080" y="3703320"/>
            <a:ext cx="3657600" cy="64008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数据在系统、表格或固定位置</a:t>
            </a:r>
            <a:endParaRPr lang="en-US" sz="1300" dirty="0"/>
          </a:p>
        </p:txBody>
      </p:sp>
      <p:sp>
        <p:nvSpPr>
          <p:cNvPr id="19" name="Shape 17"/>
          <p:cNvSpPr/>
          <p:nvPr/>
        </p:nvSpPr>
        <p:spPr>
          <a:xfrm>
            <a:off x="4663440" y="2834640"/>
            <a:ext cx="4023360" cy="1645920"/>
          </a:xfrm>
          <a:prstGeom prst="roundRect">
            <a:avLst>
              <a:gd name="adj" fmla="val 5556"/>
            </a:avLst>
          </a:prstGeom>
          <a:solidFill>
            <a:srgbClr val="F3F4F6"/>
          </a:solidFill>
          <a:ln/>
        </p:spPr>
      </p:sp>
      <p:sp>
        <p:nvSpPr>
          <p:cNvPr id="20" name="Shape 18"/>
          <p:cNvSpPr/>
          <p:nvPr/>
        </p:nvSpPr>
        <p:spPr>
          <a:xfrm>
            <a:off x="4846320" y="3017520"/>
            <a:ext cx="548640" cy="548640"/>
          </a:xfrm>
          <a:prstGeom prst="ellipse">
            <a:avLst/>
          </a:prstGeom>
          <a:solidFill>
            <a:srgbClr val="EF4444"/>
          </a:solidFill>
          <a:ln/>
        </p:spPr>
      </p:sp>
      <p:sp>
        <p:nvSpPr>
          <p:cNvPr id="21" name="Text 19"/>
          <p:cNvSpPr/>
          <p:nvPr/>
        </p:nvSpPr>
        <p:spPr>
          <a:xfrm>
            <a:off x="4846320" y="3017520"/>
            <a:ext cx="548640" cy="54864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4</a:t>
            </a:r>
            <a:endParaRPr lang="en-US" sz="2000" dirty="0"/>
          </a:p>
        </p:txBody>
      </p:sp>
      <p:sp>
        <p:nvSpPr>
          <p:cNvPr id="22" name="Text 20"/>
          <p:cNvSpPr/>
          <p:nvPr/>
        </p:nvSpPr>
        <p:spPr>
          <a:xfrm>
            <a:off x="5532120" y="3063240"/>
            <a:ext cx="2926080" cy="457200"/>
          </a:xfrm>
          <a:prstGeom prst="rect">
            <a:avLst/>
          </a:prstGeom>
          <a:noFill/>
          <a:ln/>
        </p:spPr>
        <p:txBody>
          <a:bodyPr wrap="square" rtlCol="0" anchor="ctr"/>
          <a:lstStyle/>
          <a:p>
            <a:pPr indent="0" marL="0">
              <a:buNone/>
            </a:pPr>
            <a:r>
              <a:rPr lang="en-US" sz="1800" b="1" dirty="0">
                <a:solidFill>
                  <a:srgbClr val="B91C1C"/>
                </a:solidFill>
                <a:latin typeface="Microsoft YaHei" pitchFamily="34" charset="0"/>
                <a:ea typeface="Microsoft YaHei" pitchFamily="34" charset="-122"/>
                <a:cs typeface="Microsoft YaHei" pitchFamily="34" charset="-120"/>
              </a:rPr>
              <a:t>输出接收方固定</a:t>
            </a:r>
            <a:endParaRPr lang="en-US" sz="1800" dirty="0"/>
          </a:p>
        </p:txBody>
      </p:sp>
      <p:sp>
        <p:nvSpPr>
          <p:cNvPr id="23" name="Text 21"/>
          <p:cNvSpPr/>
          <p:nvPr/>
        </p:nvSpPr>
        <p:spPr>
          <a:xfrm>
            <a:off x="4846320" y="3703320"/>
            <a:ext cx="3657600" cy="64008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不需要每次决定发给谁</a:t>
            </a:r>
            <a:endParaRPr lang="en-US" sz="1300" dirty="0"/>
          </a:p>
        </p:txBody>
      </p:sp>
      <p:sp>
        <p:nvSpPr>
          <p:cNvPr id="24" name="Shape 22"/>
          <p:cNvSpPr/>
          <p:nvPr/>
        </p:nvSpPr>
        <p:spPr>
          <a:xfrm>
            <a:off x="8503920" y="4663440"/>
            <a:ext cx="365760" cy="365760"/>
          </a:xfrm>
          <a:prstGeom prst="ellipse">
            <a:avLst/>
          </a:prstGeom>
          <a:solidFill>
            <a:srgbClr val="EF4444"/>
          </a:solidFill>
          <a:ln/>
        </p:spPr>
      </p:sp>
      <p:sp>
        <p:nvSpPr>
          <p:cNvPr id="25" name="Text 23"/>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70</a:t>
            </a:r>
            <a:endParaRPr lang="en-US" sz="12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274320"/>
            <a:ext cx="8229600" cy="548640"/>
          </a:xfrm>
          <a:prstGeom prst="rect">
            <a:avLst/>
          </a:prstGeom>
          <a:noFill/>
          <a:ln/>
        </p:spPr>
        <p:txBody>
          <a:bodyPr wrap="square" rtlCol="0" anchor="ctr"/>
          <a:lstStyle/>
          <a:p>
            <a:pPr indent="0" marL="0">
              <a:buNone/>
            </a:pPr>
            <a:r>
              <a:rPr lang="en-US" sz="3200" b="1" dirty="0">
                <a:solidFill>
                  <a:srgbClr val="B91C1C"/>
                </a:solidFill>
                <a:latin typeface="Microsoft YaHei" pitchFamily="34" charset="0"/>
                <a:ea typeface="Microsoft YaHei" pitchFamily="34" charset="-122"/>
                <a:cs typeface="Microsoft YaHei" pitchFamily="34" charset="-120"/>
              </a:rPr>
              <a:t>各岗位典型的定时任务</a:t>
            </a:r>
            <a:endParaRPr lang="en-US" sz="3200" dirty="0"/>
          </a:p>
        </p:txBody>
      </p:sp>
      <p:sp>
        <p:nvSpPr>
          <p:cNvPr id="4" name="Shape 2"/>
          <p:cNvSpPr/>
          <p:nvPr/>
        </p:nvSpPr>
        <p:spPr>
          <a:xfrm>
            <a:off x="457200" y="914400"/>
            <a:ext cx="1645920" cy="411480"/>
          </a:xfrm>
          <a:prstGeom prst="rect">
            <a:avLst/>
          </a:prstGeom>
          <a:solidFill>
            <a:srgbClr val="B91C1C"/>
          </a:solidFill>
          <a:ln/>
        </p:spPr>
      </p:sp>
      <p:sp>
        <p:nvSpPr>
          <p:cNvPr id="5" name="Text 3"/>
          <p:cNvSpPr/>
          <p:nvPr/>
        </p:nvSpPr>
        <p:spPr>
          <a:xfrm>
            <a:off x="457200" y="914400"/>
            <a:ext cx="1645920" cy="411480"/>
          </a:xfrm>
          <a:prstGeom prst="rect">
            <a:avLst/>
          </a:prstGeom>
          <a:noFill/>
          <a:ln/>
        </p:spPr>
        <p:txBody>
          <a:bodyPr wrap="square"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岗位类型</a:t>
            </a:r>
            <a:endParaRPr lang="en-US" sz="1300" dirty="0"/>
          </a:p>
        </p:txBody>
      </p:sp>
      <p:sp>
        <p:nvSpPr>
          <p:cNvPr id="6" name="Shape 4"/>
          <p:cNvSpPr/>
          <p:nvPr/>
        </p:nvSpPr>
        <p:spPr>
          <a:xfrm>
            <a:off x="2103120" y="914400"/>
            <a:ext cx="3657600" cy="411480"/>
          </a:xfrm>
          <a:prstGeom prst="rect">
            <a:avLst/>
          </a:prstGeom>
          <a:solidFill>
            <a:srgbClr val="B91C1C"/>
          </a:solidFill>
          <a:ln/>
        </p:spPr>
      </p:sp>
      <p:sp>
        <p:nvSpPr>
          <p:cNvPr id="7" name="Text 5"/>
          <p:cNvSpPr/>
          <p:nvPr/>
        </p:nvSpPr>
        <p:spPr>
          <a:xfrm>
            <a:off x="2103120" y="914400"/>
            <a:ext cx="3657600" cy="411480"/>
          </a:xfrm>
          <a:prstGeom prst="rect">
            <a:avLst/>
          </a:prstGeom>
          <a:noFill/>
          <a:ln/>
        </p:spPr>
        <p:txBody>
          <a:bodyPr wrap="square"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定时任务示例</a:t>
            </a:r>
            <a:endParaRPr lang="en-US" sz="1300" dirty="0"/>
          </a:p>
        </p:txBody>
      </p:sp>
      <p:sp>
        <p:nvSpPr>
          <p:cNvPr id="8" name="Shape 6"/>
          <p:cNvSpPr/>
          <p:nvPr/>
        </p:nvSpPr>
        <p:spPr>
          <a:xfrm>
            <a:off x="5760720" y="914400"/>
            <a:ext cx="2011680" cy="411480"/>
          </a:xfrm>
          <a:prstGeom prst="rect">
            <a:avLst/>
          </a:prstGeom>
          <a:solidFill>
            <a:srgbClr val="B91C1C"/>
          </a:solidFill>
          <a:ln/>
        </p:spPr>
      </p:sp>
      <p:sp>
        <p:nvSpPr>
          <p:cNvPr id="9" name="Text 7"/>
          <p:cNvSpPr/>
          <p:nvPr/>
        </p:nvSpPr>
        <p:spPr>
          <a:xfrm>
            <a:off x="5760720" y="914400"/>
            <a:ext cx="2011680" cy="411480"/>
          </a:xfrm>
          <a:prstGeom prst="rect">
            <a:avLst/>
          </a:prstGeom>
          <a:noFill/>
          <a:ln/>
        </p:spPr>
        <p:txBody>
          <a:bodyPr wrap="square"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触发频率</a:t>
            </a:r>
            <a:endParaRPr lang="en-US" sz="1300" dirty="0"/>
          </a:p>
        </p:txBody>
      </p:sp>
      <p:sp>
        <p:nvSpPr>
          <p:cNvPr id="10" name="Shape 8"/>
          <p:cNvSpPr/>
          <p:nvPr/>
        </p:nvSpPr>
        <p:spPr>
          <a:xfrm>
            <a:off x="457200" y="1325880"/>
            <a:ext cx="8229600" cy="594360"/>
          </a:xfrm>
          <a:prstGeom prst="rect">
            <a:avLst/>
          </a:prstGeom>
          <a:solidFill>
            <a:srgbClr val="F3F4F6"/>
          </a:solidFill>
          <a:ln/>
        </p:spPr>
      </p:sp>
      <p:sp>
        <p:nvSpPr>
          <p:cNvPr id="11" name="Shape 9"/>
          <p:cNvSpPr/>
          <p:nvPr/>
        </p:nvSpPr>
        <p:spPr>
          <a:xfrm>
            <a:off x="457200" y="1325880"/>
            <a:ext cx="73152" cy="594360"/>
          </a:xfrm>
          <a:prstGeom prst="rect">
            <a:avLst/>
          </a:prstGeom>
          <a:solidFill>
            <a:srgbClr val="EF4444"/>
          </a:solidFill>
          <a:ln/>
        </p:spPr>
      </p:sp>
      <p:sp>
        <p:nvSpPr>
          <p:cNvPr id="12" name="Text 10"/>
          <p:cNvSpPr/>
          <p:nvPr/>
        </p:nvSpPr>
        <p:spPr>
          <a:xfrm>
            <a:off x="594360" y="1325880"/>
            <a:ext cx="1463040" cy="594360"/>
          </a:xfrm>
          <a:prstGeom prst="rect">
            <a:avLst/>
          </a:prstGeom>
          <a:noFill/>
          <a:ln/>
        </p:spPr>
        <p:txBody>
          <a:bodyPr wrap="square" rtlCol="0" anchor="ctr"/>
          <a:lstStyle/>
          <a:p>
            <a:pPr indent="0" marL="0">
              <a:buNone/>
            </a:pPr>
            <a:r>
              <a:rPr lang="en-US" sz="1200" b="1" dirty="0">
                <a:solidFill>
                  <a:srgbClr val="B91C1C"/>
                </a:solidFill>
                <a:latin typeface="Microsoft YaHei" pitchFamily="34" charset="0"/>
                <a:ea typeface="Microsoft YaHei" pitchFamily="34" charset="-122"/>
                <a:cs typeface="Microsoft YaHei" pitchFamily="34" charset="-120"/>
              </a:rPr>
              <a:t>销售/BD</a:t>
            </a:r>
            <a:endParaRPr lang="en-US" sz="1200" dirty="0"/>
          </a:p>
        </p:txBody>
      </p:sp>
      <p:sp>
        <p:nvSpPr>
          <p:cNvPr id="13" name="Text 11"/>
          <p:cNvSpPr/>
          <p:nvPr/>
        </p:nvSpPr>
        <p:spPr>
          <a:xfrm>
            <a:off x="2194560" y="1325880"/>
            <a:ext cx="3474720" cy="594360"/>
          </a:xfrm>
          <a:prstGeom prst="rect">
            <a:avLst/>
          </a:prstGeom>
          <a:noFill/>
          <a:ln/>
        </p:spPr>
        <p:txBody>
          <a:bodyPr wrap="square" rtlCol="0" anchor="ctr"/>
          <a:lstStyle/>
          <a:p>
            <a:pPr indent="0" marL="0">
              <a:buNone/>
            </a:pPr>
            <a:r>
              <a:rPr lang="en-US" sz="1200" dirty="0">
                <a:solidFill>
                  <a:srgbClr val="374151"/>
                </a:solidFill>
                <a:latin typeface="Microsoft YaHei" pitchFamily="34" charset="0"/>
                <a:ea typeface="Microsoft YaHei" pitchFamily="34" charset="-122"/>
                <a:cs typeface="Microsoft YaHei" pitchFamily="34" charset="-120"/>
              </a:rPr>
              <a:t>跟进超期提醒</a:t>
            </a:r>
            <a:endParaRPr lang="en-US" sz="1200" dirty="0"/>
          </a:p>
        </p:txBody>
      </p:sp>
      <p:sp>
        <p:nvSpPr>
          <p:cNvPr id="14" name="Shape 12"/>
          <p:cNvSpPr/>
          <p:nvPr/>
        </p:nvSpPr>
        <p:spPr>
          <a:xfrm>
            <a:off x="6035040" y="1463040"/>
            <a:ext cx="1371600" cy="320040"/>
          </a:xfrm>
          <a:prstGeom prst="roundRect">
            <a:avLst>
              <a:gd name="adj" fmla="val 22857"/>
            </a:avLst>
          </a:prstGeom>
          <a:solidFill>
            <a:srgbClr val="EF4444"/>
          </a:solidFill>
          <a:ln/>
        </p:spPr>
      </p:sp>
      <p:sp>
        <p:nvSpPr>
          <p:cNvPr id="15" name="Text 13"/>
          <p:cNvSpPr/>
          <p:nvPr/>
        </p:nvSpPr>
        <p:spPr>
          <a:xfrm>
            <a:off x="6035040" y="1463040"/>
            <a:ext cx="1371600" cy="320040"/>
          </a:xfrm>
          <a:prstGeom prst="rect">
            <a:avLst/>
          </a:prstGeom>
          <a:noFill/>
          <a:ln/>
        </p:spPr>
        <p:txBody>
          <a:bodyPr wrap="square" rtlCol="0" anchor="ctr"/>
          <a:lstStyle/>
          <a:p>
            <a:pPr algn="ctr" indent="0" marL="0">
              <a:buNone/>
            </a:pPr>
            <a:r>
              <a:rPr lang="en-US" sz="1100" b="1" dirty="0">
                <a:solidFill>
                  <a:srgbClr val="FFFFFF"/>
                </a:solidFill>
                <a:latin typeface="Microsoft YaHei" pitchFamily="34" charset="0"/>
                <a:ea typeface="Microsoft YaHei" pitchFamily="34" charset="-122"/>
                <a:cs typeface="Microsoft YaHei" pitchFamily="34" charset="-120"/>
              </a:rPr>
              <a:t>每天早上</a:t>
            </a:r>
            <a:endParaRPr lang="en-US" sz="1100" dirty="0"/>
          </a:p>
        </p:txBody>
      </p:sp>
      <p:sp>
        <p:nvSpPr>
          <p:cNvPr id="16" name="Shape 14"/>
          <p:cNvSpPr/>
          <p:nvPr/>
        </p:nvSpPr>
        <p:spPr>
          <a:xfrm>
            <a:off x="457200" y="1920240"/>
            <a:ext cx="8229600" cy="594360"/>
          </a:xfrm>
          <a:prstGeom prst="rect">
            <a:avLst/>
          </a:prstGeom>
          <a:solidFill>
            <a:srgbClr val="FFFFFF"/>
          </a:solidFill>
          <a:ln/>
        </p:spPr>
      </p:sp>
      <p:sp>
        <p:nvSpPr>
          <p:cNvPr id="17" name="Shape 15"/>
          <p:cNvSpPr/>
          <p:nvPr/>
        </p:nvSpPr>
        <p:spPr>
          <a:xfrm>
            <a:off x="457200" y="1920240"/>
            <a:ext cx="73152" cy="594360"/>
          </a:xfrm>
          <a:prstGeom prst="rect">
            <a:avLst/>
          </a:prstGeom>
          <a:solidFill>
            <a:srgbClr val="EF4444"/>
          </a:solidFill>
          <a:ln/>
        </p:spPr>
      </p:sp>
      <p:sp>
        <p:nvSpPr>
          <p:cNvPr id="18" name="Text 16"/>
          <p:cNvSpPr/>
          <p:nvPr/>
        </p:nvSpPr>
        <p:spPr>
          <a:xfrm>
            <a:off x="594360" y="1920240"/>
            <a:ext cx="1463040" cy="594360"/>
          </a:xfrm>
          <a:prstGeom prst="rect">
            <a:avLst/>
          </a:prstGeom>
          <a:noFill/>
          <a:ln/>
        </p:spPr>
        <p:txBody>
          <a:bodyPr wrap="square" rtlCol="0" anchor="ctr"/>
          <a:lstStyle/>
          <a:p>
            <a:pPr indent="0" marL="0">
              <a:buNone/>
            </a:pPr>
            <a:r>
              <a:rPr lang="en-US" sz="1200" b="1" dirty="0">
                <a:solidFill>
                  <a:srgbClr val="B91C1C"/>
                </a:solidFill>
                <a:latin typeface="Microsoft YaHei" pitchFamily="34" charset="0"/>
                <a:ea typeface="Microsoft YaHei" pitchFamily="34" charset="-122"/>
                <a:cs typeface="Microsoft YaHei" pitchFamily="34" charset="-120"/>
              </a:rPr>
              <a:t>客服</a:t>
            </a:r>
            <a:endParaRPr lang="en-US" sz="1200" dirty="0"/>
          </a:p>
        </p:txBody>
      </p:sp>
      <p:sp>
        <p:nvSpPr>
          <p:cNvPr id="19" name="Text 17"/>
          <p:cNvSpPr/>
          <p:nvPr/>
        </p:nvSpPr>
        <p:spPr>
          <a:xfrm>
            <a:off x="2194560" y="1920240"/>
            <a:ext cx="3474720" cy="594360"/>
          </a:xfrm>
          <a:prstGeom prst="rect">
            <a:avLst/>
          </a:prstGeom>
          <a:noFill/>
          <a:ln/>
        </p:spPr>
        <p:txBody>
          <a:bodyPr wrap="square" rtlCol="0" anchor="ctr"/>
          <a:lstStyle/>
          <a:p>
            <a:pPr indent="0" marL="0">
              <a:buNone/>
            </a:pPr>
            <a:r>
              <a:rPr lang="en-US" sz="1200" dirty="0">
                <a:solidFill>
                  <a:srgbClr val="374151"/>
                </a:solidFill>
                <a:latin typeface="Microsoft YaHei" pitchFamily="34" charset="0"/>
                <a:ea typeface="Microsoft YaHei" pitchFamily="34" charset="-122"/>
                <a:cs typeface="Microsoft YaHei" pitchFamily="34" charset="-120"/>
              </a:rPr>
              <a:t>前一天投诉汇总</a:t>
            </a:r>
            <a:endParaRPr lang="en-US" sz="1200" dirty="0"/>
          </a:p>
        </p:txBody>
      </p:sp>
      <p:sp>
        <p:nvSpPr>
          <p:cNvPr id="20" name="Shape 18"/>
          <p:cNvSpPr/>
          <p:nvPr/>
        </p:nvSpPr>
        <p:spPr>
          <a:xfrm>
            <a:off x="6035040" y="2057400"/>
            <a:ext cx="1371600" cy="320040"/>
          </a:xfrm>
          <a:prstGeom prst="roundRect">
            <a:avLst>
              <a:gd name="adj" fmla="val 22857"/>
            </a:avLst>
          </a:prstGeom>
          <a:solidFill>
            <a:srgbClr val="EF4444"/>
          </a:solidFill>
          <a:ln/>
        </p:spPr>
      </p:sp>
      <p:sp>
        <p:nvSpPr>
          <p:cNvPr id="21" name="Text 19"/>
          <p:cNvSpPr/>
          <p:nvPr/>
        </p:nvSpPr>
        <p:spPr>
          <a:xfrm>
            <a:off x="6035040" y="2057400"/>
            <a:ext cx="1371600" cy="320040"/>
          </a:xfrm>
          <a:prstGeom prst="rect">
            <a:avLst/>
          </a:prstGeom>
          <a:noFill/>
          <a:ln/>
        </p:spPr>
        <p:txBody>
          <a:bodyPr wrap="square" rtlCol="0" anchor="ctr"/>
          <a:lstStyle/>
          <a:p>
            <a:pPr algn="ctr" indent="0" marL="0">
              <a:buNone/>
            </a:pPr>
            <a:r>
              <a:rPr lang="en-US" sz="1100" b="1" dirty="0">
                <a:solidFill>
                  <a:srgbClr val="FFFFFF"/>
                </a:solidFill>
                <a:latin typeface="Microsoft YaHei" pitchFamily="34" charset="0"/>
                <a:ea typeface="Microsoft YaHei" pitchFamily="34" charset="-122"/>
                <a:cs typeface="Microsoft YaHei" pitchFamily="34" charset="-120"/>
              </a:rPr>
              <a:t>每天早上</a:t>
            </a:r>
            <a:endParaRPr lang="en-US" sz="1100" dirty="0"/>
          </a:p>
        </p:txBody>
      </p:sp>
      <p:sp>
        <p:nvSpPr>
          <p:cNvPr id="22" name="Shape 20"/>
          <p:cNvSpPr/>
          <p:nvPr/>
        </p:nvSpPr>
        <p:spPr>
          <a:xfrm>
            <a:off x="457200" y="2514600"/>
            <a:ext cx="8229600" cy="594360"/>
          </a:xfrm>
          <a:prstGeom prst="rect">
            <a:avLst/>
          </a:prstGeom>
          <a:solidFill>
            <a:srgbClr val="F3F4F6"/>
          </a:solidFill>
          <a:ln/>
        </p:spPr>
      </p:sp>
      <p:sp>
        <p:nvSpPr>
          <p:cNvPr id="23" name="Shape 21"/>
          <p:cNvSpPr/>
          <p:nvPr/>
        </p:nvSpPr>
        <p:spPr>
          <a:xfrm>
            <a:off x="457200" y="2514600"/>
            <a:ext cx="73152" cy="594360"/>
          </a:xfrm>
          <a:prstGeom prst="rect">
            <a:avLst/>
          </a:prstGeom>
          <a:solidFill>
            <a:srgbClr val="EF4444"/>
          </a:solidFill>
          <a:ln/>
        </p:spPr>
      </p:sp>
      <p:sp>
        <p:nvSpPr>
          <p:cNvPr id="24" name="Text 22"/>
          <p:cNvSpPr/>
          <p:nvPr/>
        </p:nvSpPr>
        <p:spPr>
          <a:xfrm>
            <a:off x="594360" y="2514600"/>
            <a:ext cx="1463040" cy="594360"/>
          </a:xfrm>
          <a:prstGeom prst="rect">
            <a:avLst/>
          </a:prstGeom>
          <a:noFill/>
          <a:ln/>
        </p:spPr>
        <p:txBody>
          <a:bodyPr wrap="square" rtlCol="0" anchor="ctr"/>
          <a:lstStyle/>
          <a:p>
            <a:pPr indent="0" marL="0">
              <a:buNone/>
            </a:pPr>
            <a:r>
              <a:rPr lang="en-US" sz="1200" b="1" dirty="0">
                <a:solidFill>
                  <a:srgbClr val="B91C1C"/>
                </a:solidFill>
                <a:latin typeface="Microsoft YaHei" pitchFamily="34" charset="0"/>
                <a:ea typeface="Microsoft YaHei" pitchFamily="34" charset="-122"/>
                <a:cs typeface="Microsoft YaHei" pitchFamily="34" charset="-120"/>
              </a:rPr>
              <a:t>运营</a:t>
            </a:r>
            <a:endParaRPr lang="en-US" sz="1200" dirty="0"/>
          </a:p>
        </p:txBody>
      </p:sp>
      <p:sp>
        <p:nvSpPr>
          <p:cNvPr id="25" name="Text 23"/>
          <p:cNvSpPr/>
          <p:nvPr/>
        </p:nvSpPr>
        <p:spPr>
          <a:xfrm>
            <a:off x="2194560" y="2514600"/>
            <a:ext cx="3474720" cy="594360"/>
          </a:xfrm>
          <a:prstGeom prst="rect">
            <a:avLst/>
          </a:prstGeom>
          <a:noFill/>
          <a:ln/>
        </p:spPr>
        <p:txBody>
          <a:bodyPr wrap="square" rtlCol="0" anchor="ctr"/>
          <a:lstStyle/>
          <a:p>
            <a:pPr indent="0" marL="0">
              <a:buNone/>
            </a:pPr>
            <a:r>
              <a:rPr lang="en-US" sz="1200" dirty="0">
                <a:solidFill>
                  <a:srgbClr val="374151"/>
                </a:solidFill>
                <a:latin typeface="Microsoft YaHei" pitchFamily="34" charset="0"/>
                <a:ea typeface="Microsoft YaHei" pitchFamily="34" charset="-122"/>
                <a:cs typeface="Microsoft YaHei" pitchFamily="34" charset="-120"/>
              </a:rPr>
              <a:t>核心指标日报</a:t>
            </a:r>
            <a:endParaRPr lang="en-US" sz="1200" dirty="0"/>
          </a:p>
        </p:txBody>
      </p:sp>
      <p:sp>
        <p:nvSpPr>
          <p:cNvPr id="26" name="Shape 24"/>
          <p:cNvSpPr/>
          <p:nvPr/>
        </p:nvSpPr>
        <p:spPr>
          <a:xfrm>
            <a:off x="6035040" y="2651760"/>
            <a:ext cx="1371600" cy="320040"/>
          </a:xfrm>
          <a:prstGeom prst="roundRect">
            <a:avLst>
              <a:gd name="adj" fmla="val 22857"/>
            </a:avLst>
          </a:prstGeom>
          <a:solidFill>
            <a:srgbClr val="EF4444"/>
          </a:solidFill>
          <a:ln/>
        </p:spPr>
      </p:sp>
      <p:sp>
        <p:nvSpPr>
          <p:cNvPr id="27" name="Text 25"/>
          <p:cNvSpPr/>
          <p:nvPr/>
        </p:nvSpPr>
        <p:spPr>
          <a:xfrm>
            <a:off x="6035040" y="2651760"/>
            <a:ext cx="1371600" cy="320040"/>
          </a:xfrm>
          <a:prstGeom prst="rect">
            <a:avLst/>
          </a:prstGeom>
          <a:noFill/>
          <a:ln/>
        </p:spPr>
        <p:txBody>
          <a:bodyPr wrap="square" rtlCol="0" anchor="ctr"/>
          <a:lstStyle/>
          <a:p>
            <a:pPr algn="ctr" indent="0" marL="0">
              <a:buNone/>
            </a:pPr>
            <a:r>
              <a:rPr lang="en-US" sz="1100" b="1" dirty="0">
                <a:solidFill>
                  <a:srgbClr val="FFFFFF"/>
                </a:solidFill>
                <a:latin typeface="Microsoft YaHei" pitchFamily="34" charset="0"/>
                <a:ea typeface="Microsoft YaHei" pitchFamily="34" charset="-122"/>
                <a:cs typeface="Microsoft YaHei" pitchFamily="34" charset="-120"/>
              </a:rPr>
              <a:t>每天上午</a:t>
            </a:r>
            <a:endParaRPr lang="en-US" sz="1100" dirty="0"/>
          </a:p>
        </p:txBody>
      </p:sp>
      <p:sp>
        <p:nvSpPr>
          <p:cNvPr id="28" name="Shape 26"/>
          <p:cNvSpPr/>
          <p:nvPr/>
        </p:nvSpPr>
        <p:spPr>
          <a:xfrm>
            <a:off x="457200" y="3108960"/>
            <a:ext cx="8229600" cy="594360"/>
          </a:xfrm>
          <a:prstGeom prst="rect">
            <a:avLst/>
          </a:prstGeom>
          <a:solidFill>
            <a:srgbClr val="FFFFFF"/>
          </a:solidFill>
          <a:ln/>
        </p:spPr>
      </p:sp>
      <p:sp>
        <p:nvSpPr>
          <p:cNvPr id="29" name="Shape 27"/>
          <p:cNvSpPr/>
          <p:nvPr/>
        </p:nvSpPr>
        <p:spPr>
          <a:xfrm>
            <a:off x="457200" y="3108960"/>
            <a:ext cx="73152" cy="594360"/>
          </a:xfrm>
          <a:prstGeom prst="rect">
            <a:avLst/>
          </a:prstGeom>
          <a:solidFill>
            <a:srgbClr val="EF4444"/>
          </a:solidFill>
          <a:ln/>
        </p:spPr>
      </p:sp>
      <p:sp>
        <p:nvSpPr>
          <p:cNvPr id="30" name="Text 28"/>
          <p:cNvSpPr/>
          <p:nvPr/>
        </p:nvSpPr>
        <p:spPr>
          <a:xfrm>
            <a:off x="594360" y="3108960"/>
            <a:ext cx="1463040" cy="594360"/>
          </a:xfrm>
          <a:prstGeom prst="rect">
            <a:avLst/>
          </a:prstGeom>
          <a:noFill/>
          <a:ln/>
        </p:spPr>
        <p:txBody>
          <a:bodyPr wrap="square" rtlCol="0" anchor="ctr"/>
          <a:lstStyle/>
          <a:p>
            <a:pPr indent="0" marL="0">
              <a:buNone/>
            </a:pPr>
            <a:r>
              <a:rPr lang="en-US" sz="1200" b="1" dirty="0">
                <a:solidFill>
                  <a:srgbClr val="B91C1C"/>
                </a:solidFill>
                <a:latin typeface="Microsoft YaHei" pitchFamily="34" charset="0"/>
                <a:ea typeface="Microsoft YaHei" pitchFamily="34" charset="-122"/>
                <a:cs typeface="Microsoft YaHei" pitchFamily="34" charset="-120"/>
              </a:rPr>
              <a:t>财务</a:t>
            </a:r>
            <a:endParaRPr lang="en-US" sz="1200" dirty="0"/>
          </a:p>
        </p:txBody>
      </p:sp>
      <p:sp>
        <p:nvSpPr>
          <p:cNvPr id="31" name="Text 29"/>
          <p:cNvSpPr/>
          <p:nvPr/>
        </p:nvSpPr>
        <p:spPr>
          <a:xfrm>
            <a:off x="2194560" y="3108960"/>
            <a:ext cx="3474720" cy="594360"/>
          </a:xfrm>
          <a:prstGeom prst="rect">
            <a:avLst/>
          </a:prstGeom>
          <a:noFill/>
          <a:ln/>
        </p:spPr>
        <p:txBody>
          <a:bodyPr wrap="square" rtlCol="0" anchor="ctr"/>
          <a:lstStyle/>
          <a:p>
            <a:pPr indent="0" marL="0">
              <a:buNone/>
            </a:pPr>
            <a:r>
              <a:rPr lang="en-US" sz="1200" dirty="0">
                <a:solidFill>
                  <a:srgbClr val="374151"/>
                </a:solidFill>
                <a:latin typeface="Microsoft YaHei" pitchFamily="34" charset="0"/>
                <a:ea typeface="Microsoft YaHei" pitchFamily="34" charset="-122"/>
                <a:cs typeface="Microsoft YaHei" pitchFamily="34" charset="-120"/>
              </a:rPr>
              <a:t>应收账款超期提醒</a:t>
            </a:r>
            <a:endParaRPr lang="en-US" sz="1200" dirty="0"/>
          </a:p>
        </p:txBody>
      </p:sp>
      <p:sp>
        <p:nvSpPr>
          <p:cNvPr id="32" name="Shape 30"/>
          <p:cNvSpPr/>
          <p:nvPr/>
        </p:nvSpPr>
        <p:spPr>
          <a:xfrm>
            <a:off x="6035040" y="3246120"/>
            <a:ext cx="1371600" cy="320040"/>
          </a:xfrm>
          <a:prstGeom prst="roundRect">
            <a:avLst>
              <a:gd name="adj" fmla="val 22857"/>
            </a:avLst>
          </a:prstGeom>
          <a:solidFill>
            <a:srgbClr val="EF4444"/>
          </a:solidFill>
          <a:ln/>
        </p:spPr>
      </p:sp>
      <p:sp>
        <p:nvSpPr>
          <p:cNvPr id="33" name="Text 31"/>
          <p:cNvSpPr/>
          <p:nvPr/>
        </p:nvSpPr>
        <p:spPr>
          <a:xfrm>
            <a:off x="6035040" y="3246120"/>
            <a:ext cx="1371600" cy="320040"/>
          </a:xfrm>
          <a:prstGeom prst="rect">
            <a:avLst/>
          </a:prstGeom>
          <a:noFill/>
          <a:ln/>
        </p:spPr>
        <p:txBody>
          <a:bodyPr wrap="square" rtlCol="0" anchor="ctr"/>
          <a:lstStyle/>
          <a:p>
            <a:pPr algn="ctr" indent="0" marL="0">
              <a:buNone/>
            </a:pPr>
            <a:r>
              <a:rPr lang="en-US" sz="1100" b="1" dirty="0">
                <a:solidFill>
                  <a:srgbClr val="FFFFFF"/>
                </a:solidFill>
                <a:latin typeface="Microsoft YaHei" pitchFamily="34" charset="0"/>
                <a:ea typeface="Microsoft YaHei" pitchFamily="34" charset="-122"/>
                <a:cs typeface="Microsoft YaHei" pitchFamily="34" charset="-120"/>
              </a:rPr>
              <a:t>每周一</a:t>
            </a:r>
            <a:endParaRPr lang="en-US" sz="1100" dirty="0"/>
          </a:p>
        </p:txBody>
      </p:sp>
      <p:sp>
        <p:nvSpPr>
          <p:cNvPr id="34" name="Shape 32"/>
          <p:cNvSpPr/>
          <p:nvPr/>
        </p:nvSpPr>
        <p:spPr>
          <a:xfrm>
            <a:off x="457200" y="3703320"/>
            <a:ext cx="8229600" cy="594360"/>
          </a:xfrm>
          <a:prstGeom prst="rect">
            <a:avLst/>
          </a:prstGeom>
          <a:solidFill>
            <a:srgbClr val="F3F4F6"/>
          </a:solidFill>
          <a:ln/>
        </p:spPr>
      </p:sp>
      <p:sp>
        <p:nvSpPr>
          <p:cNvPr id="35" name="Shape 33"/>
          <p:cNvSpPr/>
          <p:nvPr/>
        </p:nvSpPr>
        <p:spPr>
          <a:xfrm>
            <a:off x="457200" y="3703320"/>
            <a:ext cx="73152" cy="594360"/>
          </a:xfrm>
          <a:prstGeom prst="rect">
            <a:avLst/>
          </a:prstGeom>
          <a:solidFill>
            <a:srgbClr val="EF4444"/>
          </a:solidFill>
          <a:ln/>
        </p:spPr>
      </p:sp>
      <p:sp>
        <p:nvSpPr>
          <p:cNvPr id="36" name="Text 34"/>
          <p:cNvSpPr/>
          <p:nvPr/>
        </p:nvSpPr>
        <p:spPr>
          <a:xfrm>
            <a:off x="594360" y="3703320"/>
            <a:ext cx="1463040" cy="594360"/>
          </a:xfrm>
          <a:prstGeom prst="rect">
            <a:avLst/>
          </a:prstGeom>
          <a:noFill/>
          <a:ln/>
        </p:spPr>
        <p:txBody>
          <a:bodyPr wrap="square" rtlCol="0" anchor="ctr"/>
          <a:lstStyle/>
          <a:p>
            <a:pPr indent="0" marL="0">
              <a:buNone/>
            </a:pPr>
            <a:r>
              <a:rPr lang="en-US" sz="1200" b="1" dirty="0">
                <a:solidFill>
                  <a:srgbClr val="B91C1C"/>
                </a:solidFill>
                <a:latin typeface="Microsoft YaHei" pitchFamily="34" charset="0"/>
                <a:ea typeface="Microsoft YaHei" pitchFamily="34" charset="-122"/>
                <a:cs typeface="Microsoft YaHei" pitchFamily="34" charset="-120"/>
              </a:rPr>
              <a:t>产品</a:t>
            </a:r>
            <a:endParaRPr lang="en-US" sz="1200" dirty="0"/>
          </a:p>
        </p:txBody>
      </p:sp>
      <p:sp>
        <p:nvSpPr>
          <p:cNvPr id="37" name="Text 35"/>
          <p:cNvSpPr/>
          <p:nvPr/>
        </p:nvSpPr>
        <p:spPr>
          <a:xfrm>
            <a:off x="2194560" y="3703320"/>
            <a:ext cx="3474720" cy="594360"/>
          </a:xfrm>
          <a:prstGeom prst="rect">
            <a:avLst/>
          </a:prstGeom>
          <a:noFill/>
          <a:ln/>
        </p:spPr>
        <p:txBody>
          <a:bodyPr wrap="square" rtlCol="0" anchor="ctr"/>
          <a:lstStyle/>
          <a:p>
            <a:pPr indent="0" marL="0">
              <a:buNone/>
            </a:pPr>
            <a:r>
              <a:rPr lang="en-US" sz="1200" dirty="0">
                <a:solidFill>
                  <a:srgbClr val="374151"/>
                </a:solidFill>
                <a:latin typeface="Microsoft YaHei" pitchFamily="34" charset="0"/>
                <a:ea typeface="Microsoft YaHei" pitchFamily="34" charset="-122"/>
                <a:cs typeface="Microsoft YaHei" pitchFamily="34" charset="-120"/>
              </a:rPr>
              <a:t>未响应反馈汇总</a:t>
            </a:r>
            <a:endParaRPr lang="en-US" sz="1200" dirty="0"/>
          </a:p>
        </p:txBody>
      </p:sp>
      <p:sp>
        <p:nvSpPr>
          <p:cNvPr id="38" name="Shape 36"/>
          <p:cNvSpPr/>
          <p:nvPr/>
        </p:nvSpPr>
        <p:spPr>
          <a:xfrm>
            <a:off x="6035040" y="3840480"/>
            <a:ext cx="1371600" cy="320040"/>
          </a:xfrm>
          <a:prstGeom prst="roundRect">
            <a:avLst>
              <a:gd name="adj" fmla="val 22857"/>
            </a:avLst>
          </a:prstGeom>
          <a:solidFill>
            <a:srgbClr val="EF4444"/>
          </a:solidFill>
          <a:ln/>
        </p:spPr>
      </p:sp>
      <p:sp>
        <p:nvSpPr>
          <p:cNvPr id="39" name="Text 37"/>
          <p:cNvSpPr/>
          <p:nvPr/>
        </p:nvSpPr>
        <p:spPr>
          <a:xfrm>
            <a:off x="6035040" y="3840480"/>
            <a:ext cx="1371600" cy="320040"/>
          </a:xfrm>
          <a:prstGeom prst="rect">
            <a:avLst/>
          </a:prstGeom>
          <a:noFill/>
          <a:ln/>
        </p:spPr>
        <p:txBody>
          <a:bodyPr wrap="square" rtlCol="0" anchor="ctr"/>
          <a:lstStyle/>
          <a:p>
            <a:pPr algn="ctr" indent="0" marL="0">
              <a:buNone/>
            </a:pPr>
            <a:r>
              <a:rPr lang="en-US" sz="1100" b="1" dirty="0">
                <a:solidFill>
                  <a:srgbClr val="FFFFFF"/>
                </a:solidFill>
                <a:latin typeface="Microsoft YaHei" pitchFamily="34" charset="0"/>
                <a:ea typeface="Microsoft YaHei" pitchFamily="34" charset="-122"/>
                <a:cs typeface="Microsoft YaHei" pitchFamily="34" charset="-120"/>
              </a:rPr>
              <a:t>每周</a:t>
            </a:r>
            <a:endParaRPr lang="en-US" sz="1100" dirty="0"/>
          </a:p>
        </p:txBody>
      </p:sp>
      <p:sp>
        <p:nvSpPr>
          <p:cNvPr id="40" name="Shape 38"/>
          <p:cNvSpPr/>
          <p:nvPr/>
        </p:nvSpPr>
        <p:spPr>
          <a:xfrm>
            <a:off x="457200" y="4297680"/>
            <a:ext cx="8229600" cy="594360"/>
          </a:xfrm>
          <a:prstGeom prst="rect">
            <a:avLst/>
          </a:prstGeom>
          <a:solidFill>
            <a:srgbClr val="FFFFFF"/>
          </a:solidFill>
          <a:ln/>
        </p:spPr>
      </p:sp>
      <p:sp>
        <p:nvSpPr>
          <p:cNvPr id="41" name="Shape 39"/>
          <p:cNvSpPr/>
          <p:nvPr/>
        </p:nvSpPr>
        <p:spPr>
          <a:xfrm>
            <a:off x="457200" y="4297680"/>
            <a:ext cx="73152" cy="594360"/>
          </a:xfrm>
          <a:prstGeom prst="rect">
            <a:avLst/>
          </a:prstGeom>
          <a:solidFill>
            <a:srgbClr val="EF4444"/>
          </a:solidFill>
          <a:ln/>
        </p:spPr>
      </p:sp>
      <p:sp>
        <p:nvSpPr>
          <p:cNvPr id="42" name="Text 40"/>
          <p:cNvSpPr/>
          <p:nvPr/>
        </p:nvSpPr>
        <p:spPr>
          <a:xfrm>
            <a:off x="594360" y="4297680"/>
            <a:ext cx="1463040" cy="594360"/>
          </a:xfrm>
          <a:prstGeom prst="rect">
            <a:avLst/>
          </a:prstGeom>
          <a:noFill/>
          <a:ln/>
        </p:spPr>
        <p:txBody>
          <a:bodyPr wrap="square" rtlCol="0" anchor="ctr"/>
          <a:lstStyle/>
          <a:p>
            <a:pPr indent="0" marL="0">
              <a:buNone/>
            </a:pPr>
            <a:r>
              <a:rPr lang="en-US" sz="1200" b="1" dirty="0">
                <a:solidFill>
                  <a:srgbClr val="B91C1C"/>
                </a:solidFill>
                <a:latin typeface="Microsoft YaHei" pitchFamily="34" charset="0"/>
                <a:ea typeface="Microsoft YaHei" pitchFamily="34" charset="-122"/>
                <a:cs typeface="Microsoft YaHei" pitchFamily="34" charset="-120"/>
              </a:rPr>
              <a:t>人力</a:t>
            </a:r>
            <a:endParaRPr lang="en-US" sz="1200" dirty="0"/>
          </a:p>
        </p:txBody>
      </p:sp>
      <p:sp>
        <p:nvSpPr>
          <p:cNvPr id="43" name="Text 41"/>
          <p:cNvSpPr/>
          <p:nvPr/>
        </p:nvSpPr>
        <p:spPr>
          <a:xfrm>
            <a:off x="2194560" y="4297680"/>
            <a:ext cx="3474720" cy="594360"/>
          </a:xfrm>
          <a:prstGeom prst="rect">
            <a:avLst/>
          </a:prstGeom>
          <a:noFill/>
          <a:ln/>
        </p:spPr>
        <p:txBody>
          <a:bodyPr wrap="square" rtlCol="0" anchor="ctr"/>
          <a:lstStyle/>
          <a:p>
            <a:pPr indent="0" marL="0">
              <a:buNone/>
            </a:pPr>
            <a:r>
              <a:rPr lang="en-US" sz="1200" dirty="0">
                <a:solidFill>
                  <a:srgbClr val="374151"/>
                </a:solidFill>
                <a:latin typeface="Microsoft YaHei" pitchFamily="34" charset="0"/>
                <a:ea typeface="Microsoft YaHei" pitchFamily="34" charset="-122"/>
                <a:cs typeface="Microsoft YaHei" pitchFamily="34" charset="-120"/>
              </a:rPr>
              <a:t>合同到期预警</a:t>
            </a:r>
            <a:endParaRPr lang="en-US" sz="1200" dirty="0"/>
          </a:p>
        </p:txBody>
      </p:sp>
      <p:sp>
        <p:nvSpPr>
          <p:cNvPr id="44" name="Shape 42"/>
          <p:cNvSpPr/>
          <p:nvPr/>
        </p:nvSpPr>
        <p:spPr>
          <a:xfrm>
            <a:off x="6035040" y="4434840"/>
            <a:ext cx="1371600" cy="320040"/>
          </a:xfrm>
          <a:prstGeom prst="roundRect">
            <a:avLst>
              <a:gd name="adj" fmla="val 22857"/>
            </a:avLst>
          </a:prstGeom>
          <a:solidFill>
            <a:srgbClr val="EF4444"/>
          </a:solidFill>
          <a:ln/>
        </p:spPr>
      </p:sp>
      <p:sp>
        <p:nvSpPr>
          <p:cNvPr id="45" name="Text 43"/>
          <p:cNvSpPr/>
          <p:nvPr/>
        </p:nvSpPr>
        <p:spPr>
          <a:xfrm>
            <a:off x="6035040" y="4434840"/>
            <a:ext cx="1371600" cy="320040"/>
          </a:xfrm>
          <a:prstGeom prst="rect">
            <a:avLst/>
          </a:prstGeom>
          <a:noFill/>
          <a:ln/>
        </p:spPr>
        <p:txBody>
          <a:bodyPr wrap="square" rtlCol="0" anchor="ctr"/>
          <a:lstStyle/>
          <a:p>
            <a:pPr algn="ctr" indent="0" marL="0">
              <a:buNone/>
            </a:pPr>
            <a:r>
              <a:rPr lang="en-US" sz="1100" b="1" dirty="0">
                <a:solidFill>
                  <a:srgbClr val="FFFFFF"/>
                </a:solidFill>
                <a:latin typeface="Microsoft YaHei" pitchFamily="34" charset="0"/>
                <a:ea typeface="Microsoft YaHei" pitchFamily="34" charset="-122"/>
                <a:cs typeface="Microsoft YaHei" pitchFamily="34" charset="-120"/>
              </a:rPr>
              <a:t>每周</a:t>
            </a:r>
            <a:endParaRPr lang="en-US" sz="1100" dirty="0"/>
          </a:p>
        </p:txBody>
      </p:sp>
      <p:sp>
        <p:nvSpPr>
          <p:cNvPr id="46" name="Shape 44"/>
          <p:cNvSpPr/>
          <p:nvPr/>
        </p:nvSpPr>
        <p:spPr>
          <a:xfrm>
            <a:off x="8503920" y="4663440"/>
            <a:ext cx="365760" cy="365760"/>
          </a:xfrm>
          <a:prstGeom prst="ellipse">
            <a:avLst/>
          </a:prstGeom>
          <a:solidFill>
            <a:srgbClr val="EF4444"/>
          </a:solidFill>
          <a:ln/>
        </p:spPr>
      </p:sp>
      <p:sp>
        <p:nvSpPr>
          <p:cNvPr id="47" name="Text 45"/>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71</a:t>
            </a:r>
            <a:endParaRPr lang="en-US" sz="12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274320"/>
            <a:ext cx="8229600" cy="548640"/>
          </a:xfrm>
          <a:prstGeom prst="rect">
            <a:avLst/>
          </a:prstGeom>
          <a:noFill/>
          <a:ln/>
        </p:spPr>
        <p:txBody>
          <a:bodyPr wrap="square" rtlCol="0" anchor="ctr"/>
          <a:lstStyle/>
          <a:p>
            <a:pPr indent="0" marL="0">
              <a:buNone/>
            </a:pPr>
            <a:r>
              <a:rPr lang="en-US" sz="3200" b="1" dirty="0">
                <a:solidFill>
                  <a:srgbClr val="B91C1C"/>
                </a:solidFill>
                <a:latin typeface="Microsoft YaHei" pitchFamily="34" charset="0"/>
                <a:ea typeface="Microsoft YaHei" pitchFamily="34" charset="-122"/>
                <a:cs typeface="Microsoft YaHei" pitchFamily="34" charset="-120"/>
              </a:rPr>
              <a:t>设计定时任务的五个要素</a:t>
            </a:r>
            <a:endParaRPr lang="en-US" sz="3200" dirty="0"/>
          </a:p>
        </p:txBody>
      </p:sp>
      <p:sp>
        <p:nvSpPr>
          <p:cNvPr id="4" name="Shape 2"/>
          <p:cNvSpPr/>
          <p:nvPr/>
        </p:nvSpPr>
        <p:spPr>
          <a:xfrm>
            <a:off x="457200" y="914400"/>
            <a:ext cx="8229600" cy="685800"/>
          </a:xfrm>
          <a:prstGeom prst="roundRect">
            <a:avLst>
              <a:gd name="adj" fmla="val 10667"/>
            </a:avLst>
          </a:prstGeom>
          <a:solidFill>
            <a:srgbClr val="F3F4F6"/>
          </a:solidFill>
          <a:ln/>
        </p:spPr>
      </p:sp>
      <p:sp>
        <p:nvSpPr>
          <p:cNvPr id="5" name="Shape 3"/>
          <p:cNvSpPr/>
          <p:nvPr/>
        </p:nvSpPr>
        <p:spPr>
          <a:xfrm>
            <a:off x="640080" y="1028700"/>
            <a:ext cx="457200" cy="457200"/>
          </a:xfrm>
          <a:prstGeom prst="ellipse">
            <a:avLst/>
          </a:prstGeom>
          <a:solidFill>
            <a:srgbClr val="EF4444"/>
          </a:solidFill>
          <a:ln/>
        </p:spPr>
      </p:sp>
      <p:sp>
        <p:nvSpPr>
          <p:cNvPr id="6" name="Text 4"/>
          <p:cNvSpPr/>
          <p:nvPr/>
        </p:nvSpPr>
        <p:spPr>
          <a:xfrm>
            <a:off x="640080" y="1028700"/>
            <a:ext cx="457200" cy="45720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7" name="Text 5"/>
          <p:cNvSpPr/>
          <p:nvPr/>
        </p:nvSpPr>
        <p:spPr>
          <a:xfrm>
            <a:off x="1280160" y="987552"/>
            <a:ext cx="2743200" cy="320040"/>
          </a:xfrm>
          <a:prstGeom prst="rect">
            <a:avLst/>
          </a:prstGeom>
          <a:noFill/>
          <a:ln/>
        </p:spPr>
        <p:txBody>
          <a:bodyPr wrap="square" rtlCol="0" anchor="ctr"/>
          <a:lstStyle/>
          <a:p>
            <a:pPr indent="0" marL="0">
              <a:buNone/>
            </a:pPr>
            <a:r>
              <a:rPr lang="en-US" sz="1600" b="1" dirty="0">
                <a:solidFill>
                  <a:srgbClr val="B91C1C"/>
                </a:solidFill>
                <a:latin typeface="Microsoft YaHei" pitchFamily="34" charset="0"/>
                <a:ea typeface="Microsoft YaHei" pitchFamily="34" charset="-122"/>
                <a:cs typeface="Microsoft YaHei" pitchFamily="34" charset="-120"/>
              </a:rPr>
              <a:t>触发时间设定</a:t>
            </a:r>
            <a:endParaRPr lang="en-US" sz="1600" dirty="0"/>
          </a:p>
        </p:txBody>
      </p:sp>
      <p:sp>
        <p:nvSpPr>
          <p:cNvPr id="8" name="Text 6"/>
          <p:cNvSpPr/>
          <p:nvPr/>
        </p:nvSpPr>
        <p:spPr>
          <a:xfrm>
            <a:off x="1280160" y="1261872"/>
            <a:ext cx="7132320" cy="320040"/>
          </a:xfrm>
          <a:prstGeom prst="rect">
            <a:avLst/>
          </a:prstGeom>
          <a:noFill/>
          <a:ln/>
        </p:spPr>
        <p:txBody>
          <a:bodyPr wrap="square" rtlCol="0" anchor="ctr"/>
          <a:lstStyle/>
          <a:p>
            <a:pPr indent="0" marL="0">
              <a:buNone/>
            </a:pPr>
            <a:r>
              <a:rPr lang="en-US" sz="1200" dirty="0">
                <a:solidFill>
                  <a:srgbClr val="374151"/>
                </a:solidFill>
                <a:latin typeface="Microsoft YaHei" pitchFamily="34" charset="0"/>
                <a:ea typeface="Microsoft YaHei" pitchFamily="34" charset="-122"/>
                <a:cs typeface="Microsoft YaHei" pitchFamily="34" charset="-120"/>
              </a:rPr>
              <a:t>精确到具体时间，确认时区和上游数据就绪</a:t>
            </a:r>
            <a:endParaRPr lang="en-US" sz="1200" dirty="0"/>
          </a:p>
        </p:txBody>
      </p:sp>
      <p:sp>
        <p:nvSpPr>
          <p:cNvPr id="9" name="Shape 7"/>
          <p:cNvSpPr/>
          <p:nvPr/>
        </p:nvSpPr>
        <p:spPr>
          <a:xfrm>
            <a:off x="457200" y="1709928"/>
            <a:ext cx="8229600" cy="685800"/>
          </a:xfrm>
          <a:prstGeom prst="roundRect">
            <a:avLst>
              <a:gd name="adj" fmla="val 10667"/>
            </a:avLst>
          </a:prstGeom>
          <a:solidFill>
            <a:srgbClr val="F3F4F6"/>
          </a:solidFill>
          <a:ln/>
        </p:spPr>
      </p:sp>
      <p:sp>
        <p:nvSpPr>
          <p:cNvPr id="10" name="Shape 8"/>
          <p:cNvSpPr/>
          <p:nvPr/>
        </p:nvSpPr>
        <p:spPr>
          <a:xfrm>
            <a:off x="640080" y="1824228"/>
            <a:ext cx="457200" cy="457200"/>
          </a:xfrm>
          <a:prstGeom prst="ellipse">
            <a:avLst/>
          </a:prstGeom>
          <a:solidFill>
            <a:srgbClr val="EF4444"/>
          </a:solidFill>
          <a:ln/>
        </p:spPr>
      </p:sp>
      <p:sp>
        <p:nvSpPr>
          <p:cNvPr id="11" name="Text 9"/>
          <p:cNvSpPr/>
          <p:nvPr/>
        </p:nvSpPr>
        <p:spPr>
          <a:xfrm>
            <a:off x="640080" y="1824228"/>
            <a:ext cx="457200" cy="45720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12" name="Text 10"/>
          <p:cNvSpPr/>
          <p:nvPr/>
        </p:nvSpPr>
        <p:spPr>
          <a:xfrm>
            <a:off x="1280160" y="1783080"/>
            <a:ext cx="2743200" cy="320040"/>
          </a:xfrm>
          <a:prstGeom prst="rect">
            <a:avLst/>
          </a:prstGeom>
          <a:noFill/>
          <a:ln/>
        </p:spPr>
        <p:txBody>
          <a:bodyPr wrap="square" rtlCol="0" anchor="ctr"/>
          <a:lstStyle/>
          <a:p>
            <a:pPr indent="0" marL="0">
              <a:buNone/>
            </a:pPr>
            <a:r>
              <a:rPr lang="en-US" sz="1600" b="1" dirty="0">
                <a:solidFill>
                  <a:srgbClr val="B91C1C"/>
                </a:solidFill>
                <a:latin typeface="Microsoft YaHei" pitchFamily="34" charset="0"/>
                <a:ea typeface="Microsoft YaHei" pitchFamily="34" charset="-122"/>
                <a:cs typeface="Microsoft YaHei" pitchFamily="34" charset="-120"/>
              </a:rPr>
              <a:t>输入数据来源</a:t>
            </a:r>
            <a:endParaRPr lang="en-US" sz="1600" dirty="0"/>
          </a:p>
        </p:txBody>
      </p:sp>
      <p:sp>
        <p:nvSpPr>
          <p:cNvPr id="13" name="Text 11"/>
          <p:cNvSpPr/>
          <p:nvPr/>
        </p:nvSpPr>
        <p:spPr>
          <a:xfrm>
            <a:off x="1280160" y="2057400"/>
            <a:ext cx="7132320" cy="320040"/>
          </a:xfrm>
          <a:prstGeom prst="rect">
            <a:avLst/>
          </a:prstGeom>
          <a:noFill/>
          <a:ln/>
        </p:spPr>
        <p:txBody>
          <a:bodyPr wrap="square" rtlCol="0" anchor="ctr"/>
          <a:lstStyle/>
          <a:p>
            <a:pPr indent="0" marL="0">
              <a:buNone/>
            </a:pPr>
            <a:r>
              <a:rPr lang="en-US" sz="1200" dirty="0">
                <a:solidFill>
                  <a:srgbClr val="374151"/>
                </a:solidFill>
                <a:latin typeface="Microsoft YaHei" pitchFamily="34" charset="0"/>
                <a:ea typeface="Microsoft YaHei" pitchFamily="34" charset="-122"/>
                <a:cs typeface="Microsoft YaHei" pitchFamily="34" charset="-120"/>
              </a:rPr>
              <a:t>数据从哪里来，万一没准备好怎么处理</a:t>
            </a:r>
            <a:endParaRPr lang="en-US" sz="1200" dirty="0"/>
          </a:p>
        </p:txBody>
      </p:sp>
      <p:sp>
        <p:nvSpPr>
          <p:cNvPr id="14" name="Shape 12"/>
          <p:cNvSpPr/>
          <p:nvPr/>
        </p:nvSpPr>
        <p:spPr>
          <a:xfrm>
            <a:off x="457200" y="2505456"/>
            <a:ext cx="8229600" cy="685800"/>
          </a:xfrm>
          <a:prstGeom prst="roundRect">
            <a:avLst>
              <a:gd name="adj" fmla="val 10667"/>
            </a:avLst>
          </a:prstGeom>
          <a:solidFill>
            <a:srgbClr val="F3F4F6"/>
          </a:solidFill>
          <a:ln/>
        </p:spPr>
      </p:sp>
      <p:sp>
        <p:nvSpPr>
          <p:cNvPr id="15" name="Shape 13"/>
          <p:cNvSpPr/>
          <p:nvPr/>
        </p:nvSpPr>
        <p:spPr>
          <a:xfrm>
            <a:off x="640080" y="2619756"/>
            <a:ext cx="457200" cy="457200"/>
          </a:xfrm>
          <a:prstGeom prst="ellipse">
            <a:avLst/>
          </a:prstGeom>
          <a:solidFill>
            <a:srgbClr val="EF4444"/>
          </a:solidFill>
          <a:ln/>
        </p:spPr>
      </p:sp>
      <p:sp>
        <p:nvSpPr>
          <p:cNvPr id="16" name="Text 14"/>
          <p:cNvSpPr/>
          <p:nvPr/>
        </p:nvSpPr>
        <p:spPr>
          <a:xfrm>
            <a:off x="640080" y="2619756"/>
            <a:ext cx="457200" cy="45720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17" name="Text 15"/>
          <p:cNvSpPr/>
          <p:nvPr/>
        </p:nvSpPr>
        <p:spPr>
          <a:xfrm>
            <a:off x="1280160" y="2578608"/>
            <a:ext cx="2743200" cy="320040"/>
          </a:xfrm>
          <a:prstGeom prst="rect">
            <a:avLst/>
          </a:prstGeom>
          <a:noFill/>
          <a:ln/>
        </p:spPr>
        <p:txBody>
          <a:bodyPr wrap="square" rtlCol="0" anchor="ctr"/>
          <a:lstStyle/>
          <a:p>
            <a:pPr indent="0" marL="0">
              <a:buNone/>
            </a:pPr>
            <a:r>
              <a:rPr lang="en-US" sz="1600" b="1" dirty="0">
                <a:solidFill>
                  <a:srgbClr val="B91C1C"/>
                </a:solidFill>
                <a:latin typeface="Microsoft YaHei" pitchFamily="34" charset="0"/>
                <a:ea typeface="Microsoft YaHei" pitchFamily="34" charset="-122"/>
                <a:cs typeface="Microsoft YaHei" pitchFamily="34" charset="-120"/>
              </a:rPr>
              <a:t>输出接收方式</a:t>
            </a:r>
            <a:endParaRPr lang="en-US" sz="1600" dirty="0"/>
          </a:p>
        </p:txBody>
      </p:sp>
      <p:sp>
        <p:nvSpPr>
          <p:cNvPr id="18" name="Text 16"/>
          <p:cNvSpPr/>
          <p:nvPr/>
        </p:nvSpPr>
        <p:spPr>
          <a:xfrm>
            <a:off x="1280160" y="2852928"/>
            <a:ext cx="7132320" cy="320040"/>
          </a:xfrm>
          <a:prstGeom prst="rect">
            <a:avLst/>
          </a:prstGeom>
          <a:noFill/>
          <a:ln/>
        </p:spPr>
        <p:txBody>
          <a:bodyPr wrap="square" rtlCol="0" anchor="ctr"/>
          <a:lstStyle/>
          <a:p>
            <a:pPr indent="0" marL="0">
              <a:buNone/>
            </a:pPr>
            <a:r>
              <a:rPr lang="en-US" sz="1200" dirty="0">
                <a:solidFill>
                  <a:srgbClr val="374151"/>
                </a:solidFill>
                <a:latin typeface="Microsoft YaHei" pitchFamily="34" charset="0"/>
                <a:ea typeface="Microsoft YaHei" pitchFamily="34" charset="-122"/>
                <a:cs typeface="Microsoft YaHei" pitchFamily="34" charset="-120"/>
              </a:rPr>
              <a:t>发给谁，什么格式，什么渠道</a:t>
            </a:r>
            <a:endParaRPr lang="en-US" sz="1200" dirty="0"/>
          </a:p>
        </p:txBody>
      </p:sp>
      <p:sp>
        <p:nvSpPr>
          <p:cNvPr id="19" name="Shape 17"/>
          <p:cNvSpPr/>
          <p:nvPr/>
        </p:nvSpPr>
        <p:spPr>
          <a:xfrm>
            <a:off x="457200" y="3300984"/>
            <a:ext cx="8229600" cy="685800"/>
          </a:xfrm>
          <a:prstGeom prst="roundRect">
            <a:avLst>
              <a:gd name="adj" fmla="val 10667"/>
            </a:avLst>
          </a:prstGeom>
          <a:solidFill>
            <a:srgbClr val="F3F4F6"/>
          </a:solidFill>
          <a:ln/>
        </p:spPr>
      </p:sp>
      <p:sp>
        <p:nvSpPr>
          <p:cNvPr id="20" name="Shape 18"/>
          <p:cNvSpPr/>
          <p:nvPr/>
        </p:nvSpPr>
        <p:spPr>
          <a:xfrm>
            <a:off x="640080" y="3415284"/>
            <a:ext cx="457200" cy="457200"/>
          </a:xfrm>
          <a:prstGeom prst="ellipse">
            <a:avLst/>
          </a:prstGeom>
          <a:solidFill>
            <a:srgbClr val="EF4444"/>
          </a:solidFill>
          <a:ln/>
        </p:spPr>
      </p:sp>
      <p:sp>
        <p:nvSpPr>
          <p:cNvPr id="21" name="Text 19"/>
          <p:cNvSpPr/>
          <p:nvPr/>
        </p:nvSpPr>
        <p:spPr>
          <a:xfrm>
            <a:off x="640080" y="3415284"/>
            <a:ext cx="457200" cy="45720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4</a:t>
            </a:r>
            <a:endParaRPr lang="en-US" sz="1800" dirty="0"/>
          </a:p>
        </p:txBody>
      </p:sp>
      <p:sp>
        <p:nvSpPr>
          <p:cNvPr id="22" name="Text 20"/>
          <p:cNvSpPr/>
          <p:nvPr/>
        </p:nvSpPr>
        <p:spPr>
          <a:xfrm>
            <a:off x="1280160" y="3374136"/>
            <a:ext cx="2743200" cy="320040"/>
          </a:xfrm>
          <a:prstGeom prst="rect">
            <a:avLst/>
          </a:prstGeom>
          <a:noFill/>
          <a:ln/>
        </p:spPr>
        <p:txBody>
          <a:bodyPr wrap="square" rtlCol="0" anchor="ctr"/>
          <a:lstStyle/>
          <a:p>
            <a:pPr indent="0" marL="0">
              <a:buNone/>
            </a:pPr>
            <a:r>
              <a:rPr lang="en-US" sz="1600" b="1" dirty="0">
                <a:solidFill>
                  <a:srgbClr val="B91C1C"/>
                </a:solidFill>
                <a:latin typeface="Microsoft YaHei" pitchFamily="34" charset="0"/>
                <a:ea typeface="Microsoft YaHei" pitchFamily="34" charset="-122"/>
                <a:cs typeface="Microsoft YaHei" pitchFamily="34" charset="-120"/>
              </a:rPr>
              <a:t>异常处理机制</a:t>
            </a:r>
            <a:endParaRPr lang="en-US" sz="1600" dirty="0"/>
          </a:p>
        </p:txBody>
      </p:sp>
      <p:sp>
        <p:nvSpPr>
          <p:cNvPr id="23" name="Text 21"/>
          <p:cNvSpPr/>
          <p:nvPr/>
        </p:nvSpPr>
        <p:spPr>
          <a:xfrm>
            <a:off x="1280160" y="3648456"/>
            <a:ext cx="7132320" cy="320040"/>
          </a:xfrm>
          <a:prstGeom prst="rect">
            <a:avLst/>
          </a:prstGeom>
          <a:noFill/>
          <a:ln/>
        </p:spPr>
        <p:txBody>
          <a:bodyPr wrap="square" rtlCol="0" anchor="ctr"/>
          <a:lstStyle/>
          <a:p>
            <a:pPr indent="0" marL="0">
              <a:buNone/>
            </a:pPr>
            <a:r>
              <a:rPr lang="en-US" sz="1200" dirty="0">
                <a:solidFill>
                  <a:srgbClr val="374151"/>
                </a:solidFill>
                <a:latin typeface="Microsoft YaHei" pitchFamily="34" charset="0"/>
                <a:ea typeface="Microsoft YaHei" pitchFamily="34" charset="-122"/>
                <a:cs typeface="Microsoft YaHei" pitchFamily="34" charset="-120"/>
              </a:rPr>
              <a:t>失败了怎么办，谁知道</a:t>
            </a:r>
            <a:endParaRPr lang="en-US" sz="1200" dirty="0"/>
          </a:p>
        </p:txBody>
      </p:sp>
      <p:sp>
        <p:nvSpPr>
          <p:cNvPr id="24" name="Shape 22"/>
          <p:cNvSpPr/>
          <p:nvPr/>
        </p:nvSpPr>
        <p:spPr>
          <a:xfrm>
            <a:off x="457200" y="4096512"/>
            <a:ext cx="8229600" cy="685800"/>
          </a:xfrm>
          <a:prstGeom prst="roundRect">
            <a:avLst>
              <a:gd name="adj" fmla="val 10667"/>
            </a:avLst>
          </a:prstGeom>
          <a:solidFill>
            <a:srgbClr val="F3F4F6"/>
          </a:solidFill>
          <a:ln/>
        </p:spPr>
      </p:sp>
      <p:sp>
        <p:nvSpPr>
          <p:cNvPr id="25" name="Shape 23"/>
          <p:cNvSpPr/>
          <p:nvPr/>
        </p:nvSpPr>
        <p:spPr>
          <a:xfrm>
            <a:off x="640080" y="4210812"/>
            <a:ext cx="457200" cy="457200"/>
          </a:xfrm>
          <a:prstGeom prst="ellipse">
            <a:avLst/>
          </a:prstGeom>
          <a:solidFill>
            <a:srgbClr val="EF4444"/>
          </a:solidFill>
          <a:ln/>
        </p:spPr>
      </p:sp>
      <p:sp>
        <p:nvSpPr>
          <p:cNvPr id="26" name="Text 24"/>
          <p:cNvSpPr/>
          <p:nvPr/>
        </p:nvSpPr>
        <p:spPr>
          <a:xfrm>
            <a:off x="640080" y="4210812"/>
            <a:ext cx="457200" cy="45720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5</a:t>
            </a:r>
            <a:endParaRPr lang="en-US" sz="1800" dirty="0"/>
          </a:p>
        </p:txBody>
      </p:sp>
      <p:sp>
        <p:nvSpPr>
          <p:cNvPr id="27" name="Text 25"/>
          <p:cNvSpPr/>
          <p:nvPr/>
        </p:nvSpPr>
        <p:spPr>
          <a:xfrm>
            <a:off x="1280160" y="4169664"/>
            <a:ext cx="2743200" cy="320040"/>
          </a:xfrm>
          <a:prstGeom prst="rect">
            <a:avLst/>
          </a:prstGeom>
          <a:noFill/>
          <a:ln/>
        </p:spPr>
        <p:txBody>
          <a:bodyPr wrap="square" rtlCol="0" anchor="ctr"/>
          <a:lstStyle/>
          <a:p>
            <a:pPr indent="0" marL="0">
              <a:buNone/>
            </a:pPr>
            <a:r>
              <a:rPr lang="en-US" sz="1600" b="1" dirty="0">
                <a:solidFill>
                  <a:srgbClr val="B91C1C"/>
                </a:solidFill>
                <a:latin typeface="Microsoft YaHei" pitchFamily="34" charset="0"/>
                <a:ea typeface="Microsoft YaHei" pitchFamily="34" charset="-122"/>
                <a:cs typeface="Microsoft YaHei" pitchFamily="34" charset="-120"/>
              </a:rPr>
              <a:t>人工介入节点</a:t>
            </a:r>
            <a:endParaRPr lang="en-US" sz="1600" dirty="0"/>
          </a:p>
        </p:txBody>
      </p:sp>
      <p:sp>
        <p:nvSpPr>
          <p:cNvPr id="28" name="Text 26"/>
          <p:cNvSpPr/>
          <p:nvPr/>
        </p:nvSpPr>
        <p:spPr>
          <a:xfrm>
            <a:off x="1280160" y="4443984"/>
            <a:ext cx="7132320" cy="320040"/>
          </a:xfrm>
          <a:prstGeom prst="rect">
            <a:avLst/>
          </a:prstGeom>
          <a:noFill/>
          <a:ln/>
        </p:spPr>
        <p:txBody>
          <a:bodyPr wrap="square" rtlCol="0" anchor="ctr"/>
          <a:lstStyle/>
          <a:p>
            <a:pPr indent="0" marL="0">
              <a:buNone/>
            </a:pPr>
            <a:r>
              <a:rPr lang="en-US" sz="1200" dirty="0">
                <a:solidFill>
                  <a:srgbClr val="374151"/>
                </a:solidFill>
                <a:latin typeface="Microsoft YaHei" pitchFamily="34" charset="0"/>
                <a:ea typeface="Microsoft YaHei" pitchFamily="34" charset="-122"/>
                <a:cs typeface="Microsoft YaHei" pitchFamily="34" charset="-120"/>
              </a:rPr>
              <a:t>哪部分需要人工复核</a:t>
            </a:r>
            <a:endParaRPr lang="en-US" sz="1200" dirty="0"/>
          </a:p>
        </p:txBody>
      </p:sp>
      <p:sp>
        <p:nvSpPr>
          <p:cNvPr id="29" name="Shape 27"/>
          <p:cNvSpPr/>
          <p:nvPr/>
        </p:nvSpPr>
        <p:spPr>
          <a:xfrm>
            <a:off x="8503920" y="4663440"/>
            <a:ext cx="365760" cy="365760"/>
          </a:xfrm>
          <a:prstGeom prst="ellipse">
            <a:avLst/>
          </a:prstGeom>
          <a:solidFill>
            <a:srgbClr val="EF4444"/>
          </a:solidFill>
          <a:ln/>
        </p:spPr>
      </p:sp>
      <p:sp>
        <p:nvSpPr>
          <p:cNvPr id="30" name="Text 28"/>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72</a:t>
            </a:r>
            <a:endParaRPr lang="en-US" sz="12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274320"/>
            <a:ext cx="8229600" cy="548640"/>
          </a:xfrm>
          <a:prstGeom prst="rect">
            <a:avLst/>
          </a:prstGeom>
          <a:noFill/>
          <a:ln/>
        </p:spPr>
        <p:txBody>
          <a:bodyPr wrap="square" rtlCol="0" anchor="ctr"/>
          <a:lstStyle/>
          <a:p>
            <a:pPr indent="0" marL="0">
              <a:buNone/>
            </a:pPr>
            <a:r>
              <a:rPr lang="en-US" sz="3200" b="1" dirty="0">
                <a:solidFill>
                  <a:srgbClr val="B91C1C"/>
                </a:solidFill>
                <a:latin typeface="Microsoft YaHei" pitchFamily="34" charset="0"/>
                <a:ea typeface="Microsoft YaHei" pitchFamily="34" charset="-122"/>
                <a:cs typeface="Microsoft YaHei" pitchFamily="34" charset="-120"/>
              </a:rPr>
              <a:t>定时任务四大常见坑</a:t>
            </a:r>
            <a:endParaRPr lang="en-US" sz="3200" dirty="0"/>
          </a:p>
        </p:txBody>
      </p:sp>
      <p:sp>
        <p:nvSpPr>
          <p:cNvPr id="4" name="Shape 2"/>
          <p:cNvSpPr/>
          <p:nvPr/>
        </p:nvSpPr>
        <p:spPr>
          <a:xfrm>
            <a:off x="457200" y="914400"/>
            <a:ext cx="2011680" cy="411480"/>
          </a:xfrm>
          <a:prstGeom prst="rect">
            <a:avLst/>
          </a:prstGeom>
          <a:solidFill>
            <a:srgbClr val="B91C1C"/>
          </a:solidFill>
          <a:ln/>
        </p:spPr>
      </p:sp>
      <p:sp>
        <p:nvSpPr>
          <p:cNvPr id="5" name="Text 3"/>
          <p:cNvSpPr/>
          <p:nvPr/>
        </p:nvSpPr>
        <p:spPr>
          <a:xfrm>
            <a:off x="457200" y="914400"/>
            <a:ext cx="2011680" cy="411480"/>
          </a:xfrm>
          <a:prstGeom prst="rect">
            <a:avLst/>
          </a:prstGeom>
          <a:noFill/>
          <a:ln/>
        </p:spPr>
        <p:txBody>
          <a:bodyPr wrap="square"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常见坑</a:t>
            </a:r>
            <a:endParaRPr lang="en-US" sz="1300" dirty="0"/>
          </a:p>
        </p:txBody>
      </p:sp>
      <p:sp>
        <p:nvSpPr>
          <p:cNvPr id="6" name="Shape 4"/>
          <p:cNvSpPr/>
          <p:nvPr/>
        </p:nvSpPr>
        <p:spPr>
          <a:xfrm>
            <a:off x="2468880" y="914400"/>
            <a:ext cx="2560320" cy="411480"/>
          </a:xfrm>
          <a:prstGeom prst="rect">
            <a:avLst/>
          </a:prstGeom>
          <a:solidFill>
            <a:srgbClr val="B91C1C"/>
          </a:solidFill>
          <a:ln/>
        </p:spPr>
      </p:sp>
      <p:sp>
        <p:nvSpPr>
          <p:cNvPr id="7" name="Text 5"/>
          <p:cNvSpPr/>
          <p:nvPr/>
        </p:nvSpPr>
        <p:spPr>
          <a:xfrm>
            <a:off x="2468880" y="914400"/>
            <a:ext cx="2560320" cy="411480"/>
          </a:xfrm>
          <a:prstGeom prst="rect">
            <a:avLst/>
          </a:prstGeom>
          <a:noFill/>
          <a:ln/>
        </p:spPr>
        <p:txBody>
          <a:bodyPr wrap="square"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症状</a:t>
            </a:r>
            <a:endParaRPr lang="en-US" sz="1300" dirty="0"/>
          </a:p>
        </p:txBody>
      </p:sp>
      <p:sp>
        <p:nvSpPr>
          <p:cNvPr id="8" name="Shape 6"/>
          <p:cNvSpPr/>
          <p:nvPr/>
        </p:nvSpPr>
        <p:spPr>
          <a:xfrm>
            <a:off x="5029200" y="914400"/>
            <a:ext cx="2743200" cy="411480"/>
          </a:xfrm>
          <a:prstGeom prst="rect">
            <a:avLst/>
          </a:prstGeom>
          <a:solidFill>
            <a:srgbClr val="B91C1C"/>
          </a:solidFill>
          <a:ln/>
        </p:spPr>
      </p:sp>
      <p:sp>
        <p:nvSpPr>
          <p:cNvPr id="9" name="Text 7"/>
          <p:cNvSpPr/>
          <p:nvPr/>
        </p:nvSpPr>
        <p:spPr>
          <a:xfrm>
            <a:off x="5029200" y="914400"/>
            <a:ext cx="2743200" cy="411480"/>
          </a:xfrm>
          <a:prstGeom prst="rect">
            <a:avLst/>
          </a:prstGeom>
          <a:noFill/>
          <a:ln/>
        </p:spPr>
        <p:txBody>
          <a:bodyPr wrap="square"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避坑方法</a:t>
            </a:r>
            <a:endParaRPr lang="en-US" sz="1300" dirty="0"/>
          </a:p>
        </p:txBody>
      </p:sp>
      <p:sp>
        <p:nvSpPr>
          <p:cNvPr id="10" name="Shape 8"/>
          <p:cNvSpPr/>
          <p:nvPr/>
        </p:nvSpPr>
        <p:spPr>
          <a:xfrm>
            <a:off x="457200" y="1325880"/>
            <a:ext cx="8229600" cy="777240"/>
          </a:xfrm>
          <a:prstGeom prst="rect">
            <a:avLst/>
          </a:prstGeom>
          <a:solidFill>
            <a:srgbClr val="F3F4F6"/>
          </a:solidFill>
          <a:ln/>
        </p:spPr>
      </p:sp>
      <p:sp>
        <p:nvSpPr>
          <p:cNvPr id="11" name="Shape 9"/>
          <p:cNvSpPr/>
          <p:nvPr/>
        </p:nvSpPr>
        <p:spPr>
          <a:xfrm>
            <a:off x="457200" y="1325880"/>
            <a:ext cx="73152" cy="777240"/>
          </a:xfrm>
          <a:prstGeom prst="rect">
            <a:avLst/>
          </a:prstGeom>
          <a:solidFill>
            <a:srgbClr val="EF4444"/>
          </a:solidFill>
          <a:ln/>
        </p:spPr>
      </p:sp>
      <p:sp>
        <p:nvSpPr>
          <p:cNvPr id="12" name="Text 10"/>
          <p:cNvSpPr/>
          <p:nvPr/>
        </p:nvSpPr>
        <p:spPr>
          <a:xfrm>
            <a:off x="594360" y="1325880"/>
            <a:ext cx="1828800" cy="777240"/>
          </a:xfrm>
          <a:prstGeom prst="rect">
            <a:avLst/>
          </a:prstGeom>
          <a:noFill/>
          <a:ln/>
        </p:spPr>
        <p:txBody>
          <a:bodyPr wrap="square" rtlCol="0" anchor="ctr"/>
          <a:lstStyle/>
          <a:p>
            <a:pPr indent="0" marL="0">
              <a:buNone/>
            </a:pPr>
            <a:r>
              <a:rPr lang="en-US" sz="1200" b="1" dirty="0">
                <a:solidFill>
                  <a:srgbClr val="EF4444"/>
                </a:solidFill>
                <a:latin typeface="Microsoft YaHei" pitchFamily="34" charset="0"/>
                <a:ea typeface="Microsoft YaHei" pitchFamily="34" charset="-122"/>
                <a:cs typeface="Microsoft YaHei" pitchFamily="34" charset="-120"/>
              </a:rPr>
              <a:t>时区偏差</a:t>
            </a:r>
            <a:endParaRPr lang="en-US" sz="1200" dirty="0"/>
          </a:p>
        </p:txBody>
      </p:sp>
      <p:sp>
        <p:nvSpPr>
          <p:cNvPr id="13" name="Text 11"/>
          <p:cNvSpPr/>
          <p:nvPr/>
        </p:nvSpPr>
        <p:spPr>
          <a:xfrm>
            <a:off x="2560320" y="1325880"/>
            <a:ext cx="2377440" cy="777240"/>
          </a:xfrm>
          <a:prstGeom prst="rect">
            <a:avLst/>
          </a:prstGeom>
          <a:noFill/>
          <a:ln/>
        </p:spPr>
        <p:txBody>
          <a:bodyPr wrap="square" rtlCol="0" anchor="ctr"/>
          <a:lstStyle/>
          <a:p>
            <a:pPr indent="0" marL="0">
              <a:buNone/>
            </a:pPr>
            <a:r>
              <a:rPr lang="en-US" sz="1200" dirty="0">
                <a:solidFill>
                  <a:srgbClr val="374151"/>
                </a:solidFill>
                <a:latin typeface="Microsoft YaHei" pitchFamily="34" charset="0"/>
                <a:ea typeface="Microsoft YaHei" pitchFamily="34" charset="-122"/>
                <a:cs typeface="Microsoft YaHei" pitchFamily="34" charset="-120"/>
              </a:rPr>
              <a:t>跑错时间</a:t>
            </a:r>
            <a:endParaRPr lang="en-US" sz="1200" dirty="0"/>
          </a:p>
        </p:txBody>
      </p:sp>
      <p:sp>
        <p:nvSpPr>
          <p:cNvPr id="14" name="Text 12"/>
          <p:cNvSpPr/>
          <p:nvPr/>
        </p:nvSpPr>
        <p:spPr>
          <a:xfrm>
            <a:off x="5120640" y="1325880"/>
            <a:ext cx="2560320" cy="777240"/>
          </a:xfrm>
          <a:prstGeom prst="rect">
            <a:avLst/>
          </a:prstGeom>
          <a:noFill/>
          <a:ln/>
        </p:spPr>
        <p:txBody>
          <a:bodyPr wrap="square" rtlCol="0" anchor="ctr"/>
          <a:lstStyle/>
          <a:p>
            <a:pPr indent="0" marL="0">
              <a:buNone/>
            </a:pPr>
            <a:r>
              <a:rPr lang="en-US" sz="1200" dirty="0">
                <a:solidFill>
                  <a:srgbClr val="B91C1C"/>
                </a:solidFill>
                <a:latin typeface="Microsoft YaHei" pitchFamily="34" charset="0"/>
                <a:ea typeface="Microsoft YaHei" pitchFamily="34" charset="-122"/>
                <a:cs typeface="Microsoft YaHei" pitchFamily="34" charset="-120"/>
              </a:rPr>
              <a:t>明确使用时区</a:t>
            </a:r>
            <a:endParaRPr lang="en-US" sz="1200" dirty="0"/>
          </a:p>
        </p:txBody>
      </p:sp>
      <p:sp>
        <p:nvSpPr>
          <p:cNvPr id="15" name="Shape 13"/>
          <p:cNvSpPr/>
          <p:nvPr/>
        </p:nvSpPr>
        <p:spPr>
          <a:xfrm>
            <a:off x="457200" y="2103120"/>
            <a:ext cx="8229600" cy="777240"/>
          </a:xfrm>
          <a:prstGeom prst="rect">
            <a:avLst/>
          </a:prstGeom>
          <a:solidFill>
            <a:srgbClr val="FFFFFF"/>
          </a:solidFill>
          <a:ln/>
        </p:spPr>
      </p:sp>
      <p:sp>
        <p:nvSpPr>
          <p:cNvPr id="16" name="Shape 14"/>
          <p:cNvSpPr/>
          <p:nvPr/>
        </p:nvSpPr>
        <p:spPr>
          <a:xfrm>
            <a:off x="457200" y="2103120"/>
            <a:ext cx="73152" cy="777240"/>
          </a:xfrm>
          <a:prstGeom prst="rect">
            <a:avLst/>
          </a:prstGeom>
          <a:solidFill>
            <a:srgbClr val="EF4444"/>
          </a:solidFill>
          <a:ln/>
        </p:spPr>
      </p:sp>
      <p:sp>
        <p:nvSpPr>
          <p:cNvPr id="17" name="Text 15"/>
          <p:cNvSpPr/>
          <p:nvPr/>
        </p:nvSpPr>
        <p:spPr>
          <a:xfrm>
            <a:off x="594360" y="2103120"/>
            <a:ext cx="1828800" cy="777240"/>
          </a:xfrm>
          <a:prstGeom prst="rect">
            <a:avLst/>
          </a:prstGeom>
          <a:noFill/>
          <a:ln/>
        </p:spPr>
        <p:txBody>
          <a:bodyPr wrap="square" rtlCol="0" anchor="ctr"/>
          <a:lstStyle/>
          <a:p>
            <a:pPr indent="0" marL="0">
              <a:buNone/>
            </a:pPr>
            <a:r>
              <a:rPr lang="en-US" sz="1200" b="1" dirty="0">
                <a:solidFill>
                  <a:srgbClr val="EF4444"/>
                </a:solidFill>
                <a:latin typeface="Microsoft YaHei" pitchFamily="34" charset="0"/>
                <a:ea typeface="Microsoft YaHei" pitchFamily="34" charset="-122"/>
                <a:cs typeface="Microsoft YaHei" pitchFamily="34" charset="-120"/>
              </a:rPr>
              <a:t>数据延迟缓冲不够</a:t>
            </a:r>
            <a:endParaRPr lang="en-US" sz="1200" dirty="0"/>
          </a:p>
        </p:txBody>
      </p:sp>
      <p:sp>
        <p:nvSpPr>
          <p:cNvPr id="18" name="Text 16"/>
          <p:cNvSpPr/>
          <p:nvPr/>
        </p:nvSpPr>
        <p:spPr>
          <a:xfrm>
            <a:off x="2560320" y="2103120"/>
            <a:ext cx="2377440" cy="777240"/>
          </a:xfrm>
          <a:prstGeom prst="rect">
            <a:avLst/>
          </a:prstGeom>
          <a:noFill/>
          <a:ln/>
        </p:spPr>
        <p:txBody>
          <a:bodyPr wrap="square" rtlCol="0" anchor="ctr"/>
          <a:lstStyle/>
          <a:p>
            <a:pPr indent="0" marL="0">
              <a:buNone/>
            </a:pPr>
            <a:r>
              <a:rPr lang="en-US" sz="1200" dirty="0">
                <a:solidFill>
                  <a:srgbClr val="374151"/>
                </a:solidFill>
                <a:latin typeface="Microsoft YaHei" pitchFamily="34" charset="0"/>
                <a:ea typeface="Microsoft YaHei" pitchFamily="34" charset="-122"/>
                <a:cs typeface="Microsoft YaHei" pitchFamily="34" charset="-120"/>
              </a:rPr>
              <a:t>取到不完整数据</a:t>
            </a:r>
            <a:endParaRPr lang="en-US" sz="1200" dirty="0"/>
          </a:p>
        </p:txBody>
      </p:sp>
      <p:sp>
        <p:nvSpPr>
          <p:cNvPr id="19" name="Text 17"/>
          <p:cNvSpPr/>
          <p:nvPr/>
        </p:nvSpPr>
        <p:spPr>
          <a:xfrm>
            <a:off x="5120640" y="2103120"/>
            <a:ext cx="2560320" cy="777240"/>
          </a:xfrm>
          <a:prstGeom prst="rect">
            <a:avLst/>
          </a:prstGeom>
          <a:noFill/>
          <a:ln/>
        </p:spPr>
        <p:txBody>
          <a:bodyPr wrap="square" rtlCol="0" anchor="ctr"/>
          <a:lstStyle/>
          <a:p>
            <a:pPr indent="0" marL="0">
              <a:buNone/>
            </a:pPr>
            <a:r>
              <a:rPr lang="en-US" sz="1200" dirty="0">
                <a:solidFill>
                  <a:srgbClr val="B91C1C"/>
                </a:solidFill>
                <a:latin typeface="Microsoft YaHei" pitchFamily="34" charset="0"/>
                <a:ea typeface="Microsoft YaHei" pitchFamily="34" charset="-122"/>
                <a:cs typeface="Microsoft YaHei" pitchFamily="34" charset="-120"/>
              </a:rPr>
              <a:t>预留缓冲时间+30分钟到2小时</a:t>
            </a:r>
            <a:endParaRPr lang="en-US" sz="1200" dirty="0"/>
          </a:p>
        </p:txBody>
      </p:sp>
      <p:sp>
        <p:nvSpPr>
          <p:cNvPr id="20" name="Shape 18"/>
          <p:cNvSpPr/>
          <p:nvPr/>
        </p:nvSpPr>
        <p:spPr>
          <a:xfrm>
            <a:off x="457200" y="2880360"/>
            <a:ext cx="8229600" cy="777240"/>
          </a:xfrm>
          <a:prstGeom prst="rect">
            <a:avLst/>
          </a:prstGeom>
          <a:solidFill>
            <a:srgbClr val="F3F4F6"/>
          </a:solidFill>
          <a:ln/>
        </p:spPr>
      </p:sp>
      <p:sp>
        <p:nvSpPr>
          <p:cNvPr id="21" name="Shape 19"/>
          <p:cNvSpPr/>
          <p:nvPr/>
        </p:nvSpPr>
        <p:spPr>
          <a:xfrm>
            <a:off x="457200" y="2880360"/>
            <a:ext cx="73152" cy="777240"/>
          </a:xfrm>
          <a:prstGeom prst="rect">
            <a:avLst/>
          </a:prstGeom>
          <a:solidFill>
            <a:srgbClr val="EF4444"/>
          </a:solidFill>
          <a:ln/>
        </p:spPr>
      </p:sp>
      <p:sp>
        <p:nvSpPr>
          <p:cNvPr id="22" name="Text 20"/>
          <p:cNvSpPr/>
          <p:nvPr/>
        </p:nvSpPr>
        <p:spPr>
          <a:xfrm>
            <a:off x="594360" y="2880360"/>
            <a:ext cx="1828800" cy="777240"/>
          </a:xfrm>
          <a:prstGeom prst="rect">
            <a:avLst/>
          </a:prstGeom>
          <a:noFill/>
          <a:ln/>
        </p:spPr>
        <p:txBody>
          <a:bodyPr wrap="square" rtlCol="0" anchor="ctr"/>
          <a:lstStyle/>
          <a:p>
            <a:pPr indent="0" marL="0">
              <a:buNone/>
            </a:pPr>
            <a:r>
              <a:rPr lang="en-US" sz="1200" b="1" dirty="0">
                <a:solidFill>
                  <a:srgbClr val="EF4444"/>
                </a:solidFill>
                <a:latin typeface="Microsoft YaHei" pitchFamily="34" charset="0"/>
                <a:ea typeface="Microsoft YaHei" pitchFamily="34" charset="-122"/>
                <a:cs typeface="Microsoft YaHei" pitchFamily="34" charset="-120"/>
              </a:rPr>
              <a:t>输出堆积成信息噪音</a:t>
            </a:r>
            <a:endParaRPr lang="en-US" sz="1200" dirty="0"/>
          </a:p>
        </p:txBody>
      </p:sp>
      <p:sp>
        <p:nvSpPr>
          <p:cNvPr id="23" name="Text 21"/>
          <p:cNvSpPr/>
          <p:nvPr/>
        </p:nvSpPr>
        <p:spPr>
          <a:xfrm>
            <a:off x="2560320" y="2880360"/>
            <a:ext cx="2377440" cy="777240"/>
          </a:xfrm>
          <a:prstGeom prst="rect">
            <a:avLst/>
          </a:prstGeom>
          <a:noFill/>
          <a:ln/>
        </p:spPr>
        <p:txBody>
          <a:bodyPr wrap="square" rtlCol="0" anchor="ctr"/>
          <a:lstStyle/>
          <a:p>
            <a:pPr indent="0" marL="0">
              <a:buNone/>
            </a:pPr>
            <a:r>
              <a:rPr lang="en-US" sz="1200" dirty="0">
                <a:solidFill>
                  <a:srgbClr val="374151"/>
                </a:solidFill>
                <a:latin typeface="Microsoft YaHei" pitchFamily="34" charset="0"/>
                <a:ea typeface="Microsoft YaHei" pitchFamily="34" charset="-122"/>
                <a:cs typeface="Microsoft YaHei" pitchFamily="34" charset="-120"/>
              </a:rPr>
              <a:t>报告太多但很少打开</a:t>
            </a:r>
            <a:endParaRPr lang="en-US" sz="1200" dirty="0"/>
          </a:p>
        </p:txBody>
      </p:sp>
      <p:sp>
        <p:nvSpPr>
          <p:cNvPr id="24" name="Text 22"/>
          <p:cNvSpPr/>
          <p:nvPr/>
        </p:nvSpPr>
        <p:spPr>
          <a:xfrm>
            <a:off x="5120640" y="2880360"/>
            <a:ext cx="2560320" cy="777240"/>
          </a:xfrm>
          <a:prstGeom prst="rect">
            <a:avLst/>
          </a:prstGeom>
          <a:noFill/>
          <a:ln/>
        </p:spPr>
        <p:txBody>
          <a:bodyPr wrap="square" rtlCol="0" anchor="ctr"/>
          <a:lstStyle/>
          <a:p>
            <a:pPr indent="0" marL="0">
              <a:buNone/>
            </a:pPr>
            <a:r>
              <a:rPr lang="en-US" sz="1200" dirty="0">
                <a:solidFill>
                  <a:srgbClr val="B91C1C"/>
                </a:solidFill>
                <a:latin typeface="Microsoft YaHei" pitchFamily="34" charset="0"/>
                <a:ea typeface="Microsoft YaHei" pitchFamily="34" charset="-122"/>
                <a:cs typeface="Microsoft YaHei" pitchFamily="34" charset="-120"/>
              </a:rPr>
              <a:t>精简只包含需要行动的信息</a:t>
            </a:r>
            <a:endParaRPr lang="en-US" sz="1200" dirty="0"/>
          </a:p>
        </p:txBody>
      </p:sp>
      <p:sp>
        <p:nvSpPr>
          <p:cNvPr id="25" name="Shape 23"/>
          <p:cNvSpPr/>
          <p:nvPr/>
        </p:nvSpPr>
        <p:spPr>
          <a:xfrm>
            <a:off x="457200" y="3657600"/>
            <a:ext cx="8229600" cy="777240"/>
          </a:xfrm>
          <a:prstGeom prst="rect">
            <a:avLst/>
          </a:prstGeom>
          <a:solidFill>
            <a:srgbClr val="FFFFFF"/>
          </a:solidFill>
          <a:ln/>
        </p:spPr>
      </p:sp>
      <p:sp>
        <p:nvSpPr>
          <p:cNvPr id="26" name="Shape 24"/>
          <p:cNvSpPr/>
          <p:nvPr/>
        </p:nvSpPr>
        <p:spPr>
          <a:xfrm>
            <a:off x="457200" y="3657600"/>
            <a:ext cx="73152" cy="777240"/>
          </a:xfrm>
          <a:prstGeom prst="rect">
            <a:avLst/>
          </a:prstGeom>
          <a:solidFill>
            <a:srgbClr val="EF4444"/>
          </a:solidFill>
          <a:ln/>
        </p:spPr>
      </p:sp>
      <p:sp>
        <p:nvSpPr>
          <p:cNvPr id="27" name="Text 25"/>
          <p:cNvSpPr/>
          <p:nvPr/>
        </p:nvSpPr>
        <p:spPr>
          <a:xfrm>
            <a:off x="594360" y="3657600"/>
            <a:ext cx="1828800" cy="777240"/>
          </a:xfrm>
          <a:prstGeom prst="rect">
            <a:avLst/>
          </a:prstGeom>
          <a:noFill/>
          <a:ln/>
        </p:spPr>
        <p:txBody>
          <a:bodyPr wrap="square" rtlCol="0" anchor="ctr"/>
          <a:lstStyle/>
          <a:p>
            <a:pPr indent="0" marL="0">
              <a:buNone/>
            </a:pPr>
            <a:r>
              <a:rPr lang="en-US" sz="1200" b="1" dirty="0">
                <a:solidFill>
                  <a:srgbClr val="EF4444"/>
                </a:solidFill>
                <a:latin typeface="Microsoft YaHei" pitchFamily="34" charset="0"/>
                <a:ea typeface="Microsoft YaHei" pitchFamily="34" charset="-122"/>
                <a:cs typeface="Microsoft YaHei" pitchFamily="34" charset="-120"/>
              </a:rPr>
              <a:t>失败静默</a:t>
            </a:r>
            <a:endParaRPr lang="en-US" sz="1200" dirty="0"/>
          </a:p>
        </p:txBody>
      </p:sp>
      <p:sp>
        <p:nvSpPr>
          <p:cNvPr id="28" name="Text 26"/>
          <p:cNvSpPr/>
          <p:nvPr/>
        </p:nvSpPr>
        <p:spPr>
          <a:xfrm>
            <a:off x="2560320" y="3657600"/>
            <a:ext cx="2377440" cy="777240"/>
          </a:xfrm>
          <a:prstGeom prst="rect">
            <a:avLst/>
          </a:prstGeom>
          <a:noFill/>
          <a:ln/>
        </p:spPr>
        <p:txBody>
          <a:bodyPr wrap="square" rtlCol="0" anchor="ctr"/>
          <a:lstStyle/>
          <a:p>
            <a:pPr indent="0" marL="0">
              <a:buNone/>
            </a:pPr>
            <a:r>
              <a:rPr lang="en-US" sz="1200" dirty="0">
                <a:solidFill>
                  <a:srgbClr val="374151"/>
                </a:solidFill>
                <a:latin typeface="Microsoft YaHei" pitchFamily="34" charset="0"/>
                <a:ea typeface="Microsoft YaHei" pitchFamily="34" charset="-122"/>
                <a:cs typeface="Microsoft YaHei" pitchFamily="34" charset="-120"/>
              </a:rPr>
              <a:t>跑失败了没人知道</a:t>
            </a:r>
            <a:endParaRPr lang="en-US" sz="1200" dirty="0"/>
          </a:p>
        </p:txBody>
      </p:sp>
      <p:sp>
        <p:nvSpPr>
          <p:cNvPr id="29" name="Text 27"/>
          <p:cNvSpPr/>
          <p:nvPr/>
        </p:nvSpPr>
        <p:spPr>
          <a:xfrm>
            <a:off x="5120640" y="3657600"/>
            <a:ext cx="2560320" cy="777240"/>
          </a:xfrm>
          <a:prstGeom prst="rect">
            <a:avLst/>
          </a:prstGeom>
          <a:noFill/>
          <a:ln/>
        </p:spPr>
        <p:txBody>
          <a:bodyPr wrap="square" rtlCol="0" anchor="ctr"/>
          <a:lstStyle/>
          <a:p>
            <a:pPr indent="0" marL="0">
              <a:buNone/>
            </a:pPr>
            <a:r>
              <a:rPr lang="en-US" sz="1200" dirty="0">
                <a:solidFill>
                  <a:srgbClr val="B91C1C"/>
                </a:solidFill>
                <a:latin typeface="Microsoft YaHei" pitchFamily="34" charset="0"/>
                <a:ea typeface="Microsoft YaHei" pitchFamily="34" charset="-122"/>
                <a:cs typeface="Microsoft YaHei" pitchFamily="34" charset="-120"/>
              </a:rPr>
              <a:t>设置失败通知</a:t>
            </a:r>
            <a:endParaRPr lang="en-US" sz="1200" dirty="0"/>
          </a:p>
        </p:txBody>
      </p:sp>
      <p:sp>
        <p:nvSpPr>
          <p:cNvPr id="30" name="Shape 28"/>
          <p:cNvSpPr/>
          <p:nvPr/>
        </p:nvSpPr>
        <p:spPr>
          <a:xfrm>
            <a:off x="8503920" y="4663440"/>
            <a:ext cx="365760" cy="365760"/>
          </a:xfrm>
          <a:prstGeom prst="ellipse">
            <a:avLst/>
          </a:prstGeom>
          <a:solidFill>
            <a:srgbClr val="EF4444"/>
          </a:solidFill>
          <a:ln/>
        </p:spPr>
      </p:sp>
      <p:sp>
        <p:nvSpPr>
          <p:cNvPr id="31" name="Text 29"/>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73</a:t>
            </a:r>
            <a:endParaRPr lang="en-US" sz="12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Shape 1"/>
          <p:cNvSpPr/>
          <p:nvPr/>
        </p:nvSpPr>
        <p:spPr>
          <a:xfrm>
            <a:off x="457200" y="274320"/>
            <a:ext cx="1645920" cy="457200"/>
          </a:xfrm>
          <a:prstGeom prst="roundRect">
            <a:avLst>
              <a:gd name="adj" fmla="val 16000"/>
            </a:avLst>
          </a:prstGeom>
          <a:solidFill>
            <a:srgbClr val="EF4444"/>
          </a:solidFill>
          <a:ln/>
        </p:spPr>
      </p:sp>
      <p:sp>
        <p:nvSpPr>
          <p:cNvPr id="4" name="Text 2"/>
          <p:cNvSpPr/>
          <p:nvPr/>
        </p:nvSpPr>
        <p:spPr>
          <a:xfrm>
            <a:off x="457200" y="274320"/>
            <a:ext cx="1645920" cy="457200"/>
          </a:xfrm>
          <a:prstGeom prst="rect">
            <a:avLst/>
          </a:prstGeom>
          <a:noFill/>
          <a:ln/>
        </p:spPr>
        <p:txBody>
          <a:bodyPr wrap="square" rtlCol="0" anchor="ctr"/>
          <a:lstStyle/>
          <a:p>
            <a:pPr algn="ctr" indent="0" marL="0">
              <a:buNone/>
            </a:pPr>
            <a:r>
              <a:rPr lang="en-US" sz="1600" b="1" dirty="0">
                <a:solidFill>
                  <a:srgbClr val="FFFFFF"/>
                </a:solidFill>
                <a:latin typeface="Microsoft YaHei" pitchFamily="34" charset="0"/>
                <a:ea typeface="Microsoft YaHei" pitchFamily="34" charset="-122"/>
                <a:cs typeface="Microsoft YaHei" pitchFamily="34" charset="-120"/>
              </a:rPr>
              <a:t>练习八</a:t>
            </a:r>
            <a:endParaRPr lang="en-US" sz="1600" dirty="0"/>
          </a:p>
        </p:txBody>
      </p:sp>
      <p:sp>
        <p:nvSpPr>
          <p:cNvPr id="5" name="Text 3"/>
          <p:cNvSpPr/>
          <p:nvPr/>
        </p:nvSpPr>
        <p:spPr>
          <a:xfrm>
            <a:off x="2286000" y="274320"/>
            <a:ext cx="5943600" cy="457200"/>
          </a:xfrm>
          <a:prstGeom prst="rect">
            <a:avLst/>
          </a:prstGeom>
          <a:noFill/>
          <a:ln/>
        </p:spPr>
        <p:txBody>
          <a:bodyPr wrap="square" rtlCol="0" anchor="ctr"/>
          <a:lstStyle/>
          <a:p>
            <a:pPr indent="0" marL="0">
              <a:buNone/>
            </a:pPr>
            <a:r>
              <a:rPr lang="en-US" sz="2600" b="1" dirty="0">
                <a:solidFill>
                  <a:srgbClr val="B91C1C"/>
                </a:solidFill>
                <a:latin typeface="Microsoft YaHei" pitchFamily="34" charset="0"/>
                <a:ea typeface="Microsoft YaHei" pitchFamily="34" charset="-122"/>
                <a:cs typeface="Microsoft YaHei" pitchFamily="34" charset="-120"/>
              </a:rPr>
              <a:t>设计你的第一个定时任务方案</a:t>
            </a:r>
            <a:endParaRPr lang="en-US" sz="2600" dirty="0"/>
          </a:p>
        </p:txBody>
      </p:sp>
      <p:sp>
        <p:nvSpPr>
          <p:cNvPr id="6" name="Shape 4"/>
          <p:cNvSpPr/>
          <p:nvPr/>
        </p:nvSpPr>
        <p:spPr>
          <a:xfrm>
            <a:off x="457200" y="914400"/>
            <a:ext cx="8229600" cy="3474720"/>
          </a:xfrm>
          <a:prstGeom prst="roundRect">
            <a:avLst>
              <a:gd name="adj" fmla="val 3158"/>
            </a:avLst>
          </a:prstGeom>
          <a:solidFill>
            <a:srgbClr val="F3F4F6"/>
          </a:solidFill>
          <a:ln/>
        </p:spPr>
      </p:sp>
      <p:sp>
        <p:nvSpPr>
          <p:cNvPr id="7" name="Shape 5"/>
          <p:cNvSpPr/>
          <p:nvPr/>
        </p:nvSpPr>
        <p:spPr>
          <a:xfrm>
            <a:off x="731520" y="1280160"/>
            <a:ext cx="457200" cy="457200"/>
          </a:xfrm>
          <a:prstGeom prst="ellipse">
            <a:avLst/>
          </a:prstGeom>
          <a:solidFill>
            <a:srgbClr val="EF4444"/>
          </a:solidFill>
          <a:ln/>
        </p:spPr>
      </p:sp>
      <p:sp>
        <p:nvSpPr>
          <p:cNvPr id="8" name="Text 6"/>
          <p:cNvSpPr/>
          <p:nvPr/>
        </p:nvSpPr>
        <p:spPr>
          <a:xfrm>
            <a:off x="731520" y="1280160"/>
            <a:ext cx="457200" cy="45720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9" name="Text 7"/>
          <p:cNvSpPr/>
          <p:nvPr/>
        </p:nvSpPr>
        <p:spPr>
          <a:xfrm>
            <a:off x="1371600" y="1188720"/>
            <a:ext cx="7040880" cy="640080"/>
          </a:xfrm>
          <a:prstGeom prst="rect">
            <a:avLst/>
          </a:prstGeom>
          <a:noFill/>
          <a:ln/>
        </p:spPr>
        <p:txBody>
          <a:bodyPr wrap="square" rtlCol="0" anchor="ctr"/>
          <a:lstStyle/>
          <a:p>
            <a:pPr indent="0" marL="0">
              <a:buNone/>
            </a:pPr>
            <a:r>
              <a:rPr lang="en-US" sz="1800" dirty="0">
                <a:solidFill>
                  <a:srgbClr val="374151"/>
                </a:solidFill>
                <a:latin typeface="Microsoft YaHei" pitchFamily="34" charset="0"/>
                <a:ea typeface="Microsoft YaHei" pitchFamily="34" charset="-122"/>
                <a:cs typeface="Microsoft YaHei" pitchFamily="34" charset="-120"/>
              </a:rPr>
              <a:t>从两个Skill中选一个最适合定时化的</a:t>
            </a:r>
            <a:endParaRPr lang="en-US" sz="1800" dirty="0"/>
          </a:p>
        </p:txBody>
      </p:sp>
      <p:sp>
        <p:nvSpPr>
          <p:cNvPr id="10" name="Shape 8"/>
          <p:cNvSpPr/>
          <p:nvPr/>
        </p:nvSpPr>
        <p:spPr>
          <a:xfrm>
            <a:off x="731520" y="2011680"/>
            <a:ext cx="457200" cy="457200"/>
          </a:xfrm>
          <a:prstGeom prst="ellipse">
            <a:avLst/>
          </a:prstGeom>
          <a:solidFill>
            <a:srgbClr val="EF4444"/>
          </a:solidFill>
          <a:ln/>
        </p:spPr>
      </p:sp>
      <p:sp>
        <p:nvSpPr>
          <p:cNvPr id="11" name="Text 9"/>
          <p:cNvSpPr/>
          <p:nvPr/>
        </p:nvSpPr>
        <p:spPr>
          <a:xfrm>
            <a:off x="731520" y="2011680"/>
            <a:ext cx="457200" cy="45720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12" name="Text 10"/>
          <p:cNvSpPr/>
          <p:nvPr/>
        </p:nvSpPr>
        <p:spPr>
          <a:xfrm>
            <a:off x="1371600" y="1920240"/>
            <a:ext cx="7040880" cy="640080"/>
          </a:xfrm>
          <a:prstGeom prst="rect">
            <a:avLst/>
          </a:prstGeom>
          <a:noFill/>
          <a:ln/>
        </p:spPr>
        <p:txBody>
          <a:bodyPr wrap="square" rtlCol="0" anchor="ctr"/>
          <a:lstStyle/>
          <a:p>
            <a:pPr indent="0" marL="0">
              <a:buNone/>
            </a:pPr>
            <a:r>
              <a:rPr lang="en-US" sz="1800" dirty="0">
                <a:solidFill>
                  <a:srgbClr val="374151"/>
                </a:solidFill>
                <a:latin typeface="Microsoft YaHei" pitchFamily="34" charset="0"/>
                <a:ea typeface="Microsoft YaHei" pitchFamily="34" charset="-122"/>
                <a:cs typeface="Microsoft YaHei" pitchFamily="34" charset="-120"/>
              </a:rPr>
              <a:t>完成定时任务五要素设计</a:t>
            </a:r>
            <a:endParaRPr lang="en-US" sz="1800" dirty="0"/>
          </a:p>
        </p:txBody>
      </p:sp>
      <p:sp>
        <p:nvSpPr>
          <p:cNvPr id="13" name="Shape 11"/>
          <p:cNvSpPr/>
          <p:nvPr/>
        </p:nvSpPr>
        <p:spPr>
          <a:xfrm>
            <a:off x="731520" y="2651760"/>
            <a:ext cx="7680960" cy="1463040"/>
          </a:xfrm>
          <a:prstGeom prst="roundRect">
            <a:avLst>
              <a:gd name="adj" fmla="val 5000"/>
            </a:avLst>
          </a:prstGeom>
          <a:solidFill>
            <a:srgbClr val="FFFFFF"/>
          </a:solidFill>
          <a:ln/>
        </p:spPr>
      </p:sp>
      <p:sp>
        <p:nvSpPr>
          <p:cNvPr id="14" name="Text 12"/>
          <p:cNvSpPr/>
          <p:nvPr/>
        </p:nvSpPr>
        <p:spPr>
          <a:xfrm>
            <a:off x="914400" y="2743200"/>
            <a:ext cx="7315200" cy="365760"/>
          </a:xfrm>
          <a:prstGeom prst="rect">
            <a:avLst/>
          </a:prstGeom>
          <a:noFill/>
          <a:ln/>
        </p:spPr>
        <p:txBody>
          <a:bodyPr wrap="square" rtlCol="0" anchor="ctr"/>
          <a:lstStyle/>
          <a:p>
            <a:pPr indent="0" marL="0">
              <a:buNone/>
            </a:pPr>
            <a:r>
              <a:rPr lang="en-US" sz="1400" b="1" dirty="0">
                <a:solidFill>
                  <a:srgbClr val="B91C1C"/>
                </a:solidFill>
                <a:latin typeface="Microsoft YaHei" pitchFamily="34" charset="0"/>
                <a:ea typeface="Microsoft YaHei" pitchFamily="34" charset="-122"/>
                <a:cs typeface="Microsoft YaHei" pitchFamily="34" charset="-120"/>
              </a:rPr>
              <a:t>五要素清单</a:t>
            </a:r>
            <a:endParaRPr lang="en-US" sz="1400" dirty="0"/>
          </a:p>
        </p:txBody>
      </p:sp>
      <p:sp>
        <p:nvSpPr>
          <p:cNvPr id="15" name="Shape 13"/>
          <p:cNvSpPr/>
          <p:nvPr/>
        </p:nvSpPr>
        <p:spPr>
          <a:xfrm>
            <a:off x="914400" y="3200400"/>
            <a:ext cx="274320" cy="274320"/>
          </a:xfrm>
          <a:prstGeom prst="ellipse">
            <a:avLst/>
          </a:prstGeom>
          <a:solidFill>
            <a:srgbClr val="EF4444"/>
          </a:solidFill>
          <a:ln/>
        </p:spPr>
      </p:sp>
      <p:sp>
        <p:nvSpPr>
          <p:cNvPr id="16" name="Text 14"/>
          <p:cNvSpPr/>
          <p:nvPr/>
        </p:nvSpPr>
        <p:spPr>
          <a:xfrm>
            <a:off x="914400" y="3200400"/>
            <a:ext cx="274320" cy="27432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7" name="Text 15"/>
          <p:cNvSpPr/>
          <p:nvPr/>
        </p:nvSpPr>
        <p:spPr>
          <a:xfrm>
            <a:off x="1234440" y="3154680"/>
            <a:ext cx="1097280" cy="365760"/>
          </a:xfrm>
          <a:prstGeom prst="rect">
            <a:avLst/>
          </a:prstGeom>
          <a:noFill/>
          <a:ln/>
        </p:spPr>
        <p:txBody>
          <a:bodyPr wrap="square" rtlCol="0" anchor="ctr"/>
          <a:lstStyle/>
          <a:p>
            <a:pPr indent="0" marL="0">
              <a:buNone/>
            </a:pPr>
            <a:r>
              <a:rPr lang="en-US" sz="1000" dirty="0">
                <a:solidFill>
                  <a:srgbClr val="374151"/>
                </a:solidFill>
                <a:latin typeface="Microsoft YaHei" pitchFamily="34" charset="0"/>
                <a:ea typeface="Microsoft YaHei" pitchFamily="34" charset="-122"/>
                <a:cs typeface="Microsoft YaHei" pitchFamily="34" charset="-120"/>
              </a:rPr>
              <a:t>触发时间设定</a:t>
            </a:r>
            <a:endParaRPr lang="en-US" sz="1000" dirty="0"/>
          </a:p>
        </p:txBody>
      </p:sp>
      <p:sp>
        <p:nvSpPr>
          <p:cNvPr id="18" name="Shape 16"/>
          <p:cNvSpPr/>
          <p:nvPr/>
        </p:nvSpPr>
        <p:spPr>
          <a:xfrm>
            <a:off x="2377440" y="3200400"/>
            <a:ext cx="274320" cy="274320"/>
          </a:xfrm>
          <a:prstGeom prst="ellipse">
            <a:avLst/>
          </a:prstGeom>
          <a:solidFill>
            <a:srgbClr val="EF4444"/>
          </a:solidFill>
          <a:ln/>
        </p:spPr>
      </p:sp>
      <p:sp>
        <p:nvSpPr>
          <p:cNvPr id="19" name="Text 17"/>
          <p:cNvSpPr/>
          <p:nvPr/>
        </p:nvSpPr>
        <p:spPr>
          <a:xfrm>
            <a:off x="2377440" y="3200400"/>
            <a:ext cx="274320" cy="27432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20" name="Text 18"/>
          <p:cNvSpPr/>
          <p:nvPr/>
        </p:nvSpPr>
        <p:spPr>
          <a:xfrm>
            <a:off x="2697480" y="3154680"/>
            <a:ext cx="1097280" cy="365760"/>
          </a:xfrm>
          <a:prstGeom prst="rect">
            <a:avLst/>
          </a:prstGeom>
          <a:noFill/>
          <a:ln/>
        </p:spPr>
        <p:txBody>
          <a:bodyPr wrap="square" rtlCol="0" anchor="ctr"/>
          <a:lstStyle/>
          <a:p>
            <a:pPr indent="0" marL="0">
              <a:buNone/>
            </a:pPr>
            <a:r>
              <a:rPr lang="en-US" sz="1000" dirty="0">
                <a:solidFill>
                  <a:srgbClr val="374151"/>
                </a:solidFill>
                <a:latin typeface="Microsoft YaHei" pitchFamily="34" charset="0"/>
                <a:ea typeface="Microsoft YaHei" pitchFamily="34" charset="-122"/>
                <a:cs typeface="Microsoft YaHei" pitchFamily="34" charset="-120"/>
              </a:rPr>
              <a:t>输入数据来源</a:t>
            </a:r>
            <a:endParaRPr lang="en-US" sz="1000" dirty="0"/>
          </a:p>
        </p:txBody>
      </p:sp>
      <p:sp>
        <p:nvSpPr>
          <p:cNvPr id="21" name="Shape 19"/>
          <p:cNvSpPr/>
          <p:nvPr/>
        </p:nvSpPr>
        <p:spPr>
          <a:xfrm>
            <a:off x="3840480" y="3200400"/>
            <a:ext cx="274320" cy="274320"/>
          </a:xfrm>
          <a:prstGeom prst="ellipse">
            <a:avLst/>
          </a:prstGeom>
          <a:solidFill>
            <a:srgbClr val="EF4444"/>
          </a:solidFill>
          <a:ln/>
        </p:spPr>
      </p:sp>
      <p:sp>
        <p:nvSpPr>
          <p:cNvPr id="22" name="Text 20"/>
          <p:cNvSpPr/>
          <p:nvPr/>
        </p:nvSpPr>
        <p:spPr>
          <a:xfrm>
            <a:off x="3840480" y="3200400"/>
            <a:ext cx="274320" cy="27432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23" name="Text 21"/>
          <p:cNvSpPr/>
          <p:nvPr/>
        </p:nvSpPr>
        <p:spPr>
          <a:xfrm>
            <a:off x="4160520" y="3154680"/>
            <a:ext cx="1097280" cy="365760"/>
          </a:xfrm>
          <a:prstGeom prst="rect">
            <a:avLst/>
          </a:prstGeom>
          <a:noFill/>
          <a:ln/>
        </p:spPr>
        <p:txBody>
          <a:bodyPr wrap="square" rtlCol="0" anchor="ctr"/>
          <a:lstStyle/>
          <a:p>
            <a:pPr indent="0" marL="0">
              <a:buNone/>
            </a:pPr>
            <a:r>
              <a:rPr lang="en-US" sz="1000" dirty="0">
                <a:solidFill>
                  <a:srgbClr val="374151"/>
                </a:solidFill>
                <a:latin typeface="Microsoft YaHei" pitchFamily="34" charset="0"/>
                <a:ea typeface="Microsoft YaHei" pitchFamily="34" charset="-122"/>
                <a:cs typeface="Microsoft YaHei" pitchFamily="34" charset="-120"/>
              </a:rPr>
              <a:t>输出接收方式</a:t>
            </a:r>
            <a:endParaRPr lang="en-US" sz="1000" dirty="0"/>
          </a:p>
        </p:txBody>
      </p:sp>
      <p:sp>
        <p:nvSpPr>
          <p:cNvPr id="24" name="Shape 22"/>
          <p:cNvSpPr/>
          <p:nvPr/>
        </p:nvSpPr>
        <p:spPr>
          <a:xfrm>
            <a:off x="5303520" y="3200400"/>
            <a:ext cx="274320" cy="274320"/>
          </a:xfrm>
          <a:prstGeom prst="ellipse">
            <a:avLst/>
          </a:prstGeom>
          <a:solidFill>
            <a:srgbClr val="EF4444"/>
          </a:solidFill>
          <a:ln/>
        </p:spPr>
      </p:sp>
      <p:sp>
        <p:nvSpPr>
          <p:cNvPr id="25" name="Text 23"/>
          <p:cNvSpPr/>
          <p:nvPr/>
        </p:nvSpPr>
        <p:spPr>
          <a:xfrm>
            <a:off x="5303520" y="3200400"/>
            <a:ext cx="274320" cy="27432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26" name="Text 24"/>
          <p:cNvSpPr/>
          <p:nvPr/>
        </p:nvSpPr>
        <p:spPr>
          <a:xfrm>
            <a:off x="5623560" y="3154680"/>
            <a:ext cx="1097280" cy="365760"/>
          </a:xfrm>
          <a:prstGeom prst="rect">
            <a:avLst/>
          </a:prstGeom>
          <a:noFill/>
          <a:ln/>
        </p:spPr>
        <p:txBody>
          <a:bodyPr wrap="square" rtlCol="0" anchor="ctr"/>
          <a:lstStyle/>
          <a:p>
            <a:pPr indent="0" marL="0">
              <a:buNone/>
            </a:pPr>
            <a:r>
              <a:rPr lang="en-US" sz="1000" dirty="0">
                <a:solidFill>
                  <a:srgbClr val="374151"/>
                </a:solidFill>
                <a:latin typeface="Microsoft YaHei" pitchFamily="34" charset="0"/>
                <a:ea typeface="Microsoft YaHei" pitchFamily="34" charset="-122"/>
                <a:cs typeface="Microsoft YaHei" pitchFamily="34" charset="-120"/>
              </a:rPr>
              <a:t>异常处理机制</a:t>
            </a:r>
            <a:endParaRPr lang="en-US" sz="1000" dirty="0"/>
          </a:p>
        </p:txBody>
      </p:sp>
      <p:sp>
        <p:nvSpPr>
          <p:cNvPr id="27" name="Shape 25"/>
          <p:cNvSpPr/>
          <p:nvPr/>
        </p:nvSpPr>
        <p:spPr>
          <a:xfrm>
            <a:off x="6766560" y="3200400"/>
            <a:ext cx="274320" cy="274320"/>
          </a:xfrm>
          <a:prstGeom prst="ellipse">
            <a:avLst/>
          </a:prstGeom>
          <a:solidFill>
            <a:srgbClr val="EF4444"/>
          </a:solidFill>
          <a:ln/>
        </p:spPr>
      </p:sp>
      <p:sp>
        <p:nvSpPr>
          <p:cNvPr id="28" name="Text 26"/>
          <p:cNvSpPr/>
          <p:nvPr/>
        </p:nvSpPr>
        <p:spPr>
          <a:xfrm>
            <a:off x="6766560" y="3200400"/>
            <a:ext cx="274320" cy="27432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29" name="Text 27"/>
          <p:cNvSpPr/>
          <p:nvPr/>
        </p:nvSpPr>
        <p:spPr>
          <a:xfrm>
            <a:off x="7086600" y="3154680"/>
            <a:ext cx="1097280" cy="365760"/>
          </a:xfrm>
          <a:prstGeom prst="rect">
            <a:avLst/>
          </a:prstGeom>
          <a:noFill/>
          <a:ln/>
        </p:spPr>
        <p:txBody>
          <a:bodyPr wrap="square" rtlCol="0" anchor="ctr"/>
          <a:lstStyle/>
          <a:p>
            <a:pPr indent="0" marL="0">
              <a:buNone/>
            </a:pPr>
            <a:r>
              <a:rPr lang="en-US" sz="1000" dirty="0">
                <a:solidFill>
                  <a:srgbClr val="374151"/>
                </a:solidFill>
                <a:latin typeface="Microsoft YaHei" pitchFamily="34" charset="0"/>
                <a:ea typeface="Microsoft YaHei" pitchFamily="34" charset="-122"/>
                <a:cs typeface="Microsoft YaHei" pitchFamily="34" charset="-120"/>
              </a:rPr>
              <a:t>人工介入节点</a:t>
            </a:r>
            <a:endParaRPr lang="en-US" sz="1000" dirty="0"/>
          </a:p>
        </p:txBody>
      </p:sp>
      <p:sp>
        <p:nvSpPr>
          <p:cNvPr id="30" name="Shape 28"/>
          <p:cNvSpPr/>
          <p:nvPr/>
        </p:nvSpPr>
        <p:spPr>
          <a:xfrm>
            <a:off x="5943600" y="3931920"/>
            <a:ext cx="2468880" cy="457200"/>
          </a:xfrm>
          <a:prstGeom prst="roundRect">
            <a:avLst>
              <a:gd name="adj" fmla="val 16000"/>
            </a:avLst>
          </a:prstGeom>
          <a:solidFill>
            <a:srgbClr val="B91C1C"/>
          </a:solidFill>
          <a:ln/>
        </p:spPr>
      </p:sp>
      <p:sp>
        <p:nvSpPr>
          <p:cNvPr id="31" name="Text 29"/>
          <p:cNvSpPr/>
          <p:nvPr/>
        </p:nvSpPr>
        <p:spPr>
          <a:xfrm>
            <a:off x="5943600" y="3931920"/>
            <a:ext cx="2468880" cy="457200"/>
          </a:xfrm>
          <a:prstGeom prst="rect">
            <a:avLst/>
          </a:prstGeom>
          <a:noFill/>
          <a:ln/>
        </p:spPr>
        <p:txBody>
          <a:bodyPr wrap="square" rtlCol="0" anchor="ctr"/>
          <a:lstStyle/>
          <a:p>
            <a:pPr algn="ctr" indent="0" marL="0">
              <a:buNone/>
            </a:pPr>
            <a:r>
              <a:rPr lang="en-US" sz="1600" b="1" dirty="0">
                <a:solidFill>
                  <a:srgbClr val="FFFFFF"/>
                </a:solidFill>
                <a:latin typeface="Microsoft YaHei" pitchFamily="34" charset="0"/>
                <a:ea typeface="Microsoft YaHei" pitchFamily="34" charset="-122"/>
                <a:cs typeface="Microsoft YaHei" pitchFamily="34" charset="-120"/>
              </a:rPr>
              <a:t>⏱ 20分钟</a:t>
            </a:r>
            <a:endParaRPr lang="en-US" sz="1600" dirty="0"/>
          </a:p>
        </p:txBody>
      </p:sp>
      <p:sp>
        <p:nvSpPr>
          <p:cNvPr id="32" name="Shape 30"/>
          <p:cNvSpPr/>
          <p:nvPr/>
        </p:nvSpPr>
        <p:spPr>
          <a:xfrm>
            <a:off x="8503920" y="4663440"/>
            <a:ext cx="365760" cy="365760"/>
          </a:xfrm>
          <a:prstGeom prst="ellipse">
            <a:avLst/>
          </a:prstGeom>
          <a:solidFill>
            <a:srgbClr val="EF4444"/>
          </a:solidFill>
          <a:ln/>
        </p:spPr>
      </p:sp>
      <p:sp>
        <p:nvSpPr>
          <p:cNvPr id="33" name="Text 31"/>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74</a:t>
            </a:r>
            <a:endParaRPr lang="en-US" sz="12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B91C1C"/>
        </a:solidFill>
      </p:bgPr>
    </p:bg>
    <p:spTree>
      <p:nvGrpSpPr>
        <p:cNvPr id="1" name=""/>
        <p:cNvGrpSpPr/>
        <p:nvPr/>
      </p:nvGrpSpPr>
      <p:grpSpPr>
        <a:xfrm>
          <a:off x="0" y="0"/>
          <a:ext cx="0" cy="0"/>
          <a:chOff x="0" y="0"/>
          <a:chExt cx="0" cy="0"/>
        </a:xfrm>
      </p:grpSpPr>
      <p:sp>
        <p:nvSpPr>
          <p:cNvPr id="2" name="Shape 0"/>
          <p:cNvSpPr/>
          <p:nvPr/>
        </p:nvSpPr>
        <p:spPr>
          <a:xfrm>
            <a:off x="0" y="2011680"/>
            <a:ext cx="137160" cy="1645920"/>
          </a:xfrm>
          <a:prstGeom prst="rect">
            <a:avLst/>
          </a:prstGeom>
          <a:solidFill>
            <a:srgbClr val="EF4444"/>
          </a:solidFill>
          <a:ln/>
        </p:spPr>
      </p:sp>
      <p:sp>
        <p:nvSpPr>
          <p:cNvPr id="3" name="Text 1"/>
          <p:cNvSpPr/>
          <p:nvPr/>
        </p:nvSpPr>
        <p:spPr>
          <a:xfrm>
            <a:off x="548640" y="1371600"/>
            <a:ext cx="2743200" cy="457200"/>
          </a:xfrm>
          <a:prstGeom prst="rect">
            <a:avLst/>
          </a:prstGeom>
          <a:noFill/>
          <a:ln/>
        </p:spPr>
        <p:txBody>
          <a:bodyPr wrap="square" rtlCol="0" anchor="ctr"/>
          <a:lstStyle/>
          <a:p>
            <a:pPr indent="0" marL="0">
              <a:buNone/>
            </a:pPr>
            <a:r>
              <a:rPr lang="en-US" sz="1400" spc="400" kern="0" dirty="0">
                <a:solidFill>
                  <a:srgbClr val="F3F4F6"/>
                </a:solidFill>
                <a:latin typeface="Arial" pitchFamily="34" charset="0"/>
                <a:ea typeface="Arial" pitchFamily="34" charset="-122"/>
                <a:cs typeface="Arial" pitchFamily="34" charset="-120"/>
              </a:rPr>
              <a:t>PART 5</a:t>
            </a:r>
            <a:endParaRPr lang="en-US" sz="1400" dirty="0"/>
          </a:p>
        </p:txBody>
      </p:sp>
      <p:sp>
        <p:nvSpPr>
          <p:cNvPr id="4" name="Text 2"/>
          <p:cNvSpPr/>
          <p:nvPr/>
        </p:nvSpPr>
        <p:spPr>
          <a:xfrm>
            <a:off x="548640" y="2011680"/>
            <a:ext cx="7315200" cy="731520"/>
          </a:xfrm>
          <a:prstGeom prst="rect">
            <a:avLst/>
          </a:prstGeom>
          <a:noFill/>
          <a:ln/>
        </p:spPr>
        <p:txBody>
          <a:bodyPr wrap="square"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第二天·下午</a:t>
            </a:r>
            <a:endParaRPr lang="en-US" sz="4000" dirty="0"/>
          </a:p>
        </p:txBody>
      </p:sp>
      <p:sp>
        <p:nvSpPr>
          <p:cNvPr id="5" name="Text 3"/>
          <p:cNvSpPr/>
          <p:nvPr/>
        </p:nvSpPr>
        <p:spPr>
          <a:xfrm>
            <a:off x="548640" y="2743200"/>
            <a:ext cx="7315200" cy="548640"/>
          </a:xfrm>
          <a:prstGeom prst="rect">
            <a:avLst/>
          </a:prstGeom>
          <a:noFill/>
          <a:ln/>
        </p:spPr>
        <p:txBody>
          <a:bodyPr wrap="square" rtlCol="0" anchor="ctr"/>
          <a:lstStyle/>
          <a:p>
            <a:pPr indent="0" marL="0">
              <a:buNone/>
            </a:pPr>
            <a:r>
              <a:rPr lang="en-US" sz="2400" dirty="0">
                <a:solidFill>
                  <a:srgbClr val="F3F4F6"/>
                </a:solidFill>
                <a:latin typeface="Microsoft YaHei" pitchFamily="34" charset="0"/>
                <a:ea typeface="Microsoft YaHei" pitchFamily="34" charset="-122"/>
                <a:cs typeface="Microsoft YaHei" pitchFamily="34" charset="-120"/>
              </a:rPr>
              <a:t>从单兵作战到协作系统</a:t>
            </a:r>
            <a:endParaRPr lang="en-US" sz="2400" dirty="0"/>
          </a:p>
        </p:txBody>
      </p:sp>
      <p:sp>
        <p:nvSpPr>
          <p:cNvPr id="6" name="Text 4"/>
          <p:cNvSpPr/>
          <p:nvPr/>
        </p:nvSpPr>
        <p:spPr>
          <a:xfrm>
            <a:off x="548640" y="3291840"/>
            <a:ext cx="7315200" cy="457200"/>
          </a:xfrm>
          <a:prstGeom prst="rect">
            <a:avLst/>
          </a:prstGeom>
          <a:noFill/>
          <a:ln/>
        </p:spPr>
        <p:txBody>
          <a:bodyPr wrap="square" rtlCol="0" anchor="ctr"/>
          <a:lstStyle/>
          <a:p>
            <a:pPr indent="0" marL="0">
              <a:buNone/>
            </a:pPr>
            <a:r>
              <a:rPr lang="en-US" sz="1600" dirty="0">
                <a:solidFill>
                  <a:srgbClr val="374151"/>
                </a:solidFill>
                <a:latin typeface="Microsoft YaHei" pitchFamily="34" charset="0"/>
                <a:ea typeface="Microsoft YaHei" pitchFamily="34" charset="-122"/>
                <a:cs typeface="Microsoft YaHei" pitchFamily="34" charset="-120"/>
              </a:rPr>
              <a:t>从个人工具到组织资产</a:t>
            </a:r>
            <a:endParaRPr lang="en-US" sz="1600" dirty="0"/>
          </a:p>
        </p:txBody>
      </p:sp>
      <p:sp>
        <p:nvSpPr>
          <p:cNvPr id="7" name="Text 5"/>
          <p:cNvSpPr/>
          <p:nvPr/>
        </p:nvSpPr>
        <p:spPr>
          <a:xfrm>
            <a:off x="8503920" y="4663440"/>
            <a:ext cx="457200" cy="274320"/>
          </a:xfrm>
          <a:prstGeom prst="rect">
            <a:avLst/>
          </a:prstGeom>
          <a:noFill/>
          <a:ln/>
        </p:spPr>
        <p:txBody>
          <a:bodyPr wrap="square" rtlCol="0" anchor="ctr"/>
          <a:lstStyle/>
          <a:p>
            <a:pPr algn="r" indent="0" marL="0">
              <a:buNone/>
            </a:pPr>
            <a:r>
              <a:rPr lang="en-US" sz="1000" dirty="0">
                <a:solidFill>
                  <a:srgbClr val="374151"/>
                </a:solidFill>
                <a:latin typeface="Arial" pitchFamily="34" charset="0"/>
                <a:ea typeface="Arial" pitchFamily="34" charset="-122"/>
                <a:cs typeface="Arial" pitchFamily="34" charset="-120"/>
              </a:rPr>
              <a:t>75</a:t>
            </a:r>
            <a:endParaRPr lang="en-US" sz="10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274320"/>
            <a:ext cx="8229600" cy="548640"/>
          </a:xfrm>
          <a:prstGeom prst="rect">
            <a:avLst/>
          </a:prstGeom>
          <a:noFill/>
          <a:ln/>
        </p:spPr>
        <p:txBody>
          <a:bodyPr wrap="square" rtlCol="0" anchor="ctr"/>
          <a:lstStyle/>
          <a:p>
            <a:pPr indent="0" marL="0">
              <a:buNone/>
            </a:pPr>
            <a:r>
              <a:rPr lang="en-US" sz="2400" b="1" dirty="0">
                <a:solidFill>
                  <a:srgbClr val="B91C1C"/>
                </a:solidFill>
                <a:latin typeface="Microsoft YaHei" pitchFamily="34" charset="0"/>
                <a:ea typeface="Microsoft YaHei" pitchFamily="34" charset="-122"/>
                <a:cs typeface="Microsoft YaHei" pitchFamily="34" charset="-120"/>
              </a:rPr>
              <a:t>开场：两个工具和一支团队的差距</a:t>
            </a:r>
            <a:endParaRPr lang="en-US" sz="2400" dirty="0"/>
          </a:p>
        </p:txBody>
      </p:sp>
      <p:sp>
        <p:nvSpPr>
          <p:cNvPr id="4" name="Text 2"/>
          <p:cNvSpPr/>
          <p:nvPr/>
        </p:nvSpPr>
        <p:spPr>
          <a:xfrm>
            <a:off x="457200" y="914400"/>
            <a:ext cx="3657600" cy="365760"/>
          </a:xfrm>
          <a:prstGeom prst="rect">
            <a:avLst/>
          </a:prstGeom>
          <a:noFill/>
          <a:ln/>
        </p:spPr>
        <p:txBody>
          <a:bodyPr wrap="square" rtlCol="0" anchor="ctr"/>
          <a:lstStyle/>
          <a:p>
            <a:pPr indent="0" marL="0">
              <a:buNone/>
            </a:pPr>
            <a:r>
              <a:rPr lang="en-US" sz="1600" b="1" dirty="0">
                <a:solidFill>
                  <a:srgbClr val="EF4444"/>
                </a:solidFill>
                <a:latin typeface="Microsoft YaHei" pitchFamily="34" charset="0"/>
                <a:ea typeface="Microsoft YaHei" pitchFamily="34" charset="-122"/>
                <a:cs typeface="Microsoft YaHei" pitchFamily="34" charset="-120"/>
              </a:rPr>
              <a:t>运营例会需要：</a:t>
            </a:r>
            <a:endParaRPr lang="en-US" sz="1600" dirty="0"/>
          </a:p>
        </p:txBody>
      </p:sp>
      <p:sp>
        <p:nvSpPr>
          <p:cNvPr id="5" name="Shape 3"/>
          <p:cNvSpPr/>
          <p:nvPr/>
        </p:nvSpPr>
        <p:spPr>
          <a:xfrm>
            <a:off x="457200" y="1371600"/>
            <a:ext cx="137160" cy="137160"/>
          </a:xfrm>
          <a:prstGeom prst="ellipse">
            <a:avLst/>
          </a:prstGeom>
          <a:solidFill>
            <a:srgbClr val="EF4444"/>
          </a:solidFill>
          <a:ln/>
        </p:spPr>
      </p:sp>
      <p:sp>
        <p:nvSpPr>
          <p:cNvPr id="6" name="Text 4"/>
          <p:cNvSpPr/>
          <p:nvPr/>
        </p:nvSpPr>
        <p:spPr>
          <a:xfrm>
            <a:off x="731520" y="1325880"/>
            <a:ext cx="3657600" cy="365760"/>
          </a:xfrm>
          <a:prstGeom prst="rect">
            <a:avLst/>
          </a:prstGeom>
          <a:noFill/>
          <a:ln/>
        </p:spPr>
        <p:txBody>
          <a:bodyPr wrap="square" rtlCol="0" anchor="ctr"/>
          <a:lstStyle/>
          <a:p>
            <a:pPr indent="0" marL="0">
              <a:buNone/>
            </a:pPr>
            <a:r>
              <a:rPr lang="en-US" sz="1400" dirty="0">
                <a:solidFill>
                  <a:srgbClr val="374151"/>
                </a:solidFill>
                <a:latin typeface="Microsoft YaHei" pitchFamily="34" charset="0"/>
                <a:ea typeface="Microsoft YaHei" pitchFamily="34" charset="-122"/>
                <a:cs typeface="Microsoft YaHei" pitchFamily="34" charset="-120"/>
              </a:rPr>
              <a:t>汇总本周各渠道核心数据</a:t>
            </a:r>
            <a:endParaRPr lang="en-US" sz="1400" dirty="0"/>
          </a:p>
        </p:txBody>
      </p:sp>
      <p:sp>
        <p:nvSpPr>
          <p:cNvPr id="7" name="Shape 5"/>
          <p:cNvSpPr/>
          <p:nvPr/>
        </p:nvSpPr>
        <p:spPr>
          <a:xfrm>
            <a:off x="457200" y="1828800"/>
            <a:ext cx="137160" cy="137160"/>
          </a:xfrm>
          <a:prstGeom prst="ellipse">
            <a:avLst/>
          </a:prstGeom>
          <a:solidFill>
            <a:srgbClr val="EF4444"/>
          </a:solidFill>
          <a:ln/>
        </p:spPr>
      </p:sp>
      <p:sp>
        <p:nvSpPr>
          <p:cNvPr id="8" name="Text 6"/>
          <p:cNvSpPr/>
          <p:nvPr/>
        </p:nvSpPr>
        <p:spPr>
          <a:xfrm>
            <a:off x="731520" y="1783080"/>
            <a:ext cx="3657600" cy="365760"/>
          </a:xfrm>
          <a:prstGeom prst="rect">
            <a:avLst/>
          </a:prstGeom>
          <a:noFill/>
          <a:ln/>
        </p:spPr>
        <p:txBody>
          <a:bodyPr wrap="square" rtlCol="0" anchor="ctr"/>
          <a:lstStyle/>
          <a:p>
            <a:pPr indent="0" marL="0">
              <a:buNone/>
            </a:pPr>
            <a:r>
              <a:rPr lang="en-US" sz="1400" dirty="0">
                <a:solidFill>
                  <a:srgbClr val="374151"/>
                </a:solidFill>
                <a:latin typeface="Microsoft YaHei" pitchFamily="34" charset="0"/>
                <a:ea typeface="Microsoft YaHei" pitchFamily="34" charset="-122"/>
                <a:cs typeface="Microsoft YaHei" pitchFamily="34" charset="-120"/>
              </a:rPr>
              <a:t>识别异常和值得关注的趋势</a:t>
            </a:r>
            <a:endParaRPr lang="en-US" sz="1400" dirty="0"/>
          </a:p>
        </p:txBody>
      </p:sp>
      <p:sp>
        <p:nvSpPr>
          <p:cNvPr id="9" name="Shape 7"/>
          <p:cNvSpPr/>
          <p:nvPr/>
        </p:nvSpPr>
        <p:spPr>
          <a:xfrm>
            <a:off x="457200" y="2286000"/>
            <a:ext cx="137160" cy="137160"/>
          </a:xfrm>
          <a:prstGeom prst="ellipse">
            <a:avLst/>
          </a:prstGeom>
          <a:solidFill>
            <a:srgbClr val="EF4444"/>
          </a:solidFill>
          <a:ln/>
        </p:spPr>
      </p:sp>
      <p:sp>
        <p:nvSpPr>
          <p:cNvPr id="10" name="Text 8"/>
          <p:cNvSpPr/>
          <p:nvPr/>
        </p:nvSpPr>
        <p:spPr>
          <a:xfrm>
            <a:off x="731520" y="2240280"/>
            <a:ext cx="3657600" cy="365760"/>
          </a:xfrm>
          <a:prstGeom prst="rect">
            <a:avLst/>
          </a:prstGeom>
          <a:noFill/>
          <a:ln/>
        </p:spPr>
        <p:txBody>
          <a:bodyPr wrap="square" rtlCol="0" anchor="ctr"/>
          <a:lstStyle/>
          <a:p>
            <a:pPr indent="0" marL="0">
              <a:buNone/>
            </a:pPr>
            <a:r>
              <a:rPr lang="en-US" sz="1400" dirty="0">
                <a:solidFill>
                  <a:srgbClr val="374151"/>
                </a:solidFill>
                <a:latin typeface="Microsoft YaHei" pitchFamily="34" charset="0"/>
                <a:ea typeface="Microsoft YaHei" pitchFamily="34" charset="-122"/>
                <a:cs typeface="Microsoft YaHei" pitchFamily="34" charset="-120"/>
              </a:rPr>
              <a:t>生成议题清单</a:t>
            </a:r>
            <a:endParaRPr lang="en-US" sz="1400" dirty="0"/>
          </a:p>
        </p:txBody>
      </p:sp>
      <p:sp>
        <p:nvSpPr>
          <p:cNvPr id="11" name="Shape 9"/>
          <p:cNvSpPr/>
          <p:nvPr/>
        </p:nvSpPr>
        <p:spPr>
          <a:xfrm>
            <a:off x="457200" y="2743200"/>
            <a:ext cx="137160" cy="137160"/>
          </a:xfrm>
          <a:prstGeom prst="ellipse">
            <a:avLst/>
          </a:prstGeom>
          <a:solidFill>
            <a:srgbClr val="EF4444"/>
          </a:solidFill>
          <a:ln/>
        </p:spPr>
      </p:sp>
      <p:sp>
        <p:nvSpPr>
          <p:cNvPr id="12" name="Text 10"/>
          <p:cNvSpPr/>
          <p:nvPr/>
        </p:nvSpPr>
        <p:spPr>
          <a:xfrm>
            <a:off x="731520" y="2697480"/>
            <a:ext cx="3657600" cy="365760"/>
          </a:xfrm>
          <a:prstGeom prst="rect">
            <a:avLst/>
          </a:prstGeom>
          <a:noFill/>
          <a:ln/>
        </p:spPr>
        <p:txBody>
          <a:bodyPr wrap="square" rtlCol="0" anchor="ctr"/>
          <a:lstStyle/>
          <a:p>
            <a:pPr indent="0" marL="0">
              <a:buNone/>
            </a:pPr>
            <a:r>
              <a:rPr lang="en-US" sz="1400" dirty="0">
                <a:solidFill>
                  <a:srgbClr val="374151"/>
                </a:solidFill>
                <a:latin typeface="Microsoft YaHei" pitchFamily="34" charset="0"/>
                <a:ea typeface="Microsoft YaHei" pitchFamily="34" charset="-122"/>
                <a:cs typeface="Microsoft YaHei" pitchFamily="34" charset="-120"/>
              </a:rPr>
              <a:t>分配责任人</a:t>
            </a:r>
            <a:endParaRPr lang="en-US" sz="1400" dirty="0"/>
          </a:p>
        </p:txBody>
      </p:sp>
      <p:sp>
        <p:nvSpPr>
          <p:cNvPr id="13" name="Shape 11"/>
          <p:cNvSpPr/>
          <p:nvPr/>
        </p:nvSpPr>
        <p:spPr>
          <a:xfrm>
            <a:off x="457200" y="3200400"/>
            <a:ext cx="137160" cy="137160"/>
          </a:xfrm>
          <a:prstGeom prst="ellipse">
            <a:avLst/>
          </a:prstGeom>
          <a:solidFill>
            <a:srgbClr val="EF4444"/>
          </a:solidFill>
          <a:ln/>
        </p:spPr>
      </p:sp>
      <p:sp>
        <p:nvSpPr>
          <p:cNvPr id="14" name="Text 12"/>
          <p:cNvSpPr/>
          <p:nvPr/>
        </p:nvSpPr>
        <p:spPr>
          <a:xfrm>
            <a:off x="731520" y="3154680"/>
            <a:ext cx="3657600" cy="365760"/>
          </a:xfrm>
          <a:prstGeom prst="rect">
            <a:avLst/>
          </a:prstGeom>
          <a:noFill/>
          <a:ln/>
        </p:spPr>
        <p:txBody>
          <a:bodyPr wrap="square" rtlCol="0" anchor="ctr"/>
          <a:lstStyle/>
          <a:p>
            <a:pPr indent="0" marL="0">
              <a:buNone/>
            </a:pPr>
            <a:r>
              <a:rPr lang="en-US" sz="1400" dirty="0">
                <a:solidFill>
                  <a:srgbClr val="374151"/>
                </a:solidFill>
                <a:latin typeface="Microsoft YaHei" pitchFamily="34" charset="0"/>
                <a:ea typeface="Microsoft YaHei" pitchFamily="34" charset="-122"/>
                <a:cs typeface="Microsoft YaHei" pitchFamily="34" charset="-120"/>
              </a:rPr>
              <a:t>会后整理会议纪要和行动清单</a:t>
            </a:r>
            <a:endParaRPr lang="en-US" sz="1400" dirty="0"/>
          </a:p>
        </p:txBody>
      </p:sp>
      <p:sp>
        <p:nvSpPr>
          <p:cNvPr id="15" name="Shape 13"/>
          <p:cNvSpPr/>
          <p:nvPr/>
        </p:nvSpPr>
        <p:spPr>
          <a:xfrm>
            <a:off x="4754880" y="914400"/>
            <a:ext cx="3931920" cy="2743200"/>
          </a:xfrm>
          <a:prstGeom prst="rect">
            <a:avLst/>
          </a:prstGeom>
          <a:solidFill>
            <a:srgbClr val="F3F4F6"/>
          </a:solidFill>
          <a:ln w="25400">
            <a:solidFill>
              <a:srgbClr val="EF4444"/>
            </a:solidFill>
            <a:prstDash val="solid"/>
          </a:ln>
        </p:spPr>
      </p:sp>
      <p:sp>
        <p:nvSpPr>
          <p:cNvPr id="16" name="Text 14"/>
          <p:cNvSpPr/>
          <p:nvPr/>
        </p:nvSpPr>
        <p:spPr>
          <a:xfrm>
            <a:off x="4937760" y="1097280"/>
            <a:ext cx="3566160" cy="365760"/>
          </a:xfrm>
          <a:prstGeom prst="rect">
            <a:avLst/>
          </a:prstGeom>
          <a:noFill/>
          <a:ln/>
        </p:spPr>
        <p:txBody>
          <a:bodyPr wrap="square" rtlCol="0" anchor="ctr"/>
          <a:lstStyle/>
          <a:p>
            <a:pPr indent="0" marL="0">
              <a:buNone/>
            </a:pPr>
            <a:r>
              <a:rPr lang="en-US" sz="1400" b="1" dirty="0">
                <a:solidFill>
                  <a:srgbClr val="EF4444"/>
                </a:solidFill>
                <a:latin typeface="Microsoft YaHei" pitchFamily="34" charset="0"/>
                <a:ea typeface="Microsoft YaHei" pitchFamily="34" charset="-122"/>
                <a:cs typeface="Microsoft YaHei" pitchFamily="34" charset="-120"/>
              </a:rPr>
              <a:t>一个问题</a:t>
            </a:r>
            <a:endParaRPr lang="en-US" sz="1400" dirty="0"/>
          </a:p>
        </p:txBody>
      </p:sp>
      <p:sp>
        <p:nvSpPr>
          <p:cNvPr id="17" name="Text 15"/>
          <p:cNvSpPr/>
          <p:nvPr/>
        </p:nvSpPr>
        <p:spPr>
          <a:xfrm>
            <a:off x="4937760" y="1554480"/>
            <a:ext cx="3566160" cy="731520"/>
          </a:xfrm>
          <a:prstGeom prst="rect">
            <a:avLst/>
          </a:prstGeom>
          <a:noFill/>
          <a:ln/>
        </p:spPr>
        <p:txBody>
          <a:bodyPr wrap="square" rtlCol="0" anchor="ctr"/>
          <a:lstStyle/>
          <a:p>
            <a:pPr indent="0" marL="0">
              <a:buNone/>
            </a:pPr>
            <a:r>
              <a:rPr lang="en-US" sz="1800" b="1" dirty="0">
                <a:solidFill>
                  <a:srgbClr val="B91C1C"/>
                </a:solidFill>
                <a:latin typeface="Microsoft YaHei" pitchFamily="34" charset="0"/>
                <a:ea typeface="Microsoft YaHei" pitchFamily="34" charset="-122"/>
                <a:cs typeface="Microsoft YaHei" pitchFamily="34" charset="-120"/>
              </a:rPr>
              <a:t>一个Skill能把5件事都做好吗？</a:t>
            </a:r>
            <a:endParaRPr lang="en-US" sz="1800" dirty="0"/>
          </a:p>
        </p:txBody>
      </p:sp>
      <p:sp>
        <p:nvSpPr>
          <p:cNvPr id="18" name="Text 16"/>
          <p:cNvSpPr/>
          <p:nvPr/>
        </p:nvSpPr>
        <p:spPr>
          <a:xfrm>
            <a:off x="4937760" y="2286000"/>
            <a:ext cx="3566160" cy="457200"/>
          </a:xfrm>
          <a:prstGeom prst="rect">
            <a:avLst/>
          </a:prstGeom>
          <a:noFill/>
          <a:ln/>
        </p:spPr>
        <p:txBody>
          <a:bodyPr wrap="square" rtlCol="0" anchor="ctr"/>
          <a:lstStyle/>
          <a:p>
            <a:pPr indent="0" marL="0">
              <a:buNone/>
            </a:pPr>
            <a:r>
              <a:rPr lang="en-US" sz="1200" dirty="0">
                <a:solidFill>
                  <a:srgbClr val="374151"/>
                </a:solidFill>
                <a:latin typeface="Microsoft YaHei" pitchFamily="34" charset="0"/>
                <a:ea typeface="Microsoft YaHei" pitchFamily="34" charset="-122"/>
                <a:cs typeface="Microsoft YaHei" pitchFamily="34" charset="-120"/>
              </a:rPr>
              <a:t>当任务涉及多个专业领域、多种输出格式时，单一Skill往往：</a:t>
            </a:r>
            <a:endParaRPr lang="en-US" sz="1200" dirty="0"/>
          </a:p>
        </p:txBody>
      </p:sp>
      <p:sp>
        <p:nvSpPr>
          <p:cNvPr id="19" name="Text 17"/>
          <p:cNvSpPr/>
          <p:nvPr/>
        </p:nvSpPr>
        <p:spPr>
          <a:xfrm>
            <a:off x="4937760" y="2743200"/>
            <a:ext cx="3566160" cy="914400"/>
          </a:xfrm>
          <a:prstGeom prst="rect">
            <a:avLst/>
          </a:prstGeom>
          <a:noFill/>
          <a:ln/>
        </p:spPr>
        <p:txBody>
          <a:bodyPr wrap="square" rtlCol="0" anchor="ctr"/>
          <a:lstStyle/>
          <a:p>
            <a:pPr marL="342900" indent="-342900">
              <a:buSzPct val="100000"/>
              <a:buChar char="•"/>
            </a:pPr>
            <a:r>
              <a:rPr lang="en-US" sz="1200" dirty="0">
                <a:solidFill>
                  <a:srgbClr val="374151"/>
                </a:solidFill>
                <a:latin typeface="Microsoft YaHei" pitchFamily="34" charset="0"/>
                <a:ea typeface="Microsoft YaHei" pitchFamily="34" charset="-122"/>
                <a:cs typeface="Microsoft YaHei" pitchFamily="34" charset="-120"/>
              </a:rPr>
              <a:t>注意力被分散</a:t>
            </a:r>
            <a:endParaRPr lang="en-US" sz="1200" dirty="0"/>
          </a:p>
          <a:p>
            <a:pPr marL="342900" indent="-342900">
              <a:buSzPct val="100000"/>
              <a:buChar char="•"/>
            </a:pPr>
            <a:r>
              <a:rPr lang="en-US" sz="1200" dirty="0">
                <a:solidFill>
                  <a:srgbClr val="374151"/>
                </a:solidFill>
                <a:latin typeface="Microsoft YaHei" pitchFamily="34" charset="0"/>
                <a:ea typeface="Microsoft YaHei" pitchFamily="34" charset="-122"/>
                <a:cs typeface="Microsoft YaHei" pitchFamily="34" charset="-120"/>
              </a:rPr>
              <a:t>每个环节都不够深入</a:t>
            </a:r>
            <a:endParaRPr lang="en-US" sz="1200" dirty="0"/>
          </a:p>
          <a:p>
            <a:pPr marL="342900" indent="-342900">
              <a:buSzPct val="100000"/>
              <a:buChar char="•"/>
            </a:pPr>
            <a:r>
              <a:rPr lang="en-US" sz="1200" dirty="0">
                <a:solidFill>
                  <a:srgbClr val="374151"/>
                </a:solidFill>
                <a:latin typeface="Microsoft YaHei" pitchFamily="34" charset="0"/>
                <a:ea typeface="Microsoft YaHei" pitchFamily="34" charset="-122"/>
                <a:cs typeface="Microsoft YaHei" pitchFamily="34" charset="-120"/>
              </a:rPr>
              <a:t>输出格式难以统一</a:t>
            </a:r>
            <a:endParaRPr lang="en-US" sz="1200" dirty="0"/>
          </a:p>
        </p:txBody>
      </p:sp>
      <p:sp>
        <p:nvSpPr>
          <p:cNvPr id="20" name="Text 18"/>
          <p:cNvSpPr/>
          <p:nvPr/>
        </p:nvSpPr>
        <p:spPr>
          <a:xfrm>
            <a:off x="8503920" y="4663440"/>
            <a:ext cx="457200" cy="274320"/>
          </a:xfrm>
          <a:prstGeom prst="rect">
            <a:avLst/>
          </a:prstGeom>
          <a:noFill/>
          <a:ln/>
        </p:spPr>
        <p:txBody>
          <a:bodyPr wrap="square" rtlCol="0" anchor="ctr"/>
          <a:lstStyle/>
          <a:p>
            <a:pPr algn="r" indent="0" marL="0">
              <a:buNone/>
            </a:pPr>
            <a:r>
              <a:rPr lang="en-US" sz="1000" dirty="0">
                <a:solidFill>
                  <a:srgbClr val="374151"/>
                </a:solidFill>
                <a:latin typeface="Arial" pitchFamily="34" charset="0"/>
                <a:ea typeface="Arial" pitchFamily="34" charset="-122"/>
                <a:cs typeface="Arial" pitchFamily="34" charset="-120"/>
              </a:rPr>
              <a:t>76</a:t>
            </a:r>
            <a:endParaRPr lang="en-US" sz="10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B91C1C"/>
        </a:solidFill>
      </p:bgPr>
    </p:bg>
    <p:spTree>
      <p:nvGrpSpPr>
        <p:cNvPr id="1" name=""/>
        <p:cNvGrpSpPr/>
        <p:nvPr/>
      </p:nvGrpSpPr>
      <p:grpSpPr>
        <a:xfrm>
          <a:off x="0" y="0"/>
          <a:ext cx="0" cy="0"/>
          <a:chOff x="0" y="0"/>
          <a:chExt cx="0" cy="0"/>
        </a:xfrm>
      </p:grpSpPr>
      <p:sp>
        <p:nvSpPr>
          <p:cNvPr id="2" name="Shape 0"/>
          <p:cNvSpPr/>
          <p:nvPr/>
        </p:nvSpPr>
        <p:spPr>
          <a:xfrm>
            <a:off x="0" y="2286000"/>
            <a:ext cx="137160" cy="1371600"/>
          </a:xfrm>
          <a:prstGeom prst="rect">
            <a:avLst/>
          </a:prstGeom>
          <a:solidFill>
            <a:srgbClr val="EF4444"/>
          </a:solidFill>
          <a:ln/>
        </p:spPr>
      </p:sp>
      <p:sp>
        <p:nvSpPr>
          <p:cNvPr id="3" name="Text 1"/>
          <p:cNvSpPr/>
          <p:nvPr/>
        </p:nvSpPr>
        <p:spPr>
          <a:xfrm>
            <a:off x="548640" y="1645920"/>
            <a:ext cx="2743200" cy="457200"/>
          </a:xfrm>
          <a:prstGeom prst="rect">
            <a:avLst/>
          </a:prstGeom>
          <a:noFill/>
          <a:ln/>
        </p:spPr>
        <p:txBody>
          <a:bodyPr wrap="square" rtlCol="0" anchor="ctr"/>
          <a:lstStyle/>
          <a:p>
            <a:pPr indent="0" marL="0">
              <a:buNone/>
            </a:pPr>
            <a:r>
              <a:rPr lang="en-US" sz="1400" spc="400" kern="0" dirty="0">
                <a:solidFill>
                  <a:srgbClr val="F3F4F6"/>
                </a:solidFill>
                <a:latin typeface="Arial" pitchFamily="34" charset="0"/>
                <a:ea typeface="Arial" pitchFamily="34" charset="-122"/>
                <a:cs typeface="Arial" pitchFamily="34" charset="-120"/>
              </a:rPr>
              <a:t>PART 5 - 08</a:t>
            </a:r>
            <a:endParaRPr lang="en-US" sz="1400" dirty="0"/>
          </a:p>
        </p:txBody>
      </p:sp>
      <p:sp>
        <p:nvSpPr>
          <p:cNvPr id="4" name="Text 2"/>
          <p:cNvSpPr/>
          <p:nvPr/>
        </p:nvSpPr>
        <p:spPr>
          <a:xfrm>
            <a:off x="548640" y="2286000"/>
            <a:ext cx="7315200" cy="731520"/>
          </a:xfrm>
          <a:prstGeom prst="rect">
            <a:avLst/>
          </a:prstGeom>
          <a:noFill/>
          <a:ln/>
        </p:spPr>
        <p:txBody>
          <a:bodyPr wrap="square" rtlCol="0" anchor="ctr"/>
          <a:lstStyle/>
          <a:p>
            <a:pPr indent="0" marL="0">
              <a:buNone/>
            </a:pPr>
            <a:r>
              <a:rPr lang="en-US" sz="3600" b="1" dirty="0">
                <a:solidFill>
                  <a:srgbClr val="FFFFFF"/>
                </a:solidFill>
                <a:latin typeface="Microsoft YaHei" pitchFamily="34" charset="0"/>
                <a:ea typeface="Microsoft YaHei" pitchFamily="34" charset="-122"/>
                <a:cs typeface="Microsoft YaHei" pitchFamily="34" charset="-120"/>
              </a:rPr>
              <a:t>第八部分</a:t>
            </a:r>
            <a:endParaRPr lang="en-US" sz="3600" dirty="0"/>
          </a:p>
        </p:txBody>
      </p:sp>
      <p:sp>
        <p:nvSpPr>
          <p:cNvPr id="5" name="Text 3"/>
          <p:cNvSpPr/>
          <p:nvPr/>
        </p:nvSpPr>
        <p:spPr>
          <a:xfrm>
            <a:off x="548640" y="3017520"/>
            <a:ext cx="7315200" cy="548640"/>
          </a:xfrm>
          <a:prstGeom prst="rect">
            <a:avLst/>
          </a:prstGeom>
          <a:noFill/>
          <a:ln/>
        </p:spPr>
        <p:txBody>
          <a:bodyPr wrap="square" rtlCol="0" anchor="ctr"/>
          <a:lstStyle/>
          <a:p>
            <a:pPr indent="0" marL="0">
              <a:buNone/>
            </a:pPr>
            <a:r>
              <a:rPr lang="en-US" sz="2000" dirty="0">
                <a:solidFill>
                  <a:srgbClr val="F3F4F6"/>
                </a:solidFill>
                <a:latin typeface="Microsoft YaHei" pitchFamily="34" charset="0"/>
                <a:ea typeface="Microsoft YaHei" pitchFamily="34" charset="-122"/>
                <a:cs typeface="Microsoft YaHei" pitchFamily="34" charset="-120"/>
              </a:rPr>
              <a:t>多Skill协作系统</a:t>
            </a:r>
            <a:endParaRPr lang="en-US" sz="2000" dirty="0"/>
          </a:p>
        </p:txBody>
      </p:sp>
      <p:sp>
        <p:nvSpPr>
          <p:cNvPr id="6" name="Text 4"/>
          <p:cNvSpPr/>
          <p:nvPr/>
        </p:nvSpPr>
        <p:spPr>
          <a:xfrm>
            <a:off x="8503920" y="4663440"/>
            <a:ext cx="457200" cy="274320"/>
          </a:xfrm>
          <a:prstGeom prst="rect">
            <a:avLst/>
          </a:prstGeom>
          <a:noFill/>
          <a:ln/>
        </p:spPr>
        <p:txBody>
          <a:bodyPr wrap="square" rtlCol="0" anchor="ctr"/>
          <a:lstStyle/>
          <a:p>
            <a:pPr algn="r" indent="0" marL="0">
              <a:buNone/>
            </a:pPr>
            <a:r>
              <a:rPr lang="en-US" sz="1000" dirty="0">
                <a:solidFill>
                  <a:srgbClr val="374151"/>
                </a:solidFill>
                <a:latin typeface="Arial" pitchFamily="34" charset="0"/>
                <a:ea typeface="Arial" pitchFamily="34" charset="-122"/>
                <a:cs typeface="Arial" pitchFamily="34" charset="-120"/>
              </a:rPr>
              <a:t>77</a:t>
            </a:r>
            <a:endParaRPr lang="en-US" sz="10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274320"/>
            <a:ext cx="8229600" cy="548640"/>
          </a:xfrm>
          <a:prstGeom prst="rect">
            <a:avLst/>
          </a:prstGeom>
          <a:noFill/>
          <a:ln/>
        </p:spPr>
        <p:txBody>
          <a:bodyPr wrap="square" rtlCol="0" anchor="ctr"/>
          <a:lstStyle/>
          <a:p>
            <a:pPr indent="0" marL="0">
              <a:buNone/>
            </a:pPr>
            <a:r>
              <a:rPr lang="en-US" sz="2400" b="1" dirty="0">
                <a:solidFill>
                  <a:srgbClr val="B91C1C"/>
                </a:solidFill>
                <a:latin typeface="Microsoft YaHei" pitchFamily="34" charset="0"/>
                <a:ea typeface="Microsoft YaHei" pitchFamily="34" charset="-122"/>
                <a:cs typeface="Microsoft YaHei" pitchFamily="34" charset="-120"/>
              </a:rPr>
              <a:t>单Skill天花板的三类信号</a:t>
            </a:r>
            <a:endParaRPr lang="en-US" sz="2400" dirty="0"/>
          </a:p>
        </p:txBody>
      </p:sp>
      <p:sp>
        <p:nvSpPr>
          <p:cNvPr id="4" name="Shape 2"/>
          <p:cNvSpPr/>
          <p:nvPr/>
        </p:nvSpPr>
        <p:spPr>
          <a:xfrm>
            <a:off x="457200" y="1005840"/>
            <a:ext cx="8229600" cy="1097280"/>
          </a:xfrm>
          <a:prstGeom prst="rect">
            <a:avLst/>
          </a:prstGeom>
          <a:solidFill>
            <a:srgbClr val="F3F4F6"/>
          </a:solidFill>
          <a:ln w="12700">
            <a:solidFill>
              <a:srgbClr val="EF4444"/>
            </a:solidFill>
            <a:prstDash val="solid"/>
          </a:ln>
        </p:spPr>
      </p:sp>
      <p:sp>
        <p:nvSpPr>
          <p:cNvPr id="5" name="Shape 3"/>
          <p:cNvSpPr/>
          <p:nvPr/>
        </p:nvSpPr>
        <p:spPr>
          <a:xfrm>
            <a:off x="640080" y="1143000"/>
            <a:ext cx="457200" cy="457200"/>
          </a:xfrm>
          <a:prstGeom prst="ellipse">
            <a:avLst/>
          </a:prstGeom>
          <a:solidFill>
            <a:srgbClr val="EF4444"/>
          </a:solidFill>
          <a:ln/>
        </p:spPr>
      </p:sp>
      <p:sp>
        <p:nvSpPr>
          <p:cNvPr id="6" name="Text 4"/>
          <p:cNvSpPr/>
          <p:nvPr/>
        </p:nvSpPr>
        <p:spPr>
          <a:xfrm>
            <a:off x="640080" y="1143000"/>
            <a:ext cx="457200" cy="45720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7" name="Text 5"/>
          <p:cNvSpPr/>
          <p:nvPr/>
        </p:nvSpPr>
        <p:spPr>
          <a:xfrm>
            <a:off x="1280160" y="1097280"/>
            <a:ext cx="1828800" cy="365760"/>
          </a:xfrm>
          <a:prstGeom prst="rect">
            <a:avLst/>
          </a:prstGeom>
          <a:noFill/>
          <a:ln/>
        </p:spPr>
        <p:txBody>
          <a:bodyPr wrap="square" rtlCol="0" anchor="ctr"/>
          <a:lstStyle/>
          <a:p>
            <a:pPr indent="0" marL="0">
              <a:buNone/>
            </a:pPr>
            <a:r>
              <a:rPr lang="en-US" sz="1200" b="1" dirty="0">
                <a:solidFill>
                  <a:srgbClr val="EF4444"/>
                </a:solidFill>
                <a:latin typeface="Microsoft YaHei" pitchFamily="34" charset="0"/>
                <a:ea typeface="Microsoft YaHei" pitchFamily="34" charset="-122"/>
                <a:cs typeface="Microsoft YaHei" pitchFamily="34" charset="-120"/>
              </a:rPr>
              <a:t>信号1</a:t>
            </a:r>
            <a:endParaRPr lang="en-US" sz="1200" dirty="0"/>
          </a:p>
        </p:txBody>
      </p:sp>
      <p:sp>
        <p:nvSpPr>
          <p:cNvPr id="8" name="Text 6"/>
          <p:cNvSpPr/>
          <p:nvPr/>
        </p:nvSpPr>
        <p:spPr>
          <a:xfrm>
            <a:off x="1280160" y="1417320"/>
            <a:ext cx="7132320" cy="365760"/>
          </a:xfrm>
          <a:prstGeom prst="rect">
            <a:avLst/>
          </a:prstGeom>
          <a:noFill/>
          <a:ln/>
        </p:spPr>
        <p:txBody>
          <a:bodyPr wrap="square" rtlCol="0" anchor="ctr"/>
          <a:lstStyle/>
          <a:p>
            <a:pPr indent="0" marL="0">
              <a:buNone/>
            </a:pPr>
            <a:r>
              <a:rPr lang="en-US" sz="1600" b="1" dirty="0">
                <a:solidFill>
                  <a:srgbClr val="B91C1C"/>
                </a:solidFill>
                <a:latin typeface="Microsoft YaHei" pitchFamily="34" charset="0"/>
                <a:ea typeface="Microsoft YaHei" pitchFamily="34" charset="-122"/>
                <a:cs typeface="Microsoft YaHei" pitchFamily="34" charset="-120"/>
              </a:rPr>
              <a:t>指令越写越长，AI越来越乱</a:t>
            </a:r>
            <a:endParaRPr lang="en-US" sz="1600" dirty="0"/>
          </a:p>
        </p:txBody>
      </p:sp>
      <p:sp>
        <p:nvSpPr>
          <p:cNvPr id="9" name="Text 7"/>
          <p:cNvSpPr/>
          <p:nvPr/>
        </p:nvSpPr>
        <p:spPr>
          <a:xfrm>
            <a:off x="1280160" y="1737360"/>
            <a:ext cx="7132320" cy="32004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-&gt; 超过1500-2000字，AI注意力被分散</a:t>
            </a:r>
            <a:endParaRPr lang="en-US" sz="1300" dirty="0"/>
          </a:p>
        </p:txBody>
      </p:sp>
      <p:sp>
        <p:nvSpPr>
          <p:cNvPr id="10" name="Shape 8"/>
          <p:cNvSpPr/>
          <p:nvPr/>
        </p:nvSpPr>
        <p:spPr>
          <a:xfrm>
            <a:off x="457200" y="2240280"/>
            <a:ext cx="8229600" cy="1097280"/>
          </a:xfrm>
          <a:prstGeom prst="rect">
            <a:avLst/>
          </a:prstGeom>
          <a:solidFill>
            <a:srgbClr val="F3F4F6"/>
          </a:solidFill>
          <a:ln w="12700">
            <a:solidFill>
              <a:srgbClr val="EF4444"/>
            </a:solidFill>
            <a:prstDash val="solid"/>
          </a:ln>
        </p:spPr>
      </p:sp>
      <p:sp>
        <p:nvSpPr>
          <p:cNvPr id="11" name="Shape 9"/>
          <p:cNvSpPr/>
          <p:nvPr/>
        </p:nvSpPr>
        <p:spPr>
          <a:xfrm>
            <a:off x="640080" y="2377440"/>
            <a:ext cx="457200" cy="457200"/>
          </a:xfrm>
          <a:prstGeom prst="ellipse">
            <a:avLst/>
          </a:prstGeom>
          <a:solidFill>
            <a:srgbClr val="EF4444"/>
          </a:solidFill>
          <a:ln/>
        </p:spPr>
      </p:sp>
      <p:sp>
        <p:nvSpPr>
          <p:cNvPr id="12" name="Text 10"/>
          <p:cNvSpPr/>
          <p:nvPr/>
        </p:nvSpPr>
        <p:spPr>
          <a:xfrm>
            <a:off x="640080" y="2377440"/>
            <a:ext cx="457200" cy="45720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13" name="Text 11"/>
          <p:cNvSpPr/>
          <p:nvPr/>
        </p:nvSpPr>
        <p:spPr>
          <a:xfrm>
            <a:off x="1280160" y="2331720"/>
            <a:ext cx="1828800" cy="365760"/>
          </a:xfrm>
          <a:prstGeom prst="rect">
            <a:avLst/>
          </a:prstGeom>
          <a:noFill/>
          <a:ln/>
        </p:spPr>
        <p:txBody>
          <a:bodyPr wrap="square" rtlCol="0" anchor="ctr"/>
          <a:lstStyle/>
          <a:p>
            <a:pPr indent="0" marL="0">
              <a:buNone/>
            </a:pPr>
            <a:r>
              <a:rPr lang="en-US" sz="1200" b="1" dirty="0">
                <a:solidFill>
                  <a:srgbClr val="EF4444"/>
                </a:solidFill>
                <a:latin typeface="Microsoft YaHei" pitchFamily="34" charset="0"/>
                <a:ea typeface="Microsoft YaHei" pitchFamily="34" charset="-122"/>
                <a:cs typeface="Microsoft YaHei" pitchFamily="34" charset="-120"/>
              </a:rPr>
              <a:t>信号2</a:t>
            </a:r>
            <a:endParaRPr lang="en-US" sz="1200" dirty="0"/>
          </a:p>
        </p:txBody>
      </p:sp>
      <p:sp>
        <p:nvSpPr>
          <p:cNvPr id="14" name="Text 12"/>
          <p:cNvSpPr/>
          <p:nvPr/>
        </p:nvSpPr>
        <p:spPr>
          <a:xfrm>
            <a:off x="1280160" y="2651760"/>
            <a:ext cx="7132320" cy="365760"/>
          </a:xfrm>
          <a:prstGeom prst="rect">
            <a:avLst/>
          </a:prstGeom>
          <a:noFill/>
          <a:ln/>
        </p:spPr>
        <p:txBody>
          <a:bodyPr wrap="square" rtlCol="0" anchor="ctr"/>
          <a:lstStyle/>
          <a:p>
            <a:pPr indent="0" marL="0">
              <a:buNone/>
            </a:pPr>
            <a:r>
              <a:rPr lang="en-US" sz="1600" b="1" dirty="0">
                <a:solidFill>
                  <a:srgbClr val="B91C1C"/>
                </a:solidFill>
                <a:latin typeface="Microsoft YaHei" pitchFamily="34" charset="0"/>
                <a:ea typeface="Microsoft YaHei" pitchFamily="34" charset="-122"/>
                <a:cs typeface="Microsoft YaHei" pitchFamily="34" charset="-120"/>
              </a:rPr>
              <a:t>任务涉及多个专业判断领域</a:t>
            </a:r>
            <a:endParaRPr lang="en-US" sz="1600" dirty="0"/>
          </a:p>
        </p:txBody>
      </p:sp>
      <p:sp>
        <p:nvSpPr>
          <p:cNvPr id="15" name="Text 13"/>
          <p:cNvSpPr/>
          <p:nvPr/>
        </p:nvSpPr>
        <p:spPr>
          <a:xfrm>
            <a:off x="1280160" y="2971800"/>
            <a:ext cx="7132320" cy="32004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-&gt; 前半段数据分析，后半段话术撰写，结尾格式排版</a:t>
            </a:r>
            <a:endParaRPr lang="en-US" sz="1300" dirty="0"/>
          </a:p>
        </p:txBody>
      </p:sp>
      <p:sp>
        <p:nvSpPr>
          <p:cNvPr id="16" name="Shape 14"/>
          <p:cNvSpPr/>
          <p:nvPr/>
        </p:nvSpPr>
        <p:spPr>
          <a:xfrm>
            <a:off x="457200" y="3474720"/>
            <a:ext cx="8229600" cy="1097280"/>
          </a:xfrm>
          <a:prstGeom prst="rect">
            <a:avLst/>
          </a:prstGeom>
          <a:solidFill>
            <a:srgbClr val="F3F4F6"/>
          </a:solidFill>
          <a:ln w="12700">
            <a:solidFill>
              <a:srgbClr val="EF4444"/>
            </a:solidFill>
            <a:prstDash val="solid"/>
          </a:ln>
        </p:spPr>
      </p:sp>
      <p:sp>
        <p:nvSpPr>
          <p:cNvPr id="17" name="Shape 15"/>
          <p:cNvSpPr/>
          <p:nvPr/>
        </p:nvSpPr>
        <p:spPr>
          <a:xfrm>
            <a:off x="640080" y="3611880"/>
            <a:ext cx="457200" cy="457200"/>
          </a:xfrm>
          <a:prstGeom prst="ellipse">
            <a:avLst/>
          </a:prstGeom>
          <a:solidFill>
            <a:srgbClr val="EF4444"/>
          </a:solidFill>
          <a:ln/>
        </p:spPr>
      </p:sp>
      <p:sp>
        <p:nvSpPr>
          <p:cNvPr id="18" name="Text 16"/>
          <p:cNvSpPr/>
          <p:nvPr/>
        </p:nvSpPr>
        <p:spPr>
          <a:xfrm>
            <a:off x="640080" y="3611880"/>
            <a:ext cx="457200" cy="45720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19" name="Text 17"/>
          <p:cNvSpPr/>
          <p:nvPr/>
        </p:nvSpPr>
        <p:spPr>
          <a:xfrm>
            <a:off x="1280160" y="3566160"/>
            <a:ext cx="1828800" cy="365760"/>
          </a:xfrm>
          <a:prstGeom prst="rect">
            <a:avLst/>
          </a:prstGeom>
          <a:noFill/>
          <a:ln/>
        </p:spPr>
        <p:txBody>
          <a:bodyPr wrap="square" rtlCol="0" anchor="ctr"/>
          <a:lstStyle/>
          <a:p>
            <a:pPr indent="0" marL="0">
              <a:buNone/>
            </a:pPr>
            <a:r>
              <a:rPr lang="en-US" sz="1200" b="1" dirty="0">
                <a:solidFill>
                  <a:srgbClr val="EF4444"/>
                </a:solidFill>
                <a:latin typeface="Microsoft YaHei" pitchFamily="34" charset="0"/>
                <a:ea typeface="Microsoft YaHei" pitchFamily="34" charset="-122"/>
                <a:cs typeface="Microsoft YaHei" pitchFamily="34" charset="-120"/>
              </a:rPr>
              <a:t>信号3</a:t>
            </a:r>
            <a:endParaRPr lang="en-US" sz="1200" dirty="0"/>
          </a:p>
        </p:txBody>
      </p:sp>
      <p:sp>
        <p:nvSpPr>
          <p:cNvPr id="20" name="Text 18"/>
          <p:cNvSpPr/>
          <p:nvPr/>
        </p:nvSpPr>
        <p:spPr>
          <a:xfrm>
            <a:off x="1280160" y="3886200"/>
            <a:ext cx="7132320" cy="365760"/>
          </a:xfrm>
          <a:prstGeom prst="rect">
            <a:avLst/>
          </a:prstGeom>
          <a:noFill/>
          <a:ln/>
        </p:spPr>
        <p:txBody>
          <a:bodyPr wrap="square" rtlCol="0" anchor="ctr"/>
          <a:lstStyle/>
          <a:p>
            <a:pPr indent="0" marL="0">
              <a:buNone/>
            </a:pPr>
            <a:r>
              <a:rPr lang="en-US" sz="1600" b="1" dirty="0">
                <a:solidFill>
                  <a:srgbClr val="B91C1C"/>
                </a:solidFill>
                <a:latin typeface="Microsoft YaHei" pitchFamily="34" charset="0"/>
                <a:ea typeface="Microsoft YaHei" pitchFamily="34" charset="-122"/>
                <a:cs typeface="Microsoft YaHei" pitchFamily="34" charset="-120"/>
              </a:rPr>
              <a:t>任务有明确的流水线结构</a:t>
            </a:r>
            <a:endParaRPr lang="en-US" sz="1600" dirty="0"/>
          </a:p>
        </p:txBody>
      </p:sp>
      <p:sp>
        <p:nvSpPr>
          <p:cNvPr id="21" name="Text 19"/>
          <p:cNvSpPr/>
          <p:nvPr/>
        </p:nvSpPr>
        <p:spPr>
          <a:xfrm>
            <a:off x="1280160" y="4206240"/>
            <a:ext cx="7132320" cy="32004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-&gt; A做完-&gt;B做-&gt;C做，典型的流水线</a:t>
            </a:r>
            <a:endParaRPr lang="en-US" sz="1300" dirty="0"/>
          </a:p>
        </p:txBody>
      </p:sp>
      <p:sp>
        <p:nvSpPr>
          <p:cNvPr id="22" name="Text 20"/>
          <p:cNvSpPr/>
          <p:nvPr/>
        </p:nvSpPr>
        <p:spPr>
          <a:xfrm>
            <a:off x="8503920" y="4663440"/>
            <a:ext cx="457200" cy="274320"/>
          </a:xfrm>
          <a:prstGeom prst="rect">
            <a:avLst/>
          </a:prstGeom>
          <a:noFill/>
          <a:ln/>
        </p:spPr>
        <p:txBody>
          <a:bodyPr wrap="square" rtlCol="0" anchor="ctr"/>
          <a:lstStyle/>
          <a:p>
            <a:pPr algn="r" indent="0" marL="0">
              <a:buNone/>
            </a:pPr>
            <a:r>
              <a:rPr lang="en-US" sz="1000" dirty="0">
                <a:solidFill>
                  <a:srgbClr val="374151"/>
                </a:solidFill>
                <a:latin typeface="Arial" pitchFamily="34" charset="0"/>
                <a:ea typeface="Arial" pitchFamily="34" charset="-122"/>
                <a:cs typeface="Arial" pitchFamily="34" charset="-120"/>
              </a:rPr>
              <a:t>78</a:t>
            </a:r>
            <a:endParaRPr lang="en-US" sz="10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274320"/>
            <a:ext cx="8229600" cy="548640"/>
          </a:xfrm>
          <a:prstGeom prst="rect">
            <a:avLst/>
          </a:prstGeom>
          <a:noFill/>
          <a:ln/>
        </p:spPr>
        <p:txBody>
          <a:bodyPr wrap="square" rtlCol="0" anchor="ctr"/>
          <a:lstStyle/>
          <a:p>
            <a:pPr indent="0" marL="0">
              <a:buNone/>
            </a:pPr>
            <a:r>
              <a:rPr lang="en-US" sz="2400" b="1" dirty="0">
                <a:solidFill>
                  <a:srgbClr val="B91C1C"/>
                </a:solidFill>
                <a:latin typeface="Microsoft YaHei" pitchFamily="34" charset="0"/>
                <a:ea typeface="Microsoft YaHei" pitchFamily="34" charset="-122"/>
                <a:cs typeface="Microsoft YaHei" pitchFamily="34" charset="-120"/>
              </a:rPr>
              <a:t>三种协作模式</a:t>
            </a:r>
            <a:endParaRPr lang="en-US" sz="2400" dirty="0"/>
          </a:p>
        </p:txBody>
      </p:sp>
      <p:sp>
        <p:nvSpPr>
          <p:cNvPr id="4" name="Shape 2"/>
          <p:cNvSpPr/>
          <p:nvPr/>
        </p:nvSpPr>
        <p:spPr>
          <a:xfrm>
            <a:off x="457200" y="1097280"/>
            <a:ext cx="2651760" cy="3200400"/>
          </a:xfrm>
          <a:prstGeom prst="rect">
            <a:avLst/>
          </a:prstGeom>
          <a:solidFill>
            <a:srgbClr val="F3F4F6"/>
          </a:solidFill>
          <a:ln/>
        </p:spPr>
      </p:sp>
      <p:sp>
        <p:nvSpPr>
          <p:cNvPr id="5" name="Shape 3"/>
          <p:cNvSpPr/>
          <p:nvPr/>
        </p:nvSpPr>
        <p:spPr>
          <a:xfrm>
            <a:off x="457200" y="1097280"/>
            <a:ext cx="2651760" cy="731520"/>
          </a:xfrm>
          <a:prstGeom prst="rect">
            <a:avLst/>
          </a:prstGeom>
          <a:solidFill>
            <a:srgbClr val="EF4444"/>
          </a:solidFill>
          <a:ln/>
        </p:spPr>
      </p:sp>
      <p:sp>
        <p:nvSpPr>
          <p:cNvPr id="6" name="Text 4"/>
          <p:cNvSpPr/>
          <p:nvPr/>
        </p:nvSpPr>
        <p:spPr>
          <a:xfrm>
            <a:off x="457200" y="1188720"/>
            <a:ext cx="2651760" cy="548640"/>
          </a:xfrm>
          <a:prstGeom prst="rect">
            <a:avLst/>
          </a:prstGeom>
          <a:noFill/>
          <a:ln/>
        </p:spPr>
        <p:txBody>
          <a:bodyPr wrap="square"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1</a:t>
            </a:r>
            <a:endParaRPr lang="en-US" sz="2800" dirty="0"/>
          </a:p>
        </p:txBody>
      </p:sp>
      <p:sp>
        <p:nvSpPr>
          <p:cNvPr id="7" name="Text 5"/>
          <p:cNvSpPr/>
          <p:nvPr/>
        </p:nvSpPr>
        <p:spPr>
          <a:xfrm>
            <a:off x="640080" y="2011680"/>
            <a:ext cx="2286000" cy="548640"/>
          </a:xfrm>
          <a:prstGeom prst="rect">
            <a:avLst/>
          </a:prstGeom>
          <a:noFill/>
          <a:ln/>
        </p:spPr>
        <p:txBody>
          <a:bodyPr wrap="square" rtlCol="0" anchor="ctr"/>
          <a:lstStyle/>
          <a:p>
            <a:pPr algn="ctr" indent="0" marL="0">
              <a:buNone/>
            </a:pPr>
            <a:r>
              <a:rPr lang="en-US" sz="1400" b="1" dirty="0">
                <a:solidFill>
                  <a:srgbClr val="B91C1C"/>
                </a:solidFill>
                <a:latin typeface="Microsoft YaHei" pitchFamily="34" charset="0"/>
                <a:ea typeface="Microsoft YaHei" pitchFamily="34" charset="-122"/>
                <a:cs typeface="Microsoft YaHei" pitchFamily="34" charset="-120"/>
              </a:rPr>
              <a:t>串行（流水线）</a:t>
            </a:r>
            <a:endParaRPr lang="en-US" sz="1400" dirty="0"/>
          </a:p>
        </p:txBody>
      </p:sp>
      <p:sp>
        <p:nvSpPr>
          <p:cNvPr id="8" name="Text 6"/>
          <p:cNvSpPr/>
          <p:nvPr/>
        </p:nvSpPr>
        <p:spPr>
          <a:xfrm>
            <a:off x="640080" y="2560320"/>
            <a:ext cx="2286000" cy="1371600"/>
          </a:xfrm>
          <a:prstGeom prst="rect">
            <a:avLst/>
          </a:prstGeom>
          <a:noFill/>
          <a:ln/>
        </p:spPr>
        <p:txBody>
          <a:bodyPr wrap="square" rtlCol="0" anchor="ctr"/>
          <a:lstStyle/>
          <a:p>
            <a:pPr algn="ctr" indent="0" marL="0">
              <a:buNone/>
            </a:pPr>
            <a:r>
              <a:rPr lang="en-US" sz="1200" dirty="0">
                <a:solidFill>
                  <a:srgbClr val="374151"/>
                </a:solidFill>
                <a:latin typeface="Microsoft YaHei" pitchFamily="34" charset="0"/>
                <a:ea typeface="Microsoft YaHei" pitchFamily="34" charset="-122"/>
                <a:cs typeface="Microsoft YaHei" pitchFamily="34" charset="-120"/>
              </a:rPr>
              <a:t>先后依赖</a:t>
            </a:r>
            <a:endParaRPr lang="en-US" sz="1200" dirty="0"/>
          </a:p>
        </p:txBody>
      </p:sp>
      <p:sp>
        <p:nvSpPr>
          <p:cNvPr id="9" name="Shape 7"/>
          <p:cNvSpPr/>
          <p:nvPr/>
        </p:nvSpPr>
        <p:spPr>
          <a:xfrm>
            <a:off x="3291840" y="1097280"/>
            <a:ext cx="2651760" cy="3200400"/>
          </a:xfrm>
          <a:prstGeom prst="rect">
            <a:avLst/>
          </a:prstGeom>
          <a:solidFill>
            <a:srgbClr val="F3F4F6"/>
          </a:solidFill>
          <a:ln/>
        </p:spPr>
      </p:sp>
      <p:sp>
        <p:nvSpPr>
          <p:cNvPr id="10" name="Shape 8"/>
          <p:cNvSpPr/>
          <p:nvPr/>
        </p:nvSpPr>
        <p:spPr>
          <a:xfrm>
            <a:off x="3291840" y="1097280"/>
            <a:ext cx="2651760" cy="731520"/>
          </a:xfrm>
          <a:prstGeom prst="rect">
            <a:avLst/>
          </a:prstGeom>
          <a:solidFill>
            <a:srgbClr val="B91C1C"/>
          </a:solidFill>
          <a:ln/>
        </p:spPr>
      </p:sp>
      <p:sp>
        <p:nvSpPr>
          <p:cNvPr id="11" name="Text 9"/>
          <p:cNvSpPr/>
          <p:nvPr/>
        </p:nvSpPr>
        <p:spPr>
          <a:xfrm>
            <a:off x="3291840" y="1188720"/>
            <a:ext cx="2651760" cy="548640"/>
          </a:xfrm>
          <a:prstGeom prst="rect">
            <a:avLst/>
          </a:prstGeom>
          <a:noFill/>
          <a:ln/>
        </p:spPr>
        <p:txBody>
          <a:bodyPr wrap="square"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2</a:t>
            </a:r>
            <a:endParaRPr lang="en-US" sz="2800" dirty="0"/>
          </a:p>
        </p:txBody>
      </p:sp>
      <p:sp>
        <p:nvSpPr>
          <p:cNvPr id="12" name="Text 10"/>
          <p:cNvSpPr/>
          <p:nvPr/>
        </p:nvSpPr>
        <p:spPr>
          <a:xfrm>
            <a:off x="3474720" y="2011680"/>
            <a:ext cx="2286000" cy="548640"/>
          </a:xfrm>
          <a:prstGeom prst="rect">
            <a:avLst/>
          </a:prstGeom>
          <a:noFill/>
          <a:ln/>
        </p:spPr>
        <p:txBody>
          <a:bodyPr wrap="square" rtlCol="0" anchor="ctr"/>
          <a:lstStyle/>
          <a:p>
            <a:pPr algn="ctr" indent="0" marL="0">
              <a:buNone/>
            </a:pPr>
            <a:r>
              <a:rPr lang="en-US" sz="1400" b="1" dirty="0">
                <a:solidFill>
                  <a:srgbClr val="B91C1C"/>
                </a:solidFill>
                <a:latin typeface="Microsoft YaHei" pitchFamily="34" charset="0"/>
                <a:ea typeface="Microsoft YaHei" pitchFamily="34" charset="-122"/>
                <a:cs typeface="Microsoft YaHei" pitchFamily="34" charset="-120"/>
              </a:rPr>
              <a:t>并行（多角度汇总）</a:t>
            </a:r>
            <a:endParaRPr lang="en-US" sz="1400" dirty="0"/>
          </a:p>
        </p:txBody>
      </p:sp>
      <p:sp>
        <p:nvSpPr>
          <p:cNvPr id="13" name="Text 11"/>
          <p:cNvSpPr/>
          <p:nvPr/>
        </p:nvSpPr>
        <p:spPr>
          <a:xfrm>
            <a:off x="3474720" y="2560320"/>
            <a:ext cx="2286000" cy="1371600"/>
          </a:xfrm>
          <a:prstGeom prst="rect">
            <a:avLst/>
          </a:prstGeom>
          <a:noFill/>
          <a:ln/>
        </p:spPr>
        <p:txBody>
          <a:bodyPr wrap="square" rtlCol="0" anchor="ctr"/>
          <a:lstStyle/>
          <a:p>
            <a:pPr algn="ctr" indent="0" marL="0">
              <a:buNone/>
            </a:pPr>
            <a:r>
              <a:rPr lang="en-US" sz="1200" dirty="0">
                <a:solidFill>
                  <a:srgbClr val="374151"/>
                </a:solidFill>
                <a:latin typeface="Microsoft YaHei" pitchFamily="34" charset="0"/>
                <a:ea typeface="Microsoft YaHei" pitchFamily="34" charset="-122"/>
                <a:cs typeface="Microsoft YaHei" pitchFamily="34" charset="-120"/>
              </a:rPr>
              <a:t>同时处理，多维度分析</a:t>
            </a:r>
            <a:endParaRPr lang="en-US" sz="1200" dirty="0"/>
          </a:p>
        </p:txBody>
      </p:sp>
      <p:sp>
        <p:nvSpPr>
          <p:cNvPr id="14" name="Shape 12"/>
          <p:cNvSpPr/>
          <p:nvPr/>
        </p:nvSpPr>
        <p:spPr>
          <a:xfrm>
            <a:off x="6126480" y="1097280"/>
            <a:ext cx="2651760" cy="3200400"/>
          </a:xfrm>
          <a:prstGeom prst="rect">
            <a:avLst/>
          </a:prstGeom>
          <a:solidFill>
            <a:srgbClr val="F3F4F6"/>
          </a:solidFill>
          <a:ln/>
        </p:spPr>
      </p:sp>
      <p:sp>
        <p:nvSpPr>
          <p:cNvPr id="15" name="Shape 13"/>
          <p:cNvSpPr/>
          <p:nvPr/>
        </p:nvSpPr>
        <p:spPr>
          <a:xfrm>
            <a:off x="6126480" y="1097280"/>
            <a:ext cx="2651760" cy="731520"/>
          </a:xfrm>
          <a:prstGeom prst="rect">
            <a:avLst/>
          </a:prstGeom>
          <a:solidFill>
            <a:srgbClr val="374151"/>
          </a:solidFill>
          <a:ln/>
        </p:spPr>
      </p:sp>
      <p:sp>
        <p:nvSpPr>
          <p:cNvPr id="16" name="Text 14"/>
          <p:cNvSpPr/>
          <p:nvPr/>
        </p:nvSpPr>
        <p:spPr>
          <a:xfrm>
            <a:off x="6126480" y="1188720"/>
            <a:ext cx="2651760" cy="548640"/>
          </a:xfrm>
          <a:prstGeom prst="rect">
            <a:avLst/>
          </a:prstGeom>
          <a:noFill/>
          <a:ln/>
        </p:spPr>
        <p:txBody>
          <a:bodyPr wrap="square"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3</a:t>
            </a:r>
            <a:endParaRPr lang="en-US" sz="2800" dirty="0"/>
          </a:p>
        </p:txBody>
      </p:sp>
      <p:sp>
        <p:nvSpPr>
          <p:cNvPr id="17" name="Text 15"/>
          <p:cNvSpPr/>
          <p:nvPr/>
        </p:nvSpPr>
        <p:spPr>
          <a:xfrm>
            <a:off x="6309360" y="2011680"/>
            <a:ext cx="2286000" cy="548640"/>
          </a:xfrm>
          <a:prstGeom prst="rect">
            <a:avLst/>
          </a:prstGeom>
          <a:noFill/>
          <a:ln/>
        </p:spPr>
        <p:txBody>
          <a:bodyPr wrap="square" rtlCol="0" anchor="ctr"/>
          <a:lstStyle/>
          <a:p>
            <a:pPr algn="ctr" indent="0" marL="0">
              <a:buNone/>
            </a:pPr>
            <a:r>
              <a:rPr lang="en-US" sz="1400" b="1" dirty="0">
                <a:solidFill>
                  <a:srgbClr val="B91C1C"/>
                </a:solidFill>
                <a:latin typeface="Microsoft YaHei" pitchFamily="34" charset="0"/>
                <a:ea typeface="Microsoft YaHei" pitchFamily="34" charset="-122"/>
                <a:cs typeface="Microsoft YaHei" pitchFamily="34" charset="-120"/>
              </a:rPr>
              <a:t>监控（守卫+执行）</a:t>
            </a:r>
            <a:endParaRPr lang="en-US" sz="1400" dirty="0"/>
          </a:p>
        </p:txBody>
      </p:sp>
      <p:sp>
        <p:nvSpPr>
          <p:cNvPr id="18" name="Text 16"/>
          <p:cNvSpPr/>
          <p:nvPr/>
        </p:nvSpPr>
        <p:spPr>
          <a:xfrm>
            <a:off x="6309360" y="2560320"/>
            <a:ext cx="2286000" cy="1371600"/>
          </a:xfrm>
          <a:prstGeom prst="rect">
            <a:avLst/>
          </a:prstGeom>
          <a:noFill/>
          <a:ln/>
        </p:spPr>
        <p:txBody>
          <a:bodyPr wrap="square" rtlCol="0" anchor="ctr"/>
          <a:lstStyle/>
          <a:p>
            <a:pPr algn="ctr" indent="0" marL="0">
              <a:buNone/>
            </a:pPr>
            <a:r>
              <a:rPr lang="en-US" sz="1200" dirty="0">
                <a:solidFill>
                  <a:srgbClr val="374151"/>
                </a:solidFill>
                <a:latin typeface="Microsoft YaHei" pitchFamily="34" charset="0"/>
                <a:ea typeface="Microsoft YaHei" pitchFamily="34" charset="-122"/>
                <a:cs typeface="Microsoft YaHei" pitchFamily="34" charset="-120"/>
              </a:rPr>
              <a:t>满足条件才触发</a:t>
            </a:r>
            <a:endParaRPr lang="en-US" sz="1200" dirty="0"/>
          </a:p>
        </p:txBody>
      </p:sp>
      <p:sp>
        <p:nvSpPr>
          <p:cNvPr id="19" name="Text 17"/>
          <p:cNvSpPr/>
          <p:nvPr/>
        </p:nvSpPr>
        <p:spPr>
          <a:xfrm>
            <a:off x="8503920" y="4663440"/>
            <a:ext cx="457200" cy="274320"/>
          </a:xfrm>
          <a:prstGeom prst="rect">
            <a:avLst/>
          </a:prstGeom>
          <a:noFill/>
          <a:ln/>
        </p:spPr>
        <p:txBody>
          <a:bodyPr wrap="square" rtlCol="0" anchor="ctr"/>
          <a:lstStyle/>
          <a:p>
            <a:pPr algn="r" indent="0" marL="0">
              <a:buNone/>
            </a:pPr>
            <a:r>
              <a:rPr lang="en-US" sz="1000" dirty="0">
                <a:solidFill>
                  <a:srgbClr val="374151"/>
                </a:solidFill>
                <a:latin typeface="Arial" pitchFamily="34" charset="0"/>
                <a:ea typeface="Arial" pitchFamily="34" charset="-122"/>
                <a:cs typeface="Arial" pitchFamily="34" charset="-120"/>
              </a:rPr>
              <a:t>79</a:t>
            </a:r>
            <a:endParaRPr lang="en-US" sz="10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274320"/>
            <a:ext cx="8229600" cy="548640"/>
          </a:xfrm>
          <a:prstGeom prst="rect">
            <a:avLst/>
          </a:prstGeom>
          <a:noFill/>
          <a:ln/>
        </p:spPr>
        <p:txBody>
          <a:bodyPr wrap="square" rtlCol="0" anchor="ctr"/>
          <a:lstStyle/>
          <a:p>
            <a:pPr indent="0" marL="0">
              <a:buNone/>
            </a:pPr>
            <a:r>
              <a:rPr lang="en-US" sz="2400" b="1" dirty="0">
                <a:solidFill>
                  <a:srgbClr val="B91C1C"/>
                </a:solidFill>
                <a:latin typeface="Microsoft YaHei" pitchFamily="34" charset="0"/>
                <a:ea typeface="Microsoft YaHei" pitchFamily="34" charset="-122"/>
                <a:cs typeface="Microsoft YaHei" pitchFamily="34" charset="-120"/>
              </a:rPr>
              <a:t>模式一：串行（流水线）</a:t>
            </a:r>
            <a:endParaRPr lang="en-US" sz="2400" dirty="0"/>
          </a:p>
        </p:txBody>
      </p:sp>
      <p:sp>
        <p:nvSpPr>
          <p:cNvPr id="4" name="Shape 2"/>
          <p:cNvSpPr/>
          <p:nvPr/>
        </p:nvSpPr>
        <p:spPr>
          <a:xfrm>
            <a:off x="457200" y="1097280"/>
            <a:ext cx="2560320" cy="914400"/>
          </a:xfrm>
          <a:prstGeom prst="rect">
            <a:avLst/>
          </a:prstGeom>
          <a:solidFill>
            <a:srgbClr val="F3F4F6"/>
          </a:solidFill>
          <a:ln w="25400">
            <a:solidFill>
              <a:srgbClr val="EF4444"/>
            </a:solidFill>
            <a:prstDash val="solid"/>
          </a:ln>
        </p:spPr>
      </p:sp>
      <p:sp>
        <p:nvSpPr>
          <p:cNvPr id="5" name="Text 3"/>
          <p:cNvSpPr/>
          <p:nvPr/>
        </p:nvSpPr>
        <p:spPr>
          <a:xfrm>
            <a:off x="457200" y="1188720"/>
            <a:ext cx="2560320" cy="457200"/>
          </a:xfrm>
          <a:prstGeom prst="rect">
            <a:avLst/>
          </a:prstGeom>
          <a:noFill/>
          <a:ln/>
        </p:spPr>
        <p:txBody>
          <a:bodyPr wrap="square" rtlCol="0" anchor="ctr"/>
          <a:lstStyle/>
          <a:p>
            <a:pPr algn="ctr" indent="0" marL="0">
              <a:buNone/>
            </a:pPr>
            <a:r>
              <a:rPr lang="en-US" sz="1400" b="1" dirty="0">
                <a:solidFill>
                  <a:srgbClr val="B91C1C"/>
                </a:solidFill>
                <a:latin typeface="Microsoft YaHei" pitchFamily="34" charset="0"/>
                <a:ea typeface="Microsoft YaHei" pitchFamily="34" charset="-122"/>
                <a:cs typeface="Microsoft YaHei" pitchFamily="34" charset="-120"/>
              </a:rPr>
              <a:t>Skill A输出</a:t>
            </a:r>
            <a:endParaRPr lang="en-US" sz="1400" dirty="0"/>
          </a:p>
        </p:txBody>
      </p:sp>
      <p:sp>
        <p:nvSpPr>
          <p:cNvPr id="6" name="Text 4"/>
          <p:cNvSpPr/>
          <p:nvPr/>
        </p:nvSpPr>
        <p:spPr>
          <a:xfrm>
            <a:off x="457200" y="1554480"/>
            <a:ext cx="2560320" cy="365760"/>
          </a:xfrm>
          <a:prstGeom prst="rect">
            <a:avLst/>
          </a:prstGeom>
          <a:noFill/>
          <a:ln/>
        </p:spPr>
        <p:txBody>
          <a:bodyPr wrap="square" rtlCol="0" anchor="ctr"/>
          <a:lstStyle/>
          <a:p>
            <a:pPr algn="ctr" indent="0" marL="0">
              <a:buNone/>
            </a:pPr>
            <a:r>
              <a:rPr lang="en-US" sz="1100" dirty="0">
                <a:solidFill>
                  <a:srgbClr val="374151"/>
                </a:solidFill>
                <a:latin typeface="Microsoft YaHei" pitchFamily="34" charset="0"/>
                <a:ea typeface="Microsoft YaHei" pitchFamily="34" charset="-122"/>
                <a:cs typeface="Microsoft YaHei" pitchFamily="34" charset="-120"/>
              </a:rPr>
              <a:t>信息提取员</a:t>
            </a:r>
            <a:endParaRPr lang="en-US" sz="1100" dirty="0"/>
          </a:p>
        </p:txBody>
      </p:sp>
      <p:sp>
        <p:nvSpPr>
          <p:cNvPr id="7" name="Text 5"/>
          <p:cNvSpPr/>
          <p:nvPr/>
        </p:nvSpPr>
        <p:spPr>
          <a:xfrm>
            <a:off x="3017520" y="1280160"/>
            <a:ext cx="365760" cy="457200"/>
          </a:xfrm>
          <a:prstGeom prst="rect">
            <a:avLst/>
          </a:prstGeom>
          <a:noFill/>
          <a:ln/>
        </p:spPr>
        <p:txBody>
          <a:bodyPr wrap="square" rtlCol="0" anchor="ctr"/>
          <a:lstStyle/>
          <a:p>
            <a:pPr algn="ctr" indent="0" marL="0">
              <a:buNone/>
            </a:pPr>
            <a:r>
              <a:rPr lang="en-US" sz="2400" dirty="0">
                <a:solidFill>
                  <a:srgbClr val="EF4444"/>
                </a:solidFill>
                <a:latin typeface="Arial" pitchFamily="34" charset="0"/>
                <a:ea typeface="Arial" pitchFamily="34" charset="-122"/>
                <a:cs typeface="Arial" pitchFamily="34" charset="-120"/>
              </a:rPr>
              <a:t>-&gt;</a:t>
            </a:r>
            <a:endParaRPr lang="en-US" sz="2400" dirty="0"/>
          </a:p>
        </p:txBody>
      </p:sp>
      <p:sp>
        <p:nvSpPr>
          <p:cNvPr id="8" name="Shape 6"/>
          <p:cNvSpPr/>
          <p:nvPr/>
        </p:nvSpPr>
        <p:spPr>
          <a:xfrm>
            <a:off x="3383280" y="1097280"/>
            <a:ext cx="2560320" cy="914400"/>
          </a:xfrm>
          <a:prstGeom prst="rect">
            <a:avLst/>
          </a:prstGeom>
          <a:solidFill>
            <a:srgbClr val="F3F4F6"/>
          </a:solidFill>
          <a:ln w="25400">
            <a:solidFill>
              <a:srgbClr val="EF4444"/>
            </a:solidFill>
            <a:prstDash val="solid"/>
          </a:ln>
        </p:spPr>
      </p:sp>
      <p:sp>
        <p:nvSpPr>
          <p:cNvPr id="9" name="Text 7"/>
          <p:cNvSpPr/>
          <p:nvPr/>
        </p:nvSpPr>
        <p:spPr>
          <a:xfrm>
            <a:off x="3383280" y="1188720"/>
            <a:ext cx="2560320" cy="457200"/>
          </a:xfrm>
          <a:prstGeom prst="rect">
            <a:avLst/>
          </a:prstGeom>
          <a:noFill/>
          <a:ln/>
        </p:spPr>
        <p:txBody>
          <a:bodyPr wrap="square" rtlCol="0" anchor="ctr"/>
          <a:lstStyle/>
          <a:p>
            <a:pPr algn="ctr" indent="0" marL="0">
              <a:buNone/>
            </a:pPr>
            <a:r>
              <a:rPr lang="en-US" sz="1400" b="1" dirty="0">
                <a:solidFill>
                  <a:srgbClr val="B91C1C"/>
                </a:solidFill>
                <a:latin typeface="Microsoft YaHei" pitchFamily="34" charset="0"/>
                <a:ea typeface="Microsoft YaHei" pitchFamily="34" charset="-122"/>
                <a:cs typeface="Microsoft YaHei" pitchFamily="34" charset="-120"/>
              </a:rPr>
              <a:t>Skill B输入</a:t>
            </a:r>
            <a:endParaRPr lang="en-US" sz="1400" dirty="0"/>
          </a:p>
        </p:txBody>
      </p:sp>
      <p:sp>
        <p:nvSpPr>
          <p:cNvPr id="10" name="Text 8"/>
          <p:cNvSpPr/>
          <p:nvPr/>
        </p:nvSpPr>
        <p:spPr>
          <a:xfrm>
            <a:off x="3383280" y="1554480"/>
            <a:ext cx="2560320" cy="365760"/>
          </a:xfrm>
          <a:prstGeom prst="rect">
            <a:avLst/>
          </a:prstGeom>
          <a:noFill/>
          <a:ln/>
        </p:spPr>
        <p:txBody>
          <a:bodyPr wrap="square" rtlCol="0" anchor="ctr"/>
          <a:lstStyle/>
          <a:p>
            <a:pPr algn="ctr" indent="0" marL="0">
              <a:buNone/>
            </a:pPr>
            <a:r>
              <a:rPr lang="en-US" sz="1100" dirty="0">
                <a:solidFill>
                  <a:srgbClr val="374151"/>
                </a:solidFill>
                <a:latin typeface="Microsoft YaHei" pitchFamily="34" charset="0"/>
                <a:ea typeface="Microsoft YaHei" pitchFamily="34" charset="-122"/>
                <a:cs typeface="Microsoft YaHei" pitchFamily="34" charset="-120"/>
              </a:rPr>
              <a:t>优先级判定员</a:t>
            </a:r>
            <a:endParaRPr lang="en-US" sz="1100" dirty="0"/>
          </a:p>
        </p:txBody>
      </p:sp>
      <p:sp>
        <p:nvSpPr>
          <p:cNvPr id="11" name="Text 9"/>
          <p:cNvSpPr/>
          <p:nvPr/>
        </p:nvSpPr>
        <p:spPr>
          <a:xfrm>
            <a:off x="5943600" y="1280160"/>
            <a:ext cx="365760" cy="457200"/>
          </a:xfrm>
          <a:prstGeom prst="rect">
            <a:avLst/>
          </a:prstGeom>
          <a:noFill/>
          <a:ln/>
        </p:spPr>
        <p:txBody>
          <a:bodyPr wrap="square" rtlCol="0" anchor="ctr"/>
          <a:lstStyle/>
          <a:p>
            <a:pPr algn="ctr" indent="0" marL="0">
              <a:buNone/>
            </a:pPr>
            <a:r>
              <a:rPr lang="en-US" sz="2400" dirty="0">
                <a:solidFill>
                  <a:srgbClr val="EF4444"/>
                </a:solidFill>
                <a:latin typeface="Arial" pitchFamily="34" charset="0"/>
                <a:ea typeface="Arial" pitchFamily="34" charset="-122"/>
                <a:cs typeface="Arial" pitchFamily="34" charset="-120"/>
              </a:rPr>
              <a:t>-&gt;</a:t>
            </a:r>
            <a:endParaRPr lang="en-US" sz="2400" dirty="0"/>
          </a:p>
        </p:txBody>
      </p:sp>
      <p:sp>
        <p:nvSpPr>
          <p:cNvPr id="12" name="Shape 10"/>
          <p:cNvSpPr/>
          <p:nvPr/>
        </p:nvSpPr>
        <p:spPr>
          <a:xfrm>
            <a:off x="6309360" y="1097280"/>
            <a:ext cx="2560320" cy="914400"/>
          </a:xfrm>
          <a:prstGeom prst="rect">
            <a:avLst/>
          </a:prstGeom>
          <a:solidFill>
            <a:srgbClr val="F3F4F6"/>
          </a:solidFill>
          <a:ln w="25400">
            <a:solidFill>
              <a:srgbClr val="EF4444"/>
            </a:solidFill>
            <a:prstDash val="solid"/>
          </a:ln>
        </p:spPr>
      </p:sp>
      <p:sp>
        <p:nvSpPr>
          <p:cNvPr id="13" name="Text 11"/>
          <p:cNvSpPr/>
          <p:nvPr/>
        </p:nvSpPr>
        <p:spPr>
          <a:xfrm>
            <a:off x="6309360" y="1188720"/>
            <a:ext cx="2560320" cy="457200"/>
          </a:xfrm>
          <a:prstGeom prst="rect">
            <a:avLst/>
          </a:prstGeom>
          <a:noFill/>
          <a:ln/>
        </p:spPr>
        <p:txBody>
          <a:bodyPr wrap="square" rtlCol="0" anchor="ctr"/>
          <a:lstStyle/>
          <a:p>
            <a:pPr algn="ctr" indent="0" marL="0">
              <a:buNone/>
            </a:pPr>
            <a:r>
              <a:rPr lang="en-US" sz="1400" b="1" dirty="0">
                <a:solidFill>
                  <a:srgbClr val="B91C1C"/>
                </a:solidFill>
                <a:latin typeface="Microsoft YaHei" pitchFamily="34" charset="0"/>
                <a:ea typeface="Microsoft YaHei" pitchFamily="34" charset="-122"/>
                <a:cs typeface="Microsoft YaHei" pitchFamily="34" charset="-120"/>
              </a:rPr>
              <a:t>Skill C输入</a:t>
            </a:r>
            <a:endParaRPr lang="en-US" sz="1400" dirty="0"/>
          </a:p>
        </p:txBody>
      </p:sp>
      <p:sp>
        <p:nvSpPr>
          <p:cNvPr id="14" name="Text 12"/>
          <p:cNvSpPr/>
          <p:nvPr/>
        </p:nvSpPr>
        <p:spPr>
          <a:xfrm>
            <a:off x="6309360" y="1554480"/>
            <a:ext cx="2560320" cy="365760"/>
          </a:xfrm>
          <a:prstGeom prst="rect">
            <a:avLst/>
          </a:prstGeom>
          <a:noFill/>
          <a:ln/>
        </p:spPr>
        <p:txBody>
          <a:bodyPr wrap="square" rtlCol="0" anchor="ctr"/>
          <a:lstStyle/>
          <a:p>
            <a:pPr algn="ctr" indent="0" marL="0">
              <a:buNone/>
            </a:pPr>
            <a:r>
              <a:rPr lang="en-US" sz="1100" dirty="0">
                <a:solidFill>
                  <a:srgbClr val="374151"/>
                </a:solidFill>
                <a:latin typeface="Microsoft YaHei" pitchFamily="34" charset="0"/>
                <a:ea typeface="Microsoft YaHei" pitchFamily="34" charset="-122"/>
                <a:cs typeface="Microsoft YaHei" pitchFamily="34" charset="-120"/>
              </a:rPr>
              <a:t>处理建议生成员</a:t>
            </a:r>
            <a:endParaRPr lang="en-US" sz="1100" dirty="0"/>
          </a:p>
        </p:txBody>
      </p:sp>
      <p:sp>
        <p:nvSpPr>
          <p:cNvPr id="15" name="Text 13"/>
          <p:cNvSpPr/>
          <p:nvPr/>
        </p:nvSpPr>
        <p:spPr>
          <a:xfrm>
            <a:off x="457200" y="2286000"/>
            <a:ext cx="2560320" cy="457200"/>
          </a:xfrm>
          <a:prstGeom prst="rect">
            <a:avLst/>
          </a:prstGeom>
          <a:noFill/>
          <a:ln/>
        </p:spPr>
        <p:txBody>
          <a:bodyPr wrap="square" rtlCol="0" anchor="ctr"/>
          <a:lstStyle/>
          <a:p>
            <a:pPr algn="ctr" indent="0" marL="0">
              <a:buNone/>
            </a:pPr>
            <a:r>
              <a:rPr lang="en-US" sz="1400" dirty="0">
                <a:solidFill>
                  <a:srgbClr val="374151"/>
                </a:solidFill>
                <a:latin typeface="Microsoft YaHei" pitchFamily="34" charset="0"/>
                <a:ea typeface="Microsoft YaHei" pitchFamily="34" charset="-122"/>
                <a:cs typeface="Microsoft YaHei" pitchFamily="34" charset="-120"/>
              </a:rPr>
              <a:t>原始投诉</a:t>
            </a:r>
            <a:endParaRPr lang="en-US" sz="1400" dirty="0"/>
          </a:p>
        </p:txBody>
      </p:sp>
      <p:sp>
        <p:nvSpPr>
          <p:cNvPr id="16" name="Text 14"/>
          <p:cNvSpPr/>
          <p:nvPr/>
        </p:nvSpPr>
        <p:spPr>
          <a:xfrm>
            <a:off x="3017520" y="2286000"/>
            <a:ext cx="365760" cy="457200"/>
          </a:xfrm>
          <a:prstGeom prst="rect">
            <a:avLst/>
          </a:prstGeom>
          <a:noFill/>
          <a:ln/>
        </p:spPr>
        <p:txBody>
          <a:bodyPr wrap="square" rtlCol="0" anchor="ctr"/>
          <a:lstStyle/>
          <a:p>
            <a:pPr algn="ctr" indent="0" marL="0">
              <a:buNone/>
            </a:pPr>
            <a:r>
              <a:rPr lang="en-US" sz="2400" dirty="0">
                <a:solidFill>
                  <a:srgbClr val="374151"/>
                </a:solidFill>
                <a:latin typeface="Arial" pitchFamily="34" charset="0"/>
                <a:ea typeface="Arial" pitchFamily="34" charset="-122"/>
                <a:cs typeface="Arial" pitchFamily="34" charset="-120"/>
              </a:rPr>
              <a:t>-&gt;</a:t>
            </a:r>
            <a:endParaRPr lang="en-US" sz="2400" dirty="0"/>
          </a:p>
        </p:txBody>
      </p:sp>
      <p:sp>
        <p:nvSpPr>
          <p:cNvPr id="17" name="Text 15"/>
          <p:cNvSpPr/>
          <p:nvPr/>
        </p:nvSpPr>
        <p:spPr>
          <a:xfrm>
            <a:off x="5943600" y="2286000"/>
            <a:ext cx="365760" cy="457200"/>
          </a:xfrm>
          <a:prstGeom prst="rect">
            <a:avLst/>
          </a:prstGeom>
          <a:noFill/>
          <a:ln/>
        </p:spPr>
        <p:txBody>
          <a:bodyPr wrap="square" rtlCol="0" anchor="ctr"/>
          <a:lstStyle/>
          <a:p>
            <a:pPr algn="ctr" indent="0" marL="0">
              <a:buNone/>
            </a:pPr>
            <a:r>
              <a:rPr lang="en-US" sz="2400" dirty="0">
                <a:solidFill>
                  <a:srgbClr val="374151"/>
                </a:solidFill>
                <a:latin typeface="Arial" pitchFamily="34" charset="0"/>
                <a:ea typeface="Arial" pitchFamily="34" charset="-122"/>
                <a:cs typeface="Arial" pitchFamily="34" charset="-120"/>
              </a:rPr>
              <a:t>-&gt;</a:t>
            </a:r>
            <a:endParaRPr lang="en-US" sz="2400" dirty="0"/>
          </a:p>
        </p:txBody>
      </p:sp>
      <p:sp>
        <p:nvSpPr>
          <p:cNvPr id="18" name="Shape 16"/>
          <p:cNvSpPr/>
          <p:nvPr/>
        </p:nvSpPr>
        <p:spPr>
          <a:xfrm>
            <a:off x="457200" y="2926080"/>
            <a:ext cx="8229600" cy="1463040"/>
          </a:xfrm>
          <a:prstGeom prst="rect">
            <a:avLst/>
          </a:prstGeom>
          <a:solidFill>
            <a:srgbClr val="F3F4F6"/>
          </a:solidFill>
          <a:ln/>
        </p:spPr>
      </p:sp>
      <p:sp>
        <p:nvSpPr>
          <p:cNvPr id="19" name="Text 17"/>
          <p:cNvSpPr/>
          <p:nvPr/>
        </p:nvSpPr>
        <p:spPr>
          <a:xfrm>
            <a:off x="640080" y="3063240"/>
            <a:ext cx="1828800" cy="365760"/>
          </a:xfrm>
          <a:prstGeom prst="rect">
            <a:avLst/>
          </a:prstGeom>
          <a:noFill/>
          <a:ln/>
        </p:spPr>
        <p:txBody>
          <a:bodyPr wrap="square" rtlCol="0" anchor="ctr"/>
          <a:lstStyle/>
          <a:p>
            <a:pPr indent="0" marL="0">
              <a:buNone/>
            </a:pPr>
            <a:r>
              <a:rPr lang="en-US" sz="1400" b="1" dirty="0">
                <a:solidFill>
                  <a:srgbClr val="EF4444"/>
                </a:solidFill>
                <a:latin typeface="Microsoft YaHei" pitchFamily="34" charset="0"/>
                <a:ea typeface="Microsoft YaHei" pitchFamily="34" charset="-122"/>
                <a:cs typeface="Microsoft YaHei" pitchFamily="34" charset="-120"/>
              </a:rPr>
              <a:t>适用场景</a:t>
            </a:r>
            <a:endParaRPr lang="en-US" sz="1400" dirty="0"/>
          </a:p>
        </p:txBody>
      </p:sp>
      <p:sp>
        <p:nvSpPr>
          <p:cNvPr id="20" name="Text 18"/>
          <p:cNvSpPr/>
          <p:nvPr/>
        </p:nvSpPr>
        <p:spPr>
          <a:xfrm>
            <a:off x="640080" y="3429000"/>
            <a:ext cx="7772400" cy="36576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任务有明确的先后依赖关系</a:t>
            </a:r>
            <a:endParaRPr lang="en-US" sz="1300" dirty="0"/>
          </a:p>
        </p:txBody>
      </p:sp>
      <p:sp>
        <p:nvSpPr>
          <p:cNvPr id="21" name="Text 19"/>
          <p:cNvSpPr/>
          <p:nvPr/>
        </p:nvSpPr>
        <p:spPr>
          <a:xfrm>
            <a:off x="640080" y="3794760"/>
            <a:ext cx="1828800" cy="365760"/>
          </a:xfrm>
          <a:prstGeom prst="rect">
            <a:avLst/>
          </a:prstGeom>
          <a:noFill/>
          <a:ln/>
        </p:spPr>
        <p:txBody>
          <a:bodyPr wrap="square" rtlCol="0" anchor="ctr"/>
          <a:lstStyle/>
          <a:p>
            <a:pPr indent="0" marL="0">
              <a:buNone/>
            </a:pPr>
            <a:r>
              <a:rPr lang="en-US" sz="1400" b="1" dirty="0">
                <a:solidFill>
                  <a:srgbClr val="EF4444"/>
                </a:solidFill>
                <a:latin typeface="Microsoft YaHei" pitchFamily="34" charset="0"/>
                <a:ea typeface="Microsoft YaHei" pitchFamily="34" charset="-122"/>
                <a:cs typeface="Microsoft YaHei" pitchFamily="34" charset="-120"/>
              </a:rPr>
              <a:t>核心价值</a:t>
            </a:r>
            <a:endParaRPr lang="en-US" sz="1400" dirty="0"/>
          </a:p>
        </p:txBody>
      </p:sp>
      <p:sp>
        <p:nvSpPr>
          <p:cNvPr id="22" name="Text 20"/>
          <p:cNvSpPr/>
          <p:nvPr/>
        </p:nvSpPr>
        <p:spPr>
          <a:xfrm>
            <a:off x="640080" y="4160520"/>
            <a:ext cx="7772400" cy="36576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每个Skill只做一件事，做得精</a:t>
            </a:r>
            <a:endParaRPr lang="en-US" sz="1300" dirty="0"/>
          </a:p>
        </p:txBody>
      </p:sp>
      <p:sp>
        <p:nvSpPr>
          <p:cNvPr id="23" name="Text 21"/>
          <p:cNvSpPr/>
          <p:nvPr/>
        </p:nvSpPr>
        <p:spPr>
          <a:xfrm>
            <a:off x="8503920" y="4663440"/>
            <a:ext cx="457200" cy="274320"/>
          </a:xfrm>
          <a:prstGeom prst="rect">
            <a:avLst/>
          </a:prstGeom>
          <a:noFill/>
          <a:ln/>
        </p:spPr>
        <p:txBody>
          <a:bodyPr wrap="square" rtlCol="0" anchor="ctr"/>
          <a:lstStyle/>
          <a:p>
            <a:pPr algn="r" indent="0" marL="0">
              <a:buNone/>
            </a:pPr>
            <a:r>
              <a:rPr lang="en-US" sz="1000" dirty="0">
                <a:solidFill>
                  <a:srgbClr val="374151"/>
                </a:solidFill>
                <a:latin typeface="Arial" pitchFamily="34" charset="0"/>
                <a:ea typeface="Arial" pitchFamily="34" charset="-122"/>
                <a:cs typeface="Arial" pitchFamily="34" charset="-120"/>
              </a:rPr>
              <a:t>80</a:t>
            </a:r>
            <a:endParaRPr lang="en-US" sz="10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274320"/>
            <a:ext cx="8229600" cy="548640"/>
          </a:xfrm>
          <a:prstGeom prst="rect">
            <a:avLst/>
          </a:prstGeom>
          <a:noFill/>
          <a:ln/>
        </p:spPr>
        <p:txBody>
          <a:bodyPr wrap="square" rtlCol="0" anchor="ctr"/>
          <a:lstStyle/>
          <a:p>
            <a:pPr indent="0" marL="0">
              <a:buNone/>
            </a:pPr>
            <a:r>
              <a:rPr lang="en-US" sz="2400" b="1" dirty="0">
                <a:solidFill>
                  <a:srgbClr val="B91C1C"/>
                </a:solidFill>
                <a:latin typeface="Microsoft YaHei" pitchFamily="34" charset="0"/>
                <a:ea typeface="Microsoft YaHei" pitchFamily="34" charset="-122"/>
                <a:cs typeface="Microsoft YaHei" pitchFamily="34" charset="-120"/>
              </a:rPr>
              <a:t>模式二：并行（多角度汇总）</a:t>
            </a:r>
            <a:endParaRPr lang="en-US" sz="2400" dirty="0"/>
          </a:p>
        </p:txBody>
      </p:sp>
      <p:sp>
        <p:nvSpPr>
          <p:cNvPr id="4" name="Shape 2"/>
          <p:cNvSpPr/>
          <p:nvPr/>
        </p:nvSpPr>
        <p:spPr>
          <a:xfrm>
            <a:off x="3657600" y="1005840"/>
            <a:ext cx="1828800" cy="548640"/>
          </a:xfrm>
          <a:prstGeom prst="rect">
            <a:avLst/>
          </a:prstGeom>
          <a:solidFill>
            <a:srgbClr val="B91C1C"/>
          </a:solidFill>
          <a:ln/>
        </p:spPr>
      </p:sp>
      <p:sp>
        <p:nvSpPr>
          <p:cNvPr id="5" name="Text 3"/>
          <p:cNvSpPr/>
          <p:nvPr/>
        </p:nvSpPr>
        <p:spPr>
          <a:xfrm>
            <a:off x="3657600" y="1005840"/>
            <a:ext cx="1828800" cy="548640"/>
          </a:xfrm>
          <a:prstGeom prst="rect">
            <a:avLst/>
          </a:prstGeom>
          <a:noFill/>
          <a:ln/>
        </p:spPr>
        <p:txBody>
          <a:bodyPr wrap="square"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同一输入</a:t>
            </a:r>
            <a:endParaRPr lang="en-US" sz="1300" dirty="0"/>
          </a:p>
        </p:txBody>
      </p:sp>
      <p:sp>
        <p:nvSpPr>
          <p:cNvPr id="6" name="Shape 4"/>
          <p:cNvSpPr/>
          <p:nvPr/>
        </p:nvSpPr>
        <p:spPr>
          <a:xfrm>
            <a:off x="4572000" y="1554480"/>
            <a:ext cx="0" cy="365760"/>
          </a:xfrm>
          <a:prstGeom prst="line">
            <a:avLst/>
          </a:prstGeom>
          <a:noFill/>
          <a:ln w="12700">
            <a:solidFill>
              <a:srgbClr val="374151"/>
            </a:solidFill>
            <a:prstDash val="solid"/>
          </a:ln>
        </p:spPr>
      </p:sp>
      <p:sp>
        <p:nvSpPr>
          <p:cNvPr id="7" name="Shape 5"/>
          <p:cNvSpPr/>
          <p:nvPr/>
        </p:nvSpPr>
        <p:spPr>
          <a:xfrm>
            <a:off x="2286000" y="1920240"/>
            <a:ext cx="4572000" cy="0"/>
          </a:xfrm>
          <a:prstGeom prst="line">
            <a:avLst/>
          </a:prstGeom>
          <a:noFill/>
          <a:ln w="12700">
            <a:solidFill>
              <a:srgbClr val="374151"/>
            </a:solidFill>
            <a:prstDash val="solid"/>
          </a:ln>
        </p:spPr>
      </p:sp>
      <p:sp>
        <p:nvSpPr>
          <p:cNvPr id="8" name="Shape 6"/>
          <p:cNvSpPr/>
          <p:nvPr/>
        </p:nvSpPr>
        <p:spPr>
          <a:xfrm>
            <a:off x="2011680" y="1920240"/>
            <a:ext cx="0" cy="365760"/>
          </a:xfrm>
          <a:prstGeom prst="line">
            <a:avLst/>
          </a:prstGeom>
          <a:noFill/>
          <a:ln w="12700">
            <a:solidFill>
              <a:srgbClr val="374151"/>
            </a:solidFill>
            <a:prstDash val="solid"/>
          </a:ln>
        </p:spPr>
      </p:sp>
      <p:sp>
        <p:nvSpPr>
          <p:cNvPr id="9" name="Shape 7"/>
          <p:cNvSpPr/>
          <p:nvPr/>
        </p:nvSpPr>
        <p:spPr>
          <a:xfrm>
            <a:off x="1097280" y="2286000"/>
            <a:ext cx="1828800" cy="640080"/>
          </a:xfrm>
          <a:prstGeom prst="rect">
            <a:avLst/>
          </a:prstGeom>
          <a:solidFill>
            <a:srgbClr val="F3F4F6"/>
          </a:solidFill>
          <a:ln w="12700">
            <a:solidFill>
              <a:srgbClr val="EF4444"/>
            </a:solidFill>
            <a:prstDash val="solid"/>
          </a:ln>
        </p:spPr>
      </p:sp>
      <p:sp>
        <p:nvSpPr>
          <p:cNvPr id="10" name="Text 8"/>
          <p:cNvSpPr/>
          <p:nvPr/>
        </p:nvSpPr>
        <p:spPr>
          <a:xfrm>
            <a:off x="1097280" y="2286000"/>
            <a:ext cx="1828800" cy="640080"/>
          </a:xfrm>
          <a:prstGeom prst="rect">
            <a:avLst/>
          </a:prstGeom>
          <a:noFill/>
          <a:ln/>
        </p:spPr>
        <p:txBody>
          <a:bodyPr wrap="square" rtlCol="0" anchor="ctr"/>
          <a:lstStyle/>
          <a:p>
            <a:pPr algn="ctr" indent="0" marL="0">
              <a:buNone/>
            </a:pPr>
            <a:r>
              <a:rPr lang="en-US" sz="1100" dirty="0">
                <a:solidFill>
                  <a:srgbClr val="B91C1C"/>
                </a:solidFill>
                <a:latin typeface="Microsoft YaHei" pitchFamily="34" charset="0"/>
                <a:ea typeface="Microsoft YaHei" pitchFamily="34" charset="-122"/>
                <a:cs typeface="Microsoft YaHei" pitchFamily="34" charset="-120"/>
              </a:rPr>
              <a:t>市场可行性评估员</a:t>
            </a:r>
            <a:endParaRPr lang="en-US" sz="1100" dirty="0"/>
          </a:p>
        </p:txBody>
      </p:sp>
      <p:sp>
        <p:nvSpPr>
          <p:cNvPr id="11" name="Shape 9"/>
          <p:cNvSpPr/>
          <p:nvPr/>
        </p:nvSpPr>
        <p:spPr>
          <a:xfrm>
            <a:off x="4846320" y="1920240"/>
            <a:ext cx="0" cy="365760"/>
          </a:xfrm>
          <a:prstGeom prst="line">
            <a:avLst/>
          </a:prstGeom>
          <a:noFill/>
          <a:ln w="12700">
            <a:solidFill>
              <a:srgbClr val="374151"/>
            </a:solidFill>
            <a:prstDash val="solid"/>
          </a:ln>
        </p:spPr>
      </p:sp>
      <p:sp>
        <p:nvSpPr>
          <p:cNvPr id="12" name="Shape 10"/>
          <p:cNvSpPr/>
          <p:nvPr/>
        </p:nvSpPr>
        <p:spPr>
          <a:xfrm>
            <a:off x="3931920" y="2286000"/>
            <a:ext cx="1828800" cy="640080"/>
          </a:xfrm>
          <a:prstGeom prst="rect">
            <a:avLst/>
          </a:prstGeom>
          <a:solidFill>
            <a:srgbClr val="F3F4F6"/>
          </a:solidFill>
          <a:ln w="12700">
            <a:solidFill>
              <a:srgbClr val="EF4444"/>
            </a:solidFill>
            <a:prstDash val="solid"/>
          </a:ln>
        </p:spPr>
      </p:sp>
      <p:sp>
        <p:nvSpPr>
          <p:cNvPr id="13" name="Text 11"/>
          <p:cNvSpPr/>
          <p:nvPr/>
        </p:nvSpPr>
        <p:spPr>
          <a:xfrm>
            <a:off x="3931920" y="2286000"/>
            <a:ext cx="1828800" cy="640080"/>
          </a:xfrm>
          <a:prstGeom prst="rect">
            <a:avLst/>
          </a:prstGeom>
          <a:noFill/>
          <a:ln/>
        </p:spPr>
        <p:txBody>
          <a:bodyPr wrap="square" rtlCol="0" anchor="ctr"/>
          <a:lstStyle/>
          <a:p>
            <a:pPr algn="ctr" indent="0" marL="0">
              <a:buNone/>
            </a:pPr>
            <a:r>
              <a:rPr lang="en-US" sz="1100" dirty="0">
                <a:solidFill>
                  <a:srgbClr val="B91C1C"/>
                </a:solidFill>
                <a:latin typeface="Microsoft YaHei" pitchFamily="34" charset="0"/>
                <a:ea typeface="Microsoft YaHei" pitchFamily="34" charset="-122"/>
                <a:cs typeface="Microsoft YaHei" pitchFamily="34" charset="-120"/>
              </a:rPr>
              <a:t>技术可行性评估员</a:t>
            </a:r>
            <a:endParaRPr lang="en-US" sz="1100" dirty="0"/>
          </a:p>
        </p:txBody>
      </p:sp>
      <p:sp>
        <p:nvSpPr>
          <p:cNvPr id="14" name="Shape 12"/>
          <p:cNvSpPr/>
          <p:nvPr/>
        </p:nvSpPr>
        <p:spPr>
          <a:xfrm>
            <a:off x="7680960" y="1920240"/>
            <a:ext cx="0" cy="365760"/>
          </a:xfrm>
          <a:prstGeom prst="line">
            <a:avLst/>
          </a:prstGeom>
          <a:noFill/>
          <a:ln w="12700">
            <a:solidFill>
              <a:srgbClr val="374151"/>
            </a:solidFill>
            <a:prstDash val="solid"/>
          </a:ln>
        </p:spPr>
      </p:sp>
      <p:sp>
        <p:nvSpPr>
          <p:cNvPr id="15" name="Shape 13"/>
          <p:cNvSpPr/>
          <p:nvPr/>
        </p:nvSpPr>
        <p:spPr>
          <a:xfrm>
            <a:off x="6766560" y="2286000"/>
            <a:ext cx="1828800" cy="640080"/>
          </a:xfrm>
          <a:prstGeom prst="rect">
            <a:avLst/>
          </a:prstGeom>
          <a:solidFill>
            <a:srgbClr val="F3F4F6"/>
          </a:solidFill>
          <a:ln w="12700">
            <a:solidFill>
              <a:srgbClr val="EF4444"/>
            </a:solidFill>
            <a:prstDash val="solid"/>
          </a:ln>
        </p:spPr>
      </p:sp>
      <p:sp>
        <p:nvSpPr>
          <p:cNvPr id="16" name="Text 14"/>
          <p:cNvSpPr/>
          <p:nvPr/>
        </p:nvSpPr>
        <p:spPr>
          <a:xfrm>
            <a:off x="6766560" y="2286000"/>
            <a:ext cx="1828800" cy="640080"/>
          </a:xfrm>
          <a:prstGeom prst="rect">
            <a:avLst/>
          </a:prstGeom>
          <a:noFill/>
          <a:ln/>
        </p:spPr>
        <p:txBody>
          <a:bodyPr wrap="square" rtlCol="0" anchor="ctr"/>
          <a:lstStyle/>
          <a:p>
            <a:pPr algn="ctr" indent="0" marL="0">
              <a:buNone/>
            </a:pPr>
            <a:r>
              <a:rPr lang="en-US" sz="1100" dirty="0">
                <a:solidFill>
                  <a:srgbClr val="B91C1C"/>
                </a:solidFill>
                <a:latin typeface="Microsoft YaHei" pitchFamily="34" charset="0"/>
                <a:ea typeface="Microsoft YaHei" pitchFamily="34" charset="-122"/>
                <a:cs typeface="Microsoft YaHei" pitchFamily="34" charset="-120"/>
              </a:rPr>
              <a:t>合规风险评估员</a:t>
            </a:r>
            <a:endParaRPr lang="en-US" sz="1100" dirty="0"/>
          </a:p>
        </p:txBody>
      </p:sp>
      <p:sp>
        <p:nvSpPr>
          <p:cNvPr id="17" name="Shape 15"/>
          <p:cNvSpPr/>
          <p:nvPr/>
        </p:nvSpPr>
        <p:spPr>
          <a:xfrm>
            <a:off x="2011680" y="2926080"/>
            <a:ext cx="0" cy="457200"/>
          </a:xfrm>
          <a:prstGeom prst="line">
            <a:avLst/>
          </a:prstGeom>
          <a:noFill/>
          <a:ln w="12700">
            <a:solidFill>
              <a:srgbClr val="374151"/>
            </a:solidFill>
            <a:prstDash val="solid"/>
          </a:ln>
        </p:spPr>
      </p:sp>
      <p:sp>
        <p:nvSpPr>
          <p:cNvPr id="18" name="Shape 16"/>
          <p:cNvSpPr/>
          <p:nvPr/>
        </p:nvSpPr>
        <p:spPr>
          <a:xfrm>
            <a:off x="4846320" y="2926080"/>
            <a:ext cx="0" cy="457200"/>
          </a:xfrm>
          <a:prstGeom prst="line">
            <a:avLst/>
          </a:prstGeom>
          <a:noFill/>
          <a:ln w="12700">
            <a:solidFill>
              <a:srgbClr val="374151"/>
            </a:solidFill>
            <a:prstDash val="solid"/>
          </a:ln>
        </p:spPr>
      </p:sp>
      <p:sp>
        <p:nvSpPr>
          <p:cNvPr id="19" name="Shape 17"/>
          <p:cNvSpPr/>
          <p:nvPr/>
        </p:nvSpPr>
        <p:spPr>
          <a:xfrm>
            <a:off x="7680960" y="2926080"/>
            <a:ext cx="0" cy="457200"/>
          </a:xfrm>
          <a:prstGeom prst="line">
            <a:avLst/>
          </a:prstGeom>
          <a:noFill/>
          <a:ln w="12700">
            <a:solidFill>
              <a:srgbClr val="374151"/>
            </a:solidFill>
            <a:prstDash val="solid"/>
          </a:ln>
        </p:spPr>
      </p:sp>
      <p:sp>
        <p:nvSpPr>
          <p:cNvPr id="20" name="Shape 18"/>
          <p:cNvSpPr/>
          <p:nvPr/>
        </p:nvSpPr>
        <p:spPr>
          <a:xfrm>
            <a:off x="2011680" y="3383280"/>
            <a:ext cx="5120640" cy="0"/>
          </a:xfrm>
          <a:prstGeom prst="line">
            <a:avLst/>
          </a:prstGeom>
          <a:noFill/>
          <a:ln w="12700">
            <a:solidFill>
              <a:srgbClr val="374151"/>
            </a:solidFill>
            <a:prstDash val="solid"/>
          </a:ln>
        </p:spPr>
      </p:sp>
      <p:sp>
        <p:nvSpPr>
          <p:cNvPr id="21" name="Shape 19"/>
          <p:cNvSpPr/>
          <p:nvPr/>
        </p:nvSpPr>
        <p:spPr>
          <a:xfrm>
            <a:off x="2011680" y="3383280"/>
            <a:ext cx="0" cy="274320"/>
          </a:xfrm>
          <a:prstGeom prst="line">
            <a:avLst/>
          </a:prstGeom>
          <a:noFill/>
          <a:ln w="12700">
            <a:solidFill>
              <a:srgbClr val="374151"/>
            </a:solidFill>
            <a:prstDash val="solid"/>
          </a:ln>
        </p:spPr>
      </p:sp>
      <p:sp>
        <p:nvSpPr>
          <p:cNvPr id="22" name="Shape 20"/>
          <p:cNvSpPr/>
          <p:nvPr/>
        </p:nvSpPr>
        <p:spPr>
          <a:xfrm>
            <a:off x="4846320" y="3383280"/>
            <a:ext cx="0" cy="274320"/>
          </a:xfrm>
          <a:prstGeom prst="line">
            <a:avLst/>
          </a:prstGeom>
          <a:noFill/>
          <a:ln w="12700">
            <a:solidFill>
              <a:srgbClr val="374151"/>
            </a:solidFill>
            <a:prstDash val="solid"/>
          </a:ln>
        </p:spPr>
      </p:sp>
      <p:sp>
        <p:nvSpPr>
          <p:cNvPr id="23" name="Shape 21"/>
          <p:cNvSpPr/>
          <p:nvPr/>
        </p:nvSpPr>
        <p:spPr>
          <a:xfrm>
            <a:off x="7680960" y="3383280"/>
            <a:ext cx="0" cy="274320"/>
          </a:xfrm>
          <a:prstGeom prst="line">
            <a:avLst/>
          </a:prstGeom>
          <a:noFill/>
          <a:ln w="12700">
            <a:solidFill>
              <a:srgbClr val="374151"/>
            </a:solidFill>
            <a:prstDash val="solid"/>
          </a:ln>
        </p:spPr>
      </p:sp>
      <p:sp>
        <p:nvSpPr>
          <p:cNvPr id="24" name="Shape 22"/>
          <p:cNvSpPr/>
          <p:nvPr/>
        </p:nvSpPr>
        <p:spPr>
          <a:xfrm>
            <a:off x="3657600" y="3657600"/>
            <a:ext cx="1828800" cy="640080"/>
          </a:xfrm>
          <a:prstGeom prst="rect">
            <a:avLst/>
          </a:prstGeom>
          <a:solidFill>
            <a:srgbClr val="EF4444"/>
          </a:solidFill>
          <a:ln/>
        </p:spPr>
      </p:sp>
      <p:sp>
        <p:nvSpPr>
          <p:cNvPr id="25" name="Text 23"/>
          <p:cNvSpPr/>
          <p:nvPr/>
        </p:nvSpPr>
        <p:spPr>
          <a:xfrm>
            <a:off x="3657600" y="3657600"/>
            <a:ext cx="1828800" cy="640080"/>
          </a:xfrm>
          <a:prstGeom prst="rect">
            <a:avLst/>
          </a:prstGeom>
          <a:noFill/>
          <a:ln/>
        </p:spPr>
        <p:txBody>
          <a:bodyPr wrap="square" rtlCol="0" anchor="ctr"/>
          <a:lstStyle/>
          <a:p>
            <a:pPr algn="ctr" indent="0" marL="0">
              <a:buNone/>
            </a:pPr>
            <a:r>
              <a:rPr lang="en-US" sz="1100" b="1" dirty="0">
                <a:solidFill>
                  <a:srgbClr val="FFFFFF"/>
                </a:solidFill>
                <a:latin typeface="Microsoft YaHei" pitchFamily="34" charset="0"/>
                <a:ea typeface="Microsoft YaHei" pitchFamily="34" charset="-122"/>
                <a:cs typeface="Microsoft YaHei" pitchFamily="34" charset="-120"/>
              </a:rPr>
              <a:t>整合报告生成员</a:t>
            </a:r>
            <a:endParaRPr lang="en-US" sz="1100" dirty="0"/>
          </a:p>
        </p:txBody>
      </p:sp>
      <p:sp>
        <p:nvSpPr>
          <p:cNvPr id="26" name="Shape 24"/>
          <p:cNvSpPr/>
          <p:nvPr/>
        </p:nvSpPr>
        <p:spPr>
          <a:xfrm>
            <a:off x="457200" y="4434840"/>
            <a:ext cx="3840480" cy="457200"/>
          </a:xfrm>
          <a:prstGeom prst="rect">
            <a:avLst/>
          </a:prstGeom>
          <a:solidFill>
            <a:srgbClr val="F3F4F6"/>
          </a:solidFill>
          <a:ln/>
        </p:spPr>
      </p:sp>
      <p:sp>
        <p:nvSpPr>
          <p:cNvPr id="27" name="Text 25"/>
          <p:cNvSpPr/>
          <p:nvPr/>
        </p:nvSpPr>
        <p:spPr>
          <a:xfrm>
            <a:off x="548640" y="4434840"/>
            <a:ext cx="3657600" cy="457200"/>
          </a:xfrm>
          <a:prstGeom prst="rect">
            <a:avLst/>
          </a:prstGeom>
          <a:noFill/>
          <a:ln/>
        </p:spPr>
        <p:txBody>
          <a:bodyPr wrap="square" rtlCol="0" anchor="ctr"/>
          <a:lstStyle/>
          <a:p>
            <a:pPr indent="0" marL="0">
              <a:buNone/>
            </a:pPr>
            <a:r>
              <a:rPr lang="en-US" sz="1200" dirty="0">
                <a:solidFill>
                  <a:srgbClr val="374151"/>
                </a:solidFill>
                <a:latin typeface="Microsoft YaHei" pitchFamily="34" charset="0"/>
                <a:ea typeface="Microsoft YaHei" pitchFamily="34" charset="-122"/>
                <a:cs typeface="Microsoft YaHei" pitchFamily="34" charset="-120"/>
              </a:rPr>
              <a:t>适用：需要对同一对象做多维度分析</a:t>
            </a:r>
            <a:endParaRPr lang="en-US" sz="1200" dirty="0"/>
          </a:p>
        </p:txBody>
      </p:sp>
      <p:sp>
        <p:nvSpPr>
          <p:cNvPr id="28" name="Shape 26"/>
          <p:cNvSpPr/>
          <p:nvPr/>
        </p:nvSpPr>
        <p:spPr>
          <a:xfrm>
            <a:off x="4846320" y="4434840"/>
            <a:ext cx="3840480" cy="457200"/>
          </a:xfrm>
          <a:prstGeom prst="rect">
            <a:avLst/>
          </a:prstGeom>
          <a:solidFill>
            <a:srgbClr val="F3F4F6"/>
          </a:solidFill>
          <a:ln/>
        </p:spPr>
      </p:sp>
      <p:sp>
        <p:nvSpPr>
          <p:cNvPr id="29" name="Text 27"/>
          <p:cNvSpPr/>
          <p:nvPr/>
        </p:nvSpPr>
        <p:spPr>
          <a:xfrm>
            <a:off x="4937760" y="4434840"/>
            <a:ext cx="3657600" cy="457200"/>
          </a:xfrm>
          <a:prstGeom prst="rect">
            <a:avLst/>
          </a:prstGeom>
          <a:noFill/>
          <a:ln/>
        </p:spPr>
        <p:txBody>
          <a:bodyPr wrap="square" rtlCol="0" anchor="ctr"/>
          <a:lstStyle/>
          <a:p>
            <a:pPr indent="0" marL="0">
              <a:buNone/>
            </a:pPr>
            <a:r>
              <a:rPr lang="en-US" sz="1200" dirty="0">
                <a:solidFill>
                  <a:srgbClr val="374151"/>
                </a:solidFill>
                <a:latin typeface="Microsoft YaHei" pitchFamily="34" charset="0"/>
                <a:ea typeface="Microsoft YaHei" pitchFamily="34" charset="-122"/>
                <a:cs typeface="Microsoft YaHei" pitchFamily="34" charset="-120"/>
              </a:rPr>
              <a:t>价值：每个专项角色只在自己的专业领域发挥</a:t>
            </a:r>
            <a:endParaRPr lang="en-US" sz="1200" dirty="0"/>
          </a:p>
        </p:txBody>
      </p:sp>
      <p:sp>
        <p:nvSpPr>
          <p:cNvPr id="30" name="Text 28"/>
          <p:cNvSpPr/>
          <p:nvPr/>
        </p:nvSpPr>
        <p:spPr>
          <a:xfrm>
            <a:off x="8503920" y="4663440"/>
            <a:ext cx="457200" cy="274320"/>
          </a:xfrm>
          <a:prstGeom prst="rect">
            <a:avLst/>
          </a:prstGeom>
          <a:noFill/>
          <a:ln/>
        </p:spPr>
        <p:txBody>
          <a:bodyPr wrap="square" rtlCol="0" anchor="ctr"/>
          <a:lstStyle/>
          <a:p>
            <a:pPr algn="r" indent="0" marL="0">
              <a:buNone/>
            </a:pPr>
            <a:r>
              <a:rPr lang="en-US" sz="1000" dirty="0">
                <a:solidFill>
                  <a:srgbClr val="374151"/>
                </a:solidFill>
                <a:latin typeface="Arial" pitchFamily="34" charset="0"/>
                <a:ea typeface="Arial" pitchFamily="34" charset="-122"/>
                <a:cs typeface="Arial" pitchFamily="34" charset="-120"/>
              </a:rPr>
              <a:t>81</a:t>
            </a:r>
            <a:endParaRPr lang="en-US" sz="10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274320"/>
            <a:ext cx="8229600" cy="548640"/>
          </a:xfrm>
          <a:prstGeom prst="rect">
            <a:avLst/>
          </a:prstGeom>
          <a:noFill/>
          <a:ln/>
        </p:spPr>
        <p:txBody>
          <a:bodyPr wrap="square" rtlCol="0" anchor="ctr"/>
          <a:lstStyle/>
          <a:p>
            <a:pPr indent="0" marL="0">
              <a:buNone/>
            </a:pPr>
            <a:r>
              <a:rPr lang="en-US" sz="2400" b="1" dirty="0">
                <a:solidFill>
                  <a:srgbClr val="B91C1C"/>
                </a:solidFill>
                <a:latin typeface="Microsoft YaHei" pitchFamily="34" charset="0"/>
                <a:ea typeface="Microsoft YaHei" pitchFamily="34" charset="-122"/>
                <a:cs typeface="Microsoft YaHei" pitchFamily="34" charset="-120"/>
              </a:rPr>
              <a:t>模式三：监控（守卫+执行）</a:t>
            </a:r>
            <a:endParaRPr lang="en-US" sz="2400" dirty="0"/>
          </a:p>
        </p:txBody>
      </p:sp>
      <p:sp>
        <p:nvSpPr>
          <p:cNvPr id="4" name="Shape 2"/>
          <p:cNvSpPr/>
          <p:nvPr/>
        </p:nvSpPr>
        <p:spPr>
          <a:xfrm>
            <a:off x="457200" y="1097280"/>
            <a:ext cx="3200400" cy="1097280"/>
          </a:xfrm>
          <a:prstGeom prst="rect">
            <a:avLst/>
          </a:prstGeom>
          <a:solidFill>
            <a:srgbClr val="B91C1C"/>
          </a:solidFill>
          <a:ln/>
        </p:spPr>
      </p:sp>
      <p:sp>
        <p:nvSpPr>
          <p:cNvPr id="5" name="Text 3"/>
          <p:cNvSpPr/>
          <p:nvPr/>
        </p:nvSpPr>
        <p:spPr>
          <a:xfrm>
            <a:off x="457200" y="1234440"/>
            <a:ext cx="3200400" cy="457200"/>
          </a:xfrm>
          <a:prstGeom prst="rect">
            <a:avLst/>
          </a:prstGeom>
          <a:noFill/>
          <a:ln/>
        </p:spPr>
        <p:txBody>
          <a:bodyPr wrap="square" rtlCol="0" anchor="ctr"/>
          <a:lstStyle/>
          <a:p>
            <a:pPr algn="ctr" indent="0" marL="0">
              <a:buNone/>
            </a:pPr>
            <a:r>
              <a:rPr lang="en-US" sz="1600" b="1" dirty="0">
                <a:solidFill>
                  <a:srgbClr val="FFFFFF"/>
                </a:solidFill>
                <a:latin typeface="Microsoft YaHei" pitchFamily="34" charset="0"/>
                <a:ea typeface="Microsoft YaHei" pitchFamily="34" charset="-122"/>
                <a:cs typeface="Microsoft YaHei" pitchFamily="34" charset="-120"/>
              </a:rPr>
              <a:t>数据异常守卫员</a:t>
            </a:r>
            <a:endParaRPr lang="en-US" sz="1600" dirty="0"/>
          </a:p>
        </p:txBody>
      </p:sp>
      <p:sp>
        <p:nvSpPr>
          <p:cNvPr id="6" name="Text 4"/>
          <p:cNvSpPr/>
          <p:nvPr/>
        </p:nvSpPr>
        <p:spPr>
          <a:xfrm>
            <a:off x="457200" y="1691640"/>
            <a:ext cx="3200400" cy="365760"/>
          </a:xfrm>
          <a:prstGeom prst="rect">
            <a:avLst/>
          </a:prstGeom>
          <a:noFill/>
          <a:ln/>
        </p:spPr>
        <p:txBody>
          <a:bodyPr wrap="square" rtlCol="0" anchor="ctr"/>
          <a:lstStyle/>
          <a:p>
            <a:pPr algn="ctr" indent="0" marL="0">
              <a:buNone/>
            </a:pPr>
            <a:r>
              <a:rPr lang="en-US" sz="1200" dirty="0">
                <a:solidFill>
                  <a:srgbClr val="F3F4F6"/>
                </a:solidFill>
                <a:latin typeface="Microsoft YaHei" pitchFamily="34" charset="0"/>
                <a:ea typeface="Microsoft YaHei" pitchFamily="34" charset="-122"/>
                <a:cs typeface="Microsoft YaHei" pitchFamily="34" charset="-120"/>
              </a:rPr>
              <a:t>持续运行</a:t>
            </a:r>
            <a:endParaRPr lang="en-US" sz="1200" dirty="0"/>
          </a:p>
        </p:txBody>
      </p:sp>
      <p:sp>
        <p:nvSpPr>
          <p:cNvPr id="7" name="Text 5"/>
          <p:cNvSpPr/>
          <p:nvPr/>
        </p:nvSpPr>
        <p:spPr>
          <a:xfrm>
            <a:off x="3657600" y="1371600"/>
            <a:ext cx="457200" cy="457200"/>
          </a:xfrm>
          <a:prstGeom prst="rect">
            <a:avLst/>
          </a:prstGeom>
          <a:noFill/>
          <a:ln/>
        </p:spPr>
        <p:txBody>
          <a:bodyPr wrap="square" rtlCol="0" anchor="ctr"/>
          <a:lstStyle/>
          <a:p>
            <a:pPr algn="ctr" indent="0" marL="0">
              <a:buNone/>
            </a:pPr>
            <a:r>
              <a:rPr lang="en-US" sz="2800" dirty="0">
                <a:solidFill>
                  <a:srgbClr val="EF4444"/>
                </a:solidFill>
                <a:latin typeface="Arial" pitchFamily="34" charset="0"/>
                <a:ea typeface="Arial" pitchFamily="34" charset="-122"/>
                <a:cs typeface="Arial" pitchFamily="34" charset="-120"/>
              </a:rPr>
              <a:t>-&gt;</a:t>
            </a:r>
            <a:endParaRPr lang="en-US" sz="2800" dirty="0"/>
          </a:p>
        </p:txBody>
      </p:sp>
      <p:sp>
        <p:nvSpPr>
          <p:cNvPr id="8" name="Shape 6"/>
          <p:cNvSpPr/>
          <p:nvPr/>
        </p:nvSpPr>
        <p:spPr>
          <a:xfrm>
            <a:off x="4114800" y="1097280"/>
            <a:ext cx="4572000" cy="1097280"/>
          </a:xfrm>
          <a:prstGeom prst="rect">
            <a:avLst/>
          </a:prstGeom>
          <a:solidFill>
            <a:srgbClr val="F3F4F6"/>
          </a:solidFill>
          <a:ln w="12700">
            <a:solidFill>
              <a:srgbClr val="EF4444"/>
            </a:solidFill>
            <a:prstDash val="solid"/>
          </a:ln>
        </p:spPr>
      </p:sp>
      <p:sp>
        <p:nvSpPr>
          <p:cNvPr id="9" name="Text 7"/>
          <p:cNvSpPr/>
          <p:nvPr/>
        </p:nvSpPr>
        <p:spPr>
          <a:xfrm>
            <a:off x="4206240" y="1280160"/>
            <a:ext cx="4389120" cy="365760"/>
          </a:xfrm>
          <a:prstGeom prst="rect">
            <a:avLst/>
          </a:prstGeom>
          <a:noFill/>
          <a:ln/>
        </p:spPr>
        <p:txBody>
          <a:bodyPr wrap="square" rtlCol="0" anchor="ctr"/>
          <a:lstStyle/>
          <a:p>
            <a:pPr indent="0" marL="0">
              <a:buNone/>
            </a:pPr>
            <a:r>
              <a:rPr lang="en-US" sz="1400" b="1" dirty="0">
                <a:solidFill>
                  <a:srgbClr val="B91C1C"/>
                </a:solidFill>
                <a:latin typeface="Microsoft YaHei" pitchFamily="34" charset="0"/>
                <a:ea typeface="Microsoft YaHei" pitchFamily="34" charset="-122"/>
                <a:cs typeface="Microsoft YaHei" pitchFamily="34" charset="-120"/>
              </a:rPr>
              <a:t>识别到某指标偏离基准超过阈值</a:t>
            </a:r>
            <a:endParaRPr lang="en-US" sz="1400" dirty="0"/>
          </a:p>
        </p:txBody>
      </p:sp>
      <p:sp>
        <p:nvSpPr>
          <p:cNvPr id="10" name="Text 8"/>
          <p:cNvSpPr/>
          <p:nvPr/>
        </p:nvSpPr>
        <p:spPr>
          <a:xfrm>
            <a:off x="4206240" y="1691640"/>
            <a:ext cx="4389120" cy="365760"/>
          </a:xfrm>
          <a:prstGeom prst="rect">
            <a:avLst/>
          </a:prstGeom>
          <a:noFill/>
          <a:ln/>
        </p:spPr>
        <p:txBody>
          <a:bodyPr wrap="square" rtlCol="0" anchor="ctr"/>
          <a:lstStyle/>
          <a:p>
            <a:pPr indent="0" marL="0">
              <a:buNone/>
            </a:pPr>
            <a:r>
              <a:rPr lang="en-US" sz="1200" dirty="0">
                <a:solidFill>
                  <a:srgbClr val="374151"/>
                </a:solidFill>
                <a:latin typeface="Microsoft YaHei" pitchFamily="34" charset="0"/>
                <a:ea typeface="Microsoft YaHei" pitchFamily="34" charset="-122"/>
                <a:cs typeface="Microsoft YaHei" pitchFamily="34" charset="-120"/>
              </a:rPr>
              <a:t>-&gt; 触发 [异常原因分析员] -&gt; 触发 [异常通知生成员]</a:t>
            </a:r>
            <a:endParaRPr lang="en-US" sz="1200" dirty="0"/>
          </a:p>
        </p:txBody>
      </p:sp>
      <p:sp>
        <p:nvSpPr>
          <p:cNvPr id="11" name="Shape 9"/>
          <p:cNvSpPr/>
          <p:nvPr/>
        </p:nvSpPr>
        <p:spPr>
          <a:xfrm>
            <a:off x="457200" y="2468880"/>
            <a:ext cx="3931920" cy="2011680"/>
          </a:xfrm>
          <a:prstGeom prst="rect">
            <a:avLst/>
          </a:prstGeom>
          <a:solidFill>
            <a:srgbClr val="F3F4F6"/>
          </a:solidFill>
          <a:ln/>
        </p:spPr>
      </p:sp>
      <p:sp>
        <p:nvSpPr>
          <p:cNvPr id="12" name="Text 10"/>
          <p:cNvSpPr/>
          <p:nvPr/>
        </p:nvSpPr>
        <p:spPr>
          <a:xfrm>
            <a:off x="640080" y="2606040"/>
            <a:ext cx="1828800" cy="365760"/>
          </a:xfrm>
          <a:prstGeom prst="rect">
            <a:avLst/>
          </a:prstGeom>
          <a:noFill/>
          <a:ln/>
        </p:spPr>
        <p:txBody>
          <a:bodyPr wrap="square" rtlCol="0" anchor="ctr"/>
          <a:lstStyle/>
          <a:p>
            <a:pPr indent="0" marL="0">
              <a:buNone/>
            </a:pPr>
            <a:r>
              <a:rPr lang="en-US" sz="1400" b="1" dirty="0">
                <a:solidFill>
                  <a:srgbClr val="EF4444"/>
                </a:solidFill>
                <a:latin typeface="Microsoft YaHei" pitchFamily="34" charset="0"/>
                <a:ea typeface="Microsoft YaHei" pitchFamily="34" charset="-122"/>
                <a:cs typeface="Microsoft YaHei" pitchFamily="34" charset="-120"/>
              </a:rPr>
              <a:t>适用场景</a:t>
            </a:r>
            <a:endParaRPr lang="en-US" sz="1400" dirty="0"/>
          </a:p>
        </p:txBody>
      </p:sp>
      <p:sp>
        <p:nvSpPr>
          <p:cNvPr id="13" name="Text 11"/>
          <p:cNvSpPr/>
          <p:nvPr/>
        </p:nvSpPr>
        <p:spPr>
          <a:xfrm>
            <a:off x="640080" y="2971800"/>
            <a:ext cx="3566160" cy="36576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持续监控类任务</a:t>
            </a:r>
            <a:endParaRPr lang="en-US" sz="1300" dirty="0"/>
          </a:p>
        </p:txBody>
      </p:sp>
      <p:sp>
        <p:nvSpPr>
          <p:cNvPr id="14" name="Text 12"/>
          <p:cNvSpPr/>
          <p:nvPr/>
        </p:nvSpPr>
        <p:spPr>
          <a:xfrm>
            <a:off x="640080" y="3291840"/>
            <a:ext cx="3566160" cy="365760"/>
          </a:xfrm>
          <a:prstGeom prst="rect">
            <a:avLst/>
          </a:prstGeom>
          <a:noFill/>
          <a:ln/>
        </p:spPr>
        <p:txBody>
          <a:bodyPr wrap="square" rtlCol="0" anchor="ctr"/>
          <a:lstStyle/>
          <a:p>
            <a:pPr indent="0" marL="0">
              <a:buNone/>
            </a:pPr>
            <a:r>
              <a:rPr lang="en-US" sz="1200" i="1" dirty="0">
                <a:solidFill>
                  <a:srgbClr val="B91C1C"/>
                </a:solidFill>
                <a:latin typeface="Microsoft YaHei" pitchFamily="34" charset="0"/>
                <a:ea typeface="Microsoft YaHei" pitchFamily="34" charset="-122"/>
                <a:cs typeface="Microsoft YaHei" pitchFamily="34" charset="-120"/>
              </a:rPr>
              <a:t>"满足条件才处理"</a:t>
            </a:r>
            <a:endParaRPr lang="en-US" sz="1200" dirty="0"/>
          </a:p>
        </p:txBody>
      </p:sp>
      <p:sp>
        <p:nvSpPr>
          <p:cNvPr id="15" name="Shape 13"/>
          <p:cNvSpPr/>
          <p:nvPr/>
        </p:nvSpPr>
        <p:spPr>
          <a:xfrm>
            <a:off x="4754880" y="2468880"/>
            <a:ext cx="3931920" cy="2011680"/>
          </a:xfrm>
          <a:prstGeom prst="rect">
            <a:avLst/>
          </a:prstGeom>
          <a:solidFill>
            <a:srgbClr val="F3F4F6"/>
          </a:solidFill>
          <a:ln/>
        </p:spPr>
      </p:sp>
      <p:sp>
        <p:nvSpPr>
          <p:cNvPr id="16" name="Text 14"/>
          <p:cNvSpPr/>
          <p:nvPr/>
        </p:nvSpPr>
        <p:spPr>
          <a:xfrm>
            <a:off x="4937760" y="2606040"/>
            <a:ext cx="1828800" cy="365760"/>
          </a:xfrm>
          <a:prstGeom prst="rect">
            <a:avLst/>
          </a:prstGeom>
          <a:noFill/>
          <a:ln/>
        </p:spPr>
        <p:txBody>
          <a:bodyPr wrap="square" rtlCol="0" anchor="ctr"/>
          <a:lstStyle/>
          <a:p>
            <a:pPr indent="0" marL="0">
              <a:buNone/>
            </a:pPr>
            <a:r>
              <a:rPr lang="en-US" sz="1400" b="1" dirty="0">
                <a:solidFill>
                  <a:srgbClr val="EF4444"/>
                </a:solidFill>
                <a:latin typeface="Microsoft YaHei" pitchFamily="34" charset="0"/>
                <a:ea typeface="Microsoft YaHei" pitchFamily="34" charset="-122"/>
                <a:cs typeface="Microsoft YaHei" pitchFamily="34" charset="-120"/>
              </a:rPr>
              <a:t>核心价值</a:t>
            </a:r>
            <a:endParaRPr lang="en-US" sz="1400" dirty="0"/>
          </a:p>
        </p:txBody>
      </p:sp>
      <p:sp>
        <p:nvSpPr>
          <p:cNvPr id="17" name="Text 15"/>
          <p:cNvSpPr/>
          <p:nvPr/>
        </p:nvSpPr>
        <p:spPr>
          <a:xfrm>
            <a:off x="4937760" y="2971800"/>
            <a:ext cx="3566160" cy="36576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把"我需要盯着"</a:t>
            </a:r>
            <a:endParaRPr lang="en-US" sz="1300" dirty="0"/>
          </a:p>
        </p:txBody>
      </p:sp>
      <p:sp>
        <p:nvSpPr>
          <p:cNvPr id="18" name="Text 16"/>
          <p:cNvSpPr/>
          <p:nvPr/>
        </p:nvSpPr>
        <p:spPr>
          <a:xfrm>
            <a:off x="4937760" y="3246120"/>
            <a:ext cx="3566160" cy="36576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变成</a:t>
            </a:r>
            <a:endParaRPr lang="en-US" sz="1300" dirty="0"/>
          </a:p>
        </p:txBody>
      </p:sp>
      <p:sp>
        <p:nvSpPr>
          <p:cNvPr id="19" name="Text 17"/>
          <p:cNvSpPr/>
          <p:nvPr/>
        </p:nvSpPr>
        <p:spPr>
          <a:xfrm>
            <a:off x="4937760" y="3566160"/>
            <a:ext cx="3566160" cy="457200"/>
          </a:xfrm>
          <a:prstGeom prst="rect">
            <a:avLst/>
          </a:prstGeom>
          <a:noFill/>
          <a:ln/>
        </p:spPr>
        <p:txBody>
          <a:bodyPr wrap="square" rtlCol="0" anchor="ctr"/>
          <a:lstStyle/>
          <a:p>
            <a:pPr indent="0" marL="0">
              <a:buNone/>
            </a:pPr>
            <a:r>
              <a:rPr lang="en-US" sz="1400" b="1" dirty="0">
                <a:solidFill>
                  <a:srgbClr val="EF4444"/>
                </a:solidFill>
                <a:latin typeface="Microsoft YaHei" pitchFamily="34" charset="0"/>
                <a:ea typeface="Microsoft YaHei" pitchFamily="34" charset="-122"/>
                <a:cs typeface="Microsoft YaHei" pitchFamily="34" charset="-120"/>
              </a:rPr>
              <a:t>"异常了它来找我"</a:t>
            </a:r>
            <a:endParaRPr lang="en-US" sz="1400" dirty="0"/>
          </a:p>
        </p:txBody>
      </p:sp>
      <p:sp>
        <p:nvSpPr>
          <p:cNvPr id="20" name="Text 18"/>
          <p:cNvSpPr/>
          <p:nvPr/>
        </p:nvSpPr>
        <p:spPr>
          <a:xfrm>
            <a:off x="8503920" y="4663440"/>
            <a:ext cx="457200" cy="274320"/>
          </a:xfrm>
          <a:prstGeom prst="rect">
            <a:avLst/>
          </a:prstGeom>
          <a:noFill/>
          <a:ln/>
        </p:spPr>
        <p:txBody>
          <a:bodyPr wrap="square" rtlCol="0" anchor="ctr"/>
          <a:lstStyle/>
          <a:p>
            <a:pPr algn="r" indent="0" marL="0">
              <a:buNone/>
            </a:pPr>
            <a:r>
              <a:rPr lang="en-US" sz="1000" dirty="0">
                <a:solidFill>
                  <a:srgbClr val="374151"/>
                </a:solidFill>
                <a:latin typeface="Arial" pitchFamily="34" charset="0"/>
                <a:ea typeface="Arial" pitchFamily="34" charset="-122"/>
                <a:cs typeface="Arial" pitchFamily="34" charset="-120"/>
              </a:rPr>
              <a:t>82</a:t>
            </a:r>
            <a:endParaRPr lang="en-US" sz="10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274320"/>
            <a:ext cx="8229600" cy="548640"/>
          </a:xfrm>
          <a:prstGeom prst="rect">
            <a:avLst/>
          </a:prstGeom>
          <a:noFill/>
          <a:ln/>
        </p:spPr>
        <p:txBody>
          <a:bodyPr wrap="square" rtlCol="0" anchor="ctr"/>
          <a:lstStyle/>
          <a:p>
            <a:pPr indent="0" marL="0">
              <a:buNone/>
            </a:pPr>
            <a:r>
              <a:rPr lang="en-US" sz="2200" b="1" dirty="0">
                <a:solidFill>
                  <a:srgbClr val="B91C1C"/>
                </a:solidFill>
                <a:latin typeface="Microsoft YaHei" pitchFamily="34" charset="0"/>
                <a:ea typeface="Microsoft YaHei" pitchFamily="34" charset="-122"/>
                <a:cs typeface="Microsoft YaHei" pitchFamily="34" charset="-120"/>
              </a:rPr>
              <a:t>完整案例：一条销售线索的完整处理链</a:t>
            </a:r>
            <a:endParaRPr lang="en-US" sz="2200" dirty="0"/>
          </a:p>
        </p:txBody>
      </p:sp>
      <p:sp>
        <p:nvSpPr>
          <p:cNvPr id="4" name="Shape 2"/>
          <p:cNvSpPr/>
          <p:nvPr/>
        </p:nvSpPr>
        <p:spPr>
          <a:xfrm>
            <a:off x="274320" y="1005840"/>
            <a:ext cx="1280160" cy="548640"/>
          </a:xfrm>
          <a:prstGeom prst="rect">
            <a:avLst/>
          </a:prstGeom>
          <a:solidFill>
            <a:srgbClr val="B91C1C"/>
          </a:solidFill>
          <a:ln/>
        </p:spPr>
      </p:sp>
      <p:sp>
        <p:nvSpPr>
          <p:cNvPr id="5" name="Text 3"/>
          <p:cNvSpPr/>
          <p:nvPr/>
        </p:nvSpPr>
        <p:spPr>
          <a:xfrm>
            <a:off x="274320" y="1005840"/>
            <a:ext cx="1280160" cy="548640"/>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原始线索</a:t>
            </a:r>
            <a:endParaRPr lang="en-US" sz="1200" dirty="0"/>
          </a:p>
        </p:txBody>
      </p:sp>
      <p:sp>
        <p:nvSpPr>
          <p:cNvPr id="6" name="Text 4"/>
          <p:cNvSpPr/>
          <p:nvPr/>
        </p:nvSpPr>
        <p:spPr>
          <a:xfrm>
            <a:off x="1554480" y="1051560"/>
            <a:ext cx="365760" cy="457200"/>
          </a:xfrm>
          <a:prstGeom prst="rect">
            <a:avLst/>
          </a:prstGeom>
          <a:noFill/>
          <a:ln/>
        </p:spPr>
        <p:txBody>
          <a:bodyPr wrap="square" rtlCol="0" anchor="ctr"/>
          <a:lstStyle/>
          <a:p>
            <a:pPr algn="ctr" indent="0" marL="0">
              <a:buNone/>
            </a:pPr>
            <a:r>
              <a:rPr lang="en-US" sz="2000" dirty="0">
                <a:solidFill>
                  <a:srgbClr val="EF4444"/>
                </a:solidFill>
                <a:latin typeface="Arial" pitchFamily="34" charset="0"/>
                <a:ea typeface="Arial" pitchFamily="34" charset="-122"/>
                <a:cs typeface="Arial" pitchFamily="34" charset="-120"/>
              </a:rPr>
              <a:t>-&gt;</a:t>
            </a:r>
            <a:endParaRPr lang="en-US" sz="2000" dirty="0"/>
          </a:p>
        </p:txBody>
      </p:sp>
      <p:sp>
        <p:nvSpPr>
          <p:cNvPr id="7" name="Shape 5"/>
          <p:cNvSpPr/>
          <p:nvPr/>
        </p:nvSpPr>
        <p:spPr>
          <a:xfrm>
            <a:off x="1920240" y="1005840"/>
            <a:ext cx="1645920" cy="548640"/>
          </a:xfrm>
          <a:prstGeom prst="rect">
            <a:avLst/>
          </a:prstGeom>
          <a:solidFill>
            <a:srgbClr val="F3F4F6"/>
          </a:solidFill>
          <a:ln w="12700">
            <a:solidFill>
              <a:srgbClr val="EF4444"/>
            </a:solidFill>
            <a:prstDash val="solid"/>
          </a:ln>
        </p:spPr>
      </p:sp>
      <p:sp>
        <p:nvSpPr>
          <p:cNvPr id="8" name="Text 6"/>
          <p:cNvSpPr/>
          <p:nvPr/>
        </p:nvSpPr>
        <p:spPr>
          <a:xfrm>
            <a:off x="1920240" y="1005840"/>
            <a:ext cx="1645920" cy="548640"/>
          </a:xfrm>
          <a:prstGeom prst="rect">
            <a:avLst/>
          </a:prstGeom>
          <a:noFill/>
          <a:ln/>
        </p:spPr>
        <p:txBody>
          <a:bodyPr wrap="square" rtlCol="0" anchor="ctr"/>
          <a:lstStyle/>
          <a:p>
            <a:pPr algn="ctr" indent="0" marL="0">
              <a:buNone/>
            </a:pPr>
            <a:r>
              <a:rPr lang="en-US" sz="1000" dirty="0">
                <a:solidFill>
                  <a:srgbClr val="B91C1C"/>
                </a:solidFill>
                <a:latin typeface="Microsoft YaHei" pitchFamily="34" charset="0"/>
                <a:ea typeface="Microsoft YaHei" pitchFamily="34" charset="-122"/>
                <a:cs typeface="Microsoft YaHei" pitchFamily="34" charset="-120"/>
              </a:rPr>
              <a:t>线索信息标准化员</a:t>
            </a:r>
            <a:endParaRPr lang="en-US" sz="1000" dirty="0"/>
          </a:p>
        </p:txBody>
      </p:sp>
      <p:sp>
        <p:nvSpPr>
          <p:cNvPr id="9" name="Text 7"/>
          <p:cNvSpPr/>
          <p:nvPr/>
        </p:nvSpPr>
        <p:spPr>
          <a:xfrm>
            <a:off x="3566160" y="1051560"/>
            <a:ext cx="365760" cy="457200"/>
          </a:xfrm>
          <a:prstGeom prst="rect">
            <a:avLst/>
          </a:prstGeom>
          <a:noFill/>
          <a:ln/>
        </p:spPr>
        <p:txBody>
          <a:bodyPr wrap="square" rtlCol="0" anchor="ctr"/>
          <a:lstStyle/>
          <a:p>
            <a:pPr algn="ctr" indent="0" marL="0">
              <a:buNone/>
            </a:pPr>
            <a:r>
              <a:rPr lang="en-US" sz="2000" dirty="0">
                <a:solidFill>
                  <a:srgbClr val="EF4444"/>
                </a:solidFill>
                <a:latin typeface="Arial" pitchFamily="34" charset="0"/>
                <a:ea typeface="Arial" pitchFamily="34" charset="-122"/>
                <a:cs typeface="Arial" pitchFamily="34" charset="-120"/>
              </a:rPr>
              <a:t>-&gt;</a:t>
            </a:r>
            <a:endParaRPr lang="en-US" sz="2000" dirty="0"/>
          </a:p>
        </p:txBody>
      </p:sp>
      <p:sp>
        <p:nvSpPr>
          <p:cNvPr id="10" name="Shape 8"/>
          <p:cNvSpPr/>
          <p:nvPr/>
        </p:nvSpPr>
        <p:spPr>
          <a:xfrm>
            <a:off x="3931920" y="1005840"/>
            <a:ext cx="1463040" cy="548640"/>
          </a:xfrm>
          <a:prstGeom prst="rect">
            <a:avLst/>
          </a:prstGeom>
          <a:solidFill>
            <a:srgbClr val="F3F4F6"/>
          </a:solidFill>
          <a:ln w="12700">
            <a:solidFill>
              <a:srgbClr val="EF4444"/>
            </a:solidFill>
            <a:prstDash val="solid"/>
          </a:ln>
        </p:spPr>
      </p:sp>
      <p:sp>
        <p:nvSpPr>
          <p:cNvPr id="11" name="Text 9"/>
          <p:cNvSpPr/>
          <p:nvPr/>
        </p:nvSpPr>
        <p:spPr>
          <a:xfrm>
            <a:off x="3931920" y="1005840"/>
            <a:ext cx="1463040" cy="548640"/>
          </a:xfrm>
          <a:prstGeom prst="rect">
            <a:avLst/>
          </a:prstGeom>
          <a:noFill/>
          <a:ln/>
        </p:spPr>
        <p:txBody>
          <a:bodyPr wrap="square" rtlCol="0" anchor="ctr"/>
          <a:lstStyle/>
          <a:p>
            <a:pPr algn="ctr" indent="0" marL="0">
              <a:buNone/>
            </a:pPr>
            <a:r>
              <a:rPr lang="en-US" sz="1000" dirty="0">
                <a:solidFill>
                  <a:srgbClr val="B91C1C"/>
                </a:solidFill>
                <a:latin typeface="Microsoft YaHei" pitchFamily="34" charset="0"/>
                <a:ea typeface="Microsoft YaHei" pitchFamily="34" charset="-122"/>
                <a:cs typeface="Microsoft YaHei" pitchFamily="34" charset="-120"/>
              </a:rPr>
              <a:t>线索质量评估员</a:t>
            </a:r>
            <a:endParaRPr lang="en-US" sz="1000" dirty="0"/>
          </a:p>
        </p:txBody>
      </p:sp>
      <p:sp>
        <p:nvSpPr>
          <p:cNvPr id="12" name="Text 10"/>
          <p:cNvSpPr/>
          <p:nvPr/>
        </p:nvSpPr>
        <p:spPr>
          <a:xfrm>
            <a:off x="4663440" y="1554480"/>
            <a:ext cx="365760" cy="274320"/>
          </a:xfrm>
          <a:prstGeom prst="rect">
            <a:avLst/>
          </a:prstGeom>
          <a:noFill/>
          <a:ln/>
        </p:spPr>
        <p:txBody>
          <a:bodyPr wrap="square" rtlCol="0" anchor="ctr"/>
          <a:lstStyle/>
          <a:p>
            <a:pPr algn="ctr" indent="0" marL="0">
              <a:buNone/>
            </a:pPr>
            <a:r>
              <a:rPr lang="en-US" sz="1600" dirty="0">
                <a:solidFill>
                  <a:srgbClr val="374151"/>
                </a:solidFill>
                <a:latin typeface="Arial" pitchFamily="34" charset="0"/>
                <a:ea typeface="Arial" pitchFamily="34" charset="-122"/>
                <a:cs typeface="Arial" pitchFamily="34" charset="-120"/>
              </a:rPr>
              <a:t>v</a:t>
            </a:r>
            <a:endParaRPr lang="en-US" sz="1600" dirty="0"/>
          </a:p>
        </p:txBody>
      </p:sp>
      <p:sp>
        <p:nvSpPr>
          <p:cNvPr id="13" name="Text 11"/>
          <p:cNvSpPr/>
          <p:nvPr/>
        </p:nvSpPr>
        <p:spPr>
          <a:xfrm>
            <a:off x="3200400" y="1828800"/>
            <a:ext cx="1097280" cy="320040"/>
          </a:xfrm>
          <a:prstGeom prst="rect">
            <a:avLst/>
          </a:prstGeom>
          <a:noFill/>
          <a:ln/>
        </p:spPr>
        <p:txBody>
          <a:bodyPr wrap="square" rtlCol="0" anchor="ctr"/>
          <a:lstStyle/>
          <a:p>
            <a:pPr algn="ctr" indent="0" marL="0">
              <a:buNone/>
            </a:pPr>
            <a:r>
              <a:rPr lang="en-US" sz="1000" b="1" dirty="0">
                <a:solidFill>
                  <a:srgbClr val="EF4444"/>
                </a:solidFill>
                <a:latin typeface="Microsoft YaHei" pitchFamily="34" charset="0"/>
                <a:ea typeface="Microsoft YaHei" pitchFamily="34" charset="-122"/>
                <a:cs typeface="Microsoft YaHei" pitchFamily="34" charset="-120"/>
              </a:rPr>
              <a:t>A/B级</a:t>
            </a:r>
            <a:endParaRPr lang="en-US" sz="1000" dirty="0"/>
          </a:p>
        </p:txBody>
      </p:sp>
      <p:sp>
        <p:nvSpPr>
          <p:cNvPr id="14" name="Text 12"/>
          <p:cNvSpPr/>
          <p:nvPr/>
        </p:nvSpPr>
        <p:spPr>
          <a:xfrm>
            <a:off x="5303520" y="1828800"/>
            <a:ext cx="1097280" cy="320040"/>
          </a:xfrm>
          <a:prstGeom prst="rect">
            <a:avLst/>
          </a:prstGeom>
          <a:noFill/>
          <a:ln/>
        </p:spPr>
        <p:txBody>
          <a:bodyPr wrap="square" rtlCol="0" anchor="ctr"/>
          <a:lstStyle/>
          <a:p>
            <a:pPr algn="ctr" indent="0" marL="0">
              <a:buNone/>
            </a:pPr>
            <a:r>
              <a:rPr lang="en-US" sz="1000" b="1" dirty="0">
                <a:solidFill>
                  <a:srgbClr val="374151"/>
                </a:solidFill>
                <a:latin typeface="Microsoft YaHei" pitchFamily="34" charset="0"/>
                <a:ea typeface="Microsoft YaHei" pitchFamily="34" charset="-122"/>
                <a:cs typeface="Microsoft YaHei" pitchFamily="34" charset="-120"/>
              </a:rPr>
              <a:t>C/D级</a:t>
            </a:r>
            <a:endParaRPr lang="en-US" sz="1000" dirty="0"/>
          </a:p>
        </p:txBody>
      </p:sp>
      <p:sp>
        <p:nvSpPr>
          <p:cNvPr id="15" name="Shape 13"/>
          <p:cNvSpPr/>
          <p:nvPr/>
        </p:nvSpPr>
        <p:spPr>
          <a:xfrm>
            <a:off x="2286000" y="2194560"/>
            <a:ext cx="1828800" cy="502920"/>
          </a:xfrm>
          <a:prstGeom prst="rect">
            <a:avLst/>
          </a:prstGeom>
          <a:solidFill>
            <a:srgbClr val="EF4444"/>
          </a:solidFill>
          <a:ln/>
        </p:spPr>
      </p:sp>
      <p:sp>
        <p:nvSpPr>
          <p:cNvPr id="16" name="Text 14"/>
          <p:cNvSpPr/>
          <p:nvPr/>
        </p:nvSpPr>
        <p:spPr>
          <a:xfrm>
            <a:off x="2286000" y="2194560"/>
            <a:ext cx="1828800" cy="502920"/>
          </a:xfrm>
          <a:prstGeom prst="rect">
            <a:avLst/>
          </a:prstGeom>
          <a:noFill/>
          <a:ln/>
        </p:spPr>
        <p:txBody>
          <a:bodyPr wrap="square" rtlCol="0" anchor="ctr"/>
          <a:lstStyle/>
          <a:p>
            <a:pPr algn="ctr" indent="0" marL="0">
              <a:buNone/>
            </a:pPr>
            <a:r>
              <a:rPr lang="en-US" sz="1100" b="1" dirty="0">
                <a:solidFill>
                  <a:srgbClr val="FFFFFF"/>
                </a:solidFill>
                <a:latin typeface="Microsoft YaHei" pitchFamily="34" charset="0"/>
                <a:ea typeface="Microsoft YaHei" pitchFamily="34" charset="-122"/>
                <a:cs typeface="Microsoft YaHei" pitchFamily="34" charset="-120"/>
              </a:rPr>
              <a:t>首次跟进方案员</a:t>
            </a:r>
            <a:endParaRPr lang="en-US" sz="1100" dirty="0"/>
          </a:p>
        </p:txBody>
      </p:sp>
      <p:sp>
        <p:nvSpPr>
          <p:cNvPr id="17" name="Shape 15"/>
          <p:cNvSpPr/>
          <p:nvPr/>
        </p:nvSpPr>
        <p:spPr>
          <a:xfrm>
            <a:off x="4846320" y="2194560"/>
            <a:ext cx="1828800" cy="502920"/>
          </a:xfrm>
          <a:prstGeom prst="rect">
            <a:avLst/>
          </a:prstGeom>
          <a:solidFill>
            <a:srgbClr val="374151"/>
          </a:solidFill>
          <a:ln/>
        </p:spPr>
      </p:sp>
      <p:sp>
        <p:nvSpPr>
          <p:cNvPr id="18" name="Text 16"/>
          <p:cNvSpPr/>
          <p:nvPr/>
        </p:nvSpPr>
        <p:spPr>
          <a:xfrm>
            <a:off x="4846320" y="2194560"/>
            <a:ext cx="1828800" cy="502920"/>
          </a:xfrm>
          <a:prstGeom prst="rect">
            <a:avLst/>
          </a:prstGeom>
          <a:noFill/>
          <a:ln/>
        </p:spPr>
        <p:txBody>
          <a:bodyPr wrap="square" rtlCol="0" anchor="ctr"/>
          <a:lstStyle/>
          <a:p>
            <a:pPr algn="ctr" indent="0" marL="0">
              <a:buNone/>
            </a:pPr>
            <a:r>
              <a:rPr lang="en-US" sz="1100" b="1" dirty="0">
                <a:solidFill>
                  <a:srgbClr val="FFFFFF"/>
                </a:solidFill>
                <a:latin typeface="Microsoft YaHei" pitchFamily="34" charset="0"/>
                <a:ea typeface="Microsoft YaHei" pitchFamily="34" charset="-122"/>
                <a:cs typeface="Microsoft YaHei" pitchFamily="34" charset="-120"/>
              </a:rPr>
              <a:t>自动培育任务员</a:t>
            </a:r>
            <a:endParaRPr lang="en-US" sz="1100" dirty="0"/>
          </a:p>
        </p:txBody>
      </p:sp>
      <p:sp>
        <p:nvSpPr>
          <p:cNvPr id="19" name="Text 17"/>
          <p:cNvSpPr/>
          <p:nvPr/>
        </p:nvSpPr>
        <p:spPr>
          <a:xfrm>
            <a:off x="4572000" y="2743200"/>
            <a:ext cx="365760" cy="274320"/>
          </a:xfrm>
          <a:prstGeom prst="rect">
            <a:avLst/>
          </a:prstGeom>
          <a:noFill/>
          <a:ln/>
        </p:spPr>
        <p:txBody>
          <a:bodyPr wrap="square" rtlCol="0" anchor="ctr"/>
          <a:lstStyle/>
          <a:p>
            <a:pPr algn="ctr" indent="0" marL="0">
              <a:buNone/>
            </a:pPr>
            <a:r>
              <a:rPr lang="en-US" sz="1600" dirty="0">
                <a:solidFill>
                  <a:srgbClr val="374151"/>
                </a:solidFill>
                <a:latin typeface="Arial" pitchFamily="34" charset="0"/>
                <a:ea typeface="Arial" pitchFamily="34" charset="-122"/>
                <a:cs typeface="Arial" pitchFamily="34" charset="-120"/>
              </a:rPr>
              <a:t>v</a:t>
            </a:r>
            <a:endParaRPr lang="en-US" sz="1600" dirty="0"/>
          </a:p>
        </p:txBody>
      </p:sp>
      <p:sp>
        <p:nvSpPr>
          <p:cNvPr id="20" name="Shape 18"/>
          <p:cNvSpPr/>
          <p:nvPr/>
        </p:nvSpPr>
        <p:spPr>
          <a:xfrm>
            <a:off x="3200400" y="3108960"/>
            <a:ext cx="2286000" cy="548640"/>
          </a:xfrm>
          <a:prstGeom prst="rect">
            <a:avLst/>
          </a:prstGeom>
          <a:solidFill>
            <a:srgbClr val="B91C1C"/>
          </a:solidFill>
          <a:ln/>
        </p:spPr>
      </p:sp>
      <p:sp>
        <p:nvSpPr>
          <p:cNvPr id="21" name="Text 19"/>
          <p:cNvSpPr/>
          <p:nvPr/>
        </p:nvSpPr>
        <p:spPr>
          <a:xfrm>
            <a:off x="3200400" y="3108960"/>
            <a:ext cx="2286000" cy="548640"/>
          </a:xfrm>
          <a:prstGeom prst="rect">
            <a:avLst/>
          </a:prstGeom>
          <a:noFill/>
          <a:ln/>
        </p:spPr>
        <p:txBody>
          <a:bodyPr wrap="square"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分配建议生成员</a:t>
            </a:r>
            <a:endParaRPr lang="en-US" sz="1300" dirty="0"/>
          </a:p>
        </p:txBody>
      </p:sp>
      <p:sp>
        <p:nvSpPr>
          <p:cNvPr id="22" name="Text 20"/>
          <p:cNvSpPr/>
          <p:nvPr/>
        </p:nvSpPr>
        <p:spPr>
          <a:xfrm>
            <a:off x="2286000" y="2697480"/>
            <a:ext cx="1828800" cy="274320"/>
          </a:xfrm>
          <a:prstGeom prst="rect">
            <a:avLst/>
          </a:prstGeom>
          <a:noFill/>
          <a:ln/>
        </p:spPr>
        <p:txBody>
          <a:bodyPr wrap="square" rtlCol="0" anchor="ctr"/>
          <a:lstStyle/>
          <a:p>
            <a:pPr algn="ctr" indent="0" marL="0">
              <a:buNone/>
            </a:pPr>
            <a:r>
              <a:rPr lang="en-US" sz="900" dirty="0">
                <a:solidFill>
                  <a:srgbClr val="374151"/>
                </a:solidFill>
                <a:latin typeface="Microsoft YaHei" pitchFamily="34" charset="0"/>
                <a:ea typeface="Microsoft YaHei" pitchFamily="34" charset="-122"/>
                <a:cs typeface="Microsoft YaHei" pitchFamily="34" charset="-120"/>
              </a:rPr>
              <a:t>（A级/B级线索）</a:t>
            </a:r>
            <a:endParaRPr lang="en-US" sz="900" dirty="0"/>
          </a:p>
        </p:txBody>
      </p:sp>
      <p:sp>
        <p:nvSpPr>
          <p:cNvPr id="23" name="Text 21"/>
          <p:cNvSpPr/>
          <p:nvPr/>
        </p:nvSpPr>
        <p:spPr>
          <a:xfrm>
            <a:off x="4846320" y="2697480"/>
            <a:ext cx="1828800" cy="274320"/>
          </a:xfrm>
          <a:prstGeom prst="rect">
            <a:avLst/>
          </a:prstGeom>
          <a:noFill/>
          <a:ln/>
        </p:spPr>
        <p:txBody>
          <a:bodyPr wrap="square" rtlCol="0" anchor="ctr"/>
          <a:lstStyle/>
          <a:p>
            <a:pPr algn="ctr" indent="0" marL="0">
              <a:buNone/>
            </a:pPr>
            <a:r>
              <a:rPr lang="en-US" sz="900" dirty="0">
                <a:solidFill>
                  <a:srgbClr val="374151"/>
                </a:solidFill>
                <a:latin typeface="Microsoft YaHei" pitchFamily="34" charset="0"/>
                <a:ea typeface="Microsoft YaHei" pitchFamily="34" charset="-122"/>
                <a:cs typeface="Microsoft YaHei" pitchFamily="34" charset="-120"/>
              </a:rPr>
              <a:t>（C级/D级线索）</a:t>
            </a:r>
            <a:endParaRPr lang="en-US" sz="900" dirty="0"/>
          </a:p>
        </p:txBody>
      </p:sp>
      <p:sp>
        <p:nvSpPr>
          <p:cNvPr id="24" name="Shape 22"/>
          <p:cNvSpPr/>
          <p:nvPr/>
        </p:nvSpPr>
        <p:spPr>
          <a:xfrm>
            <a:off x="457200" y="3931920"/>
            <a:ext cx="8229600" cy="822960"/>
          </a:xfrm>
          <a:prstGeom prst="rect">
            <a:avLst/>
          </a:prstGeom>
          <a:solidFill>
            <a:srgbClr val="F3F4F6"/>
          </a:solidFill>
          <a:ln/>
        </p:spPr>
      </p:sp>
      <p:sp>
        <p:nvSpPr>
          <p:cNvPr id="25" name="Text 23"/>
          <p:cNvSpPr/>
          <p:nvPr/>
        </p:nvSpPr>
        <p:spPr>
          <a:xfrm>
            <a:off x="640080" y="4114800"/>
            <a:ext cx="7863840" cy="457200"/>
          </a:xfrm>
          <a:prstGeom prst="rect">
            <a:avLst/>
          </a:prstGeom>
          <a:noFill/>
          <a:ln/>
        </p:spPr>
        <p:txBody>
          <a:bodyPr wrap="square" rtlCol="0" anchor="ctr"/>
          <a:lstStyle/>
          <a:p>
            <a:pPr indent="0" marL="0">
              <a:buNone/>
            </a:pPr>
            <a:r>
              <a:rPr lang="en-US" sz="1200" dirty="0">
                <a:solidFill>
                  <a:srgbClr val="374151"/>
                </a:solidFill>
                <a:latin typeface="Microsoft YaHei" pitchFamily="34" charset="0"/>
                <a:ea typeface="Microsoft YaHei" pitchFamily="34" charset="-122"/>
                <a:cs typeface="Microsoft YaHei" pitchFamily="34" charset="-120"/>
              </a:rPr>
              <a:t>协作模式组合：串行（线索标准化-&gt;评估-&gt;方案）+ 分支并行（A/B级vsC/D级处理）</a:t>
            </a:r>
            <a:endParaRPr lang="en-US" sz="1200" dirty="0"/>
          </a:p>
        </p:txBody>
      </p:sp>
      <p:sp>
        <p:nvSpPr>
          <p:cNvPr id="26" name="Text 24"/>
          <p:cNvSpPr/>
          <p:nvPr/>
        </p:nvSpPr>
        <p:spPr>
          <a:xfrm>
            <a:off x="8503920" y="4663440"/>
            <a:ext cx="457200" cy="274320"/>
          </a:xfrm>
          <a:prstGeom prst="rect">
            <a:avLst/>
          </a:prstGeom>
          <a:noFill/>
          <a:ln/>
        </p:spPr>
        <p:txBody>
          <a:bodyPr wrap="square" rtlCol="0" anchor="ctr"/>
          <a:lstStyle/>
          <a:p>
            <a:pPr algn="r" indent="0" marL="0">
              <a:buNone/>
            </a:pPr>
            <a:r>
              <a:rPr lang="en-US" sz="1000" dirty="0">
                <a:solidFill>
                  <a:srgbClr val="374151"/>
                </a:solidFill>
                <a:latin typeface="Arial" pitchFamily="34" charset="0"/>
                <a:ea typeface="Arial" pitchFamily="34" charset="-122"/>
                <a:cs typeface="Arial" pitchFamily="34" charset="-120"/>
              </a:rPr>
              <a:t>83</a:t>
            </a:r>
            <a:endParaRPr lang="en-US" sz="10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274320"/>
            <a:ext cx="8229600" cy="548640"/>
          </a:xfrm>
          <a:prstGeom prst="rect">
            <a:avLst/>
          </a:prstGeom>
          <a:noFill/>
          <a:ln/>
        </p:spPr>
        <p:txBody>
          <a:bodyPr wrap="square" rtlCol="0" anchor="ctr"/>
          <a:lstStyle/>
          <a:p>
            <a:pPr indent="0" marL="0">
              <a:buNone/>
            </a:pPr>
            <a:r>
              <a:rPr lang="en-US" sz="2400" b="1" dirty="0">
                <a:solidFill>
                  <a:srgbClr val="B91C1C"/>
                </a:solidFill>
                <a:latin typeface="Microsoft YaHei" pitchFamily="34" charset="0"/>
                <a:ea typeface="Microsoft YaHei" pitchFamily="34" charset="-122"/>
                <a:cs typeface="Microsoft YaHei" pitchFamily="34" charset="-120"/>
              </a:rPr>
              <a:t>观察与思考</a:t>
            </a:r>
            <a:endParaRPr lang="en-US" sz="2400" dirty="0"/>
          </a:p>
        </p:txBody>
      </p:sp>
      <p:sp>
        <p:nvSpPr>
          <p:cNvPr id="4" name="Shape 2"/>
          <p:cNvSpPr/>
          <p:nvPr/>
        </p:nvSpPr>
        <p:spPr>
          <a:xfrm>
            <a:off x="457200" y="1005840"/>
            <a:ext cx="8229600" cy="1005840"/>
          </a:xfrm>
          <a:prstGeom prst="rect">
            <a:avLst/>
          </a:prstGeom>
          <a:solidFill>
            <a:srgbClr val="F3F4F6"/>
          </a:solidFill>
          <a:ln w="12700">
            <a:solidFill>
              <a:srgbClr val="EF4444"/>
            </a:solidFill>
            <a:prstDash val="solid"/>
          </a:ln>
        </p:spPr>
      </p:sp>
      <p:sp>
        <p:nvSpPr>
          <p:cNvPr id="5" name="Shape 3"/>
          <p:cNvSpPr/>
          <p:nvPr/>
        </p:nvSpPr>
        <p:spPr>
          <a:xfrm>
            <a:off x="457200" y="1005840"/>
            <a:ext cx="457200" cy="1005840"/>
          </a:xfrm>
          <a:prstGeom prst="rect">
            <a:avLst/>
          </a:prstGeom>
          <a:solidFill>
            <a:srgbClr val="EF4444"/>
          </a:solidFill>
          <a:ln/>
        </p:spPr>
      </p:sp>
      <p:sp>
        <p:nvSpPr>
          <p:cNvPr id="6" name="Text 4"/>
          <p:cNvSpPr/>
          <p:nvPr/>
        </p:nvSpPr>
        <p:spPr>
          <a:xfrm>
            <a:off x="457200" y="1005840"/>
            <a:ext cx="457200" cy="1005840"/>
          </a:xfrm>
          <a:prstGeom prst="rect">
            <a:avLst/>
          </a:prstGeom>
          <a:noFill/>
          <a:ln/>
        </p:spPr>
        <p:txBody>
          <a:bodyPr wrap="square"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1</a:t>
            </a:r>
            <a:endParaRPr lang="en-US" sz="2400" dirty="0"/>
          </a:p>
        </p:txBody>
      </p:sp>
      <p:sp>
        <p:nvSpPr>
          <p:cNvPr id="7" name="Text 5"/>
          <p:cNvSpPr/>
          <p:nvPr/>
        </p:nvSpPr>
        <p:spPr>
          <a:xfrm>
            <a:off x="1097280" y="1188720"/>
            <a:ext cx="7315200" cy="640080"/>
          </a:xfrm>
          <a:prstGeom prst="rect">
            <a:avLst/>
          </a:prstGeom>
          <a:noFill/>
          <a:ln/>
        </p:spPr>
        <p:txBody>
          <a:bodyPr wrap="square" rtlCol="0" anchor="ctr"/>
          <a:lstStyle/>
          <a:p>
            <a:pPr indent="0" marL="0">
              <a:buNone/>
            </a:pPr>
            <a:r>
              <a:rPr lang="en-US" sz="1600" dirty="0">
                <a:solidFill>
                  <a:srgbClr val="B91C1C"/>
                </a:solidFill>
                <a:latin typeface="Microsoft YaHei" pitchFamily="34" charset="0"/>
                <a:ea typeface="Microsoft YaHei" pitchFamily="34" charset="-122"/>
                <a:cs typeface="Microsoft YaHei" pitchFamily="34" charset="-120"/>
              </a:rPr>
              <a:t>这个协作链里，哪些环节使用了串行？哪些环节使用了并行？</a:t>
            </a:r>
            <a:endParaRPr lang="en-US" sz="1600" dirty="0"/>
          </a:p>
        </p:txBody>
      </p:sp>
      <p:sp>
        <p:nvSpPr>
          <p:cNvPr id="8" name="Shape 6"/>
          <p:cNvSpPr/>
          <p:nvPr/>
        </p:nvSpPr>
        <p:spPr>
          <a:xfrm>
            <a:off x="457200" y="2194560"/>
            <a:ext cx="8229600" cy="1005840"/>
          </a:xfrm>
          <a:prstGeom prst="rect">
            <a:avLst/>
          </a:prstGeom>
          <a:solidFill>
            <a:srgbClr val="F3F4F6"/>
          </a:solidFill>
          <a:ln w="12700">
            <a:solidFill>
              <a:srgbClr val="EF4444"/>
            </a:solidFill>
            <a:prstDash val="solid"/>
          </a:ln>
        </p:spPr>
      </p:sp>
      <p:sp>
        <p:nvSpPr>
          <p:cNvPr id="9" name="Shape 7"/>
          <p:cNvSpPr/>
          <p:nvPr/>
        </p:nvSpPr>
        <p:spPr>
          <a:xfrm>
            <a:off x="457200" y="2194560"/>
            <a:ext cx="457200" cy="1005840"/>
          </a:xfrm>
          <a:prstGeom prst="rect">
            <a:avLst/>
          </a:prstGeom>
          <a:solidFill>
            <a:srgbClr val="EF4444"/>
          </a:solidFill>
          <a:ln/>
        </p:spPr>
      </p:sp>
      <p:sp>
        <p:nvSpPr>
          <p:cNvPr id="10" name="Text 8"/>
          <p:cNvSpPr/>
          <p:nvPr/>
        </p:nvSpPr>
        <p:spPr>
          <a:xfrm>
            <a:off x="457200" y="2194560"/>
            <a:ext cx="457200" cy="1005840"/>
          </a:xfrm>
          <a:prstGeom prst="rect">
            <a:avLst/>
          </a:prstGeom>
          <a:noFill/>
          <a:ln/>
        </p:spPr>
        <p:txBody>
          <a:bodyPr wrap="square"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2</a:t>
            </a:r>
            <a:endParaRPr lang="en-US" sz="2400" dirty="0"/>
          </a:p>
        </p:txBody>
      </p:sp>
      <p:sp>
        <p:nvSpPr>
          <p:cNvPr id="11" name="Text 9"/>
          <p:cNvSpPr/>
          <p:nvPr/>
        </p:nvSpPr>
        <p:spPr>
          <a:xfrm>
            <a:off x="1097280" y="2377440"/>
            <a:ext cx="7315200" cy="640080"/>
          </a:xfrm>
          <a:prstGeom prst="rect">
            <a:avLst/>
          </a:prstGeom>
          <a:noFill/>
          <a:ln/>
        </p:spPr>
        <p:txBody>
          <a:bodyPr wrap="square" rtlCol="0" anchor="ctr"/>
          <a:lstStyle/>
          <a:p>
            <a:pPr indent="0" marL="0">
              <a:buNone/>
            </a:pPr>
            <a:r>
              <a:rPr lang="en-US" sz="1600" dirty="0">
                <a:solidFill>
                  <a:srgbClr val="B91C1C"/>
                </a:solidFill>
                <a:latin typeface="Microsoft YaHei" pitchFamily="34" charset="0"/>
                <a:ea typeface="Microsoft YaHei" pitchFamily="34" charset="-122"/>
                <a:cs typeface="Microsoft YaHei" pitchFamily="34" charset="-120"/>
              </a:rPr>
              <a:t>如果把这5个Skill合并成1个，会出现什么问题？</a:t>
            </a:r>
            <a:endParaRPr lang="en-US" sz="1600" dirty="0"/>
          </a:p>
        </p:txBody>
      </p:sp>
      <p:sp>
        <p:nvSpPr>
          <p:cNvPr id="12" name="Shape 10"/>
          <p:cNvSpPr/>
          <p:nvPr/>
        </p:nvSpPr>
        <p:spPr>
          <a:xfrm>
            <a:off x="457200" y="3383280"/>
            <a:ext cx="8229600" cy="1005840"/>
          </a:xfrm>
          <a:prstGeom prst="rect">
            <a:avLst/>
          </a:prstGeom>
          <a:solidFill>
            <a:srgbClr val="F3F4F6"/>
          </a:solidFill>
          <a:ln w="12700">
            <a:solidFill>
              <a:srgbClr val="EF4444"/>
            </a:solidFill>
            <a:prstDash val="solid"/>
          </a:ln>
        </p:spPr>
      </p:sp>
      <p:sp>
        <p:nvSpPr>
          <p:cNvPr id="13" name="Shape 11"/>
          <p:cNvSpPr/>
          <p:nvPr/>
        </p:nvSpPr>
        <p:spPr>
          <a:xfrm>
            <a:off x="457200" y="3383280"/>
            <a:ext cx="457200" cy="1005840"/>
          </a:xfrm>
          <a:prstGeom prst="rect">
            <a:avLst/>
          </a:prstGeom>
          <a:solidFill>
            <a:srgbClr val="EF4444"/>
          </a:solidFill>
          <a:ln/>
        </p:spPr>
      </p:sp>
      <p:sp>
        <p:nvSpPr>
          <p:cNvPr id="14" name="Text 12"/>
          <p:cNvSpPr/>
          <p:nvPr/>
        </p:nvSpPr>
        <p:spPr>
          <a:xfrm>
            <a:off x="457200" y="3383280"/>
            <a:ext cx="457200" cy="1005840"/>
          </a:xfrm>
          <a:prstGeom prst="rect">
            <a:avLst/>
          </a:prstGeom>
          <a:noFill/>
          <a:ln/>
        </p:spPr>
        <p:txBody>
          <a:bodyPr wrap="square"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3</a:t>
            </a:r>
            <a:endParaRPr lang="en-US" sz="2400" dirty="0"/>
          </a:p>
        </p:txBody>
      </p:sp>
      <p:sp>
        <p:nvSpPr>
          <p:cNvPr id="15" name="Text 13"/>
          <p:cNvSpPr/>
          <p:nvPr/>
        </p:nvSpPr>
        <p:spPr>
          <a:xfrm>
            <a:off x="1097280" y="3566160"/>
            <a:ext cx="7315200" cy="640080"/>
          </a:xfrm>
          <a:prstGeom prst="rect">
            <a:avLst/>
          </a:prstGeom>
          <a:noFill/>
          <a:ln/>
        </p:spPr>
        <p:txBody>
          <a:bodyPr wrap="square" rtlCol="0" anchor="ctr"/>
          <a:lstStyle/>
          <a:p>
            <a:pPr indent="0" marL="0">
              <a:buNone/>
            </a:pPr>
            <a:r>
              <a:rPr lang="en-US" sz="1600" dirty="0">
                <a:solidFill>
                  <a:srgbClr val="B91C1C"/>
                </a:solidFill>
                <a:latin typeface="Microsoft YaHei" pitchFamily="34" charset="0"/>
                <a:ea typeface="Microsoft YaHei" pitchFamily="34" charset="-122"/>
                <a:cs typeface="Microsoft YaHei" pitchFamily="34" charset="-120"/>
              </a:rPr>
              <a:t>这个协作链里，哪个环节最可能是质量瓶颈？</a:t>
            </a:r>
            <a:endParaRPr lang="en-US" sz="1600" dirty="0"/>
          </a:p>
        </p:txBody>
      </p:sp>
      <p:sp>
        <p:nvSpPr>
          <p:cNvPr id="16" name="Text 14"/>
          <p:cNvSpPr/>
          <p:nvPr/>
        </p:nvSpPr>
        <p:spPr>
          <a:xfrm>
            <a:off x="8503920" y="4663440"/>
            <a:ext cx="457200" cy="274320"/>
          </a:xfrm>
          <a:prstGeom prst="rect">
            <a:avLst/>
          </a:prstGeom>
          <a:noFill/>
          <a:ln/>
        </p:spPr>
        <p:txBody>
          <a:bodyPr wrap="square" rtlCol="0" anchor="ctr"/>
          <a:lstStyle/>
          <a:p>
            <a:pPr algn="r" indent="0" marL="0">
              <a:buNone/>
            </a:pPr>
            <a:r>
              <a:rPr lang="en-US" sz="1000" dirty="0">
                <a:solidFill>
                  <a:srgbClr val="374151"/>
                </a:solidFill>
                <a:latin typeface="Arial" pitchFamily="34" charset="0"/>
                <a:ea typeface="Arial" pitchFamily="34" charset="-122"/>
                <a:cs typeface="Arial" pitchFamily="34" charset="-120"/>
              </a:rPr>
              <a:t>84</a:t>
            </a:r>
            <a:endParaRPr lang="en-US" sz="10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274320"/>
            <a:ext cx="8229600" cy="548640"/>
          </a:xfrm>
          <a:prstGeom prst="rect">
            <a:avLst/>
          </a:prstGeom>
          <a:noFill/>
          <a:ln/>
        </p:spPr>
        <p:txBody>
          <a:bodyPr wrap="square" rtlCol="0" anchor="ctr"/>
          <a:lstStyle/>
          <a:p>
            <a:pPr indent="0" marL="0">
              <a:buNone/>
            </a:pPr>
            <a:r>
              <a:rPr lang="en-US" sz="2400" b="1" dirty="0">
                <a:solidFill>
                  <a:srgbClr val="B91C1C"/>
                </a:solidFill>
                <a:latin typeface="Microsoft YaHei" pitchFamily="34" charset="0"/>
                <a:ea typeface="Microsoft YaHei" pitchFamily="34" charset="-122"/>
                <a:cs typeface="Microsoft YaHei" pitchFamily="34" charset="-120"/>
              </a:rPr>
              <a:t>接口设计原则</a:t>
            </a:r>
            <a:endParaRPr lang="en-US" sz="2400" dirty="0"/>
          </a:p>
        </p:txBody>
      </p:sp>
      <p:sp>
        <p:nvSpPr>
          <p:cNvPr id="4" name="Shape 2"/>
          <p:cNvSpPr/>
          <p:nvPr/>
        </p:nvSpPr>
        <p:spPr>
          <a:xfrm>
            <a:off x="457200" y="1005840"/>
            <a:ext cx="8229600" cy="1097280"/>
          </a:xfrm>
          <a:prstGeom prst="rect">
            <a:avLst/>
          </a:prstGeom>
          <a:solidFill>
            <a:srgbClr val="F3F4F6"/>
          </a:solidFill>
          <a:ln/>
        </p:spPr>
      </p:sp>
      <p:sp>
        <p:nvSpPr>
          <p:cNvPr id="5" name="Shape 3"/>
          <p:cNvSpPr/>
          <p:nvPr/>
        </p:nvSpPr>
        <p:spPr>
          <a:xfrm>
            <a:off x="457200" y="1005840"/>
            <a:ext cx="457200" cy="1097280"/>
          </a:xfrm>
          <a:prstGeom prst="rect">
            <a:avLst/>
          </a:prstGeom>
          <a:solidFill>
            <a:srgbClr val="EF4444"/>
          </a:solidFill>
          <a:ln/>
        </p:spPr>
      </p:sp>
      <p:sp>
        <p:nvSpPr>
          <p:cNvPr id="6" name="Text 4"/>
          <p:cNvSpPr/>
          <p:nvPr/>
        </p:nvSpPr>
        <p:spPr>
          <a:xfrm>
            <a:off x="457200" y="1005840"/>
            <a:ext cx="457200" cy="1097280"/>
          </a:xfrm>
          <a:prstGeom prst="rect">
            <a:avLst/>
          </a:prstGeom>
          <a:noFill/>
          <a:ln/>
        </p:spPr>
        <p:txBody>
          <a:bodyPr wrap="square"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1</a:t>
            </a:r>
            <a:endParaRPr lang="en-US" sz="2800" dirty="0"/>
          </a:p>
        </p:txBody>
      </p:sp>
      <p:sp>
        <p:nvSpPr>
          <p:cNvPr id="7" name="Text 5"/>
          <p:cNvSpPr/>
          <p:nvPr/>
        </p:nvSpPr>
        <p:spPr>
          <a:xfrm>
            <a:off x="1097280" y="1188720"/>
            <a:ext cx="7315200" cy="457200"/>
          </a:xfrm>
          <a:prstGeom prst="rect">
            <a:avLst/>
          </a:prstGeom>
          <a:noFill/>
          <a:ln/>
        </p:spPr>
        <p:txBody>
          <a:bodyPr wrap="square" rtlCol="0" anchor="ctr"/>
          <a:lstStyle/>
          <a:p>
            <a:pPr indent="0" marL="0">
              <a:buNone/>
            </a:pPr>
            <a:r>
              <a:rPr lang="en-US" sz="1600" b="1" dirty="0">
                <a:solidFill>
                  <a:srgbClr val="B91C1C"/>
                </a:solidFill>
                <a:latin typeface="Microsoft YaHei" pitchFamily="34" charset="0"/>
                <a:ea typeface="Microsoft YaHei" pitchFamily="34" charset="-122"/>
                <a:cs typeface="Microsoft YaHei" pitchFamily="34" charset="-120"/>
              </a:rPr>
              <a:t>字段名称与含义明确</a:t>
            </a:r>
            <a:endParaRPr lang="en-US" sz="1600" dirty="0"/>
          </a:p>
        </p:txBody>
      </p:sp>
      <p:sp>
        <p:nvSpPr>
          <p:cNvPr id="8" name="Text 6"/>
          <p:cNvSpPr/>
          <p:nvPr/>
        </p:nvSpPr>
        <p:spPr>
          <a:xfrm>
            <a:off x="1097280" y="1645920"/>
            <a:ext cx="7315200" cy="36576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A输出的字段名和B输入时引用的必须完全一致</a:t>
            </a:r>
            <a:endParaRPr lang="en-US" sz="1300" dirty="0"/>
          </a:p>
        </p:txBody>
      </p:sp>
      <p:sp>
        <p:nvSpPr>
          <p:cNvPr id="9" name="Shape 7"/>
          <p:cNvSpPr/>
          <p:nvPr/>
        </p:nvSpPr>
        <p:spPr>
          <a:xfrm>
            <a:off x="457200" y="2240280"/>
            <a:ext cx="8229600" cy="1097280"/>
          </a:xfrm>
          <a:prstGeom prst="rect">
            <a:avLst/>
          </a:prstGeom>
          <a:solidFill>
            <a:srgbClr val="F3F4F6"/>
          </a:solidFill>
          <a:ln/>
        </p:spPr>
      </p:sp>
      <p:sp>
        <p:nvSpPr>
          <p:cNvPr id="10" name="Shape 8"/>
          <p:cNvSpPr/>
          <p:nvPr/>
        </p:nvSpPr>
        <p:spPr>
          <a:xfrm>
            <a:off x="457200" y="2240280"/>
            <a:ext cx="457200" cy="1097280"/>
          </a:xfrm>
          <a:prstGeom prst="rect">
            <a:avLst/>
          </a:prstGeom>
          <a:solidFill>
            <a:srgbClr val="EF4444"/>
          </a:solidFill>
          <a:ln/>
        </p:spPr>
      </p:sp>
      <p:sp>
        <p:nvSpPr>
          <p:cNvPr id="11" name="Text 9"/>
          <p:cNvSpPr/>
          <p:nvPr/>
        </p:nvSpPr>
        <p:spPr>
          <a:xfrm>
            <a:off x="457200" y="2240280"/>
            <a:ext cx="457200" cy="1097280"/>
          </a:xfrm>
          <a:prstGeom prst="rect">
            <a:avLst/>
          </a:prstGeom>
          <a:noFill/>
          <a:ln/>
        </p:spPr>
        <p:txBody>
          <a:bodyPr wrap="square"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2</a:t>
            </a:r>
            <a:endParaRPr lang="en-US" sz="2800" dirty="0"/>
          </a:p>
        </p:txBody>
      </p:sp>
      <p:sp>
        <p:nvSpPr>
          <p:cNvPr id="12" name="Text 10"/>
          <p:cNvSpPr/>
          <p:nvPr/>
        </p:nvSpPr>
        <p:spPr>
          <a:xfrm>
            <a:off x="1097280" y="2423160"/>
            <a:ext cx="7315200" cy="457200"/>
          </a:xfrm>
          <a:prstGeom prst="rect">
            <a:avLst/>
          </a:prstGeom>
          <a:noFill/>
          <a:ln/>
        </p:spPr>
        <p:txBody>
          <a:bodyPr wrap="square" rtlCol="0" anchor="ctr"/>
          <a:lstStyle/>
          <a:p>
            <a:pPr indent="0" marL="0">
              <a:buNone/>
            </a:pPr>
            <a:r>
              <a:rPr lang="en-US" sz="1600" b="1" dirty="0">
                <a:solidFill>
                  <a:srgbClr val="B91C1C"/>
                </a:solidFill>
                <a:latin typeface="Microsoft YaHei" pitchFamily="34" charset="0"/>
                <a:ea typeface="Microsoft YaHei" pitchFamily="34" charset="-122"/>
                <a:cs typeface="Microsoft YaHei" pitchFamily="34" charset="-120"/>
              </a:rPr>
              <a:t>格式固定</a:t>
            </a:r>
            <a:endParaRPr lang="en-US" sz="1600" dirty="0"/>
          </a:p>
        </p:txBody>
      </p:sp>
      <p:sp>
        <p:nvSpPr>
          <p:cNvPr id="13" name="Text 11"/>
          <p:cNvSpPr/>
          <p:nvPr/>
        </p:nvSpPr>
        <p:spPr>
          <a:xfrm>
            <a:off x="1097280" y="2880360"/>
            <a:ext cx="7315200" cy="36576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接口字段必须是代码块、表格或固定格式，不能自由发挥</a:t>
            </a:r>
            <a:endParaRPr lang="en-US" sz="1300" dirty="0"/>
          </a:p>
        </p:txBody>
      </p:sp>
      <p:sp>
        <p:nvSpPr>
          <p:cNvPr id="14" name="Shape 12"/>
          <p:cNvSpPr/>
          <p:nvPr/>
        </p:nvSpPr>
        <p:spPr>
          <a:xfrm>
            <a:off x="457200" y="3474720"/>
            <a:ext cx="8229600" cy="1097280"/>
          </a:xfrm>
          <a:prstGeom prst="rect">
            <a:avLst/>
          </a:prstGeom>
          <a:solidFill>
            <a:srgbClr val="F3F4F6"/>
          </a:solidFill>
          <a:ln/>
        </p:spPr>
      </p:sp>
      <p:sp>
        <p:nvSpPr>
          <p:cNvPr id="15" name="Shape 13"/>
          <p:cNvSpPr/>
          <p:nvPr/>
        </p:nvSpPr>
        <p:spPr>
          <a:xfrm>
            <a:off x="457200" y="3474720"/>
            <a:ext cx="457200" cy="1097280"/>
          </a:xfrm>
          <a:prstGeom prst="rect">
            <a:avLst/>
          </a:prstGeom>
          <a:solidFill>
            <a:srgbClr val="EF4444"/>
          </a:solidFill>
          <a:ln/>
        </p:spPr>
      </p:sp>
      <p:sp>
        <p:nvSpPr>
          <p:cNvPr id="16" name="Text 14"/>
          <p:cNvSpPr/>
          <p:nvPr/>
        </p:nvSpPr>
        <p:spPr>
          <a:xfrm>
            <a:off x="457200" y="3474720"/>
            <a:ext cx="457200" cy="1097280"/>
          </a:xfrm>
          <a:prstGeom prst="rect">
            <a:avLst/>
          </a:prstGeom>
          <a:noFill/>
          <a:ln/>
        </p:spPr>
        <p:txBody>
          <a:bodyPr wrap="square"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3</a:t>
            </a:r>
            <a:endParaRPr lang="en-US" sz="2800" dirty="0"/>
          </a:p>
        </p:txBody>
      </p:sp>
      <p:sp>
        <p:nvSpPr>
          <p:cNvPr id="17" name="Text 15"/>
          <p:cNvSpPr/>
          <p:nvPr/>
        </p:nvSpPr>
        <p:spPr>
          <a:xfrm>
            <a:off x="1097280" y="3657600"/>
            <a:ext cx="7315200" cy="457200"/>
          </a:xfrm>
          <a:prstGeom prst="rect">
            <a:avLst/>
          </a:prstGeom>
          <a:noFill/>
          <a:ln/>
        </p:spPr>
        <p:txBody>
          <a:bodyPr wrap="square" rtlCol="0" anchor="ctr"/>
          <a:lstStyle/>
          <a:p>
            <a:pPr indent="0" marL="0">
              <a:buNone/>
            </a:pPr>
            <a:r>
              <a:rPr lang="en-US" sz="1600" b="1" dirty="0">
                <a:solidFill>
                  <a:srgbClr val="B91C1C"/>
                </a:solidFill>
                <a:latin typeface="Microsoft YaHei" pitchFamily="34" charset="0"/>
                <a:ea typeface="Microsoft YaHei" pitchFamily="34" charset="-122"/>
                <a:cs typeface="Microsoft YaHei" pitchFamily="34" charset="-120"/>
              </a:rPr>
              <a:t>包含下游全部所需信息</a:t>
            </a:r>
            <a:endParaRPr lang="en-US" sz="1600" dirty="0"/>
          </a:p>
        </p:txBody>
      </p:sp>
      <p:sp>
        <p:nvSpPr>
          <p:cNvPr id="18" name="Text 16"/>
          <p:cNvSpPr/>
          <p:nvPr/>
        </p:nvSpPr>
        <p:spPr>
          <a:xfrm>
            <a:off x="1097280" y="4114800"/>
            <a:ext cx="7315200" cy="36576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上游输出必须包含下游需要的所有字段</a:t>
            </a:r>
            <a:endParaRPr lang="en-US" sz="1300" dirty="0"/>
          </a:p>
        </p:txBody>
      </p:sp>
      <p:sp>
        <p:nvSpPr>
          <p:cNvPr id="19" name="Text 17"/>
          <p:cNvSpPr/>
          <p:nvPr/>
        </p:nvSpPr>
        <p:spPr>
          <a:xfrm>
            <a:off x="8503920" y="4663440"/>
            <a:ext cx="457200" cy="274320"/>
          </a:xfrm>
          <a:prstGeom prst="rect">
            <a:avLst/>
          </a:prstGeom>
          <a:noFill/>
          <a:ln/>
        </p:spPr>
        <p:txBody>
          <a:bodyPr wrap="square" rtlCol="0" anchor="ctr"/>
          <a:lstStyle/>
          <a:p>
            <a:pPr algn="r" indent="0" marL="0">
              <a:buNone/>
            </a:pPr>
            <a:r>
              <a:rPr lang="en-US" sz="1000" dirty="0">
                <a:solidFill>
                  <a:srgbClr val="374151"/>
                </a:solidFill>
                <a:latin typeface="Arial" pitchFamily="34" charset="0"/>
                <a:ea typeface="Arial" pitchFamily="34" charset="-122"/>
                <a:cs typeface="Arial" pitchFamily="34" charset="-120"/>
              </a:rPr>
              <a:t>85</a:t>
            </a:r>
            <a:endParaRPr lang="en-US" sz="10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274320"/>
            <a:ext cx="8229600" cy="548640"/>
          </a:xfrm>
          <a:prstGeom prst="rect">
            <a:avLst/>
          </a:prstGeom>
          <a:noFill/>
          <a:ln/>
        </p:spPr>
        <p:txBody>
          <a:bodyPr wrap="square" rtlCol="0" anchor="ctr"/>
          <a:lstStyle/>
          <a:p>
            <a:pPr indent="0" marL="0">
              <a:buNone/>
            </a:pPr>
            <a:r>
              <a:rPr lang="en-US" sz="2400" b="1" dirty="0">
                <a:solidFill>
                  <a:srgbClr val="B91C1C"/>
                </a:solidFill>
                <a:latin typeface="Microsoft YaHei" pitchFamily="34" charset="0"/>
                <a:ea typeface="Microsoft YaHei" pitchFamily="34" charset="-122"/>
                <a:cs typeface="Microsoft YaHei" pitchFamily="34" charset="-120"/>
              </a:rPr>
              <a:t>常见错误</a:t>
            </a:r>
            <a:endParaRPr lang="en-US" sz="2400" dirty="0"/>
          </a:p>
        </p:txBody>
      </p:sp>
      <p:sp>
        <p:nvSpPr>
          <p:cNvPr id="4" name="Shape 2"/>
          <p:cNvSpPr/>
          <p:nvPr/>
        </p:nvSpPr>
        <p:spPr>
          <a:xfrm>
            <a:off x="457200" y="1005840"/>
            <a:ext cx="8229600" cy="2011680"/>
          </a:xfrm>
          <a:prstGeom prst="rect">
            <a:avLst/>
          </a:prstGeom>
          <a:solidFill>
            <a:srgbClr val="FEF2F2"/>
          </a:solidFill>
          <a:ln w="25400">
            <a:solidFill>
              <a:srgbClr val="EF4444"/>
            </a:solidFill>
            <a:prstDash val="solid"/>
          </a:ln>
        </p:spPr>
      </p:sp>
      <p:sp>
        <p:nvSpPr>
          <p:cNvPr id="5" name="Text 3"/>
          <p:cNvSpPr/>
          <p:nvPr/>
        </p:nvSpPr>
        <p:spPr>
          <a:xfrm>
            <a:off x="640080" y="1188720"/>
            <a:ext cx="457200" cy="457200"/>
          </a:xfrm>
          <a:prstGeom prst="rect">
            <a:avLst/>
          </a:prstGeom>
          <a:noFill/>
          <a:ln/>
        </p:spPr>
        <p:txBody>
          <a:bodyPr wrap="square" rtlCol="0" anchor="ctr"/>
          <a:lstStyle/>
          <a:p>
            <a:pPr algn="ctr" indent="0" marL="0">
              <a:buNone/>
            </a:pPr>
            <a:r>
              <a:rPr lang="en-US" sz="2800" b="1" dirty="0">
                <a:solidFill>
                  <a:srgbClr val="EF4444"/>
                </a:solidFill>
                <a:latin typeface="Arial" pitchFamily="34" charset="0"/>
                <a:ea typeface="Arial" pitchFamily="34" charset="-122"/>
                <a:cs typeface="Arial" pitchFamily="34" charset="-120"/>
              </a:rPr>
              <a:t>!</a:t>
            </a:r>
            <a:endParaRPr lang="en-US" sz="2800" dirty="0"/>
          </a:p>
        </p:txBody>
      </p:sp>
      <p:sp>
        <p:nvSpPr>
          <p:cNvPr id="6" name="Text 4"/>
          <p:cNvSpPr/>
          <p:nvPr/>
        </p:nvSpPr>
        <p:spPr>
          <a:xfrm>
            <a:off x="1188720" y="1188720"/>
            <a:ext cx="7223760" cy="914400"/>
          </a:xfrm>
          <a:prstGeom prst="rect">
            <a:avLst/>
          </a:prstGeom>
          <a:noFill/>
          <a:ln/>
        </p:spPr>
        <p:txBody>
          <a:bodyPr wrap="square" rtlCol="0" anchor="ctr"/>
          <a:lstStyle/>
          <a:p>
            <a:pPr indent="0" marL="0">
              <a:buNone/>
            </a:pPr>
            <a:r>
              <a:rPr lang="en-US" sz="1500" dirty="0">
                <a:solidFill>
                  <a:srgbClr val="B91C1C"/>
                </a:solidFill>
                <a:latin typeface="Microsoft YaHei" pitchFamily="34" charset="0"/>
                <a:ea typeface="Microsoft YaHei" pitchFamily="34" charset="-122"/>
                <a:cs typeface="Microsoft YaHei" pitchFamily="34" charset="-120"/>
              </a:rPr>
              <a:t>在上游Skill里把"简洁"当美德，输出很精炼，但下游需要的关键字段被省掉了，导致下游只能"大意理解"，产生误差累积。</a:t>
            </a:r>
            <a:endParaRPr lang="en-US" sz="1500" dirty="0"/>
          </a:p>
        </p:txBody>
      </p:sp>
      <p:sp>
        <p:nvSpPr>
          <p:cNvPr id="7" name="Text 5"/>
          <p:cNvSpPr/>
          <p:nvPr/>
        </p:nvSpPr>
        <p:spPr>
          <a:xfrm>
            <a:off x="4114800" y="2194560"/>
            <a:ext cx="914400" cy="457200"/>
          </a:xfrm>
          <a:prstGeom prst="rect">
            <a:avLst/>
          </a:prstGeom>
          <a:noFill/>
          <a:ln/>
        </p:spPr>
        <p:txBody>
          <a:bodyPr wrap="square" rtlCol="0" anchor="ctr"/>
          <a:lstStyle/>
          <a:p>
            <a:pPr algn="ctr" indent="0" marL="0">
              <a:buNone/>
            </a:pPr>
            <a:r>
              <a:rPr lang="en-US" sz="2400" dirty="0">
                <a:solidFill>
                  <a:srgbClr val="EF4444"/>
                </a:solidFill>
                <a:latin typeface="Arial" pitchFamily="34" charset="0"/>
                <a:ea typeface="Arial" pitchFamily="34" charset="-122"/>
                <a:cs typeface="Arial" pitchFamily="34" charset="-120"/>
              </a:rPr>
              <a:t>-&gt;</a:t>
            </a:r>
            <a:endParaRPr lang="en-US" sz="2400" dirty="0"/>
          </a:p>
        </p:txBody>
      </p:sp>
      <p:sp>
        <p:nvSpPr>
          <p:cNvPr id="8" name="Shape 6"/>
          <p:cNvSpPr/>
          <p:nvPr/>
        </p:nvSpPr>
        <p:spPr>
          <a:xfrm>
            <a:off x="457200" y="3200400"/>
            <a:ext cx="8229600" cy="1188720"/>
          </a:xfrm>
          <a:prstGeom prst="rect">
            <a:avLst/>
          </a:prstGeom>
          <a:solidFill>
            <a:srgbClr val="F3F4F6"/>
          </a:solidFill>
          <a:ln/>
        </p:spPr>
      </p:sp>
      <p:sp>
        <p:nvSpPr>
          <p:cNvPr id="9" name="Text 7"/>
          <p:cNvSpPr/>
          <p:nvPr/>
        </p:nvSpPr>
        <p:spPr>
          <a:xfrm>
            <a:off x="640080" y="3337560"/>
            <a:ext cx="1828800" cy="365760"/>
          </a:xfrm>
          <a:prstGeom prst="rect">
            <a:avLst/>
          </a:prstGeom>
          <a:noFill/>
          <a:ln/>
        </p:spPr>
        <p:txBody>
          <a:bodyPr wrap="square" rtlCol="0" anchor="ctr"/>
          <a:lstStyle/>
          <a:p>
            <a:pPr indent="0" marL="0">
              <a:buNone/>
            </a:pPr>
            <a:r>
              <a:rPr lang="en-US" sz="1400" b="1" dirty="0">
                <a:solidFill>
                  <a:srgbClr val="EF4444"/>
                </a:solidFill>
                <a:latin typeface="Microsoft YaHei" pitchFamily="34" charset="0"/>
                <a:ea typeface="Microsoft YaHei" pitchFamily="34" charset="-122"/>
                <a:cs typeface="Microsoft YaHei" pitchFamily="34" charset="-120"/>
              </a:rPr>
              <a:t>正确做法</a:t>
            </a:r>
            <a:endParaRPr lang="en-US" sz="1400" dirty="0"/>
          </a:p>
        </p:txBody>
      </p:sp>
      <p:sp>
        <p:nvSpPr>
          <p:cNvPr id="10" name="Text 8"/>
          <p:cNvSpPr/>
          <p:nvPr/>
        </p:nvSpPr>
        <p:spPr>
          <a:xfrm>
            <a:off x="640080" y="3749040"/>
            <a:ext cx="7772400" cy="457200"/>
          </a:xfrm>
          <a:prstGeom prst="rect">
            <a:avLst/>
          </a:prstGeom>
          <a:noFill/>
          <a:ln/>
        </p:spPr>
        <p:txBody>
          <a:bodyPr wrap="square" rtlCol="0" anchor="ctr"/>
          <a:lstStyle/>
          <a:p>
            <a:pPr indent="0" marL="0">
              <a:buNone/>
            </a:pPr>
            <a:r>
              <a:rPr lang="en-US" sz="1600" b="1" dirty="0">
                <a:solidFill>
                  <a:srgbClr val="B91C1C"/>
                </a:solidFill>
                <a:latin typeface="Microsoft YaHei" pitchFamily="34" charset="0"/>
                <a:ea typeface="Microsoft YaHei" pitchFamily="34" charset="-122"/>
                <a:cs typeface="Microsoft YaHei" pitchFamily="34" charset="-120"/>
              </a:rPr>
              <a:t>宁可上游输出稍微冗余，也不要让下游信息不足</a:t>
            </a:r>
            <a:endParaRPr lang="en-US" sz="1600" dirty="0"/>
          </a:p>
        </p:txBody>
      </p:sp>
      <p:sp>
        <p:nvSpPr>
          <p:cNvPr id="11" name="Text 9"/>
          <p:cNvSpPr/>
          <p:nvPr/>
        </p:nvSpPr>
        <p:spPr>
          <a:xfrm>
            <a:off x="8503920" y="4663440"/>
            <a:ext cx="457200" cy="274320"/>
          </a:xfrm>
          <a:prstGeom prst="rect">
            <a:avLst/>
          </a:prstGeom>
          <a:noFill/>
          <a:ln/>
        </p:spPr>
        <p:txBody>
          <a:bodyPr wrap="square" rtlCol="0" anchor="ctr"/>
          <a:lstStyle/>
          <a:p>
            <a:pPr algn="r" indent="0" marL="0">
              <a:buNone/>
            </a:pPr>
            <a:r>
              <a:rPr lang="en-US" sz="1000" dirty="0">
                <a:solidFill>
                  <a:srgbClr val="374151"/>
                </a:solidFill>
                <a:latin typeface="Arial" pitchFamily="34" charset="0"/>
                <a:ea typeface="Arial" pitchFamily="34" charset="-122"/>
                <a:cs typeface="Arial" pitchFamily="34" charset="-120"/>
              </a:rPr>
              <a:t>86</a:t>
            </a:r>
            <a:endParaRPr lang="en-US" sz="10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274320"/>
            <a:ext cx="8229600" cy="548640"/>
          </a:xfrm>
          <a:prstGeom prst="rect">
            <a:avLst/>
          </a:prstGeom>
          <a:noFill/>
          <a:ln/>
        </p:spPr>
        <p:txBody>
          <a:bodyPr wrap="square" rtlCol="0" anchor="ctr"/>
          <a:lstStyle/>
          <a:p>
            <a:pPr indent="0" marL="0">
              <a:buNone/>
            </a:pPr>
            <a:r>
              <a:rPr lang="en-US" sz="2200" b="1" dirty="0">
                <a:solidFill>
                  <a:srgbClr val="B91C1C"/>
                </a:solidFill>
                <a:latin typeface="Microsoft YaHei" pitchFamily="34" charset="0"/>
                <a:ea typeface="Microsoft YaHei" pitchFamily="34" charset="-122"/>
                <a:cs typeface="Microsoft YaHei" pitchFamily="34" charset="-120"/>
              </a:rPr>
              <a:t>练习九：设计你的多Skill协作方案图</a:t>
            </a:r>
            <a:endParaRPr lang="en-US" sz="2200" dirty="0"/>
          </a:p>
        </p:txBody>
      </p:sp>
      <p:sp>
        <p:nvSpPr>
          <p:cNvPr id="4" name="Shape 2"/>
          <p:cNvSpPr/>
          <p:nvPr/>
        </p:nvSpPr>
        <p:spPr>
          <a:xfrm>
            <a:off x="457200" y="1005840"/>
            <a:ext cx="8229600" cy="2926080"/>
          </a:xfrm>
          <a:prstGeom prst="rect">
            <a:avLst/>
          </a:prstGeom>
          <a:solidFill>
            <a:srgbClr val="F3F4F6"/>
          </a:solidFill>
          <a:ln/>
        </p:spPr>
      </p:sp>
      <p:sp>
        <p:nvSpPr>
          <p:cNvPr id="5" name="Text 3"/>
          <p:cNvSpPr/>
          <p:nvPr/>
        </p:nvSpPr>
        <p:spPr>
          <a:xfrm>
            <a:off x="640080" y="1188720"/>
            <a:ext cx="1828800" cy="457200"/>
          </a:xfrm>
          <a:prstGeom prst="rect">
            <a:avLst/>
          </a:prstGeom>
          <a:noFill/>
          <a:ln/>
        </p:spPr>
        <p:txBody>
          <a:bodyPr wrap="square" rtlCol="0" anchor="ctr"/>
          <a:lstStyle/>
          <a:p>
            <a:pPr indent="0" marL="0">
              <a:buNone/>
            </a:pPr>
            <a:r>
              <a:rPr lang="en-US" sz="1600" b="1" dirty="0">
                <a:solidFill>
                  <a:srgbClr val="EF4444"/>
                </a:solidFill>
                <a:latin typeface="Microsoft YaHei" pitchFamily="34" charset="0"/>
                <a:ea typeface="Microsoft YaHei" pitchFamily="34" charset="-122"/>
                <a:cs typeface="Microsoft YaHei" pitchFamily="34" charset="-120"/>
              </a:rPr>
              <a:t>练习要求</a:t>
            </a:r>
            <a:endParaRPr lang="en-US" sz="1600" dirty="0"/>
          </a:p>
        </p:txBody>
      </p:sp>
      <p:sp>
        <p:nvSpPr>
          <p:cNvPr id="6" name="Shape 4"/>
          <p:cNvSpPr/>
          <p:nvPr/>
        </p:nvSpPr>
        <p:spPr>
          <a:xfrm>
            <a:off x="822960" y="1828800"/>
            <a:ext cx="137160" cy="137160"/>
          </a:xfrm>
          <a:prstGeom prst="ellipse">
            <a:avLst/>
          </a:prstGeom>
          <a:solidFill>
            <a:srgbClr val="EF4444"/>
          </a:solidFill>
          <a:ln/>
        </p:spPr>
      </p:sp>
      <p:sp>
        <p:nvSpPr>
          <p:cNvPr id="7" name="Text 5"/>
          <p:cNvSpPr/>
          <p:nvPr/>
        </p:nvSpPr>
        <p:spPr>
          <a:xfrm>
            <a:off x="1097280" y="1737360"/>
            <a:ext cx="6858000" cy="457200"/>
          </a:xfrm>
          <a:prstGeom prst="rect">
            <a:avLst/>
          </a:prstGeom>
          <a:noFill/>
          <a:ln/>
        </p:spPr>
        <p:txBody>
          <a:bodyPr wrap="square" rtlCol="0" anchor="ctr"/>
          <a:lstStyle/>
          <a:p>
            <a:pPr indent="0" marL="0">
              <a:buNone/>
            </a:pPr>
            <a:r>
              <a:rPr lang="en-US" sz="1500" dirty="0">
                <a:solidFill>
                  <a:srgbClr val="374151"/>
                </a:solidFill>
                <a:latin typeface="Microsoft YaHei" pitchFamily="34" charset="0"/>
                <a:ea typeface="Microsoft YaHei" pitchFamily="34" charset="-122"/>
                <a:cs typeface="Microsoft YaHei" pitchFamily="34" charset="-120"/>
              </a:rPr>
              <a:t>基于两个已完成Skill</a:t>
            </a:r>
            <a:endParaRPr lang="en-US" sz="1500" dirty="0"/>
          </a:p>
        </p:txBody>
      </p:sp>
      <p:sp>
        <p:nvSpPr>
          <p:cNvPr id="8" name="Shape 6"/>
          <p:cNvSpPr/>
          <p:nvPr/>
        </p:nvSpPr>
        <p:spPr>
          <a:xfrm>
            <a:off x="822960" y="2377440"/>
            <a:ext cx="137160" cy="137160"/>
          </a:xfrm>
          <a:prstGeom prst="ellipse">
            <a:avLst/>
          </a:prstGeom>
          <a:solidFill>
            <a:srgbClr val="EF4444"/>
          </a:solidFill>
          <a:ln/>
        </p:spPr>
      </p:sp>
      <p:sp>
        <p:nvSpPr>
          <p:cNvPr id="9" name="Text 7"/>
          <p:cNvSpPr/>
          <p:nvPr/>
        </p:nvSpPr>
        <p:spPr>
          <a:xfrm>
            <a:off x="1097280" y="2286000"/>
            <a:ext cx="6858000" cy="457200"/>
          </a:xfrm>
          <a:prstGeom prst="rect">
            <a:avLst/>
          </a:prstGeom>
          <a:noFill/>
          <a:ln/>
        </p:spPr>
        <p:txBody>
          <a:bodyPr wrap="square" rtlCol="0" anchor="ctr"/>
          <a:lstStyle/>
          <a:p>
            <a:pPr indent="0" marL="0">
              <a:buNone/>
            </a:pPr>
            <a:r>
              <a:rPr lang="en-US" sz="1500" dirty="0">
                <a:solidFill>
                  <a:srgbClr val="374151"/>
                </a:solidFill>
                <a:latin typeface="Microsoft YaHei" pitchFamily="34" charset="0"/>
                <a:ea typeface="Microsoft YaHei" pitchFamily="34" charset="-122"/>
                <a:cs typeface="Microsoft YaHei" pitchFamily="34" charset="-120"/>
              </a:rPr>
              <a:t>设计完整的数字员工协作体系图</a:t>
            </a:r>
            <a:endParaRPr lang="en-US" sz="1500" dirty="0"/>
          </a:p>
        </p:txBody>
      </p:sp>
      <p:sp>
        <p:nvSpPr>
          <p:cNvPr id="10" name="Shape 8"/>
          <p:cNvSpPr/>
          <p:nvPr/>
        </p:nvSpPr>
        <p:spPr>
          <a:xfrm>
            <a:off x="822960" y="2926080"/>
            <a:ext cx="137160" cy="137160"/>
          </a:xfrm>
          <a:prstGeom prst="ellipse">
            <a:avLst/>
          </a:prstGeom>
          <a:solidFill>
            <a:srgbClr val="EF4444"/>
          </a:solidFill>
          <a:ln/>
        </p:spPr>
      </p:sp>
      <p:sp>
        <p:nvSpPr>
          <p:cNvPr id="11" name="Text 9"/>
          <p:cNvSpPr/>
          <p:nvPr/>
        </p:nvSpPr>
        <p:spPr>
          <a:xfrm>
            <a:off x="1097280" y="2834640"/>
            <a:ext cx="6858000" cy="457200"/>
          </a:xfrm>
          <a:prstGeom prst="rect">
            <a:avLst/>
          </a:prstGeom>
          <a:noFill/>
          <a:ln/>
        </p:spPr>
        <p:txBody>
          <a:bodyPr wrap="square" rtlCol="0" anchor="ctr"/>
          <a:lstStyle/>
          <a:p>
            <a:pPr indent="0" marL="0">
              <a:buNone/>
            </a:pPr>
            <a:r>
              <a:rPr lang="en-US" sz="1500" dirty="0">
                <a:solidFill>
                  <a:srgbClr val="374151"/>
                </a:solidFill>
                <a:latin typeface="Microsoft YaHei" pitchFamily="34" charset="0"/>
                <a:ea typeface="Microsoft YaHei" pitchFamily="34" charset="-122"/>
                <a:cs typeface="Microsoft YaHei" pitchFamily="34" charset="-120"/>
              </a:rPr>
              <a:t>给自己25分钟</a:t>
            </a:r>
            <a:endParaRPr lang="en-US" sz="1500" dirty="0"/>
          </a:p>
        </p:txBody>
      </p:sp>
      <p:sp>
        <p:nvSpPr>
          <p:cNvPr id="12" name="Shape 10"/>
          <p:cNvSpPr/>
          <p:nvPr/>
        </p:nvSpPr>
        <p:spPr>
          <a:xfrm>
            <a:off x="640080" y="3474720"/>
            <a:ext cx="7772400" cy="365760"/>
          </a:xfrm>
          <a:prstGeom prst="rect">
            <a:avLst/>
          </a:prstGeom>
          <a:solidFill>
            <a:srgbClr val="EF4444"/>
          </a:solidFill>
          <a:ln/>
        </p:spPr>
      </p:sp>
      <p:sp>
        <p:nvSpPr>
          <p:cNvPr id="13" name="Text 11"/>
          <p:cNvSpPr/>
          <p:nvPr/>
        </p:nvSpPr>
        <p:spPr>
          <a:xfrm>
            <a:off x="731520" y="3474720"/>
            <a:ext cx="7589520" cy="365760"/>
          </a:xfrm>
          <a:prstGeom prst="rect">
            <a:avLst/>
          </a:prstGeom>
          <a:noFill/>
          <a:ln/>
        </p:spPr>
        <p:txBody>
          <a:bodyPr wrap="square" rtlCol="0" anchor="ctr"/>
          <a:lstStyle/>
          <a:p>
            <a:pPr indent="0" marL="0">
              <a:buNone/>
            </a:pPr>
            <a:r>
              <a:rPr lang="en-US" sz="1300" b="1" dirty="0">
                <a:solidFill>
                  <a:srgbClr val="FFFFFF"/>
                </a:solidFill>
                <a:latin typeface="Microsoft YaHei" pitchFamily="34" charset="0"/>
                <a:ea typeface="Microsoft YaHei" pitchFamily="34" charset="-122"/>
                <a:cs typeface="Microsoft YaHei" pitchFamily="34" charset="-120"/>
              </a:rPr>
              <a:t>思考：哪些环节串行？哪些并行？是否有监控场景？</a:t>
            </a:r>
            <a:endParaRPr lang="en-US" sz="1300" dirty="0"/>
          </a:p>
        </p:txBody>
      </p:sp>
      <p:sp>
        <p:nvSpPr>
          <p:cNvPr id="14" name="Text 12"/>
          <p:cNvSpPr/>
          <p:nvPr/>
        </p:nvSpPr>
        <p:spPr>
          <a:xfrm>
            <a:off x="8503920" y="4663440"/>
            <a:ext cx="457200" cy="274320"/>
          </a:xfrm>
          <a:prstGeom prst="rect">
            <a:avLst/>
          </a:prstGeom>
          <a:noFill/>
          <a:ln/>
        </p:spPr>
        <p:txBody>
          <a:bodyPr wrap="square" rtlCol="0" anchor="ctr"/>
          <a:lstStyle/>
          <a:p>
            <a:pPr algn="r" indent="0" marL="0">
              <a:buNone/>
            </a:pPr>
            <a:r>
              <a:rPr lang="en-US" sz="1000" dirty="0">
                <a:solidFill>
                  <a:srgbClr val="374151"/>
                </a:solidFill>
                <a:latin typeface="Arial" pitchFamily="34" charset="0"/>
                <a:ea typeface="Arial" pitchFamily="34" charset="-122"/>
                <a:cs typeface="Arial" pitchFamily="34" charset="-120"/>
              </a:rPr>
              <a:t>87</a:t>
            </a:r>
            <a:endParaRPr lang="en-US" sz="10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B91C1C"/>
        </a:solidFill>
      </p:bgPr>
    </p:bg>
    <p:spTree>
      <p:nvGrpSpPr>
        <p:cNvPr id="1" name=""/>
        <p:cNvGrpSpPr/>
        <p:nvPr/>
      </p:nvGrpSpPr>
      <p:grpSpPr>
        <a:xfrm>
          <a:off x="0" y="0"/>
          <a:ext cx="0" cy="0"/>
          <a:chOff x="0" y="0"/>
          <a:chExt cx="0" cy="0"/>
        </a:xfrm>
      </p:grpSpPr>
      <p:sp>
        <p:nvSpPr>
          <p:cNvPr id="2" name="Shape 0"/>
          <p:cNvSpPr/>
          <p:nvPr/>
        </p:nvSpPr>
        <p:spPr>
          <a:xfrm>
            <a:off x="0" y="2286000"/>
            <a:ext cx="137160" cy="1371600"/>
          </a:xfrm>
          <a:prstGeom prst="rect">
            <a:avLst/>
          </a:prstGeom>
          <a:solidFill>
            <a:srgbClr val="EF4444"/>
          </a:solidFill>
          <a:ln/>
        </p:spPr>
      </p:sp>
      <p:sp>
        <p:nvSpPr>
          <p:cNvPr id="3" name="Text 1"/>
          <p:cNvSpPr/>
          <p:nvPr/>
        </p:nvSpPr>
        <p:spPr>
          <a:xfrm>
            <a:off x="548640" y="1645920"/>
            <a:ext cx="2743200" cy="457200"/>
          </a:xfrm>
          <a:prstGeom prst="rect">
            <a:avLst/>
          </a:prstGeom>
          <a:noFill/>
          <a:ln/>
        </p:spPr>
        <p:txBody>
          <a:bodyPr wrap="square" rtlCol="0" anchor="ctr"/>
          <a:lstStyle/>
          <a:p>
            <a:pPr indent="0" marL="0">
              <a:buNone/>
            </a:pPr>
            <a:r>
              <a:rPr lang="en-US" sz="1400" spc="400" kern="0" dirty="0">
                <a:solidFill>
                  <a:srgbClr val="F3F4F6"/>
                </a:solidFill>
                <a:latin typeface="Arial" pitchFamily="34" charset="0"/>
                <a:ea typeface="Arial" pitchFamily="34" charset="-122"/>
                <a:cs typeface="Arial" pitchFamily="34" charset="-120"/>
              </a:rPr>
              <a:t>PART 5 - 09</a:t>
            </a:r>
            <a:endParaRPr lang="en-US" sz="1400" dirty="0"/>
          </a:p>
        </p:txBody>
      </p:sp>
      <p:sp>
        <p:nvSpPr>
          <p:cNvPr id="4" name="Text 2"/>
          <p:cNvSpPr/>
          <p:nvPr/>
        </p:nvSpPr>
        <p:spPr>
          <a:xfrm>
            <a:off x="548640" y="2286000"/>
            <a:ext cx="7315200" cy="731520"/>
          </a:xfrm>
          <a:prstGeom prst="rect">
            <a:avLst/>
          </a:prstGeom>
          <a:noFill/>
          <a:ln/>
        </p:spPr>
        <p:txBody>
          <a:bodyPr wrap="square" rtlCol="0" anchor="ctr"/>
          <a:lstStyle/>
          <a:p>
            <a:pPr indent="0" marL="0">
              <a:buNone/>
            </a:pPr>
            <a:r>
              <a:rPr lang="en-US" sz="3600" b="1" dirty="0">
                <a:solidFill>
                  <a:srgbClr val="FFFFFF"/>
                </a:solidFill>
                <a:latin typeface="Microsoft YaHei" pitchFamily="34" charset="0"/>
                <a:ea typeface="Microsoft YaHei" pitchFamily="34" charset="-122"/>
                <a:cs typeface="Microsoft YaHei" pitchFamily="34" charset="-120"/>
              </a:rPr>
              <a:t>第九部分</a:t>
            </a:r>
            <a:endParaRPr lang="en-US" sz="3600" dirty="0"/>
          </a:p>
        </p:txBody>
      </p:sp>
      <p:sp>
        <p:nvSpPr>
          <p:cNvPr id="5" name="Text 3"/>
          <p:cNvSpPr/>
          <p:nvPr/>
        </p:nvSpPr>
        <p:spPr>
          <a:xfrm>
            <a:off x="548640" y="3017520"/>
            <a:ext cx="7315200" cy="548640"/>
          </a:xfrm>
          <a:prstGeom prst="rect">
            <a:avLst/>
          </a:prstGeom>
          <a:noFill/>
          <a:ln/>
        </p:spPr>
        <p:txBody>
          <a:bodyPr wrap="square" rtlCol="0" anchor="ctr"/>
          <a:lstStyle/>
          <a:p>
            <a:pPr indent="0" marL="0">
              <a:buNone/>
            </a:pPr>
            <a:r>
              <a:rPr lang="en-US" sz="2000" dirty="0">
                <a:solidFill>
                  <a:srgbClr val="F3F4F6"/>
                </a:solidFill>
                <a:latin typeface="Microsoft YaHei" pitchFamily="34" charset="0"/>
                <a:ea typeface="Microsoft YaHei" pitchFamily="34" charset="-122"/>
                <a:cs typeface="Microsoft YaHei" pitchFamily="34" charset="-120"/>
              </a:rPr>
              <a:t>迭代机制</a:t>
            </a:r>
            <a:endParaRPr lang="en-US" sz="2000" dirty="0"/>
          </a:p>
        </p:txBody>
      </p:sp>
      <p:sp>
        <p:nvSpPr>
          <p:cNvPr id="6" name="Text 4"/>
          <p:cNvSpPr/>
          <p:nvPr/>
        </p:nvSpPr>
        <p:spPr>
          <a:xfrm>
            <a:off x="548640" y="3566160"/>
            <a:ext cx="7315200" cy="457200"/>
          </a:xfrm>
          <a:prstGeom prst="rect">
            <a:avLst/>
          </a:prstGeom>
          <a:noFill/>
          <a:ln/>
        </p:spPr>
        <p:txBody>
          <a:bodyPr wrap="square" rtlCol="0" anchor="ctr"/>
          <a:lstStyle/>
          <a:p>
            <a:pPr indent="0" marL="0">
              <a:buNone/>
            </a:pPr>
            <a:r>
              <a:rPr lang="en-US" sz="1600" dirty="0">
                <a:solidFill>
                  <a:srgbClr val="374151"/>
                </a:solidFill>
                <a:latin typeface="Microsoft YaHei" pitchFamily="34" charset="0"/>
                <a:ea typeface="Microsoft YaHei" pitchFamily="34" charset="-122"/>
                <a:cs typeface="Microsoft YaHei" pitchFamily="34" charset="-120"/>
              </a:rPr>
              <a:t>让数字员工越用越好</a:t>
            </a:r>
            <a:endParaRPr lang="en-US" sz="1600" dirty="0"/>
          </a:p>
        </p:txBody>
      </p:sp>
      <p:sp>
        <p:nvSpPr>
          <p:cNvPr id="7" name="Text 5"/>
          <p:cNvSpPr/>
          <p:nvPr/>
        </p:nvSpPr>
        <p:spPr>
          <a:xfrm>
            <a:off x="8503920" y="4663440"/>
            <a:ext cx="457200" cy="274320"/>
          </a:xfrm>
          <a:prstGeom prst="rect">
            <a:avLst/>
          </a:prstGeom>
          <a:noFill/>
          <a:ln/>
        </p:spPr>
        <p:txBody>
          <a:bodyPr wrap="square" rtlCol="0" anchor="ctr"/>
          <a:lstStyle/>
          <a:p>
            <a:pPr algn="r" indent="0" marL="0">
              <a:buNone/>
            </a:pPr>
            <a:r>
              <a:rPr lang="en-US" sz="1000" dirty="0">
                <a:solidFill>
                  <a:srgbClr val="374151"/>
                </a:solidFill>
                <a:latin typeface="Arial" pitchFamily="34" charset="0"/>
                <a:ea typeface="Arial" pitchFamily="34" charset="-122"/>
                <a:cs typeface="Arial" pitchFamily="34" charset="-120"/>
              </a:rPr>
              <a:t>88</a:t>
            </a:r>
            <a:endParaRPr lang="en-US" sz="10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274320"/>
            <a:ext cx="8229600" cy="548640"/>
          </a:xfrm>
          <a:prstGeom prst="rect">
            <a:avLst/>
          </a:prstGeom>
          <a:noFill/>
          <a:ln/>
        </p:spPr>
        <p:txBody>
          <a:bodyPr wrap="square" rtlCol="0" anchor="ctr"/>
          <a:lstStyle/>
          <a:p>
            <a:pPr indent="0" marL="0">
              <a:buNone/>
            </a:pPr>
            <a:r>
              <a:rPr lang="en-US" sz="2400" b="1" dirty="0">
                <a:solidFill>
                  <a:srgbClr val="B91C1C"/>
                </a:solidFill>
                <a:latin typeface="Microsoft YaHei" pitchFamily="34" charset="0"/>
                <a:ea typeface="Microsoft YaHei" pitchFamily="34" charset="-122"/>
                <a:cs typeface="Microsoft YaHei" pitchFamily="34" charset="-120"/>
              </a:rPr>
              <a:t>Skill的生命周期：四个阶段</a:t>
            </a:r>
            <a:endParaRPr lang="en-US" sz="2400" dirty="0"/>
          </a:p>
        </p:txBody>
      </p:sp>
      <p:sp>
        <p:nvSpPr>
          <p:cNvPr id="4" name="Shape 2"/>
          <p:cNvSpPr/>
          <p:nvPr/>
        </p:nvSpPr>
        <p:spPr>
          <a:xfrm>
            <a:off x="731520" y="1828800"/>
            <a:ext cx="7680960" cy="0"/>
          </a:xfrm>
          <a:prstGeom prst="line">
            <a:avLst/>
          </a:prstGeom>
          <a:noFill/>
          <a:ln w="25400">
            <a:solidFill>
              <a:srgbClr val="374151"/>
            </a:solidFill>
            <a:prstDash val="solid"/>
          </a:ln>
        </p:spPr>
      </p:sp>
      <p:sp>
        <p:nvSpPr>
          <p:cNvPr id="5" name="Shape 3"/>
          <p:cNvSpPr/>
          <p:nvPr/>
        </p:nvSpPr>
        <p:spPr>
          <a:xfrm>
            <a:off x="1463040" y="1691640"/>
            <a:ext cx="274320" cy="274320"/>
          </a:xfrm>
          <a:prstGeom prst="ellipse">
            <a:avLst/>
          </a:prstGeom>
          <a:solidFill>
            <a:srgbClr val="374151"/>
          </a:solidFill>
          <a:ln/>
        </p:spPr>
      </p:sp>
      <p:sp>
        <p:nvSpPr>
          <p:cNvPr id="6" name="Shape 4"/>
          <p:cNvSpPr/>
          <p:nvPr/>
        </p:nvSpPr>
        <p:spPr>
          <a:xfrm>
            <a:off x="914400" y="2194560"/>
            <a:ext cx="1371600" cy="2286000"/>
          </a:xfrm>
          <a:prstGeom prst="rect">
            <a:avLst/>
          </a:prstGeom>
          <a:solidFill>
            <a:srgbClr val="F3F4F6"/>
          </a:solidFill>
          <a:ln/>
        </p:spPr>
      </p:sp>
      <p:sp>
        <p:nvSpPr>
          <p:cNvPr id="7" name="Shape 5"/>
          <p:cNvSpPr/>
          <p:nvPr/>
        </p:nvSpPr>
        <p:spPr>
          <a:xfrm>
            <a:off x="914400" y="2194560"/>
            <a:ext cx="1371600" cy="548640"/>
          </a:xfrm>
          <a:prstGeom prst="rect">
            <a:avLst/>
          </a:prstGeom>
          <a:solidFill>
            <a:srgbClr val="374151"/>
          </a:solidFill>
          <a:ln/>
        </p:spPr>
      </p:sp>
      <p:sp>
        <p:nvSpPr>
          <p:cNvPr id="8" name="Text 6"/>
          <p:cNvSpPr/>
          <p:nvPr/>
        </p:nvSpPr>
        <p:spPr>
          <a:xfrm>
            <a:off x="914400" y="2194560"/>
            <a:ext cx="1371600" cy="548640"/>
          </a:xfrm>
          <a:prstGeom prst="rect">
            <a:avLst/>
          </a:prstGeom>
          <a:noFill/>
          <a:ln/>
        </p:spPr>
        <p:txBody>
          <a:bodyPr wrap="square"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1</a:t>
            </a:r>
            <a:endParaRPr lang="en-US" sz="2400" dirty="0"/>
          </a:p>
        </p:txBody>
      </p:sp>
      <p:sp>
        <p:nvSpPr>
          <p:cNvPr id="9" name="Text 7"/>
          <p:cNvSpPr/>
          <p:nvPr/>
        </p:nvSpPr>
        <p:spPr>
          <a:xfrm>
            <a:off x="914400" y="2834640"/>
            <a:ext cx="1371600" cy="457200"/>
          </a:xfrm>
          <a:prstGeom prst="rect">
            <a:avLst/>
          </a:prstGeom>
          <a:noFill/>
          <a:ln/>
        </p:spPr>
        <p:txBody>
          <a:bodyPr wrap="square" rtlCol="0" anchor="ctr"/>
          <a:lstStyle/>
          <a:p>
            <a:pPr algn="ctr" indent="0" marL="0">
              <a:buNone/>
            </a:pPr>
            <a:r>
              <a:rPr lang="en-US" sz="1300" b="1" dirty="0">
                <a:solidFill>
                  <a:srgbClr val="B91C1C"/>
                </a:solidFill>
                <a:latin typeface="Microsoft YaHei" pitchFamily="34" charset="0"/>
                <a:ea typeface="Microsoft YaHei" pitchFamily="34" charset="-122"/>
                <a:cs typeface="Microsoft YaHei" pitchFamily="34" charset="-120"/>
              </a:rPr>
              <a:t>初版阶段</a:t>
            </a:r>
            <a:endParaRPr lang="en-US" sz="1300" dirty="0"/>
          </a:p>
        </p:txBody>
      </p:sp>
      <p:sp>
        <p:nvSpPr>
          <p:cNvPr id="10" name="Text 8"/>
          <p:cNvSpPr/>
          <p:nvPr/>
        </p:nvSpPr>
        <p:spPr>
          <a:xfrm>
            <a:off x="1005840" y="3291840"/>
            <a:ext cx="1188720" cy="1097280"/>
          </a:xfrm>
          <a:prstGeom prst="rect">
            <a:avLst/>
          </a:prstGeom>
          <a:noFill/>
          <a:ln/>
        </p:spPr>
        <p:txBody>
          <a:bodyPr wrap="square" rtlCol="0" anchor="ctr"/>
          <a:lstStyle/>
          <a:p>
            <a:pPr algn="ctr" indent="0" marL="0">
              <a:buNone/>
            </a:pPr>
            <a:r>
              <a:rPr lang="en-US" sz="1100" dirty="0">
                <a:solidFill>
                  <a:srgbClr val="374151"/>
                </a:solidFill>
                <a:latin typeface="Microsoft YaHei" pitchFamily="34" charset="0"/>
                <a:ea typeface="Microsoft YaHei" pitchFamily="34" charset="-122"/>
                <a:cs typeface="Microsoft YaHei" pitchFamily="34" charset="-120"/>
              </a:rPr>
              <a:t>刚建完，处于"能用"水平</a:t>
            </a:r>
            <a:endParaRPr lang="en-US" sz="1100" dirty="0"/>
          </a:p>
        </p:txBody>
      </p:sp>
      <p:sp>
        <p:nvSpPr>
          <p:cNvPr id="11" name="Shape 9"/>
          <p:cNvSpPr/>
          <p:nvPr/>
        </p:nvSpPr>
        <p:spPr>
          <a:xfrm>
            <a:off x="3474720" y="1691640"/>
            <a:ext cx="274320" cy="274320"/>
          </a:xfrm>
          <a:prstGeom prst="ellipse">
            <a:avLst/>
          </a:prstGeom>
          <a:solidFill>
            <a:srgbClr val="EF4444"/>
          </a:solidFill>
          <a:ln/>
        </p:spPr>
      </p:sp>
      <p:sp>
        <p:nvSpPr>
          <p:cNvPr id="12" name="Shape 10"/>
          <p:cNvSpPr/>
          <p:nvPr/>
        </p:nvSpPr>
        <p:spPr>
          <a:xfrm>
            <a:off x="2926080" y="2194560"/>
            <a:ext cx="1371600" cy="2286000"/>
          </a:xfrm>
          <a:prstGeom prst="rect">
            <a:avLst/>
          </a:prstGeom>
          <a:solidFill>
            <a:srgbClr val="F3F4F6"/>
          </a:solidFill>
          <a:ln/>
        </p:spPr>
      </p:sp>
      <p:sp>
        <p:nvSpPr>
          <p:cNvPr id="13" name="Shape 11"/>
          <p:cNvSpPr/>
          <p:nvPr/>
        </p:nvSpPr>
        <p:spPr>
          <a:xfrm>
            <a:off x="2926080" y="2194560"/>
            <a:ext cx="1371600" cy="548640"/>
          </a:xfrm>
          <a:prstGeom prst="rect">
            <a:avLst/>
          </a:prstGeom>
          <a:solidFill>
            <a:srgbClr val="EF4444"/>
          </a:solidFill>
          <a:ln/>
        </p:spPr>
      </p:sp>
      <p:sp>
        <p:nvSpPr>
          <p:cNvPr id="14" name="Text 12"/>
          <p:cNvSpPr/>
          <p:nvPr/>
        </p:nvSpPr>
        <p:spPr>
          <a:xfrm>
            <a:off x="2926080" y="2194560"/>
            <a:ext cx="1371600" cy="548640"/>
          </a:xfrm>
          <a:prstGeom prst="rect">
            <a:avLst/>
          </a:prstGeom>
          <a:noFill/>
          <a:ln/>
        </p:spPr>
        <p:txBody>
          <a:bodyPr wrap="square"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2</a:t>
            </a:r>
            <a:endParaRPr lang="en-US" sz="2400" dirty="0"/>
          </a:p>
        </p:txBody>
      </p:sp>
      <p:sp>
        <p:nvSpPr>
          <p:cNvPr id="15" name="Text 13"/>
          <p:cNvSpPr/>
          <p:nvPr/>
        </p:nvSpPr>
        <p:spPr>
          <a:xfrm>
            <a:off x="2926080" y="2834640"/>
            <a:ext cx="1371600" cy="457200"/>
          </a:xfrm>
          <a:prstGeom prst="rect">
            <a:avLst/>
          </a:prstGeom>
          <a:noFill/>
          <a:ln/>
        </p:spPr>
        <p:txBody>
          <a:bodyPr wrap="square" rtlCol="0" anchor="ctr"/>
          <a:lstStyle/>
          <a:p>
            <a:pPr algn="ctr" indent="0" marL="0">
              <a:buNone/>
            </a:pPr>
            <a:r>
              <a:rPr lang="en-US" sz="1300" b="1" dirty="0">
                <a:solidFill>
                  <a:srgbClr val="B91C1C"/>
                </a:solidFill>
                <a:latin typeface="Microsoft YaHei" pitchFamily="34" charset="0"/>
                <a:ea typeface="Microsoft YaHei" pitchFamily="34" charset="-122"/>
                <a:cs typeface="Microsoft YaHei" pitchFamily="34" charset="-120"/>
              </a:rPr>
              <a:t>成长期</a:t>
            </a:r>
            <a:endParaRPr lang="en-US" sz="1300" dirty="0"/>
          </a:p>
        </p:txBody>
      </p:sp>
      <p:sp>
        <p:nvSpPr>
          <p:cNvPr id="16" name="Text 14"/>
          <p:cNvSpPr/>
          <p:nvPr/>
        </p:nvSpPr>
        <p:spPr>
          <a:xfrm>
            <a:off x="3017520" y="3291840"/>
            <a:ext cx="1188720" cy="1097280"/>
          </a:xfrm>
          <a:prstGeom prst="rect">
            <a:avLst/>
          </a:prstGeom>
          <a:noFill/>
          <a:ln/>
        </p:spPr>
        <p:txBody>
          <a:bodyPr wrap="square" rtlCol="0" anchor="ctr"/>
          <a:lstStyle/>
          <a:p>
            <a:pPr algn="ctr" indent="0" marL="0">
              <a:buNone/>
            </a:pPr>
            <a:r>
              <a:rPr lang="en-US" sz="1100" dirty="0">
                <a:solidFill>
                  <a:srgbClr val="374151"/>
                </a:solidFill>
                <a:latin typeface="Microsoft YaHei" pitchFamily="34" charset="0"/>
                <a:ea typeface="Microsoft YaHei" pitchFamily="34" charset="-122"/>
                <a:cs typeface="Microsoft YaHei" pitchFamily="34" charset="-120"/>
              </a:rPr>
              <a:t>处于"好用"水平，团队开始用</a:t>
            </a:r>
            <a:endParaRPr lang="en-US" sz="1100" dirty="0"/>
          </a:p>
        </p:txBody>
      </p:sp>
      <p:sp>
        <p:nvSpPr>
          <p:cNvPr id="17" name="Shape 15"/>
          <p:cNvSpPr/>
          <p:nvPr/>
        </p:nvSpPr>
        <p:spPr>
          <a:xfrm>
            <a:off x="5486400" y="1691640"/>
            <a:ext cx="274320" cy="274320"/>
          </a:xfrm>
          <a:prstGeom prst="ellipse">
            <a:avLst/>
          </a:prstGeom>
          <a:solidFill>
            <a:srgbClr val="B91C1C"/>
          </a:solidFill>
          <a:ln/>
        </p:spPr>
      </p:sp>
      <p:sp>
        <p:nvSpPr>
          <p:cNvPr id="18" name="Shape 16"/>
          <p:cNvSpPr/>
          <p:nvPr/>
        </p:nvSpPr>
        <p:spPr>
          <a:xfrm>
            <a:off x="4937760" y="2194560"/>
            <a:ext cx="1371600" cy="2286000"/>
          </a:xfrm>
          <a:prstGeom prst="rect">
            <a:avLst/>
          </a:prstGeom>
          <a:solidFill>
            <a:srgbClr val="F3F4F6"/>
          </a:solidFill>
          <a:ln/>
        </p:spPr>
      </p:sp>
      <p:sp>
        <p:nvSpPr>
          <p:cNvPr id="19" name="Shape 17"/>
          <p:cNvSpPr/>
          <p:nvPr/>
        </p:nvSpPr>
        <p:spPr>
          <a:xfrm>
            <a:off x="4937760" y="2194560"/>
            <a:ext cx="1371600" cy="548640"/>
          </a:xfrm>
          <a:prstGeom prst="rect">
            <a:avLst/>
          </a:prstGeom>
          <a:solidFill>
            <a:srgbClr val="B91C1C"/>
          </a:solidFill>
          <a:ln/>
        </p:spPr>
      </p:sp>
      <p:sp>
        <p:nvSpPr>
          <p:cNvPr id="20" name="Text 18"/>
          <p:cNvSpPr/>
          <p:nvPr/>
        </p:nvSpPr>
        <p:spPr>
          <a:xfrm>
            <a:off x="4937760" y="2194560"/>
            <a:ext cx="1371600" cy="548640"/>
          </a:xfrm>
          <a:prstGeom prst="rect">
            <a:avLst/>
          </a:prstGeom>
          <a:noFill/>
          <a:ln/>
        </p:spPr>
        <p:txBody>
          <a:bodyPr wrap="square"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3</a:t>
            </a:r>
            <a:endParaRPr lang="en-US" sz="2400" dirty="0"/>
          </a:p>
        </p:txBody>
      </p:sp>
      <p:sp>
        <p:nvSpPr>
          <p:cNvPr id="21" name="Text 19"/>
          <p:cNvSpPr/>
          <p:nvPr/>
        </p:nvSpPr>
        <p:spPr>
          <a:xfrm>
            <a:off x="4937760" y="2834640"/>
            <a:ext cx="1371600" cy="457200"/>
          </a:xfrm>
          <a:prstGeom prst="rect">
            <a:avLst/>
          </a:prstGeom>
          <a:noFill/>
          <a:ln/>
        </p:spPr>
        <p:txBody>
          <a:bodyPr wrap="square" rtlCol="0" anchor="ctr"/>
          <a:lstStyle/>
          <a:p>
            <a:pPr algn="ctr" indent="0" marL="0">
              <a:buNone/>
            </a:pPr>
            <a:r>
              <a:rPr lang="en-US" sz="1300" b="1" dirty="0">
                <a:solidFill>
                  <a:srgbClr val="B91C1C"/>
                </a:solidFill>
                <a:latin typeface="Microsoft YaHei" pitchFamily="34" charset="0"/>
                <a:ea typeface="Microsoft YaHei" pitchFamily="34" charset="-122"/>
                <a:cs typeface="Microsoft YaHei" pitchFamily="34" charset="-120"/>
              </a:rPr>
              <a:t>成熟期</a:t>
            </a:r>
            <a:endParaRPr lang="en-US" sz="1300" dirty="0"/>
          </a:p>
        </p:txBody>
      </p:sp>
      <p:sp>
        <p:nvSpPr>
          <p:cNvPr id="22" name="Text 20"/>
          <p:cNvSpPr/>
          <p:nvPr/>
        </p:nvSpPr>
        <p:spPr>
          <a:xfrm>
            <a:off x="5029200" y="3291840"/>
            <a:ext cx="1188720" cy="1097280"/>
          </a:xfrm>
          <a:prstGeom prst="rect">
            <a:avLst/>
          </a:prstGeom>
          <a:noFill/>
          <a:ln/>
        </p:spPr>
        <p:txBody>
          <a:bodyPr wrap="square" rtlCol="0" anchor="ctr"/>
          <a:lstStyle/>
          <a:p>
            <a:pPr algn="ctr" indent="0" marL="0">
              <a:buNone/>
            </a:pPr>
            <a:r>
              <a:rPr lang="en-US" sz="1100" dirty="0">
                <a:solidFill>
                  <a:srgbClr val="374151"/>
                </a:solidFill>
                <a:latin typeface="Microsoft YaHei" pitchFamily="34" charset="0"/>
                <a:ea typeface="Microsoft YaHei" pitchFamily="34" charset="-122"/>
                <a:cs typeface="Microsoft YaHei" pitchFamily="34" charset="-120"/>
              </a:rPr>
              <a:t>处于"离不开"水平</a:t>
            </a:r>
            <a:endParaRPr lang="en-US" sz="1100" dirty="0"/>
          </a:p>
        </p:txBody>
      </p:sp>
      <p:sp>
        <p:nvSpPr>
          <p:cNvPr id="23" name="Shape 21"/>
          <p:cNvSpPr/>
          <p:nvPr/>
        </p:nvSpPr>
        <p:spPr>
          <a:xfrm>
            <a:off x="7498080" y="1691640"/>
            <a:ext cx="274320" cy="274320"/>
          </a:xfrm>
          <a:prstGeom prst="ellipse">
            <a:avLst/>
          </a:prstGeom>
          <a:solidFill>
            <a:srgbClr val="EF4444"/>
          </a:solidFill>
          <a:ln/>
        </p:spPr>
      </p:sp>
      <p:sp>
        <p:nvSpPr>
          <p:cNvPr id="24" name="Shape 22"/>
          <p:cNvSpPr/>
          <p:nvPr/>
        </p:nvSpPr>
        <p:spPr>
          <a:xfrm>
            <a:off x="6949440" y="2194560"/>
            <a:ext cx="1371600" cy="2286000"/>
          </a:xfrm>
          <a:prstGeom prst="rect">
            <a:avLst/>
          </a:prstGeom>
          <a:solidFill>
            <a:srgbClr val="F3F4F6"/>
          </a:solidFill>
          <a:ln/>
        </p:spPr>
      </p:sp>
      <p:sp>
        <p:nvSpPr>
          <p:cNvPr id="25" name="Shape 23"/>
          <p:cNvSpPr/>
          <p:nvPr/>
        </p:nvSpPr>
        <p:spPr>
          <a:xfrm>
            <a:off x="6949440" y="2194560"/>
            <a:ext cx="1371600" cy="548640"/>
          </a:xfrm>
          <a:prstGeom prst="rect">
            <a:avLst/>
          </a:prstGeom>
          <a:solidFill>
            <a:srgbClr val="EF4444"/>
          </a:solidFill>
          <a:ln/>
        </p:spPr>
      </p:sp>
      <p:sp>
        <p:nvSpPr>
          <p:cNvPr id="26" name="Text 24"/>
          <p:cNvSpPr/>
          <p:nvPr/>
        </p:nvSpPr>
        <p:spPr>
          <a:xfrm>
            <a:off x="6949440" y="2194560"/>
            <a:ext cx="1371600" cy="548640"/>
          </a:xfrm>
          <a:prstGeom prst="rect">
            <a:avLst/>
          </a:prstGeom>
          <a:noFill/>
          <a:ln/>
        </p:spPr>
        <p:txBody>
          <a:bodyPr wrap="square"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4</a:t>
            </a:r>
            <a:endParaRPr lang="en-US" sz="2400" dirty="0"/>
          </a:p>
        </p:txBody>
      </p:sp>
      <p:sp>
        <p:nvSpPr>
          <p:cNvPr id="27" name="Text 25"/>
          <p:cNvSpPr/>
          <p:nvPr/>
        </p:nvSpPr>
        <p:spPr>
          <a:xfrm>
            <a:off x="6949440" y="2834640"/>
            <a:ext cx="1371600" cy="457200"/>
          </a:xfrm>
          <a:prstGeom prst="rect">
            <a:avLst/>
          </a:prstGeom>
          <a:noFill/>
          <a:ln/>
        </p:spPr>
        <p:txBody>
          <a:bodyPr wrap="square" rtlCol="0" anchor="ctr"/>
          <a:lstStyle/>
          <a:p>
            <a:pPr algn="ctr" indent="0" marL="0">
              <a:buNone/>
            </a:pPr>
            <a:r>
              <a:rPr lang="en-US" sz="1300" b="1" dirty="0">
                <a:solidFill>
                  <a:srgbClr val="B91C1C"/>
                </a:solidFill>
                <a:latin typeface="Microsoft YaHei" pitchFamily="34" charset="0"/>
                <a:ea typeface="Microsoft YaHei" pitchFamily="34" charset="-122"/>
                <a:cs typeface="Microsoft YaHei" pitchFamily="34" charset="-120"/>
              </a:rPr>
              <a:t>进化期</a:t>
            </a:r>
            <a:endParaRPr lang="en-US" sz="1300" dirty="0"/>
          </a:p>
        </p:txBody>
      </p:sp>
      <p:sp>
        <p:nvSpPr>
          <p:cNvPr id="28" name="Text 26"/>
          <p:cNvSpPr/>
          <p:nvPr/>
        </p:nvSpPr>
        <p:spPr>
          <a:xfrm>
            <a:off x="7040880" y="3291840"/>
            <a:ext cx="1188720" cy="1097280"/>
          </a:xfrm>
          <a:prstGeom prst="rect">
            <a:avLst/>
          </a:prstGeom>
          <a:noFill/>
          <a:ln/>
        </p:spPr>
        <p:txBody>
          <a:bodyPr wrap="square" rtlCol="0" anchor="ctr"/>
          <a:lstStyle/>
          <a:p>
            <a:pPr algn="ctr" indent="0" marL="0">
              <a:buNone/>
            </a:pPr>
            <a:r>
              <a:rPr lang="en-US" sz="1100" dirty="0">
                <a:solidFill>
                  <a:srgbClr val="374151"/>
                </a:solidFill>
                <a:latin typeface="Microsoft YaHei" pitchFamily="34" charset="0"/>
                <a:ea typeface="Microsoft YaHei" pitchFamily="34" charset="-122"/>
                <a:cs typeface="Microsoft YaHei" pitchFamily="34" charset="-120"/>
              </a:rPr>
              <a:t>需要重构，而不是修补</a:t>
            </a:r>
            <a:endParaRPr lang="en-US" sz="1100" dirty="0"/>
          </a:p>
        </p:txBody>
      </p:sp>
      <p:sp>
        <p:nvSpPr>
          <p:cNvPr id="29" name="Text 27"/>
          <p:cNvSpPr/>
          <p:nvPr/>
        </p:nvSpPr>
        <p:spPr>
          <a:xfrm>
            <a:off x="8503920" y="4663440"/>
            <a:ext cx="457200" cy="274320"/>
          </a:xfrm>
          <a:prstGeom prst="rect">
            <a:avLst/>
          </a:prstGeom>
          <a:noFill/>
          <a:ln/>
        </p:spPr>
        <p:txBody>
          <a:bodyPr wrap="square" rtlCol="0" anchor="ctr"/>
          <a:lstStyle/>
          <a:p>
            <a:pPr algn="r" indent="0" marL="0">
              <a:buNone/>
            </a:pPr>
            <a:r>
              <a:rPr lang="en-US" sz="1000" dirty="0">
                <a:solidFill>
                  <a:srgbClr val="374151"/>
                </a:solidFill>
                <a:latin typeface="Arial" pitchFamily="34" charset="0"/>
                <a:ea typeface="Arial" pitchFamily="34" charset="-122"/>
                <a:cs typeface="Arial" pitchFamily="34" charset="-120"/>
              </a:rPr>
              <a:t>89</a:t>
            </a:r>
            <a:endParaRPr lang="en-US" sz="10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274320"/>
            <a:ext cx="8229600" cy="548640"/>
          </a:xfrm>
          <a:prstGeom prst="rect">
            <a:avLst/>
          </a:prstGeom>
          <a:noFill/>
          <a:ln/>
        </p:spPr>
        <p:txBody>
          <a:bodyPr wrap="square" rtlCol="0" anchor="ctr"/>
          <a:lstStyle/>
          <a:p>
            <a:pPr indent="0" marL="0">
              <a:buNone/>
            </a:pPr>
            <a:r>
              <a:rPr lang="en-US" sz="2400" b="1" dirty="0">
                <a:solidFill>
                  <a:srgbClr val="B91C1C"/>
                </a:solidFill>
                <a:latin typeface="Microsoft YaHei" pitchFamily="34" charset="0"/>
                <a:ea typeface="Microsoft YaHei" pitchFamily="34" charset="-122"/>
                <a:cs typeface="Microsoft YaHei" pitchFamily="34" charset="-120"/>
              </a:rPr>
              <a:t>初版阶段管理重点</a:t>
            </a:r>
            <a:endParaRPr lang="en-US" sz="2400" dirty="0"/>
          </a:p>
        </p:txBody>
      </p:sp>
      <p:sp>
        <p:nvSpPr>
          <p:cNvPr id="4" name="Shape 2"/>
          <p:cNvSpPr/>
          <p:nvPr/>
        </p:nvSpPr>
        <p:spPr>
          <a:xfrm>
            <a:off x="457200" y="1005840"/>
            <a:ext cx="3931920" cy="3200400"/>
          </a:xfrm>
          <a:prstGeom prst="rect">
            <a:avLst/>
          </a:prstGeom>
          <a:solidFill>
            <a:srgbClr val="F3F4F6"/>
          </a:solidFill>
          <a:ln/>
        </p:spPr>
      </p:sp>
      <p:sp>
        <p:nvSpPr>
          <p:cNvPr id="5" name="Text 3"/>
          <p:cNvSpPr/>
          <p:nvPr/>
        </p:nvSpPr>
        <p:spPr>
          <a:xfrm>
            <a:off x="640080" y="1188720"/>
            <a:ext cx="1828800" cy="457200"/>
          </a:xfrm>
          <a:prstGeom prst="rect">
            <a:avLst/>
          </a:prstGeom>
          <a:noFill/>
          <a:ln/>
        </p:spPr>
        <p:txBody>
          <a:bodyPr wrap="square" rtlCol="0" anchor="ctr"/>
          <a:lstStyle/>
          <a:p>
            <a:pPr indent="0" marL="0">
              <a:buNone/>
            </a:pPr>
            <a:r>
              <a:rPr lang="en-US" sz="1600" b="1" dirty="0">
                <a:solidFill>
                  <a:srgbClr val="EF4444"/>
                </a:solidFill>
                <a:latin typeface="Microsoft YaHei" pitchFamily="34" charset="0"/>
                <a:ea typeface="Microsoft YaHei" pitchFamily="34" charset="-122"/>
                <a:cs typeface="Microsoft YaHei" pitchFamily="34" charset="-120"/>
              </a:rPr>
              <a:t>管理要点</a:t>
            </a:r>
            <a:endParaRPr lang="en-US" sz="1600" dirty="0"/>
          </a:p>
        </p:txBody>
      </p:sp>
      <p:sp>
        <p:nvSpPr>
          <p:cNvPr id="6" name="Shape 4"/>
          <p:cNvSpPr/>
          <p:nvPr/>
        </p:nvSpPr>
        <p:spPr>
          <a:xfrm>
            <a:off x="822960" y="1828800"/>
            <a:ext cx="137160" cy="137160"/>
          </a:xfrm>
          <a:prstGeom prst="ellipse">
            <a:avLst/>
          </a:prstGeom>
          <a:solidFill>
            <a:srgbClr val="EF4444"/>
          </a:solidFill>
          <a:ln/>
        </p:spPr>
      </p:sp>
      <p:sp>
        <p:nvSpPr>
          <p:cNvPr id="7" name="Text 5"/>
          <p:cNvSpPr/>
          <p:nvPr/>
        </p:nvSpPr>
        <p:spPr>
          <a:xfrm>
            <a:off x="1097280" y="1737360"/>
            <a:ext cx="2743200" cy="457200"/>
          </a:xfrm>
          <a:prstGeom prst="rect">
            <a:avLst/>
          </a:prstGeom>
          <a:noFill/>
          <a:ln/>
        </p:spPr>
        <p:txBody>
          <a:bodyPr wrap="square" rtlCol="0" anchor="ctr"/>
          <a:lstStyle/>
          <a:p>
            <a:pPr indent="0" marL="0">
              <a:buNone/>
            </a:pPr>
            <a:r>
              <a:rPr lang="en-US" sz="1500" dirty="0">
                <a:solidFill>
                  <a:srgbClr val="374151"/>
                </a:solidFill>
                <a:latin typeface="Microsoft YaHei" pitchFamily="34" charset="0"/>
                <a:ea typeface="Microsoft YaHei" pitchFamily="34" charset="-122"/>
                <a:cs typeface="Microsoft YaHei" pitchFamily="34" charset="-120"/>
              </a:rPr>
              <a:t>高频使用</a:t>
            </a:r>
            <a:endParaRPr lang="en-US" sz="1500" dirty="0"/>
          </a:p>
        </p:txBody>
      </p:sp>
      <p:sp>
        <p:nvSpPr>
          <p:cNvPr id="8" name="Shape 6"/>
          <p:cNvSpPr/>
          <p:nvPr/>
        </p:nvSpPr>
        <p:spPr>
          <a:xfrm>
            <a:off x="822960" y="2468880"/>
            <a:ext cx="137160" cy="137160"/>
          </a:xfrm>
          <a:prstGeom prst="ellipse">
            <a:avLst/>
          </a:prstGeom>
          <a:solidFill>
            <a:srgbClr val="EF4444"/>
          </a:solidFill>
          <a:ln/>
        </p:spPr>
      </p:sp>
      <p:sp>
        <p:nvSpPr>
          <p:cNvPr id="9" name="Text 7"/>
          <p:cNvSpPr/>
          <p:nvPr/>
        </p:nvSpPr>
        <p:spPr>
          <a:xfrm>
            <a:off x="1097280" y="2377440"/>
            <a:ext cx="2743200" cy="457200"/>
          </a:xfrm>
          <a:prstGeom prst="rect">
            <a:avLst/>
          </a:prstGeom>
          <a:noFill/>
          <a:ln/>
        </p:spPr>
        <p:txBody>
          <a:bodyPr wrap="square" rtlCol="0" anchor="ctr"/>
          <a:lstStyle/>
          <a:p>
            <a:pPr indent="0" marL="0">
              <a:buNone/>
            </a:pPr>
            <a:r>
              <a:rPr lang="en-US" sz="1500" dirty="0">
                <a:solidFill>
                  <a:srgbClr val="374151"/>
                </a:solidFill>
                <a:latin typeface="Microsoft YaHei" pitchFamily="34" charset="0"/>
                <a:ea typeface="Microsoft YaHei" pitchFamily="34" charset="-122"/>
                <a:cs typeface="Microsoft YaHei" pitchFamily="34" charset="-120"/>
              </a:rPr>
              <a:t>高频记录问题</a:t>
            </a:r>
            <a:endParaRPr lang="en-US" sz="1500" dirty="0"/>
          </a:p>
        </p:txBody>
      </p:sp>
      <p:sp>
        <p:nvSpPr>
          <p:cNvPr id="10" name="Shape 8"/>
          <p:cNvSpPr/>
          <p:nvPr/>
        </p:nvSpPr>
        <p:spPr>
          <a:xfrm>
            <a:off x="822960" y="3108960"/>
            <a:ext cx="137160" cy="137160"/>
          </a:xfrm>
          <a:prstGeom prst="ellipse">
            <a:avLst/>
          </a:prstGeom>
          <a:solidFill>
            <a:srgbClr val="EF4444"/>
          </a:solidFill>
          <a:ln/>
        </p:spPr>
      </p:sp>
      <p:sp>
        <p:nvSpPr>
          <p:cNvPr id="11" name="Text 9"/>
          <p:cNvSpPr/>
          <p:nvPr/>
        </p:nvSpPr>
        <p:spPr>
          <a:xfrm>
            <a:off x="1097280" y="3017520"/>
            <a:ext cx="2743200" cy="457200"/>
          </a:xfrm>
          <a:prstGeom prst="rect">
            <a:avLst/>
          </a:prstGeom>
          <a:noFill/>
          <a:ln/>
        </p:spPr>
        <p:txBody>
          <a:bodyPr wrap="square" rtlCol="0" anchor="ctr"/>
          <a:lstStyle/>
          <a:p>
            <a:pPr indent="0" marL="0">
              <a:buNone/>
            </a:pPr>
            <a:r>
              <a:rPr lang="en-US" sz="1500" dirty="0">
                <a:solidFill>
                  <a:srgbClr val="374151"/>
                </a:solidFill>
                <a:latin typeface="Microsoft YaHei" pitchFamily="34" charset="0"/>
                <a:ea typeface="Microsoft YaHei" pitchFamily="34" charset="-122"/>
                <a:cs typeface="Microsoft YaHei" pitchFamily="34" charset="-120"/>
              </a:rPr>
              <a:t>快速迭代</a:t>
            </a:r>
            <a:endParaRPr lang="en-US" sz="1500" dirty="0"/>
          </a:p>
        </p:txBody>
      </p:sp>
      <p:sp>
        <p:nvSpPr>
          <p:cNvPr id="12" name="Shape 10"/>
          <p:cNvSpPr/>
          <p:nvPr/>
        </p:nvSpPr>
        <p:spPr>
          <a:xfrm>
            <a:off x="4754880" y="1005840"/>
            <a:ext cx="3931920" cy="3200400"/>
          </a:xfrm>
          <a:prstGeom prst="rect">
            <a:avLst/>
          </a:prstGeom>
          <a:solidFill>
            <a:srgbClr val="F3F4F6"/>
          </a:solidFill>
          <a:ln/>
        </p:spPr>
      </p:sp>
      <p:sp>
        <p:nvSpPr>
          <p:cNvPr id="13" name="Text 11"/>
          <p:cNvSpPr/>
          <p:nvPr/>
        </p:nvSpPr>
        <p:spPr>
          <a:xfrm>
            <a:off x="4937760" y="1188720"/>
            <a:ext cx="3200400" cy="457200"/>
          </a:xfrm>
          <a:prstGeom prst="rect">
            <a:avLst/>
          </a:prstGeom>
          <a:noFill/>
          <a:ln/>
        </p:spPr>
        <p:txBody>
          <a:bodyPr wrap="square" rtlCol="0" anchor="ctr"/>
          <a:lstStyle/>
          <a:p>
            <a:pPr indent="0" marL="0">
              <a:buNone/>
            </a:pPr>
            <a:r>
              <a:rPr lang="en-US" sz="1600" b="1" dirty="0">
                <a:solidFill>
                  <a:srgbClr val="EF4444"/>
                </a:solidFill>
                <a:latin typeface="Microsoft YaHei" pitchFamily="34" charset="0"/>
                <a:ea typeface="Microsoft YaHei" pitchFamily="34" charset="-122"/>
                <a:cs typeface="Microsoft YaHei" pitchFamily="34" charset="-120"/>
              </a:rPr>
              <a:t>转入成长期标志</a:t>
            </a:r>
            <a:endParaRPr lang="en-US" sz="1600" dirty="0"/>
          </a:p>
        </p:txBody>
      </p:sp>
      <p:sp>
        <p:nvSpPr>
          <p:cNvPr id="14" name="Shape 12"/>
          <p:cNvSpPr/>
          <p:nvPr/>
        </p:nvSpPr>
        <p:spPr>
          <a:xfrm>
            <a:off x="4937760" y="1828800"/>
            <a:ext cx="3566160" cy="1645920"/>
          </a:xfrm>
          <a:prstGeom prst="rect">
            <a:avLst/>
          </a:prstGeom>
          <a:solidFill>
            <a:srgbClr val="FFFFFF"/>
          </a:solidFill>
          <a:ln w="12700">
            <a:solidFill>
              <a:srgbClr val="EF4444"/>
            </a:solidFill>
            <a:prstDash val="solid"/>
          </a:ln>
        </p:spPr>
      </p:sp>
      <p:sp>
        <p:nvSpPr>
          <p:cNvPr id="15" name="Text 13"/>
          <p:cNvSpPr/>
          <p:nvPr/>
        </p:nvSpPr>
        <p:spPr>
          <a:xfrm>
            <a:off x="5120640" y="2011680"/>
            <a:ext cx="3200400" cy="457200"/>
          </a:xfrm>
          <a:prstGeom prst="rect">
            <a:avLst/>
          </a:prstGeom>
          <a:noFill/>
          <a:ln/>
        </p:spPr>
        <p:txBody>
          <a:bodyPr wrap="square" rtlCol="0" anchor="ctr"/>
          <a:lstStyle/>
          <a:p>
            <a:pPr indent="0" marL="0">
              <a:buNone/>
            </a:pPr>
            <a:r>
              <a:rPr lang="en-US" sz="1400" b="1" dirty="0">
                <a:solidFill>
                  <a:srgbClr val="B91C1C"/>
                </a:solidFill>
                <a:latin typeface="Microsoft YaHei" pitchFamily="34" charset="0"/>
                <a:ea typeface="Microsoft YaHei" pitchFamily="34" charset="-122"/>
                <a:cs typeface="Microsoft YaHei" pitchFamily="34" charset="-120"/>
              </a:rPr>
              <a:t>三类测试都能稳定通过</a:t>
            </a:r>
            <a:endParaRPr lang="en-US" sz="1400" dirty="0"/>
          </a:p>
        </p:txBody>
      </p:sp>
      <p:sp>
        <p:nvSpPr>
          <p:cNvPr id="16" name="Text 14"/>
          <p:cNvSpPr/>
          <p:nvPr/>
        </p:nvSpPr>
        <p:spPr>
          <a:xfrm>
            <a:off x="5120640" y="2468880"/>
            <a:ext cx="3200400" cy="914400"/>
          </a:xfrm>
          <a:prstGeom prst="rect">
            <a:avLst/>
          </a:prstGeom>
          <a:noFill/>
          <a:ln/>
        </p:spPr>
        <p:txBody>
          <a:bodyPr wrap="square" rtlCol="0" anchor="ctr"/>
          <a:lstStyle/>
          <a:p>
            <a:pPr marL="342900" indent="-342900">
              <a:buSzPct val="100000"/>
              <a:buChar char="•"/>
            </a:pPr>
            <a:r>
              <a:rPr lang="en-US" sz="1300" dirty="0">
                <a:solidFill>
                  <a:srgbClr val="374151"/>
                </a:solidFill>
                <a:latin typeface="Microsoft YaHei" pitchFamily="34" charset="0"/>
                <a:ea typeface="Microsoft YaHei" pitchFamily="34" charset="-122"/>
                <a:cs typeface="Microsoft YaHei" pitchFamily="34" charset="-120"/>
              </a:rPr>
              <a:t>标准测试</a:t>
            </a:r>
            <a:endParaRPr lang="en-US" sz="1300" dirty="0"/>
          </a:p>
          <a:p>
            <a:pPr marL="342900" indent="-342900">
              <a:buSzPct val="100000"/>
              <a:buChar char="•"/>
            </a:pPr>
            <a:r>
              <a:rPr lang="en-US" sz="1300" dirty="0">
                <a:solidFill>
                  <a:srgbClr val="374151"/>
                </a:solidFill>
                <a:latin typeface="Microsoft YaHei" pitchFamily="34" charset="0"/>
                <a:ea typeface="Microsoft YaHei" pitchFamily="34" charset="-122"/>
                <a:cs typeface="Microsoft YaHei" pitchFamily="34" charset="-120"/>
              </a:rPr>
              <a:t>边界测试</a:t>
            </a:r>
            <a:endParaRPr lang="en-US" sz="1300" dirty="0"/>
          </a:p>
          <a:p>
            <a:pPr marL="342900" indent="-342900">
              <a:buSzPct val="100000"/>
              <a:buChar char="•"/>
            </a:pPr>
            <a:r>
              <a:rPr lang="en-US" sz="1300" dirty="0">
                <a:solidFill>
                  <a:srgbClr val="374151"/>
                </a:solidFill>
                <a:latin typeface="Microsoft YaHei" pitchFamily="34" charset="0"/>
                <a:ea typeface="Microsoft YaHei" pitchFamily="34" charset="-122"/>
                <a:cs typeface="Microsoft YaHei" pitchFamily="34" charset="-120"/>
              </a:rPr>
              <a:t>意外测试</a:t>
            </a:r>
            <a:endParaRPr lang="en-US" sz="1300" dirty="0"/>
          </a:p>
        </p:txBody>
      </p:sp>
      <p:sp>
        <p:nvSpPr>
          <p:cNvPr id="17" name="Text 15"/>
          <p:cNvSpPr/>
          <p:nvPr/>
        </p:nvSpPr>
        <p:spPr>
          <a:xfrm>
            <a:off x="8503920" y="4663440"/>
            <a:ext cx="457200" cy="274320"/>
          </a:xfrm>
          <a:prstGeom prst="rect">
            <a:avLst/>
          </a:prstGeom>
          <a:noFill/>
          <a:ln/>
        </p:spPr>
        <p:txBody>
          <a:bodyPr wrap="square" rtlCol="0" anchor="ctr"/>
          <a:lstStyle/>
          <a:p>
            <a:pPr algn="r" indent="0" marL="0">
              <a:buNone/>
            </a:pPr>
            <a:r>
              <a:rPr lang="en-US" sz="1000" dirty="0">
                <a:solidFill>
                  <a:srgbClr val="374151"/>
                </a:solidFill>
                <a:latin typeface="Arial" pitchFamily="34" charset="0"/>
                <a:ea typeface="Arial" pitchFamily="34" charset="-122"/>
                <a:cs typeface="Arial" pitchFamily="34" charset="-120"/>
              </a:rPr>
              <a:t>90</a:t>
            </a:r>
            <a:endParaRPr lang="en-US" sz="10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274320"/>
            <a:ext cx="8229600" cy="548640"/>
          </a:xfrm>
          <a:prstGeom prst="rect">
            <a:avLst/>
          </a:prstGeom>
          <a:noFill/>
          <a:ln/>
        </p:spPr>
        <p:txBody>
          <a:bodyPr wrap="square" rtlCol="0" anchor="ctr"/>
          <a:lstStyle/>
          <a:p>
            <a:pPr indent="0" marL="0">
              <a:buNone/>
            </a:pPr>
            <a:r>
              <a:rPr lang="en-US" sz="2400" b="1" dirty="0">
                <a:solidFill>
                  <a:srgbClr val="B91C1C"/>
                </a:solidFill>
                <a:latin typeface="Microsoft YaHei" pitchFamily="34" charset="0"/>
                <a:ea typeface="Microsoft YaHei" pitchFamily="34" charset="-122"/>
                <a:cs typeface="Microsoft YaHei" pitchFamily="34" charset="-120"/>
              </a:rPr>
              <a:t>成长期管理重点</a:t>
            </a:r>
            <a:endParaRPr lang="en-US" sz="2400" dirty="0"/>
          </a:p>
        </p:txBody>
      </p:sp>
      <p:sp>
        <p:nvSpPr>
          <p:cNvPr id="4" name="Shape 2"/>
          <p:cNvSpPr/>
          <p:nvPr/>
        </p:nvSpPr>
        <p:spPr>
          <a:xfrm>
            <a:off x="457200" y="1005840"/>
            <a:ext cx="5029200" cy="777240"/>
          </a:xfrm>
          <a:prstGeom prst="rect">
            <a:avLst/>
          </a:prstGeom>
          <a:solidFill>
            <a:srgbClr val="F3F4F6"/>
          </a:solidFill>
          <a:ln/>
        </p:spPr>
      </p:sp>
      <p:sp>
        <p:nvSpPr>
          <p:cNvPr id="5" name="Shape 3"/>
          <p:cNvSpPr/>
          <p:nvPr/>
        </p:nvSpPr>
        <p:spPr>
          <a:xfrm>
            <a:off x="640080" y="1143000"/>
            <a:ext cx="137160" cy="137160"/>
          </a:xfrm>
          <a:prstGeom prst="ellipse">
            <a:avLst/>
          </a:prstGeom>
          <a:solidFill>
            <a:srgbClr val="EF4444"/>
          </a:solidFill>
          <a:ln/>
        </p:spPr>
      </p:sp>
      <p:sp>
        <p:nvSpPr>
          <p:cNvPr id="6" name="Text 4"/>
          <p:cNvSpPr/>
          <p:nvPr/>
        </p:nvSpPr>
        <p:spPr>
          <a:xfrm>
            <a:off x="914400" y="1051560"/>
            <a:ext cx="4389120" cy="640080"/>
          </a:xfrm>
          <a:prstGeom prst="rect">
            <a:avLst/>
          </a:prstGeom>
          <a:noFill/>
          <a:ln/>
        </p:spPr>
        <p:txBody>
          <a:bodyPr wrap="square" rtlCol="0" anchor="ctr"/>
          <a:lstStyle/>
          <a:p>
            <a:pPr indent="0" marL="0">
              <a:buNone/>
            </a:pPr>
            <a:r>
              <a:rPr lang="en-US" sz="1500" dirty="0">
                <a:solidFill>
                  <a:srgbClr val="374151"/>
                </a:solidFill>
                <a:latin typeface="Microsoft YaHei" pitchFamily="34" charset="0"/>
                <a:ea typeface="Microsoft YaHei" pitchFamily="34" charset="-122"/>
                <a:cs typeface="Microsoft YaHei" pitchFamily="34" charset="-120"/>
              </a:rPr>
              <a:t>收集真实使用中的反馈</a:t>
            </a:r>
            <a:endParaRPr lang="en-US" sz="1500" dirty="0"/>
          </a:p>
        </p:txBody>
      </p:sp>
      <p:sp>
        <p:nvSpPr>
          <p:cNvPr id="7" name="Shape 5"/>
          <p:cNvSpPr/>
          <p:nvPr/>
        </p:nvSpPr>
        <p:spPr>
          <a:xfrm>
            <a:off x="457200" y="1920240"/>
            <a:ext cx="5029200" cy="777240"/>
          </a:xfrm>
          <a:prstGeom prst="rect">
            <a:avLst/>
          </a:prstGeom>
          <a:solidFill>
            <a:srgbClr val="F3F4F6"/>
          </a:solidFill>
          <a:ln/>
        </p:spPr>
      </p:sp>
      <p:sp>
        <p:nvSpPr>
          <p:cNvPr id="8" name="Shape 6"/>
          <p:cNvSpPr/>
          <p:nvPr/>
        </p:nvSpPr>
        <p:spPr>
          <a:xfrm>
            <a:off x="640080" y="2057400"/>
            <a:ext cx="137160" cy="137160"/>
          </a:xfrm>
          <a:prstGeom prst="ellipse">
            <a:avLst/>
          </a:prstGeom>
          <a:solidFill>
            <a:srgbClr val="EF4444"/>
          </a:solidFill>
          <a:ln/>
        </p:spPr>
      </p:sp>
      <p:sp>
        <p:nvSpPr>
          <p:cNvPr id="9" name="Text 7"/>
          <p:cNvSpPr/>
          <p:nvPr/>
        </p:nvSpPr>
        <p:spPr>
          <a:xfrm>
            <a:off x="914400" y="1965960"/>
            <a:ext cx="4389120" cy="640080"/>
          </a:xfrm>
          <a:prstGeom prst="rect">
            <a:avLst/>
          </a:prstGeom>
          <a:noFill/>
          <a:ln/>
        </p:spPr>
        <p:txBody>
          <a:bodyPr wrap="square" rtlCol="0" anchor="ctr"/>
          <a:lstStyle/>
          <a:p>
            <a:pPr indent="0" marL="0">
              <a:buNone/>
            </a:pPr>
            <a:r>
              <a:rPr lang="en-US" sz="1500" dirty="0">
                <a:solidFill>
                  <a:srgbClr val="374151"/>
                </a:solidFill>
                <a:latin typeface="Microsoft YaHei" pitchFamily="34" charset="0"/>
                <a:ea typeface="Microsoft YaHei" pitchFamily="34" charset="-122"/>
                <a:cs typeface="Microsoft YaHei" pitchFamily="34" charset="-120"/>
              </a:rPr>
              <a:t>每1-2周做一轮迭代</a:t>
            </a:r>
            <a:endParaRPr lang="en-US" sz="1500" dirty="0"/>
          </a:p>
        </p:txBody>
      </p:sp>
      <p:sp>
        <p:nvSpPr>
          <p:cNvPr id="10" name="Shape 8"/>
          <p:cNvSpPr/>
          <p:nvPr/>
        </p:nvSpPr>
        <p:spPr>
          <a:xfrm>
            <a:off x="457200" y="2834640"/>
            <a:ext cx="5029200" cy="777240"/>
          </a:xfrm>
          <a:prstGeom prst="rect">
            <a:avLst/>
          </a:prstGeom>
          <a:solidFill>
            <a:srgbClr val="F3F4F6"/>
          </a:solidFill>
          <a:ln/>
        </p:spPr>
      </p:sp>
      <p:sp>
        <p:nvSpPr>
          <p:cNvPr id="11" name="Shape 9"/>
          <p:cNvSpPr/>
          <p:nvPr/>
        </p:nvSpPr>
        <p:spPr>
          <a:xfrm>
            <a:off x="640080" y="2971800"/>
            <a:ext cx="137160" cy="137160"/>
          </a:xfrm>
          <a:prstGeom prst="ellipse">
            <a:avLst/>
          </a:prstGeom>
          <a:solidFill>
            <a:srgbClr val="EF4444"/>
          </a:solidFill>
          <a:ln/>
        </p:spPr>
      </p:sp>
      <p:sp>
        <p:nvSpPr>
          <p:cNvPr id="12" name="Text 10"/>
          <p:cNvSpPr/>
          <p:nvPr/>
        </p:nvSpPr>
        <p:spPr>
          <a:xfrm>
            <a:off x="914400" y="2880360"/>
            <a:ext cx="4389120" cy="640080"/>
          </a:xfrm>
          <a:prstGeom prst="rect">
            <a:avLst/>
          </a:prstGeom>
          <a:noFill/>
          <a:ln/>
        </p:spPr>
        <p:txBody>
          <a:bodyPr wrap="square" rtlCol="0" anchor="ctr"/>
          <a:lstStyle/>
          <a:p>
            <a:pPr indent="0" marL="0">
              <a:buNone/>
            </a:pPr>
            <a:r>
              <a:rPr lang="en-US" sz="1500" dirty="0">
                <a:solidFill>
                  <a:srgbClr val="374151"/>
                </a:solidFill>
                <a:latin typeface="Microsoft YaHei" pitchFamily="34" charset="0"/>
                <a:ea typeface="Microsoft YaHei" pitchFamily="34" charset="-122"/>
                <a:cs typeface="Microsoft YaHei" pitchFamily="34" charset="-120"/>
              </a:rPr>
              <a:t>知识库开始定期更新</a:t>
            </a:r>
            <a:endParaRPr lang="en-US" sz="1500" dirty="0"/>
          </a:p>
        </p:txBody>
      </p:sp>
      <p:sp>
        <p:nvSpPr>
          <p:cNvPr id="13" name="Shape 11"/>
          <p:cNvSpPr/>
          <p:nvPr/>
        </p:nvSpPr>
        <p:spPr>
          <a:xfrm>
            <a:off x="5760720" y="1005840"/>
            <a:ext cx="2926080" cy="2743200"/>
          </a:xfrm>
          <a:prstGeom prst="rect">
            <a:avLst/>
          </a:prstGeom>
          <a:solidFill>
            <a:srgbClr val="F3F4F6"/>
          </a:solidFill>
          <a:ln/>
        </p:spPr>
      </p:sp>
      <p:sp>
        <p:nvSpPr>
          <p:cNvPr id="14" name="Text 12"/>
          <p:cNvSpPr/>
          <p:nvPr/>
        </p:nvSpPr>
        <p:spPr>
          <a:xfrm>
            <a:off x="5943600" y="1188720"/>
            <a:ext cx="2560320" cy="457200"/>
          </a:xfrm>
          <a:prstGeom prst="rect">
            <a:avLst/>
          </a:prstGeom>
          <a:noFill/>
          <a:ln/>
        </p:spPr>
        <p:txBody>
          <a:bodyPr wrap="square" rtlCol="0" anchor="ctr"/>
          <a:lstStyle/>
          <a:p>
            <a:pPr indent="0" marL="0">
              <a:buNone/>
            </a:pPr>
            <a:r>
              <a:rPr lang="en-US" sz="1400" b="1" dirty="0">
                <a:solidFill>
                  <a:srgbClr val="EF4444"/>
                </a:solidFill>
                <a:latin typeface="Microsoft YaHei" pitchFamily="34" charset="0"/>
                <a:ea typeface="Microsoft YaHei" pitchFamily="34" charset="-122"/>
                <a:cs typeface="Microsoft YaHei" pitchFamily="34" charset="-120"/>
              </a:rPr>
              <a:t>转入成熟期标志</a:t>
            </a:r>
            <a:endParaRPr lang="en-US" sz="1400" dirty="0"/>
          </a:p>
        </p:txBody>
      </p:sp>
      <p:sp>
        <p:nvSpPr>
          <p:cNvPr id="15" name="Text 13"/>
          <p:cNvSpPr/>
          <p:nvPr/>
        </p:nvSpPr>
        <p:spPr>
          <a:xfrm>
            <a:off x="5943600" y="1828800"/>
            <a:ext cx="2560320" cy="914400"/>
          </a:xfrm>
          <a:prstGeom prst="rect">
            <a:avLst/>
          </a:prstGeom>
          <a:noFill/>
          <a:ln/>
        </p:spPr>
        <p:txBody>
          <a:bodyPr wrap="square" rtlCol="0" anchor="ctr"/>
          <a:lstStyle/>
          <a:p>
            <a:pPr indent="0" marL="0">
              <a:buNone/>
            </a:pPr>
            <a:r>
              <a:rPr lang="en-US" sz="1400" b="1" dirty="0">
                <a:solidFill>
                  <a:srgbClr val="B91C1C"/>
                </a:solidFill>
                <a:latin typeface="Microsoft YaHei" pitchFamily="34" charset="0"/>
                <a:ea typeface="Microsoft YaHei" pitchFamily="34" charset="-122"/>
                <a:cs typeface="Microsoft YaHei" pitchFamily="34" charset="-120"/>
              </a:rPr>
              <a:t>使用者不再需要解释"怎么用"</a:t>
            </a:r>
            <a:endParaRPr lang="en-US" sz="1400" dirty="0"/>
          </a:p>
        </p:txBody>
      </p:sp>
      <p:sp>
        <p:nvSpPr>
          <p:cNvPr id="16" name="Text 14"/>
          <p:cNvSpPr/>
          <p:nvPr/>
        </p:nvSpPr>
        <p:spPr>
          <a:xfrm>
            <a:off x="8503920" y="4663440"/>
            <a:ext cx="457200" cy="274320"/>
          </a:xfrm>
          <a:prstGeom prst="rect">
            <a:avLst/>
          </a:prstGeom>
          <a:noFill/>
          <a:ln/>
        </p:spPr>
        <p:txBody>
          <a:bodyPr wrap="square" rtlCol="0" anchor="ctr"/>
          <a:lstStyle/>
          <a:p>
            <a:pPr algn="r" indent="0" marL="0">
              <a:buNone/>
            </a:pPr>
            <a:r>
              <a:rPr lang="en-US" sz="1000" dirty="0">
                <a:solidFill>
                  <a:srgbClr val="374151"/>
                </a:solidFill>
                <a:latin typeface="Arial" pitchFamily="34" charset="0"/>
                <a:ea typeface="Arial" pitchFamily="34" charset="-122"/>
                <a:cs typeface="Arial" pitchFamily="34" charset="-120"/>
              </a:rPr>
              <a:t>91</a:t>
            </a:r>
            <a:endParaRPr lang="en-US" sz="10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274320"/>
            <a:ext cx="8229600" cy="548640"/>
          </a:xfrm>
          <a:prstGeom prst="rect">
            <a:avLst/>
          </a:prstGeom>
          <a:noFill/>
          <a:ln/>
        </p:spPr>
        <p:txBody>
          <a:bodyPr wrap="square" rtlCol="0" anchor="ctr"/>
          <a:lstStyle/>
          <a:p>
            <a:pPr indent="0" marL="0">
              <a:buNone/>
            </a:pPr>
            <a:r>
              <a:rPr lang="en-US" sz="2400" b="1" dirty="0">
                <a:solidFill>
                  <a:srgbClr val="B91C1C"/>
                </a:solidFill>
                <a:latin typeface="Microsoft YaHei" pitchFamily="34" charset="0"/>
                <a:ea typeface="Microsoft YaHei" pitchFamily="34" charset="-122"/>
                <a:cs typeface="Microsoft YaHei" pitchFamily="34" charset="-120"/>
              </a:rPr>
              <a:t>成熟期与进化期</a:t>
            </a:r>
            <a:endParaRPr lang="en-US" sz="2400" dirty="0"/>
          </a:p>
        </p:txBody>
      </p:sp>
      <p:sp>
        <p:nvSpPr>
          <p:cNvPr id="4" name="Shape 2"/>
          <p:cNvSpPr/>
          <p:nvPr/>
        </p:nvSpPr>
        <p:spPr>
          <a:xfrm>
            <a:off x="457200" y="914400"/>
            <a:ext cx="3931920" cy="3749040"/>
          </a:xfrm>
          <a:prstGeom prst="rect">
            <a:avLst/>
          </a:prstGeom>
          <a:solidFill>
            <a:srgbClr val="F3F4F6"/>
          </a:solidFill>
          <a:ln/>
        </p:spPr>
      </p:sp>
      <p:sp>
        <p:nvSpPr>
          <p:cNvPr id="5" name="Shape 3"/>
          <p:cNvSpPr/>
          <p:nvPr/>
        </p:nvSpPr>
        <p:spPr>
          <a:xfrm>
            <a:off x="457200" y="914400"/>
            <a:ext cx="3931920" cy="548640"/>
          </a:xfrm>
          <a:prstGeom prst="rect">
            <a:avLst/>
          </a:prstGeom>
          <a:solidFill>
            <a:srgbClr val="B91C1C"/>
          </a:solidFill>
          <a:ln/>
        </p:spPr>
      </p:sp>
      <p:sp>
        <p:nvSpPr>
          <p:cNvPr id="6" name="Text 4"/>
          <p:cNvSpPr/>
          <p:nvPr/>
        </p:nvSpPr>
        <p:spPr>
          <a:xfrm>
            <a:off x="457200" y="914400"/>
            <a:ext cx="3931920" cy="548640"/>
          </a:xfrm>
          <a:prstGeom prst="rect">
            <a:avLst/>
          </a:prstGeom>
          <a:noFill/>
          <a:ln/>
        </p:spPr>
        <p:txBody>
          <a:bodyPr wrap="square" rtlCol="0" anchor="ctr"/>
          <a:lstStyle/>
          <a:p>
            <a:pPr algn="ctr" indent="0" marL="0">
              <a:buNone/>
            </a:pPr>
            <a:r>
              <a:rPr lang="en-US" sz="1600" b="1" dirty="0">
                <a:solidFill>
                  <a:srgbClr val="FFFFFF"/>
                </a:solidFill>
                <a:latin typeface="Microsoft YaHei" pitchFamily="34" charset="0"/>
                <a:ea typeface="Microsoft YaHei" pitchFamily="34" charset="-122"/>
                <a:cs typeface="Microsoft YaHei" pitchFamily="34" charset="-120"/>
              </a:rPr>
              <a:t>成熟期管理重点</a:t>
            </a:r>
            <a:endParaRPr lang="en-US" sz="1600" dirty="0"/>
          </a:p>
        </p:txBody>
      </p:sp>
      <p:sp>
        <p:nvSpPr>
          <p:cNvPr id="7" name="Shape 5"/>
          <p:cNvSpPr/>
          <p:nvPr/>
        </p:nvSpPr>
        <p:spPr>
          <a:xfrm>
            <a:off x="640080" y="1691640"/>
            <a:ext cx="109728" cy="109728"/>
          </a:xfrm>
          <a:prstGeom prst="ellipse">
            <a:avLst/>
          </a:prstGeom>
          <a:solidFill>
            <a:srgbClr val="EF4444"/>
          </a:solidFill>
          <a:ln/>
        </p:spPr>
      </p:sp>
      <p:sp>
        <p:nvSpPr>
          <p:cNvPr id="8" name="Text 6"/>
          <p:cNvSpPr/>
          <p:nvPr/>
        </p:nvSpPr>
        <p:spPr>
          <a:xfrm>
            <a:off x="868680" y="1600200"/>
            <a:ext cx="3200400" cy="45720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稳定维护</a:t>
            </a:r>
            <a:endParaRPr lang="en-US" sz="1300" dirty="0"/>
          </a:p>
        </p:txBody>
      </p:sp>
      <p:sp>
        <p:nvSpPr>
          <p:cNvPr id="9" name="Shape 7"/>
          <p:cNvSpPr/>
          <p:nvPr/>
        </p:nvSpPr>
        <p:spPr>
          <a:xfrm>
            <a:off x="640080" y="2286000"/>
            <a:ext cx="109728" cy="109728"/>
          </a:xfrm>
          <a:prstGeom prst="ellipse">
            <a:avLst/>
          </a:prstGeom>
          <a:solidFill>
            <a:srgbClr val="EF4444"/>
          </a:solidFill>
          <a:ln/>
        </p:spPr>
      </p:sp>
      <p:sp>
        <p:nvSpPr>
          <p:cNvPr id="10" name="Text 8"/>
          <p:cNvSpPr/>
          <p:nvPr/>
        </p:nvSpPr>
        <p:spPr>
          <a:xfrm>
            <a:off x="868680" y="2194560"/>
            <a:ext cx="3200400" cy="45720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防止知识库过期</a:t>
            </a:r>
            <a:endParaRPr lang="en-US" sz="1300" dirty="0"/>
          </a:p>
        </p:txBody>
      </p:sp>
      <p:sp>
        <p:nvSpPr>
          <p:cNvPr id="11" name="Shape 9"/>
          <p:cNvSpPr/>
          <p:nvPr/>
        </p:nvSpPr>
        <p:spPr>
          <a:xfrm>
            <a:off x="640080" y="2880360"/>
            <a:ext cx="109728" cy="109728"/>
          </a:xfrm>
          <a:prstGeom prst="ellipse">
            <a:avLst/>
          </a:prstGeom>
          <a:solidFill>
            <a:srgbClr val="EF4444"/>
          </a:solidFill>
          <a:ln/>
        </p:spPr>
      </p:sp>
      <p:sp>
        <p:nvSpPr>
          <p:cNvPr id="12" name="Text 10"/>
          <p:cNvSpPr/>
          <p:nvPr/>
        </p:nvSpPr>
        <p:spPr>
          <a:xfrm>
            <a:off x="868680" y="2788920"/>
            <a:ext cx="3200400" cy="45720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识别是否需要扩展功能</a:t>
            </a:r>
            <a:endParaRPr lang="en-US" sz="1300" dirty="0"/>
          </a:p>
        </p:txBody>
      </p:sp>
      <p:sp>
        <p:nvSpPr>
          <p:cNvPr id="13" name="Shape 11"/>
          <p:cNvSpPr/>
          <p:nvPr/>
        </p:nvSpPr>
        <p:spPr>
          <a:xfrm>
            <a:off x="640080" y="3566160"/>
            <a:ext cx="3566160" cy="914400"/>
          </a:xfrm>
          <a:prstGeom prst="rect">
            <a:avLst/>
          </a:prstGeom>
          <a:solidFill>
            <a:srgbClr val="FFFFFF"/>
          </a:solidFill>
          <a:ln w="12700">
            <a:solidFill>
              <a:srgbClr val="EF4444"/>
            </a:solidFill>
            <a:prstDash val="solid"/>
          </a:ln>
        </p:spPr>
      </p:sp>
      <p:sp>
        <p:nvSpPr>
          <p:cNvPr id="14" name="Text 12"/>
          <p:cNvSpPr/>
          <p:nvPr/>
        </p:nvSpPr>
        <p:spPr>
          <a:xfrm>
            <a:off x="777240" y="3657600"/>
            <a:ext cx="3291840" cy="320040"/>
          </a:xfrm>
          <a:prstGeom prst="rect">
            <a:avLst/>
          </a:prstGeom>
          <a:noFill/>
          <a:ln/>
        </p:spPr>
        <p:txBody>
          <a:bodyPr wrap="square" rtlCol="0" anchor="ctr"/>
          <a:lstStyle/>
          <a:p>
            <a:pPr indent="0" marL="0">
              <a:buNone/>
            </a:pPr>
            <a:r>
              <a:rPr lang="en-US" sz="1100" b="1" dirty="0">
                <a:solidFill>
                  <a:srgbClr val="EF4444"/>
                </a:solidFill>
                <a:latin typeface="Microsoft YaHei" pitchFamily="34" charset="0"/>
                <a:ea typeface="Microsoft YaHei" pitchFamily="34" charset="-122"/>
                <a:cs typeface="Microsoft YaHei" pitchFamily="34" charset="-120"/>
              </a:rPr>
              <a:t>转入进化期信号</a:t>
            </a:r>
            <a:endParaRPr lang="en-US" sz="1100" dirty="0"/>
          </a:p>
        </p:txBody>
      </p:sp>
      <p:sp>
        <p:nvSpPr>
          <p:cNvPr id="15" name="Text 13"/>
          <p:cNvSpPr/>
          <p:nvPr/>
        </p:nvSpPr>
        <p:spPr>
          <a:xfrm>
            <a:off x="777240" y="3977640"/>
            <a:ext cx="3291840" cy="457200"/>
          </a:xfrm>
          <a:prstGeom prst="rect">
            <a:avLst/>
          </a:prstGeom>
          <a:noFill/>
          <a:ln/>
        </p:spPr>
        <p:txBody>
          <a:bodyPr wrap="square" rtlCol="0" anchor="ctr"/>
          <a:lstStyle/>
          <a:p>
            <a:pPr indent="0" marL="0">
              <a:buNone/>
            </a:pPr>
            <a:r>
              <a:rPr lang="en-US" sz="1100" dirty="0">
                <a:solidFill>
                  <a:srgbClr val="B91C1C"/>
                </a:solidFill>
                <a:latin typeface="Microsoft YaHei" pitchFamily="34" charset="0"/>
                <a:ea typeface="Microsoft YaHei" pitchFamily="34" charset="-122"/>
                <a:cs typeface="Microsoft YaHei" pitchFamily="34" charset="-120"/>
              </a:rPr>
              <a:t>发现它能做得更多，但现有结构装不下了</a:t>
            </a:r>
            <a:endParaRPr lang="en-US" sz="1100" dirty="0"/>
          </a:p>
        </p:txBody>
      </p:sp>
      <p:sp>
        <p:nvSpPr>
          <p:cNvPr id="16" name="Shape 14"/>
          <p:cNvSpPr/>
          <p:nvPr/>
        </p:nvSpPr>
        <p:spPr>
          <a:xfrm>
            <a:off x="4754880" y="914400"/>
            <a:ext cx="3931920" cy="3749040"/>
          </a:xfrm>
          <a:prstGeom prst="rect">
            <a:avLst/>
          </a:prstGeom>
          <a:solidFill>
            <a:srgbClr val="F3F4F6"/>
          </a:solidFill>
          <a:ln/>
        </p:spPr>
      </p:sp>
      <p:sp>
        <p:nvSpPr>
          <p:cNvPr id="17" name="Shape 15"/>
          <p:cNvSpPr/>
          <p:nvPr/>
        </p:nvSpPr>
        <p:spPr>
          <a:xfrm>
            <a:off x="4754880" y="914400"/>
            <a:ext cx="3931920" cy="548640"/>
          </a:xfrm>
          <a:prstGeom prst="rect">
            <a:avLst/>
          </a:prstGeom>
          <a:solidFill>
            <a:srgbClr val="EF4444"/>
          </a:solidFill>
          <a:ln/>
        </p:spPr>
      </p:sp>
      <p:sp>
        <p:nvSpPr>
          <p:cNvPr id="18" name="Text 16"/>
          <p:cNvSpPr/>
          <p:nvPr/>
        </p:nvSpPr>
        <p:spPr>
          <a:xfrm>
            <a:off x="4754880" y="914400"/>
            <a:ext cx="3931920" cy="548640"/>
          </a:xfrm>
          <a:prstGeom prst="rect">
            <a:avLst/>
          </a:prstGeom>
          <a:noFill/>
          <a:ln/>
        </p:spPr>
        <p:txBody>
          <a:bodyPr wrap="square" rtlCol="0" anchor="ctr"/>
          <a:lstStyle/>
          <a:p>
            <a:pPr algn="ctr" indent="0" marL="0">
              <a:buNone/>
            </a:pPr>
            <a:r>
              <a:rPr lang="en-US" sz="1600" b="1" dirty="0">
                <a:solidFill>
                  <a:srgbClr val="FFFFFF"/>
                </a:solidFill>
                <a:latin typeface="Microsoft YaHei" pitchFamily="34" charset="0"/>
                <a:ea typeface="Microsoft YaHei" pitchFamily="34" charset="-122"/>
                <a:cs typeface="Microsoft YaHei" pitchFamily="34" charset="-120"/>
              </a:rPr>
              <a:t>进化期特征</a:t>
            </a:r>
            <a:endParaRPr lang="en-US" sz="1600" dirty="0"/>
          </a:p>
        </p:txBody>
      </p:sp>
      <p:sp>
        <p:nvSpPr>
          <p:cNvPr id="19" name="Shape 17"/>
          <p:cNvSpPr/>
          <p:nvPr/>
        </p:nvSpPr>
        <p:spPr>
          <a:xfrm>
            <a:off x="4937760" y="1691640"/>
            <a:ext cx="109728" cy="109728"/>
          </a:xfrm>
          <a:prstGeom prst="ellipse">
            <a:avLst/>
          </a:prstGeom>
          <a:solidFill>
            <a:srgbClr val="EF4444"/>
          </a:solidFill>
          <a:ln/>
        </p:spPr>
      </p:sp>
      <p:sp>
        <p:nvSpPr>
          <p:cNvPr id="20" name="Text 18"/>
          <p:cNvSpPr/>
          <p:nvPr/>
        </p:nvSpPr>
        <p:spPr>
          <a:xfrm>
            <a:off x="5166360" y="1600200"/>
            <a:ext cx="3291840" cy="457200"/>
          </a:xfrm>
          <a:prstGeom prst="rect">
            <a:avLst/>
          </a:prstGeom>
          <a:noFill/>
          <a:ln/>
        </p:spPr>
        <p:txBody>
          <a:bodyPr wrap="square" rtlCol="0" anchor="ctr"/>
          <a:lstStyle/>
          <a:p>
            <a:pPr indent="0" marL="0">
              <a:buNone/>
            </a:pPr>
            <a:r>
              <a:rPr lang="en-US" sz="1200" dirty="0">
                <a:solidFill>
                  <a:srgbClr val="374151"/>
                </a:solidFill>
                <a:latin typeface="Microsoft YaHei" pitchFamily="34" charset="0"/>
                <a:ea typeface="Microsoft YaHei" pitchFamily="34" charset="-122"/>
                <a:cs typeface="Microsoft YaHei" pitchFamily="34" charset="-120"/>
              </a:rPr>
              <a:t>规则之间开始出现矛盾积累</a:t>
            </a:r>
            <a:endParaRPr lang="en-US" sz="1200" dirty="0"/>
          </a:p>
        </p:txBody>
      </p:sp>
      <p:sp>
        <p:nvSpPr>
          <p:cNvPr id="21" name="Shape 19"/>
          <p:cNvSpPr/>
          <p:nvPr/>
        </p:nvSpPr>
        <p:spPr>
          <a:xfrm>
            <a:off x="4937760" y="2286000"/>
            <a:ext cx="109728" cy="109728"/>
          </a:xfrm>
          <a:prstGeom prst="ellipse">
            <a:avLst/>
          </a:prstGeom>
          <a:solidFill>
            <a:srgbClr val="EF4444"/>
          </a:solidFill>
          <a:ln/>
        </p:spPr>
      </p:sp>
      <p:sp>
        <p:nvSpPr>
          <p:cNvPr id="22" name="Text 20"/>
          <p:cNvSpPr/>
          <p:nvPr/>
        </p:nvSpPr>
        <p:spPr>
          <a:xfrm>
            <a:off x="5166360" y="2194560"/>
            <a:ext cx="3291840" cy="457200"/>
          </a:xfrm>
          <a:prstGeom prst="rect">
            <a:avLst/>
          </a:prstGeom>
          <a:noFill/>
          <a:ln/>
        </p:spPr>
        <p:txBody>
          <a:bodyPr wrap="square" rtlCol="0" anchor="ctr"/>
          <a:lstStyle/>
          <a:p>
            <a:pPr indent="0" marL="0">
              <a:buNone/>
            </a:pPr>
            <a:r>
              <a:rPr lang="en-US" sz="1200" dirty="0">
                <a:solidFill>
                  <a:srgbClr val="374151"/>
                </a:solidFill>
                <a:latin typeface="Microsoft YaHei" pitchFamily="34" charset="0"/>
                <a:ea typeface="Microsoft YaHei" pitchFamily="34" charset="-122"/>
                <a:cs typeface="Microsoft YaHei" pitchFamily="34" charset="-120"/>
              </a:rPr>
              <a:t>业务场景已经大幅偏移初始设计</a:t>
            </a:r>
            <a:endParaRPr lang="en-US" sz="1200" dirty="0"/>
          </a:p>
        </p:txBody>
      </p:sp>
      <p:sp>
        <p:nvSpPr>
          <p:cNvPr id="23" name="Shape 21"/>
          <p:cNvSpPr/>
          <p:nvPr/>
        </p:nvSpPr>
        <p:spPr>
          <a:xfrm>
            <a:off x="4937760" y="2880360"/>
            <a:ext cx="109728" cy="109728"/>
          </a:xfrm>
          <a:prstGeom prst="ellipse">
            <a:avLst/>
          </a:prstGeom>
          <a:solidFill>
            <a:srgbClr val="EF4444"/>
          </a:solidFill>
          <a:ln/>
        </p:spPr>
      </p:sp>
      <p:sp>
        <p:nvSpPr>
          <p:cNvPr id="24" name="Text 22"/>
          <p:cNvSpPr/>
          <p:nvPr/>
        </p:nvSpPr>
        <p:spPr>
          <a:xfrm>
            <a:off x="5166360" y="2788920"/>
            <a:ext cx="3291840" cy="457200"/>
          </a:xfrm>
          <a:prstGeom prst="rect">
            <a:avLst/>
          </a:prstGeom>
          <a:noFill/>
          <a:ln/>
        </p:spPr>
        <p:txBody>
          <a:bodyPr wrap="square" rtlCol="0" anchor="ctr"/>
          <a:lstStyle/>
          <a:p>
            <a:pPr indent="0" marL="0">
              <a:buNone/>
            </a:pPr>
            <a:r>
              <a:rPr lang="en-US" sz="1200" dirty="0">
                <a:solidFill>
                  <a:srgbClr val="374151"/>
                </a:solidFill>
                <a:latin typeface="Microsoft YaHei" pitchFamily="34" charset="0"/>
                <a:ea typeface="Microsoft YaHei" pitchFamily="34" charset="-122"/>
                <a:cs typeface="Microsoft YaHei" pitchFamily="34" charset="-120"/>
              </a:rPr>
              <a:t>知识库已经和现实严重不符</a:t>
            </a:r>
            <a:endParaRPr lang="en-US" sz="1200" dirty="0"/>
          </a:p>
        </p:txBody>
      </p:sp>
      <p:sp>
        <p:nvSpPr>
          <p:cNvPr id="25" name="Shape 23"/>
          <p:cNvSpPr/>
          <p:nvPr/>
        </p:nvSpPr>
        <p:spPr>
          <a:xfrm>
            <a:off x="4937760" y="3566160"/>
            <a:ext cx="3566160" cy="914400"/>
          </a:xfrm>
          <a:prstGeom prst="rect">
            <a:avLst/>
          </a:prstGeom>
          <a:solidFill>
            <a:srgbClr val="FFFFFF"/>
          </a:solidFill>
          <a:ln w="12700">
            <a:solidFill>
              <a:srgbClr val="EF4444"/>
            </a:solidFill>
            <a:prstDash val="solid"/>
          </a:ln>
        </p:spPr>
      </p:sp>
      <p:sp>
        <p:nvSpPr>
          <p:cNvPr id="26" name="Text 24"/>
          <p:cNvSpPr/>
          <p:nvPr/>
        </p:nvSpPr>
        <p:spPr>
          <a:xfrm>
            <a:off x="5074920" y="3657600"/>
            <a:ext cx="3291840" cy="320040"/>
          </a:xfrm>
          <a:prstGeom prst="rect">
            <a:avLst/>
          </a:prstGeom>
          <a:noFill/>
          <a:ln/>
        </p:spPr>
        <p:txBody>
          <a:bodyPr wrap="square" rtlCol="0" anchor="ctr"/>
          <a:lstStyle/>
          <a:p>
            <a:pPr indent="0" marL="0">
              <a:buNone/>
            </a:pPr>
            <a:r>
              <a:rPr lang="en-US" sz="1100" b="1" dirty="0">
                <a:solidFill>
                  <a:srgbClr val="EF4444"/>
                </a:solidFill>
                <a:latin typeface="Microsoft YaHei" pitchFamily="34" charset="0"/>
                <a:ea typeface="Microsoft YaHei" pitchFamily="34" charset="-122"/>
                <a:cs typeface="Microsoft YaHei" pitchFamily="34" charset="-120"/>
              </a:rPr>
              <a:t>需要</a:t>
            </a:r>
            <a:endParaRPr lang="en-US" sz="1100" dirty="0"/>
          </a:p>
        </p:txBody>
      </p:sp>
      <p:sp>
        <p:nvSpPr>
          <p:cNvPr id="27" name="Text 25"/>
          <p:cNvSpPr/>
          <p:nvPr/>
        </p:nvSpPr>
        <p:spPr>
          <a:xfrm>
            <a:off x="5074920" y="3977640"/>
            <a:ext cx="3291840" cy="457200"/>
          </a:xfrm>
          <a:prstGeom prst="rect">
            <a:avLst/>
          </a:prstGeom>
          <a:noFill/>
          <a:ln/>
        </p:spPr>
        <p:txBody>
          <a:bodyPr wrap="square" rtlCol="0" anchor="ctr"/>
          <a:lstStyle/>
          <a:p>
            <a:pPr indent="0" marL="0">
              <a:buNone/>
            </a:pPr>
            <a:r>
              <a:rPr lang="en-US" sz="1200" b="1" dirty="0">
                <a:solidFill>
                  <a:srgbClr val="B91C1C"/>
                </a:solidFill>
                <a:latin typeface="Microsoft YaHei" pitchFamily="34" charset="0"/>
                <a:ea typeface="Microsoft YaHei" pitchFamily="34" charset="-122"/>
                <a:cs typeface="Microsoft YaHei" pitchFamily="34" charset="-120"/>
              </a:rPr>
              <a:t>重新萃取经验、重新设计规则</a:t>
            </a:r>
            <a:endParaRPr lang="en-US" sz="1200" dirty="0"/>
          </a:p>
        </p:txBody>
      </p:sp>
      <p:sp>
        <p:nvSpPr>
          <p:cNvPr id="28" name="Text 26"/>
          <p:cNvSpPr/>
          <p:nvPr/>
        </p:nvSpPr>
        <p:spPr>
          <a:xfrm>
            <a:off x="8503920" y="4663440"/>
            <a:ext cx="457200" cy="274320"/>
          </a:xfrm>
          <a:prstGeom prst="rect">
            <a:avLst/>
          </a:prstGeom>
          <a:noFill/>
          <a:ln/>
        </p:spPr>
        <p:txBody>
          <a:bodyPr wrap="square" rtlCol="0" anchor="ctr"/>
          <a:lstStyle/>
          <a:p>
            <a:pPr algn="r" indent="0" marL="0">
              <a:buNone/>
            </a:pPr>
            <a:r>
              <a:rPr lang="en-US" sz="1000" dirty="0">
                <a:solidFill>
                  <a:srgbClr val="374151"/>
                </a:solidFill>
                <a:latin typeface="Arial" pitchFamily="34" charset="0"/>
                <a:ea typeface="Arial" pitchFamily="34" charset="-122"/>
                <a:cs typeface="Arial" pitchFamily="34" charset="-120"/>
              </a:rPr>
              <a:t>92</a:t>
            </a:r>
            <a:endParaRPr lang="en-US" sz="10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274320"/>
            <a:ext cx="8229600" cy="548640"/>
          </a:xfrm>
          <a:prstGeom prst="rect">
            <a:avLst/>
          </a:prstGeom>
          <a:noFill/>
          <a:ln/>
        </p:spPr>
        <p:txBody>
          <a:bodyPr wrap="square" rtlCol="0" anchor="ctr"/>
          <a:lstStyle/>
          <a:p>
            <a:pPr indent="0" marL="0">
              <a:buNone/>
            </a:pPr>
            <a:r>
              <a:rPr lang="en-US" sz="2400" b="1" dirty="0">
                <a:solidFill>
                  <a:srgbClr val="B91C1C"/>
                </a:solidFill>
                <a:latin typeface="Microsoft YaHei" pitchFamily="34" charset="0"/>
                <a:ea typeface="Microsoft YaHei" pitchFamily="34" charset="-122"/>
                <a:cs typeface="Microsoft YaHei" pitchFamily="34" charset="-120"/>
              </a:rPr>
              <a:t>建立反馈机制</a:t>
            </a:r>
            <a:endParaRPr lang="en-US" sz="2400" dirty="0"/>
          </a:p>
        </p:txBody>
      </p:sp>
      <p:sp>
        <p:nvSpPr>
          <p:cNvPr id="4" name="Shape 2"/>
          <p:cNvSpPr/>
          <p:nvPr/>
        </p:nvSpPr>
        <p:spPr>
          <a:xfrm>
            <a:off x="457200" y="1005840"/>
            <a:ext cx="2651760" cy="3474720"/>
          </a:xfrm>
          <a:prstGeom prst="rect">
            <a:avLst/>
          </a:prstGeom>
          <a:solidFill>
            <a:srgbClr val="F3F4F6"/>
          </a:solidFill>
          <a:ln/>
        </p:spPr>
      </p:sp>
      <p:sp>
        <p:nvSpPr>
          <p:cNvPr id="5" name="Shape 3"/>
          <p:cNvSpPr/>
          <p:nvPr/>
        </p:nvSpPr>
        <p:spPr>
          <a:xfrm>
            <a:off x="1463040" y="1188720"/>
            <a:ext cx="640080" cy="640080"/>
          </a:xfrm>
          <a:prstGeom prst="ellipse">
            <a:avLst/>
          </a:prstGeom>
          <a:solidFill>
            <a:srgbClr val="EF4444"/>
          </a:solidFill>
          <a:ln/>
        </p:spPr>
      </p:sp>
      <p:sp>
        <p:nvSpPr>
          <p:cNvPr id="6" name="Text 4"/>
          <p:cNvSpPr/>
          <p:nvPr/>
        </p:nvSpPr>
        <p:spPr>
          <a:xfrm>
            <a:off x="1463040" y="1188720"/>
            <a:ext cx="640080" cy="640080"/>
          </a:xfrm>
          <a:prstGeom prst="rect">
            <a:avLst/>
          </a:prstGeom>
          <a:noFill/>
          <a:ln/>
        </p:spPr>
        <p:txBody>
          <a:bodyPr wrap="square"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1</a:t>
            </a:r>
            <a:endParaRPr lang="en-US" sz="2400" dirty="0"/>
          </a:p>
        </p:txBody>
      </p:sp>
      <p:sp>
        <p:nvSpPr>
          <p:cNvPr id="7" name="Text 5"/>
          <p:cNvSpPr/>
          <p:nvPr/>
        </p:nvSpPr>
        <p:spPr>
          <a:xfrm>
            <a:off x="640080" y="2011680"/>
            <a:ext cx="2286000" cy="457200"/>
          </a:xfrm>
          <a:prstGeom prst="rect">
            <a:avLst/>
          </a:prstGeom>
          <a:noFill/>
          <a:ln/>
        </p:spPr>
        <p:txBody>
          <a:bodyPr wrap="square" rtlCol="0" anchor="ctr"/>
          <a:lstStyle/>
          <a:p>
            <a:pPr algn="ctr" indent="0" marL="0">
              <a:buNone/>
            </a:pPr>
            <a:r>
              <a:rPr lang="en-US" sz="1500" b="1" dirty="0">
                <a:solidFill>
                  <a:srgbClr val="B91C1C"/>
                </a:solidFill>
                <a:latin typeface="Microsoft YaHei" pitchFamily="34" charset="0"/>
                <a:ea typeface="Microsoft YaHei" pitchFamily="34" charset="-122"/>
                <a:cs typeface="Microsoft YaHei" pitchFamily="34" charset="-120"/>
              </a:rPr>
              <a:t>确定反馈人</a:t>
            </a:r>
            <a:endParaRPr lang="en-US" sz="1500" dirty="0"/>
          </a:p>
        </p:txBody>
      </p:sp>
      <p:sp>
        <p:nvSpPr>
          <p:cNvPr id="8" name="Text 6"/>
          <p:cNvSpPr/>
          <p:nvPr/>
        </p:nvSpPr>
        <p:spPr>
          <a:xfrm>
            <a:off x="640080" y="2560320"/>
            <a:ext cx="2286000" cy="1645920"/>
          </a:xfrm>
          <a:prstGeom prst="rect">
            <a:avLst/>
          </a:prstGeom>
          <a:noFill/>
          <a:ln/>
        </p:spPr>
        <p:txBody>
          <a:bodyPr wrap="square" rtlCol="0" anchor="ctr"/>
          <a:lstStyle/>
          <a:p>
            <a:pPr algn="ctr" indent="0" marL="0">
              <a:buNone/>
            </a:pPr>
            <a:r>
              <a:rPr lang="en-US" sz="1300" dirty="0">
                <a:solidFill>
                  <a:srgbClr val="374151"/>
                </a:solidFill>
                <a:latin typeface="Microsoft YaHei" pitchFamily="34" charset="0"/>
                <a:ea typeface="Microsoft YaHei" pitchFamily="34" charset="-122"/>
                <a:cs typeface="Microsoft YaHei" pitchFamily="34" charset="-120"/>
              </a:rPr>
              <a:t>谁在日常工作中使用这个Skill</a:t>
            </a:r>
            <a:endParaRPr lang="en-US" sz="1300" dirty="0"/>
          </a:p>
        </p:txBody>
      </p:sp>
      <p:sp>
        <p:nvSpPr>
          <p:cNvPr id="9" name="Shape 7"/>
          <p:cNvSpPr/>
          <p:nvPr/>
        </p:nvSpPr>
        <p:spPr>
          <a:xfrm>
            <a:off x="3291840" y="1005840"/>
            <a:ext cx="2651760" cy="3474720"/>
          </a:xfrm>
          <a:prstGeom prst="rect">
            <a:avLst/>
          </a:prstGeom>
          <a:solidFill>
            <a:srgbClr val="F3F4F6"/>
          </a:solidFill>
          <a:ln/>
        </p:spPr>
      </p:sp>
      <p:sp>
        <p:nvSpPr>
          <p:cNvPr id="10" name="Shape 8"/>
          <p:cNvSpPr/>
          <p:nvPr/>
        </p:nvSpPr>
        <p:spPr>
          <a:xfrm>
            <a:off x="4297680" y="1188720"/>
            <a:ext cx="640080" cy="640080"/>
          </a:xfrm>
          <a:prstGeom prst="ellipse">
            <a:avLst/>
          </a:prstGeom>
          <a:solidFill>
            <a:srgbClr val="EF4444"/>
          </a:solidFill>
          <a:ln/>
        </p:spPr>
      </p:sp>
      <p:sp>
        <p:nvSpPr>
          <p:cNvPr id="11" name="Text 9"/>
          <p:cNvSpPr/>
          <p:nvPr/>
        </p:nvSpPr>
        <p:spPr>
          <a:xfrm>
            <a:off x="4297680" y="1188720"/>
            <a:ext cx="640080" cy="640080"/>
          </a:xfrm>
          <a:prstGeom prst="rect">
            <a:avLst/>
          </a:prstGeom>
          <a:noFill/>
          <a:ln/>
        </p:spPr>
        <p:txBody>
          <a:bodyPr wrap="square"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2</a:t>
            </a:r>
            <a:endParaRPr lang="en-US" sz="2400" dirty="0"/>
          </a:p>
        </p:txBody>
      </p:sp>
      <p:sp>
        <p:nvSpPr>
          <p:cNvPr id="12" name="Text 10"/>
          <p:cNvSpPr/>
          <p:nvPr/>
        </p:nvSpPr>
        <p:spPr>
          <a:xfrm>
            <a:off x="3474720" y="2011680"/>
            <a:ext cx="2286000" cy="457200"/>
          </a:xfrm>
          <a:prstGeom prst="rect">
            <a:avLst/>
          </a:prstGeom>
          <a:noFill/>
          <a:ln/>
        </p:spPr>
        <p:txBody>
          <a:bodyPr wrap="square" rtlCol="0" anchor="ctr"/>
          <a:lstStyle/>
          <a:p>
            <a:pPr algn="ctr" indent="0" marL="0">
              <a:buNone/>
            </a:pPr>
            <a:r>
              <a:rPr lang="en-US" sz="1500" b="1" dirty="0">
                <a:solidFill>
                  <a:srgbClr val="B91C1C"/>
                </a:solidFill>
                <a:latin typeface="Microsoft YaHei" pitchFamily="34" charset="0"/>
                <a:ea typeface="Microsoft YaHei" pitchFamily="34" charset="-122"/>
                <a:cs typeface="Microsoft YaHei" pitchFamily="34" charset="-120"/>
              </a:rPr>
              <a:t>规范反馈内容</a:t>
            </a:r>
            <a:endParaRPr lang="en-US" sz="1500" dirty="0"/>
          </a:p>
        </p:txBody>
      </p:sp>
      <p:sp>
        <p:nvSpPr>
          <p:cNvPr id="13" name="Text 11"/>
          <p:cNvSpPr/>
          <p:nvPr/>
        </p:nvSpPr>
        <p:spPr>
          <a:xfrm>
            <a:off x="3474720" y="2560320"/>
            <a:ext cx="2286000" cy="1645920"/>
          </a:xfrm>
          <a:prstGeom prst="rect">
            <a:avLst/>
          </a:prstGeom>
          <a:noFill/>
          <a:ln/>
        </p:spPr>
        <p:txBody>
          <a:bodyPr wrap="square" rtlCol="0" anchor="ctr"/>
          <a:lstStyle/>
          <a:p>
            <a:pPr algn="ctr" indent="0" marL="0">
              <a:buNone/>
            </a:pPr>
            <a:r>
              <a:rPr lang="en-US" sz="1300" dirty="0">
                <a:solidFill>
                  <a:srgbClr val="374151"/>
                </a:solidFill>
                <a:latin typeface="Microsoft YaHei" pitchFamily="34" charset="0"/>
                <a:ea typeface="Microsoft YaHei" pitchFamily="34" charset="-122"/>
                <a:cs typeface="Microsoft YaHei" pitchFamily="34" charset="-120"/>
              </a:rPr>
              <a:t>不是"感觉不太对"，而是"具体哪条输出，有什么问题"</a:t>
            </a:r>
            <a:endParaRPr lang="en-US" sz="1300" dirty="0"/>
          </a:p>
        </p:txBody>
      </p:sp>
      <p:sp>
        <p:nvSpPr>
          <p:cNvPr id="14" name="Shape 12"/>
          <p:cNvSpPr/>
          <p:nvPr/>
        </p:nvSpPr>
        <p:spPr>
          <a:xfrm>
            <a:off x="6126480" y="1005840"/>
            <a:ext cx="2651760" cy="3474720"/>
          </a:xfrm>
          <a:prstGeom prst="rect">
            <a:avLst/>
          </a:prstGeom>
          <a:solidFill>
            <a:srgbClr val="F3F4F6"/>
          </a:solidFill>
          <a:ln/>
        </p:spPr>
      </p:sp>
      <p:sp>
        <p:nvSpPr>
          <p:cNvPr id="15" name="Shape 13"/>
          <p:cNvSpPr/>
          <p:nvPr/>
        </p:nvSpPr>
        <p:spPr>
          <a:xfrm>
            <a:off x="7132320" y="1188720"/>
            <a:ext cx="640080" cy="640080"/>
          </a:xfrm>
          <a:prstGeom prst="ellipse">
            <a:avLst/>
          </a:prstGeom>
          <a:solidFill>
            <a:srgbClr val="EF4444"/>
          </a:solidFill>
          <a:ln/>
        </p:spPr>
      </p:sp>
      <p:sp>
        <p:nvSpPr>
          <p:cNvPr id="16" name="Text 14"/>
          <p:cNvSpPr/>
          <p:nvPr/>
        </p:nvSpPr>
        <p:spPr>
          <a:xfrm>
            <a:off x="7132320" y="1188720"/>
            <a:ext cx="640080" cy="640080"/>
          </a:xfrm>
          <a:prstGeom prst="rect">
            <a:avLst/>
          </a:prstGeom>
          <a:noFill/>
          <a:ln/>
        </p:spPr>
        <p:txBody>
          <a:bodyPr wrap="square"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3</a:t>
            </a:r>
            <a:endParaRPr lang="en-US" sz="2400" dirty="0"/>
          </a:p>
        </p:txBody>
      </p:sp>
      <p:sp>
        <p:nvSpPr>
          <p:cNvPr id="17" name="Text 15"/>
          <p:cNvSpPr/>
          <p:nvPr/>
        </p:nvSpPr>
        <p:spPr>
          <a:xfrm>
            <a:off x="6309360" y="2011680"/>
            <a:ext cx="2286000" cy="457200"/>
          </a:xfrm>
          <a:prstGeom prst="rect">
            <a:avLst/>
          </a:prstGeom>
          <a:noFill/>
          <a:ln/>
        </p:spPr>
        <p:txBody>
          <a:bodyPr wrap="square" rtlCol="0" anchor="ctr"/>
          <a:lstStyle/>
          <a:p>
            <a:pPr algn="ctr" indent="0" marL="0">
              <a:buNone/>
            </a:pPr>
            <a:r>
              <a:rPr lang="en-US" sz="1500" b="1" dirty="0">
                <a:solidFill>
                  <a:srgbClr val="B91C1C"/>
                </a:solidFill>
                <a:latin typeface="Microsoft YaHei" pitchFamily="34" charset="0"/>
                <a:ea typeface="Microsoft YaHei" pitchFamily="34" charset="-122"/>
                <a:cs typeface="Microsoft YaHei" pitchFamily="34" charset="-120"/>
              </a:rPr>
              <a:t>建立问题台账</a:t>
            </a:r>
            <a:endParaRPr lang="en-US" sz="1500" dirty="0"/>
          </a:p>
        </p:txBody>
      </p:sp>
      <p:sp>
        <p:nvSpPr>
          <p:cNvPr id="18" name="Text 16"/>
          <p:cNvSpPr/>
          <p:nvPr/>
        </p:nvSpPr>
        <p:spPr>
          <a:xfrm>
            <a:off x="6309360" y="2560320"/>
            <a:ext cx="2286000" cy="1645920"/>
          </a:xfrm>
          <a:prstGeom prst="rect">
            <a:avLst/>
          </a:prstGeom>
          <a:noFill/>
          <a:ln/>
        </p:spPr>
        <p:txBody>
          <a:bodyPr wrap="square" rtlCol="0" anchor="ctr"/>
          <a:lstStyle/>
          <a:p>
            <a:pPr algn="ctr" indent="0" marL="0">
              <a:buNone/>
            </a:pPr>
            <a:r>
              <a:rPr lang="en-US" sz="1300" dirty="0">
                <a:solidFill>
                  <a:srgbClr val="374151"/>
                </a:solidFill>
                <a:latin typeface="Microsoft YaHei" pitchFamily="34" charset="0"/>
                <a:ea typeface="Microsoft YaHei" pitchFamily="34" charset="-122"/>
                <a:cs typeface="Microsoft YaHei" pitchFamily="34" charset="-120"/>
              </a:rPr>
              <a:t>按发现频次和影响程度排优先级</a:t>
            </a:r>
            <a:endParaRPr lang="en-US" sz="1300" dirty="0"/>
          </a:p>
        </p:txBody>
      </p:sp>
      <p:sp>
        <p:nvSpPr>
          <p:cNvPr id="19" name="Text 17"/>
          <p:cNvSpPr/>
          <p:nvPr/>
        </p:nvSpPr>
        <p:spPr>
          <a:xfrm>
            <a:off x="8503920" y="4663440"/>
            <a:ext cx="457200" cy="274320"/>
          </a:xfrm>
          <a:prstGeom prst="rect">
            <a:avLst/>
          </a:prstGeom>
          <a:noFill/>
          <a:ln/>
        </p:spPr>
        <p:txBody>
          <a:bodyPr wrap="square" rtlCol="0" anchor="ctr"/>
          <a:lstStyle/>
          <a:p>
            <a:pPr algn="r" indent="0" marL="0">
              <a:buNone/>
            </a:pPr>
            <a:r>
              <a:rPr lang="en-US" sz="1000" dirty="0">
                <a:solidFill>
                  <a:srgbClr val="374151"/>
                </a:solidFill>
                <a:latin typeface="Arial" pitchFamily="34" charset="0"/>
                <a:ea typeface="Arial" pitchFamily="34" charset="-122"/>
                <a:cs typeface="Arial" pitchFamily="34" charset="-120"/>
              </a:rPr>
              <a:t>93</a:t>
            </a:r>
            <a:endParaRPr lang="en-US" sz="10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274320"/>
            <a:ext cx="8229600" cy="548640"/>
          </a:xfrm>
          <a:prstGeom prst="rect">
            <a:avLst/>
          </a:prstGeom>
          <a:noFill/>
          <a:ln/>
        </p:spPr>
        <p:txBody>
          <a:bodyPr wrap="square" rtlCol="0" anchor="ctr"/>
          <a:lstStyle/>
          <a:p>
            <a:pPr indent="0" marL="0">
              <a:buNone/>
            </a:pPr>
            <a:r>
              <a:rPr lang="en-US" sz="2400" b="1" dirty="0">
                <a:solidFill>
                  <a:srgbClr val="B91C1C"/>
                </a:solidFill>
                <a:latin typeface="Microsoft YaHei" pitchFamily="34" charset="0"/>
                <a:ea typeface="Microsoft YaHei" pitchFamily="34" charset="-122"/>
                <a:cs typeface="Microsoft YaHei" pitchFamily="34" charset="-120"/>
              </a:rPr>
              <a:t>推荐反馈格式</a:t>
            </a:r>
            <a:endParaRPr lang="en-US" sz="2400" dirty="0"/>
          </a:p>
        </p:txBody>
      </p:sp>
      <p:sp>
        <p:nvSpPr>
          <p:cNvPr id="4" name="Shape 2"/>
          <p:cNvSpPr/>
          <p:nvPr/>
        </p:nvSpPr>
        <p:spPr>
          <a:xfrm>
            <a:off x="457200" y="914400"/>
            <a:ext cx="8229600" cy="3840480"/>
          </a:xfrm>
          <a:prstGeom prst="rect">
            <a:avLst/>
          </a:prstGeom>
          <a:solidFill>
            <a:srgbClr val="B91C1C"/>
          </a:solidFill>
          <a:ln/>
        </p:spPr>
      </p:sp>
      <p:sp>
        <p:nvSpPr>
          <p:cNvPr id="5" name="Text 3"/>
          <p:cNvSpPr/>
          <p:nvPr/>
        </p:nvSpPr>
        <p:spPr>
          <a:xfrm>
            <a:off x="731520" y="1097280"/>
            <a:ext cx="7680960" cy="457200"/>
          </a:xfrm>
          <a:prstGeom prst="rect">
            <a:avLst/>
          </a:prstGeom>
          <a:noFill/>
          <a:ln/>
        </p:spPr>
        <p:txBody>
          <a:bodyPr wrap="square" rtlCol="0" anchor="ctr"/>
          <a:lstStyle/>
          <a:p>
            <a:pPr indent="0" marL="0">
              <a:buNone/>
            </a:pPr>
            <a:r>
              <a:rPr lang="en-US" sz="1400" dirty="0">
                <a:solidFill>
                  <a:srgbClr val="F3F4F6"/>
                </a:solidFill>
                <a:latin typeface="Consolas" pitchFamily="34" charset="0"/>
                <a:ea typeface="Consolas" pitchFamily="34" charset="-122"/>
                <a:cs typeface="Consolas" pitchFamily="34" charset="-120"/>
              </a:rPr>
              <a:t>输入内容：[具体的输入]</a:t>
            </a:r>
            <a:endParaRPr lang="en-US" sz="1400" dirty="0"/>
          </a:p>
        </p:txBody>
      </p:sp>
      <p:sp>
        <p:nvSpPr>
          <p:cNvPr id="6" name="Text 4"/>
          <p:cNvSpPr/>
          <p:nvPr/>
        </p:nvSpPr>
        <p:spPr>
          <a:xfrm>
            <a:off x="731520" y="1554480"/>
            <a:ext cx="7680960" cy="457200"/>
          </a:xfrm>
          <a:prstGeom prst="rect">
            <a:avLst/>
          </a:prstGeom>
          <a:noFill/>
          <a:ln/>
        </p:spPr>
        <p:txBody>
          <a:bodyPr wrap="square" rtlCol="0" anchor="ctr"/>
          <a:lstStyle/>
          <a:p>
            <a:pPr indent="0" marL="0">
              <a:buNone/>
            </a:pPr>
            <a:r>
              <a:rPr lang="en-US" sz="1400" dirty="0">
                <a:solidFill>
                  <a:srgbClr val="F3F4F6"/>
                </a:solidFill>
                <a:latin typeface="Consolas" pitchFamily="34" charset="0"/>
                <a:ea typeface="Consolas" pitchFamily="34" charset="-122"/>
                <a:cs typeface="Consolas" pitchFamily="34" charset="-120"/>
              </a:rPr>
              <a:t>Skill实际输出：[实际结果]</a:t>
            </a:r>
            <a:endParaRPr lang="en-US" sz="1400" dirty="0"/>
          </a:p>
        </p:txBody>
      </p:sp>
      <p:sp>
        <p:nvSpPr>
          <p:cNvPr id="7" name="Text 5"/>
          <p:cNvSpPr/>
          <p:nvPr/>
        </p:nvSpPr>
        <p:spPr>
          <a:xfrm>
            <a:off x="731520" y="2011680"/>
            <a:ext cx="7680960" cy="457200"/>
          </a:xfrm>
          <a:prstGeom prst="rect">
            <a:avLst/>
          </a:prstGeom>
          <a:noFill/>
          <a:ln/>
        </p:spPr>
        <p:txBody>
          <a:bodyPr wrap="square" rtlCol="0" anchor="ctr"/>
          <a:lstStyle/>
          <a:p>
            <a:pPr indent="0" marL="0">
              <a:buNone/>
            </a:pPr>
            <a:r>
              <a:rPr lang="en-US" sz="1400" dirty="0">
                <a:solidFill>
                  <a:srgbClr val="F3F4F6"/>
                </a:solidFill>
                <a:latin typeface="Consolas" pitchFamily="34" charset="0"/>
                <a:ea typeface="Consolas" pitchFamily="34" charset="-122"/>
                <a:cs typeface="Consolas" pitchFamily="34" charset="-120"/>
              </a:rPr>
              <a:t>我预期的输出应该是：[正确结果]</a:t>
            </a:r>
            <a:endParaRPr lang="en-US" sz="1400" dirty="0"/>
          </a:p>
        </p:txBody>
      </p:sp>
      <p:sp>
        <p:nvSpPr>
          <p:cNvPr id="8" name="Text 6"/>
          <p:cNvSpPr/>
          <p:nvPr/>
        </p:nvSpPr>
        <p:spPr>
          <a:xfrm>
            <a:off x="731520" y="2560320"/>
            <a:ext cx="7680960" cy="457200"/>
          </a:xfrm>
          <a:prstGeom prst="rect">
            <a:avLst/>
          </a:prstGeom>
          <a:noFill/>
          <a:ln/>
        </p:spPr>
        <p:txBody>
          <a:bodyPr wrap="square" rtlCol="0" anchor="ctr"/>
          <a:lstStyle/>
          <a:p>
            <a:pPr indent="0" marL="0">
              <a:buNone/>
            </a:pPr>
            <a:r>
              <a:rPr lang="en-US" sz="1400" dirty="0">
                <a:solidFill>
                  <a:srgbClr val="F3F4F6"/>
                </a:solidFill>
                <a:latin typeface="Microsoft YaHei" pitchFamily="34" charset="0"/>
                <a:ea typeface="Microsoft YaHei" pitchFamily="34" charset="-122"/>
                <a:cs typeface="Microsoft YaHei" pitchFamily="34" charset="-120"/>
              </a:rPr>
              <a:t>这次差异属于哪类问题：</a:t>
            </a:r>
            <a:endParaRPr lang="en-US" sz="1400" dirty="0"/>
          </a:p>
        </p:txBody>
      </p:sp>
      <p:sp>
        <p:nvSpPr>
          <p:cNvPr id="9" name="Shape 7"/>
          <p:cNvSpPr/>
          <p:nvPr/>
        </p:nvSpPr>
        <p:spPr>
          <a:xfrm>
            <a:off x="731520" y="3108960"/>
            <a:ext cx="182880" cy="182880"/>
          </a:xfrm>
          <a:prstGeom prst="rect">
            <a:avLst/>
          </a:prstGeom>
          <a:noFill/>
          <a:ln w="12700">
            <a:solidFill>
              <a:srgbClr val="F3F4F6"/>
            </a:solidFill>
            <a:prstDash val="solid"/>
          </a:ln>
        </p:spPr>
      </p:sp>
      <p:sp>
        <p:nvSpPr>
          <p:cNvPr id="10" name="Text 8"/>
          <p:cNvSpPr/>
          <p:nvPr/>
        </p:nvSpPr>
        <p:spPr>
          <a:xfrm>
            <a:off x="1005840" y="3063240"/>
            <a:ext cx="1188720" cy="274320"/>
          </a:xfrm>
          <a:prstGeom prst="rect">
            <a:avLst/>
          </a:prstGeom>
          <a:noFill/>
          <a:ln/>
        </p:spPr>
        <p:txBody>
          <a:bodyPr wrap="square" rtlCol="0" anchor="ctr"/>
          <a:lstStyle/>
          <a:p>
            <a:pPr indent="0" marL="0">
              <a:buNone/>
            </a:pPr>
            <a:r>
              <a:rPr lang="en-US" sz="1200" dirty="0">
                <a:solidFill>
                  <a:srgbClr val="F3F4F6"/>
                </a:solidFill>
                <a:latin typeface="Microsoft YaHei" pitchFamily="34" charset="0"/>
                <a:ea typeface="Microsoft YaHei" pitchFamily="34" charset="-122"/>
                <a:cs typeface="Microsoft YaHei" pitchFamily="34" charset="-120"/>
              </a:rPr>
              <a:t>格式</a:t>
            </a:r>
            <a:endParaRPr lang="en-US" sz="1200" dirty="0"/>
          </a:p>
        </p:txBody>
      </p:sp>
      <p:sp>
        <p:nvSpPr>
          <p:cNvPr id="11" name="Shape 9"/>
          <p:cNvSpPr/>
          <p:nvPr/>
        </p:nvSpPr>
        <p:spPr>
          <a:xfrm>
            <a:off x="2286000" y="3108960"/>
            <a:ext cx="182880" cy="182880"/>
          </a:xfrm>
          <a:prstGeom prst="rect">
            <a:avLst/>
          </a:prstGeom>
          <a:noFill/>
          <a:ln w="12700">
            <a:solidFill>
              <a:srgbClr val="F3F4F6"/>
            </a:solidFill>
            <a:prstDash val="solid"/>
          </a:ln>
        </p:spPr>
      </p:sp>
      <p:sp>
        <p:nvSpPr>
          <p:cNvPr id="12" name="Text 10"/>
          <p:cNvSpPr/>
          <p:nvPr/>
        </p:nvSpPr>
        <p:spPr>
          <a:xfrm>
            <a:off x="2560320" y="3063240"/>
            <a:ext cx="1188720" cy="274320"/>
          </a:xfrm>
          <a:prstGeom prst="rect">
            <a:avLst/>
          </a:prstGeom>
          <a:noFill/>
          <a:ln/>
        </p:spPr>
        <p:txBody>
          <a:bodyPr wrap="square" rtlCol="0" anchor="ctr"/>
          <a:lstStyle/>
          <a:p>
            <a:pPr indent="0" marL="0">
              <a:buNone/>
            </a:pPr>
            <a:r>
              <a:rPr lang="en-US" sz="1200" dirty="0">
                <a:solidFill>
                  <a:srgbClr val="F3F4F6"/>
                </a:solidFill>
                <a:latin typeface="Microsoft YaHei" pitchFamily="34" charset="0"/>
                <a:ea typeface="Microsoft YaHei" pitchFamily="34" charset="-122"/>
                <a:cs typeface="Microsoft YaHei" pitchFamily="34" charset="-120"/>
              </a:rPr>
              <a:t>规则遗漏</a:t>
            </a:r>
            <a:endParaRPr lang="en-US" sz="1200" dirty="0"/>
          </a:p>
        </p:txBody>
      </p:sp>
      <p:sp>
        <p:nvSpPr>
          <p:cNvPr id="13" name="Shape 11"/>
          <p:cNvSpPr/>
          <p:nvPr/>
        </p:nvSpPr>
        <p:spPr>
          <a:xfrm>
            <a:off x="3840480" y="3108960"/>
            <a:ext cx="182880" cy="182880"/>
          </a:xfrm>
          <a:prstGeom prst="rect">
            <a:avLst/>
          </a:prstGeom>
          <a:noFill/>
          <a:ln w="12700">
            <a:solidFill>
              <a:srgbClr val="F3F4F6"/>
            </a:solidFill>
            <a:prstDash val="solid"/>
          </a:ln>
        </p:spPr>
      </p:sp>
      <p:sp>
        <p:nvSpPr>
          <p:cNvPr id="14" name="Text 12"/>
          <p:cNvSpPr/>
          <p:nvPr/>
        </p:nvSpPr>
        <p:spPr>
          <a:xfrm>
            <a:off x="4114800" y="3063240"/>
            <a:ext cx="1188720" cy="274320"/>
          </a:xfrm>
          <a:prstGeom prst="rect">
            <a:avLst/>
          </a:prstGeom>
          <a:noFill/>
          <a:ln/>
        </p:spPr>
        <p:txBody>
          <a:bodyPr wrap="square" rtlCol="0" anchor="ctr"/>
          <a:lstStyle/>
          <a:p>
            <a:pPr indent="0" marL="0">
              <a:buNone/>
            </a:pPr>
            <a:r>
              <a:rPr lang="en-US" sz="1200" dirty="0">
                <a:solidFill>
                  <a:srgbClr val="F3F4F6"/>
                </a:solidFill>
                <a:latin typeface="Microsoft YaHei" pitchFamily="34" charset="0"/>
                <a:ea typeface="Microsoft YaHei" pitchFamily="34" charset="-122"/>
                <a:cs typeface="Microsoft YaHei" pitchFamily="34" charset="-120"/>
              </a:rPr>
              <a:t>兜底失效</a:t>
            </a:r>
            <a:endParaRPr lang="en-US" sz="1200" dirty="0"/>
          </a:p>
        </p:txBody>
      </p:sp>
      <p:sp>
        <p:nvSpPr>
          <p:cNvPr id="15" name="Shape 13"/>
          <p:cNvSpPr/>
          <p:nvPr/>
        </p:nvSpPr>
        <p:spPr>
          <a:xfrm>
            <a:off x="5394960" y="3108960"/>
            <a:ext cx="182880" cy="182880"/>
          </a:xfrm>
          <a:prstGeom prst="rect">
            <a:avLst/>
          </a:prstGeom>
          <a:noFill/>
          <a:ln w="12700">
            <a:solidFill>
              <a:srgbClr val="F3F4F6"/>
            </a:solidFill>
            <a:prstDash val="solid"/>
          </a:ln>
        </p:spPr>
      </p:sp>
      <p:sp>
        <p:nvSpPr>
          <p:cNvPr id="16" name="Text 14"/>
          <p:cNvSpPr/>
          <p:nvPr/>
        </p:nvSpPr>
        <p:spPr>
          <a:xfrm>
            <a:off x="5669280" y="3063240"/>
            <a:ext cx="1188720" cy="274320"/>
          </a:xfrm>
          <a:prstGeom prst="rect">
            <a:avLst/>
          </a:prstGeom>
          <a:noFill/>
          <a:ln/>
        </p:spPr>
        <p:txBody>
          <a:bodyPr wrap="square" rtlCol="0" anchor="ctr"/>
          <a:lstStyle/>
          <a:p>
            <a:pPr indent="0" marL="0">
              <a:buNone/>
            </a:pPr>
            <a:r>
              <a:rPr lang="en-US" sz="1200" dirty="0">
                <a:solidFill>
                  <a:srgbClr val="F3F4F6"/>
                </a:solidFill>
                <a:latin typeface="Microsoft YaHei" pitchFamily="34" charset="0"/>
                <a:ea typeface="Microsoft YaHei" pitchFamily="34" charset="-122"/>
                <a:cs typeface="Microsoft YaHei" pitchFamily="34" charset="-120"/>
              </a:rPr>
              <a:t>知识库缺口</a:t>
            </a:r>
            <a:endParaRPr lang="en-US" sz="1200" dirty="0"/>
          </a:p>
        </p:txBody>
      </p:sp>
      <p:sp>
        <p:nvSpPr>
          <p:cNvPr id="17" name="Shape 15"/>
          <p:cNvSpPr/>
          <p:nvPr/>
        </p:nvSpPr>
        <p:spPr>
          <a:xfrm>
            <a:off x="6949440" y="3108960"/>
            <a:ext cx="182880" cy="182880"/>
          </a:xfrm>
          <a:prstGeom prst="rect">
            <a:avLst/>
          </a:prstGeom>
          <a:noFill/>
          <a:ln w="12700">
            <a:solidFill>
              <a:srgbClr val="F3F4F6"/>
            </a:solidFill>
            <a:prstDash val="solid"/>
          </a:ln>
        </p:spPr>
      </p:sp>
      <p:sp>
        <p:nvSpPr>
          <p:cNvPr id="18" name="Text 16"/>
          <p:cNvSpPr/>
          <p:nvPr/>
        </p:nvSpPr>
        <p:spPr>
          <a:xfrm>
            <a:off x="7223760" y="3063240"/>
            <a:ext cx="1188720" cy="274320"/>
          </a:xfrm>
          <a:prstGeom prst="rect">
            <a:avLst/>
          </a:prstGeom>
          <a:noFill/>
          <a:ln/>
        </p:spPr>
        <p:txBody>
          <a:bodyPr wrap="square" rtlCol="0" anchor="ctr"/>
          <a:lstStyle/>
          <a:p>
            <a:pPr indent="0" marL="0">
              <a:buNone/>
            </a:pPr>
            <a:r>
              <a:rPr lang="en-US" sz="1200" dirty="0">
                <a:solidFill>
                  <a:srgbClr val="F3F4F6"/>
                </a:solidFill>
                <a:latin typeface="Microsoft YaHei" pitchFamily="34" charset="0"/>
                <a:ea typeface="Microsoft YaHei" pitchFamily="34" charset="-122"/>
                <a:cs typeface="Microsoft YaHei" pitchFamily="34" charset="-120"/>
              </a:rPr>
              <a:t>其他</a:t>
            </a:r>
            <a:endParaRPr lang="en-US" sz="1200" dirty="0"/>
          </a:p>
        </p:txBody>
      </p:sp>
      <p:sp>
        <p:nvSpPr>
          <p:cNvPr id="19" name="Shape 17"/>
          <p:cNvSpPr/>
          <p:nvPr/>
        </p:nvSpPr>
        <p:spPr>
          <a:xfrm>
            <a:off x="731520" y="3657600"/>
            <a:ext cx="7680960" cy="0"/>
          </a:xfrm>
          <a:prstGeom prst="line">
            <a:avLst/>
          </a:prstGeom>
          <a:noFill/>
          <a:ln w="12700">
            <a:solidFill>
              <a:srgbClr val="374151"/>
            </a:solidFill>
            <a:prstDash val="solid"/>
          </a:ln>
        </p:spPr>
      </p:sp>
      <p:sp>
        <p:nvSpPr>
          <p:cNvPr id="20" name="Text 18"/>
          <p:cNvSpPr/>
          <p:nvPr/>
        </p:nvSpPr>
        <p:spPr>
          <a:xfrm>
            <a:off x="731520" y="3840480"/>
            <a:ext cx="7680960" cy="365760"/>
          </a:xfrm>
          <a:prstGeom prst="rect">
            <a:avLst/>
          </a:prstGeom>
          <a:noFill/>
          <a:ln/>
        </p:spPr>
        <p:txBody>
          <a:bodyPr wrap="square" rtlCol="0" anchor="ctr"/>
          <a:lstStyle/>
          <a:p>
            <a:pPr indent="0" marL="0">
              <a:buNone/>
            </a:pPr>
            <a:r>
              <a:rPr lang="en-US" sz="1200" dirty="0">
                <a:solidFill>
                  <a:srgbClr val="F3F4F6"/>
                </a:solidFill>
                <a:latin typeface="Microsoft YaHei" pitchFamily="34" charset="0"/>
                <a:ea typeface="Microsoft YaHei" pitchFamily="34" charset="-122"/>
                <a:cs typeface="Microsoft YaHei" pitchFamily="34" charset="-120"/>
              </a:rPr>
              <a:t>格式问题 -&gt; 修改输出格式规则</a:t>
            </a:r>
            <a:endParaRPr lang="en-US" sz="1200" dirty="0"/>
          </a:p>
        </p:txBody>
      </p:sp>
      <p:sp>
        <p:nvSpPr>
          <p:cNvPr id="21" name="Text 19"/>
          <p:cNvSpPr/>
          <p:nvPr/>
        </p:nvSpPr>
        <p:spPr>
          <a:xfrm>
            <a:off x="731520" y="4206240"/>
            <a:ext cx="7680960" cy="365760"/>
          </a:xfrm>
          <a:prstGeom prst="rect">
            <a:avLst/>
          </a:prstGeom>
          <a:noFill/>
          <a:ln/>
        </p:spPr>
        <p:txBody>
          <a:bodyPr wrap="square" rtlCol="0" anchor="ctr"/>
          <a:lstStyle/>
          <a:p>
            <a:pPr indent="0" marL="0">
              <a:buNone/>
            </a:pPr>
            <a:r>
              <a:rPr lang="en-US" sz="1200" dirty="0">
                <a:solidFill>
                  <a:srgbClr val="F3F4F6"/>
                </a:solidFill>
                <a:latin typeface="Microsoft YaHei" pitchFamily="34" charset="0"/>
                <a:ea typeface="Microsoft YaHei" pitchFamily="34" charset="-122"/>
                <a:cs typeface="Microsoft YaHei" pitchFamily="34" charset="-120"/>
              </a:rPr>
              <a:t>规则遗漏 -&gt; 补充对应场景的处理规则</a:t>
            </a:r>
            <a:endParaRPr lang="en-US" sz="1200" dirty="0"/>
          </a:p>
        </p:txBody>
      </p:sp>
      <p:sp>
        <p:nvSpPr>
          <p:cNvPr id="22" name="Text 20"/>
          <p:cNvSpPr/>
          <p:nvPr/>
        </p:nvSpPr>
        <p:spPr>
          <a:xfrm>
            <a:off x="8503920" y="4663440"/>
            <a:ext cx="457200" cy="274320"/>
          </a:xfrm>
          <a:prstGeom prst="rect">
            <a:avLst/>
          </a:prstGeom>
          <a:noFill/>
          <a:ln/>
        </p:spPr>
        <p:txBody>
          <a:bodyPr wrap="square" rtlCol="0" anchor="ctr"/>
          <a:lstStyle/>
          <a:p>
            <a:pPr algn="r" indent="0" marL="0">
              <a:buNone/>
            </a:pPr>
            <a:r>
              <a:rPr lang="en-US" sz="1000" dirty="0">
                <a:solidFill>
                  <a:srgbClr val="374151"/>
                </a:solidFill>
                <a:latin typeface="Arial" pitchFamily="34" charset="0"/>
                <a:ea typeface="Arial" pitchFamily="34" charset="-122"/>
                <a:cs typeface="Arial" pitchFamily="34" charset="-120"/>
              </a:rPr>
              <a:t>94</a:t>
            </a:r>
            <a:endParaRPr lang="en-US" sz="10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274320"/>
            <a:ext cx="8229600" cy="548640"/>
          </a:xfrm>
          <a:prstGeom prst="rect">
            <a:avLst/>
          </a:prstGeom>
          <a:noFill/>
          <a:ln/>
        </p:spPr>
        <p:txBody>
          <a:bodyPr wrap="square" rtlCol="0" anchor="ctr"/>
          <a:lstStyle/>
          <a:p>
            <a:pPr indent="0" marL="0">
              <a:buNone/>
            </a:pPr>
            <a:r>
              <a:rPr lang="en-US" sz="2400" b="1" dirty="0">
                <a:solidFill>
                  <a:srgbClr val="B91C1C"/>
                </a:solidFill>
                <a:latin typeface="Microsoft YaHei" pitchFamily="34" charset="0"/>
                <a:ea typeface="Microsoft YaHei" pitchFamily="34" charset="-122"/>
                <a:cs typeface="Microsoft YaHei" pitchFamily="34" charset="-120"/>
              </a:rPr>
              <a:t>迭代频率设定</a:t>
            </a:r>
            <a:endParaRPr lang="en-US" sz="2400" dirty="0"/>
          </a:p>
        </p:txBody>
      </p:sp>
      <p:sp>
        <p:nvSpPr>
          <p:cNvPr id="4" name="Shape 2"/>
          <p:cNvSpPr/>
          <p:nvPr/>
        </p:nvSpPr>
        <p:spPr>
          <a:xfrm>
            <a:off x="457200" y="914400"/>
            <a:ext cx="8229600" cy="548640"/>
          </a:xfrm>
          <a:prstGeom prst="rect">
            <a:avLst/>
          </a:prstGeom>
          <a:solidFill>
            <a:srgbClr val="B91C1C"/>
          </a:solidFill>
          <a:ln/>
        </p:spPr>
      </p:sp>
      <p:sp>
        <p:nvSpPr>
          <p:cNvPr id="5" name="Text 3"/>
          <p:cNvSpPr/>
          <p:nvPr/>
        </p:nvSpPr>
        <p:spPr>
          <a:xfrm>
            <a:off x="457200" y="914400"/>
            <a:ext cx="2286000" cy="548640"/>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Skill阶段</a:t>
            </a:r>
            <a:endParaRPr lang="en-US" sz="1400" dirty="0"/>
          </a:p>
        </p:txBody>
      </p:sp>
      <p:sp>
        <p:nvSpPr>
          <p:cNvPr id="6" name="Text 4"/>
          <p:cNvSpPr/>
          <p:nvPr/>
        </p:nvSpPr>
        <p:spPr>
          <a:xfrm>
            <a:off x="2743200" y="914400"/>
            <a:ext cx="2743200" cy="548640"/>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建议迭代频率</a:t>
            </a:r>
            <a:endParaRPr lang="en-US" sz="1400" dirty="0"/>
          </a:p>
        </p:txBody>
      </p:sp>
      <p:sp>
        <p:nvSpPr>
          <p:cNvPr id="7" name="Text 5"/>
          <p:cNvSpPr/>
          <p:nvPr/>
        </p:nvSpPr>
        <p:spPr>
          <a:xfrm>
            <a:off x="5486400" y="914400"/>
            <a:ext cx="3200400" cy="548640"/>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每次迭代内容</a:t>
            </a:r>
            <a:endParaRPr lang="en-US" sz="1400" dirty="0"/>
          </a:p>
        </p:txBody>
      </p:sp>
      <p:sp>
        <p:nvSpPr>
          <p:cNvPr id="8" name="Shape 6"/>
          <p:cNvSpPr/>
          <p:nvPr/>
        </p:nvSpPr>
        <p:spPr>
          <a:xfrm>
            <a:off x="457200" y="1463040"/>
            <a:ext cx="8229600" cy="777240"/>
          </a:xfrm>
          <a:prstGeom prst="rect">
            <a:avLst/>
          </a:prstGeom>
          <a:solidFill>
            <a:srgbClr val="F3F4F6"/>
          </a:solidFill>
          <a:ln w="6350">
            <a:solidFill>
              <a:srgbClr val="374151"/>
            </a:solidFill>
            <a:prstDash val="solid"/>
          </a:ln>
        </p:spPr>
      </p:sp>
      <p:sp>
        <p:nvSpPr>
          <p:cNvPr id="9" name="Text 7"/>
          <p:cNvSpPr/>
          <p:nvPr/>
        </p:nvSpPr>
        <p:spPr>
          <a:xfrm>
            <a:off x="457200" y="1463040"/>
            <a:ext cx="2286000" cy="777240"/>
          </a:xfrm>
          <a:prstGeom prst="rect">
            <a:avLst/>
          </a:prstGeom>
          <a:noFill/>
          <a:ln/>
        </p:spPr>
        <p:txBody>
          <a:bodyPr wrap="square" rtlCol="0" anchor="ctr"/>
          <a:lstStyle/>
          <a:p>
            <a:pPr algn="ctr" indent="0" marL="0">
              <a:buNone/>
            </a:pPr>
            <a:r>
              <a:rPr lang="en-US" sz="1300" b="1" dirty="0">
                <a:solidFill>
                  <a:srgbClr val="B91C1C"/>
                </a:solidFill>
                <a:latin typeface="Microsoft YaHei" pitchFamily="34" charset="0"/>
                <a:ea typeface="Microsoft YaHei" pitchFamily="34" charset="-122"/>
                <a:cs typeface="Microsoft YaHei" pitchFamily="34" charset="-120"/>
              </a:rPr>
              <a:t>初版阶段</a:t>
            </a:r>
            <a:endParaRPr lang="en-US" sz="1300" dirty="0"/>
          </a:p>
        </p:txBody>
      </p:sp>
      <p:sp>
        <p:nvSpPr>
          <p:cNvPr id="10" name="Text 8"/>
          <p:cNvSpPr/>
          <p:nvPr/>
        </p:nvSpPr>
        <p:spPr>
          <a:xfrm>
            <a:off x="2743200" y="1463040"/>
            <a:ext cx="2743200" cy="777240"/>
          </a:xfrm>
          <a:prstGeom prst="rect">
            <a:avLst/>
          </a:prstGeom>
          <a:noFill/>
          <a:ln/>
        </p:spPr>
        <p:txBody>
          <a:bodyPr wrap="square" rtlCol="0" anchor="ctr"/>
          <a:lstStyle/>
          <a:p>
            <a:pPr algn="ctr" indent="0" marL="0">
              <a:buNone/>
            </a:pPr>
            <a:r>
              <a:rPr lang="en-US" sz="1300" b="1" dirty="0">
                <a:solidFill>
                  <a:srgbClr val="EF4444"/>
                </a:solidFill>
                <a:latin typeface="Microsoft YaHei" pitchFamily="34" charset="0"/>
                <a:ea typeface="Microsoft YaHei" pitchFamily="34" charset="-122"/>
                <a:cs typeface="Microsoft YaHei" pitchFamily="34" charset="-120"/>
              </a:rPr>
              <a:t>每周</a:t>
            </a:r>
            <a:endParaRPr lang="en-US" sz="1300" dirty="0"/>
          </a:p>
        </p:txBody>
      </p:sp>
      <p:sp>
        <p:nvSpPr>
          <p:cNvPr id="11" name="Text 9"/>
          <p:cNvSpPr/>
          <p:nvPr/>
        </p:nvSpPr>
        <p:spPr>
          <a:xfrm>
            <a:off x="5486400" y="1463040"/>
            <a:ext cx="3200400" cy="777240"/>
          </a:xfrm>
          <a:prstGeom prst="rect">
            <a:avLst/>
          </a:prstGeom>
          <a:noFill/>
          <a:ln/>
        </p:spPr>
        <p:txBody>
          <a:bodyPr wrap="square" rtlCol="0" anchor="ctr"/>
          <a:lstStyle/>
          <a:p>
            <a:pPr algn="ctr" indent="0" marL="0">
              <a:buNone/>
            </a:pPr>
            <a:r>
              <a:rPr lang="en-US" sz="1200" dirty="0">
                <a:solidFill>
                  <a:srgbClr val="374151"/>
                </a:solidFill>
                <a:latin typeface="Microsoft YaHei" pitchFamily="34" charset="0"/>
                <a:ea typeface="Microsoft YaHei" pitchFamily="34" charset="-122"/>
                <a:cs typeface="Microsoft YaHei" pitchFamily="34" charset="-120"/>
              </a:rPr>
              <a:t>修复高频问题，补充缺失规则</a:t>
            </a:r>
            <a:endParaRPr lang="en-US" sz="1200" dirty="0"/>
          </a:p>
        </p:txBody>
      </p:sp>
      <p:sp>
        <p:nvSpPr>
          <p:cNvPr id="12" name="Shape 10"/>
          <p:cNvSpPr/>
          <p:nvPr/>
        </p:nvSpPr>
        <p:spPr>
          <a:xfrm>
            <a:off x="457200" y="2286000"/>
            <a:ext cx="8229600" cy="777240"/>
          </a:xfrm>
          <a:prstGeom prst="rect">
            <a:avLst/>
          </a:prstGeom>
          <a:solidFill>
            <a:srgbClr val="FFFFFF"/>
          </a:solidFill>
          <a:ln w="6350">
            <a:solidFill>
              <a:srgbClr val="374151"/>
            </a:solidFill>
            <a:prstDash val="solid"/>
          </a:ln>
        </p:spPr>
      </p:sp>
      <p:sp>
        <p:nvSpPr>
          <p:cNvPr id="13" name="Text 11"/>
          <p:cNvSpPr/>
          <p:nvPr/>
        </p:nvSpPr>
        <p:spPr>
          <a:xfrm>
            <a:off x="457200" y="2286000"/>
            <a:ext cx="2286000" cy="777240"/>
          </a:xfrm>
          <a:prstGeom prst="rect">
            <a:avLst/>
          </a:prstGeom>
          <a:noFill/>
          <a:ln/>
        </p:spPr>
        <p:txBody>
          <a:bodyPr wrap="square" rtlCol="0" anchor="ctr"/>
          <a:lstStyle/>
          <a:p>
            <a:pPr algn="ctr" indent="0" marL="0">
              <a:buNone/>
            </a:pPr>
            <a:r>
              <a:rPr lang="en-US" sz="1300" b="1" dirty="0">
                <a:solidFill>
                  <a:srgbClr val="B91C1C"/>
                </a:solidFill>
                <a:latin typeface="Microsoft YaHei" pitchFamily="34" charset="0"/>
                <a:ea typeface="Microsoft YaHei" pitchFamily="34" charset="-122"/>
                <a:cs typeface="Microsoft YaHei" pitchFamily="34" charset="-120"/>
              </a:rPr>
              <a:t>成长期</a:t>
            </a:r>
            <a:endParaRPr lang="en-US" sz="1300" dirty="0"/>
          </a:p>
        </p:txBody>
      </p:sp>
      <p:sp>
        <p:nvSpPr>
          <p:cNvPr id="14" name="Text 12"/>
          <p:cNvSpPr/>
          <p:nvPr/>
        </p:nvSpPr>
        <p:spPr>
          <a:xfrm>
            <a:off x="2743200" y="2286000"/>
            <a:ext cx="2743200" cy="777240"/>
          </a:xfrm>
          <a:prstGeom prst="rect">
            <a:avLst/>
          </a:prstGeom>
          <a:noFill/>
          <a:ln/>
        </p:spPr>
        <p:txBody>
          <a:bodyPr wrap="square" rtlCol="0" anchor="ctr"/>
          <a:lstStyle/>
          <a:p>
            <a:pPr algn="ctr" indent="0" marL="0">
              <a:buNone/>
            </a:pPr>
            <a:r>
              <a:rPr lang="en-US" sz="1300" b="1" dirty="0">
                <a:solidFill>
                  <a:srgbClr val="EF4444"/>
                </a:solidFill>
                <a:latin typeface="Microsoft YaHei" pitchFamily="34" charset="0"/>
                <a:ea typeface="Microsoft YaHei" pitchFamily="34" charset="-122"/>
                <a:cs typeface="Microsoft YaHei" pitchFamily="34" charset="-120"/>
              </a:rPr>
              <a:t>每1-2周</a:t>
            </a:r>
            <a:endParaRPr lang="en-US" sz="1300" dirty="0"/>
          </a:p>
        </p:txBody>
      </p:sp>
      <p:sp>
        <p:nvSpPr>
          <p:cNvPr id="15" name="Text 13"/>
          <p:cNvSpPr/>
          <p:nvPr/>
        </p:nvSpPr>
        <p:spPr>
          <a:xfrm>
            <a:off x="5486400" y="2286000"/>
            <a:ext cx="3200400" cy="777240"/>
          </a:xfrm>
          <a:prstGeom prst="rect">
            <a:avLst/>
          </a:prstGeom>
          <a:noFill/>
          <a:ln/>
        </p:spPr>
        <p:txBody>
          <a:bodyPr wrap="square" rtlCol="0" anchor="ctr"/>
          <a:lstStyle/>
          <a:p>
            <a:pPr algn="ctr" indent="0" marL="0">
              <a:buNone/>
            </a:pPr>
            <a:r>
              <a:rPr lang="en-US" sz="1200" dirty="0">
                <a:solidFill>
                  <a:srgbClr val="374151"/>
                </a:solidFill>
                <a:latin typeface="Microsoft YaHei" pitchFamily="34" charset="0"/>
                <a:ea typeface="Microsoft YaHei" pitchFamily="34" charset="-122"/>
                <a:cs typeface="Microsoft YaHei" pitchFamily="34" charset="-120"/>
              </a:rPr>
              <a:t>处理问题台账高优先级问题</a:t>
            </a:r>
            <a:endParaRPr lang="en-US" sz="1200" dirty="0"/>
          </a:p>
        </p:txBody>
      </p:sp>
      <p:sp>
        <p:nvSpPr>
          <p:cNvPr id="16" name="Shape 14"/>
          <p:cNvSpPr/>
          <p:nvPr/>
        </p:nvSpPr>
        <p:spPr>
          <a:xfrm>
            <a:off x="457200" y="3108960"/>
            <a:ext cx="8229600" cy="777240"/>
          </a:xfrm>
          <a:prstGeom prst="rect">
            <a:avLst/>
          </a:prstGeom>
          <a:solidFill>
            <a:srgbClr val="F3F4F6"/>
          </a:solidFill>
          <a:ln w="6350">
            <a:solidFill>
              <a:srgbClr val="374151"/>
            </a:solidFill>
            <a:prstDash val="solid"/>
          </a:ln>
        </p:spPr>
      </p:sp>
      <p:sp>
        <p:nvSpPr>
          <p:cNvPr id="17" name="Text 15"/>
          <p:cNvSpPr/>
          <p:nvPr/>
        </p:nvSpPr>
        <p:spPr>
          <a:xfrm>
            <a:off x="457200" y="3108960"/>
            <a:ext cx="2286000" cy="777240"/>
          </a:xfrm>
          <a:prstGeom prst="rect">
            <a:avLst/>
          </a:prstGeom>
          <a:noFill/>
          <a:ln/>
        </p:spPr>
        <p:txBody>
          <a:bodyPr wrap="square" rtlCol="0" anchor="ctr"/>
          <a:lstStyle/>
          <a:p>
            <a:pPr algn="ctr" indent="0" marL="0">
              <a:buNone/>
            </a:pPr>
            <a:r>
              <a:rPr lang="en-US" sz="1300" b="1" dirty="0">
                <a:solidFill>
                  <a:srgbClr val="B91C1C"/>
                </a:solidFill>
                <a:latin typeface="Microsoft YaHei" pitchFamily="34" charset="0"/>
                <a:ea typeface="Microsoft YaHei" pitchFamily="34" charset="-122"/>
                <a:cs typeface="Microsoft YaHei" pitchFamily="34" charset="-120"/>
              </a:rPr>
              <a:t>成熟期</a:t>
            </a:r>
            <a:endParaRPr lang="en-US" sz="1300" dirty="0"/>
          </a:p>
        </p:txBody>
      </p:sp>
      <p:sp>
        <p:nvSpPr>
          <p:cNvPr id="18" name="Text 16"/>
          <p:cNvSpPr/>
          <p:nvPr/>
        </p:nvSpPr>
        <p:spPr>
          <a:xfrm>
            <a:off x="2743200" y="3108960"/>
            <a:ext cx="2743200" cy="777240"/>
          </a:xfrm>
          <a:prstGeom prst="rect">
            <a:avLst/>
          </a:prstGeom>
          <a:noFill/>
          <a:ln/>
        </p:spPr>
        <p:txBody>
          <a:bodyPr wrap="square" rtlCol="0" anchor="ctr"/>
          <a:lstStyle/>
          <a:p>
            <a:pPr algn="ctr" indent="0" marL="0">
              <a:buNone/>
            </a:pPr>
            <a:r>
              <a:rPr lang="en-US" sz="1300" b="1" dirty="0">
                <a:solidFill>
                  <a:srgbClr val="EF4444"/>
                </a:solidFill>
                <a:latin typeface="Microsoft YaHei" pitchFamily="34" charset="0"/>
                <a:ea typeface="Microsoft YaHei" pitchFamily="34" charset="-122"/>
                <a:cs typeface="Microsoft YaHei" pitchFamily="34" charset="-120"/>
              </a:rPr>
              <a:t>每月</a:t>
            </a:r>
            <a:endParaRPr lang="en-US" sz="1300" dirty="0"/>
          </a:p>
        </p:txBody>
      </p:sp>
      <p:sp>
        <p:nvSpPr>
          <p:cNvPr id="19" name="Text 17"/>
          <p:cNvSpPr/>
          <p:nvPr/>
        </p:nvSpPr>
        <p:spPr>
          <a:xfrm>
            <a:off x="5486400" y="3108960"/>
            <a:ext cx="3200400" cy="777240"/>
          </a:xfrm>
          <a:prstGeom prst="rect">
            <a:avLst/>
          </a:prstGeom>
          <a:noFill/>
          <a:ln/>
        </p:spPr>
        <p:txBody>
          <a:bodyPr wrap="square" rtlCol="0" anchor="ctr"/>
          <a:lstStyle/>
          <a:p>
            <a:pPr algn="ctr" indent="0" marL="0">
              <a:buNone/>
            </a:pPr>
            <a:r>
              <a:rPr lang="en-US" sz="1200" dirty="0">
                <a:solidFill>
                  <a:srgbClr val="374151"/>
                </a:solidFill>
                <a:latin typeface="Microsoft YaHei" pitchFamily="34" charset="0"/>
                <a:ea typeface="Microsoft YaHei" pitchFamily="34" charset="-122"/>
                <a:cs typeface="Microsoft YaHei" pitchFamily="34" charset="-120"/>
              </a:rPr>
              <a:t>检查知识库是否过期，更新变化规则</a:t>
            </a:r>
            <a:endParaRPr lang="en-US" sz="1200" dirty="0"/>
          </a:p>
        </p:txBody>
      </p:sp>
      <p:sp>
        <p:nvSpPr>
          <p:cNvPr id="20" name="Shape 18"/>
          <p:cNvSpPr/>
          <p:nvPr/>
        </p:nvSpPr>
        <p:spPr>
          <a:xfrm>
            <a:off x="457200" y="3931920"/>
            <a:ext cx="8229600" cy="777240"/>
          </a:xfrm>
          <a:prstGeom prst="rect">
            <a:avLst/>
          </a:prstGeom>
          <a:solidFill>
            <a:srgbClr val="FFFFFF"/>
          </a:solidFill>
          <a:ln w="6350">
            <a:solidFill>
              <a:srgbClr val="374151"/>
            </a:solidFill>
            <a:prstDash val="solid"/>
          </a:ln>
        </p:spPr>
      </p:sp>
      <p:sp>
        <p:nvSpPr>
          <p:cNvPr id="21" name="Text 19"/>
          <p:cNvSpPr/>
          <p:nvPr/>
        </p:nvSpPr>
        <p:spPr>
          <a:xfrm>
            <a:off x="457200" y="3931920"/>
            <a:ext cx="2286000" cy="777240"/>
          </a:xfrm>
          <a:prstGeom prst="rect">
            <a:avLst/>
          </a:prstGeom>
          <a:noFill/>
          <a:ln/>
        </p:spPr>
        <p:txBody>
          <a:bodyPr wrap="square" rtlCol="0" anchor="ctr"/>
          <a:lstStyle/>
          <a:p>
            <a:pPr algn="ctr" indent="0" marL="0">
              <a:buNone/>
            </a:pPr>
            <a:r>
              <a:rPr lang="en-US" sz="1300" b="1" dirty="0">
                <a:solidFill>
                  <a:srgbClr val="B91C1C"/>
                </a:solidFill>
                <a:latin typeface="Microsoft YaHei" pitchFamily="34" charset="0"/>
                <a:ea typeface="Microsoft YaHei" pitchFamily="34" charset="-122"/>
                <a:cs typeface="Microsoft YaHei" pitchFamily="34" charset="-120"/>
              </a:rPr>
              <a:t>进化期</a:t>
            </a:r>
            <a:endParaRPr lang="en-US" sz="1300" dirty="0"/>
          </a:p>
        </p:txBody>
      </p:sp>
      <p:sp>
        <p:nvSpPr>
          <p:cNvPr id="22" name="Text 20"/>
          <p:cNvSpPr/>
          <p:nvPr/>
        </p:nvSpPr>
        <p:spPr>
          <a:xfrm>
            <a:off x="2743200" y="3931920"/>
            <a:ext cx="2743200" cy="777240"/>
          </a:xfrm>
          <a:prstGeom prst="rect">
            <a:avLst/>
          </a:prstGeom>
          <a:noFill/>
          <a:ln/>
        </p:spPr>
        <p:txBody>
          <a:bodyPr wrap="square" rtlCol="0" anchor="ctr"/>
          <a:lstStyle/>
          <a:p>
            <a:pPr algn="ctr" indent="0" marL="0">
              <a:buNone/>
            </a:pPr>
            <a:r>
              <a:rPr lang="en-US" sz="1300" b="1" dirty="0">
                <a:solidFill>
                  <a:srgbClr val="EF4444"/>
                </a:solidFill>
                <a:latin typeface="Microsoft YaHei" pitchFamily="34" charset="0"/>
                <a:ea typeface="Microsoft YaHei" pitchFamily="34" charset="-122"/>
                <a:cs typeface="Microsoft YaHei" pitchFamily="34" charset="-120"/>
              </a:rPr>
              <a:t>密集</a:t>
            </a:r>
            <a:endParaRPr lang="en-US" sz="1300" dirty="0"/>
          </a:p>
        </p:txBody>
      </p:sp>
      <p:sp>
        <p:nvSpPr>
          <p:cNvPr id="23" name="Text 21"/>
          <p:cNvSpPr/>
          <p:nvPr/>
        </p:nvSpPr>
        <p:spPr>
          <a:xfrm>
            <a:off x="5486400" y="3931920"/>
            <a:ext cx="3200400" cy="777240"/>
          </a:xfrm>
          <a:prstGeom prst="rect">
            <a:avLst/>
          </a:prstGeom>
          <a:noFill/>
          <a:ln/>
        </p:spPr>
        <p:txBody>
          <a:bodyPr wrap="square" rtlCol="0" anchor="ctr"/>
          <a:lstStyle/>
          <a:p>
            <a:pPr algn="ctr" indent="0" marL="0">
              <a:buNone/>
            </a:pPr>
            <a:r>
              <a:rPr lang="en-US" sz="1200" dirty="0">
                <a:solidFill>
                  <a:srgbClr val="374151"/>
                </a:solidFill>
                <a:latin typeface="Microsoft YaHei" pitchFamily="34" charset="0"/>
                <a:ea typeface="Microsoft YaHei" pitchFamily="34" charset="-122"/>
                <a:cs typeface="Microsoft YaHei" pitchFamily="34" charset="-120"/>
              </a:rPr>
              <a:t>确认重构范围，设计新版本</a:t>
            </a:r>
            <a:endParaRPr lang="en-US" sz="1200" dirty="0"/>
          </a:p>
        </p:txBody>
      </p:sp>
      <p:sp>
        <p:nvSpPr>
          <p:cNvPr id="24" name="Text 22"/>
          <p:cNvSpPr/>
          <p:nvPr/>
        </p:nvSpPr>
        <p:spPr>
          <a:xfrm>
            <a:off x="8503920" y="4663440"/>
            <a:ext cx="457200" cy="274320"/>
          </a:xfrm>
          <a:prstGeom prst="rect">
            <a:avLst/>
          </a:prstGeom>
          <a:noFill/>
          <a:ln/>
        </p:spPr>
        <p:txBody>
          <a:bodyPr wrap="square" rtlCol="0" anchor="ctr"/>
          <a:lstStyle/>
          <a:p>
            <a:pPr algn="r" indent="0" marL="0">
              <a:buNone/>
            </a:pPr>
            <a:r>
              <a:rPr lang="en-US" sz="1000" dirty="0">
                <a:solidFill>
                  <a:srgbClr val="374151"/>
                </a:solidFill>
                <a:latin typeface="Arial" pitchFamily="34" charset="0"/>
                <a:ea typeface="Arial" pitchFamily="34" charset="-122"/>
                <a:cs typeface="Arial" pitchFamily="34" charset="-120"/>
              </a:rPr>
              <a:t>95</a:t>
            </a:r>
            <a:endParaRPr lang="en-US" sz="10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274320"/>
            <a:ext cx="8229600" cy="548640"/>
          </a:xfrm>
          <a:prstGeom prst="rect">
            <a:avLst/>
          </a:prstGeom>
          <a:noFill/>
          <a:ln/>
        </p:spPr>
        <p:txBody>
          <a:bodyPr wrap="square" rtlCol="0" anchor="ctr"/>
          <a:lstStyle/>
          <a:p>
            <a:pPr indent="0" marL="0">
              <a:buNone/>
            </a:pPr>
            <a:r>
              <a:rPr lang="en-US" sz="2400" b="1" dirty="0">
                <a:solidFill>
                  <a:srgbClr val="B91C1C"/>
                </a:solidFill>
                <a:latin typeface="Microsoft YaHei" pitchFamily="34" charset="0"/>
                <a:ea typeface="Microsoft YaHei" pitchFamily="34" charset="-122"/>
                <a:cs typeface="Microsoft YaHei" pitchFamily="34" charset="-120"/>
              </a:rPr>
              <a:t>知识库的持续更新</a:t>
            </a:r>
            <a:endParaRPr lang="en-US" sz="2400" dirty="0"/>
          </a:p>
        </p:txBody>
      </p:sp>
      <p:sp>
        <p:nvSpPr>
          <p:cNvPr id="4" name="Shape 2"/>
          <p:cNvSpPr/>
          <p:nvPr/>
        </p:nvSpPr>
        <p:spPr>
          <a:xfrm>
            <a:off x="457200" y="914400"/>
            <a:ext cx="3931920" cy="2286000"/>
          </a:xfrm>
          <a:prstGeom prst="rect">
            <a:avLst/>
          </a:prstGeom>
          <a:solidFill>
            <a:srgbClr val="F3F4F6"/>
          </a:solidFill>
          <a:ln/>
        </p:spPr>
      </p:sp>
      <p:sp>
        <p:nvSpPr>
          <p:cNvPr id="5" name="Text 3"/>
          <p:cNvSpPr/>
          <p:nvPr/>
        </p:nvSpPr>
        <p:spPr>
          <a:xfrm>
            <a:off x="640080" y="1051560"/>
            <a:ext cx="3200400" cy="457200"/>
          </a:xfrm>
          <a:prstGeom prst="rect">
            <a:avLst/>
          </a:prstGeom>
          <a:noFill/>
          <a:ln/>
        </p:spPr>
        <p:txBody>
          <a:bodyPr wrap="square" rtlCol="0" anchor="ctr"/>
          <a:lstStyle/>
          <a:p>
            <a:pPr indent="0" marL="0">
              <a:buNone/>
            </a:pPr>
            <a:r>
              <a:rPr lang="en-US" sz="1500" b="1" dirty="0">
                <a:solidFill>
                  <a:srgbClr val="EF4444"/>
                </a:solidFill>
                <a:latin typeface="Microsoft YaHei" pitchFamily="34" charset="0"/>
                <a:ea typeface="Microsoft YaHei" pitchFamily="34" charset="-122"/>
                <a:cs typeface="Microsoft YaHei" pitchFamily="34" charset="-120"/>
              </a:rPr>
              <a:t>触发更新的时机</a:t>
            </a:r>
            <a:endParaRPr lang="en-US" sz="1500" dirty="0"/>
          </a:p>
        </p:txBody>
      </p:sp>
      <p:sp>
        <p:nvSpPr>
          <p:cNvPr id="6" name="Shape 4"/>
          <p:cNvSpPr/>
          <p:nvPr/>
        </p:nvSpPr>
        <p:spPr>
          <a:xfrm>
            <a:off x="822960" y="1645920"/>
            <a:ext cx="109728" cy="109728"/>
          </a:xfrm>
          <a:prstGeom prst="ellipse">
            <a:avLst/>
          </a:prstGeom>
          <a:solidFill>
            <a:srgbClr val="EF4444"/>
          </a:solidFill>
          <a:ln/>
        </p:spPr>
      </p:sp>
      <p:sp>
        <p:nvSpPr>
          <p:cNvPr id="7" name="Text 5"/>
          <p:cNvSpPr/>
          <p:nvPr/>
        </p:nvSpPr>
        <p:spPr>
          <a:xfrm>
            <a:off x="1051560" y="1554480"/>
            <a:ext cx="3017520" cy="41148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公司政策变更</a:t>
            </a:r>
            <a:endParaRPr lang="en-US" sz="1300" dirty="0"/>
          </a:p>
        </p:txBody>
      </p:sp>
      <p:sp>
        <p:nvSpPr>
          <p:cNvPr id="8" name="Shape 6"/>
          <p:cNvSpPr/>
          <p:nvPr/>
        </p:nvSpPr>
        <p:spPr>
          <a:xfrm>
            <a:off x="822960" y="2148840"/>
            <a:ext cx="109728" cy="109728"/>
          </a:xfrm>
          <a:prstGeom prst="ellipse">
            <a:avLst/>
          </a:prstGeom>
          <a:solidFill>
            <a:srgbClr val="EF4444"/>
          </a:solidFill>
          <a:ln/>
        </p:spPr>
      </p:sp>
      <p:sp>
        <p:nvSpPr>
          <p:cNvPr id="9" name="Text 7"/>
          <p:cNvSpPr/>
          <p:nvPr/>
        </p:nvSpPr>
        <p:spPr>
          <a:xfrm>
            <a:off x="1051560" y="2057400"/>
            <a:ext cx="3017520" cy="41148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重大成功/失败案例出现</a:t>
            </a:r>
            <a:endParaRPr lang="en-US" sz="1300" dirty="0"/>
          </a:p>
        </p:txBody>
      </p:sp>
      <p:sp>
        <p:nvSpPr>
          <p:cNvPr id="10" name="Shape 8"/>
          <p:cNvSpPr/>
          <p:nvPr/>
        </p:nvSpPr>
        <p:spPr>
          <a:xfrm>
            <a:off x="822960" y="2651760"/>
            <a:ext cx="109728" cy="109728"/>
          </a:xfrm>
          <a:prstGeom prst="ellipse">
            <a:avLst/>
          </a:prstGeom>
          <a:solidFill>
            <a:srgbClr val="EF4444"/>
          </a:solidFill>
          <a:ln/>
        </p:spPr>
      </p:sp>
      <p:sp>
        <p:nvSpPr>
          <p:cNvPr id="11" name="Text 9"/>
          <p:cNvSpPr/>
          <p:nvPr/>
        </p:nvSpPr>
        <p:spPr>
          <a:xfrm>
            <a:off x="1051560" y="2560320"/>
            <a:ext cx="3017520" cy="41148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竞争环境变化</a:t>
            </a:r>
            <a:endParaRPr lang="en-US" sz="1300" dirty="0"/>
          </a:p>
        </p:txBody>
      </p:sp>
      <p:sp>
        <p:nvSpPr>
          <p:cNvPr id="12" name="Shape 10"/>
          <p:cNvSpPr/>
          <p:nvPr/>
        </p:nvSpPr>
        <p:spPr>
          <a:xfrm>
            <a:off x="822960" y="3154680"/>
            <a:ext cx="109728" cy="109728"/>
          </a:xfrm>
          <a:prstGeom prst="ellipse">
            <a:avLst/>
          </a:prstGeom>
          <a:solidFill>
            <a:srgbClr val="EF4444"/>
          </a:solidFill>
          <a:ln/>
        </p:spPr>
      </p:sp>
      <p:sp>
        <p:nvSpPr>
          <p:cNvPr id="13" name="Text 11"/>
          <p:cNvSpPr/>
          <p:nvPr/>
        </p:nvSpPr>
        <p:spPr>
          <a:xfrm>
            <a:off x="1051560" y="3063240"/>
            <a:ext cx="3017520" cy="41148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内容超过6个月未更新</a:t>
            </a:r>
            <a:endParaRPr lang="en-US" sz="1300" dirty="0"/>
          </a:p>
        </p:txBody>
      </p:sp>
      <p:sp>
        <p:nvSpPr>
          <p:cNvPr id="14" name="Shape 12"/>
          <p:cNvSpPr/>
          <p:nvPr/>
        </p:nvSpPr>
        <p:spPr>
          <a:xfrm>
            <a:off x="4754880" y="914400"/>
            <a:ext cx="3931920" cy="2286000"/>
          </a:xfrm>
          <a:prstGeom prst="rect">
            <a:avLst/>
          </a:prstGeom>
          <a:solidFill>
            <a:srgbClr val="F3F4F6"/>
          </a:solidFill>
          <a:ln/>
        </p:spPr>
      </p:sp>
      <p:sp>
        <p:nvSpPr>
          <p:cNvPr id="15" name="Text 13"/>
          <p:cNvSpPr/>
          <p:nvPr/>
        </p:nvSpPr>
        <p:spPr>
          <a:xfrm>
            <a:off x="4937760" y="1051560"/>
            <a:ext cx="3200400" cy="457200"/>
          </a:xfrm>
          <a:prstGeom prst="rect">
            <a:avLst/>
          </a:prstGeom>
          <a:noFill/>
          <a:ln/>
        </p:spPr>
        <p:txBody>
          <a:bodyPr wrap="square" rtlCol="0" anchor="ctr"/>
          <a:lstStyle/>
          <a:p>
            <a:pPr indent="0" marL="0">
              <a:buNone/>
            </a:pPr>
            <a:r>
              <a:rPr lang="en-US" sz="1500" b="1" dirty="0">
                <a:solidFill>
                  <a:srgbClr val="EF4444"/>
                </a:solidFill>
                <a:latin typeface="Microsoft YaHei" pitchFamily="34" charset="0"/>
                <a:ea typeface="Microsoft YaHei" pitchFamily="34" charset="-122"/>
                <a:cs typeface="Microsoft YaHei" pitchFamily="34" charset="-120"/>
              </a:rPr>
              <a:t>责任人设定</a:t>
            </a:r>
            <a:endParaRPr lang="en-US" sz="1500" dirty="0"/>
          </a:p>
        </p:txBody>
      </p:sp>
      <p:sp>
        <p:nvSpPr>
          <p:cNvPr id="16" name="Text 14"/>
          <p:cNvSpPr/>
          <p:nvPr/>
        </p:nvSpPr>
        <p:spPr>
          <a:xfrm>
            <a:off x="4937760" y="1600200"/>
            <a:ext cx="3566160" cy="109728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指定一个责任人定期检查并更新，其他人向责任人提交</a:t>
            </a:r>
            <a:endParaRPr lang="en-US" sz="1300" dirty="0"/>
          </a:p>
        </p:txBody>
      </p:sp>
      <p:sp>
        <p:nvSpPr>
          <p:cNvPr id="17" name="Shape 15"/>
          <p:cNvSpPr/>
          <p:nvPr/>
        </p:nvSpPr>
        <p:spPr>
          <a:xfrm>
            <a:off x="4937760" y="2377440"/>
            <a:ext cx="3566160" cy="640080"/>
          </a:xfrm>
          <a:prstGeom prst="rect">
            <a:avLst/>
          </a:prstGeom>
          <a:solidFill>
            <a:srgbClr val="FFFFFF"/>
          </a:solidFill>
          <a:ln w="12700">
            <a:solidFill>
              <a:srgbClr val="EF4444"/>
            </a:solidFill>
            <a:prstDash val="solid"/>
          </a:ln>
        </p:spPr>
      </p:sp>
      <p:sp>
        <p:nvSpPr>
          <p:cNvPr id="18" name="Text 16"/>
          <p:cNvSpPr/>
          <p:nvPr/>
        </p:nvSpPr>
        <p:spPr>
          <a:xfrm>
            <a:off x="5029200" y="2468880"/>
            <a:ext cx="3383280" cy="457200"/>
          </a:xfrm>
          <a:prstGeom prst="rect">
            <a:avLst/>
          </a:prstGeom>
          <a:noFill/>
          <a:ln/>
        </p:spPr>
        <p:txBody>
          <a:bodyPr wrap="square" rtlCol="0" anchor="ctr"/>
          <a:lstStyle/>
          <a:p>
            <a:pPr indent="0" marL="0">
              <a:buNone/>
            </a:pPr>
            <a:r>
              <a:rPr lang="en-US" sz="1200" dirty="0">
                <a:solidFill>
                  <a:srgbClr val="B91C1C"/>
                </a:solidFill>
                <a:latin typeface="Microsoft YaHei" pitchFamily="34" charset="0"/>
                <a:ea typeface="Microsoft YaHei" pitchFamily="34" charset="-122"/>
                <a:cs typeface="Microsoft YaHei" pitchFamily="34" charset="-120"/>
              </a:rPr>
              <a:t>责任人：[____]</a:t>
            </a:r>
            <a:endParaRPr lang="en-US" sz="1200" dirty="0"/>
          </a:p>
        </p:txBody>
      </p:sp>
      <p:sp>
        <p:nvSpPr>
          <p:cNvPr id="19" name="Shape 17"/>
          <p:cNvSpPr/>
          <p:nvPr/>
        </p:nvSpPr>
        <p:spPr>
          <a:xfrm>
            <a:off x="457200" y="3474720"/>
            <a:ext cx="8229600" cy="640080"/>
          </a:xfrm>
          <a:prstGeom prst="rect">
            <a:avLst/>
          </a:prstGeom>
          <a:solidFill>
            <a:srgbClr val="B91C1C"/>
          </a:solidFill>
          <a:ln/>
        </p:spPr>
      </p:sp>
      <p:sp>
        <p:nvSpPr>
          <p:cNvPr id="20" name="Text 18"/>
          <p:cNvSpPr/>
          <p:nvPr/>
        </p:nvSpPr>
        <p:spPr>
          <a:xfrm>
            <a:off x="640080" y="3474720"/>
            <a:ext cx="7863840" cy="640080"/>
          </a:xfrm>
          <a:prstGeom prst="rect">
            <a:avLst/>
          </a:prstGeom>
          <a:noFill/>
          <a:ln/>
        </p:spPr>
        <p:txBody>
          <a:bodyPr wrap="square" rtlCol="0" anchor="ctr"/>
          <a:lstStyle/>
          <a:p>
            <a:pPr indent="0" marL="0">
              <a:buNone/>
            </a:pPr>
            <a:r>
              <a:rPr lang="en-US" sz="1400" b="1" dirty="0">
                <a:solidFill>
                  <a:srgbClr val="FFFFFF"/>
                </a:solidFill>
                <a:latin typeface="Microsoft YaHei" pitchFamily="34" charset="0"/>
                <a:ea typeface="Microsoft YaHei" pitchFamily="34" charset="-122"/>
                <a:cs typeface="Microsoft YaHei" pitchFamily="34" charset="-120"/>
              </a:rPr>
              <a:t>核心原则：知识库不是一次性工程，而是持续维护的资产</a:t>
            </a:r>
            <a:endParaRPr lang="en-US" sz="1400" dirty="0"/>
          </a:p>
        </p:txBody>
      </p:sp>
      <p:sp>
        <p:nvSpPr>
          <p:cNvPr id="21" name="Text 19"/>
          <p:cNvSpPr/>
          <p:nvPr/>
        </p:nvSpPr>
        <p:spPr>
          <a:xfrm>
            <a:off x="8503920" y="4663440"/>
            <a:ext cx="457200" cy="274320"/>
          </a:xfrm>
          <a:prstGeom prst="rect">
            <a:avLst/>
          </a:prstGeom>
          <a:noFill/>
          <a:ln/>
        </p:spPr>
        <p:txBody>
          <a:bodyPr wrap="square" rtlCol="0" anchor="ctr"/>
          <a:lstStyle/>
          <a:p>
            <a:pPr algn="r" indent="0" marL="0">
              <a:buNone/>
            </a:pPr>
            <a:r>
              <a:rPr lang="en-US" sz="1000" dirty="0">
                <a:solidFill>
                  <a:srgbClr val="374151"/>
                </a:solidFill>
                <a:latin typeface="Arial" pitchFamily="34" charset="0"/>
                <a:ea typeface="Arial" pitchFamily="34" charset="-122"/>
                <a:cs typeface="Arial" pitchFamily="34" charset="-120"/>
              </a:rPr>
              <a:t>96</a:t>
            </a:r>
            <a:endParaRPr lang="en-US" sz="10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274320"/>
            <a:ext cx="8229600" cy="548640"/>
          </a:xfrm>
          <a:prstGeom prst="rect">
            <a:avLst/>
          </a:prstGeom>
          <a:noFill/>
          <a:ln/>
        </p:spPr>
        <p:txBody>
          <a:bodyPr wrap="square" rtlCol="0" anchor="ctr"/>
          <a:lstStyle/>
          <a:p>
            <a:pPr indent="0" marL="0">
              <a:buNone/>
            </a:pPr>
            <a:r>
              <a:rPr lang="en-US" sz="2200" b="1" dirty="0">
                <a:solidFill>
                  <a:srgbClr val="B91C1C"/>
                </a:solidFill>
                <a:latin typeface="Microsoft YaHei" pitchFamily="34" charset="0"/>
                <a:ea typeface="Microsoft YaHei" pitchFamily="34" charset="-122"/>
                <a:cs typeface="Microsoft YaHei" pitchFamily="34" charset="-120"/>
              </a:rPr>
              <a:t>识别"需要重构"的三类信号</a:t>
            </a:r>
            <a:endParaRPr lang="en-US" sz="2200" dirty="0"/>
          </a:p>
        </p:txBody>
      </p:sp>
      <p:sp>
        <p:nvSpPr>
          <p:cNvPr id="4" name="Shape 2"/>
          <p:cNvSpPr/>
          <p:nvPr/>
        </p:nvSpPr>
        <p:spPr>
          <a:xfrm>
            <a:off x="457200" y="914400"/>
            <a:ext cx="8229600" cy="502920"/>
          </a:xfrm>
          <a:prstGeom prst="rect">
            <a:avLst/>
          </a:prstGeom>
          <a:solidFill>
            <a:srgbClr val="B91C1C"/>
          </a:solidFill>
          <a:ln/>
        </p:spPr>
      </p:sp>
      <p:sp>
        <p:nvSpPr>
          <p:cNvPr id="5" name="Text 3"/>
          <p:cNvSpPr/>
          <p:nvPr/>
        </p:nvSpPr>
        <p:spPr>
          <a:xfrm>
            <a:off x="457200" y="914400"/>
            <a:ext cx="1371600" cy="502920"/>
          </a:xfrm>
          <a:prstGeom prst="rect">
            <a:avLst/>
          </a:prstGeom>
          <a:noFill/>
          <a:ln/>
        </p:spPr>
        <p:txBody>
          <a:bodyPr wrap="square"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信号</a:t>
            </a:r>
            <a:endParaRPr lang="en-US" sz="1300" dirty="0"/>
          </a:p>
        </p:txBody>
      </p:sp>
      <p:sp>
        <p:nvSpPr>
          <p:cNvPr id="6" name="Text 4"/>
          <p:cNvSpPr/>
          <p:nvPr/>
        </p:nvSpPr>
        <p:spPr>
          <a:xfrm>
            <a:off x="1828800" y="914400"/>
            <a:ext cx="3200400" cy="502920"/>
          </a:xfrm>
          <a:prstGeom prst="rect">
            <a:avLst/>
          </a:prstGeom>
          <a:noFill/>
          <a:ln/>
        </p:spPr>
        <p:txBody>
          <a:bodyPr wrap="square"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描述</a:t>
            </a:r>
            <a:endParaRPr lang="en-US" sz="1300" dirty="0"/>
          </a:p>
        </p:txBody>
      </p:sp>
      <p:sp>
        <p:nvSpPr>
          <p:cNvPr id="7" name="Text 5"/>
          <p:cNvSpPr/>
          <p:nvPr/>
        </p:nvSpPr>
        <p:spPr>
          <a:xfrm>
            <a:off x="5029200" y="914400"/>
            <a:ext cx="3657600" cy="502920"/>
          </a:xfrm>
          <a:prstGeom prst="rect">
            <a:avLst/>
          </a:prstGeom>
          <a:noFill/>
          <a:ln/>
        </p:spPr>
        <p:txBody>
          <a:bodyPr wrap="square"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为什么意味着需要重构</a:t>
            </a:r>
            <a:endParaRPr lang="en-US" sz="1300" dirty="0"/>
          </a:p>
        </p:txBody>
      </p:sp>
      <p:sp>
        <p:nvSpPr>
          <p:cNvPr id="8" name="Shape 6"/>
          <p:cNvSpPr/>
          <p:nvPr/>
        </p:nvSpPr>
        <p:spPr>
          <a:xfrm>
            <a:off x="457200" y="1417320"/>
            <a:ext cx="8229600" cy="914400"/>
          </a:xfrm>
          <a:prstGeom prst="rect">
            <a:avLst/>
          </a:prstGeom>
          <a:solidFill>
            <a:srgbClr val="F3F4F6"/>
          </a:solidFill>
          <a:ln w="6350">
            <a:solidFill>
              <a:srgbClr val="374151"/>
            </a:solidFill>
            <a:prstDash val="solid"/>
          </a:ln>
        </p:spPr>
      </p:sp>
      <p:sp>
        <p:nvSpPr>
          <p:cNvPr id="9" name="Text 7"/>
          <p:cNvSpPr/>
          <p:nvPr/>
        </p:nvSpPr>
        <p:spPr>
          <a:xfrm>
            <a:off x="457200" y="1417320"/>
            <a:ext cx="1371600" cy="914400"/>
          </a:xfrm>
          <a:prstGeom prst="rect">
            <a:avLst/>
          </a:prstGeom>
          <a:noFill/>
          <a:ln/>
        </p:spPr>
        <p:txBody>
          <a:bodyPr wrap="square" rtlCol="0" anchor="ctr"/>
          <a:lstStyle/>
          <a:p>
            <a:pPr algn="ctr" indent="0" marL="0">
              <a:buNone/>
            </a:pPr>
            <a:r>
              <a:rPr lang="en-US" sz="1200" b="1" dirty="0">
                <a:solidFill>
                  <a:srgbClr val="EF4444"/>
                </a:solidFill>
                <a:latin typeface="Microsoft YaHei" pitchFamily="34" charset="0"/>
                <a:ea typeface="Microsoft YaHei" pitchFamily="34" charset="-122"/>
                <a:cs typeface="Microsoft YaHei" pitchFamily="34" charset="-120"/>
              </a:rPr>
              <a:t>规则矛盾累积</a:t>
            </a:r>
            <a:endParaRPr lang="en-US" sz="1200" dirty="0"/>
          </a:p>
        </p:txBody>
      </p:sp>
      <p:sp>
        <p:nvSpPr>
          <p:cNvPr id="10" name="Text 8"/>
          <p:cNvSpPr/>
          <p:nvPr/>
        </p:nvSpPr>
        <p:spPr>
          <a:xfrm>
            <a:off x="1828800" y="1417320"/>
            <a:ext cx="3200400" cy="914400"/>
          </a:xfrm>
          <a:prstGeom prst="rect">
            <a:avLst/>
          </a:prstGeom>
          <a:noFill/>
          <a:ln/>
        </p:spPr>
        <p:txBody>
          <a:bodyPr wrap="square" rtlCol="0" anchor="ctr"/>
          <a:lstStyle/>
          <a:p>
            <a:pPr algn="ctr" indent="0" marL="0">
              <a:buNone/>
            </a:pPr>
            <a:r>
              <a:rPr lang="en-US" sz="1200" dirty="0">
                <a:solidFill>
                  <a:srgbClr val="374151"/>
                </a:solidFill>
                <a:latin typeface="Microsoft YaHei" pitchFamily="34" charset="0"/>
                <a:ea typeface="Microsoft YaHei" pitchFamily="34" charset="-122"/>
                <a:cs typeface="Microsoft YaHei" pitchFamily="34" charset="-120"/>
              </a:rPr>
              <a:t>两条规则都符合但给出相反行动</a:t>
            </a:r>
            <a:endParaRPr lang="en-US" sz="1200" dirty="0"/>
          </a:p>
        </p:txBody>
      </p:sp>
      <p:sp>
        <p:nvSpPr>
          <p:cNvPr id="11" name="Text 9"/>
          <p:cNvSpPr/>
          <p:nvPr/>
        </p:nvSpPr>
        <p:spPr>
          <a:xfrm>
            <a:off x="5029200" y="1417320"/>
            <a:ext cx="3657600" cy="914400"/>
          </a:xfrm>
          <a:prstGeom prst="rect">
            <a:avLst/>
          </a:prstGeom>
          <a:noFill/>
          <a:ln/>
        </p:spPr>
        <p:txBody>
          <a:bodyPr wrap="square" rtlCol="0" anchor="ctr"/>
          <a:lstStyle/>
          <a:p>
            <a:pPr algn="ctr" indent="0" marL="0">
              <a:buNone/>
            </a:pPr>
            <a:r>
              <a:rPr lang="en-US" sz="1200" dirty="0">
                <a:solidFill>
                  <a:srgbClr val="B91C1C"/>
                </a:solidFill>
                <a:latin typeface="Microsoft YaHei" pitchFamily="34" charset="0"/>
                <a:ea typeface="Microsoft YaHei" pitchFamily="34" charset="-122"/>
                <a:cs typeface="Microsoft YaHei" pitchFamily="34" charset="-120"/>
              </a:rPr>
              <a:t>打补丁只会加剧矛盾</a:t>
            </a:r>
            <a:endParaRPr lang="en-US" sz="1200" dirty="0"/>
          </a:p>
        </p:txBody>
      </p:sp>
      <p:sp>
        <p:nvSpPr>
          <p:cNvPr id="12" name="Shape 10"/>
          <p:cNvSpPr/>
          <p:nvPr/>
        </p:nvSpPr>
        <p:spPr>
          <a:xfrm>
            <a:off x="457200" y="2423160"/>
            <a:ext cx="8229600" cy="914400"/>
          </a:xfrm>
          <a:prstGeom prst="rect">
            <a:avLst/>
          </a:prstGeom>
          <a:solidFill>
            <a:srgbClr val="FFFFFF"/>
          </a:solidFill>
          <a:ln w="6350">
            <a:solidFill>
              <a:srgbClr val="374151"/>
            </a:solidFill>
            <a:prstDash val="solid"/>
          </a:ln>
        </p:spPr>
      </p:sp>
      <p:sp>
        <p:nvSpPr>
          <p:cNvPr id="13" name="Text 11"/>
          <p:cNvSpPr/>
          <p:nvPr/>
        </p:nvSpPr>
        <p:spPr>
          <a:xfrm>
            <a:off x="457200" y="2423160"/>
            <a:ext cx="1371600" cy="914400"/>
          </a:xfrm>
          <a:prstGeom prst="rect">
            <a:avLst/>
          </a:prstGeom>
          <a:noFill/>
          <a:ln/>
        </p:spPr>
        <p:txBody>
          <a:bodyPr wrap="square" rtlCol="0" anchor="ctr"/>
          <a:lstStyle/>
          <a:p>
            <a:pPr algn="ctr" indent="0" marL="0">
              <a:buNone/>
            </a:pPr>
            <a:r>
              <a:rPr lang="en-US" sz="1200" b="1" dirty="0">
                <a:solidFill>
                  <a:srgbClr val="EF4444"/>
                </a:solidFill>
                <a:latin typeface="Microsoft YaHei" pitchFamily="34" charset="0"/>
                <a:ea typeface="Microsoft YaHei" pitchFamily="34" charset="-122"/>
                <a:cs typeface="Microsoft YaHei" pitchFamily="34" charset="-120"/>
              </a:rPr>
              <a:t>边界情况无法兜底</a:t>
            </a:r>
            <a:endParaRPr lang="en-US" sz="1200" dirty="0"/>
          </a:p>
        </p:txBody>
      </p:sp>
      <p:sp>
        <p:nvSpPr>
          <p:cNvPr id="14" name="Text 12"/>
          <p:cNvSpPr/>
          <p:nvPr/>
        </p:nvSpPr>
        <p:spPr>
          <a:xfrm>
            <a:off x="1828800" y="2423160"/>
            <a:ext cx="3200400" cy="914400"/>
          </a:xfrm>
          <a:prstGeom prst="rect">
            <a:avLst/>
          </a:prstGeom>
          <a:noFill/>
          <a:ln/>
        </p:spPr>
        <p:txBody>
          <a:bodyPr wrap="square" rtlCol="0" anchor="ctr"/>
          <a:lstStyle/>
          <a:p>
            <a:pPr algn="ctr" indent="0" marL="0">
              <a:buNone/>
            </a:pPr>
            <a:r>
              <a:rPr lang="en-US" sz="1200" dirty="0">
                <a:solidFill>
                  <a:srgbClr val="374151"/>
                </a:solidFill>
                <a:latin typeface="Microsoft YaHei" pitchFamily="34" charset="0"/>
                <a:ea typeface="Microsoft YaHei" pitchFamily="34" charset="-122"/>
                <a:cs typeface="Microsoft YaHei" pitchFamily="34" charset="-120"/>
              </a:rPr>
              <a:t>"人工审核"越来越频繁</a:t>
            </a:r>
            <a:endParaRPr lang="en-US" sz="1200" dirty="0"/>
          </a:p>
        </p:txBody>
      </p:sp>
      <p:sp>
        <p:nvSpPr>
          <p:cNvPr id="15" name="Text 13"/>
          <p:cNvSpPr/>
          <p:nvPr/>
        </p:nvSpPr>
        <p:spPr>
          <a:xfrm>
            <a:off x="5029200" y="2423160"/>
            <a:ext cx="3657600" cy="914400"/>
          </a:xfrm>
          <a:prstGeom prst="rect">
            <a:avLst/>
          </a:prstGeom>
          <a:noFill/>
          <a:ln/>
        </p:spPr>
        <p:txBody>
          <a:bodyPr wrap="square" rtlCol="0" anchor="ctr"/>
          <a:lstStyle/>
          <a:p>
            <a:pPr algn="ctr" indent="0" marL="0">
              <a:buNone/>
            </a:pPr>
            <a:r>
              <a:rPr lang="en-US" sz="1200" dirty="0">
                <a:solidFill>
                  <a:srgbClr val="B91C1C"/>
                </a:solidFill>
                <a:latin typeface="Microsoft YaHei" pitchFamily="34" charset="0"/>
                <a:ea typeface="Microsoft YaHei" pitchFamily="34" charset="-122"/>
                <a:cs typeface="Microsoft YaHei" pitchFamily="34" charset="-120"/>
              </a:rPr>
              <a:t>规则框架覆盖率太低</a:t>
            </a:r>
            <a:endParaRPr lang="en-US" sz="1200" dirty="0"/>
          </a:p>
        </p:txBody>
      </p:sp>
      <p:sp>
        <p:nvSpPr>
          <p:cNvPr id="16" name="Shape 14"/>
          <p:cNvSpPr/>
          <p:nvPr/>
        </p:nvSpPr>
        <p:spPr>
          <a:xfrm>
            <a:off x="457200" y="3429000"/>
            <a:ext cx="8229600" cy="914400"/>
          </a:xfrm>
          <a:prstGeom prst="rect">
            <a:avLst/>
          </a:prstGeom>
          <a:solidFill>
            <a:srgbClr val="F3F4F6"/>
          </a:solidFill>
          <a:ln w="6350">
            <a:solidFill>
              <a:srgbClr val="374151"/>
            </a:solidFill>
            <a:prstDash val="solid"/>
          </a:ln>
        </p:spPr>
      </p:sp>
      <p:sp>
        <p:nvSpPr>
          <p:cNvPr id="17" name="Text 15"/>
          <p:cNvSpPr/>
          <p:nvPr/>
        </p:nvSpPr>
        <p:spPr>
          <a:xfrm>
            <a:off x="457200" y="3429000"/>
            <a:ext cx="1371600" cy="914400"/>
          </a:xfrm>
          <a:prstGeom prst="rect">
            <a:avLst/>
          </a:prstGeom>
          <a:noFill/>
          <a:ln/>
        </p:spPr>
        <p:txBody>
          <a:bodyPr wrap="square" rtlCol="0" anchor="ctr"/>
          <a:lstStyle/>
          <a:p>
            <a:pPr algn="ctr" indent="0" marL="0">
              <a:buNone/>
            </a:pPr>
            <a:r>
              <a:rPr lang="en-US" sz="1200" b="1" dirty="0">
                <a:solidFill>
                  <a:srgbClr val="EF4444"/>
                </a:solidFill>
                <a:latin typeface="Microsoft YaHei" pitchFamily="34" charset="0"/>
                <a:ea typeface="Microsoft YaHei" pitchFamily="34" charset="-122"/>
                <a:cs typeface="Microsoft YaHei" pitchFamily="34" charset="-120"/>
              </a:rPr>
              <a:t>业务场景大幅偏移</a:t>
            </a:r>
            <a:endParaRPr lang="en-US" sz="1200" dirty="0"/>
          </a:p>
        </p:txBody>
      </p:sp>
      <p:sp>
        <p:nvSpPr>
          <p:cNvPr id="18" name="Text 16"/>
          <p:cNvSpPr/>
          <p:nvPr/>
        </p:nvSpPr>
        <p:spPr>
          <a:xfrm>
            <a:off x="1828800" y="3429000"/>
            <a:ext cx="3200400" cy="914400"/>
          </a:xfrm>
          <a:prstGeom prst="rect">
            <a:avLst/>
          </a:prstGeom>
          <a:noFill/>
          <a:ln/>
        </p:spPr>
        <p:txBody>
          <a:bodyPr wrap="square" rtlCol="0" anchor="ctr"/>
          <a:lstStyle/>
          <a:p>
            <a:pPr algn="ctr" indent="0" marL="0">
              <a:buNone/>
            </a:pPr>
            <a:r>
              <a:rPr lang="en-US" sz="1200" dirty="0">
                <a:solidFill>
                  <a:srgbClr val="374151"/>
                </a:solidFill>
                <a:latin typeface="Microsoft YaHei" pitchFamily="34" charset="0"/>
                <a:ea typeface="Microsoft YaHei" pitchFamily="34" charset="-122"/>
                <a:cs typeface="Microsoft YaHei" pitchFamily="34" charset="-120"/>
              </a:rPr>
              <a:t>最初设计处理A类，现在主要处理B类</a:t>
            </a:r>
            <a:endParaRPr lang="en-US" sz="1200" dirty="0"/>
          </a:p>
        </p:txBody>
      </p:sp>
      <p:sp>
        <p:nvSpPr>
          <p:cNvPr id="19" name="Text 17"/>
          <p:cNvSpPr/>
          <p:nvPr/>
        </p:nvSpPr>
        <p:spPr>
          <a:xfrm>
            <a:off x="5029200" y="3429000"/>
            <a:ext cx="3657600" cy="914400"/>
          </a:xfrm>
          <a:prstGeom prst="rect">
            <a:avLst/>
          </a:prstGeom>
          <a:noFill/>
          <a:ln/>
        </p:spPr>
        <p:txBody>
          <a:bodyPr wrap="square" rtlCol="0" anchor="ctr"/>
          <a:lstStyle/>
          <a:p>
            <a:pPr algn="ctr" indent="0" marL="0">
              <a:buNone/>
            </a:pPr>
            <a:r>
              <a:rPr lang="en-US" sz="1200" dirty="0">
                <a:solidFill>
                  <a:srgbClr val="B91C1C"/>
                </a:solidFill>
                <a:latin typeface="Microsoft YaHei" pitchFamily="34" charset="0"/>
                <a:ea typeface="Microsoft YaHei" pitchFamily="34" charset="-122"/>
                <a:cs typeface="Microsoft YaHei" pitchFamily="34" charset="-120"/>
              </a:rPr>
              <a:t>规则是为A设计的</a:t>
            </a:r>
            <a:endParaRPr lang="en-US" sz="1200" dirty="0"/>
          </a:p>
        </p:txBody>
      </p:sp>
      <p:sp>
        <p:nvSpPr>
          <p:cNvPr id="20" name="Text 18"/>
          <p:cNvSpPr/>
          <p:nvPr/>
        </p:nvSpPr>
        <p:spPr>
          <a:xfrm>
            <a:off x="8503920" y="4663440"/>
            <a:ext cx="457200" cy="274320"/>
          </a:xfrm>
          <a:prstGeom prst="rect">
            <a:avLst/>
          </a:prstGeom>
          <a:noFill/>
          <a:ln/>
        </p:spPr>
        <p:txBody>
          <a:bodyPr wrap="square" rtlCol="0" anchor="ctr"/>
          <a:lstStyle/>
          <a:p>
            <a:pPr algn="r" indent="0" marL="0">
              <a:buNone/>
            </a:pPr>
            <a:r>
              <a:rPr lang="en-US" sz="1000" dirty="0">
                <a:solidFill>
                  <a:srgbClr val="374151"/>
                </a:solidFill>
                <a:latin typeface="Arial" pitchFamily="34" charset="0"/>
                <a:ea typeface="Arial" pitchFamily="34" charset="-122"/>
                <a:cs typeface="Arial" pitchFamily="34" charset="-120"/>
              </a:rPr>
              <a:t>97</a:t>
            </a:r>
            <a:endParaRPr lang="en-US" sz="10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274320"/>
            <a:ext cx="8229600" cy="548640"/>
          </a:xfrm>
          <a:prstGeom prst="rect">
            <a:avLst/>
          </a:prstGeom>
          <a:noFill/>
          <a:ln/>
        </p:spPr>
        <p:txBody>
          <a:bodyPr wrap="square" rtlCol="0" anchor="ctr"/>
          <a:lstStyle/>
          <a:p>
            <a:pPr indent="0" marL="0">
              <a:buNone/>
            </a:pPr>
            <a:r>
              <a:rPr lang="en-US" sz="2200" b="1" dirty="0">
                <a:solidFill>
                  <a:srgbClr val="B91C1C"/>
                </a:solidFill>
                <a:latin typeface="Microsoft YaHei" pitchFamily="34" charset="0"/>
                <a:ea typeface="Microsoft YaHei" pitchFamily="34" charset="-122"/>
                <a:cs typeface="Microsoft YaHei" pitchFamily="34" charset="-120"/>
              </a:rPr>
              <a:t>练习十：制定3个月Skill迭代计划</a:t>
            </a:r>
            <a:endParaRPr lang="en-US" sz="2200" dirty="0"/>
          </a:p>
        </p:txBody>
      </p:sp>
      <p:sp>
        <p:nvSpPr>
          <p:cNvPr id="4" name="Shape 2"/>
          <p:cNvSpPr/>
          <p:nvPr/>
        </p:nvSpPr>
        <p:spPr>
          <a:xfrm>
            <a:off x="457200" y="1005840"/>
            <a:ext cx="8229600" cy="3200400"/>
          </a:xfrm>
          <a:prstGeom prst="rect">
            <a:avLst/>
          </a:prstGeom>
          <a:solidFill>
            <a:srgbClr val="F3F4F6"/>
          </a:solidFill>
          <a:ln/>
        </p:spPr>
      </p:sp>
      <p:sp>
        <p:nvSpPr>
          <p:cNvPr id="5" name="Text 3"/>
          <p:cNvSpPr/>
          <p:nvPr/>
        </p:nvSpPr>
        <p:spPr>
          <a:xfrm>
            <a:off x="640080" y="1188720"/>
            <a:ext cx="1828800" cy="457200"/>
          </a:xfrm>
          <a:prstGeom prst="rect">
            <a:avLst/>
          </a:prstGeom>
          <a:noFill/>
          <a:ln/>
        </p:spPr>
        <p:txBody>
          <a:bodyPr wrap="square" rtlCol="0" anchor="ctr"/>
          <a:lstStyle/>
          <a:p>
            <a:pPr indent="0" marL="0">
              <a:buNone/>
            </a:pPr>
            <a:r>
              <a:rPr lang="en-US" sz="1600" b="1" dirty="0">
                <a:solidFill>
                  <a:srgbClr val="EF4444"/>
                </a:solidFill>
                <a:latin typeface="Microsoft YaHei" pitchFamily="34" charset="0"/>
                <a:ea typeface="Microsoft YaHei" pitchFamily="34" charset="-122"/>
                <a:cs typeface="Microsoft YaHei" pitchFamily="34" charset="-120"/>
              </a:rPr>
              <a:t>练习要求</a:t>
            </a:r>
            <a:endParaRPr lang="en-US" sz="1600" dirty="0"/>
          </a:p>
        </p:txBody>
      </p:sp>
      <p:sp>
        <p:nvSpPr>
          <p:cNvPr id="6" name="Shape 4"/>
          <p:cNvSpPr/>
          <p:nvPr/>
        </p:nvSpPr>
        <p:spPr>
          <a:xfrm>
            <a:off x="822960" y="1828800"/>
            <a:ext cx="137160" cy="137160"/>
          </a:xfrm>
          <a:prstGeom prst="ellipse">
            <a:avLst/>
          </a:prstGeom>
          <a:solidFill>
            <a:srgbClr val="EF4444"/>
          </a:solidFill>
          <a:ln/>
        </p:spPr>
      </p:sp>
      <p:sp>
        <p:nvSpPr>
          <p:cNvPr id="7" name="Text 5"/>
          <p:cNvSpPr/>
          <p:nvPr/>
        </p:nvSpPr>
        <p:spPr>
          <a:xfrm>
            <a:off x="1097280" y="1737360"/>
            <a:ext cx="6858000" cy="502920"/>
          </a:xfrm>
          <a:prstGeom prst="rect">
            <a:avLst/>
          </a:prstGeom>
          <a:noFill/>
          <a:ln/>
        </p:spPr>
        <p:txBody>
          <a:bodyPr wrap="square" rtlCol="0" anchor="ctr"/>
          <a:lstStyle/>
          <a:p>
            <a:pPr indent="0" marL="0">
              <a:buNone/>
            </a:pPr>
            <a:r>
              <a:rPr lang="en-US" sz="1500" dirty="0">
                <a:solidFill>
                  <a:srgbClr val="374151"/>
                </a:solidFill>
                <a:latin typeface="Microsoft YaHei" pitchFamily="34" charset="0"/>
                <a:ea typeface="Microsoft YaHei" pitchFamily="34" charset="-122"/>
                <a:cs typeface="Microsoft YaHei" pitchFamily="34" charset="-120"/>
              </a:rPr>
              <a:t>基于两个Skill的当前状态</a:t>
            </a:r>
            <a:endParaRPr lang="en-US" sz="1500" dirty="0"/>
          </a:p>
        </p:txBody>
      </p:sp>
      <p:sp>
        <p:nvSpPr>
          <p:cNvPr id="8" name="Shape 6"/>
          <p:cNvSpPr/>
          <p:nvPr/>
        </p:nvSpPr>
        <p:spPr>
          <a:xfrm>
            <a:off x="822960" y="2423160"/>
            <a:ext cx="137160" cy="137160"/>
          </a:xfrm>
          <a:prstGeom prst="ellipse">
            <a:avLst/>
          </a:prstGeom>
          <a:solidFill>
            <a:srgbClr val="EF4444"/>
          </a:solidFill>
          <a:ln/>
        </p:spPr>
      </p:sp>
      <p:sp>
        <p:nvSpPr>
          <p:cNvPr id="9" name="Text 7"/>
          <p:cNvSpPr/>
          <p:nvPr/>
        </p:nvSpPr>
        <p:spPr>
          <a:xfrm>
            <a:off x="1097280" y="2331720"/>
            <a:ext cx="6858000" cy="502920"/>
          </a:xfrm>
          <a:prstGeom prst="rect">
            <a:avLst/>
          </a:prstGeom>
          <a:noFill/>
          <a:ln/>
        </p:spPr>
        <p:txBody>
          <a:bodyPr wrap="square" rtlCol="0" anchor="ctr"/>
          <a:lstStyle/>
          <a:p>
            <a:pPr indent="0" marL="0">
              <a:buNone/>
            </a:pPr>
            <a:r>
              <a:rPr lang="en-US" sz="1500" dirty="0">
                <a:solidFill>
                  <a:srgbClr val="374151"/>
                </a:solidFill>
                <a:latin typeface="Microsoft YaHei" pitchFamily="34" charset="0"/>
                <a:ea typeface="Microsoft YaHei" pitchFamily="34" charset="-122"/>
                <a:cs typeface="Microsoft YaHei" pitchFamily="34" charset="-120"/>
              </a:rPr>
              <a:t>制定3个月的迭代计划</a:t>
            </a:r>
            <a:endParaRPr lang="en-US" sz="1500" dirty="0"/>
          </a:p>
        </p:txBody>
      </p:sp>
      <p:sp>
        <p:nvSpPr>
          <p:cNvPr id="10" name="Shape 8"/>
          <p:cNvSpPr/>
          <p:nvPr/>
        </p:nvSpPr>
        <p:spPr>
          <a:xfrm>
            <a:off x="822960" y="3017520"/>
            <a:ext cx="137160" cy="137160"/>
          </a:xfrm>
          <a:prstGeom prst="ellipse">
            <a:avLst/>
          </a:prstGeom>
          <a:solidFill>
            <a:srgbClr val="EF4444"/>
          </a:solidFill>
          <a:ln/>
        </p:spPr>
      </p:sp>
      <p:sp>
        <p:nvSpPr>
          <p:cNvPr id="11" name="Text 9"/>
          <p:cNvSpPr/>
          <p:nvPr/>
        </p:nvSpPr>
        <p:spPr>
          <a:xfrm>
            <a:off x="1097280" y="2926080"/>
            <a:ext cx="6858000" cy="502920"/>
          </a:xfrm>
          <a:prstGeom prst="rect">
            <a:avLst/>
          </a:prstGeom>
          <a:noFill/>
          <a:ln/>
        </p:spPr>
        <p:txBody>
          <a:bodyPr wrap="square" rtlCol="0" anchor="ctr"/>
          <a:lstStyle/>
          <a:p>
            <a:pPr indent="0" marL="0">
              <a:buNone/>
            </a:pPr>
            <a:r>
              <a:rPr lang="en-US" sz="1500" dirty="0">
                <a:solidFill>
                  <a:srgbClr val="374151"/>
                </a:solidFill>
                <a:latin typeface="Microsoft YaHei" pitchFamily="34" charset="0"/>
                <a:ea typeface="Microsoft YaHei" pitchFamily="34" charset="-122"/>
                <a:cs typeface="Microsoft YaHei" pitchFamily="34" charset="-120"/>
              </a:rPr>
              <a:t>具体到"谁来做反馈、多久迭代一次"</a:t>
            </a:r>
            <a:endParaRPr lang="en-US" sz="1500" dirty="0"/>
          </a:p>
        </p:txBody>
      </p:sp>
      <p:sp>
        <p:nvSpPr>
          <p:cNvPr id="12" name="Shape 10"/>
          <p:cNvSpPr/>
          <p:nvPr/>
        </p:nvSpPr>
        <p:spPr>
          <a:xfrm>
            <a:off x="822960" y="3611880"/>
            <a:ext cx="137160" cy="137160"/>
          </a:xfrm>
          <a:prstGeom prst="ellipse">
            <a:avLst/>
          </a:prstGeom>
          <a:solidFill>
            <a:srgbClr val="EF4444"/>
          </a:solidFill>
          <a:ln/>
        </p:spPr>
      </p:sp>
      <p:sp>
        <p:nvSpPr>
          <p:cNvPr id="13" name="Text 11"/>
          <p:cNvSpPr/>
          <p:nvPr/>
        </p:nvSpPr>
        <p:spPr>
          <a:xfrm>
            <a:off x="1097280" y="3520440"/>
            <a:ext cx="6858000" cy="502920"/>
          </a:xfrm>
          <a:prstGeom prst="rect">
            <a:avLst/>
          </a:prstGeom>
          <a:noFill/>
          <a:ln/>
        </p:spPr>
        <p:txBody>
          <a:bodyPr wrap="square" rtlCol="0" anchor="ctr"/>
          <a:lstStyle/>
          <a:p>
            <a:pPr indent="0" marL="0">
              <a:buNone/>
            </a:pPr>
            <a:r>
              <a:rPr lang="en-US" sz="1500" dirty="0">
                <a:solidFill>
                  <a:srgbClr val="374151"/>
                </a:solidFill>
                <a:latin typeface="Microsoft YaHei" pitchFamily="34" charset="0"/>
                <a:ea typeface="Microsoft YaHei" pitchFamily="34" charset="-122"/>
                <a:cs typeface="Microsoft YaHei" pitchFamily="34" charset="-120"/>
              </a:rPr>
              <a:t>给自己10分钟</a:t>
            </a:r>
            <a:endParaRPr lang="en-US" sz="1500" dirty="0"/>
          </a:p>
        </p:txBody>
      </p:sp>
      <p:sp>
        <p:nvSpPr>
          <p:cNvPr id="14" name="Shape 12"/>
          <p:cNvSpPr/>
          <p:nvPr/>
        </p:nvSpPr>
        <p:spPr>
          <a:xfrm>
            <a:off x="640080" y="3794760"/>
            <a:ext cx="7772400" cy="365760"/>
          </a:xfrm>
          <a:prstGeom prst="rect">
            <a:avLst/>
          </a:prstGeom>
          <a:solidFill>
            <a:srgbClr val="EF4444"/>
          </a:solidFill>
          <a:ln/>
        </p:spPr>
      </p:sp>
      <p:sp>
        <p:nvSpPr>
          <p:cNvPr id="15" name="Text 13"/>
          <p:cNvSpPr/>
          <p:nvPr/>
        </p:nvSpPr>
        <p:spPr>
          <a:xfrm>
            <a:off x="731520" y="3794760"/>
            <a:ext cx="7589520" cy="365760"/>
          </a:xfrm>
          <a:prstGeom prst="rect">
            <a:avLst/>
          </a:prstGeom>
          <a:noFill/>
          <a:ln/>
        </p:spPr>
        <p:txBody>
          <a:bodyPr wrap="square" rtlCol="0" anchor="ctr"/>
          <a:lstStyle/>
          <a:p>
            <a:pPr indent="0" marL="0">
              <a:buNone/>
            </a:pPr>
            <a:r>
              <a:rPr lang="en-US" sz="1300" b="1" dirty="0">
                <a:solidFill>
                  <a:srgbClr val="FFFFFF"/>
                </a:solidFill>
                <a:latin typeface="Microsoft YaHei" pitchFamily="34" charset="0"/>
                <a:ea typeface="Microsoft YaHei" pitchFamily="34" charset="-122"/>
                <a:cs typeface="Microsoft YaHei" pitchFamily="34" charset="-120"/>
              </a:rPr>
              <a:t>思考：当前处于哪个阶段？迭代频率如何设定？</a:t>
            </a:r>
            <a:endParaRPr lang="en-US" sz="1300" dirty="0"/>
          </a:p>
        </p:txBody>
      </p:sp>
      <p:sp>
        <p:nvSpPr>
          <p:cNvPr id="16" name="Text 14"/>
          <p:cNvSpPr/>
          <p:nvPr/>
        </p:nvSpPr>
        <p:spPr>
          <a:xfrm>
            <a:off x="8503920" y="4663440"/>
            <a:ext cx="457200" cy="274320"/>
          </a:xfrm>
          <a:prstGeom prst="rect">
            <a:avLst/>
          </a:prstGeom>
          <a:noFill/>
          <a:ln/>
        </p:spPr>
        <p:txBody>
          <a:bodyPr wrap="square" rtlCol="0" anchor="ctr"/>
          <a:lstStyle/>
          <a:p>
            <a:pPr algn="r" indent="0" marL="0">
              <a:buNone/>
            </a:pPr>
            <a:r>
              <a:rPr lang="en-US" sz="1000" dirty="0">
                <a:solidFill>
                  <a:srgbClr val="374151"/>
                </a:solidFill>
                <a:latin typeface="Arial" pitchFamily="34" charset="0"/>
                <a:ea typeface="Arial" pitchFamily="34" charset="-122"/>
                <a:cs typeface="Arial" pitchFamily="34" charset="-120"/>
              </a:rPr>
              <a:t>98</a:t>
            </a:r>
            <a:endParaRPr lang="en-US" sz="10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B91C1C"/>
        </a:solidFill>
      </p:bgPr>
    </p:bg>
    <p:spTree>
      <p:nvGrpSpPr>
        <p:cNvPr id="1" name=""/>
        <p:cNvGrpSpPr/>
        <p:nvPr/>
      </p:nvGrpSpPr>
      <p:grpSpPr>
        <a:xfrm>
          <a:off x="0" y="0"/>
          <a:ext cx="0" cy="0"/>
          <a:chOff x="0" y="0"/>
          <a:chExt cx="0" cy="0"/>
        </a:xfrm>
      </p:grpSpPr>
      <p:sp>
        <p:nvSpPr>
          <p:cNvPr id="2" name="Shape 0"/>
          <p:cNvSpPr/>
          <p:nvPr/>
        </p:nvSpPr>
        <p:spPr>
          <a:xfrm>
            <a:off x="0" y="2286000"/>
            <a:ext cx="137160" cy="1371600"/>
          </a:xfrm>
          <a:prstGeom prst="rect">
            <a:avLst/>
          </a:prstGeom>
          <a:solidFill>
            <a:srgbClr val="EF4444"/>
          </a:solidFill>
          <a:ln/>
        </p:spPr>
      </p:sp>
      <p:sp>
        <p:nvSpPr>
          <p:cNvPr id="3" name="Text 1"/>
          <p:cNvSpPr/>
          <p:nvPr/>
        </p:nvSpPr>
        <p:spPr>
          <a:xfrm>
            <a:off x="548640" y="1645920"/>
            <a:ext cx="2743200" cy="457200"/>
          </a:xfrm>
          <a:prstGeom prst="rect">
            <a:avLst/>
          </a:prstGeom>
          <a:noFill/>
          <a:ln/>
        </p:spPr>
        <p:txBody>
          <a:bodyPr wrap="square" rtlCol="0" anchor="ctr"/>
          <a:lstStyle/>
          <a:p>
            <a:pPr indent="0" marL="0">
              <a:buNone/>
            </a:pPr>
            <a:r>
              <a:rPr lang="en-US" sz="1400" spc="400" kern="0" dirty="0">
                <a:solidFill>
                  <a:srgbClr val="F3F4F6"/>
                </a:solidFill>
                <a:latin typeface="Arial" pitchFamily="34" charset="0"/>
                <a:ea typeface="Arial" pitchFamily="34" charset="-122"/>
                <a:cs typeface="Arial" pitchFamily="34" charset="-120"/>
              </a:rPr>
              <a:t>PART 5 - 10</a:t>
            </a:r>
            <a:endParaRPr lang="en-US" sz="1400" dirty="0"/>
          </a:p>
        </p:txBody>
      </p:sp>
      <p:sp>
        <p:nvSpPr>
          <p:cNvPr id="4" name="Text 2"/>
          <p:cNvSpPr/>
          <p:nvPr/>
        </p:nvSpPr>
        <p:spPr>
          <a:xfrm>
            <a:off x="548640" y="2286000"/>
            <a:ext cx="7315200" cy="731520"/>
          </a:xfrm>
          <a:prstGeom prst="rect">
            <a:avLst/>
          </a:prstGeom>
          <a:noFill/>
          <a:ln/>
        </p:spPr>
        <p:txBody>
          <a:bodyPr wrap="square" rtlCol="0" anchor="ctr"/>
          <a:lstStyle/>
          <a:p>
            <a:pPr indent="0" marL="0">
              <a:buNone/>
            </a:pPr>
            <a:r>
              <a:rPr lang="en-US" sz="3600" b="1" dirty="0">
                <a:solidFill>
                  <a:srgbClr val="FFFFFF"/>
                </a:solidFill>
                <a:latin typeface="Microsoft YaHei" pitchFamily="34" charset="0"/>
                <a:ea typeface="Microsoft YaHei" pitchFamily="34" charset="-122"/>
                <a:cs typeface="Microsoft YaHei" pitchFamily="34" charset="-120"/>
              </a:rPr>
              <a:t>第十部分</a:t>
            </a:r>
            <a:endParaRPr lang="en-US" sz="3600" dirty="0"/>
          </a:p>
        </p:txBody>
      </p:sp>
      <p:sp>
        <p:nvSpPr>
          <p:cNvPr id="5" name="Text 3"/>
          <p:cNvSpPr/>
          <p:nvPr/>
        </p:nvSpPr>
        <p:spPr>
          <a:xfrm>
            <a:off x="548640" y="3017520"/>
            <a:ext cx="7315200" cy="548640"/>
          </a:xfrm>
          <a:prstGeom prst="rect">
            <a:avLst/>
          </a:prstGeom>
          <a:noFill/>
          <a:ln/>
        </p:spPr>
        <p:txBody>
          <a:bodyPr wrap="square" rtlCol="0" anchor="ctr"/>
          <a:lstStyle/>
          <a:p>
            <a:pPr indent="0" marL="0">
              <a:buNone/>
            </a:pPr>
            <a:r>
              <a:rPr lang="en-US" sz="2000" dirty="0">
                <a:solidFill>
                  <a:srgbClr val="F3F4F6"/>
                </a:solidFill>
                <a:latin typeface="Microsoft YaHei" pitchFamily="34" charset="0"/>
                <a:ea typeface="Microsoft YaHei" pitchFamily="34" charset="-122"/>
                <a:cs typeface="Microsoft YaHei" pitchFamily="34" charset="-120"/>
              </a:rPr>
              <a:t>团队部署</a:t>
            </a:r>
            <a:endParaRPr lang="en-US" sz="2000" dirty="0"/>
          </a:p>
        </p:txBody>
      </p:sp>
      <p:sp>
        <p:nvSpPr>
          <p:cNvPr id="6" name="Text 4"/>
          <p:cNvSpPr/>
          <p:nvPr/>
        </p:nvSpPr>
        <p:spPr>
          <a:xfrm>
            <a:off x="548640" y="3566160"/>
            <a:ext cx="7315200" cy="457200"/>
          </a:xfrm>
          <a:prstGeom prst="rect">
            <a:avLst/>
          </a:prstGeom>
          <a:noFill/>
          <a:ln/>
        </p:spPr>
        <p:txBody>
          <a:bodyPr wrap="square" rtlCol="0" anchor="ctr"/>
          <a:lstStyle/>
          <a:p>
            <a:pPr indent="0" marL="0">
              <a:buNone/>
            </a:pPr>
            <a:r>
              <a:rPr lang="en-US" sz="1600" dirty="0">
                <a:solidFill>
                  <a:srgbClr val="374151"/>
                </a:solidFill>
                <a:latin typeface="Microsoft YaHei" pitchFamily="34" charset="0"/>
                <a:ea typeface="Microsoft YaHei" pitchFamily="34" charset="-122"/>
                <a:cs typeface="Microsoft YaHei" pitchFamily="34" charset="-120"/>
              </a:rPr>
              <a:t>从个人工具到组织资产</a:t>
            </a:r>
            <a:endParaRPr lang="en-US" sz="1600" dirty="0"/>
          </a:p>
        </p:txBody>
      </p:sp>
      <p:sp>
        <p:nvSpPr>
          <p:cNvPr id="7" name="Text 5"/>
          <p:cNvSpPr/>
          <p:nvPr/>
        </p:nvSpPr>
        <p:spPr>
          <a:xfrm>
            <a:off x="8503920" y="4663440"/>
            <a:ext cx="457200" cy="274320"/>
          </a:xfrm>
          <a:prstGeom prst="rect">
            <a:avLst/>
          </a:prstGeom>
          <a:noFill/>
          <a:ln/>
        </p:spPr>
        <p:txBody>
          <a:bodyPr wrap="square" rtlCol="0" anchor="ctr"/>
          <a:lstStyle/>
          <a:p>
            <a:pPr algn="r" indent="0" marL="0">
              <a:buNone/>
            </a:pPr>
            <a:r>
              <a:rPr lang="en-US" sz="1000" dirty="0">
                <a:solidFill>
                  <a:srgbClr val="374151"/>
                </a:solidFill>
                <a:latin typeface="Arial" pitchFamily="34" charset="0"/>
                <a:ea typeface="Arial" pitchFamily="34" charset="-122"/>
                <a:cs typeface="Arial" pitchFamily="34" charset="-120"/>
              </a:rPr>
              <a:t>99</a:t>
            </a:r>
            <a:endParaRPr lang="en-US" sz="10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274320"/>
            <a:ext cx="8229600" cy="548640"/>
          </a:xfrm>
          <a:prstGeom prst="rect">
            <a:avLst/>
          </a:prstGeom>
          <a:noFill/>
          <a:ln/>
        </p:spPr>
        <p:txBody>
          <a:bodyPr wrap="square" rtlCol="0" anchor="ctr"/>
          <a:lstStyle/>
          <a:p>
            <a:pPr indent="0" marL="0">
              <a:buNone/>
            </a:pPr>
            <a:r>
              <a:rPr lang="en-US" sz="2400" b="1" dirty="0">
                <a:solidFill>
                  <a:srgbClr val="B91C1C"/>
                </a:solidFill>
                <a:latin typeface="Microsoft YaHei" pitchFamily="34" charset="0"/>
                <a:ea typeface="Microsoft YaHei" pitchFamily="34" charset="-122"/>
                <a:cs typeface="Microsoft YaHei" pitchFamily="34" charset="-120"/>
              </a:rPr>
              <a:t>为什么好东西推不出去</a:t>
            </a:r>
            <a:endParaRPr lang="en-US" sz="2400" dirty="0"/>
          </a:p>
        </p:txBody>
      </p:sp>
      <p:sp>
        <p:nvSpPr>
          <p:cNvPr id="4" name="Shape 2"/>
          <p:cNvSpPr/>
          <p:nvPr/>
        </p:nvSpPr>
        <p:spPr>
          <a:xfrm>
            <a:off x="457200" y="1005840"/>
            <a:ext cx="3931920" cy="1645920"/>
          </a:xfrm>
          <a:prstGeom prst="rect">
            <a:avLst/>
          </a:prstGeom>
          <a:solidFill>
            <a:srgbClr val="F3F4F6"/>
          </a:solidFill>
          <a:ln/>
        </p:spPr>
      </p:sp>
      <p:sp>
        <p:nvSpPr>
          <p:cNvPr id="5" name="Shape 3"/>
          <p:cNvSpPr/>
          <p:nvPr/>
        </p:nvSpPr>
        <p:spPr>
          <a:xfrm>
            <a:off x="457200" y="1005840"/>
            <a:ext cx="457200" cy="1645920"/>
          </a:xfrm>
          <a:prstGeom prst="rect">
            <a:avLst/>
          </a:prstGeom>
          <a:solidFill>
            <a:srgbClr val="EF4444"/>
          </a:solidFill>
          <a:ln/>
        </p:spPr>
      </p:sp>
      <p:sp>
        <p:nvSpPr>
          <p:cNvPr id="6" name="Text 4"/>
          <p:cNvSpPr/>
          <p:nvPr/>
        </p:nvSpPr>
        <p:spPr>
          <a:xfrm>
            <a:off x="457200" y="1005840"/>
            <a:ext cx="457200" cy="1645920"/>
          </a:xfrm>
          <a:prstGeom prst="rect">
            <a:avLst/>
          </a:prstGeom>
          <a:noFill/>
          <a:ln/>
        </p:spPr>
        <p:txBody>
          <a:bodyPr wrap="square"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1</a:t>
            </a:r>
            <a:endParaRPr lang="en-US" sz="2800" dirty="0"/>
          </a:p>
        </p:txBody>
      </p:sp>
      <p:sp>
        <p:nvSpPr>
          <p:cNvPr id="7" name="Text 5"/>
          <p:cNvSpPr/>
          <p:nvPr/>
        </p:nvSpPr>
        <p:spPr>
          <a:xfrm>
            <a:off x="1097280" y="1280160"/>
            <a:ext cx="3017520" cy="457200"/>
          </a:xfrm>
          <a:prstGeom prst="rect">
            <a:avLst/>
          </a:prstGeom>
          <a:noFill/>
          <a:ln/>
        </p:spPr>
        <p:txBody>
          <a:bodyPr wrap="square" rtlCol="0" anchor="ctr"/>
          <a:lstStyle/>
          <a:p>
            <a:pPr indent="0" marL="0">
              <a:buNone/>
            </a:pPr>
            <a:r>
              <a:rPr lang="en-US" sz="1600" b="1" dirty="0">
                <a:solidFill>
                  <a:srgbClr val="B91C1C"/>
                </a:solidFill>
                <a:latin typeface="Microsoft YaHei" pitchFamily="34" charset="0"/>
                <a:ea typeface="Microsoft YaHei" pitchFamily="34" charset="-122"/>
                <a:cs typeface="Microsoft YaHei" pitchFamily="34" charset="-120"/>
              </a:rPr>
              <a:t>信息不透明</a:t>
            </a:r>
            <a:endParaRPr lang="en-US" sz="1600" dirty="0"/>
          </a:p>
        </p:txBody>
      </p:sp>
      <p:sp>
        <p:nvSpPr>
          <p:cNvPr id="8" name="Text 6"/>
          <p:cNvSpPr/>
          <p:nvPr/>
        </p:nvSpPr>
        <p:spPr>
          <a:xfrm>
            <a:off x="1097280" y="1828800"/>
            <a:ext cx="3017520" cy="54864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同事不知道有这个Skill</a:t>
            </a:r>
            <a:endParaRPr lang="en-US" sz="1300" dirty="0"/>
          </a:p>
        </p:txBody>
      </p:sp>
      <p:sp>
        <p:nvSpPr>
          <p:cNvPr id="9" name="Shape 7"/>
          <p:cNvSpPr/>
          <p:nvPr/>
        </p:nvSpPr>
        <p:spPr>
          <a:xfrm>
            <a:off x="4754880" y="1005840"/>
            <a:ext cx="3931920" cy="1645920"/>
          </a:xfrm>
          <a:prstGeom prst="rect">
            <a:avLst/>
          </a:prstGeom>
          <a:solidFill>
            <a:srgbClr val="F3F4F6"/>
          </a:solidFill>
          <a:ln/>
        </p:spPr>
      </p:sp>
      <p:sp>
        <p:nvSpPr>
          <p:cNvPr id="10" name="Shape 8"/>
          <p:cNvSpPr/>
          <p:nvPr/>
        </p:nvSpPr>
        <p:spPr>
          <a:xfrm>
            <a:off x="4754880" y="1005840"/>
            <a:ext cx="457200" cy="1645920"/>
          </a:xfrm>
          <a:prstGeom prst="rect">
            <a:avLst/>
          </a:prstGeom>
          <a:solidFill>
            <a:srgbClr val="EF4444"/>
          </a:solidFill>
          <a:ln/>
        </p:spPr>
      </p:sp>
      <p:sp>
        <p:nvSpPr>
          <p:cNvPr id="11" name="Text 9"/>
          <p:cNvSpPr/>
          <p:nvPr/>
        </p:nvSpPr>
        <p:spPr>
          <a:xfrm>
            <a:off x="4754880" y="1005840"/>
            <a:ext cx="457200" cy="1645920"/>
          </a:xfrm>
          <a:prstGeom prst="rect">
            <a:avLst/>
          </a:prstGeom>
          <a:noFill/>
          <a:ln/>
        </p:spPr>
        <p:txBody>
          <a:bodyPr wrap="square"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2</a:t>
            </a:r>
            <a:endParaRPr lang="en-US" sz="2800" dirty="0"/>
          </a:p>
        </p:txBody>
      </p:sp>
      <p:sp>
        <p:nvSpPr>
          <p:cNvPr id="12" name="Text 10"/>
          <p:cNvSpPr/>
          <p:nvPr/>
        </p:nvSpPr>
        <p:spPr>
          <a:xfrm>
            <a:off x="5394960" y="1280160"/>
            <a:ext cx="3017520" cy="457200"/>
          </a:xfrm>
          <a:prstGeom prst="rect">
            <a:avLst/>
          </a:prstGeom>
          <a:noFill/>
          <a:ln/>
        </p:spPr>
        <p:txBody>
          <a:bodyPr wrap="square" rtlCol="0" anchor="ctr"/>
          <a:lstStyle/>
          <a:p>
            <a:pPr indent="0" marL="0">
              <a:buNone/>
            </a:pPr>
            <a:r>
              <a:rPr lang="en-US" sz="1600" b="1" dirty="0">
                <a:solidFill>
                  <a:srgbClr val="B91C1C"/>
                </a:solidFill>
                <a:latin typeface="Microsoft YaHei" pitchFamily="34" charset="0"/>
                <a:ea typeface="Microsoft YaHei" pitchFamily="34" charset="-122"/>
                <a:cs typeface="Microsoft YaHei" pitchFamily="34" charset="-120"/>
              </a:rPr>
              <a:t>无使用说明</a:t>
            </a:r>
            <a:endParaRPr lang="en-US" sz="1600" dirty="0"/>
          </a:p>
        </p:txBody>
      </p:sp>
      <p:sp>
        <p:nvSpPr>
          <p:cNvPr id="13" name="Text 11"/>
          <p:cNvSpPr/>
          <p:nvPr/>
        </p:nvSpPr>
        <p:spPr>
          <a:xfrm>
            <a:off x="5394960" y="1828800"/>
            <a:ext cx="3017520" cy="54864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不知道怎么用</a:t>
            </a:r>
            <a:endParaRPr lang="en-US" sz="1300" dirty="0"/>
          </a:p>
        </p:txBody>
      </p:sp>
      <p:sp>
        <p:nvSpPr>
          <p:cNvPr id="14" name="Shape 12"/>
          <p:cNvSpPr/>
          <p:nvPr/>
        </p:nvSpPr>
        <p:spPr>
          <a:xfrm>
            <a:off x="457200" y="2834640"/>
            <a:ext cx="3931920" cy="1645920"/>
          </a:xfrm>
          <a:prstGeom prst="rect">
            <a:avLst/>
          </a:prstGeom>
          <a:solidFill>
            <a:srgbClr val="F3F4F6"/>
          </a:solidFill>
          <a:ln/>
        </p:spPr>
      </p:sp>
      <p:sp>
        <p:nvSpPr>
          <p:cNvPr id="15" name="Shape 13"/>
          <p:cNvSpPr/>
          <p:nvPr/>
        </p:nvSpPr>
        <p:spPr>
          <a:xfrm>
            <a:off x="457200" y="2834640"/>
            <a:ext cx="457200" cy="1645920"/>
          </a:xfrm>
          <a:prstGeom prst="rect">
            <a:avLst/>
          </a:prstGeom>
          <a:solidFill>
            <a:srgbClr val="EF4444"/>
          </a:solidFill>
          <a:ln/>
        </p:spPr>
      </p:sp>
      <p:sp>
        <p:nvSpPr>
          <p:cNvPr id="16" name="Text 14"/>
          <p:cNvSpPr/>
          <p:nvPr/>
        </p:nvSpPr>
        <p:spPr>
          <a:xfrm>
            <a:off x="457200" y="2834640"/>
            <a:ext cx="457200" cy="1645920"/>
          </a:xfrm>
          <a:prstGeom prst="rect">
            <a:avLst/>
          </a:prstGeom>
          <a:noFill/>
          <a:ln/>
        </p:spPr>
        <p:txBody>
          <a:bodyPr wrap="square"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3</a:t>
            </a:r>
            <a:endParaRPr lang="en-US" sz="2800" dirty="0"/>
          </a:p>
        </p:txBody>
      </p:sp>
      <p:sp>
        <p:nvSpPr>
          <p:cNvPr id="17" name="Text 15"/>
          <p:cNvSpPr/>
          <p:nvPr/>
        </p:nvSpPr>
        <p:spPr>
          <a:xfrm>
            <a:off x="1097280" y="3108960"/>
            <a:ext cx="3017520" cy="457200"/>
          </a:xfrm>
          <a:prstGeom prst="rect">
            <a:avLst/>
          </a:prstGeom>
          <a:noFill/>
          <a:ln/>
        </p:spPr>
        <p:txBody>
          <a:bodyPr wrap="square" rtlCol="0" anchor="ctr"/>
          <a:lstStyle/>
          <a:p>
            <a:pPr indent="0" marL="0">
              <a:buNone/>
            </a:pPr>
            <a:r>
              <a:rPr lang="en-US" sz="1600" b="1" dirty="0">
                <a:solidFill>
                  <a:srgbClr val="B91C1C"/>
                </a:solidFill>
                <a:latin typeface="Microsoft YaHei" pitchFamily="34" charset="0"/>
                <a:ea typeface="Microsoft YaHei" pitchFamily="34" charset="-122"/>
                <a:cs typeface="Microsoft YaHei" pitchFamily="34" charset="-120"/>
              </a:rPr>
              <a:t>无反馈维护</a:t>
            </a:r>
            <a:endParaRPr lang="en-US" sz="1600" dirty="0"/>
          </a:p>
        </p:txBody>
      </p:sp>
      <p:sp>
        <p:nvSpPr>
          <p:cNvPr id="18" name="Text 16"/>
          <p:cNvSpPr/>
          <p:nvPr/>
        </p:nvSpPr>
        <p:spPr>
          <a:xfrm>
            <a:off x="1097280" y="3657600"/>
            <a:ext cx="3017520" cy="54864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发现问题不知道找谁</a:t>
            </a:r>
            <a:endParaRPr lang="en-US" sz="1300" dirty="0"/>
          </a:p>
        </p:txBody>
      </p:sp>
      <p:sp>
        <p:nvSpPr>
          <p:cNvPr id="19" name="Shape 17"/>
          <p:cNvSpPr/>
          <p:nvPr/>
        </p:nvSpPr>
        <p:spPr>
          <a:xfrm>
            <a:off x="4754880" y="2834640"/>
            <a:ext cx="3931920" cy="1645920"/>
          </a:xfrm>
          <a:prstGeom prst="rect">
            <a:avLst/>
          </a:prstGeom>
          <a:solidFill>
            <a:srgbClr val="F3F4F6"/>
          </a:solidFill>
          <a:ln/>
        </p:spPr>
      </p:sp>
      <p:sp>
        <p:nvSpPr>
          <p:cNvPr id="20" name="Shape 18"/>
          <p:cNvSpPr/>
          <p:nvPr/>
        </p:nvSpPr>
        <p:spPr>
          <a:xfrm>
            <a:off x="4754880" y="2834640"/>
            <a:ext cx="457200" cy="1645920"/>
          </a:xfrm>
          <a:prstGeom prst="rect">
            <a:avLst/>
          </a:prstGeom>
          <a:solidFill>
            <a:srgbClr val="EF4444"/>
          </a:solidFill>
          <a:ln/>
        </p:spPr>
      </p:sp>
      <p:sp>
        <p:nvSpPr>
          <p:cNvPr id="21" name="Text 19"/>
          <p:cNvSpPr/>
          <p:nvPr/>
        </p:nvSpPr>
        <p:spPr>
          <a:xfrm>
            <a:off x="4754880" y="2834640"/>
            <a:ext cx="457200" cy="1645920"/>
          </a:xfrm>
          <a:prstGeom prst="rect">
            <a:avLst/>
          </a:prstGeom>
          <a:noFill/>
          <a:ln/>
        </p:spPr>
        <p:txBody>
          <a:bodyPr wrap="square"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4</a:t>
            </a:r>
            <a:endParaRPr lang="en-US" sz="2800" dirty="0"/>
          </a:p>
        </p:txBody>
      </p:sp>
      <p:sp>
        <p:nvSpPr>
          <p:cNvPr id="22" name="Text 20"/>
          <p:cNvSpPr/>
          <p:nvPr/>
        </p:nvSpPr>
        <p:spPr>
          <a:xfrm>
            <a:off x="5394960" y="3108960"/>
            <a:ext cx="3017520" cy="457200"/>
          </a:xfrm>
          <a:prstGeom prst="rect">
            <a:avLst/>
          </a:prstGeom>
          <a:noFill/>
          <a:ln/>
        </p:spPr>
        <p:txBody>
          <a:bodyPr wrap="square" rtlCol="0" anchor="ctr"/>
          <a:lstStyle/>
          <a:p>
            <a:pPr indent="0" marL="0">
              <a:buNone/>
            </a:pPr>
            <a:r>
              <a:rPr lang="en-US" sz="1600" b="1" dirty="0">
                <a:solidFill>
                  <a:srgbClr val="B91C1C"/>
                </a:solidFill>
                <a:latin typeface="Microsoft YaHei" pitchFamily="34" charset="0"/>
                <a:ea typeface="Microsoft YaHei" pitchFamily="34" charset="-122"/>
                <a:cs typeface="Microsoft YaHei" pitchFamily="34" charset="-120"/>
              </a:rPr>
              <a:t>多人修改版本混乱</a:t>
            </a:r>
            <a:endParaRPr lang="en-US" sz="1600" dirty="0"/>
          </a:p>
        </p:txBody>
      </p:sp>
      <p:sp>
        <p:nvSpPr>
          <p:cNvPr id="23" name="Text 21"/>
          <p:cNvSpPr/>
          <p:nvPr/>
        </p:nvSpPr>
        <p:spPr>
          <a:xfrm>
            <a:off x="5394960" y="3657600"/>
            <a:ext cx="3017520" cy="54864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三个版本互相矛盾</a:t>
            </a:r>
            <a:endParaRPr lang="en-US" sz="1300" dirty="0"/>
          </a:p>
        </p:txBody>
      </p:sp>
      <p:sp>
        <p:nvSpPr>
          <p:cNvPr id="24" name="Text 22"/>
          <p:cNvSpPr/>
          <p:nvPr/>
        </p:nvSpPr>
        <p:spPr>
          <a:xfrm>
            <a:off x="8503920" y="4663440"/>
            <a:ext cx="457200" cy="274320"/>
          </a:xfrm>
          <a:prstGeom prst="rect">
            <a:avLst/>
          </a:prstGeom>
          <a:noFill/>
          <a:ln/>
        </p:spPr>
        <p:txBody>
          <a:bodyPr wrap="square" rtlCol="0" anchor="ctr"/>
          <a:lstStyle/>
          <a:p>
            <a:pPr algn="r" indent="0" marL="0">
              <a:buNone/>
            </a:pPr>
            <a:r>
              <a:rPr lang="en-US" sz="1000" dirty="0">
                <a:solidFill>
                  <a:srgbClr val="374151"/>
                </a:solidFill>
                <a:latin typeface="Arial" pitchFamily="34" charset="0"/>
                <a:ea typeface="Arial" pitchFamily="34" charset="-122"/>
                <a:cs typeface="Arial" pitchFamily="34" charset="-120"/>
              </a:rPr>
              <a:t>100</a:t>
            </a:r>
            <a:endParaRPr lang="en-US" sz="10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274320"/>
            <a:ext cx="8229600" cy="548640"/>
          </a:xfrm>
          <a:prstGeom prst="rect">
            <a:avLst/>
          </a:prstGeom>
          <a:noFill/>
          <a:ln/>
        </p:spPr>
        <p:txBody>
          <a:bodyPr wrap="square" rtlCol="0" anchor="ctr"/>
          <a:lstStyle/>
          <a:p>
            <a:pPr indent="0" marL="0">
              <a:buNone/>
            </a:pPr>
            <a:r>
              <a:rPr lang="en-US" sz="2400" b="1" dirty="0">
                <a:solidFill>
                  <a:srgbClr val="B91C1C"/>
                </a:solidFill>
                <a:latin typeface="Microsoft YaHei" pitchFamily="34" charset="0"/>
                <a:ea typeface="Microsoft YaHei" pitchFamily="34" charset="-122"/>
                <a:cs typeface="Microsoft YaHei" pitchFamily="34" charset="-120"/>
              </a:rPr>
              <a:t>团队推广的三步路径</a:t>
            </a:r>
            <a:endParaRPr lang="en-US" sz="2400" dirty="0"/>
          </a:p>
        </p:txBody>
      </p:sp>
      <p:sp>
        <p:nvSpPr>
          <p:cNvPr id="4" name="Shape 2"/>
          <p:cNvSpPr/>
          <p:nvPr/>
        </p:nvSpPr>
        <p:spPr>
          <a:xfrm>
            <a:off x="457200" y="1005840"/>
            <a:ext cx="2651760" cy="3474720"/>
          </a:xfrm>
          <a:prstGeom prst="rect">
            <a:avLst/>
          </a:prstGeom>
          <a:solidFill>
            <a:srgbClr val="F3F4F6"/>
          </a:solidFill>
          <a:ln/>
        </p:spPr>
      </p:sp>
      <p:sp>
        <p:nvSpPr>
          <p:cNvPr id="5" name="Shape 3"/>
          <p:cNvSpPr/>
          <p:nvPr/>
        </p:nvSpPr>
        <p:spPr>
          <a:xfrm>
            <a:off x="457200" y="1005840"/>
            <a:ext cx="2651760" cy="640080"/>
          </a:xfrm>
          <a:prstGeom prst="rect">
            <a:avLst/>
          </a:prstGeom>
          <a:solidFill>
            <a:srgbClr val="EF4444"/>
          </a:solidFill>
          <a:ln/>
        </p:spPr>
      </p:sp>
      <p:sp>
        <p:nvSpPr>
          <p:cNvPr id="6" name="Text 4"/>
          <p:cNvSpPr/>
          <p:nvPr/>
        </p:nvSpPr>
        <p:spPr>
          <a:xfrm>
            <a:off x="457200" y="1005840"/>
            <a:ext cx="2651760" cy="640080"/>
          </a:xfrm>
          <a:prstGeom prst="rect">
            <a:avLst/>
          </a:prstGeom>
          <a:noFill/>
          <a:ln/>
        </p:spPr>
        <p:txBody>
          <a:bodyPr wrap="square" rtlCol="0" anchor="ctr"/>
          <a:lstStyle/>
          <a:p>
            <a:pPr algn="ctr" indent="0" marL="0">
              <a:buNone/>
            </a:pPr>
            <a:r>
              <a:rPr lang="en-US" sz="1600" b="1" dirty="0">
                <a:solidFill>
                  <a:srgbClr val="FFFFFF"/>
                </a:solidFill>
                <a:latin typeface="Microsoft YaHei" pitchFamily="34" charset="0"/>
                <a:ea typeface="Microsoft YaHei" pitchFamily="34" charset="-122"/>
                <a:cs typeface="Microsoft YaHei" pitchFamily="34" charset="-120"/>
              </a:rPr>
              <a:t>第1步</a:t>
            </a:r>
            <a:endParaRPr lang="en-US" sz="1600" dirty="0"/>
          </a:p>
        </p:txBody>
      </p:sp>
      <p:sp>
        <p:nvSpPr>
          <p:cNvPr id="7" name="Text 5"/>
          <p:cNvSpPr/>
          <p:nvPr/>
        </p:nvSpPr>
        <p:spPr>
          <a:xfrm>
            <a:off x="640080" y="1828800"/>
            <a:ext cx="2286000" cy="731520"/>
          </a:xfrm>
          <a:prstGeom prst="rect">
            <a:avLst/>
          </a:prstGeom>
          <a:noFill/>
          <a:ln/>
        </p:spPr>
        <p:txBody>
          <a:bodyPr wrap="square" rtlCol="0" anchor="ctr"/>
          <a:lstStyle/>
          <a:p>
            <a:pPr algn="ctr" indent="0" marL="0">
              <a:buNone/>
            </a:pPr>
            <a:r>
              <a:rPr lang="en-US" sz="1400" b="1" dirty="0">
                <a:solidFill>
                  <a:srgbClr val="B91C1C"/>
                </a:solidFill>
                <a:latin typeface="Microsoft YaHei" pitchFamily="34" charset="0"/>
                <a:ea typeface="Microsoft YaHei" pitchFamily="34" charset="-122"/>
                <a:cs typeface="Microsoft YaHei" pitchFamily="34" charset="-120"/>
              </a:rPr>
              <a:t>找种子用户，跑出可见效果</a:t>
            </a:r>
            <a:endParaRPr lang="en-US" sz="1400" dirty="0"/>
          </a:p>
        </p:txBody>
      </p:sp>
      <p:sp>
        <p:nvSpPr>
          <p:cNvPr id="8" name="Text 6"/>
          <p:cNvSpPr/>
          <p:nvPr/>
        </p:nvSpPr>
        <p:spPr>
          <a:xfrm>
            <a:off x="640080" y="2651760"/>
            <a:ext cx="2286000" cy="1645920"/>
          </a:xfrm>
          <a:prstGeom prst="rect">
            <a:avLst/>
          </a:prstGeom>
          <a:noFill/>
          <a:ln/>
        </p:spPr>
        <p:txBody>
          <a:bodyPr wrap="square" rtlCol="0" anchor="ctr"/>
          <a:lstStyle/>
          <a:p>
            <a:pPr algn="ctr" indent="0" marL="0">
              <a:buNone/>
            </a:pPr>
            <a:r>
              <a:rPr lang="en-US" sz="1200" dirty="0">
                <a:solidFill>
                  <a:srgbClr val="374151"/>
                </a:solidFill>
                <a:latin typeface="Microsoft YaHei" pitchFamily="34" charset="0"/>
                <a:ea typeface="Microsoft YaHei" pitchFamily="34" charset="-122"/>
                <a:cs typeface="Microsoft YaHei" pitchFamily="34" charset="-120"/>
              </a:rPr>
              <a:t>先找1-2个同事，让他们先用</a:t>
            </a:r>
            <a:endParaRPr lang="en-US" sz="1200" dirty="0"/>
          </a:p>
          <a:p>
            <a:pPr algn="ctr" indent="0" marL="0">
              <a:buNone/>
            </a:pPr>
            <a:r>
              <a:rPr lang="en-US" sz="1200" dirty="0">
                <a:solidFill>
                  <a:srgbClr val="374151"/>
                </a:solidFill>
                <a:latin typeface="Microsoft YaHei" pitchFamily="34" charset="0"/>
                <a:ea typeface="Microsoft YaHei" pitchFamily="34" charset="-122"/>
                <a:cs typeface="Microsoft YaHei" pitchFamily="34" charset="-120"/>
              </a:rPr>
              <a:t>帮他们在实际工作场景里成功用一次</a:t>
            </a:r>
            <a:endParaRPr lang="en-US" sz="1200" dirty="0"/>
          </a:p>
        </p:txBody>
      </p:sp>
      <p:sp>
        <p:nvSpPr>
          <p:cNvPr id="9" name="Shape 7"/>
          <p:cNvSpPr/>
          <p:nvPr/>
        </p:nvSpPr>
        <p:spPr>
          <a:xfrm>
            <a:off x="3291840" y="1005840"/>
            <a:ext cx="2651760" cy="3474720"/>
          </a:xfrm>
          <a:prstGeom prst="rect">
            <a:avLst/>
          </a:prstGeom>
          <a:solidFill>
            <a:srgbClr val="F3F4F6"/>
          </a:solidFill>
          <a:ln/>
        </p:spPr>
      </p:sp>
      <p:sp>
        <p:nvSpPr>
          <p:cNvPr id="10" name="Shape 8"/>
          <p:cNvSpPr/>
          <p:nvPr/>
        </p:nvSpPr>
        <p:spPr>
          <a:xfrm>
            <a:off x="3291840" y="1005840"/>
            <a:ext cx="2651760" cy="640080"/>
          </a:xfrm>
          <a:prstGeom prst="rect">
            <a:avLst/>
          </a:prstGeom>
          <a:solidFill>
            <a:srgbClr val="EF4444"/>
          </a:solidFill>
          <a:ln/>
        </p:spPr>
      </p:sp>
      <p:sp>
        <p:nvSpPr>
          <p:cNvPr id="11" name="Text 9"/>
          <p:cNvSpPr/>
          <p:nvPr/>
        </p:nvSpPr>
        <p:spPr>
          <a:xfrm>
            <a:off x="3291840" y="1005840"/>
            <a:ext cx="2651760" cy="640080"/>
          </a:xfrm>
          <a:prstGeom prst="rect">
            <a:avLst/>
          </a:prstGeom>
          <a:noFill/>
          <a:ln/>
        </p:spPr>
        <p:txBody>
          <a:bodyPr wrap="square" rtlCol="0" anchor="ctr"/>
          <a:lstStyle/>
          <a:p>
            <a:pPr algn="ctr" indent="0" marL="0">
              <a:buNone/>
            </a:pPr>
            <a:r>
              <a:rPr lang="en-US" sz="1600" b="1" dirty="0">
                <a:solidFill>
                  <a:srgbClr val="FFFFFF"/>
                </a:solidFill>
                <a:latin typeface="Microsoft YaHei" pitchFamily="34" charset="0"/>
                <a:ea typeface="Microsoft YaHei" pitchFamily="34" charset="-122"/>
                <a:cs typeface="Microsoft YaHei" pitchFamily="34" charset="-120"/>
              </a:rPr>
              <a:t>第2步</a:t>
            </a:r>
            <a:endParaRPr lang="en-US" sz="1600" dirty="0"/>
          </a:p>
        </p:txBody>
      </p:sp>
      <p:sp>
        <p:nvSpPr>
          <p:cNvPr id="12" name="Text 10"/>
          <p:cNvSpPr/>
          <p:nvPr/>
        </p:nvSpPr>
        <p:spPr>
          <a:xfrm>
            <a:off x="3474720" y="1828800"/>
            <a:ext cx="2286000" cy="731520"/>
          </a:xfrm>
          <a:prstGeom prst="rect">
            <a:avLst/>
          </a:prstGeom>
          <a:noFill/>
          <a:ln/>
        </p:spPr>
        <p:txBody>
          <a:bodyPr wrap="square" rtlCol="0" anchor="ctr"/>
          <a:lstStyle/>
          <a:p>
            <a:pPr algn="ctr" indent="0" marL="0">
              <a:buNone/>
            </a:pPr>
            <a:r>
              <a:rPr lang="en-US" sz="1400" b="1" dirty="0">
                <a:solidFill>
                  <a:srgbClr val="B91C1C"/>
                </a:solidFill>
                <a:latin typeface="Microsoft YaHei" pitchFamily="34" charset="0"/>
                <a:ea typeface="Microsoft YaHei" pitchFamily="34" charset="-122"/>
                <a:cs typeface="Microsoft YaHei" pitchFamily="34" charset="-120"/>
              </a:rPr>
              <a:t>写使用说明，降低门槛</a:t>
            </a:r>
            <a:endParaRPr lang="en-US" sz="1400" dirty="0"/>
          </a:p>
        </p:txBody>
      </p:sp>
      <p:sp>
        <p:nvSpPr>
          <p:cNvPr id="13" name="Text 11"/>
          <p:cNvSpPr/>
          <p:nvPr/>
        </p:nvSpPr>
        <p:spPr>
          <a:xfrm>
            <a:off x="3474720" y="2651760"/>
            <a:ext cx="2286000" cy="1645920"/>
          </a:xfrm>
          <a:prstGeom prst="rect">
            <a:avLst/>
          </a:prstGeom>
          <a:noFill/>
          <a:ln/>
        </p:spPr>
        <p:txBody>
          <a:bodyPr wrap="square" rtlCol="0" anchor="ctr"/>
          <a:lstStyle/>
          <a:p>
            <a:pPr algn="ctr" indent="0" marL="0">
              <a:buNone/>
            </a:pPr>
            <a:r>
              <a:rPr lang="en-US" sz="1200" dirty="0">
                <a:solidFill>
                  <a:srgbClr val="374151"/>
                </a:solidFill>
                <a:latin typeface="Microsoft YaHei" pitchFamily="34" charset="0"/>
                <a:ea typeface="Microsoft YaHei" pitchFamily="34" charset="-122"/>
                <a:cs typeface="Microsoft YaHei" pitchFamily="34" charset="-120"/>
              </a:rPr>
              <a:t>这个Skill是用来做什么的</a:t>
            </a:r>
            <a:endParaRPr lang="en-US" sz="1200" dirty="0"/>
          </a:p>
          <a:p>
            <a:pPr algn="ctr" indent="0" marL="0">
              <a:buNone/>
            </a:pPr>
            <a:r>
              <a:rPr lang="en-US" sz="1200" dirty="0">
                <a:solidFill>
                  <a:srgbClr val="374151"/>
                </a:solidFill>
                <a:latin typeface="Microsoft YaHei" pitchFamily="34" charset="0"/>
                <a:ea typeface="Microsoft YaHei" pitchFamily="34" charset="-122"/>
                <a:cs typeface="Microsoft YaHei" pitchFamily="34" charset="-120"/>
              </a:rPr>
              <a:t>怎么用（输入什么格式，在哪里运行）</a:t>
            </a:r>
            <a:endParaRPr lang="en-US" sz="1200" dirty="0"/>
          </a:p>
        </p:txBody>
      </p:sp>
      <p:sp>
        <p:nvSpPr>
          <p:cNvPr id="14" name="Shape 12"/>
          <p:cNvSpPr/>
          <p:nvPr/>
        </p:nvSpPr>
        <p:spPr>
          <a:xfrm>
            <a:off x="6126480" y="1005840"/>
            <a:ext cx="2651760" cy="3474720"/>
          </a:xfrm>
          <a:prstGeom prst="rect">
            <a:avLst/>
          </a:prstGeom>
          <a:solidFill>
            <a:srgbClr val="F3F4F6"/>
          </a:solidFill>
          <a:ln/>
        </p:spPr>
      </p:sp>
      <p:sp>
        <p:nvSpPr>
          <p:cNvPr id="15" name="Shape 13"/>
          <p:cNvSpPr/>
          <p:nvPr/>
        </p:nvSpPr>
        <p:spPr>
          <a:xfrm>
            <a:off x="6126480" y="1005840"/>
            <a:ext cx="2651760" cy="640080"/>
          </a:xfrm>
          <a:prstGeom prst="rect">
            <a:avLst/>
          </a:prstGeom>
          <a:solidFill>
            <a:srgbClr val="EF4444"/>
          </a:solidFill>
          <a:ln/>
        </p:spPr>
      </p:sp>
      <p:sp>
        <p:nvSpPr>
          <p:cNvPr id="16" name="Text 14"/>
          <p:cNvSpPr/>
          <p:nvPr/>
        </p:nvSpPr>
        <p:spPr>
          <a:xfrm>
            <a:off x="6126480" y="1005840"/>
            <a:ext cx="2651760" cy="640080"/>
          </a:xfrm>
          <a:prstGeom prst="rect">
            <a:avLst/>
          </a:prstGeom>
          <a:noFill/>
          <a:ln/>
        </p:spPr>
        <p:txBody>
          <a:bodyPr wrap="square" rtlCol="0" anchor="ctr"/>
          <a:lstStyle/>
          <a:p>
            <a:pPr algn="ctr" indent="0" marL="0">
              <a:buNone/>
            </a:pPr>
            <a:r>
              <a:rPr lang="en-US" sz="1600" b="1" dirty="0">
                <a:solidFill>
                  <a:srgbClr val="FFFFFF"/>
                </a:solidFill>
                <a:latin typeface="Microsoft YaHei" pitchFamily="34" charset="0"/>
                <a:ea typeface="Microsoft YaHei" pitchFamily="34" charset="-122"/>
                <a:cs typeface="Microsoft YaHei" pitchFamily="34" charset="-120"/>
              </a:rPr>
              <a:t>第3步</a:t>
            </a:r>
            <a:endParaRPr lang="en-US" sz="1600" dirty="0"/>
          </a:p>
        </p:txBody>
      </p:sp>
      <p:sp>
        <p:nvSpPr>
          <p:cNvPr id="17" name="Text 15"/>
          <p:cNvSpPr/>
          <p:nvPr/>
        </p:nvSpPr>
        <p:spPr>
          <a:xfrm>
            <a:off x="6309360" y="1828800"/>
            <a:ext cx="2286000" cy="731520"/>
          </a:xfrm>
          <a:prstGeom prst="rect">
            <a:avLst/>
          </a:prstGeom>
          <a:noFill/>
          <a:ln/>
        </p:spPr>
        <p:txBody>
          <a:bodyPr wrap="square" rtlCol="0" anchor="ctr"/>
          <a:lstStyle/>
          <a:p>
            <a:pPr algn="ctr" indent="0" marL="0">
              <a:buNone/>
            </a:pPr>
            <a:r>
              <a:rPr lang="en-US" sz="1400" b="1" dirty="0">
                <a:solidFill>
                  <a:srgbClr val="B91C1C"/>
                </a:solidFill>
                <a:latin typeface="Microsoft YaHei" pitchFamily="34" charset="0"/>
                <a:ea typeface="Microsoft YaHei" pitchFamily="34" charset="-122"/>
                <a:cs typeface="Microsoft YaHei" pitchFamily="34" charset="-120"/>
              </a:rPr>
              <a:t>建Skill资产库，集中管理</a:t>
            </a:r>
            <a:endParaRPr lang="en-US" sz="1400" dirty="0"/>
          </a:p>
        </p:txBody>
      </p:sp>
      <p:sp>
        <p:nvSpPr>
          <p:cNvPr id="18" name="Text 16"/>
          <p:cNvSpPr/>
          <p:nvPr/>
        </p:nvSpPr>
        <p:spPr>
          <a:xfrm>
            <a:off x="6309360" y="2651760"/>
            <a:ext cx="2286000" cy="1645920"/>
          </a:xfrm>
          <a:prstGeom prst="rect">
            <a:avLst/>
          </a:prstGeom>
          <a:noFill/>
          <a:ln/>
        </p:spPr>
        <p:txBody>
          <a:bodyPr wrap="square" rtlCol="0" anchor="ctr"/>
          <a:lstStyle/>
          <a:p>
            <a:pPr algn="ctr" indent="0" marL="0">
              <a:buNone/>
            </a:pPr>
            <a:r>
              <a:rPr lang="en-US" sz="1200" dirty="0">
                <a:solidFill>
                  <a:srgbClr val="374151"/>
                </a:solidFill>
                <a:latin typeface="Microsoft YaHei" pitchFamily="34" charset="0"/>
                <a:ea typeface="Microsoft YaHei" pitchFamily="34" charset="-122"/>
                <a:cs typeface="Microsoft YaHei" pitchFamily="34" charset="-120"/>
              </a:rPr>
              <a:t>列表、版本记录、使用说明、反馈入口</a:t>
            </a:r>
            <a:endParaRPr lang="en-US" sz="1200" dirty="0"/>
          </a:p>
        </p:txBody>
      </p:sp>
      <p:sp>
        <p:nvSpPr>
          <p:cNvPr id="19" name="Text 17"/>
          <p:cNvSpPr/>
          <p:nvPr/>
        </p:nvSpPr>
        <p:spPr>
          <a:xfrm>
            <a:off x="8503920" y="4663440"/>
            <a:ext cx="457200" cy="274320"/>
          </a:xfrm>
          <a:prstGeom prst="rect">
            <a:avLst/>
          </a:prstGeom>
          <a:noFill/>
          <a:ln/>
        </p:spPr>
        <p:txBody>
          <a:bodyPr wrap="square" rtlCol="0" anchor="ctr"/>
          <a:lstStyle/>
          <a:p>
            <a:pPr algn="r" indent="0" marL="0">
              <a:buNone/>
            </a:pPr>
            <a:r>
              <a:rPr lang="en-US" sz="1000" dirty="0">
                <a:solidFill>
                  <a:srgbClr val="374151"/>
                </a:solidFill>
                <a:latin typeface="Arial" pitchFamily="34" charset="0"/>
                <a:ea typeface="Arial" pitchFamily="34" charset="-122"/>
                <a:cs typeface="Arial" pitchFamily="34" charset="-120"/>
              </a:rPr>
              <a:t>101</a:t>
            </a:r>
            <a:endParaRPr lang="en-US" sz="10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274320"/>
            <a:ext cx="8229600" cy="548640"/>
          </a:xfrm>
          <a:prstGeom prst="rect">
            <a:avLst/>
          </a:prstGeom>
          <a:noFill/>
          <a:ln/>
        </p:spPr>
        <p:txBody>
          <a:bodyPr wrap="square" rtlCol="0" anchor="ctr"/>
          <a:lstStyle/>
          <a:p>
            <a:pPr indent="0" marL="0">
              <a:buNone/>
            </a:pPr>
            <a:r>
              <a:rPr lang="en-US" sz="2400" b="1" dirty="0">
                <a:solidFill>
                  <a:srgbClr val="B91C1C"/>
                </a:solidFill>
                <a:latin typeface="Microsoft YaHei" pitchFamily="34" charset="0"/>
                <a:ea typeface="Microsoft YaHei" pitchFamily="34" charset="-122"/>
                <a:cs typeface="Microsoft YaHei" pitchFamily="34" charset="-120"/>
              </a:rPr>
              <a:t>第一步：找种子用户</a:t>
            </a:r>
            <a:endParaRPr lang="en-US" sz="2400" dirty="0"/>
          </a:p>
        </p:txBody>
      </p:sp>
      <p:sp>
        <p:nvSpPr>
          <p:cNvPr id="4" name="Shape 2"/>
          <p:cNvSpPr/>
          <p:nvPr/>
        </p:nvSpPr>
        <p:spPr>
          <a:xfrm>
            <a:off x="457200" y="1005840"/>
            <a:ext cx="5029200" cy="777240"/>
          </a:xfrm>
          <a:prstGeom prst="rect">
            <a:avLst/>
          </a:prstGeom>
          <a:solidFill>
            <a:srgbClr val="F3F4F6"/>
          </a:solidFill>
          <a:ln/>
        </p:spPr>
      </p:sp>
      <p:sp>
        <p:nvSpPr>
          <p:cNvPr id="5" name="Shape 3"/>
          <p:cNvSpPr/>
          <p:nvPr/>
        </p:nvSpPr>
        <p:spPr>
          <a:xfrm>
            <a:off x="640080" y="1143000"/>
            <a:ext cx="137160" cy="137160"/>
          </a:xfrm>
          <a:prstGeom prst="ellipse">
            <a:avLst/>
          </a:prstGeom>
          <a:solidFill>
            <a:srgbClr val="EF4444"/>
          </a:solidFill>
          <a:ln/>
        </p:spPr>
      </p:sp>
      <p:sp>
        <p:nvSpPr>
          <p:cNvPr id="6" name="Text 4"/>
          <p:cNvSpPr/>
          <p:nvPr/>
        </p:nvSpPr>
        <p:spPr>
          <a:xfrm>
            <a:off x="914400" y="1051560"/>
            <a:ext cx="4389120" cy="640080"/>
          </a:xfrm>
          <a:prstGeom prst="rect">
            <a:avLst/>
          </a:prstGeom>
          <a:noFill/>
          <a:ln/>
        </p:spPr>
        <p:txBody>
          <a:bodyPr wrap="square" rtlCol="0" anchor="ctr"/>
          <a:lstStyle/>
          <a:p>
            <a:pPr indent="0" marL="0">
              <a:buNone/>
            </a:pPr>
            <a:r>
              <a:rPr lang="en-US" sz="1500" dirty="0">
                <a:solidFill>
                  <a:srgbClr val="374151"/>
                </a:solidFill>
                <a:latin typeface="Microsoft YaHei" pitchFamily="34" charset="0"/>
                <a:ea typeface="Microsoft YaHei" pitchFamily="34" charset="-122"/>
                <a:cs typeface="Microsoft YaHei" pitchFamily="34" charset="-120"/>
              </a:rPr>
              <a:t>找和你关系好、对AI工具接受度高的同事</a:t>
            </a:r>
            <a:endParaRPr lang="en-US" sz="1500" dirty="0"/>
          </a:p>
        </p:txBody>
      </p:sp>
      <p:sp>
        <p:nvSpPr>
          <p:cNvPr id="7" name="Shape 5"/>
          <p:cNvSpPr/>
          <p:nvPr/>
        </p:nvSpPr>
        <p:spPr>
          <a:xfrm>
            <a:off x="457200" y="1920240"/>
            <a:ext cx="5029200" cy="777240"/>
          </a:xfrm>
          <a:prstGeom prst="rect">
            <a:avLst/>
          </a:prstGeom>
          <a:solidFill>
            <a:srgbClr val="F3F4F6"/>
          </a:solidFill>
          <a:ln/>
        </p:spPr>
      </p:sp>
      <p:sp>
        <p:nvSpPr>
          <p:cNvPr id="8" name="Shape 6"/>
          <p:cNvSpPr/>
          <p:nvPr/>
        </p:nvSpPr>
        <p:spPr>
          <a:xfrm>
            <a:off x="640080" y="2057400"/>
            <a:ext cx="137160" cy="137160"/>
          </a:xfrm>
          <a:prstGeom prst="ellipse">
            <a:avLst/>
          </a:prstGeom>
          <a:solidFill>
            <a:srgbClr val="EF4444"/>
          </a:solidFill>
          <a:ln/>
        </p:spPr>
      </p:sp>
      <p:sp>
        <p:nvSpPr>
          <p:cNvPr id="9" name="Text 7"/>
          <p:cNvSpPr/>
          <p:nvPr/>
        </p:nvSpPr>
        <p:spPr>
          <a:xfrm>
            <a:off x="914400" y="1965960"/>
            <a:ext cx="4389120" cy="640080"/>
          </a:xfrm>
          <a:prstGeom prst="rect">
            <a:avLst/>
          </a:prstGeom>
          <a:noFill/>
          <a:ln/>
        </p:spPr>
        <p:txBody>
          <a:bodyPr wrap="square" rtlCol="0" anchor="ctr"/>
          <a:lstStyle/>
          <a:p>
            <a:pPr indent="0" marL="0">
              <a:buNone/>
            </a:pPr>
            <a:r>
              <a:rPr lang="en-US" sz="1500" dirty="0">
                <a:solidFill>
                  <a:srgbClr val="374151"/>
                </a:solidFill>
                <a:latin typeface="Microsoft YaHei" pitchFamily="34" charset="0"/>
                <a:ea typeface="Microsoft YaHei" pitchFamily="34" charset="-122"/>
                <a:cs typeface="Microsoft YaHei" pitchFamily="34" charset="-120"/>
              </a:rPr>
              <a:t>在团队里有一定影响力</a:t>
            </a:r>
            <a:endParaRPr lang="en-US" sz="1500" dirty="0"/>
          </a:p>
        </p:txBody>
      </p:sp>
      <p:sp>
        <p:nvSpPr>
          <p:cNvPr id="10" name="Shape 8"/>
          <p:cNvSpPr/>
          <p:nvPr/>
        </p:nvSpPr>
        <p:spPr>
          <a:xfrm>
            <a:off x="457200" y="2834640"/>
            <a:ext cx="5029200" cy="777240"/>
          </a:xfrm>
          <a:prstGeom prst="rect">
            <a:avLst/>
          </a:prstGeom>
          <a:solidFill>
            <a:srgbClr val="F3F4F6"/>
          </a:solidFill>
          <a:ln/>
        </p:spPr>
      </p:sp>
      <p:sp>
        <p:nvSpPr>
          <p:cNvPr id="11" name="Shape 9"/>
          <p:cNvSpPr/>
          <p:nvPr/>
        </p:nvSpPr>
        <p:spPr>
          <a:xfrm>
            <a:off x="640080" y="2971800"/>
            <a:ext cx="137160" cy="137160"/>
          </a:xfrm>
          <a:prstGeom prst="ellipse">
            <a:avLst/>
          </a:prstGeom>
          <a:solidFill>
            <a:srgbClr val="EF4444"/>
          </a:solidFill>
          <a:ln/>
        </p:spPr>
      </p:sp>
      <p:sp>
        <p:nvSpPr>
          <p:cNvPr id="12" name="Text 10"/>
          <p:cNvSpPr/>
          <p:nvPr/>
        </p:nvSpPr>
        <p:spPr>
          <a:xfrm>
            <a:off x="914400" y="2880360"/>
            <a:ext cx="4389120" cy="640080"/>
          </a:xfrm>
          <a:prstGeom prst="rect">
            <a:avLst/>
          </a:prstGeom>
          <a:noFill/>
          <a:ln/>
        </p:spPr>
        <p:txBody>
          <a:bodyPr wrap="square" rtlCol="0" anchor="ctr"/>
          <a:lstStyle/>
          <a:p>
            <a:pPr indent="0" marL="0">
              <a:buNone/>
            </a:pPr>
            <a:r>
              <a:rPr lang="en-US" sz="1500" dirty="0">
                <a:solidFill>
                  <a:srgbClr val="374151"/>
                </a:solidFill>
                <a:latin typeface="Microsoft YaHei" pitchFamily="34" charset="0"/>
                <a:ea typeface="Microsoft YaHei" pitchFamily="34" charset="-122"/>
                <a:cs typeface="Microsoft YaHei" pitchFamily="34" charset="-120"/>
              </a:rPr>
              <a:t>帮他实际工作场景里成功用一次</a:t>
            </a:r>
            <a:endParaRPr lang="en-US" sz="1500" dirty="0"/>
          </a:p>
        </p:txBody>
      </p:sp>
      <p:sp>
        <p:nvSpPr>
          <p:cNvPr id="13" name="Shape 11"/>
          <p:cNvSpPr/>
          <p:nvPr/>
        </p:nvSpPr>
        <p:spPr>
          <a:xfrm>
            <a:off x="5760720" y="1005840"/>
            <a:ext cx="2926080" cy="2743200"/>
          </a:xfrm>
          <a:prstGeom prst="rect">
            <a:avLst/>
          </a:prstGeom>
          <a:solidFill>
            <a:srgbClr val="B91C1C"/>
          </a:solidFill>
          <a:ln/>
        </p:spPr>
      </p:sp>
      <p:sp>
        <p:nvSpPr>
          <p:cNvPr id="14" name="Text 12"/>
          <p:cNvSpPr/>
          <p:nvPr/>
        </p:nvSpPr>
        <p:spPr>
          <a:xfrm>
            <a:off x="5943600" y="1188720"/>
            <a:ext cx="2560320" cy="457200"/>
          </a:xfrm>
          <a:prstGeom prst="rect">
            <a:avLst/>
          </a:prstGeom>
          <a:noFill/>
          <a:ln/>
        </p:spPr>
        <p:txBody>
          <a:bodyPr wrap="square" rtlCol="0" anchor="ctr"/>
          <a:lstStyle/>
          <a:p>
            <a:pPr indent="0" marL="0">
              <a:buNone/>
            </a:pPr>
            <a:r>
              <a:rPr lang="en-US" sz="1400" b="1" dirty="0">
                <a:solidFill>
                  <a:srgbClr val="F3F4F6"/>
                </a:solidFill>
                <a:latin typeface="Microsoft YaHei" pitchFamily="34" charset="0"/>
                <a:ea typeface="Microsoft YaHei" pitchFamily="34" charset="-122"/>
                <a:cs typeface="Microsoft YaHei" pitchFamily="34" charset="-120"/>
              </a:rPr>
              <a:t>核心洞察</a:t>
            </a:r>
            <a:endParaRPr lang="en-US" sz="1400" dirty="0"/>
          </a:p>
        </p:txBody>
      </p:sp>
      <p:sp>
        <p:nvSpPr>
          <p:cNvPr id="15" name="Text 13"/>
          <p:cNvSpPr/>
          <p:nvPr/>
        </p:nvSpPr>
        <p:spPr>
          <a:xfrm>
            <a:off x="5943600" y="1828800"/>
            <a:ext cx="2560320" cy="914400"/>
          </a:xfrm>
          <a:prstGeom prst="rect">
            <a:avLst/>
          </a:prstGeom>
          <a:noFill/>
          <a:ln/>
        </p:spPr>
        <p:txBody>
          <a:bodyPr wrap="square" rtlCol="0" anchor="ctr"/>
          <a:lstStyle/>
          <a:p>
            <a:pPr indent="0" marL="0">
              <a:buNone/>
            </a:pPr>
            <a:r>
              <a:rPr lang="en-US" sz="1300" dirty="0">
                <a:solidFill>
                  <a:srgbClr val="FFFFFF"/>
                </a:solidFill>
                <a:latin typeface="Microsoft YaHei" pitchFamily="34" charset="0"/>
                <a:ea typeface="Microsoft YaHei" pitchFamily="34" charset="-122"/>
                <a:cs typeface="Microsoft YaHei" pitchFamily="34" charset="-120"/>
              </a:rPr>
              <a:t>一个真实的"我用这个节省了3小时"</a:t>
            </a:r>
            <a:endParaRPr lang="en-US" sz="1300" dirty="0"/>
          </a:p>
        </p:txBody>
      </p:sp>
      <p:sp>
        <p:nvSpPr>
          <p:cNvPr id="16" name="Text 14"/>
          <p:cNvSpPr/>
          <p:nvPr/>
        </p:nvSpPr>
        <p:spPr>
          <a:xfrm>
            <a:off x="5943600" y="2560320"/>
            <a:ext cx="2560320" cy="457200"/>
          </a:xfrm>
          <a:prstGeom prst="rect">
            <a:avLst/>
          </a:prstGeom>
          <a:noFill/>
          <a:ln/>
        </p:spPr>
        <p:txBody>
          <a:bodyPr wrap="square" rtlCol="0" anchor="ctr"/>
          <a:lstStyle/>
          <a:p>
            <a:pPr indent="0" marL="0">
              <a:buNone/>
            </a:pPr>
            <a:r>
              <a:rPr lang="en-US" sz="1300" b="1" dirty="0">
                <a:solidFill>
                  <a:srgbClr val="F3F4F6"/>
                </a:solidFill>
                <a:latin typeface="Microsoft YaHei" pitchFamily="34" charset="0"/>
                <a:ea typeface="Microsoft YaHei" pitchFamily="34" charset="-122"/>
                <a:cs typeface="Microsoft YaHei" pitchFamily="34" charset="-120"/>
              </a:rPr>
              <a:t>比你自己说100遍有效</a:t>
            </a:r>
            <a:endParaRPr lang="en-US" sz="1300" dirty="0"/>
          </a:p>
        </p:txBody>
      </p:sp>
      <p:sp>
        <p:nvSpPr>
          <p:cNvPr id="17" name="Text 15"/>
          <p:cNvSpPr/>
          <p:nvPr/>
        </p:nvSpPr>
        <p:spPr>
          <a:xfrm>
            <a:off x="8503920" y="4663440"/>
            <a:ext cx="457200" cy="274320"/>
          </a:xfrm>
          <a:prstGeom prst="rect">
            <a:avLst/>
          </a:prstGeom>
          <a:noFill/>
          <a:ln/>
        </p:spPr>
        <p:txBody>
          <a:bodyPr wrap="square" rtlCol="0" anchor="ctr"/>
          <a:lstStyle/>
          <a:p>
            <a:pPr algn="r" indent="0" marL="0">
              <a:buNone/>
            </a:pPr>
            <a:r>
              <a:rPr lang="en-US" sz="1000" dirty="0">
                <a:solidFill>
                  <a:srgbClr val="374151"/>
                </a:solidFill>
                <a:latin typeface="Arial" pitchFamily="34" charset="0"/>
                <a:ea typeface="Arial" pitchFamily="34" charset="-122"/>
                <a:cs typeface="Arial" pitchFamily="34" charset="-120"/>
              </a:rPr>
              <a:t>102</a:t>
            </a:r>
            <a:endParaRPr lang="en-US" sz="10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274320"/>
            <a:ext cx="8229600" cy="548640"/>
          </a:xfrm>
          <a:prstGeom prst="rect">
            <a:avLst/>
          </a:prstGeom>
          <a:noFill/>
          <a:ln/>
        </p:spPr>
        <p:txBody>
          <a:bodyPr wrap="square" rtlCol="0" anchor="ctr"/>
          <a:lstStyle/>
          <a:p>
            <a:pPr indent="0" marL="0">
              <a:buNone/>
            </a:pPr>
            <a:r>
              <a:rPr lang="en-US" sz="2400" b="1" dirty="0">
                <a:solidFill>
                  <a:srgbClr val="B91C1C"/>
                </a:solidFill>
                <a:latin typeface="Microsoft YaHei" pitchFamily="34" charset="0"/>
                <a:ea typeface="Microsoft YaHei" pitchFamily="34" charset="-122"/>
                <a:cs typeface="Microsoft YaHei" pitchFamily="34" charset="-120"/>
              </a:rPr>
              <a:t>第二步：写使用说明</a:t>
            </a:r>
            <a:endParaRPr lang="en-US" sz="2400" dirty="0"/>
          </a:p>
        </p:txBody>
      </p:sp>
      <p:sp>
        <p:nvSpPr>
          <p:cNvPr id="4" name="Text 2"/>
          <p:cNvSpPr/>
          <p:nvPr/>
        </p:nvSpPr>
        <p:spPr>
          <a:xfrm>
            <a:off x="457200" y="914400"/>
            <a:ext cx="3657600" cy="365760"/>
          </a:xfrm>
          <a:prstGeom prst="rect">
            <a:avLst/>
          </a:prstGeom>
          <a:noFill/>
          <a:ln/>
        </p:spPr>
        <p:txBody>
          <a:bodyPr wrap="square" rtlCol="0" anchor="ctr"/>
          <a:lstStyle/>
          <a:p>
            <a:pPr indent="0" marL="0">
              <a:buNone/>
            </a:pPr>
            <a:r>
              <a:rPr lang="en-US" sz="1400" b="1" dirty="0">
                <a:solidFill>
                  <a:srgbClr val="EF4444"/>
                </a:solidFill>
                <a:latin typeface="Microsoft YaHei" pitchFamily="34" charset="0"/>
                <a:ea typeface="Microsoft YaHei" pitchFamily="34" charset="-122"/>
                <a:cs typeface="Microsoft YaHei" pitchFamily="34" charset="-120"/>
              </a:rPr>
              <a:t>半页说明解决两个问题</a:t>
            </a:r>
            <a:endParaRPr lang="en-US" sz="1400" dirty="0"/>
          </a:p>
        </p:txBody>
      </p:sp>
      <p:sp>
        <p:nvSpPr>
          <p:cNvPr id="5" name="Shape 3"/>
          <p:cNvSpPr/>
          <p:nvPr/>
        </p:nvSpPr>
        <p:spPr>
          <a:xfrm>
            <a:off x="457200" y="1417320"/>
            <a:ext cx="109728" cy="109728"/>
          </a:xfrm>
          <a:prstGeom prst="ellipse">
            <a:avLst/>
          </a:prstGeom>
          <a:solidFill>
            <a:srgbClr val="EF4444"/>
          </a:solidFill>
          <a:ln/>
        </p:spPr>
      </p:sp>
      <p:sp>
        <p:nvSpPr>
          <p:cNvPr id="6" name="Text 4"/>
          <p:cNvSpPr/>
          <p:nvPr/>
        </p:nvSpPr>
        <p:spPr>
          <a:xfrm>
            <a:off x="685800" y="1325880"/>
            <a:ext cx="4114800" cy="41148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这个Skill是用来做什么的（一句话）</a:t>
            </a:r>
            <a:endParaRPr lang="en-US" sz="1300" dirty="0"/>
          </a:p>
        </p:txBody>
      </p:sp>
      <p:sp>
        <p:nvSpPr>
          <p:cNvPr id="7" name="Shape 5"/>
          <p:cNvSpPr/>
          <p:nvPr/>
        </p:nvSpPr>
        <p:spPr>
          <a:xfrm>
            <a:off x="457200" y="1920240"/>
            <a:ext cx="109728" cy="109728"/>
          </a:xfrm>
          <a:prstGeom prst="ellipse">
            <a:avLst/>
          </a:prstGeom>
          <a:solidFill>
            <a:srgbClr val="EF4444"/>
          </a:solidFill>
          <a:ln/>
        </p:spPr>
      </p:sp>
      <p:sp>
        <p:nvSpPr>
          <p:cNvPr id="8" name="Text 6"/>
          <p:cNvSpPr/>
          <p:nvPr/>
        </p:nvSpPr>
        <p:spPr>
          <a:xfrm>
            <a:off x="685800" y="1828800"/>
            <a:ext cx="4114800" cy="41148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怎么用（输入什么格式，在哪里运行，输出是什么）</a:t>
            </a:r>
            <a:endParaRPr lang="en-US" sz="1300" dirty="0"/>
          </a:p>
        </p:txBody>
      </p:sp>
      <p:sp>
        <p:nvSpPr>
          <p:cNvPr id="9" name="Shape 7"/>
          <p:cNvSpPr/>
          <p:nvPr/>
        </p:nvSpPr>
        <p:spPr>
          <a:xfrm>
            <a:off x="4846320" y="914400"/>
            <a:ext cx="3840480" cy="3291840"/>
          </a:xfrm>
          <a:prstGeom prst="rect">
            <a:avLst/>
          </a:prstGeom>
          <a:solidFill>
            <a:srgbClr val="F3F4F6"/>
          </a:solidFill>
          <a:ln/>
        </p:spPr>
      </p:sp>
      <p:sp>
        <p:nvSpPr>
          <p:cNvPr id="10" name="Text 8"/>
          <p:cNvSpPr/>
          <p:nvPr/>
        </p:nvSpPr>
        <p:spPr>
          <a:xfrm>
            <a:off x="5029200" y="1051560"/>
            <a:ext cx="3474720" cy="365760"/>
          </a:xfrm>
          <a:prstGeom prst="rect">
            <a:avLst/>
          </a:prstGeom>
          <a:noFill/>
          <a:ln/>
        </p:spPr>
        <p:txBody>
          <a:bodyPr wrap="square" rtlCol="0" anchor="ctr"/>
          <a:lstStyle/>
          <a:p>
            <a:pPr indent="0" marL="0">
              <a:buNone/>
            </a:pPr>
            <a:r>
              <a:rPr lang="en-US" sz="1400" b="1" dirty="0">
                <a:solidFill>
                  <a:srgbClr val="EF4444"/>
                </a:solidFill>
                <a:latin typeface="Microsoft YaHei" pitchFamily="34" charset="0"/>
                <a:ea typeface="Microsoft YaHei" pitchFamily="34" charset="-122"/>
                <a:cs typeface="Microsoft YaHei" pitchFamily="34" charset="-120"/>
              </a:rPr>
              <a:t>标准结构</a:t>
            </a:r>
            <a:endParaRPr lang="en-US" sz="1400" dirty="0"/>
          </a:p>
        </p:txBody>
      </p:sp>
      <p:sp>
        <p:nvSpPr>
          <p:cNvPr id="11" name="Text 9"/>
          <p:cNvSpPr/>
          <p:nvPr/>
        </p:nvSpPr>
        <p:spPr>
          <a:xfrm>
            <a:off x="5120640" y="1554480"/>
            <a:ext cx="3383280" cy="41148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1. 这是什么</a:t>
            </a:r>
            <a:endParaRPr lang="en-US" sz="1300" dirty="0"/>
          </a:p>
        </p:txBody>
      </p:sp>
      <p:sp>
        <p:nvSpPr>
          <p:cNvPr id="12" name="Text 10"/>
          <p:cNvSpPr/>
          <p:nvPr/>
        </p:nvSpPr>
        <p:spPr>
          <a:xfrm>
            <a:off x="5120640" y="2057400"/>
            <a:ext cx="3383280" cy="41148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2. 适合用在哪</a:t>
            </a:r>
            <a:endParaRPr lang="en-US" sz="1300" dirty="0"/>
          </a:p>
        </p:txBody>
      </p:sp>
      <p:sp>
        <p:nvSpPr>
          <p:cNvPr id="13" name="Text 11"/>
          <p:cNvSpPr/>
          <p:nvPr/>
        </p:nvSpPr>
        <p:spPr>
          <a:xfrm>
            <a:off x="5120640" y="2560320"/>
            <a:ext cx="3383280" cy="41148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3. 不适合用在哪</a:t>
            </a:r>
            <a:endParaRPr lang="en-US" sz="1300" dirty="0"/>
          </a:p>
        </p:txBody>
      </p:sp>
      <p:sp>
        <p:nvSpPr>
          <p:cNvPr id="14" name="Text 12"/>
          <p:cNvSpPr/>
          <p:nvPr/>
        </p:nvSpPr>
        <p:spPr>
          <a:xfrm>
            <a:off x="5120640" y="3063240"/>
            <a:ext cx="3383280" cy="41148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4. 使用步骤</a:t>
            </a:r>
            <a:endParaRPr lang="en-US" sz="1300" dirty="0"/>
          </a:p>
        </p:txBody>
      </p:sp>
      <p:sp>
        <p:nvSpPr>
          <p:cNvPr id="15" name="Text 13"/>
          <p:cNvSpPr/>
          <p:nvPr/>
        </p:nvSpPr>
        <p:spPr>
          <a:xfrm>
            <a:off x="5120640" y="3566160"/>
            <a:ext cx="3383280" cy="41148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5. 常见问题</a:t>
            </a:r>
            <a:endParaRPr lang="en-US" sz="1300" dirty="0"/>
          </a:p>
        </p:txBody>
      </p:sp>
      <p:sp>
        <p:nvSpPr>
          <p:cNvPr id="16" name="Text 14"/>
          <p:cNvSpPr/>
          <p:nvPr/>
        </p:nvSpPr>
        <p:spPr>
          <a:xfrm>
            <a:off x="8503920" y="4663440"/>
            <a:ext cx="457200" cy="274320"/>
          </a:xfrm>
          <a:prstGeom prst="rect">
            <a:avLst/>
          </a:prstGeom>
          <a:noFill/>
          <a:ln/>
        </p:spPr>
        <p:txBody>
          <a:bodyPr wrap="square" rtlCol="0" anchor="ctr"/>
          <a:lstStyle/>
          <a:p>
            <a:pPr algn="r" indent="0" marL="0">
              <a:buNone/>
            </a:pPr>
            <a:r>
              <a:rPr lang="en-US" sz="1000" dirty="0">
                <a:solidFill>
                  <a:srgbClr val="374151"/>
                </a:solidFill>
                <a:latin typeface="Arial" pitchFamily="34" charset="0"/>
                <a:ea typeface="Arial" pitchFamily="34" charset="-122"/>
                <a:cs typeface="Arial" pitchFamily="34" charset="-120"/>
              </a:rPr>
              <a:t>103</a:t>
            </a:r>
            <a:endParaRPr lang="en-US" sz="10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274320"/>
            <a:ext cx="8229600" cy="548640"/>
          </a:xfrm>
          <a:prstGeom prst="rect">
            <a:avLst/>
          </a:prstGeom>
          <a:noFill/>
          <a:ln/>
        </p:spPr>
        <p:txBody>
          <a:bodyPr wrap="square" rtlCol="0" anchor="ctr"/>
          <a:lstStyle/>
          <a:p>
            <a:pPr indent="0" marL="0">
              <a:buNone/>
            </a:pPr>
            <a:r>
              <a:rPr lang="en-US" sz="2400" b="1" dirty="0">
                <a:solidFill>
                  <a:srgbClr val="B91C1C"/>
                </a:solidFill>
                <a:latin typeface="Microsoft YaHei" pitchFamily="34" charset="0"/>
                <a:ea typeface="Microsoft YaHei" pitchFamily="34" charset="-122"/>
                <a:cs typeface="Microsoft YaHei" pitchFamily="34" charset="-120"/>
              </a:rPr>
              <a:t>第三步：建Skill资产库</a:t>
            </a:r>
            <a:endParaRPr lang="en-US" sz="2400" dirty="0"/>
          </a:p>
        </p:txBody>
      </p:sp>
      <p:sp>
        <p:nvSpPr>
          <p:cNvPr id="4" name="Shape 2"/>
          <p:cNvSpPr/>
          <p:nvPr/>
        </p:nvSpPr>
        <p:spPr>
          <a:xfrm>
            <a:off x="457200" y="914400"/>
            <a:ext cx="3931920" cy="2468880"/>
          </a:xfrm>
          <a:prstGeom prst="rect">
            <a:avLst/>
          </a:prstGeom>
          <a:solidFill>
            <a:srgbClr val="F3F4F6"/>
          </a:solidFill>
          <a:ln/>
        </p:spPr>
      </p:sp>
      <p:sp>
        <p:nvSpPr>
          <p:cNvPr id="5" name="Text 3"/>
          <p:cNvSpPr/>
          <p:nvPr/>
        </p:nvSpPr>
        <p:spPr>
          <a:xfrm>
            <a:off x="640080" y="1051560"/>
            <a:ext cx="3200400" cy="457200"/>
          </a:xfrm>
          <a:prstGeom prst="rect">
            <a:avLst/>
          </a:prstGeom>
          <a:noFill/>
          <a:ln/>
        </p:spPr>
        <p:txBody>
          <a:bodyPr wrap="square" rtlCol="0" anchor="ctr"/>
          <a:lstStyle/>
          <a:p>
            <a:pPr indent="0" marL="0">
              <a:buNone/>
            </a:pPr>
            <a:r>
              <a:rPr lang="en-US" sz="1500" b="1" dirty="0">
                <a:solidFill>
                  <a:srgbClr val="EF4444"/>
                </a:solidFill>
                <a:latin typeface="Microsoft YaHei" pitchFamily="34" charset="0"/>
                <a:ea typeface="Microsoft YaHei" pitchFamily="34" charset="-122"/>
                <a:cs typeface="Microsoft YaHei" pitchFamily="34" charset="-120"/>
              </a:rPr>
              <a:t>资产库包含</a:t>
            </a:r>
            <a:endParaRPr lang="en-US" sz="1500" dirty="0"/>
          </a:p>
        </p:txBody>
      </p:sp>
      <p:sp>
        <p:nvSpPr>
          <p:cNvPr id="6" name="Shape 4"/>
          <p:cNvSpPr/>
          <p:nvPr/>
        </p:nvSpPr>
        <p:spPr>
          <a:xfrm>
            <a:off x="822960" y="1645920"/>
            <a:ext cx="109728" cy="109728"/>
          </a:xfrm>
          <a:prstGeom prst="ellipse">
            <a:avLst/>
          </a:prstGeom>
          <a:solidFill>
            <a:srgbClr val="EF4444"/>
          </a:solidFill>
          <a:ln/>
        </p:spPr>
      </p:sp>
      <p:sp>
        <p:nvSpPr>
          <p:cNvPr id="7" name="Text 5"/>
          <p:cNvSpPr/>
          <p:nvPr/>
        </p:nvSpPr>
        <p:spPr>
          <a:xfrm>
            <a:off x="1051560" y="1554480"/>
            <a:ext cx="3017520" cy="45720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列表（所有Skill的清单）</a:t>
            </a:r>
            <a:endParaRPr lang="en-US" sz="1300" dirty="0"/>
          </a:p>
        </p:txBody>
      </p:sp>
      <p:sp>
        <p:nvSpPr>
          <p:cNvPr id="8" name="Shape 6"/>
          <p:cNvSpPr/>
          <p:nvPr/>
        </p:nvSpPr>
        <p:spPr>
          <a:xfrm>
            <a:off x="822960" y="2194560"/>
            <a:ext cx="109728" cy="109728"/>
          </a:xfrm>
          <a:prstGeom prst="ellipse">
            <a:avLst/>
          </a:prstGeom>
          <a:solidFill>
            <a:srgbClr val="EF4444"/>
          </a:solidFill>
          <a:ln/>
        </p:spPr>
      </p:sp>
      <p:sp>
        <p:nvSpPr>
          <p:cNvPr id="9" name="Text 7"/>
          <p:cNvSpPr/>
          <p:nvPr/>
        </p:nvSpPr>
        <p:spPr>
          <a:xfrm>
            <a:off x="1051560" y="2103120"/>
            <a:ext cx="3017520" cy="45720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版本记录（每次修改的内容和原因）</a:t>
            </a:r>
            <a:endParaRPr lang="en-US" sz="1300" dirty="0"/>
          </a:p>
        </p:txBody>
      </p:sp>
      <p:sp>
        <p:nvSpPr>
          <p:cNvPr id="10" name="Shape 8"/>
          <p:cNvSpPr/>
          <p:nvPr/>
        </p:nvSpPr>
        <p:spPr>
          <a:xfrm>
            <a:off x="822960" y="2743200"/>
            <a:ext cx="109728" cy="109728"/>
          </a:xfrm>
          <a:prstGeom prst="ellipse">
            <a:avLst/>
          </a:prstGeom>
          <a:solidFill>
            <a:srgbClr val="EF4444"/>
          </a:solidFill>
          <a:ln/>
        </p:spPr>
      </p:sp>
      <p:sp>
        <p:nvSpPr>
          <p:cNvPr id="11" name="Text 9"/>
          <p:cNvSpPr/>
          <p:nvPr/>
        </p:nvSpPr>
        <p:spPr>
          <a:xfrm>
            <a:off x="1051560" y="2651760"/>
            <a:ext cx="3017520" cy="45720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使用说明</a:t>
            </a:r>
            <a:endParaRPr lang="en-US" sz="1300" dirty="0"/>
          </a:p>
        </p:txBody>
      </p:sp>
      <p:sp>
        <p:nvSpPr>
          <p:cNvPr id="12" name="Shape 10"/>
          <p:cNvSpPr/>
          <p:nvPr/>
        </p:nvSpPr>
        <p:spPr>
          <a:xfrm>
            <a:off x="822960" y="3291840"/>
            <a:ext cx="109728" cy="109728"/>
          </a:xfrm>
          <a:prstGeom prst="ellipse">
            <a:avLst/>
          </a:prstGeom>
          <a:solidFill>
            <a:srgbClr val="EF4444"/>
          </a:solidFill>
          <a:ln/>
        </p:spPr>
      </p:sp>
      <p:sp>
        <p:nvSpPr>
          <p:cNvPr id="13" name="Text 11"/>
          <p:cNvSpPr/>
          <p:nvPr/>
        </p:nvSpPr>
        <p:spPr>
          <a:xfrm>
            <a:off x="1051560" y="3200400"/>
            <a:ext cx="3017520" cy="45720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反馈收集入口</a:t>
            </a:r>
            <a:endParaRPr lang="en-US" sz="1300" dirty="0"/>
          </a:p>
        </p:txBody>
      </p:sp>
      <p:sp>
        <p:nvSpPr>
          <p:cNvPr id="14" name="Shape 12"/>
          <p:cNvSpPr/>
          <p:nvPr/>
        </p:nvSpPr>
        <p:spPr>
          <a:xfrm>
            <a:off x="4754880" y="914400"/>
            <a:ext cx="3931920" cy="2468880"/>
          </a:xfrm>
          <a:prstGeom prst="rect">
            <a:avLst/>
          </a:prstGeom>
          <a:solidFill>
            <a:srgbClr val="FEF2F2"/>
          </a:solidFill>
          <a:ln w="12700">
            <a:solidFill>
              <a:srgbClr val="EF4444"/>
            </a:solidFill>
            <a:prstDash val="solid"/>
          </a:ln>
        </p:spPr>
      </p:sp>
      <p:sp>
        <p:nvSpPr>
          <p:cNvPr id="15" name="Text 13"/>
          <p:cNvSpPr/>
          <p:nvPr/>
        </p:nvSpPr>
        <p:spPr>
          <a:xfrm>
            <a:off x="4937760" y="1051560"/>
            <a:ext cx="3200400" cy="457200"/>
          </a:xfrm>
          <a:prstGeom prst="rect">
            <a:avLst/>
          </a:prstGeom>
          <a:noFill/>
          <a:ln/>
        </p:spPr>
        <p:txBody>
          <a:bodyPr wrap="square" rtlCol="0" anchor="ctr"/>
          <a:lstStyle/>
          <a:p>
            <a:pPr indent="0" marL="0">
              <a:buNone/>
            </a:pPr>
            <a:r>
              <a:rPr lang="en-US" sz="1500" b="1" dirty="0">
                <a:solidFill>
                  <a:srgbClr val="EF4444"/>
                </a:solidFill>
                <a:latin typeface="Microsoft YaHei" pitchFamily="34" charset="0"/>
                <a:ea typeface="Microsoft YaHei" pitchFamily="34" charset="-122"/>
                <a:cs typeface="Microsoft YaHei" pitchFamily="34" charset="-120"/>
              </a:rPr>
              <a:t>没有资产库的问题</a:t>
            </a:r>
            <a:endParaRPr lang="en-US" sz="1500" dirty="0"/>
          </a:p>
        </p:txBody>
      </p:sp>
      <p:sp>
        <p:nvSpPr>
          <p:cNvPr id="16" name="Shape 14"/>
          <p:cNvSpPr/>
          <p:nvPr/>
        </p:nvSpPr>
        <p:spPr>
          <a:xfrm>
            <a:off x="5120640" y="1645920"/>
            <a:ext cx="109728" cy="109728"/>
          </a:xfrm>
          <a:prstGeom prst="ellipse">
            <a:avLst/>
          </a:prstGeom>
          <a:solidFill>
            <a:srgbClr val="EF4444"/>
          </a:solidFill>
          <a:ln/>
        </p:spPr>
      </p:sp>
      <p:sp>
        <p:nvSpPr>
          <p:cNvPr id="17" name="Text 15"/>
          <p:cNvSpPr/>
          <p:nvPr/>
        </p:nvSpPr>
        <p:spPr>
          <a:xfrm>
            <a:off x="5349240" y="1554480"/>
            <a:ext cx="3017520" cy="45720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找不到</a:t>
            </a:r>
            <a:endParaRPr lang="en-US" sz="1300" dirty="0"/>
          </a:p>
        </p:txBody>
      </p:sp>
      <p:sp>
        <p:nvSpPr>
          <p:cNvPr id="18" name="Shape 16"/>
          <p:cNvSpPr/>
          <p:nvPr/>
        </p:nvSpPr>
        <p:spPr>
          <a:xfrm>
            <a:off x="5120640" y="2194560"/>
            <a:ext cx="109728" cy="109728"/>
          </a:xfrm>
          <a:prstGeom prst="ellipse">
            <a:avLst/>
          </a:prstGeom>
          <a:solidFill>
            <a:srgbClr val="EF4444"/>
          </a:solidFill>
          <a:ln/>
        </p:spPr>
      </p:sp>
      <p:sp>
        <p:nvSpPr>
          <p:cNvPr id="19" name="Text 17"/>
          <p:cNvSpPr/>
          <p:nvPr/>
        </p:nvSpPr>
        <p:spPr>
          <a:xfrm>
            <a:off x="5349240" y="2103120"/>
            <a:ext cx="3017520" cy="45720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不知道哪个是新版本</a:t>
            </a:r>
            <a:endParaRPr lang="en-US" sz="1300" dirty="0"/>
          </a:p>
        </p:txBody>
      </p:sp>
      <p:sp>
        <p:nvSpPr>
          <p:cNvPr id="20" name="Shape 18"/>
          <p:cNvSpPr/>
          <p:nvPr/>
        </p:nvSpPr>
        <p:spPr>
          <a:xfrm>
            <a:off x="5120640" y="2743200"/>
            <a:ext cx="109728" cy="109728"/>
          </a:xfrm>
          <a:prstGeom prst="ellipse">
            <a:avLst/>
          </a:prstGeom>
          <a:solidFill>
            <a:srgbClr val="EF4444"/>
          </a:solidFill>
          <a:ln/>
        </p:spPr>
      </p:sp>
      <p:sp>
        <p:nvSpPr>
          <p:cNvPr id="21" name="Text 19"/>
          <p:cNvSpPr/>
          <p:nvPr/>
        </p:nvSpPr>
        <p:spPr>
          <a:xfrm>
            <a:off x="5349240" y="2651760"/>
            <a:ext cx="3017520" cy="45720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出了问题不知道找谁</a:t>
            </a:r>
            <a:endParaRPr lang="en-US" sz="1300" dirty="0"/>
          </a:p>
        </p:txBody>
      </p:sp>
      <p:sp>
        <p:nvSpPr>
          <p:cNvPr id="22" name="Shape 20"/>
          <p:cNvSpPr/>
          <p:nvPr/>
        </p:nvSpPr>
        <p:spPr>
          <a:xfrm>
            <a:off x="457200" y="3657600"/>
            <a:ext cx="8229600" cy="822960"/>
          </a:xfrm>
          <a:prstGeom prst="rect">
            <a:avLst/>
          </a:prstGeom>
          <a:solidFill>
            <a:srgbClr val="B91C1C"/>
          </a:solidFill>
          <a:ln/>
        </p:spPr>
      </p:sp>
      <p:sp>
        <p:nvSpPr>
          <p:cNvPr id="23" name="Text 21"/>
          <p:cNvSpPr/>
          <p:nvPr/>
        </p:nvSpPr>
        <p:spPr>
          <a:xfrm>
            <a:off x="640080" y="3657600"/>
            <a:ext cx="7863840" cy="822960"/>
          </a:xfrm>
          <a:prstGeom prst="rect">
            <a:avLst/>
          </a:prstGeom>
          <a:noFill/>
          <a:ln/>
        </p:spPr>
        <p:txBody>
          <a:bodyPr wrap="square" rtlCol="0" anchor="ctr"/>
          <a:lstStyle/>
          <a:p>
            <a:pPr indent="0" marL="0">
              <a:buNone/>
            </a:pPr>
            <a:r>
              <a:rPr lang="en-US" sz="1600" b="1" dirty="0">
                <a:solidFill>
                  <a:srgbClr val="FFFFFF"/>
                </a:solidFill>
                <a:latin typeface="Microsoft YaHei" pitchFamily="34" charset="0"/>
                <a:ea typeface="Microsoft YaHei" pitchFamily="34" charset="-122"/>
                <a:cs typeface="Microsoft YaHei" pitchFamily="34" charset="-120"/>
              </a:rPr>
              <a:t>核心目标：从"找得到"到"放心用"到"持续迭代"</a:t>
            </a:r>
            <a:endParaRPr lang="en-US" sz="1600" dirty="0"/>
          </a:p>
        </p:txBody>
      </p:sp>
      <p:sp>
        <p:nvSpPr>
          <p:cNvPr id="24" name="Text 22"/>
          <p:cNvSpPr/>
          <p:nvPr/>
        </p:nvSpPr>
        <p:spPr>
          <a:xfrm>
            <a:off x="8503920" y="4663440"/>
            <a:ext cx="457200" cy="274320"/>
          </a:xfrm>
          <a:prstGeom prst="rect">
            <a:avLst/>
          </a:prstGeom>
          <a:noFill/>
          <a:ln/>
        </p:spPr>
        <p:txBody>
          <a:bodyPr wrap="square" rtlCol="0" anchor="ctr"/>
          <a:lstStyle/>
          <a:p>
            <a:pPr algn="r" indent="0" marL="0">
              <a:buNone/>
            </a:pPr>
            <a:r>
              <a:rPr lang="en-US" sz="1000" dirty="0">
                <a:solidFill>
                  <a:srgbClr val="374151"/>
                </a:solidFill>
                <a:latin typeface="Arial" pitchFamily="34" charset="0"/>
                <a:ea typeface="Arial" pitchFamily="34" charset="-122"/>
                <a:cs typeface="Arial" pitchFamily="34" charset="-120"/>
              </a:rPr>
              <a:t>104</a:t>
            </a:r>
            <a:endParaRPr lang="en-US" sz="10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274320"/>
            <a:ext cx="8229600" cy="548640"/>
          </a:xfrm>
          <a:prstGeom prst="rect">
            <a:avLst/>
          </a:prstGeom>
          <a:noFill/>
          <a:ln/>
        </p:spPr>
        <p:txBody>
          <a:bodyPr wrap="square" rtlCol="0" anchor="ctr"/>
          <a:lstStyle/>
          <a:p>
            <a:pPr indent="0" marL="0">
              <a:buNone/>
            </a:pPr>
            <a:r>
              <a:rPr lang="en-US" sz="2200" b="1" dirty="0">
                <a:solidFill>
                  <a:srgbClr val="B91C1C"/>
                </a:solidFill>
                <a:latin typeface="Microsoft YaHei" pitchFamily="34" charset="0"/>
                <a:ea typeface="Microsoft YaHei" pitchFamily="34" charset="-122"/>
                <a:cs typeface="Microsoft YaHei" pitchFamily="34" charset="-120"/>
              </a:rPr>
              <a:t>组织级Skill资产管理规范</a:t>
            </a:r>
            <a:endParaRPr lang="en-US" sz="2200" dirty="0"/>
          </a:p>
        </p:txBody>
      </p:sp>
      <p:sp>
        <p:nvSpPr>
          <p:cNvPr id="4" name="Shape 2"/>
          <p:cNvSpPr/>
          <p:nvPr/>
        </p:nvSpPr>
        <p:spPr>
          <a:xfrm>
            <a:off x="457200" y="914400"/>
            <a:ext cx="8229600" cy="822960"/>
          </a:xfrm>
          <a:prstGeom prst="rect">
            <a:avLst/>
          </a:prstGeom>
          <a:solidFill>
            <a:srgbClr val="F3F4F6"/>
          </a:solidFill>
          <a:ln/>
        </p:spPr>
      </p:sp>
      <p:sp>
        <p:nvSpPr>
          <p:cNvPr id="5" name="Shape 3"/>
          <p:cNvSpPr/>
          <p:nvPr/>
        </p:nvSpPr>
        <p:spPr>
          <a:xfrm>
            <a:off x="640080" y="1097280"/>
            <a:ext cx="457200" cy="457200"/>
          </a:xfrm>
          <a:prstGeom prst="ellipse">
            <a:avLst/>
          </a:prstGeom>
          <a:solidFill>
            <a:srgbClr val="EF4444"/>
          </a:solidFill>
          <a:ln/>
        </p:spPr>
      </p:sp>
      <p:sp>
        <p:nvSpPr>
          <p:cNvPr id="6" name="Text 4"/>
          <p:cNvSpPr/>
          <p:nvPr/>
        </p:nvSpPr>
        <p:spPr>
          <a:xfrm>
            <a:off x="640080" y="1097280"/>
            <a:ext cx="457200" cy="45720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7" name="Text 5"/>
          <p:cNvSpPr/>
          <p:nvPr/>
        </p:nvSpPr>
        <p:spPr>
          <a:xfrm>
            <a:off x="1280160" y="1051560"/>
            <a:ext cx="1828800" cy="320040"/>
          </a:xfrm>
          <a:prstGeom prst="rect">
            <a:avLst/>
          </a:prstGeom>
          <a:noFill/>
          <a:ln/>
        </p:spPr>
        <p:txBody>
          <a:bodyPr wrap="square" rtlCol="0" anchor="ctr"/>
          <a:lstStyle/>
          <a:p>
            <a:pPr indent="0" marL="0">
              <a:buNone/>
            </a:pPr>
            <a:r>
              <a:rPr lang="en-US" sz="1500" b="1" dirty="0">
                <a:solidFill>
                  <a:srgbClr val="B91C1C"/>
                </a:solidFill>
                <a:latin typeface="Microsoft YaHei" pitchFamily="34" charset="0"/>
                <a:ea typeface="Microsoft YaHei" pitchFamily="34" charset="-122"/>
                <a:cs typeface="Microsoft YaHei" pitchFamily="34" charset="-120"/>
              </a:rPr>
              <a:t>命名规范</a:t>
            </a:r>
            <a:endParaRPr lang="en-US" sz="1500" dirty="0"/>
          </a:p>
        </p:txBody>
      </p:sp>
      <p:sp>
        <p:nvSpPr>
          <p:cNvPr id="8" name="Text 6"/>
          <p:cNvSpPr/>
          <p:nvPr/>
        </p:nvSpPr>
        <p:spPr>
          <a:xfrm>
            <a:off x="1280160" y="1371600"/>
            <a:ext cx="7132320" cy="32004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[部门]-[功能描述]-[版本号]</a:t>
            </a:r>
            <a:endParaRPr lang="en-US" sz="1300" dirty="0"/>
          </a:p>
        </p:txBody>
      </p:sp>
      <p:sp>
        <p:nvSpPr>
          <p:cNvPr id="9" name="Shape 7"/>
          <p:cNvSpPr/>
          <p:nvPr/>
        </p:nvSpPr>
        <p:spPr>
          <a:xfrm>
            <a:off x="457200" y="1874520"/>
            <a:ext cx="8229600" cy="822960"/>
          </a:xfrm>
          <a:prstGeom prst="rect">
            <a:avLst/>
          </a:prstGeom>
          <a:solidFill>
            <a:srgbClr val="F3F4F6"/>
          </a:solidFill>
          <a:ln/>
        </p:spPr>
      </p:sp>
      <p:sp>
        <p:nvSpPr>
          <p:cNvPr id="10" name="Shape 8"/>
          <p:cNvSpPr/>
          <p:nvPr/>
        </p:nvSpPr>
        <p:spPr>
          <a:xfrm>
            <a:off x="640080" y="2057400"/>
            <a:ext cx="457200" cy="457200"/>
          </a:xfrm>
          <a:prstGeom prst="ellipse">
            <a:avLst/>
          </a:prstGeom>
          <a:solidFill>
            <a:srgbClr val="EF4444"/>
          </a:solidFill>
          <a:ln/>
        </p:spPr>
      </p:sp>
      <p:sp>
        <p:nvSpPr>
          <p:cNvPr id="11" name="Text 9"/>
          <p:cNvSpPr/>
          <p:nvPr/>
        </p:nvSpPr>
        <p:spPr>
          <a:xfrm>
            <a:off x="640080" y="2057400"/>
            <a:ext cx="457200" cy="45720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12" name="Text 10"/>
          <p:cNvSpPr/>
          <p:nvPr/>
        </p:nvSpPr>
        <p:spPr>
          <a:xfrm>
            <a:off x="1280160" y="2011680"/>
            <a:ext cx="1828800" cy="320040"/>
          </a:xfrm>
          <a:prstGeom prst="rect">
            <a:avLst/>
          </a:prstGeom>
          <a:noFill/>
          <a:ln/>
        </p:spPr>
        <p:txBody>
          <a:bodyPr wrap="square" rtlCol="0" anchor="ctr"/>
          <a:lstStyle/>
          <a:p>
            <a:pPr indent="0" marL="0">
              <a:buNone/>
            </a:pPr>
            <a:r>
              <a:rPr lang="en-US" sz="1500" b="1" dirty="0">
                <a:solidFill>
                  <a:srgbClr val="B91C1C"/>
                </a:solidFill>
                <a:latin typeface="Microsoft YaHei" pitchFamily="34" charset="0"/>
                <a:ea typeface="Microsoft YaHei" pitchFamily="34" charset="-122"/>
                <a:cs typeface="Microsoft YaHei" pitchFamily="34" charset="-120"/>
              </a:rPr>
              <a:t>分类归档</a:t>
            </a:r>
            <a:endParaRPr lang="en-US" sz="1500" dirty="0"/>
          </a:p>
        </p:txBody>
      </p:sp>
      <p:sp>
        <p:nvSpPr>
          <p:cNvPr id="13" name="Text 11"/>
          <p:cNvSpPr/>
          <p:nvPr/>
        </p:nvSpPr>
        <p:spPr>
          <a:xfrm>
            <a:off x="1280160" y="2331720"/>
            <a:ext cx="7132320" cy="32004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按业务域分类，不按创建人分类</a:t>
            </a:r>
            <a:endParaRPr lang="en-US" sz="1300" dirty="0"/>
          </a:p>
        </p:txBody>
      </p:sp>
      <p:sp>
        <p:nvSpPr>
          <p:cNvPr id="14" name="Shape 12"/>
          <p:cNvSpPr/>
          <p:nvPr/>
        </p:nvSpPr>
        <p:spPr>
          <a:xfrm>
            <a:off x="457200" y="2834640"/>
            <a:ext cx="8229600" cy="822960"/>
          </a:xfrm>
          <a:prstGeom prst="rect">
            <a:avLst/>
          </a:prstGeom>
          <a:solidFill>
            <a:srgbClr val="F3F4F6"/>
          </a:solidFill>
          <a:ln/>
        </p:spPr>
      </p:sp>
      <p:sp>
        <p:nvSpPr>
          <p:cNvPr id="15" name="Shape 13"/>
          <p:cNvSpPr/>
          <p:nvPr/>
        </p:nvSpPr>
        <p:spPr>
          <a:xfrm>
            <a:off x="640080" y="3017520"/>
            <a:ext cx="457200" cy="457200"/>
          </a:xfrm>
          <a:prstGeom prst="ellipse">
            <a:avLst/>
          </a:prstGeom>
          <a:solidFill>
            <a:srgbClr val="EF4444"/>
          </a:solidFill>
          <a:ln/>
        </p:spPr>
      </p:sp>
      <p:sp>
        <p:nvSpPr>
          <p:cNvPr id="16" name="Text 14"/>
          <p:cNvSpPr/>
          <p:nvPr/>
        </p:nvSpPr>
        <p:spPr>
          <a:xfrm>
            <a:off x="640080" y="3017520"/>
            <a:ext cx="457200" cy="45720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17" name="Text 15"/>
          <p:cNvSpPr/>
          <p:nvPr/>
        </p:nvSpPr>
        <p:spPr>
          <a:xfrm>
            <a:off x="1280160" y="2971800"/>
            <a:ext cx="1828800" cy="320040"/>
          </a:xfrm>
          <a:prstGeom prst="rect">
            <a:avLst/>
          </a:prstGeom>
          <a:noFill/>
          <a:ln/>
        </p:spPr>
        <p:txBody>
          <a:bodyPr wrap="square" rtlCol="0" anchor="ctr"/>
          <a:lstStyle/>
          <a:p>
            <a:pPr indent="0" marL="0">
              <a:buNone/>
            </a:pPr>
            <a:r>
              <a:rPr lang="en-US" sz="1500" b="1" dirty="0">
                <a:solidFill>
                  <a:srgbClr val="B91C1C"/>
                </a:solidFill>
                <a:latin typeface="Microsoft YaHei" pitchFamily="34" charset="0"/>
                <a:ea typeface="Microsoft YaHei" pitchFamily="34" charset="-122"/>
                <a:cs typeface="Microsoft YaHei" pitchFamily="34" charset="-120"/>
              </a:rPr>
              <a:t>版本记录</a:t>
            </a:r>
            <a:endParaRPr lang="en-US" sz="1500" dirty="0"/>
          </a:p>
        </p:txBody>
      </p:sp>
      <p:sp>
        <p:nvSpPr>
          <p:cNvPr id="18" name="Text 16"/>
          <p:cNvSpPr/>
          <p:nvPr/>
        </p:nvSpPr>
        <p:spPr>
          <a:xfrm>
            <a:off x="1280160" y="3291840"/>
            <a:ext cx="7132320" cy="32004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改了什么、为什么改、改之前的问题</a:t>
            </a:r>
            <a:endParaRPr lang="en-US" sz="1300" dirty="0"/>
          </a:p>
        </p:txBody>
      </p:sp>
      <p:sp>
        <p:nvSpPr>
          <p:cNvPr id="19" name="Shape 17"/>
          <p:cNvSpPr/>
          <p:nvPr/>
        </p:nvSpPr>
        <p:spPr>
          <a:xfrm>
            <a:off x="457200" y="3794760"/>
            <a:ext cx="8229600" cy="822960"/>
          </a:xfrm>
          <a:prstGeom prst="rect">
            <a:avLst/>
          </a:prstGeom>
          <a:solidFill>
            <a:srgbClr val="F3F4F6"/>
          </a:solidFill>
          <a:ln/>
        </p:spPr>
      </p:sp>
      <p:sp>
        <p:nvSpPr>
          <p:cNvPr id="20" name="Shape 18"/>
          <p:cNvSpPr/>
          <p:nvPr/>
        </p:nvSpPr>
        <p:spPr>
          <a:xfrm>
            <a:off x="640080" y="3977640"/>
            <a:ext cx="457200" cy="457200"/>
          </a:xfrm>
          <a:prstGeom prst="ellipse">
            <a:avLst/>
          </a:prstGeom>
          <a:solidFill>
            <a:srgbClr val="EF4444"/>
          </a:solidFill>
          <a:ln/>
        </p:spPr>
      </p:sp>
      <p:sp>
        <p:nvSpPr>
          <p:cNvPr id="21" name="Text 19"/>
          <p:cNvSpPr/>
          <p:nvPr/>
        </p:nvSpPr>
        <p:spPr>
          <a:xfrm>
            <a:off x="640080" y="3977640"/>
            <a:ext cx="457200" cy="45720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4</a:t>
            </a:r>
            <a:endParaRPr lang="en-US" sz="1800" dirty="0"/>
          </a:p>
        </p:txBody>
      </p:sp>
      <p:sp>
        <p:nvSpPr>
          <p:cNvPr id="22" name="Text 20"/>
          <p:cNvSpPr/>
          <p:nvPr/>
        </p:nvSpPr>
        <p:spPr>
          <a:xfrm>
            <a:off x="1280160" y="3931920"/>
            <a:ext cx="1828800" cy="320040"/>
          </a:xfrm>
          <a:prstGeom prst="rect">
            <a:avLst/>
          </a:prstGeom>
          <a:noFill/>
          <a:ln/>
        </p:spPr>
        <p:txBody>
          <a:bodyPr wrap="square" rtlCol="0" anchor="ctr"/>
          <a:lstStyle/>
          <a:p>
            <a:pPr indent="0" marL="0">
              <a:buNone/>
            </a:pPr>
            <a:r>
              <a:rPr lang="en-US" sz="1500" b="1" dirty="0">
                <a:solidFill>
                  <a:srgbClr val="B91C1C"/>
                </a:solidFill>
                <a:latin typeface="Microsoft YaHei" pitchFamily="34" charset="0"/>
                <a:ea typeface="Microsoft YaHei" pitchFamily="34" charset="-122"/>
                <a:cs typeface="Microsoft YaHei" pitchFamily="34" charset="-120"/>
              </a:rPr>
              <a:t>权限管理</a:t>
            </a:r>
            <a:endParaRPr lang="en-US" sz="1500" dirty="0"/>
          </a:p>
        </p:txBody>
      </p:sp>
      <p:sp>
        <p:nvSpPr>
          <p:cNvPr id="23" name="Text 21"/>
          <p:cNvSpPr/>
          <p:nvPr/>
        </p:nvSpPr>
        <p:spPr>
          <a:xfrm>
            <a:off x="1280160" y="4251960"/>
            <a:ext cx="7132320" cy="32004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谁能查看、谁能用、谁能改</a:t>
            </a:r>
            <a:endParaRPr lang="en-US" sz="1300" dirty="0"/>
          </a:p>
        </p:txBody>
      </p:sp>
      <p:sp>
        <p:nvSpPr>
          <p:cNvPr id="24" name="Text 22"/>
          <p:cNvSpPr/>
          <p:nvPr/>
        </p:nvSpPr>
        <p:spPr>
          <a:xfrm>
            <a:off x="8503920" y="4663440"/>
            <a:ext cx="457200" cy="274320"/>
          </a:xfrm>
          <a:prstGeom prst="rect">
            <a:avLst/>
          </a:prstGeom>
          <a:noFill/>
          <a:ln/>
        </p:spPr>
        <p:txBody>
          <a:bodyPr wrap="square" rtlCol="0" anchor="ctr"/>
          <a:lstStyle/>
          <a:p>
            <a:pPr algn="r" indent="0" marL="0">
              <a:buNone/>
            </a:pPr>
            <a:r>
              <a:rPr lang="en-US" sz="1000" dirty="0">
                <a:solidFill>
                  <a:srgbClr val="374151"/>
                </a:solidFill>
                <a:latin typeface="Arial" pitchFamily="34" charset="0"/>
                <a:ea typeface="Arial" pitchFamily="34" charset="-122"/>
                <a:cs typeface="Arial" pitchFamily="34" charset="-120"/>
              </a:rPr>
              <a:t>105</a:t>
            </a:r>
            <a:endParaRPr lang="en-US" sz="10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274320"/>
            <a:ext cx="8229600" cy="548640"/>
          </a:xfrm>
          <a:prstGeom prst="rect">
            <a:avLst/>
          </a:prstGeom>
          <a:noFill/>
          <a:ln/>
        </p:spPr>
        <p:txBody>
          <a:bodyPr wrap="square" rtlCol="0" anchor="ctr"/>
          <a:lstStyle/>
          <a:p>
            <a:pPr indent="0" marL="0">
              <a:buNone/>
            </a:pPr>
            <a:r>
              <a:rPr lang="en-US" sz="2200" b="1" dirty="0">
                <a:solidFill>
                  <a:srgbClr val="B91C1C"/>
                </a:solidFill>
                <a:latin typeface="Microsoft YaHei" pitchFamily="34" charset="0"/>
                <a:ea typeface="Microsoft YaHei" pitchFamily="34" charset="-122"/>
                <a:cs typeface="Microsoft YaHei" pitchFamily="34" charset="-120"/>
              </a:rPr>
              <a:t>跨部门协作与Skill能力地图</a:t>
            </a:r>
            <a:endParaRPr lang="en-US" sz="2200" dirty="0"/>
          </a:p>
        </p:txBody>
      </p:sp>
      <p:sp>
        <p:nvSpPr>
          <p:cNvPr id="4" name="Text 2"/>
          <p:cNvSpPr/>
          <p:nvPr/>
        </p:nvSpPr>
        <p:spPr>
          <a:xfrm>
            <a:off x="457200" y="914400"/>
            <a:ext cx="1828800" cy="365760"/>
          </a:xfrm>
          <a:prstGeom prst="rect">
            <a:avLst/>
          </a:prstGeom>
          <a:noFill/>
          <a:ln/>
        </p:spPr>
        <p:txBody>
          <a:bodyPr wrap="square" rtlCol="0" anchor="ctr"/>
          <a:lstStyle/>
          <a:p>
            <a:pPr indent="0" marL="0">
              <a:buNone/>
            </a:pPr>
            <a:r>
              <a:rPr lang="en-US" sz="1400" b="1" dirty="0">
                <a:solidFill>
                  <a:srgbClr val="EF4444"/>
                </a:solidFill>
                <a:latin typeface="Microsoft YaHei" pitchFamily="34" charset="0"/>
                <a:ea typeface="Microsoft YaHei" pitchFamily="34" charset="-122"/>
                <a:cs typeface="Microsoft YaHei" pitchFamily="34" charset="-120"/>
              </a:rPr>
              <a:t>两个问题</a:t>
            </a:r>
            <a:endParaRPr lang="en-US" sz="1400" dirty="0"/>
          </a:p>
        </p:txBody>
      </p:sp>
      <p:sp>
        <p:nvSpPr>
          <p:cNvPr id="5" name="Shape 3"/>
          <p:cNvSpPr/>
          <p:nvPr/>
        </p:nvSpPr>
        <p:spPr>
          <a:xfrm>
            <a:off x="457200" y="1371600"/>
            <a:ext cx="3931920" cy="1828800"/>
          </a:xfrm>
          <a:prstGeom prst="rect">
            <a:avLst/>
          </a:prstGeom>
          <a:solidFill>
            <a:srgbClr val="F3F4F6"/>
          </a:solidFill>
          <a:ln/>
        </p:spPr>
      </p:sp>
      <p:sp>
        <p:nvSpPr>
          <p:cNvPr id="6" name="Text 4"/>
          <p:cNvSpPr/>
          <p:nvPr/>
        </p:nvSpPr>
        <p:spPr>
          <a:xfrm>
            <a:off x="640080" y="1508760"/>
            <a:ext cx="1371600" cy="365760"/>
          </a:xfrm>
          <a:prstGeom prst="rect">
            <a:avLst/>
          </a:prstGeom>
          <a:noFill/>
          <a:ln/>
        </p:spPr>
        <p:txBody>
          <a:bodyPr wrap="square" rtlCol="0" anchor="ctr"/>
          <a:lstStyle/>
          <a:p>
            <a:pPr indent="0" marL="0">
              <a:buNone/>
            </a:pPr>
            <a:r>
              <a:rPr lang="en-US" sz="1600" b="1" dirty="0">
                <a:solidFill>
                  <a:srgbClr val="EF4444"/>
                </a:solidFill>
                <a:latin typeface="Microsoft YaHei" pitchFamily="34" charset="0"/>
                <a:ea typeface="Microsoft YaHei" pitchFamily="34" charset="-122"/>
                <a:cs typeface="Microsoft YaHei" pitchFamily="34" charset="-120"/>
              </a:rPr>
              <a:t>重叠</a:t>
            </a:r>
            <a:endParaRPr lang="en-US" sz="1600" dirty="0"/>
          </a:p>
        </p:txBody>
      </p:sp>
      <p:sp>
        <p:nvSpPr>
          <p:cNvPr id="7" name="Text 5"/>
          <p:cNvSpPr/>
          <p:nvPr/>
        </p:nvSpPr>
        <p:spPr>
          <a:xfrm>
            <a:off x="640080" y="2011680"/>
            <a:ext cx="3566160" cy="91440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两个部门各建了功能高度相似的Skill，互不知情</a:t>
            </a:r>
            <a:endParaRPr lang="en-US" sz="1300" dirty="0"/>
          </a:p>
        </p:txBody>
      </p:sp>
      <p:sp>
        <p:nvSpPr>
          <p:cNvPr id="8" name="Shape 6"/>
          <p:cNvSpPr/>
          <p:nvPr/>
        </p:nvSpPr>
        <p:spPr>
          <a:xfrm>
            <a:off x="4754880" y="1371600"/>
            <a:ext cx="3931920" cy="1828800"/>
          </a:xfrm>
          <a:prstGeom prst="rect">
            <a:avLst/>
          </a:prstGeom>
          <a:solidFill>
            <a:srgbClr val="F3F4F6"/>
          </a:solidFill>
          <a:ln/>
        </p:spPr>
      </p:sp>
      <p:sp>
        <p:nvSpPr>
          <p:cNvPr id="9" name="Text 7"/>
          <p:cNvSpPr/>
          <p:nvPr/>
        </p:nvSpPr>
        <p:spPr>
          <a:xfrm>
            <a:off x="4937760" y="1508760"/>
            <a:ext cx="1371600" cy="365760"/>
          </a:xfrm>
          <a:prstGeom prst="rect">
            <a:avLst/>
          </a:prstGeom>
          <a:noFill/>
          <a:ln/>
        </p:spPr>
        <p:txBody>
          <a:bodyPr wrap="square" rtlCol="0" anchor="ctr"/>
          <a:lstStyle/>
          <a:p>
            <a:pPr indent="0" marL="0">
              <a:buNone/>
            </a:pPr>
            <a:r>
              <a:rPr lang="en-US" sz="1600" b="1" dirty="0">
                <a:solidFill>
                  <a:srgbClr val="EF4444"/>
                </a:solidFill>
                <a:latin typeface="Microsoft YaHei" pitchFamily="34" charset="0"/>
                <a:ea typeface="Microsoft YaHei" pitchFamily="34" charset="-122"/>
                <a:cs typeface="Microsoft YaHei" pitchFamily="34" charset="-120"/>
              </a:rPr>
              <a:t>空白</a:t>
            </a:r>
            <a:endParaRPr lang="en-US" sz="1600" dirty="0"/>
          </a:p>
        </p:txBody>
      </p:sp>
      <p:sp>
        <p:nvSpPr>
          <p:cNvPr id="10" name="Text 8"/>
          <p:cNvSpPr/>
          <p:nvPr/>
        </p:nvSpPr>
        <p:spPr>
          <a:xfrm>
            <a:off x="4937760" y="2011680"/>
            <a:ext cx="3566160" cy="91440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某个跨部门流程需要支持，但没有任何部门负责</a:t>
            </a:r>
            <a:endParaRPr lang="en-US" sz="1300" dirty="0"/>
          </a:p>
        </p:txBody>
      </p:sp>
      <p:sp>
        <p:nvSpPr>
          <p:cNvPr id="11" name="Shape 9"/>
          <p:cNvSpPr/>
          <p:nvPr/>
        </p:nvSpPr>
        <p:spPr>
          <a:xfrm>
            <a:off x="457200" y="3474720"/>
            <a:ext cx="8229600" cy="1005840"/>
          </a:xfrm>
          <a:prstGeom prst="rect">
            <a:avLst/>
          </a:prstGeom>
          <a:solidFill>
            <a:srgbClr val="B91C1C"/>
          </a:solidFill>
          <a:ln/>
        </p:spPr>
      </p:sp>
      <p:sp>
        <p:nvSpPr>
          <p:cNvPr id="12" name="Text 10"/>
          <p:cNvSpPr/>
          <p:nvPr/>
        </p:nvSpPr>
        <p:spPr>
          <a:xfrm>
            <a:off x="640080" y="3474720"/>
            <a:ext cx="7863840" cy="1005840"/>
          </a:xfrm>
          <a:prstGeom prst="rect">
            <a:avLst/>
          </a:prstGeom>
          <a:noFill/>
          <a:ln/>
        </p:spPr>
        <p:txBody>
          <a:bodyPr wrap="square" rtlCol="0" anchor="ctr"/>
          <a:lstStyle/>
          <a:p>
            <a:pPr indent="0" marL="0">
              <a:buNone/>
            </a:pPr>
            <a:r>
              <a:rPr lang="en-US" sz="1600" b="1" dirty="0">
                <a:solidFill>
                  <a:srgbClr val="FFFFFF"/>
                </a:solidFill>
                <a:latin typeface="Microsoft YaHei" pitchFamily="34" charset="0"/>
                <a:ea typeface="Microsoft YaHei" pitchFamily="34" charset="-122"/>
                <a:cs typeface="Microsoft YaHei" pitchFamily="34" charset="-120"/>
              </a:rPr>
              <a:t>解决：定期（每季度）更新Skill能力地图</a:t>
            </a:r>
            <a:endParaRPr lang="en-US" sz="1600" dirty="0"/>
          </a:p>
        </p:txBody>
      </p:sp>
      <p:sp>
        <p:nvSpPr>
          <p:cNvPr id="13" name="Text 11"/>
          <p:cNvSpPr/>
          <p:nvPr/>
        </p:nvSpPr>
        <p:spPr>
          <a:xfrm>
            <a:off x="8503920" y="4663440"/>
            <a:ext cx="457200" cy="274320"/>
          </a:xfrm>
          <a:prstGeom prst="rect">
            <a:avLst/>
          </a:prstGeom>
          <a:noFill/>
          <a:ln/>
        </p:spPr>
        <p:txBody>
          <a:bodyPr wrap="square" rtlCol="0" anchor="ctr"/>
          <a:lstStyle/>
          <a:p>
            <a:pPr algn="r" indent="0" marL="0">
              <a:buNone/>
            </a:pPr>
            <a:r>
              <a:rPr lang="en-US" sz="1000" dirty="0">
                <a:solidFill>
                  <a:srgbClr val="374151"/>
                </a:solidFill>
                <a:latin typeface="Arial" pitchFamily="34" charset="0"/>
                <a:ea typeface="Arial" pitchFamily="34" charset="-122"/>
                <a:cs typeface="Arial" pitchFamily="34" charset="-120"/>
              </a:rPr>
              <a:t>106</a:t>
            </a:r>
            <a:endParaRPr lang="en-US" sz="10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274320"/>
            <a:ext cx="8229600" cy="548640"/>
          </a:xfrm>
          <a:prstGeom prst="rect">
            <a:avLst/>
          </a:prstGeom>
          <a:noFill/>
          <a:ln/>
        </p:spPr>
        <p:txBody>
          <a:bodyPr wrap="square" rtlCol="0" anchor="ctr"/>
          <a:lstStyle/>
          <a:p>
            <a:pPr indent="0" marL="0">
              <a:buNone/>
            </a:pPr>
            <a:r>
              <a:rPr lang="en-US" sz="2200" b="1" dirty="0">
                <a:solidFill>
                  <a:srgbClr val="B91C1C"/>
                </a:solidFill>
                <a:latin typeface="Microsoft YaHei" pitchFamily="34" charset="0"/>
                <a:ea typeface="Microsoft YaHei" pitchFamily="34" charset="-122"/>
                <a:cs typeface="Microsoft YaHei" pitchFamily="34" charset="-120"/>
              </a:rPr>
              <a:t>练习十一：制定本部门的部署计划</a:t>
            </a:r>
            <a:endParaRPr lang="en-US" sz="2200" dirty="0"/>
          </a:p>
        </p:txBody>
      </p:sp>
      <p:sp>
        <p:nvSpPr>
          <p:cNvPr id="4" name="Shape 2"/>
          <p:cNvSpPr/>
          <p:nvPr/>
        </p:nvSpPr>
        <p:spPr>
          <a:xfrm>
            <a:off x="457200" y="1005840"/>
            <a:ext cx="8229600" cy="3200400"/>
          </a:xfrm>
          <a:prstGeom prst="rect">
            <a:avLst/>
          </a:prstGeom>
          <a:solidFill>
            <a:srgbClr val="F3F4F6"/>
          </a:solidFill>
          <a:ln/>
        </p:spPr>
      </p:sp>
      <p:sp>
        <p:nvSpPr>
          <p:cNvPr id="5" name="Text 3"/>
          <p:cNvSpPr/>
          <p:nvPr/>
        </p:nvSpPr>
        <p:spPr>
          <a:xfrm>
            <a:off x="640080" y="1188720"/>
            <a:ext cx="1828800" cy="457200"/>
          </a:xfrm>
          <a:prstGeom prst="rect">
            <a:avLst/>
          </a:prstGeom>
          <a:noFill/>
          <a:ln/>
        </p:spPr>
        <p:txBody>
          <a:bodyPr wrap="square" rtlCol="0" anchor="ctr"/>
          <a:lstStyle/>
          <a:p>
            <a:pPr indent="0" marL="0">
              <a:buNone/>
            </a:pPr>
            <a:r>
              <a:rPr lang="en-US" sz="1600" b="1" dirty="0">
                <a:solidFill>
                  <a:srgbClr val="EF4444"/>
                </a:solidFill>
                <a:latin typeface="Microsoft YaHei" pitchFamily="34" charset="0"/>
                <a:ea typeface="Microsoft YaHei" pitchFamily="34" charset="-122"/>
                <a:cs typeface="Microsoft YaHei" pitchFamily="34" charset="-120"/>
              </a:rPr>
              <a:t>小组讨论</a:t>
            </a:r>
            <a:endParaRPr lang="en-US" sz="1600" dirty="0"/>
          </a:p>
        </p:txBody>
      </p:sp>
      <p:sp>
        <p:nvSpPr>
          <p:cNvPr id="6" name="Shape 4"/>
          <p:cNvSpPr/>
          <p:nvPr/>
        </p:nvSpPr>
        <p:spPr>
          <a:xfrm>
            <a:off x="822960" y="1828800"/>
            <a:ext cx="137160" cy="137160"/>
          </a:xfrm>
          <a:prstGeom prst="ellipse">
            <a:avLst/>
          </a:prstGeom>
          <a:solidFill>
            <a:srgbClr val="EF4444"/>
          </a:solidFill>
          <a:ln/>
        </p:spPr>
      </p:sp>
      <p:sp>
        <p:nvSpPr>
          <p:cNvPr id="7" name="Text 5"/>
          <p:cNvSpPr/>
          <p:nvPr/>
        </p:nvSpPr>
        <p:spPr>
          <a:xfrm>
            <a:off x="1097280" y="1737360"/>
            <a:ext cx="6858000" cy="548640"/>
          </a:xfrm>
          <a:prstGeom prst="rect">
            <a:avLst/>
          </a:prstGeom>
          <a:noFill/>
          <a:ln/>
        </p:spPr>
        <p:txBody>
          <a:bodyPr wrap="square" rtlCol="0" anchor="ctr"/>
          <a:lstStyle/>
          <a:p>
            <a:pPr indent="0" marL="0">
              <a:buNone/>
            </a:pPr>
            <a:r>
              <a:rPr lang="en-US" sz="1500" dirty="0">
                <a:solidFill>
                  <a:srgbClr val="374151"/>
                </a:solidFill>
                <a:latin typeface="Microsoft YaHei" pitchFamily="34" charset="0"/>
                <a:ea typeface="Microsoft YaHei" pitchFamily="34" charset="-122"/>
                <a:cs typeface="Microsoft YaHei" pitchFamily="34" charset="-120"/>
              </a:rPr>
              <a:t>3-5人一组</a:t>
            </a:r>
            <a:endParaRPr lang="en-US" sz="1500" dirty="0"/>
          </a:p>
        </p:txBody>
      </p:sp>
      <p:sp>
        <p:nvSpPr>
          <p:cNvPr id="8" name="Shape 6"/>
          <p:cNvSpPr/>
          <p:nvPr/>
        </p:nvSpPr>
        <p:spPr>
          <a:xfrm>
            <a:off x="822960" y="2468880"/>
            <a:ext cx="137160" cy="137160"/>
          </a:xfrm>
          <a:prstGeom prst="ellipse">
            <a:avLst/>
          </a:prstGeom>
          <a:solidFill>
            <a:srgbClr val="EF4444"/>
          </a:solidFill>
          <a:ln/>
        </p:spPr>
      </p:sp>
      <p:sp>
        <p:nvSpPr>
          <p:cNvPr id="9" name="Text 7"/>
          <p:cNvSpPr/>
          <p:nvPr/>
        </p:nvSpPr>
        <p:spPr>
          <a:xfrm>
            <a:off x="1097280" y="2377440"/>
            <a:ext cx="6858000" cy="548640"/>
          </a:xfrm>
          <a:prstGeom prst="rect">
            <a:avLst/>
          </a:prstGeom>
          <a:noFill/>
          <a:ln/>
        </p:spPr>
        <p:txBody>
          <a:bodyPr wrap="square" rtlCol="0" anchor="ctr"/>
          <a:lstStyle/>
          <a:p>
            <a:pPr indent="0" marL="0">
              <a:buNone/>
            </a:pPr>
            <a:r>
              <a:rPr lang="en-US" sz="1500" dirty="0">
                <a:solidFill>
                  <a:srgbClr val="374151"/>
                </a:solidFill>
                <a:latin typeface="Microsoft YaHei" pitchFamily="34" charset="0"/>
                <a:ea typeface="Microsoft YaHei" pitchFamily="34" charset="-122"/>
                <a:cs typeface="Microsoft YaHei" pitchFamily="34" charset="-120"/>
              </a:rPr>
              <a:t>结合各人岗位情况</a:t>
            </a:r>
            <a:endParaRPr lang="en-US" sz="1500" dirty="0"/>
          </a:p>
        </p:txBody>
      </p:sp>
      <p:sp>
        <p:nvSpPr>
          <p:cNvPr id="10" name="Shape 8"/>
          <p:cNvSpPr/>
          <p:nvPr/>
        </p:nvSpPr>
        <p:spPr>
          <a:xfrm>
            <a:off x="822960" y="3108960"/>
            <a:ext cx="137160" cy="137160"/>
          </a:xfrm>
          <a:prstGeom prst="ellipse">
            <a:avLst/>
          </a:prstGeom>
          <a:solidFill>
            <a:srgbClr val="EF4444"/>
          </a:solidFill>
          <a:ln/>
        </p:spPr>
      </p:sp>
      <p:sp>
        <p:nvSpPr>
          <p:cNvPr id="11" name="Text 9"/>
          <p:cNvSpPr/>
          <p:nvPr/>
        </p:nvSpPr>
        <p:spPr>
          <a:xfrm>
            <a:off x="1097280" y="3017520"/>
            <a:ext cx="6858000" cy="548640"/>
          </a:xfrm>
          <a:prstGeom prst="rect">
            <a:avLst/>
          </a:prstGeom>
          <a:noFill/>
          <a:ln/>
        </p:spPr>
        <p:txBody>
          <a:bodyPr wrap="square" rtlCol="0" anchor="ctr"/>
          <a:lstStyle/>
          <a:p>
            <a:pPr indent="0" marL="0">
              <a:buNone/>
            </a:pPr>
            <a:r>
              <a:rPr lang="en-US" sz="1500" dirty="0">
                <a:solidFill>
                  <a:srgbClr val="374151"/>
                </a:solidFill>
                <a:latin typeface="Microsoft YaHei" pitchFamily="34" charset="0"/>
                <a:ea typeface="Microsoft YaHei" pitchFamily="34" charset="-122"/>
                <a:cs typeface="Microsoft YaHei" pitchFamily="34" charset="-120"/>
              </a:rPr>
              <a:t>给小组25分钟</a:t>
            </a:r>
            <a:endParaRPr lang="en-US" sz="1500" dirty="0"/>
          </a:p>
        </p:txBody>
      </p:sp>
      <p:sp>
        <p:nvSpPr>
          <p:cNvPr id="12" name="Shape 10"/>
          <p:cNvSpPr/>
          <p:nvPr/>
        </p:nvSpPr>
        <p:spPr>
          <a:xfrm>
            <a:off x="640080" y="3749040"/>
            <a:ext cx="7772400" cy="365760"/>
          </a:xfrm>
          <a:prstGeom prst="rect">
            <a:avLst/>
          </a:prstGeom>
          <a:solidFill>
            <a:srgbClr val="EF4444"/>
          </a:solidFill>
          <a:ln/>
        </p:spPr>
      </p:sp>
      <p:sp>
        <p:nvSpPr>
          <p:cNvPr id="13" name="Text 11"/>
          <p:cNvSpPr/>
          <p:nvPr/>
        </p:nvSpPr>
        <p:spPr>
          <a:xfrm>
            <a:off x="731520" y="3749040"/>
            <a:ext cx="7589520" cy="365760"/>
          </a:xfrm>
          <a:prstGeom prst="rect">
            <a:avLst/>
          </a:prstGeom>
          <a:noFill/>
          <a:ln/>
        </p:spPr>
        <p:txBody>
          <a:bodyPr wrap="square" rtlCol="0" anchor="ctr"/>
          <a:lstStyle/>
          <a:p>
            <a:pPr indent="0" marL="0">
              <a:buNone/>
            </a:pPr>
            <a:r>
              <a:rPr lang="en-US" sz="1300" b="1" dirty="0">
                <a:solidFill>
                  <a:srgbClr val="FFFFFF"/>
                </a:solidFill>
                <a:latin typeface="Microsoft YaHei" pitchFamily="34" charset="0"/>
                <a:ea typeface="Microsoft YaHei" pitchFamily="34" charset="-122"/>
                <a:cs typeface="Microsoft YaHei" pitchFamily="34" charset="-120"/>
              </a:rPr>
              <a:t>产出：种子用户名单 + 使用说明初稿 + 资产库框架</a:t>
            </a:r>
            <a:endParaRPr lang="en-US" sz="1300" dirty="0"/>
          </a:p>
        </p:txBody>
      </p:sp>
      <p:sp>
        <p:nvSpPr>
          <p:cNvPr id="14" name="Text 12"/>
          <p:cNvSpPr/>
          <p:nvPr/>
        </p:nvSpPr>
        <p:spPr>
          <a:xfrm>
            <a:off x="8503920" y="4663440"/>
            <a:ext cx="457200" cy="274320"/>
          </a:xfrm>
          <a:prstGeom prst="rect">
            <a:avLst/>
          </a:prstGeom>
          <a:noFill/>
          <a:ln/>
        </p:spPr>
        <p:txBody>
          <a:bodyPr wrap="square" rtlCol="0" anchor="ctr"/>
          <a:lstStyle/>
          <a:p>
            <a:pPr algn="r" indent="0" marL="0">
              <a:buNone/>
            </a:pPr>
            <a:r>
              <a:rPr lang="en-US" sz="1000" dirty="0">
                <a:solidFill>
                  <a:srgbClr val="374151"/>
                </a:solidFill>
                <a:latin typeface="Arial" pitchFamily="34" charset="0"/>
                <a:ea typeface="Arial" pitchFamily="34" charset="-122"/>
                <a:cs typeface="Arial" pitchFamily="34" charset="-120"/>
              </a:rPr>
              <a:t>107</a:t>
            </a:r>
            <a:endParaRPr lang="en-US" sz="10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274320"/>
            <a:ext cx="8229600" cy="548640"/>
          </a:xfrm>
          <a:prstGeom prst="rect">
            <a:avLst/>
          </a:prstGeom>
          <a:noFill/>
          <a:ln/>
        </p:spPr>
        <p:txBody>
          <a:bodyPr wrap="square" rtlCol="0" anchor="ctr"/>
          <a:lstStyle/>
          <a:p>
            <a:pPr indent="0" marL="0">
              <a:buNone/>
            </a:pPr>
            <a:r>
              <a:rPr lang="en-US" sz="2200" b="1" dirty="0">
                <a:solidFill>
                  <a:srgbClr val="B91C1C"/>
                </a:solidFill>
                <a:latin typeface="Microsoft YaHei" pitchFamily="34" charset="0"/>
                <a:ea typeface="Microsoft YaHei" pitchFamily="34" charset="-122"/>
                <a:cs typeface="Microsoft YaHei" pitchFamily="34" charset="-120"/>
              </a:rPr>
              <a:t>练习十一续：三周行动清单</a:t>
            </a:r>
            <a:endParaRPr lang="en-US" sz="2200" dirty="0"/>
          </a:p>
        </p:txBody>
      </p:sp>
      <p:sp>
        <p:nvSpPr>
          <p:cNvPr id="4" name="Shape 2"/>
          <p:cNvSpPr/>
          <p:nvPr/>
        </p:nvSpPr>
        <p:spPr>
          <a:xfrm>
            <a:off x="457200" y="1005840"/>
            <a:ext cx="2651760" cy="3474720"/>
          </a:xfrm>
          <a:prstGeom prst="rect">
            <a:avLst/>
          </a:prstGeom>
          <a:solidFill>
            <a:srgbClr val="F3F4F6"/>
          </a:solidFill>
          <a:ln/>
        </p:spPr>
      </p:sp>
      <p:sp>
        <p:nvSpPr>
          <p:cNvPr id="5" name="Shape 3"/>
          <p:cNvSpPr/>
          <p:nvPr/>
        </p:nvSpPr>
        <p:spPr>
          <a:xfrm>
            <a:off x="457200" y="1005840"/>
            <a:ext cx="2651760" cy="640080"/>
          </a:xfrm>
          <a:prstGeom prst="rect">
            <a:avLst/>
          </a:prstGeom>
          <a:solidFill>
            <a:srgbClr val="EF4444"/>
          </a:solidFill>
          <a:ln/>
        </p:spPr>
      </p:sp>
      <p:sp>
        <p:nvSpPr>
          <p:cNvPr id="6" name="Text 4"/>
          <p:cNvSpPr/>
          <p:nvPr/>
        </p:nvSpPr>
        <p:spPr>
          <a:xfrm>
            <a:off x="457200" y="1005840"/>
            <a:ext cx="2651760" cy="640080"/>
          </a:xfrm>
          <a:prstGeom prst="rect">
            <a:avLst/>
          </a:prstGeom>
          <a:noFill/>
          <a:ln/>
        </p:spPr>
        <p:txBody>
          <a:bodyPr wrap="square" rtlCol="0" anchor="ctr"/>
          <a:lstStyle/>
          <a:p>
            <a:pPr algn="ctr" indent="0" marL="0">
              <a:buNone/>
            </a:pPr>
            <a:r>
              <a:rPr lang="en-US" sz="1800" b="1" dirty="0">
                <a:solidFill>
                  <a:srgbClr val="FFFFFF"/>
                </a:solidFill>
                <a:latin typeface="Microsoft YaHei" pitchFamily="34" charset="0"/>
                <a:ea typeface="Microsoft YaHei" pitchFamily="34" charset="-122"/>
                <a:cs typeface="Microsoft YaHei" pitchFamily="34" charset="-120"/>
              </a:rPr>
              <a:t>第一周</a:t>
            </a:r>
            <a:endParaRPr lang="en-US" sz="1800" dirty="0"/>
          </a:p>
        </p:txBody>
      </p:sp>
      <p:sp>
        <p:nvSpPr>
          <p:cNvPr id="7" name="Shape 5"/>
          <p:cNvSpPr/>
          <p:nvPr/>
        </p:nvSpPr>
        <p:spPr>
          <a:xfrm>
            <a:off x="731520" y="1920240"/>
            <a:ext cx="137160" cy="137160"/>
          </a:xfrm>
          <a:prstGeom prst="ellipse">
            <a:avLst/>
          </a:prstGeom>
          <a:solidFill>
            <a:srgbClr val="B91C1C"/>
          </a:solidFill>
          <a:ln/>
        </p:spPr>
      </p:sp>
      <p:sp>
        <p:nvSpPr>
          <p:cNvPr id="8" name="Text 6"/>
          <p:cNvSpPr/>
          <p:nvPr/>
        </p:nvSpPr>
        <p:spPr>
          <a:xfrm>
            <a:off x="1005840" y="1828800"/>
            <a:ext cx="1920240" cy="548640"/>
          </a:xfrm>
          <a:prstGeom prst="rect">
            <a:avLst/>
          </a:prstGeom>
          <a:noFill/>
          <a:ln/>
        </p:spPr>
        <p:txBody>
          <a:bodyPr wrap="square" rtlCol="0" anchor="ctr"/>
          <a:lstStyle/>
          <a:p>
            <a:pPr indent="0" marL="0">
              <a:buNone/>
            </a:pPr>
            <a:r>
              <a:rPr lang="en-US" sz="1400" dirty="0">
                <a:solidFill>
                  <a:srgbClr val="374151"/>
                </a:solidFill>
                <a:latin typeface="Microsoft YaHei" pitchFamily="34" charset="0"/>
                <a:ea typeface="Microsoft YaHei" pitchFamily="34" charset="-122"/>
                <a:cs typeface="Microsoft YaHei" pitchFamily="34" charset="-120"/>
              </a:rPr>
              <a:t>找种子用户</a:t>
            </a:r>
            <a:endParaRPr lang="en-US" sz="1400" dirty="0"/>
          </a:p>
        </p:txBody>
      </p:sp>
      <p:sp>
        <p:nvSpPr>
          <p:cNvPr id="9" name="Shape 7"/>
          <p:cNvSpPr/>
          <p:nvPr/>
        </p:nvSpPr>
        <p:spPr>
          <a:xfrm>
            <a:off x="731520" y="2651760"/>
            <a:ext cx="137160" cy="137160"/>
          </a:xfrm>
          <a:prstGeom prst="ellipse">
            <a:avLst/>
          </a:prstGeom>
          <a:solidFill>
            <a:srgbClr val="B91C1C"/>
          </a:solidFill>
          <a:ln/>
        </p:spPr>
      </p:sp>
      <p:sp>
        <p:nvSpPr>
          <p:cNvPr id="10" name="Text 8"/>
          <p:cNvSpPr/>
          <p:nvPr/>
        </p:nvSpPr>
        <p:spPr>
          <a:xfrm>
            <a:off x="1005840" y="2560320"/>
            <a:ext cx="1920240" cy="548640"/>
          </a:xfrm>
          <a:prstGeom prst="rect">
            <a:avLst/>
          </a:prstGeom>
          <a:noFill/>
          <a:ln/>
        </p:spPr>
        <p:txBody>
          <a:bodyPr wrap="square" rtlCol="0" anchor="ctr"/>
          <a:lstStyle/>
          <a:p>
            <a:pPr indent="0" marL="0">
              <a:buNone/>
            </a:pPr>
            <a:r>
              <a:rPr lang="en-US" sz="1400" dirty="0">
                <a:solidFill>
                  <a:srgbClr val="374151"/>
                </a:solidFill>
                <a:latin typeface="Microsoft YaHei" pitchFamily="34" charset="0"/>
                <a:ea typeface="Microsoft YaHei" pitchFamily="34" charset="-122"/>
                <a:cs typeface="Microsoft YaHei" pitchFamily="34" charset="-120"/>
              </a:rPr>
              <a:t>跑通第一个场景</a:t>
            </a:r>
            <a:endParaRPr lang="en-US" sz="1400" dirty="0"/>
          </a:p>
        </p:txBody>
      </p:sp>
      <p:sp>
        <p:nvSpPr>
          <p:cNvPr id="11" name="Shape 9"/>
          <p:cNvSpPr/>
          <p:nvPr/>
        </p:nvSpPr>
        <p:spPr>
          <a:xfrm>
            <a:off x="3291840" y="1005840"/>
            <a:ext cx="2651760" cy="3474720"/>
          </a:xfrm>
          <a:prstGeom prst="rect">
            <a:avLst/>
          </a:prstGeom>
          <a:solidFill>
            <a:srgbClr val="F3F4F6"/>
          </a:solidFill>
          <a:ln/>
        </p:spPr>
      </p:sp>
      <p:sp>
        <p:nvSpPr>
          <p:cNvPr id="12" name="Shape 10"/>
          <p:cNvSpPr/>
          <p:nvPr/>
        </p:nvSpPr>
        <p:spPr>
          <a:xfrm>
            <a:off x="3291840" y="1005840"/>
            <a:ext cx="2651760" cy="640080"/>
          </a:xfrm>
          <a:prstGeom prst="rect">
            <a:avLst/>
          </a:prstGeom>
          <a:solidFill>
            <a:srgbClr val="EF4444"/>
          </a:solidFill>
          <a:ln/>
        </p:spPr>
      </p:sp>
      <p:sp>
        <p:nvSpPr>
          <p:cNvPr id="13" name="Text 11"/>
          <p:cNvSpPr/>
          <p:nvPr/>
        </p:nvSpPr>
        <p:spPr>
          <a:xfrm>
            <a:off x="3291840" y="1005840"/>
            <a:ext cx="2651760" cy="640080"/>
          </a:xfrm>
          <a:prstGeom prst="rect">
            <a:avLst/>
          </a:prstGeom>
          <a:noFill/>
          <a:ln/>
        </p:spPr>
        <p:txBody>
          <a:bodyPr wrap="square" rtlCol="0" anchor="ctr"/>
          <a:lstStyle/>
          <a:p>
            <a:pPr algn="ctr" indent="0" marL="0">
              <a:buNone/>
            </a:pPr>
            <a:r>
              <a:rPr lang="en-US" sz="1800" b="1" dirty="0">
                <a:solidFill>
                  <a:srgbClr val="FFFFFF"/>
                </a:solidFill>
                <a:latin typeface="Microsoft YaHei" pitchFamily="34" charset="0"/>
                <a:ea typeface="Microsoft YaHei" pitchFamily="34" charset="-122"/>
                <a:cs typeface="Microsoft YaHei" pitchFamily="34" charset="-120"/>
              </a:rPr>
              <a:t>第二周</a:t>
            </a:r>
            <a:endParaRPr lang="en-US" sz="1800" dirty="0"/>
          </a:p>
        </p:txBody>
      </p:sp>
      <p:sp>
        <p:nvSpPr>
          <p:cNvPr id="14" name="Shape 12"/>
          <p:cNvSpPr/>
          <p:nvPr/>
        </p:nvSpPr>
        <p:spPr>
          <a:xfrm>
            <a:off x="3566160" y="1920240"/>
            <a:ext cx="137160" cy="137160"/>
          </a:xfrm>
          <a:prstGeom prst="ellipse">
            <a:avLst/>
          </a:prstGeom>
          <a:solidFill>
            <a:srgbClr val="B91C1C"/>
          </a:solidFill>
          <a:ln/>
        </p:spPr>
      </p:sp>
      <p:sp>
        <p:nvSpPr>
          <p:cNvPr id="15" name="Text 13"/>
          <p:cNvSpPr/>
          <p:nvPr/>
        </p:nvSpPr>
        <p:spPr>
          <a:xfrm>
            <a:off x="3840480" y="1828800"/>
            <a:ext cx="1920240" cy="548640"/>
          </a:xfrm>
          <a:prstGeom prst="rect">
            <a:avLst/>
          </a:prstGeom>
          <a:noFill/>
          <a:ln/>
        </p:spPr>
        <p:txBody>
          <a:bodyPr wrap="square" rtlCol="0" anchor="ctr"/>
          <a:lstStyle/>
          <a:p>
            <a:pPr indent="0" marL="0">
              <a:buNone/>
            </a:pPr>
            <a:r>
              <a:rPr lang="en-US" sz="1400" dirty="0">
                <a:solidFill>
                  <a:srgbClr val="374151"/>
                </a:solidFill>
                <a:latin typeface="Microsoft YaHei" pitchFamily="34" charset="0"/>
                <a:ea typeface="Microsoft YaHei" pitchFamily="34" charset="-122"/>
                <a:cs typeface="Microsoft YaHei" pitchFamily="34" charset="-120"/>
              </a:rPr>
              <a:t>写使用说明</a:t>
            </a:r>
            <a:endParaRPr lang="en-US" sz="1400" dirty="0"/>
          </a:p>
        </p:txBody>
      </p:sp>
      <p:sp>
        <p:nvSpPr>
          <p:cNvPr id="16" name="Shape 14"/>
          <p:cNvSpPr/>
          <p:nvPr/>
        </p:nvSpPr>
        <p:spPr>
          <a:xfrm>
            <a:off x="3566160" y="2651760"/>
            <a:ext cx="137160" cy="137160"/>
          </a:xfrm>
          <a:prstGeom prst="ellipse">
            <a:avLst/>
          </a:prstGeom>
          <a:solidFill>
            <a:srgbClr val="B91C1C"/>
          </a:solidFill>
          <a:ln/>
        </p:spPr>
      </p:sp>
      <p:sp>
        <p:nvSpPr>
          <p:cNvPr id="17" name="Text 15"/>
          <p:cNvSpPr/>
          <p:nvPr/>
        </p:nvSpPr>
        <p:spPr>
          <a:xfrm>
            <a:off x="3840480" y="2560320"/>
            <a:ext cx="1920240" cy="548640"/>
          </a:xfrm>
          <a:prstGeom prst="rect">
            <a:avLst/>
          </a:prstGeom>
          <a:noFill/>
          <a:ln/>
        </p:spPr>
        <p:txBody>
          <a:bodyPr wrap="square" rtlCol="0" anchor="ctr"/>
          <a:lstStyle/>
          <a:p>
            <a:pPr indent="0" marL="0">
              <a:buNone/>
            </a:pPr>
            <a:r>
              <a:rPr lang="en-US" sz="1400" dirty="0">
                <a:solidFill>
                  <a:srgbClr val="374151"/>
                </a:solidFill>
                <a:latin typeface="Microsoft YaHei" pitchFamily="34" charset="0"/>
                <a:ea typeface="Microsoft YaHei" pitchFamily="34" charset="-122"/>
                <a:cs typeface="Microsoft YaHei" pitchFamily="34" charset="-120"/>
              </a:rPr>
              <a:t>开始内部推广</a:t>
            </a:r>
            <a:endParaRPr lang="en-US" sz="1400" dirty="0"/>
          </a:p>
        </p:txBody>
      </p:sp>
      <p:sp>
        <p:nvSpPr>
          <p:cNvPr id="18" name="Shape 16"/>
          <p:cNvSpPr/>
          <p:nvPr/>
        </p:nvSpPr>
        <p:spPr>
          <a:xfrm>
            <a:off x="6126480" y="1005840"/>
            <a:ext cx="2651760" cy="3474720"/>
          </a:xfrm>
          <a:prstGeom prst="rect">
            <a:avLst/>
          </a:prstGeom>
          <a:solidFill>
            <a:srgbClr val="F3F4F6"/>
          </a:solidFill>
          <a:ln/>
        </p:spPr>
      </p:sp>
      <p:sp>
        <p:nvSpPr>
          <p:cNvPr id="19" name="Shape 17"/>
          <p:cNvSpPr/>
          <p:nvPr/>
        </p:nvSpPr>
        <p:spPr>
          <a:xfrm>
            <a:off x="6126480" y="1005840"/>
            <a:ext cx="2651760" cy="640080"/>
          </a:xfrm>
          <a:prstGeom prst="rect">
            <a:avLst/>
          </a:prstGeom>
          <a:solidFill>
            <a:srgbClr val="EF4444"/>
          </a:solidFill>
          <a:ln/>
        </p:spPr>
      </p:sp>
      <p:sp>
        <p:nvSpPr>
          <p:cNvPr id="20" name="Text 18"/>
          <p:cNvSpPr/>
          <p:nvPr/>
        </p:nvSpPr>
        <p:spPr>
          <a:xfrm>
            <a:off x="6126480" y="1005840"/>
            <a:ext cx="2651760" cy="640080"/>
          </a:xfrm>
          <a:prstGeom prst="rect">
            <a:avLst/>
          </a:prstGeom>
          <a:noFill/>
          <a:ln/>
        </p:spPr>
        <p:txBody>
          <a:bodyPr wrap="square" rtlCol="0" anchor="ctr"/>
          <a:lstStyle/>
          <a:p>
            <a:pPr algn="ctr" indent="0" marL="0">
              <a:buNone/>
            </a:pPr>
            <a:r>
              <a:rPr lang="en-US" sz="1800" b="1" dirty="0">
                <a:solidFill>
                  <a:srgbClr val="FFFFFF"/>
                </a:solidFill>
                <a:latin typeface="Microsoft YaHei" pitchFamily="34" charset="0"/>
                <a:ea typeface="Microsoft YaHei" pitchFamily="34" charset="-122"/>
                <a:cs typeface="Microsoft YaHei" pitchFamily="34" charset="-120"/>
              </a:rPr>
              <a:t>第三周</a:t>
            </a:r>
            <a:endParaRPr lang="en-US" sz="1800" dirty="0"/>
          </a:p>
        </p:txBody>
      </p:sp>
      <p:sp>
        <p:nvSpPr>
          <p:cNvPr id="21" name="Shape 19"/>
          <p:cNvSpPr/>
          <p:nvPr/>
        </p:nvSpPr>
        <p:spPr>
          <a:xfrm>
            <a:off x="6400800" y="1920240"/>
            <a:ext cx="137160" cy="137160"/>
          </a:xfrm>
          <a:prstGeom prst="ellipse">
            <a:avLst/>
          </a:prstGeom>
          <a:solidFill>
            <a:srgbClr val="B91C1C"/>
          </a:solidFill>
          <a:ln/>
        </p:spPr>
      </p:sp>
      <p:sp>
        <p:nvSpPr>
          <p:cNvPr id="22" name="Text 20"/>
          <p:cNvSpPr/>
          <p:nvPr/>
        </p:nvSpPr>
        <p:spPr>
          <a:xfrm>
            <a:off x="6675120" y="1828800"/>
            <a:ext cx="1920240" cy="548640"/>
          </a:xfrm>
          <a:prstGeom prst="rect">
            <a:avLst/>
          </a:prstGeom>
          <a:noFill/>
          <a:ln/>
        </p:spPr>
        <p:txBody>
          <a:bodyPr wrap="square" rtlCol="0" anchor="ctr"/>
          <a:lstStyle/>
          <a:p>
            <a:pPr indent="0" marL="0">
              <a:buNone/>
            </a:pPr>
            <a:r>
              <a:rPr lang="en-US" sz="1400" dirty="0">
                <a:solidFill>
                  <a:srgbClr val="374151"/>
                </a:solidFill>
                <a:latin typeface="Microsoft YaHei" pitchFamily="34" charset="0"/>
                <a:ea typeface="Microsoft YaHei" pitchFamily="34" charset="-122"/>
                <a:cs typeface="Microsoft YaHei" pitchFamily="34" charset="-120"/>
              </a:rPr>
              <a:t>建立资产库</a:t>
            </a:r>
            <a:endParaRPr lang="en-US" sz="1400" dirty="0"/>
          </a:p>
        </p:txBody>
      </p:sp>
      <p:sp>
        <p:nvSpPr>
          <p:cNvPr id="23" name="Shape 21"/>
          <p:cNvSpPr/>
          <p:nvPr/>
        </p:nvSpPr>
        <p:spPr>
          <a:xfrm>
            <a:off x="6400800" y="2651760"/>
            <a:ext cx="137160" cy="137160"/>
          </a:xfrm>
          <a:prstGeom prst="ellipse">
            <a:avLst/>
          </a:prstGeom>
          <a:solidFill>
            <a:srgbClr val="B91C1C"/>
          </a:solidFill>
          <a:ln/>
        </p:spPr>
      </p:sp>
      <p:sp>
        <p:nvSpPr>
          <p:cNvPr id="24" name="Text 22"/>
          <p:cNvSpPr/>
          <p:nvPr/>
        </p:nvSpPr>
        <p:spPr>
          <a:xfrm>
            <a:off x="6675120" y="2560320"/>
            <a:ext cx="1920240" cy="548640"/>
          </a:xfrm>
          <a:prstGeom prst="rect">
            <a:avLst/>
          </a:prstGeom>
          <a:noFill/>
          <a:ln/>
        </p:spPr>
        <p:txBody>
          <a:bodyPr wrap="square" rtlCol="0" anchor="ctr"/>
          <a:lstStyle/>
          <a:p>
            <a:pPr indent="0" marL="0">
              <a:buNone/>
            </a:pPr>
            <a:r>
              <a:rPr lang="en-US" sz="1400" dirty="0">
                <a:solidFill>
                  <a:srgbClr val="374151"/>
                </a:solidFill>
                <a:latin typeface="Microsoft YaHei" pitchFamily="34" charset="0"/>
                <a:ea typeface="Microsoft YaHei" pitchFamily="34" charset="-122"/>
                <a:cs typeface="Microsoft YaHei" pitchFamily="34" charset="-120"/>
              </a:rPr>
              <a:t>收集反馈</a:t>
            </a:r>
            <a:endParaRPr lang="en-US" sz="1400" dirty="0"/>
          </a:p>
        </p:txBody>
      </p:sp>
      <p:sp>
        <p:nvSpPr>
          <p:cNvPr id="25" name="Text 23"/>
          <p:cNvSpPr/>
          <p:nvPr/>
        </p:nvSpPr>
        <p:spPr>
          <a:xfrm>
            <a:off x="8503920" y="4663440"/>
            <a:ext cx="457200" cy="274320"/>
          </a:xfrm>
          <a:prstGeom prst="rect">
            <a:avLst/>
          </a:prstGeom>
          <a:noFill/>
          <a:ln/>
        </p:spPr>
        <p:txBody>
          <a:bodyPr wrap="square" rtlCol="0" anchor="ctr"/>
          <a:lstStyle/>
          <a:p>
            <a:pPr algn="r" indent="0" marL="0">
              <a:buNone/>
            </a:pPr>
            <a:r>
              <a:rPr lang="en-US" sz="1000" dirty="0">
                <a:solidFill>
                  <a:srgbClr val="374151"/>
                </a:solidFill>
                <a:latin typeface="Arial" pitchFamily="34" charset="0"/>
                <a:ea typeface="Arial" pitchFamily="34" charset="-122"/>
                <a:cs typeface="Arial" pitchFamily="34" charset="-120"/>
              </a:rPr>
              <a:t>108</a:t>
            </a:r>
            <a:endParaRPr lang="en-US" sz="10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B91C1C"/>
          </a:solidFill>
          <a:ln/>
        </p:spPr>
      </p:sp>
      <p:sp>
        <p:nvSpPr>
          <p:cNvPr id="3" name="Text 1"/>
          <p:cNvSpPr/>
          <p:nvPr/>
        </p:nvSpPr>
        <p:spPr>
          <a:xfrm>
            <a:off x="457200" y="1645920"/>
            <a:ext cx="8229600" cy="548640"/>
          </a:xfrm>
          <a:prstGeom prst="rect">
            <a:avLst/>
          </a:prstGeom>
          <a:noFill/>
          <a:ln/>
        </p:spPr>
        <p:txBody>
          <a:bodyPr wrap="square" rtlCol="0" anchor="ctr"/>
          <a:lstStyle/>
          <a:p>
            <a:pPr indent="0" marL="0">
              <a:buNone/>
            </a:pPr>
            <a:r>
              <a:rPr lang="en-US" sz="1800" spc="800" kern="0" dirty="0">
                <a:solidFill>
                  <a:srgbClr val="FFFFFF"/>
                </a:solidFill>
                <a:latin typeface="Microsoft YaHei" pitchFamily="34" charset="0"/>
                <a:ea typeface="Microsoft YaHei" pitchFamily="34" charset="-122"/>
                <a:cs typeface="Microsoft YaHei" pitchFamily="34" charset="-120"/>
              </a:rPr>
              <a:t>附录</a:t>
            </a:r>
            <a:endParaRPr lang="en-US" sz="1800" dirty="0"/>
          </a:p>
        </p:txBody>
      </p:sp>
      <p:sp>
        <p:nvSpPr>
          <p:cNvPr id="4" name="Text 2"/>
          <p:cNvSpPr/>
          <p:nvPr/>
        </p:nvSpPr>
        <p:spPr>
          <a:xfrm>
            <a:off x="457200" y="2194560"/>
            <a:ext cx="8229600" cy="1097280"/>
          </a:xfrm>
          <a:prstGeom prst="rect">
            <a:avLst/>
          </a:prstGeom>
          <a:noFill/>
          <a:ln/>
        </p:spPr>
        <p:txBody>
          <a:bodyPr wrap="square" rtlCol="0" anchor="ctr"/>
          <a:lstStyle/>
          <a:p>
            <a:pPr indent="0" marL="0">
              <a:buNone/>
            </a:pPr>
            <a:r>
              <a:rPr lang="en-US" sz="5400" b="1" dirty="0">
                <a:solidFill>
                  <a:srgbClr val="FFFFFF"/>
                </a:solidFill>
                <a:latin typeface="Microsoft YaHei" pitchFamily="34" charset="0"/>
                <a:ea typeface="Microsoft YaHei" pitchFamily="34" charset="-122"/>
                <a:cs typeface="Microsoft YaHei" pitchFamily="34" charset="-120"/>
              </a:rPr>
              <a:t>工具包</a:t>
            </a:r>
            <a:endParaRPr lang="en-US" sz="5400" dirty="0"/>
          </a:p>
        </p:txBody>
      </p:sp>
      <p:sp>
        <p:nvSpPr>
          <p:cNvPr id="5" name="Text 3"/>
          <p:cNvSpPr/>
          <p:nvPr/>
        </p:nvSpPr>
        <p:spPr>
          <a:xfrm>
            <a:off x="457200" y="3291840"/>
            <a:ext cx="8229600" cy="457200"/>
          </a:xfrm>
          <a:prstGeom prst="rect">
            <a:avLst/>
          </a:prstGeom>
          <a:noFill/>
          <a:ln/>
        </p:spPr>
        <p:txBody>
          <a:bodyPr wrap="square" rtlCol="0" anchor="ctr"/>
          <a:lstStyle/>
          <a:p>
            <a:pPr indent="0" marL="0">
              <a:buNone/>
            </a:pPr>
            <a:r>
              <a:rPr lang="en-US" sz="1800" dirty="0">
                <a:solidFill>
                  <a:srgbClr val="FFFFFF"/>
                </a:solidFill>
                <a:latin typeface="Microsoft YaHei" pitchFamily="34" charset="0"/>
                <a:ea typeface="Microsoft YaHei" pitchFamily="34" charset="-122"/>
                <a:cs typeface="Microsoft YaHei" pitchFamily="34" charset="-120"/>
              </a:rPr>
              <a:t>模板、参考答案与速查手册</a:t>
            </a:r>
            <a:endParaRPr lang="en-US" sz="1800" dirty="0"/>
          </a:p>
        </p:txBody>
      </p:sp>
      <p:sp>
        <p:nvSpPr>
          <p:cNvPr id="6" name="Shape 4"/>
          <p:cNvSpPr/>
          <p:nvPr/>
        </p:nvSpPr>
        <p:spPr>
          <a:xfrm>
            <a:off x="457200" y="3931920"/>
            <a:ext cx="1828800" cy="54864"/>
          </a:xfrm>
          <a:prstGeom prst="rect">
            <a:avLst/>
          </a:prstGeom>
          <a:solidFill>
            <a:srgbClr val="EF4444"/>
          </a:solidFill>
          <a:ln/>
        </p:spPr>
      </p:sp>
      <p:sp>
        <p:nvSpPr>
          <p:cNvPr id="7" name="Text 5"/>
          <p:cNvSpPr/>
          <p:nvPr/>
        </p:nvSpPr>
        <p:spPr>
          <a:xfrm>
            <a:off x="8503920" y="4663440"/>
            <a:ext cx="457200" cy="274320"/>
          </a:xfrm>
          <a:prstGeom prst="rect">
            <a:avLst/>
          </a:prstGeom>
          <a:noFill/>
          <a:ln/>
        </p:spPr>
        <p:txBody>
          <a:bodyPr wrap="square" rtlCol="0" anchor="ctr"/>
          <a:lstStyle/>
          <a:p>
            <a:pPr algn="ctr" indent="0" marL="0">
              <a:buNone/>
            </a:pPr>
            <a:r>
              <a:rPr lang="en-US" sz="1000" dirty="0">
                <a:solidFill>
                  <a:srgbClr val="FFFFFF"/>
                </a:solidFill>
                <a:latin typeface="Arial" pitchFamily="34" charset="0"/>
                <a:ea typeface="Arial" pitchFamily="34" charset="-122"/>
                <a:cs typeface="Arial" pitchFamily="34" charset="-120"/>
              </a:rPr>
              <a:t>130</a:t>
            </a:r>
            <a:endParaRPr lang="en-US" sz="10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274320"/>
            <a:ext cx="8229600" cy="457200"/>
          </a:xfrm>
          <a:prstGeom prst="rect">
            <a:avLst/>
          </a:prstGeom>
          <a:noFill/>
          <a:ln/>
        </p:spPr>
        <p:txBody>
          <a:bodyPr wrap="square" rtlCol="0" anchor="ctr"/>
          <a:lstStyle/>
          <a:p>
            <a:pPr indent="0" marL="0">
              <a:buNone/>
            </a:pPr>
            <a:r>
              <a:rPr lang="en-US" sz="1800" b="1" dirty="0">
                <a:solidFill>
                  <a:srgbClr val="B91C1C"/>
                </a:solidFill>
                <a:latin typeface="Microsoft YaHei" pitchFamily="34" charset="0"/>
                <a:ea typeface="Microsoft YaHei" pitchFamily="34" charset="-122"/>
                <a:cs typeface="Microsoft YaHei" pitchFamily="34" charset="-120"/>
              </a:rPr>
              <a:t>附录一：第一天上午认知自测参考答案</a:t>
            </a:r>
            <a:endParaRPr lang="en-US" sz="1800" dirty="0"/>
          </a:p>
        </p:txBody>
      </p:sp>
      <p:sp>
        <p:nvSpPr>
          <p:cNvPr id="4" name="Shape 2"/>
          <p:cNvSpPr/>
          <p:nvPr/>
        </p:nvSpPr>
        <p:spPr>
          <a:xfrm>
            <a:off x="457200" y="868680"/>
            <a:ext cx="8229600" cy="502920"/>
          </a:xfrm>
          <a:prstGeom prst="rect">
            <a:avLst/>
          </a:prstGeom>
          <a:solidFill>
            <a:srgbClr val="B91C1C"/>
          </a:solidFill>
          <a:ln/>
        </p:spPr>
      </p:sp>
      <p:sp>
        <p:nvSpPr>
          <p:cNvPr id="5" name="Text 3"/>
          <p:cNvSpPr/>
          <p:nvPr/>
        </p:nvSpPr>
        <p:spPr>
          <a:xfrm>
            <a:off x="457200" y="868680"/>
            <a:ext cx="457200" cy="50292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6" name="Text 4"/>
          <p:cNvSpPr/>
          <p:nvPr/>
        </p:nvSpPr>
        <p:spPr>
          <a:xfrm>
            <a:off x="914400" y="868680"/>
            <a:ext cx="731520" cy="502920"/>
          </a:xfrm>
          <a:prstGeom prst="rect">
            <a:avLst/>
          </a:prstGeom>
          <a:noFill/>
          <a:ln/>
        </p:spPr>
        <p:txBody>
          <a:bodyPr wrap="square" rtlCol="0" anchor="ctr"/>
          <a:lstStyle/>
          <a:p>
            <a:pPr algn="ctr" indent="0" marL="0">
              <a:buNone/>
            </a:pPr>
            <a:r>
              <a:rPr lang="en-US" sz="1100" b="1" dirty="0">
                <a:solidFill>
                  <a:srgbClr val="FFFFFF"/>
                </a:solidFill>
                <a:latin typeface="Microsoft YaHei" pitchFamily="34" charset="0"/>
                <a:ea typeface="Microsoft YaHei" pitchFamily="34" charset="-122"/>
                <a:cs typeface="Microsoft YaHei" pitchFamily="34" charset="-120"/>
              </a:rPr>
              <a:t>判断</a:t>
            </a:r>
            <a:endParaRPr lang="en-US" sz="1100" dirty="0"/>
          </a:p>
        </p:txBody>
      </p:sp>
      <p:sp>
        <p:nvSpPr>
          <p:cNvPr id="7" name="Text 5"/>
          <p:cNvSpPr/>
          <p:nvPr/>
        </p:nvSpPr>
        <p:spPr>
          <a:xfrm>
            <a:off x="1645920" y="868680"/>
            <a:ext cx="7040880" cy="502920"/>
          </a:xfrm>
          <a:prstGeom prst="rect">
            <a:avLst/>
          </a:prstGeom>
          <a:noFill/>
          <a:ln/>
        </p:spPr>
        <p:txBody>
          <a:bodyPr wrap="square" rtlCol="0" anchor="ctr"/>
          <a:lstStyle/>
          <a:p>
            <a:pPr algn="ctr" indent="0" marL="0">
              <a:buNone/>
            </a:pPr>
            <a:r>
              <a:rPr lang="en-US" sz="1100" b="1" dirty="0">
                <a:solidFill>
                  <a:srgbClr val="FFFFFF"/>
                </a:solidFill>
                <a:latin typeface="Microsoft YaHei" pitchFamily="34" charset="0"/>
                <a:ea typeface="Microsoft YaHei" pitchFamily="34" charset="-122"/>
                <a:cs typeface="Microsoft YaHei" pitchFamily="34" charset="-120"/>
              </a:rPr>
              <a:t>解析</a:t>
            </a:r>
            <a:endParaRPr lang="en-US" sz="1100" dirty="0"/>
          </a:p>
        </p:txBody>
      </p:sp>
      <p:sp>
        <p:nvSpPr>
          <p:cNvPr id="8" name="Shape 6"/>
          <p:cNvSpPr/>
          <p:nvPr/>
        </p:nvSpPr>
        <p:spPr>
          <a:xfrm>
            <a:off x="457200" y="1371600"/>
            <a:ext cx="8229600" cy="502920"/>
          </a:xfrm>
          <a:prstGeom prst="rect">
            <a:avLst/>
          </a:prstGeom>
          <a:solidFill>
            <a:srgbClr val="F3F4F6"/>
          </a:solidFill>
          <a:ln/>
        </p:spPr>
      </p:sp>
      <p:sp>
        <p:nvSpPr>
          <p:cNvPr id="9" name="Text 7"/>
          <p:cNvSpPr/>
          <p:nvPr/>
        </p:nvSpPr>
        <p:spPr>
          <a:xfrm>
            <a:off x="457200" y="1371600"/>
            <a:ext cx="457200" cy="502920"/>
          </a:xfrm>
          <a:prstGeom prst="rect">
            <a:avLst/>
          </a:prstGeom>
          <a:noFill/>
          <a:ln/>
        </p:spPr>
        <p:txBody>
          <a:bodyPr wrap="square" rtlCol="0" anchor="ctr"/>
          <a:lstStyle/>
          <a:p>
            <a:pPr algn="ctr" indent="0" marL="0">
              <a:buNone/>
            </a:pPr>
            <a:r>
              <a:rPr lang="en-US" sz="1100" dirty="0">
                <a:solidFill>
                  <a:srgbClr val="374151"/>
                </a:solidFill>
                <a:latin typeface="Arial" pitchFamily="34" charset="0"/>
                <a:ea typeface="Arial" pitchFamily="34" charset="-122"/>
                <a:cs typeface="Arial" pitchFamily="34" charset="-120"/>
              </a:rPr>
              <a:t>1</a:t>
            </a:r>
            <a:endParaRPr lang="en-US" sz="1100" dirty="0"/>
          </a:p>
        </p:txBody>
      </p:sp>
      <p:sp>
        <p:nvSpPr>
          <p:cNvPr id="10" name="Text 8"/>
          <p:cNvSpPr/>
          <p:nvPr/>
        </p:nvSpPr>
        <p:spPr>
          <a:xfrm>
            <a:off x="914400" y="1371600"/>
            <a:ext cx="731520" cy="502920"/>
          </a:xfrm>
          <a:prstGeom prst="rect">
            <a:avLst/>
          </a:prstGeom>
          <a:noFill/>
          <a:ln/>
        </p:spPr>
        <p:txBody>
          <a:bodyPr wrap="square" rtlCol="0" anchor="ctr"/>
          <a:lstStyle/>
          <a:p>
            <a:pPr algn="ctr" indent="0" marL="0">
              <a:buNone/>
            </a:pPr>
            <a:r>
              <a:rPr lang="en-US" sz="1100" b="1" dirty="0">
                <a:solidFill>
                  <a:srgbClr val="EF4444"/>
                </a:solidFill>
                <a:latin typeface="Arial" pitchFamily="34" charset="0"/>
                <a:ea typeface="Arial" pitchFamily="34" charset="-122"/>
                <a:cs typeface="Arial" pitchFamily="34" charset="-120"/>
              </a:rPr>
              <a:t>错</a:t>
            </a:r>
            <a:endParaRPr lang="en-US" sz="1100" dirty="0"/>
          </a:p>
        </p:txBody>
      </p:sp>
      <p:sp>
        <p:nvSpPr>
          <p:cNvPr id="11" name="Text 9"/>
          <p:cNvSpPr/>
          <p:nvPr/>
        </p:nvSpPr>
        <p:spPr>
          <a:xfrm>
            <a:off x="1645920" y="1371600"/>
            <a:ext cx="7040880" cy="502920"/>
          </a:xfrm>
          <a:prstGeom prst="rect">
            <a:avLst/>
          </a:prstGeom>
          <a:noFill/>
          <a:ln/>
        </p:spPr>
        <p:txBody>
          <a:bodyPr wrap="square" rtlCol="0" anchor="ctr"/>
          <a:lstStyle/>
          <a:p>
            <a:pPr algn="l" indent="0" marL="0">
              <a:buNone/>
            </a:pPr>
            <a:r>
              <a:rPr lang="en-US" sz="1000" dirty="0">
                <a:solidFill>
                  <a:srgbClr val="374151"/>
                </a:solidFill>
                <a:latin typeface="Microsoft YaHei" pitchFamily="34" charset="0"/>
                <a:ea typeface="Microsoft YaHei" pitchFamily="34" charset="-122"/>
                <a:cs typeface="Microsoft YaHei" pitchFamily="34" charset="-120"/>
              </a:rPr>
              <a:t>数字员工包含四个组成部分，远不止提示词</a:t>
            </a:r>
            <a:endParaRPr lang="en-US" sz="1000" dirty="0"/>
          </a:p>
        </p:txBody>
      </p:sp>
      <p:sp>
        <p:nvSpPr>
          <p:cNvPr id="12" name="Shape 10"/>
          <p:cNvSpPr/>
          <p:nvPr/>
        </p:nvSpPr>
        <p:spPr>
          <a:xfrm>
            <a:off x="457200" y="1874520"/>
            <a:ext cx="8229600" cy="502920"/>
          </a:xfrm>
          <a:prstGeom prst="rect">
            <a:avLst/>
          </a:prstGeom>
          <a:solidFill>
            <a:srgbClr val="FFFFFF"/>
          </a:solidFill>
          <a:ln/>
        </p:spPr>
      </p:sp>
      <p:sp>
        <p:nvSpPr>
          <p:cNvPr id="13" name="Text 11"/>
          <p:cNvSpPr/>
          <p:nvPr/>
        </p:nvSpPr>
        <p:spPr>
          <a:xfrm>
            <a:off x="457200" y="1874520"/>
            <a:ext cx="457200" cy="502920"/>
          </a:xfrm>
          <a:prstGeom prst="rect">
            <a:avLst/>
          </a:prstGeom>
          <a:noFill/>
          <a:ln/>
        </p:spPr>
        <p:txBody>
          <a:bodyPr wrap="square" rtlCol="0" anchor="ctr"/>
          <a:lstStyle/>
          <a:p>
            <a:pPr algn="ctr" indent="0" marL="0">
              <a:buNone/>
            </a:pPr>
            <a:r>
              <a:rPr lang="en-US" sz="1100" dirty="0">
                <a:solidFill>
                  <a:srgbClr val="374151"/>
                </a:solidFill>
                <a:latin typeface="Arial" pitchFamily="34" charset="0"/>
                <a:ea typeface="Arial" pitchFamily="34" charset="-122"/>
                <a:cs typeface="Arial" pitchFamily="34" charset="-120"/>
              </a:rPr>
              <a:t>2</a:t>
            </a:r>
            <a:endParaRPr lang="en-US" sz="1100" dirty="0"/>
          </a:p>
        </p:txBody>
      </p:sp>
      <p:sp>
        <p:nvSpPr>
          <p:cNvPr id="14" name="Text 12"/>
          <p:cNvSpPr/>
          <p:nvPr/>
        </p:nvSpPr>
        <p:spPr>
          <a:xfrm>
            <a:off x="914400" y="1874520"/>
            <a:ext cx="731520" cy="502920"/>
          </a:xfrm>
          <a:prstGeom prst="rect">
            <a:avLst/>
          </a:prstGeom>
          <a:noFill/>
          <a:ln/>
        </p:spPr>
        <p:txBody>
          <a:bodyPr wrap="square" rtlCol="0" anchor="ctr"/>
          <a:lstStyle/>
          <a:p>
            <a:pPr algn="ctr" indent="0" marL="0">
              <a:buNone/>
            </a:pPr>
            <a:r>
              <a:rPr lang="en-US" sz="1100" b="1" dirty="0">
                <a:solidFill>
                  <a:srgbClr val="EF4444"/>
                </a:solidFill>
                <a:latin typeface="Arial" pitchFamily="34" charset="0"/>
                <a:ea typeface="Arial" pitchFamily="34" charset="-122"/>
                <a:cs typeface="Arial" pitchFamily="34" charset="-120"/>
              </a:rPr>
              <a:t>错</a:t>
            </a:r>
            <a:endParaRPr lang="en-US" sz="1100" dirty="0"/>
          </a:p>
        </p:txBody>
      </p:sp>
      <p:sp>
        <p:nvSpPr>
          <p:cNvPr id="15" name="Text 13"/>
          <p:cNvSpPr/>
          <p:nvPr/>
        </p:nvSpPr>
        <p:spPr>
          <a:xfrm>
            <a:off x="1645920" y="1874520"/>
            <a:ext cx="7040880" cy="502920"/>
          </a:xfrm>
          <a:prstGeom prst="rect">
            <a:avLst/>
          </a:prstGeom>
          <a:noFill/>
          <a:ln/>
        </p:spPr>
        <p:txBody>
          <a:bodyPr wrap="square" rtlCol="0" anchor="ctr"/>
          <a:lstStyle/>
          <a:p>
            <a:pPr algn="l" indent="0" marL="0">
              <a:buNone/>
            </a:pPr>
            <a:r>
              <a:rPr lang="en-US" sz="1000" dirty="0">
                <a:solidFill>
                  <a:srgbClr val="374151"/>
                </a:solidFill>
                <a:latin typeface="Microsoft YaHei" pitchFamily="34" charset="0"/>
                <a:ea typeface="Microsoft YaHei" pitchFamily="34" charset="-122"/>
                <a:cs typeface="Microsoft YaHei" pitchFamily="34" charset="-120"/>
              </a:rPr>
              <a:t>每次手动输入，无法传承，工具思维</a:t>
            </a:r>
            <a:endParaRPr lang="en-US" sz="1000" dirty="0"/>
          </a:p>
        </p:txBody>
      </p:sp>
      <p:sp>
        <p:nvSpPr>
          <p:cNvPr id="16" name="Shape 14"/>
          <p:cNvSpPr/>
          <p:nvPr/>
        </p:nvSpPr>
        <p:spPr>
          <a:xfrm>
            <a:off x="457200" y="2377440"/>
            <a:ext cx="8229600" cy="502920"/>
          </a:xfrm>
          <a:prstGeom prst="rect">
            <a:avLst/>
          </a:prstGeom>
          <a:solidFill>
            <a:srgbClr val="F3F4F6"/>
          </a:solidFill>
          <a:ln/>
        </p:spPr>
      </p:sp>
      <p:sp>
        <p:nvSpPr>
          <p:cNvPr id="17" name="Text 15"/>
          <p:cNvSpPr/>
          <p:nvPr/>
        </p:nvSpPr>
        <p:spPr>
          <a:xfrm>
            <a:off x="457200" y="2377440"/>
            <a:ext cx="457200" cy="502920"/>
          </a:xfrm>
          <a:prstGeom prst="rect">
            <a:avLst/>
          </a:prstGeom>
          <a:noFill/>
          <a:ln/>
        </p:spPr>
        <p:txBody>
          <a:bodyPr wrap="square" rtlCol="0" anchor="ctr"/>
          <a:lstStyle/>
          <a:p>
            <a:pPr algn="ctr" indent="0" marL="0">
              <a:buNone/>
            </a:pPr>
            <a:r>
              <a:rPr lang="en-US" sz="1100" dirty="0">
                <a:solidFill>
                  <a:srgbClr val="374151"/>
                </a:solidFill>
                <a:latin typeface="Arial" pitchFamily="34" charset="0"/>
                <a:ea typeface="Arial" pitchFamily="34" charset="-122"/>
                <a:cs typeface="Arial" pitchFamily="34" charset="-120"/>
              </a:rPr>
              <a:t>3</a:t>
            </a:r>
            <a:endParaRPr lang="en-US" sz="1100" dirty="0"/>
          </a:p>
        </p:txBody>
      </p:sp>
      <p:sp>
        <p:nvSpPr>
          <p:cNvPr id="18" name="Text 16"/>
          <p:cNvSpPr/>
          <p:nvPr/>
        </p:nvSpPr>
        <p:spPr>
          <a:xfrm>
            <a:off x="914400" y="2377440"/>
            <a:ext cx="731520" cy="502920"/>
          </a:xfrm>
          <a:prstGeom prst="rect">
            <a:avLst/>
          </a:prstGeom>
          <a:noFill/>
          <a:ln/>
        </p:spPr>
        <p:txBody>
          <a:bodyPr wrap="square" rtlCol="0" anchor="ctr"/>
          <a:lstStyle/>
          <a:p>
            <a:pPr algn="ctr" indent="0" marL="0">
              <a:buNone/>
            </a:pPr>
            <a:r>
              <a:rPr lang="en-US" sz="1100" b="1" dirty="0">
                <a:solidFill>
                  <a:srgbClr val="10B981"/>
                </a:solidFill>
                <a:latin typeface="Arial" pitchFamily="34" charset="0"/>
                <a:ea typeface="Arial" pitchFamily="34" charset="-122"/>
                <a:cs typeface="Arial" pitchFamily="34" charset="-120"/>
              </a:rPr>
              <a:t>对</a:t>
            </a:r>
            <a:endParaRPr lang="en-US" sz="1100" dirty="0"/>
          </a:p>
        </p:txBody>
      </p:sp>
      <p:sp>
        <p:nvSpPr>
          <p:cNvPr id="19" name="Text 17"/>
          <p:cNvSpPr/>
          <p:nvPr/>
        </p:nvSpPr>
        <p:spPr>
          <a:xfrm>
            <a:off x="1645920" y="2377440"/>
            <a:ext cx="7040880" cy="502920"/>
          </a:xfrm>
          <a:prstGeom prst="rect">
            <a:avLst/>
          </a:prstGeom>
          <a:noFill/>
          <a:ln/>
        </p:spPr>
        <p:txBody>
          <a:bodyPr wrap="square" rtlCol="0" anchor="ctr"/>
          <a:lstStyle/>
          <a:p>
            <a:pPr algn="l" indent="0" marL="0">
              <a:buNone/>
            </a:pPr>
            <a:r>
              <a:rPr lang="en-US" sz="1000" dirty="0">
                <a:solidFill>
                  <a:srgbClr val="374151"/>
                </a:solidFill>
                <a:latin typeface="Microsoft YaHei" pitchFamily="34" charset="0"/>
                <a:ea typeface="Microsoft YaHei" pitchFamily="34" charset="-122"/>
                <a:cs typeface="Microsoft YaHei" pitchFamily="34" charset="-120"/>
              </a:rPr>
              <a:t>高频重复、规则可描述、输出格式固定</a:t>
            </a:r>
            <a:endParaRPr lang="en-US" sz="1000" dirty="0"/>
          </a:p>
        </p:txBody>
      </p:sp>
      <p:sp>
        <p:nvSpPr>
          <p:cNvPr id="20" name="Shape 18"/>
          <p:cNvSpPr/>
          <p:nvPr/>
        </p:nvSpPr>
        <p:spPr>
          <a:xfrm>
            <a:off x="457200" y="2880360"/>
            <a:ext cx="8229600" cy="502920"/>
          </a:xfrm>
          <a:prstGeom prst="rect">
            <a:avLst/>
          </a:prstGeom>
          <a:solidFill>
            <a:srgbClr val="FFFFFF"/>
          </a:solidFill>
          <a:ln/>
        </p:spPr>
      </p:sp>
      <p:sp>
        <p:nvSpPr>
          <p:cNvPr id="21" name="Text 19"/>
          <p:cNvSpPr/>
          <p:nvPr/>
        </p:nvSpPr>
        <p:spPr>
          <a:xfrm>
            <a:off x="457200" y="2880360"/>
            <a:ext cx="457200" cy="502920"/>
          </a:xfrm>
          <a:prstGeom prst="rect">
            <a:avLst/>
          </a:prstGeom>
          <a:noFill/>
          <a:ln/>
        </p:spPr>
        <p:txBody>
          <a:bodyPr wrap="square" rtlCol="0" anchor="ctr"/>
          <a:lstStyle/>
          <a:p>
            <a:pPr algn="ctr" indent="0" marL="0">
              <a:buNone/>
            </a:pPr>
            <a:r>
              <a:rPr lang="en-US" sz="1100" dirty="0">
                <a:solidFill>
                  <a:srgbClr val="374151"/>
                </a:solidFill>
                <a:latin typeface="Arial" pitchFamily="34" charset="0"/>
                <a:ea typeface="Arial" pitchFamily="34" charset="-122"/>
                <a:cs typeface="Arial" pitchFamily="34" charset="-120"/>
              </a:rPr>
              <a:t>4</a:t>
            </a:r>
            <a:endParaRPr lang="en-US" sz="1100" dirty="0"/>
          </a:p>
        </p:txBody>
      </p:sp>
      <p:sp>
        <p:nvSpPr>
          <p:cNvPr id="22" name="Text 20"/>
          <p:cNvSpPr/>
          <p:nvPr/>
        </p:nvSpPr>
        <p:spPr>
          <a:xfrm>
            <a:off x="914400" y="2880360"/>
            <a:ext cx="731520" cy="502920"/>
          </a:xfrm>
          <a:prstGeom prst="rect">
            <a:avLst/>
          </a:prstGeom>
          <a:noFill/>
          <a:ln/>
        </p:spPr>
        <p:txBody>
          <a:bodyPr wrap="square" rtlCol="0" anchor="ctr"/>
          <a:lstStyle/>
          <a:p>
            <a:pPr algn="ctr" indent="0" marL="0">
              <a:buNone/>
            </a:pPr>
            <a:r>
              <a:rPr lang="en-US" sz="1100" b="1" dirty="0">
                <a:solidFill>
                  <a:srgbClr val="10B981"/>
                </a:solidFill>
                <a:latin typeface="Arial" pitchFamily="34" charset="0"/>
                <a:ea typeface="Arial" pitchFamily="34" charset="-122"/>
                <a:cs typeface="Arial" pitchFamily="34" charset="-120"/>
              </a:rPr>
              <a:t>对</a:t>
            </a:r>
            <a:endParaRPr lang="en-US" sz="1100" dirty="0"/>
          </a:p>
        </p:txBody>
      </p:sp>
      <p:sp>
        <p:nvSpPr>
          <p:cNvPr id="23" name="Text 21"/>
          <p:cNvSpPr/>
          <p:nvPr/>
        </p:nvSpPr>
        <p:spPr>
          <a:xfrm>
            <a:off x="1645920" y="2880360"/>
            <a:ext cx="7040880" cy="502920"/>
          </a:xfrm>
          <a:prstGeom prst="rect">
            <a:avLst/>
          </a:prstGeom>
          <a:noFill/>
          <a:ln/>
        </p:spPr>
        <p:txBody>
          <a:bodyPr wrap="square" rtlCol="0" anchor="ctr"/>
          <a:lstStyle/>
          <a:p>
            <a:pPr algn="l" indent="0" marL="0">
              <a:buNone/>
            </a:pPr>
            <a:r>
              <a:rPr lang="en-US" sz="1000" dirty="0">
                <a:solidFill>
                  <a:srgbClr val="374151"/>
                </a:solidFill>
                <a:latin typeface="Microsoft YaHei" pitchFamily="34" charset="0"/>
                <a:ea typeface="Microsoft YaHei" pitchFamily="34" charset="-122"/>
                <a:cs typeface="Microsoft YaHei" pitchFamily="34" charset="-120"/>
              </a:rPr>
              <a:t>可以传承的系统，新同事能接手</a:t>
            </a:r>
            <a:endParaRPr lang="en-US" sz="1000" dirty="0"/>
          </a:p>
        </p:txBody>
      </p:sp>
      <p:sp>
        <p:nvSpPr>
          <p:cNvPr id="24" name="Shape 22"/>
          <p:cNvSpPr/>
          <p:nvPr/>
        </p:nvSpPr>
        <p:spPr>
          <a:xfrm>
            <a:off x="457200" y="3383280"/>
            <a:ext cx="8229600" cy="502920"/>
          </a:xfrm>
          <a:prstGeom prst="rect">
            <a:avLst/>
          </a:prstGeom>
          <a:solidFill>
            <a:srgbClr val="F3F4F6"/>
          </a:solidFill>
          <a:ln/>
        </p:spPr>
      </p:sp>
      <p:sp>
        <p:nvSpPr>
          <p:cNvPr id="25" name="Text 23"/>
          <p:cNvSpPr/>
          <p:nvPr/>
        </p:nvSpPr>
        <p:spPr>
          <a:xfrm>
            <a:off x="457200" y="3383280"/>
            <a:ext cx="457200" cy="502920"/>
          </a:xfrm>
          <a:prstGeom prst="rect">
            <a:avLst/>
          </a:prstGeom>
          <a:noFill/>
          <a:ln/>
        </p:spPr>
        <p:txBody>
          <a:bodyPr wrap="square" rtlCol="0" anchor="ctr"/>
          <a:lstStyle/>
          <a:p>
            <a:pPr algn="ctr" indent="0" marL="0">
              <a:buNone/>
            </a:pPr>
            <a:r>
              <a:rPr lang="en-US" sz="1100" dirty="0">
                <a:solidFill>
                  <a:srgbClr val="374151"/>
                </a:solidFill>
                <a:latin typeface="Arial" pitchFamily="34" charset="0"/>
                <a:ea typeface="Arial" pitchFamily="34" charset="-122"/>
                <a:cs typeface="Arial" pitchFamily="34" charset="-120"/>
              </a:rPr>
              <a:t>5</a:t>
            </a:r>
            <a:endParaRPr lang="en-US" sz="1100" dirty="0"/>
          </a:p>
        </p:txBody>
      </p:sp>
      <p:sp>
        <p:nvSpPr>
          <p:cNvPr id="26" name="Text 24"/>
          <p:cNvSpPr/>
          <p:nvPr/>
        </p:nvSpPr>
        <p:spPr>
          <a:xfrm>
            <a:off x="914400" y="3383280"/>
            <a:ext cx="731520" cy="502920"/>
          </a:xfrm>
          <a:prstGeom prst="rect">
            <a:avLst/>
          </a:prstGeom>
          <a:noFill/>
          <a:ln/>
        </p:spPr>
        <p:txBody>
          <a:bodyPr wrap="square" rtlCol="0" anchor="ctr"/>
          <a:lstStyle/>
          <a:p>
            <a:pPr algn="ctr" indent="0" marL="0">
              <a:buNone/>
            </a:pPr>
            <a:r>
              <a:rPr lang="en-US" sz="1100" b="1" dirty="0">
                <a:solidFill>
                  <a:srgbClr val="10B981"/>
                </a:solidFill>
                <a:latin typeface="Arial" pitchFamily="34" charset="0"/>
                <a:ea typeface="Arial" pitchFamily="34" charset="-122"/>
                <a:cs typeface="Arial" pitchFamily="34" charset="-120"/>
              </a:rPr>
              <a:t>对</a:t>
            </a:r>
            <a:endParaRPr lang="en-US" sz="1100" dirty="0"/>
          </a:p>
        </p:txBody>
      </p:sp>
      <p:sp>
        <p:nvSpPr>
          <p:cNvPr id="27" name="Text 25"/>
          <p:cNvSpPr/>
          <p:nvPr/>
        </p:nvSpPr>
        <p:spPr>
          <a:xfrm>
            <a:off x="1645920" y="3383280"/>
            <a:ext cx="7040880" cy="502920"/>
          </a:xfrm>
          <a:prstGeom prst="rect">
            <a:avLst/>
          </a:prstGeom>
          <a:noFill/>
          <a:ln/>
        </p:spPr>
        <p:txBody>
          <a:bodyPr wrap="square" rtlCol="0" anchor="ctr"/>
          <a:lstStyle/>
          <a:p>
            <a:pPr algn="l" indent="0" marL="0">
              <a:buNone/>
            </a:pPr>
            <a:r>
              <a:rPr lang="en-US" sz="1000" dirty="0">
                <a:solidFill>
                  <a:srgbClr val="374151"/>
                </a:solidFill>
                <a:latin typeface="Microsoft YaHei" pitchFamily="34" charset="0"/>
                <a:ea typeface="Microsoft YaHei" pitchFamily="34" charset="-122"/>
                <a:cs typeface="Microsoft YaHei" pitchFamily="34" charset="-120"/>
              </a:rPr>
              <a:t>知识库提供判断依据，两者缺一不可</a:t>
            </a:r>
            <a:endParaRPr lang="en-US" sz="1000" dirty="0"/>
          </a:p>
        </p:txBody>
      </p:sp>
      <p:sp>
        <p:nvSpPr>
          <p:cNvPr id="28" name="Shape 26"/>
          <p:cNvSpPr/>
          <p:nvPr/>
        </p:nvSpPr>
        <p:spPr>
          <a:xfrm>
            <a:off x="457200" y="3886200"/>
            <a:ext cx="8229600" cy="502920"/>
          </a:xfrm>
          <a:prstGeom prst="rect">
            <a:avLst/>
          </a:prstGeom>
          <a:solidFill>
            <a:srgbClr val="FFFFFF"/>
          </a:solidFill>
          <a:ln/>
        </p:spPr>
      </p:sp>
      <p:sp>
        <p:nvSpPr>
          <p:cNvPr id="29" name="Text 27"/>
          <p:cNvSpPr/>
          <p:nvPr/>
        </p:nvSpPr>
        <p:spPr>
          <a:xfrm>
            <a:off x="457200" y="3886200"/>
            <a:ext cx="457200" cy="502920"/>
          </a:xfrm>
          <a:prstGeom prst="rect">
            <a:avLst/>
          </a:prstGeom>
          <a:noFill/>
          <a:ln/>
        </p:spPr>
        <p:txBody>
          <a:bodyPr wrap="square" rtlCol="0" anchor="ctr"/>
          <a:lstStyle/>
          <a:p>
            <a:pPr algn="ctr" indent="0" marL="0">
              <a:buNone/>
            </a:pPr>
            <a:r>
              <a:rPr lang="en-US" sz="1100" dirty="0">
                <a:solidFill>
                  <a:srgbClr val="374151"/>
                </a:solidFill>
                <a:latin typeface="Arial" pitchFamily="34" charset="0"/>
                <a:ea typeface="Arial" pitchFamily="34" charset="-122"/>
                <a:cs typeface="Arial" pitchFamily="34" charset="-120"/>
              </a:rPr>
              <a:t>6</a:t>
            </a:r>
            <a:endParaRPr lang="en-US" sz="1100" dirty="0"/>
          </a:p>
        </p:txBody>
      </p:sp>
      <p:sp>
        <p:nvSpPr>
          <p:cNvPr id="30" name="Text 28"/>
          <p:cNvSpPr/>
          <p:nvPr/>
        </p:nvSpPr>
        <p:spPr>
          <a:xfrm>
            <a:off x="914400" y="3886200"/>
            <a:ext cx="731520" cy="502920"/>
          </a:xfrm>
          <a:prstGeom prst="rect">
            <a:avLst/>
          </a:prstGeom>
          <a:noFill/>
          <a:ln/>
        </p:spPr>
        <p:txBody>
          <a:bodyPr wrap="square" rtlCol="0" anchor="ctr"/>
          <a:lstStyle/>
          <a:p>
            <a:pPr algn="ctr" indent="0" marL="0">
              <a:buNone/>
            </a:pPr>
            <a:r>
              <a:rPr lang="en-US" sz="1100" b="1" dirty="0">
                <a:solidFill>
                  <a:srgbClr val="EF4444"/>
                </a:solidFill>
                <a:latin typeface="Arial" pitchFamily="34" charset="0"/>
                <a:ea typeface="Arial" pitchFamily="34" charset="-122"/>
                <a:cs typeface="Arial" pitchFamily="34" charset="-120"/>
              </a:rPr>
              <a:t>错</a:t>
            </a:r>
            <a:endParaRPr lang="en-US" sz="1100" dirty="0"/>
          </a:p>
        </p:txBody>
      </p:sp>
      <p:sp>
        <p:nvSpPr>
          <p:cNvPr id="31" name="Text 29"/>
          <p:cNvSpPr/>
          <p:nvPr/>
        </p:nvSpPr>
        <p:spPr>
          <a:xfrm>
            <a:off x="1645920" y="3886200"/>
            <a:ext cx="7040880" cy="502920"/>
          </a:xfrm>
          <a:prstGeom prst="rect">
            <a:avLst/>
          </a:prstGeom>
          <a:noFill/>
          <a:ln/>
        </p:spPr>
        <p:txBody>
          <a:bodyPr wrap="square" rtlCol="0" anchor="ctr"/>
          <a:lstStyle/>
          <a:p>
            <a:pPr algn="l" indent="0" marL="0">
              <a:buNone/>
            </a:pPr>
            <a:r>
              <a:rPr lang="en-US" sz="1000" dirty="0">
                <a:solidFill>
                  <a:srgbClr val="374151"/>
                </a:solidFill>
                <a:latin typeface="Microsoft YaHei" pitchFamily="34" charset="0"/>
                <a:ea typeface="Microsoft YaHei" pitchFamily="34" charset="-122"/>
                <a:cs typeface="Microsoft YaHei" pitchFamily="34" charset="-120"/>
              </a:rPr>
              <a:t>没有兜底规则的Skill会在边界情况出错</a:t>
            </a:r>
            <a:endParaRPr lang="en-US" sz="1000" dirty="0"/>
          </a:p>
        </p:txBody>
      </p:sp>
      <p:sp>
        <p:nvSpPr>
          <p:cNvPr id="32" name="Shape 30"/>
          <p:cNvSpPr/>
          <p:nvPr/>
        </p:nvSpPr>
        <p:spPr>
          <a:xfrm>
            <a:off x="457200" y="4389120"/>
            <a:ext cx="8229600" cy="502920"/>
          </a:xfrm>
          <a:prstGeom prst="rect">
            <a:avLst/>
          </a:prstGeom>
          <a:solidFill>
            <a:srgbClr val="F3F4F6"/>
          </a:solidFill>
          <a:ln/>
        </p:spPr>
      </p:sp>
      <p:sp>
        <p:nvSpPr>
          <p:cNvPr id="33" name="Text 31"/>
          <p:cNvSpPr/>
          <p:nvPr/>
        </p:nvSpPr>
        <p:spPr>
          <a:xfrm>
            <a:off x="457200" y="4389120"/>
            <a:ext cx="457200" cy="502920"/>
          </a:xfrm>
          <a:prstGeom prst="rect">
            <a:avLst/>
          </a:prstGeom>
          <a:noFill/>
          <a:ln/>
        </p:spPr>
        <p:txBody>
          <a:bodyPr wrap="square" rtlCol="0" anchor="ctr"/>
          <a:lstStyle/>
          <a:p>
            <a:pPr algn="ctr" indent="0" marL="0">
              <a:buNone/>
            </a:pPr>
            <a:r>
              <a:rPr lang="en-US" sz="1100" dirty="0">
                <a:solidFill>
                  <a:srgbClr val="374151"/>
                </a:solidFill>
                <a:latin typeface="Arial" pitchFamily="34" charset="0"/>
                <a:ea typeface="Arial" pitchFamily="34" charset="-122"/>
                <a:cs typeface="Arial" pitchFamily="34" charset="-120"/>
              </a:rPr>
              <a:t>7</a:t>
            </a:r>
            <a:endParaRPr lang="en-US" sz="1100" dirty="0"/>
          </a:p>
        </p:txBody>
      </p:sp>
      <p:sp>
        <p:nvSpPr>
          <p:cNvPr id="34" name="Text 32"/>
          <p:cNvSpPr/>
          <p:nvPr/>
        </p:nvSpPr>
        <p:spPr>
          <a:xfrm>
            <a:off x="914400" y="4389120"/>
            <a:ext cx="731520" cy="502920"/>
          </a:xfrm>
          <a:prstGeom prst="rect">
            <a:avLst/>
          </a:prstGeom>
          <a:noFill/>
          <a:ln/>
        </p:spPr>
        <p:txBody>
          <a:bodyPr wrap="square" rtlCol="0" anchor="ctr"/>
          <a:lstStyle/>
          <a:p>
            <a:pPr algn="ctr" indent="0" marL="0">
              <a:buNone/>
            </a:pPr>
            <a:r>
              <a:rPr lang="en-US" sz="1100" b="1" dirty="0">
                <a:solidFill>
                  <a:srgbClr val="EF4444"/>
                </a:solidFill>
                <a:latin typeface="Arial" pitchFamily="34" charset="0"/>
                <a:ea typeface="Arial" pitchFamily="34" charset="-122"/>
                <a:cs typeface="Arial" pitchFamily="34" charset="-120"/>
              </a:rPr>
              <a:t>错</a:t>
            </a:r>
            <a:endParaRPr lang="en-US" sz="1100" dirty="0"/>
          </a:p>
        </p:txBody>
      </p:sp>
      <p:sp>
        <p:nvSpPr>
          <p:cNvPr id="35" name="Text 33"/>
          <p:cNvSpPr/>
          <p:nvPr/>
        </p:nvSpPr>
        <p:spPr>
          <a:xfrm>
            <a:off x="1645920" y="4389120"/>
            <a:ext cx="7040880" cy="502920"/>
          </a:xfrm>
          <a:prstGeom prst="rect">
            <a:avLst/>
          </a:prstGeom>
          <a:noFill/>
          <a:ln/>
        </p:spPr>
        <p:txBody>
          <a:bodyPr wrap="square" rtlCol="0" anchor="ctr"/>
          <a:lstStyle/>
          <a:p>
            <a:pPr algn="l" indent="0" marL="0">
              <a:buNone/>
            </a:pPr>
            <a:r>
              <a:rPr lang="en-US" sz="1000" dirty="0">
                <a:solidFill>
                  <a:srgbClr val="374151"/>
                </a:solidFill>
                <a:latin typeface="Microsoft YaHei" pitchFamily="34" charset="0"/>
                <a:ea typeface="Microsoft YaHei" pitchFamily="34" charset="-122"/>
                <a:cs typeface="Microsoft YaHei" pitchFamily="34" charset="-120"/>
              </a:rPr>
              <a:t>Skill需要持续迭代，不会不需要维护</a:t>
            </a:r>
            <a:endParaRPr lang="en-US" sz="1000" dirty="0"/>
          </a:p>
        </p:txBody>
      </p:sp>
      <p:sp>
        <p:nvSpPr>
          <p:cNvPr id="36" name="Shape 34"/>
          <p:cNvSpPr/>
          <p:nvPr/>
        </p:nvSpPr>
        <p:spPr>
          <a:xfrm>
            <a:off x="457200" y="4892040"/>
            <a:ext cx="8229600" cy="502920"/>
          </a:xfrm>
          <a:prstGeom prst="rect">
            <a:avLst/>
          </a:prstGeom>
          <a:solidFill>
            <a:srgbClr val="FFFFFF"/>
          </a:solidFill>
          <a:ln/>
        </p:spPr>
      </p:sp>
      <p:sp>
        <p:nvSpPr>
          <p:cNvPr id="37" name="Text 35"/>
          <p:cNvSpPr/>
          <p:nvPr/>
        </p:nvSpPr>
        <p:spPr>
          <a:xfrm>
            <a:off x="457200" y="4892040"/>
            <a:ext cx="457200" cy="502920"/>
          </a:xfrm>
          <a:prstGeom prst="rect">
            <a:avLst/>
          </a:prstGeom>
          <a:noFill/>
          <a:ln/>
        </p:spPr>
        <p:txBody>
          <a:bodyPr wrap="square" rtlCol="0" anchor="ctr"/>
          <a:lstStyle/>
          <a:p>
            <a:pPr algn="ctr" indent="0" marL="0">
              <a:buNone/>
            </a:pPr>
            <a:r>
              <a:rPr lang="en-US" sz="1100" dirty="0">
                <a:solidFill>
                  <a:srgbClr val="374151"/>
                </a:solidFill>
                <a:latin typeface="Arial" pitchFamily="34" charset="0"/>
                <a:ea typeface="Arial" pitchFamily="34" charset="-122"/>
                <a:cs typeface="Arial" pitchFamily="34" charset="-120"/>
              </a:rPr>
              <a:t>8</a:t>
            </a:r>
            <a:endParaRPr lang="en-US" sz="1100" dirty="0"/>
          </a:p>
        </p:txBody>
      </p:sp>
      <p:sp>
        <p:nvSpPr>
          <p:cNvPr id="38" name="Text 36"/>
          <p:cNvSpPr/>
          <p:nvPr/>
        </p:nvSpPr>
        <p:spPr>
          <a:xfrm>
            <a:off x="914400" y="4892040"/>
            <a:ext cx="731520" cy="502920"/>
          </a:xfrm>
          <a:prstGeom prst="rect">
            <a:avLst/>
          </a:prstGeom>
          <a:noFill/>
          <a:ln/>
        </p:spPr>
        <p:txBody>
          <a:bodyPr wrap="square" rtlCol="0" anchor="ctr"/>
          <a:lstStyle/>
          <a:p>
            <a:pPr algn="ctr" indent="0" marL="0">
              <a:buNone/>
            </a:pPr>
            <a:r>
              <a:rPr lang="en-US" sz="1100" b="1" dirty="0">
                <a:solidFill>
                  <a:srgbClr val="10B981"/>
                </a:solidFill>
                <a:latin typeface="Arial" pitchFamily="34" charset="0"/>
                <a:ea typeface="Arial" pitchFamily="34" charset="-122"/>
                <a:cs typeface="Arial" pitchFamily="34" charset="-120"/>
              </a:rPr>
              <a:t>对</a:t>
            </a:r>
            <a:endParaRPr lang="en-US" sz="1100" dirty="0"/>
          </a:p>
        </p:txBody>
      </p:sp>
      <p:sp>
        <p:nvSpPr>
          <p:cNvPr id="39" name="Text 37"/>
          <p:cNvSpPr/>
          <p:nvPr/>
        </p:nvSpPr>
        <p:spPr>
          <a:xfrm>
            <a:off x="1645920" y="4892040"/>
            <a:ext cx="7040880" cy="502920"/>
          </a:xfrm>
          <a:prstGeom prst="rect">
            <a:avLst/>
          </a:prstGeom>
          <a:noFill/>
          <a:ln/>
        </p:spPr>
        <p:txBody>
          <a:bodyPr wrap="square" rtlCol="0" anchor="ctr"/>
          <a:lstStyle/>
          <a:p>
            <a:pPr algn="l" indent="0" marL="0">
              <a:buNone/>
            </a:pPr>
            <a:r>
              <a:rPr lang="en-US" sz="1000" dirty="0">
                <a:solidFill>
                  <a:srgbClr val="374151"/>
                </a:solidFill>
                <a:latin typeface="Microsoft YaHei" pitchFamily="34" charset="0"/>
                <a:ea typeface="Microsoft YaHei" pitchFamily="34" charset="-122"/>
                <a:cs typeface="Microsoft YaHei" pitchFamily="34" charset="-120"/>
              </a:rPr>
              <a:t>多个专精角色分工协作是更可靠的架构</a:t>
            </a:r>
            <a:endParaRPr lang="en-US" sz="1000" dirty="0"/>
          </a:p>
        </p:txBody>
      </p:sp>
      <p:sp>
        <p:nvSpPr>
          <p:cNvPr id="40" name="Text 38"/>
          <p:cNvSpPr/>
          <p:nvPr/>
        </p:nvSpPr>
        <p:spPr>
          <a:xfrm>
            <a:off x="8503920" y="4663440"/>
            <a:ext cx="457200" cy="274320"/>
          </a:xfrm>
          <a:prstGeom prst="rect">
            <a:avLst/>
          </a:prstGeom>
          <a:noFill/>
          <a:ln/>
        </p:spPr>
        <p:txBody>
          <a:bodyPr wrap="square" rtlCol="0" anchor="ctr"/>
          <a:lstStyle/>
          <a:p>
            <a:pPr algn="ctr" indent="0" marL="0">
              <a:buNone/>
            </a:pPr>
            <a:r>
              <a:rPr lang="en-US" sz="1000" dirty="0">
                <a:solidFill>
                  <a:srgbClr val="374151"/>
                </a:solidFill>
                <a:latin typeface="Arial" pitchFamily="34" charset="0"/>
                <a:ea typeface="Arial" pitchFamily="34" charset="-122"/>
                <a:cs typeface="Arial" pitchFamily="34" charset="-120"/>
              </a:rPr>
              <a:t>131</a:t>
            </a:r>
            <a:endParaRPr lang="en-US" sz="100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274320"/>
            <a:ext cx="8229600" cy="457200"/>
          </a:xfrm>
          <a:prstGeom prst="rect">
            <a:avLst/>
          </a:prstGeom>
          <a:noFill/>
          <a:ln/>
        </p:spPr>
        <p:txBody>
          <a:bodyPr wrap="square" rtlCol="0" anchor="ctr"/>
          <a:lstStyle/>
          <a:p>
            <a:pPr indent="0" marL="0">
              <a:buNone/>
            </a:pPr>
            <a:r>
              <a:rPr lang="en-US" sz="1800" b="1" dirty="0">
                <a:solidFill>
                  <a:srgbClr val="B91C1C"/>
                </a:solidFill>
                <a:latin typeface="Microsoft YaHei" pitchFamily="34" charset="0"/>
                <a:ea typeface="Microsoft YaHei" pitchFamily="34" charset="-122"/>
                <a:cs typeface="Microsoft YaHei" pitchFamily="34" charset="-120"/>
              </a:rPr>
              <a:t>附录二：数字员工设计文档模板</a:t>
            </a:r>
            <a:endParaRPr lang="en-US" sz="1800" dirty="0"/>
          </a:p>
        </p:txBody>
      </p:sp>
      <p:sp>
        <p:nvSpPr>
          <p:cNvPr id="4" name="Shape 2"/>
          <p:cNvSpPr/>
          <p:nvPr/>
        </p:nvSpPr>
        <p:spPr>
          <a:xfrm>
            <a:off x="457200" y="822960"/>
            <a:ext cx="8229600" cy="4023360"/>
          </a:xfrm>
          <a:prstGeom prst="roundRect">
            <a:avLst>
              <a:gd name="adj" fmla="val 2273"/>
            </a:avLst>
          </a:prstGeom>
          <a:solidFill>
            <a:srgbClr val="F3F4F6"/>
          </a:solidFill>
          <a:ln/>
        </p:spPr>
      </p:sp>
      <p:sp>
        <p:nvSpPr>
          <p:cNvPr id="5" name="Shape 3"/>
          <p:cNvSpPr/>
          <p:nvPr/>
        </p:nvSpPr>
        <p:spPr>
          <a:xfrm>
            <a:off x="457200" y="822960"/>
            <a:ext cx="8229600" cy="457200"/>
          </a:xfrm>
          <a:prstGeom prst="rect">
            <a:avLst/>
          </a:prstGeom>
          <a:solidFill>
            <a:srgbClr val="B91C1C"/>
          </a:solidFill>
          <a:ln/>
        </p:spPr>
      </p:sp>
      <p:sp>
        <p:nvSpPr>
          <p:cNvPr id="6" name="Text 4"/>
          <p:cNvSpPr/>
          <p:nvPr/>
        </p:nvSpPr>
        <p:spPr>
          <a:xfrm>
            <a:off x="457200" y="822960"/>
            <a:ext cx="8229600" cy="457200"/>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数字员工设计文档</a:t>
            </a:r>
            <a:endParaRPr lang="en-US" sz="1400" dirty="0"/>
          </a:p>
        </p:txBody>
      </p:sp>
      <p:sp>
        <p:nvSpPr>
          <p:cNvPr id="7" name="Text 5"/>
          <p:cNvSpPr/>
          <p:nvPr/>
        </p:nvSpPr>
        <p:spPr>
          <a:xfrm>
            <a:off x="731520" y="1371600"/>
            <a:ext cx="7680960" cy="3291840"/>
          </a:xfrm>
          <a:prstGeom prst="rect">
            <a:avLst/>
          </a:prstGeom>
          <a:noFill/>
          <a:ln/>
        </p:spPr>
        <p:txBody>
          <a:bodyPr wrap="square" rtlCol="0" anchor="ctr"/>
          <a:lstStyle/>
          <a:p>
            <a:pPr indent="0" marL="0">
              <a:spcAft>
                <a:spcPts val="600"/>
              </a:spcAft>
              <a:buNone/>
            </a:pPr>
            <a:r>
              <a:rPr lang="en-US" sz="1200" dirty="0">
                <a:solidFill>
                  <a:srgbClr val="374151"/>
                </a:solidFill>
                <a:latin typeface="Microsoft YaHei" pitchFamily="34" charset="0"/>
                <a:ea typeface="Microsoft YaHei" pitchFamily="34" charset="-122"/>
                <a:cs typeface="Microsoft YaHei" pitchFamily="34" charset="-120"/>
              </a:rPr>
              <a:t>基本信息</a:t>
            </a:r>
            <a:endParaRPr lang="en-US" sz="1200" dirty="0"/>
          </a:p>
          <a:p>
            <a:pPr indent="0" marL="0">
              <a:spcAft>
                <a:spcPts val="600"/>
              </a:spcAft>
              <a:buNone/>
            </a:pPr>
            <a:r>
              <a:rPr lang="en-US" sz="1200" dirty="0">
                <a:solidFill>
                  <a:srgbClr val="374151"/>
                </a:solidFill>
                <a:latin typeface="Microsoft YaHei" pitchFamily="34" charset="0"/>
                <a:ea typeface="Microsoft YaHei" pitchFamily="34" charset="-122"/>
                <a:cs typeface="Microsoft YaHei" pitchFamily="34" charset="-120"/>
              </a:rPr>
              <a:t>角色名称：________ 创建日期：____ 版本号：____</a:t>
            </a:r>
            <a:endParaRPr lang="en-US" sz="1200" dirty="0"/>
          </a:p>
          <a:p>
            <a:pPr indent="0" marL="0">
              <a:spcAft>
                <a:spcPts val="600"/>
              </a:spcAft>
              <a:buNone/>
            </a:pPr>
            <a:endParaRPr lang="en-US" sz="1200" dirty="0"/>
          </a:p>
          <a:p>
            <a:pPr indent="0" marL="0">
              <a:spcAft>
                <a:spcPts val="600"/>
              </a:spcAft>
              <a:buNone/>
            </a:pPr>
            <a:r>
              <a:rPr lang="en-US" sz="1200" dirty="0">
                <a:solidFill>
                  <a:srgbClr val="374151"/>
                </a:solidFill>
                <a:latin typeface="Microsoft YaHei" pitchFamily="34" charset="0"/>
                <a:ea typeface="Microsoft YaHei" pitchFamily="34" charset="-122"/>
                <a:cs typeface="Microsoft YaHei" pitchFamily="34" charset="-120"/>
              </a:rPr>
              <a:t>维度一：角色定位</a:t>
            </a:r>
            <a:endParaRPr lang="en-US" sz="1200" dirty="0"/>
          </a:p>
          <a:p>
            <a:pPr indent="0" marL="0">
              <a:spcAft>
                <a:spcPts val="600"/>
              </a:spcAft>
              <a:buNone/>
            </a:pPr>
            <a:r>
              <a:rPr lang="en-US" sz="1200" dirty="0">
                <a:solidFill>
                  <a:srgbClr val="374151"/>
                </a:solidFill>
                <a:latin typeface="Microsoft YaHei" pitchFamily="34" charset="0"/>
                <a:ea typeface="Microsoft YaHei" pitchFamily="34" charset="-122"/>
                <a:cs typeface="Microsoft YaHei" pitchFamily="34" charset="-120"/>
              </a:rPr>
              <a:t>服务对象：_______________</a:t>
            </a:r>
            <a:endParaRPr lang="en-US" sz="1200" dirty="0"/>
          </a:p>
          <a:p>
            <a:pPr indent="0" marL="0">
              <a:spcAft>
                <a:spcPts val="600"/>
              </a:spcAft>
              <a:buNone/>
            </a:pPr>
            <a:r>
              <a:rPr lang="en-US" sz="1200" dirty="0">
                <a:solidFill>
                  <a:srgbClr val="374151"/>
                </a:solidFill>
                <a:latin typeface="Microsoft YaHei" pitchFamily="34" charset="0"/>
                <a:ea typeface="Microsoft YaHei" pitchFamily="34" charset="-122"/>
                <a:cs typeface="Microsoft YaHei" pitchFamily="34" charset="-120"/>
              </a:rPr>
              <a:t>在整体流程中的位置：_______________</a:t>
            </a:r>
            <a:endParaRPr lang="en-US" sz="1200" dirty="0"/>
          </a:p>
          <a:p>
            <a:pPr indent="0" marL="0">
              <a:spcAft>
                <a:spcPts val="600"/>
              </a:spcAft>
              <a:buNone/>
            </a:pPr>
            <a:endParaRPr lang="en-US" sz="1200" dirty="0"/>
          </a:p>
          <a:p>
            <a:pPr indent="0" marL="0">
              <a:spcAft>
                <a:spcPts val="600"/>
              </a:spcAft>
              <a:buNone/>
            </a:pPr>
            <a:r>
              <a:rPr lang="en-US" sz="1200" dirty="0">
                <a:solidFill>
                  <a:srgbClr val="374151"/>
                </a:solidFill>
                <a:latin typeface="Microsoft YaHei" pitchFamily="34" charset="0"/>
                <a:ea typeface="Microsoft YaHei" pitchFamily="34" charset="-122"/>
                <a:cs typeface="Microsoft YaHei" pitchFamily="34" charset="-120"/>
              </a:rPr>
              <a:t>维度二：职责边界</a:t>
            </a:r>
            <a:endParaRPr lang="en-US" sz="1200" dirty="0"/>
          </a:p>
          <a:p>
            <a:pPr indent="0" marL="0">
              <a:spcAft>
                <a:spcPts val="600"/>
              </a:spcAft>
              <a:buNone/>
            </a:pPr>
            <a:r>
              <a:rPr lang="en-US" sz="1200" dirty="0">
                <a:solidFill>
                  <a:srgbClr val="374151"/>
                </a:solidFill>
                <a:latin typeface="Microsoft YaHei" pitchFamily="34" charset="0"/>
                <a:ea typeface="Microsoft YaHei" pitchFamily="34" charset="-122"/>
                <a:cs typeface="Microsoft YaHei" pitchFamily="34" charset="-120"/>
              </a:rPr>
              <a:t>负责做的事：1. 2. 3.</a:t>
            </a:r>
            <a:endParaRPr lang="en-US" sz="1200" dirty="0"/>
          </a:p>
          <a:p>
            <a:pPr indent="0" marL="0">
              <a:spcAft>
                <a:spcPts val="600"/>
              </a:spcAft>
              <a:buNone/>
            </a:pPr>
            <a:r>
              <a:rPr lang="en-US" sz="1200" dirty="0">
                <a:solidFill>
                  <a:srgbClr val="374151"/>
                </a:solidFill>
                <a:latin typeface="Microsoft YaHei" pitchFamily="34" charset="0"/>
                <a:ea typeface="Microsoft YaHei" pitchFamily="34" charset="-122"/>
                <a:cs typeface="Microsoft YaHei" pitchFamily="34" charset="-120"/>
              </a:rPr>
              <a:t>明确不做的事：1. 2.</a:t>
            </a:r>
            <a:endParaRPr lang="en-US" sz="1200" dirty="0"/>
          </a:p>
          <a:p>
            <a:pPr indent="0" marL="0">
              <a:spcAft>
                <a:spcPts val="600"/>
              </a:spcAft>
              <a:buNone/>
            </a:pPr>
            <a:r>
              <a:rPr lang="en-US" sz="1200" dirty="0">
                <a:solidFill>
                  <a:srgbClr val="374151"/>
                </a:solidFill>
                <a:latin typeface="Microsoft YaHei" pitchFamily="34" charset="0"/>
                <a:ea typeface="Microsoft YaHei" pitchFamily="34" charset="-122"/>
                <a:cs typeface="Microsoft YaHei" pitchFamily="34" charset="-120"/>
              </a:rPr>
              <a:t>需要人工介入的情形：1. 2. 3.</a:t>
            </a:r>
            <a:endParaRPr lang="en-US" sz="1200" dirty="0"/>
          </a:p>
        </p:txBody>
      </p:sp>
      <p:sp>
        <p:nvSpPr>
          <p:cNvPr id="8" name="Text 6"/>
          <p:cNvSpPr/>
          <p:nvPr/>
        </p:nvSpPr>
        <p:spPr>
          <a:xfrm>
            <a:off x="8503920" y="4663440"/>
            <a:ext cx="457200" cy="274320"/>
          </a:xfrm>
          <a:prstGeom prst="rect">
            <a:avLst/>
          </a:prstGeom>
          <a:noFill/>
          <a:ln/>
        </p:spPr>
        <p:txBody>
          <a:bodyPr wrap="square" rtlCol="0" anchor="ctr"/>
          <a:lstStyle/>
          <a:p>
            <a:pPr algn="ctr" indent="0" marL="0">
              <a:buNone/>
            </a:pPr>
            <a:r>
              <a:rPr lang="en-US" sz="1000" dirty="0">
                <a:solidFill>
                  <a:srgbClr val="374151"/>
                </a:solidFill>
                <a:latin typeface="Arial" pitchFamily="34" charset="0"/>
                <a:ea typeface="Arial" pitchFamily="34" charset="-122"/>
                <a:cs typeface="Arial" pitchFamily="34" charset="-120"/>
              </a:rPr>
              <a:t>132</a:t>
            </a:r>
            <a:endParaRPr lang="en-US" sz="100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274320"/>
            <a:ext cx="8229600" cy="457200"/>
          </a:xfrm>
          <a:prstGeom prst="rect">
            <a:avLst/>
          </a:prstGeom>
          <a:noFill/>
          <a:ln/>
        </p:spPr>
        <p:txBody>
          <a:bodyPr wrap="square" rtlCol="0" anchor="ctr"/>
          <a:lstStyle/>
          <a:p>
            <a:pPr indent="0" marL="0">
              <a:buNone/>
            </a:pPr>
            <a:r>
              <a:rPr lang="en-US" sz="1800" b="1" dirty="0">
                <a:solidFill>
                  <a:srgbClr val="B91C1C"/>
                </a:solidFill>
                <a:latin typeface="Microsoft YaHei" pitchFamily="34" charset="0"/>
                <a:ea typeface="Microsoft YaHei" pitchFamily="34" charset="-122"/>
                <a:cs typeface="Microsoft YaHei" pitchFamily="34" charset="-120"/>
              </a:rPr>
              <a:t>附录二续：业务规则表模板</a:t>
            </a:r>
            <a:endParaRPr lang="en-US" sz="1800" dirty="0"/>
          </a:p>
        </p:txBody>
      </p:sp>
      <p:sp>
        <p:nvSpPr>
          <p:cNvPr id="4" name="Shape 2"/>
          <p:cNvSpPr/>
          <p:nvPr/>
        </p:nvSpPr>
        <p:spPr>
          <a:xfrm>
            <a:off x="457200" y="822960"/>
            <a:ext cx="8229600" cy="914400"/>
          </a:xfrm>
          <a:prstGeom prst="roundRect">
            <a:avLst/>
          </a:prstGeom>
          <a:solidFill>
            <a:srgbClr val="B91C1C"/>
          </a:solidFill>
          <a:ln/>
        </p:spPr>
      </p:sp>
      <p:sp>
        <p:nvSpPr>
          <p:cNvPr id="5" name="Text 3"/>
          <p:cNvSpPr/>
          <p:nvPr/>
        </p:nvSpPr>
        <p:spPr>
          <a:xfrm>
            <a:off x="457200" y="822960"/>
            <a:ext cx="8229600" cy="457200"/>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业务规则表</a:t>
            </a:r>
            <a:endParaRPr lang="en-US" sz="1400" dirty="0"/>
          </a:p>
        </p:txBody>
      </p:sp>
      <p:sp>
        <p:nvSpPr>
          <p:cNvPr id="6" name="Shape 4"/>
          <p:cNvSpPr/>
          <p:nvPr/>
        </p:nvSpPr>
        <p:spPr>
          <a:xfrm>
            <a:off x="457200" y="1737360"/>
            <a:ext cx="8229600" cy="411480"/>
          </a:xfrm>
          <a:prstGeom prst="rect">
            <a:avLst/>
          </a:prstGeom>
          <a:solidFill>
            <a:srgbClr val="374151"/>
          </a:solidFill>
          <a:ln/>
        </p:spPr>
      </p:sp>
      <p:sp>
        <p:nvSpPr>
          <p:cNvPr id="7" name="Text 5"/>
          <p:cNvSpPr/>
          <p:nvPr/>
        </p:nvSpPr>
        <p:spPr>
          <a:xfrm>
            <a:off x="457200" y="1737360"/>
            <a:ext cx="1371600" cy="411480"/>
          </a:xfrm>
          <a:prstGeom prst="rect">
            <a:avLst/>
          </a:prstGeom>
          <a:noFill/>
          <a:ln/>
        </p:spPr>
        <p:txBody>
          <a:bodyPr wrap="square" rtlCol="0" anchor="ctr"/>
          <a:lstStyle/>
          <a:p>
            <a:pPr algn="ctr" indent="0" marL="0">
              <a:buNone/>
            </a:pPr>
            <a:r>
              <a:rPr lang="en-US" sz="1000" b="1" dirty="0">
                <a:solidFill>
                  <a:srgbClr val="FFFFFF"/>
                </a:solidFill>
                <a:latin typeface="Microsoft YaHei" pitchFamily="34" charset="0"/>
                <a:ea typeface="Microsoft YaHei" pitchFamily="34" charset="-122"/>
                <a:cs typeface="Microsoft YaHei" pitchFamily="34" charset="-120"/>
              </a:rPr>
              <a:t>规则编号</a:t>
            </a:r>
            <a:endParaRPr lang="en-US" sz="1000" dirty="0"/>
          </a:p>
        </p:txBody>
      </p:sp>
      <p:sp>
        <p:nvSpPr>
          <p:cNvPr id="8" name="Text 6"/>
          <p:cNvSpPr/>
          <p:nvPr/>
        </p:nvSpPr>
        <p:spPr>
          <a:xfrm>
            <a:off x="1828800" y="1737360"/>
            <a:ext cx="2560320" cy="411480"/>
          </a:xfrm>
          <a:prstGeom prst="rect">
            <a:avLst/>
          </a:prstGeom>
          <a:noFill/>
          <a:ln/>
        </p:spPr>
        <p:txBody>
          <a:bodyPr wrap="square" rtlCol="0" anchor="ctr"/>
          <a:lstStyle/>
          <a:p>
            <a:pPr algn="ctr" indent="0" marL="0">
              <a:buNone/>
            </a:pPr>
            <a:r>
              <a:rPr lang="en-US" sz="1000" b="1" dirty="0">
                <a:solidFill>
                  <a:srgbClr val="FFFFFF"/>
                </a:solidFill>
                <a:latin typeface="Microsoft YaHei" pitchFamily="34" charset="0"/>
                <a:ea typeface="Microsoft YaHei" pitchFamily="34" charset="-122"/>
                <a:cs typeface="Microsoft YaHei" pitchFamily="34" charset="-120"/>
              </a:rPr>
              <a:t>触发条件</a:t>
            </a:r>
            <a:endParaRPr lang="en-US" sz="1000" dirty="0"/>
          </a:p>
        </p:txBody>
      </p:sp>
      <p:sp>
        <p:nvSpPr>
          <p:cNvPr id="9" name="Text 7"/>
          <p:cNvSpPr/>
          <p:nvPr/>
        </p:nvSpPr>
        <p:spPr>
          <a:xfrm>
            <a:off x="4389120" y="1737360"/>
            <a:ext cx="2560320" cy="411480"/>
          </a:xfrm>
          <a:prstGeom prst="rect">
            <a:avLst/>
          </a:prstGeom>
          <a:noFill/>
          <a:ln/>
        </p:spPr>
        <p:txBody>
          <a:bodyPr wrap="square" rtlCol="0" anchor="ctr"/>
          <a:lstStyle/>
          <a:p>
            <a:pPr algn="ctr" indent="0" marL="0">
              <a:buNone/>
            </a:pPr>
            <a:r>
              <a:rPr lang="en-US" sz="1000" b="1" dirty="0">
                <a:solidFill>
                  <a:srgbClr val="FFFFFF"/>
                </a:solidFill>
                <a:latin typeface="Microsoft YaHei" pitchFamily="34" charset="0"/>
                <a:ea typeface="Microsoft YaHei" pitchFamily="34" charset="-122"/>
                <a:cs typeface="Microsoft YaHei" pitchFamily="34" charset="-120"/>
              </a:rPr>
              <a:t>执行动作</a:t>
            </a:r>
            <a:endParaRPr lang="en-US" sz="1000" dirty="0"/>
          </a:p>
        </p:txBody>
      </p:sp>
      <p:sp>
        <p:nvSpPr>
          <p:cNvPr id="10" name="Text 8"/>
          <p:cNvSpPr/>
          <p:nvPr/>
        </p:nvSpPr>
        <p:spPr>
          <a:xfrm>
            <a:off x="6949440" y="1737360"/>
            <a:ext cx="1737360" cy="411480"/>
          </a:xfrm>
          <a:prstGeom prst="rect">
            <a:avLst/>
          </a:prstGeom>
          <a:noFill/>
          <a:ln/>
        </p:spPr>
        <p:txBody>
          <a:bodyPr wrap="square" rtlCol="0" anchor="ctr"/>
          <a:lstStyle/>
          <a:p>
            <a:pPr algn="ctr" indent="0" marL="0">
              <a:buNone/>
            </a:pPr>
            <a:r>
              <a:rPr lang="en-US" sz="1000" b="1" dirty="0">
                <a:solidFill>
                  <a:srgbClr val="FFFFFF"/>
                </a:solidFill>
                <a:latin typeface="Microsoft YaHei" pitchFamily="34" charset="0"/>
                <a:ea typeface="Microsoft YaHei" pitchFamily="34" charset="-122"/>
                <a:cs typeface="Microsoft YaHei" pitchFamily="34" charset="-120"/>
              </a:rPr>
              <a:t>规则类型</a:t>
            </a:r>
            <a:endParaRPr lang="en-US" sz="1000" dirty="0"/>
          </a:p>
        </p:txBody>
      </p:sp>
      <p:sp>
        <p:nvSpPr>
          <p:cNvPr id="11" name="Shape 9"/>
          <p:cNvSpPr/>
          <p:nvPr/>
        </p:nvSpPr>
        <p:spPr>
          <a:xfrm>
            <a:off x="457200" y="2148840"/>
            <a:ext cx="8229600" cy="411480"/>
          </a:xfrm>
          <a:prstGeom prst="rect">
            <a:avLst/>
          </a:prstGeom>
          <a:solidFill>
            <a:srgbClr val="F3F4F6"/>
          </a:solidFill>
          <a:ln/>
        </p:spPr>
      </p:sp>
      <p:sp>
        <p:nvSpPr>
          <p:cNvPr id="12" name="Text 10"/>
          <p:cNvSpPr/>
          <p:nvPr/>
        </p:nvSpPr>
        <p:spPr>
          <a:xfrm>
            <a:off x="457200" y="2148840"/>
            <a:ext cx="1371600" cy="411480"/>
          </a:xfrm>
          <a:prstGeom prst="rect">
            <a:avLst/>
          </a:prstGeom>
          <a:noFill/>
          <a:ln/>
        </p:spPr>
        <p:txBody>
          <a:bodyPr wrap="square" rtlCol="0" anchor="ctr"/>
          <a:lstStyle/>
          <a:p>
            <a:pPr algn="ctr" indent="0" marL="0">
              <a:buNone/>
            </a:pPr>
            <a:r>
              <a:rPr lang="en-US" sz="1000" b="1" dirty="0">
                <a:solidFill>
                  <a:srgbClr val="EF4444"/>
                </a:solidFill>
                <a:latin typeface="Arial" pitchFamily="34" charset="0"/>
                <a:ea typeface="Arial" pitchFamily="34" charset="-122"/>
                <a:cs typeface="Arial" pitchFamily="34" charset="-120"/>
              </a:rPr>
              <a:t>R001</a:t>
            </a:r>
            <a:endParaRPr lang="en-US" sz="1000" dirty="0"/>
          </a:p>
        </p:txBody>
      </p:sp>
      <p:sp>
        <p:nvSpPr>
          <p:cNvPr id="13" name="Text 11"/>
          <p:cNvSpPr/>
          <p:nvPr/>
        </p:nvSpPr>
        <p:spPr>
          <a:xfrm>
            <a:off x="1828800" y="2148840"/>
            <a:ext cx="2560320" cy="411480"/>
          </a:xfrm>
          <a:prstGeom prst="rect">
            <a:avLst/>
          </a:prstGeom>
          <a:noFill/>
          <a:ln/>
        </p:spPr>
        <p:txBody>
          <a:bodyPr wrap="square" rtlCol="0" anchor="ctr"/>
          <a:lstStyle/>
          <a:p>
            <a:pPr algn="ctr" indent="0" marL="0">
              <a:buNone/>
            </a:pPr>
            <a:r>
              <a:rPr lang="en-US" sz="1000" dirty="0">
                <a:solidFill>
                  <a:srgbClr val="374151"/>
                </a:solidFill>
                <a:latin typeface="Microsoft YaHei" pitchFamily="34" charset="0"/>
                <a:ea typeface="Microsoft YaHei" pitchFamily="34" charset="-122"/>
                <a:cs typeface="Microsoft YaHei" pitchFamily="34" charset="-120"/>
              </a:rPr>
              <a:t>触发条件描述</a:t>
            </a:r>
            <a:endParaRPr lang="en-US" sz="1000" dirty="0"/>
          </a:p>
        </p:txBody>
      </p:sp>
      <p:sp>
        <p:nvSpPr>
          <p:cNvPr id="14" name="Text 12"/>
          <p:cNvSpPr/>
          <p:nvPr/>
        </p:nvSpPr>
        <p:spPr>
          <a:xfrm>
            <a:off x="4389120" y="2148840"/>
            <a:ext cx="2560320" cy="411480"/>
          </a:xfrm>
          <a:prstGeom prst="rect">
            <a:avLst/>
          </a:prstGeom>
          <a:noFill/>
          <a:ln/>
        </p:spPr>
        <p:txBody>
          <a:bodyPr wrap="square" rtlCol="0" anchor="ctr"/>
          <a:lstStyle/>
          <a:p>
            <a:pPr algn="ctr" indent="0" marL="0">
              <a:buNone/>
            </a:pPr>
            <a:r>
              <a:rPr lang="en-US" sz="1000" dirty="0">
                <a:solidFill>
                  <a:srgbClr val="374151"/>
                </a:solidFill>
                <a:latin typeface="Microsoft YaHei" pitchFamily="34" charset="0"/>
                <a:ea typeface="Microsoft YaHei" pitchFamily="34" charset="-122"/>
                <a:cs typeface="Microsoft YaHei" pitchFamily="34" charset="-120"/>
              </a:rPr>
              <a:t>执行动作描述</a:t>
            </a:r>
            <a:endParaRPr lang="en-US" sz="1000" dirty="0"/>
          </a:p>
        </p:txBody>
      </p:sp>
      <p:sp>
        <p:nvSpPr>
          <p:cNvPr id="15" name="Text 13"/>
          <p:cNvSpPr/>
          <p:nvPr/>
        </p:nvSpPr>
        <p:spPr>
          <a:xfrm>
            <a:off x="6949440" y="2148840"/>
            <a:ext cx="1737360" cy="411480"/>
          </a:xfrm>
          <a:prstGeom prst="rect">
            <a:avLst/>
          </a:prstGeom>
          <a:noFill/>
          <a:ln/>
        </p:spPr>
        <p:txBody>
          <a:bodyPr wrap="square" rtlCol="0" anchor="ctr"/>
          <a:lstStyle/>
          <a:p>
            <a:pPr algn="ctr" indent="0" marL="0">
              <a:buNone/>
            </a:pPr>
            <a:r>
              <a:rPr lang="en-US" sz="1000" dirty="0">
                <a:solidFill>
                  <a:srgbClr val="374151"/>
                </a:solidFill>
                <a:latin typeface="Microsoft YaHei" pitchFamily="34" charset="0"/>
                <a:ea typeface="Microsoft YaHei" pitchFamily="34" charset="-122"/>
                <a:cs typeface="Microsoft YaHei" pitchFamily="34" charset="-120"/>
              </a:rPr>
              <a:t>必须</a:t>
            </a:r>
            <a:endParaRPr lang="en-US" sz="1000" dirty="0"/>
          </a:p>
        </p:txBody>
      </p:sp>
      <p:sp>
        <p:nvSpPr>
          <p:cNvPr id="16" name="Shape 14"/>
          <p:cNvSpPr/>
          <p:nvPr/>
        </p:nvSpPr>
        <p:spPr>
          <a:xfrm>
            <a:off x="457200" y="2560320"/>
            <a:ext cx="8229600" cy="411480"/>
          </a:xfrm>
          <a:prstGeom prst="rect">
            <a:avLst/>
          </a:prstGeom>
          <a:solidFill>
            <a:srgbClr val="FFFFFF"/>
          </a:solidFill>
          <a:ln/>
        </p:spPr>
      </p:sp>
      <p:sp>
        <p:nvSpPr>
          <p:cNvPr id="17" name="Text 15"/>
          <p:cNvSpPr/>
          <p:nvPr/>
        </p:nvSpPr>
        <p:spPr>
          <a:xfrm>
            <a:off x="457200" y="2560320"/>
            <a:ext cx="1371600" cy="411480"/>
          </a:xfrm>
          <a:prstGeom prst="rect">
            <a:avLst/>
          </a:prstGeom>
          <a:noFill/>
          <a:ln/>
        </p:spPr>
        <p:txBody>
          <a:bodyPr wrap="square" rtlCol="0" anchor="ctr"/>
          <a:lstStyle/>
          <a:p>
            <a:pPr algn="ctr" indent="0" marL="0">
              <a:buNone/>
            </a:pPr>
            <a:r>
              <a:rPr lang="en-US" sz="1000" b="1" dirty="0">
                <a:solidFill>
                  <a:srgbClr val="EF4444"/>
                </a:solidFill>
                <a:latin typeface="Arial" pitchFamily="34" charset="0"/>
                <a:ea typeface="Arial" pitchFamily="34" charset="-122"/>
                <a:cs typeface="Arial" pitchFamily="34" charset="-120"/>
              </a:rPr>
              <a:t>R002</a:t>
            </a:r>
            <a:endParaRPr lang="en-US" sz="1000" dirty="0"/>
          </a:p>
        </p:txBody>
      </p:sp>
      <p:sp>
        <p:nvSpPr>
          <p:cNvPr id="18" name="Text 16"/>
          <p:cNvSpPr/>
          <p:nvPr/>
        </p:nvSpPr>
        <p:spPr>
          <a:xfrm>
            <a:off x="1828800" y="2560320"/>
            <a:ext cx="2560320" cy="411480"/>
          </a:xfrm>
          <a:prstGeom prst="rect">
            <a:avLst/>
          </a:prstGeom>
          <a:noFill/>
          <a:ln/>
        </p:spPr>
        <p:txBody>
          <a:bodyPr wrap="square" rtlCol="0" anchor="ctr"/>
          <a:lstStyle/>
          <a:p>
            <a:pPr algn="ctr" indent="0" marL="0">
              <a:buNone/>
            </a:pPr>
            <a:r>
              <a:rPr lang="en-US" sz="1000" dirty="0">
                <a:solidFill>
                  <a:srgbClr val="374151"/>
                </a:solidFill>
                <a:latin typeface="Microsoft YaHei" pitchFamily="34" charset="0"/>
                <a:ea typeface="Microsoft YaHei" pitchFamily="34" charset="-122"/>
                <a:cs typeface="Microsoft YaHei" pitchFamily="34" charset="-120"/>
              </a:rPr>
              <a:t>...</a:t>
            </a:r>
            <a:endParaRPr lang="en-US" sz="1000" dirty="0"/>
          </a:p>
        </p:txBody>
      </p:sp>
      <p:sp>
        <p:nvSpPr>
          <p:cNvPr id="19" name="Text 17"/>
          <p:cNvSpPr/>
          <p:nvPr/>
        </p:nvSpPr>
        <p:spPr>
          <a:xfrm>
            <a:off x="4389120" y="2560320"/>
            <a:ext cx="2560320" cy="411480"/>
          </a:xfrm>
          <a:prstGeom prst="rect">
            <a:avLst/>
          </a:prstGeom>
          <a:noFill/>
          <a:ln/>
        </p:spPr>
        <p:txBody>
          <a:bodyPr wrap="square" rtlCol="0" anchor="ctr"/>
          <a:lstStyle/>
          <a:p>
            <a:pPr algn="ctr" indent="0" marL="0">
              <a:buNone/>
            </a:pPr>
            <a:r>
              <a:rPr lang="en-US" sz="1000" dirty="0">
                <a:solidFill>
                  <a:srgbClr val="374151"/>
                </a:solidFill>
                <a:latin typeface="Microsoft YaHei" pitchFamily="34" charset="0"/>
                <a:ea typeface="Microsoft YaHei" pitchFamily="34" charset="-122"/>
                <a:cs typeface="Microsoft YaHei" pitchFamily="34" charset="-120"/>
              </a:rPr>
              <a:t>...</a:t>
            </a:r>
            <a:endParaRPr lang="en-US" sz="1000" dirty="0"/>
          </a:p>
        </p:txBody>
      </p:sp>
      <p:sp>
        <p:nvSpPr>
          <p:cNvPr id="20" name="Text 18"/>
          <p:cNvSpPr/>
          <p:nvPr/>
        </p:nvSpPr>
        <p:spPr>
          <a:xfrm>
            <a:off x="6949440" y="2560320"/>
            <a:ext cx="1737360" cy="411480"/>
          </a:xfrm>
          <a:prstGeom prst="rect">
            <a:avLst/>
          </a:prstGeom>
          <a:noFill/>
          <a:ln/>
        </p:spPr>
        <p:txBody>
          <a:bodyPr wrap="square" rtlCol="0" anchor="ctr"/>
          <a:lstStyle/>
          <a:p>
            <a:pPr algn="ctr" indent="0" marL="0">
              <a:buNone/>
            </a:pPr>
            <a:r>
              <a:rPr lang="en-US" sz="1000" dirty="0">
                <a:solidFill>
                  <a:srgbClr val="374151"/>
                </a:solidFill>
                <a:latin typeface="Microsoft YaHei" pitchFamily="34" charset="0"/>
                <a:ea typeface="Microsoft YaHei" pitchFamily="34" charset="-122"/>
                <a:cs typeface="Microsoft YaHei" pitchFamily="34" charset="-120"/>
              </a:rPr>
              <a:t>常规</a:t>
            </a:r>
            <a:endParaRPr lang="en-US" sz="1000" dirty="0"/>
          </a:p>
        </p:txBody>
      </p:sp>
      <p:sp>
        <p:nvSpPr>
          <p:cNvPr id="21" name="Shape 19"/>
          <p:cNvSpPr/>
          <p:nvPr/>
        </p:nvSpPr>
        <p:spPr>
          <a:xfrm>
            <a:off x="457200" y="2743200"/>
            <a:ext cx="8229600" cy="822960"/>
          </a:xfrm>
          <a:prstGeom prst="roundRect">
            <a:avLst>
              <a:gd name="adj" fmla="val 11111"/>
            </a:avLst>
          </a:prstGeom>
          <a:solidFill>
            <a:srgbClr val="F3F4F6"/>
          </a:solidFill>
          <a:ln/>
        </p:spPr>
      </p:sp>
      <p:sp>
        <p:nvSpPr>
          <p:cNvPr id="22" name="Text 20"/>
          <p:cNvSpPr/>
          <p:nvPr/>
        </p:nvSpPr>
        <p:spPr>
          <a:xfrm>
            <a:off x="640080" y="2834640"/>
            <a:ext cx="1371600" cy="320040"/>
          </a:xfrm>
          <a:prstGeom prst="rect">
            <a:avLst/>
          </a:prstGeom>
          <a:noFill/>
          <a:ln/>
        </p:spPr>
        <p:txBody>
          <a:bodyPr wrap="square" rtlCol="0" anchor="ctr"/>
          <a:lstStyle/>
          <a:p>
            <a:pPr indent="0" marL="0">
              <a:buNone/>
            </a:pPr>
            <a:r>
              <a:rPr lang="en-US" sz="1100" b="1" dirty="0">
                <a:solidFill>
                  <a:srgbClr val="EF4444"/>
                </a:solidFill>
                <a:latin typeface="Microsoft YaHei" pitchFamily="34" charset="0"/>
                <a:ea typeface="Microsoft YaHei" pitchFamily="34" charset="-122"/>
                <a:cs typeface="Microsoft YaHei" pitchFamily="34" charset="-120"/>
              </a:rPr>
              <a:t>兜底规则</a:t>
            </a:r>
            <a:endParaRPr lang="en-US" sz="1100" dirty="0"/>
          </a:p>
        </p:txBody>
      </p:sp>
      <p:sp>
        <p:nvSpPr>
          <p:cNvPr id="23" name="Text 21"/>
          <p:cNvSpPr/>
          <p:nvPr/>
        </p:nvSpPr>
        <p:spPr>
          <a:xfrm>
            <a:off x="2011680" y="2834640"/>
            <a:ext cx="6492240" cy="320040"/>
          </a:xfrm>
          <a:prstGeom prst="rect">
            <a:avLst/>
          </a:prstGeom>
          <a:noFill/>
          <a:ln/>
        </p:spPr>
        <p:txBody>
          <a:bodyPr wrap="square" rtlCol="0" anchor="ctr"/>
          <a:lstStyle/>
          <a:p>
            <a:pPr indent="0" marL="0">
              <a:buNone/>
            </a:pPr>
            <a:r>
              <a:rPr lang="en-US" sz="1100" dirty="0">
                <a:solidFill>
                  <a:srgbClr val="374151"/>
                </a:solidFill>
                <a:latin typeface="Microsoft YaHei" pitchFamily="34" charset="0"/>
                <a:ea typeface="Microsoft YaHei" pitchFamily="34" charset="-122"/>
                <a:cs typeface="Microsoft YaHei" pitchFamily="34" charset="-120"/>
              </a:rPr>
              <a:t>遇到未覆盖情形：输出⚠️需要人工审核</a:t>
            </a:r>
            <a:endParaRPr lang="en-US" sz="1100" dirty="0"/>
          </a:p>
        </p:txBody>
      </p:sp>
      <p:sp>
        <p:nvSpPr>
          <p:cNvPr id="24" name="Text 22"/>
          <p:cNvSpPr/>
          <p:nvPr/>
        </p:nvSpPr>
        <p:spPr>
          <a:xfrm>
            <a:off x="2011680" y="3200400"/>
            <a:ext cx="6492240" cy="274320"/>
          </a:xfrm>
          <a:prstGeom prst="rect">
            <a:avLst/>
          </a:prstGeom>
          <a:noFill/>
          <a:ln/>
        </p:spPr>
        <p:txBody>
          <a:bodyPr wrap="square" rtlCol="0" anchor="ctr"/>
          <a:lstStyle/>
          <a:p>
            <a:pPr indent="0" marL="0">
              <a:buNone/>
            </a:pPr>
            <a:r>
              <a:rPr lang="en-US" sz="1000" dirty="0">
                <a:solidFill>
                  <a:srgbClr val="374151"/>
                </a:solidFill>
                <a:latin typeface="Microsoft YaHei" pitchFamily="34" charset="0"/>
                <a:ea typeface="Microsoft YaHei" pitchFamily="34" charset="-122"/>
                <a:cs typeface="Microsoft YaHei" pitchFamily="34" charset="-120"/>
              </a:rPr>
              <a:t>规则类型：☐必须 ☐禁止 ☐常规</a:t>
            </a:r>
            <a:endParaRPr lang="en-US" sz="1000" dirty="0"/>
          </a:p>
        </p:txBody>
      </p:sp>
      <p:sp>
        <p:nvSpPr>
          <p:cNvPr id="25" name="Text 23"/>
          <p:cNvSpPr/>
          <p:nvPr/>
        </p:nvSpPr>
        <p:spPr>
          <a:xfrm>
            <a:off x="8503920" y="4663440"/>
            <a:ext cx="457200" cy="274320"/>
          </a:xfrm>
          <a:prstGeom prst="rect">
            <a:avLst/>
          </a:prstGeom>
          <a:noFill/>
          <a:ln/>
        </p:spPr>
        <p:txBody>
          <a:bodyPr wrap="square" rtlCol="0" anchor="ctr"/>
          <a:lstStyle/>
          <a:p>
            <a:pPr algn="ctr" indent="0" marL="0">
              <a:buNone/>
            </a:pPr>
            <a:r>
              <a:rPr lang="en-US" sz="1000" dirty="0">
                <a:solidFill>
                  <a:srgbClr val="374151"/>
                </a:solidFill>
                <a:latin typeface="Arial" pitchFamily="34" charset="0"/>
                <a:ea typeface="Arial" pitchFamily="34" charset="-122"/>
                <a:cs typeface="Arial" pitchFamily="34" charset="-120"/>
              </a:rPr>
              <a:t>133</a:t>
            </a:r>
            <a:endParaRPr lang="en-US" sz="100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274320"/>
            <a:ext cx="8229600" cy="457200"/>
          </a:xfrm>
          <a:prstGeom prst="rect">
            <a:avLst/>
          </a:prstGeom>
          <a:noFill/>
          <a:ln/>
        </p:spPr>
        <p:txBody>
          <a:bodyPr wrap="square" rtlCol="0" anchor="ctr"/>
          <a:lstStyle/>
          <a:p>
            <a:pPr indent="0" marL="0">
              <a:buNone/>
            </a:pPr>
            <a:r>
              <a:rPr lang="en-US" sz="1800" b="1" dirty="0">
                <a:solidFill>
                  <a:srgbClr val="B91C1C"/>
                </a:solidFill>
                <a:latin typeface="Microsoft YaHei" pitchFamily="34" charset="0"/>
                <a:ea typeface="Microsoft YaHei" pitchFamily="34" charset="-122"/>
                <a:cs typeface="Microsoft YaHei" pitchFamily="34" charset="-120"/>
              </a:rPr>
              <a:t>附录二续：Skill搭建结构模板</a:t>
            </a:r>
            <a:endParaRPr lang="en-US" sz="1800" dirty="0"/>
          </a:p>
        </p:txBody>
      </p:sp>
      <p:sp>
        <p:nvSpPr>
          <p:cNvPr id="4" name="Shape 2"/>
          <p:cNvSpPr/>
          <p:nvPr/>
        </p:nvSpPr>
        <p:spPr>
          <a:xfrm>
            <a:off x="457200" y="822960"/>
            <a:ext cx="8229600" cy="731520"/>
          </a:xfrm>
          <a:prstGeom prst="roundRect">
            <a:avLst>
              <a:gd name="adj" fmla="val 10000"/>
            </a:avLst>
          </a:prstGeom>
          <a:solidFill>
            <a:srgbClr val="F3F4F6"/>
          </a:solidFill>
          <a:ln/>
        </p:spPr>
      </p:sp>
      <p:sp>
        <p:nvSpPr>
          <p:cNvPr id="5" name="Shape 3"/>
          <p:cNvSpPr/>
          <p:nvPr/>
        </p:nvSpPr>
        <p:spPr>
          <a:xfrm>
            <a:off x="457200" y="822960"/>
            <a:ext cx="73152" cy="731520"/>
          </a:xfrm>
          <a:prstGeom prst="rect">
            <a:avLst/>
          </a:prstGeom>
          <a:solidFill>
            <a:srgbClr val="EF4444"/>
          </a:solidFill>
          <a:ln/>
        </p:spPr>
      </p:sp>
      <p:sp>
        <p:nvSpPr>
          <p:cNvPr id="6" name="Text 4"/>
          <p:cNvSpPr/>
          <p:nvPr/>
        </p:nvSpPr>
        <p:spPr>
          <a:xfrm>
            <a:off x="640080" y="896112"/>
            <a:ext cx="7863840" cy="274320"/>
          </a:xfrm>
          <a:prstGeom prst="rect">
            <a:avLst/>
          </a:prstGeom>
          <a:noFill/>
          <a:ln/>
        </p:spPr>
        <p:txBody>
          <a:bodyPr wrap="square" rtlCol="0" anchor="ctr"/>
          <a:lstStyle/>
          <a:p>
            <a:pPr indent="0" marL="0">
              <a:buNone/>
            </a:pPr>
            <a:r>
              <a:rPr lang="en-US" sz="1100" b="1" dirty="0">
                <a:solidFill>
                  <a:srgbClr val="EF4444"/>
                </a:solidFill>
                <a:latin typeface="Microsoft YaHei" pitchFamily="34" charset="0"/>
                <a:ea typeface="Microsoft YaHei" pitchFamily="34" charset="-122"/>
                <a:cs typeface="Microsoft YaHei" pitchFamily="34" charset="-120"/>
              </a:rPr>
              <a:t>【角色人格设定】</a:t>
            </a:r>
            <a:endParaRPr lang="en-US" sz="1100" dirty="0"/>
          </a:p>
        </p:txBody>
      </p:sp>
      <p:sp>
        <p:nvSpPr>
          <p:cNvPr id="7" name="Text 5"/>
          <p:cNvSpPr/>
          <p:nvPr/>
        </p:nvSpPr>
        <p:spPr>
          <a:xfrm>
            <a:off x="640080" y="1170432"/>
            <a:ext cx="7863840" cy="320040"/>
          </a:xfrm>
          <a:prstGeom prst="rect">
            <a:avLst/>
          </a:prstGeom>
          <a:noFill/>
          <a:ln/>
        </p:spPr>
        <p:txBody>
          <a:bodyPr wrap="square" rtlCol="0" anchor="ctr"/>
          <a:lstStyle/>
          <a:p>
            <a:pPr indent="0" marL="0">
              <a:buNone/>
            </a:pPr>
            <a:r>
              <a:rPr lang="en-US" sz="1000" dirty="0">
                <a:solidFill>
                  <a:srgbClr val="374151"/>
                </a:solidFill>
                <a:latin typeface="Microsoft YaHei" pitchFamily="34" charset="0"/>
                <a:ea typeface="Microsoft YaHei" pitchFamily="34" charset="-122"/>
                <a:cs typeface="Microsoft YaHei" pitchFamily="34" charset="-120"/>
              </a:rPr>
              <a:t>你是[公司/团队]的[角色名称]，专门负责[具体职责描述]...</a:t>
            </a:r>
            <a:endParaRPr lang="en-US" sz="1000" dirty="0"/>
          </a:p>
        </p:txBody>
      </p:sp>
      <p:sp>
        <p:nvSpPr>
          <p:cNvPr id="8" name="Shape 6"/>
          <p:cNvSpPr/>
          <p:nvPr/>
        </p:nvSpPr>
        <p:spPr>
          <a:xfrm>
            <a:off x="457200" y="1645920"/>
            <a:ext cx="8229600" cy="731520"/>
          </a:xfrm>
          <a:prstGeom prst="roundRect">
            <a:avLst>
              <a:gd name="adj" fmla="val 10000"/>
            </a:avLst>
          </a:prstGeom>
          <a:solidFill>
            <a:srgbClr val="F3F4F6"/>
          </a:solidFill>
          <a:ln/>
        </p:spPr>
      </p:sp>
      <p:sp>
        <p:nvSpPr>
          <p:cNvPr id="9" name="Shape 7"/>
          <p:cNvSpPr/>
          <p:nvPr/>
        </p:nvSpPr>
        <p:spPr>
          <a:xfrm>
            <a:off x="457200" y="1645920"/>
            <a:ext cx="73152" cy="731520"/>
          </a:xfrm>
          <a:prstGeom prst="rect">
            <a:avLst/>
          </a:prstGeom>
          <a:solidFill>
            <a:srgbClr val="EF4444"/>
          </a:solidFill>
          <a:ln/>
        </p:spPr>
      </p:sp>
      <p:sp>
        <p:nvSpPr>
          <p:cNvPr id="10" name="Text 8"/>
          <p:cNvSpPr/>
          <p:nvPr/>
        </p:nvSpPr>
        <p:spPr>
          <a:xfrm>
            <a:off x="640080" y="1719072"/>
            <a:ext cx="7863840" cy="274320"/>
          </a:xfrm>
          <a:prstGeom prst="rect">
            <a:avLst/>
          </a:prstGeom>
          <a:noFill/>
          <a:ln/>
        </p:spPr>
        <p:txBody>
          <a:bodyPr wrap="square" rtlCol="0" anchor="ctr"/>
          <a:lstStyle/>
          <a:p>
            <a:pPr indent="0" marL="0">
              <a:buNone/>
            </a:pPr>
            <a:r>
              <a:rPr lang="en-US" sz="1100" b="1" dirty="0">
                <a:solidFill>
                  <a:srgbClr val="EF4444"/>
                </a:solidFill>
                <a:latin typeface="Microsoft YaHei" pitchFamily="34" charset="0"/>
                <a:ea typeface="Microsoft YaHei" pitchFamily="34" charset="-122"/>
                <a:cs typeface="Microsoft YaHei" pitchFamily="34" charset="-120"/>
              </a:rPr>
              <a:t>【工作方式设定】</a:t>
            </a:r>
            <a:endParaRPr lang="en-US" sz="1100" dirty="0"/>
          </a:p>
        </p:txBody>
      </p:sp>
      <p:sp>
        <p:nvSpPr>
          <p:cNvPr id="11" name="Text 9"/>
          <p:cNvSpPr/>
          <p:nvPr/>
        </p:nvSpPr>
        <p:spPr>
          <a:xfrm>
            <a:off x="640080" y="1993392"/>
            <a:ext cx="7863840" cy="320040"/>
          </a:xfrm>
          <a:prstGeom prst="rect">
            <a:avLst/>
          </a:prstGeom>
          <a:noFill/>
          <a:ln/>
        </p:spPr>
        <p:txBody>
          <a:bodyPr wrap="square" rtlCol="0" anchor="ctr"/>
          <a:lstStyle/>
          <a:p>
            <a:pPr indent="0" marL="0">
              <a:buNone/>
            </a:pPr>
            <a:r>
              <a:rPr lang="en-US" sz="1000" dirty="0">
                <a:solidFill>
                  <a:srgbClr val="374151"/>
                </a:solidFill>
                <a:latin typeface="Microsoft YaHei" pitchFamily="34" charset="0"/>
                <a:ea typeface="Microsoft YaHei" pitchFamily="34" charset="-122"/>
                <a:cs typeface="Microsoft YaHei" pitchFamily="34" charset="-120"/>
              </a:rPr>
              <a:t>每次接到[输入内容描述]，按以下流程处理：①...②...③...</a:t>
            </a:r>
            <a:endParaRPr lang="en-US" sz="1000" dirty="0"/>
          </a:p>
        </p:txBody>
      </p:sp>
      <p:sp>
        <p:nvSpPr>
          <p:cNvPr id="12" name="Shape 10"/>
          <p:cNvSpPr/>
          <p:nvPr/>
        </p:nvSpPr>
        <p:spPr>
          <a:xfrm>
            <a:off x="457200" y="2468880"/>
            <a:ext cx="8229600" cy="731520"/>
          </a:xfrm>
          <a:prstGeom prst="roundRect">
            <a:avLst>
              <a:gd name="adj" fmla="val 10000"/>
            </a:avLst>
          </a:prstGeom>
          <a:solidFill>
            <a:srgbClr val="F3F4F6"/>
          </a:solidFill>
          <a:ln/>
        </p:spPr>
      </p:sp>
      <p:sp>
        <p:nvSpPr>
          <p:cNvPr id="13" name="Shape 11"/>
          <p:cNvSpPr/>
          <p:nvPr/>
        </p:nvSpPr>
        <p:spPr>
          <a:xfrm>
            <a:off x="457200" y="2468880"/>
            <a:ext cx="73152" cy="731520"/>
          </a:xfrm>
          <a:prstGeom prst="rect">
            <a:avLst/>
          </a:prstGeom>
          <a:solidFill>
            <a:srgbClr val="EF4444"/>
          </a:solidFill>
          <a:ln/>
        </p:spPr>
      </p:sp>
      <p:sp>
        <p:nvSpPr>
          <p:cNvPr id="14" name="Text 12"/>
          <p:cNvSpPr/>
          <p:nvPr/>
        </p:nvSpPr>
        <p:spPr>
          <a:xfrm>
            <a:off x="640080" y="2542032"/>
            <a:ext cx="7863840" cy="274320"/>
          </a:xfrm>
          <a:prstGeom prst="rect">
            <a:avLst/>
          </a:prstGeom>
          <a:noFill/>
          <a:ln/>
        </p:spPr>
        <p:txBody>
          <a:bodyPr wrap="square" rtlCol="0" anchor="ctr"/>
          <a:lstStyle/>
          <a:p>
            <a:pPr indent="0" marL="0">
              <a:buNone/>
            </a:pPr>
            <a:r>
              <a:rPr lang="en-US" sz="1100" b="1" dirty="0">
                <a:solidFill>
                  <a:srgbClr val="EF4444"/>
                </a:solidFill>
                <a:latin typeface="Microsoft YaHei" pitchFamily="34" charset="0"/>
                <a:ea typeface="Microsoft YaHei" pitchFamily="34" charset="-122"/>
                <a:cs typeface="Microsoft YaHei" pitchFamily="34" charset="-120"/>
              </a:rPr>
              <a:t>【规则指令】</a:t>
            </a:r>
            <a:endParaRPr lang="en-US" sz="1100" dirty="0"/>
          </a:p>
        </p:txBody>
      </p:sp>
      <p:sp>
        <p:nvSpPr>
          <p:cNvPr id="15" name="Text 13"/>
          <p:cNvSpPr/>
          <p:nvPr/>
        </p:nvSpPr>
        <p:spPr>
          <a:xfrm>
            <a:off x="640080" y="2816352"/>
            <a:ext cx="7863840" cy="320040"/>
          </a:xfrm>
          <a:prstGeom prst="rect">
            <a:avLst/>
          </a:prstGeom>
          <a:noFill/>
          <a:ln/>
        </p:spPr>
        <p:txBody>
          <a:bodyPr wrap="square" rtlCol="0" anchor="ctr"/>
          <a:lstStyle/>
          <a:p>
            <a:pPr indent="0" marL="0">
              <a:buNone/>
            </a:pPr>
            <a:r>
              <a:rPr lang="en-US" sz="1000" dirty="0">
                <a:solidFill>
                  <a:srgbClr val="374151"/>
                </a:solidFill>
                <a:latin typeface="Microsoft YaHei" pitchFamily="34" charset="0"/>
                <a:ea typeface="Microsoft YaHei" pitchFamily="34" charset="-122"/>
                <a:cs typeface="Microsoft YaHei" pitchFamily="34" charset="-120"/>
              </a:rPr>
              <a:t>[规则名称一] 当[触发条件]时，执行[具体行动]...</a:t>
            </a:r>
            <a:endParaRPr lang="en-US" sz="1000" dirty="0"/>
          </a:p>
        </p:txBody>
      </p:sp>
      <p:sp>
        <p:nvSpPr>
          <p:cNvPr id="16" name="Shape 14"/>
          <p:cNvSpPr/>
          <p:nvPr/>
        </p:nvSpPr>
        <p:spPr>
          <a:xfrm>
            <a:off x="457200" y="3291840"/>
            <a:ext cx="8229600" cy="731520"/>
          </a:xfrm>
          <a:prstGeom prst="roundRect">
            <a:avLst>
              <a:gd name="adj" fmla="val 10000"/>
            </a:avLst>
          </a:prstGeom>
          <a:solidFill>
            <a:srgbClr val="F3F4F6"/>
          </a:solidFill>
          <a:ln/>
        </p:spPr>
      </p:sp>
      <p:sp>
        <p:nvSpPr>
          <p:cNvPr id="17" name="Shape 15"/>
          <p:cNvSpPr/>
          <p:nvPr/>
        </p:nvSpPr>
        <p:spPr>
          <a:xfrm>
            <a:off x="457200" y="3291840"/>
            <a:ext cx="73152" cy="731520"/>
          </a:xfrm>
          <a:prstGeom prst="rect">
            <a:avLst/>
          </a:prstGeom>
          <a:solidFill>
            <a:srgbClr val="EF4444"/>
          </a:solidFill>
          <a:ln/>
        </p:spPr>
      </p:sp>
      <p:sp>
        <p:nvSpPr>
          <p:cNvPr id="18" name="Text 16"/>
          <p:cNvSpPr/>
          <p:nvPr/>
        </p:nvSpPr>
        <p:spPr>
          <a:xfrm>
            <a:off x="640080" y="3364992"/>
            <a:ext cx="7863840" cy="274320"/>
          </a:xfrm>
          <a:prstGeom prst="rect">
            <a:avLst/>
          </a:prstGeom>
          <a:noFill/>
          <a:ln/>
        </p:spPr>
        <p:txBody>
          <a:bodyPr wrap="square" rtlCol="0" anchor="ctr"/>
          <a:lstStyle/>
          <a:p>
            <a:pPr indent="0" marL="0">
              <a:buNone/>
            </a:pPr>
            <a:r>
              <a:rPr lang="en-US" sz="1100" b="1" dirty="0">
                <a:solidFill>
                  <a:srgbClr val="EF4444"/>
                </a:solidFill>
                <a:latin typeface="Microsoft YaHei" pitchFamily="34" charset="0"/>
                <a:ea typeface="Microsoft YaHei" pitchFamily="34" charset="-122"/>
                <a:cs typeface="Microsoft YaHei" pitchFamily="34" charset="-120"/>
              </a:rPr>
              <a:t>【输出格式模板】</a:t>
            </a:r>
            <a:endParaRPr lang="en-US" sz="1100" dirty="0"/>
          </a:p>
        </p:txBody>
      </p:sp>
      <p:sp>
        <p:nvSpPr>
          <p:cNvPr id="19" name="Text 17"/>
          <p:cNvSpPr/>
          <p:nvPr/>
        </p:nvSpPr>
        <p:spPr>
          <a:xfrm>
            <a:off x="640080" y="3639312"/>
            <a:ext cx="7863840" cy="320040"/>
          </a:xfrm>
          <a:prstGeom prst="rect">
            <a:avLst/>
          </a:prstGeom>
          <a:noFill/>
          <a:ln/>
        </p:spPr>
        <p:txBody>
          <a:bodyPr wrap="square" rtlCol="0" anchor="ctr"/>
          <a:lstStyle/>
          <a:p>
            <a:pPr indent="0" marL="0">
              <a:buNone/>
            </a:pPr>
            <a:r>
              <a:rPr lang="en-US" sz="1000" dirty="0">
                <a:solidFill>
                  <a:srgbClr val="374151"/>
                </a:solidFill>
                <a:latin typeface="Microsoft YaHei" pitchFamily="34" charset="0"/>
                <a:ea typeface="Microsoft YaHei" pitchFamily="34" charset="-122"/>
                <a:cs typeface="Microsoft YaHei" pitchFamily="34" charset="-120"/>
              </a:rPr>
              <a:t>以下输出格式是硬性要求，每次输出必须包含...</a:t>
            </a:r>
            <a:endParaRPr lang="en-US" sz="1000" dirty="0"/>
          </a:p>
        </p:txBody>
      </p:sp>
      <p:sp>
        <p:nvSpPr>
          <p:cNvPr id="20" name="Shape 18"/>
          <p:cNvSpPr/>
          <p:nvPr/>
        </p:nvSpPr>
        <p:spPr>
          <a:xfrm>
            <a:off x="457200" y="4114800"/>
            <a:ext cx="8229600" cy="731520"/>
          </a:xfrm>
          <a:prstGeom prst="roundRect">
            <a:avLst>
              <a:gd name="adj" fmla="val 10000"/>
            </a:avLst>
          </a:prstGeom>
          <a:solidFill>
            <a:srgbClr val="F3F4F6"/>
          </a:solidFill>
          <a:ln/>
        </p:spPr>
      </p:sp>
      <p:sp>
        <p:nvSpPr>
          <p:cNvPr id="21" name="Shape 19"/>
          <p:cNvSpPr/>
          <p:nvPr/>
        </p:nvSpPr>
        <p:spPr>
          <a:xfrm>
            <a:off x="457200" y="4114800"/>
            <a:ext cx="73152" cy="731520"/>
          </a:xfrm>
          <a:prstGeom prst="rect">
            <a:avLst/>
          </a:prstGeom>
          <a:solidFill>
            <a:srgbClr val="EF4444"/>
          </a:solidFill>
          <a:ln/>
        </p:spPr>
      </p:sp>
      <p:sp>
        <p:nvSpPr>
          <p:cNvPr id="22" name="Text 20"/>
          <p:cNvSpPr/>
          <p:nvPr/>
        </p:nvSpPr>
        <p:spPr>
          <a:xfrm>
            <a:off x="640080" y="4187952"/>
            <a:ext cx="7863840" cy="274320"/>
          </a:xfrm>
          <a:prstGeom prst="rect">
            <a:avLst/>
          </a:prstGeom>
          <a:noFill/>
          <a:ln/>
        </p:spPr>
        <p:txBody>
          <a:bodyPr wrap="square" rtlCol="0" anchor="ctr"/>
          <a:lstStyle/>
          <a:p>
            <a:pPr indent="0" marL="0">
              <a:buNone/>
            </a:pPr>
            <a:r>
              <a:rPr lang="en-US" sz="1100" b="1" dirty="0">
                <a:solidFill>
                  <a:srgbClr val="EF4444"/>
                </a:solidFill>
                <a:latin typeface="Microsoft YaHei" pitchFamily="34" charset="0"/>
                <a:ea typeface="Microsoft YaHei" pitchFamily="34" charset="-122"/>
                <a:cs typeface="Microsoft YaHei" pitchFamily="34" charset="-120"/>
              </a:rPr>
              <a:t>【兜底设定】</a:t>
            </a:r>
            <a:endParaRPr lang="en-US" sz="1100" dirty="0"/>
          </a:p>
        </p:txBody>
      </p:sp>
      <p:sp>
        <p:nvSpPr>
          <p:cNvPr id="23" name="Text 21"/>
          <p:cNvSpPr/>
          <p:nvPr/>
        </p:nvSpPr>
        <p:spPr>
          <a:xfrm>
            <a:off x="640080" y="4462272"/>
            <a:ext cx="7863840" cy="320040"/>
          </a:xfrm>
          <a:prstGeom prst="rect">
            <a:avLst/>
          </a:prstGeom>
          <a:noFill/>
          <a:ln/>
        </p:spPr>
        <p:txBody>
          <a:bodyPr wrap="square" rtlCol="0" anchor="ctr"/>
          <a:lstStyle/>
          <a:p>
            <a:pPr indent="0" marL="0">
              <a:buNone/>
            </a:pPr>
            <a:r>
              <a:rPr lang="en-US" sz="1000" dirty="0">
                <a:solidFill>
                  <a:srgbClr val="374151"/>
                </a:solidFill>
                <a:latin typeface="Microsoft YaHei" pitchFamily="34" charset="0"/>
                <a:ea typeface="Microsoft YaHei" pitchFamily="34" charset="-122"/>
                <a:cs typeface="Microsoft YaHei" pitchFamily="34" charset="-120"/>
              </a:rPr>
              <a:t>遇到规则无法覆盖的情形，必须强制输出⚠️...</a:t>
            </a:r>
            <a:endParaRPr lang="en-US" sz="1000" dirty="0"/>
          </a:p>
        </p:txBody>
      </p:sp>
      <p:sp>
        <p:nvSpPr>
          <p:cNvPr id="24" name="Text 22"/>
          <p:cNvSpPr/>
          <p:nvPr/>
        </p:nvSpPr>
        <p:spPr>
          <a:xfrm>
            <a:off x="8503920" y="4663440"/>
            <a:ext cx="457200" cy="274320"/>
          </a:xfrm>
          <a:prstGeom prst="rect">
            <a:avLst/>
          </a:prstGeom>
          <a:noFill/>
          <a:ln/>
        </p:spPr>
        <p:txBody>
          <a:bodyPr wrap="square" rtlCol="0" anchor="ctr"/>
          <a:lstStyle/>
          <a:p>
            <a:pPr algn="ctr" indent="0" marL="0">
              <a:buNone/>
            </a:pPr>
            <a:r>
              <a:rPr lang="en-US" sz="1000" dirty="0">
                <a:solidFill>
                  <a:srgbClr val="374151"/>
                </a:solidFill>
                <a:latin typeface="Arial" pitchFamily="34" charset="0"/>
                <a:ea typeface="Arial" pitchFamily="34" charset="-122"/>
                <a:cs typeface="Arial" pitchFamily="34" charset="-120"/>
              </a:rPr>
              <a:t>134</a:t>
            </a:r>
            <a:endParaRPr lang="en-US" sz="100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274320"/>
            <a:ext cx="8229600" cy="457200"/>
          </a:xfrm>
          <a:prstGeom prst="rect">
            <a:avLst/>
          </a:prstGeom>
          <a:noFill/>
          <a:ln/>
        </p:spPr>
        <p:txBody>
          <a:bodyPr wrap="square" rtlCol="0" anchor="ctr"/>
          <a:lstStyle/>
          <a:p>
            <a:pPr indent="0" marL="0">
              <a:buNone/>
            </a:pPr>
            <a:r>
              <a:rPr lang="en-US" sz="1800" b="1" dirty="0">
                <a:solidFill>
                  <a:srgbClr val="B91C1C"/>
                </a:solidFill>
                <a:latin typeface="Microsoft YaHei" pitchFamily="34" charset="0"/>
                <a:ea typeface="Microsoft YaHei" pitchFamily="34" charset="-122"/>
                <a:cs typeface="Microsoft YaHei" pitchFamily="34" charset="-120"/>
              </a:rPr>
              <a:t>附录二续：验收记录表模板</a:t>
            </a:r>
            <a:endParaRPr lang="en-US" sz="1800" dirty="0"/>
          </a:p>
        </p:txBody>
      </p:sp>
      <p:sp>
        <p:nvSpPr>
          <p:cNvPr id="4" name="Shape 2"/>
          <p:cNvSpPr/>
          <p:nvPr/>
        </p:nvSpPr>
        <p:spPr>
          <a:xfrm>
            <a:off x="457200" y="822960"/>
            <a:ext cx="8229600" cy="4023360"/>
          </a:xfrm>
          <a:prstGeom prst="roundRect">
            <a:avLst>
              <a:gd name="adj" fmla="val 2273"/>
            </a:avLst>
          </a:prstGeom>
          <a:solidFill>
            <a:srgbClr val="F3F4F6"/>
          </a:solidFill>
          <a:ln/>
        </p:spPr>
      </p:sp>
      <p:sp>
        <p:nvSpPr>
          <p:cNvPr id="5" name="Shape 3"/>
          <p:cNvSpPr/>
          <p:nvPr/>
        </p:nvSpPr>
        <p:spPr>
          <a:xfrm>
            <a:off x="457200" y="822960"/>
            <a:ext cx="8229600" cy="457200"/>
          </a:xfrm>
          <a:prstGeom prst="rect">
            <a:avLst/>
          </a:prstGeom>
          <a:solidFill>
            <a:srgbClr val="B91C1C"/>
          </a:solidFill>
          <a:ln/>
        </p:spPr>
      </p:sp>
      <p:sp>
        <p:nvSpPr>
          <p:cNvPr id="6" name="Text 4"/>
          <p:cNvSpPr/>
          <p:nvPr/>
        </p:nvSpPr>
        <p:spPr>
          <a:xfrm>
            <a:off x="457200" y="822960"/>
            <a:ext cx="8229600" cy="457200"/>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Skill验收记录表</a:t>
            </a:r>
            <a:endParaRPr lang="en-US" sz="1400" dirty="0"/>
          </a:p>
        </p:txBody>
      </p:sp>
      <p:sp>
        <p:nvSpPr>
          <p:cNvPr id="7" name="Text 5"/>
          <p:cNvSpPr/>
          <p:nvPr/>
        </p:nvSpPr>
        <p:spPr>
          <a:xfrm>
            <a:off x="731520" y="1371600"/>
            <a:ext cx="7680960" cy="3291840"/>
          </a:xfrm>
          <a:prstGeom prst="rect">
            <a:avLst/>
          </a:prstGeom>
          <a:noFill/>
          <a:ln/>
        </p:spPr>
        <p:txBody>
          <a:bodyPr wrap="square" rtlCol="0" anchor="ctr"/>
          <a:lstStyle/>
          <a:p>
            <a:pPr indent="0" marL="0">
              <a:spcAft>
                <a:spcPts val="400"/>
              </a:spcAft>
              <a:buNone/>
            </a:pPr>
            <a:r>
              <a:rPr lang="en-US" sz="1200" dirty="0">
                <a:solidFill>
                  <a:srgbClr val="374151"/>
                </a:solidFill>
                <a:latin typeface="Microsoft YaHei" pitchFamily="34" charset="0"/>
                <a:ea typeface="Microsoft YaHei" pitchFamily="34" charset="-122"/>
                <a:cs typeface="Microsoft YaHei" pitchFamily="34" charset="-120"/>
              </a:rPr>
              <a:t>Skill名称：______ 验收日期：____ 验收人：___</a:t>
            </a:r>
            <a:endParaRPr lang="en-US" sz="1200" dirty="0"/>
          </a:p>
          <a:p>
            <a:pPr indent="0" marL="0">
              <a:spcAft>
                <a:spcPts val="400"/>
              </a:spcAft>
              <a:buNone/>
            </a:pPr>
            <a:endParaRPr lang="en-US" sz="1200" dirty="0"/>
          </a:p>
          <a:p>
            <a:pPr indent="0" marL="0">
              <a:spcAft>
                <a:spcPts val="400"/>
              </a:spcAft>
              <a:buNone/>
            </a:pPr>
            <a:r>
              <a:rPr lang="en-US" sz="1200" dirty="0">
                <a:solidFill>
                  <a:srgbClr val="374151"/>
                </a:solidFill>
                <a:latin typeface="Microsoft YaHei" pitchFamily="34" charset="0"/>
                <a:ea typeface="Microsoft YaHei" pitchFamily="34" charset="-122"/>
                <a:cs typeface="Microsoft YaHei" pitchFamily="34" charset="-120"/>
              </a:rPr>
              <a:t>合格标准：</a:t>
            </a:r>
            <a:endParaRPr lang="en-US" sz="1200" dirty="0"/>
          </a:p>
          <a:p>
            <a:pPr indent="0" marL="0">
              <a:spcAft>
                <a:spcPts val="400"/>
              </a:spcAft>
              <a:buNone/>
            </a:pPr>
            <a:r>
              <a:rPr lang="en-US" sz="1200" dirty="0">
                <a:solidFill>
                  <a:srgbClr val="374151"/>
                </a:solidFill>
                <a:latin typeface="Microsoft YaHei" pitchFamily="34" charset="0"/>
                <a:ea typeface="Microsoft YaHei" pitchFamily="34" charset="-122"/>
                <a:cs typeface="Microsoft YaHei" pitchFamily="34" charset="-120"/>
              </a:rPr>
              <a:t>1. _____________________</a:t>
            </a:r>
            <a:endParaRPr lang="en-US" sz="1200" dirty="0"/>
          </a:p>
          <a:p>
            <a:pPr indent="0" marL="0">
              <a:spcAft>
                <a:spcPts val="400"/>
              </a:spcAft>
              <a:buNone/>
            </a:pPr>
            <a:r>
              <a:rPr lang="en-US" sz="1200" dirty="0">
                <a:solidFill>
                  <a:srgbClr val="374151"/>
                </a:solidFill>
                <a:latin typeface="Microsoft YaHei" pitchFamily="34" charset="0"/>
                <a:ea typeface="Microsoft YaHei" pitchFamily="34" charset="-122"/>
                <a:cs typeface="Microsoft YaHei" pitchFamily="34" charset="-120"/>
              </a:rPr>
              <a:t>2. _____________________</a:t>
            </a:r>
            <a:endParaRPr lang="en-US" sz="1200" dirty="0"/>
          </a:p>
          <a:p>
            <a:pPr indent="0" marL="0">
              <a:spcAft>
                <a:spcPts val="400"/>
              </a:spcAft>
              <a:buNone/>
            </a:pPr>
            <a:r>
              <a:rPr lang="en-US" sz="1200" dirty="0">
                <a:solidFill>
                  <a:srgbClr val="374151"/>
                </a:solidFill>
                <a:latin typeface="Microsoft YaHei" pitchFamily="34" charset="0"/>
                <a:ea typeface="Microsoft YaHei" pitchFamily="34" charset="-122"/>
                <a:cs typeface="Microsoft YaHei" pitchFamily="34" charset="-120"/>
              </a:rPr>
              <a:t>3. _____________________</a:t>
            </a:r>
            <a:endParaRPr lang="en-US" sz="1200" dirty="0"/>
          </a:p>
          <a:p>
            <a:pPr indent="0" marL="0">
              <a:spcAft>
                <a:spcPts val="400"/>
              </a:spcAft>
              <a:buNone/>
            </a:pPr>
            <a:endParaRPr lang="en-US" sz="1200" dirty="0"/>
          </a:p>
          <a:p>
            <a:pPr indent="0" marL="0">
              <a:spcAft>
                <a:spcPts val="400"/>
              </a:spcAft>
              <a:buNone/>
            </a:pPr>
            <a:r>
              <a:rPr lang="en-US" sz="1200" dirty="0">
                <a:solidFill>
                  <a:srgbClr val="374151"/>
                </a:solidFill>
                <a:latin typeface="Microsoft YaHei" pitchFamily="34" charset="0"/>
                <a:ea typeface="Microsoft YaHei" pitchFamily="34" charset="-122"/>
                <a:cs typeface="Microsoft YaHei" pitchFamily="34" charset="-120"/>
              </a:rPr>
              <a:t>测试记录：_____________________</a:t>
            </a:r>
            <a:endParaRPr lang="en-US" sz="1200" dirty="0"/>
          </a:p>
          <a:p>
            <a:pPr indent="0" marL="0">
              <a:spcAft>
                <a:spcPts val="400"/>
              </a:spcAft>
              <a:buNone/>
            </a:pPr>
            <a:endParaRPr lang="en-US" sz="1200" dirty="0"/>
          </a:p>
          <a:p>
            <a:pPr indent="0" marL="0">
              <a:spcAft>
                <a:spcPts val="400"/>
              </a:spcAft>
              <a:buNone/>
            </a:pPr>
            <a:r>
              <a:rPr lang="en-US" sz="1200" dirty="0">
                <a:solidFill>
                  <a:srgbClr val="374151"/>
                </a:solidFill>
                <a:latin typeface="Microsoft YaHei" pitchFamily="34" charset="0"/>
                <a:ea typeface="Microsoft YaHei" pitchFamily="34" charset="-122"/>
                <a:cs typeface="Microsoft YaHei" pitchFamily="34" charset="-120"/>
              </a:rPr>
              <a:t>问题诊断：</a:t>
            </a:r>
            <a:endParaRPr lang="en-US" sz="1200" dirty="0"/>
          </a:p>
          <a:p>
            <a:pPr indent="0" marL="0">
              <a:spcAft>
                <a:spcPts val="400"/>
              </a:spcAft>
              <a:buNone/>
            </a:pPr>
            <a:r>
              <a:rPr lang="en-US" sz="1200" dirty="0">
                <a:solidFill>
                  <a:srgbClr val="374151"/>
                </a:solidFill>
                <a:latin typeface="Microsoft YaHei" pitchFamily="34" charset="0"/>
                <a:ea typeface="Microsoft YaHei" pitchFamily="34" charset="-122"/>
                <a:cs typeface="Microsoft YaHei" pitchFamily="34" charset="-120"/>
              </a:rPr>
              <a:t>☐格式 ☐规则遗漏 ☐意外未覆盖 ☐稳定性 ☐知识库缺口</a:t>
            </a:r>
            <a:endParaRPr lang="en-US" sz="1200" dirty="0"/>
          </a:p>
          <a:p>
            <a:pPr indent="0" marL="0">
              <a:spcAft>
                <a:spcPts val="400"/>
              </a:spcAft>
              <a:buNone/>
            </a:pPr>
            <a:endParaRPr lang="en-US" sz="1200" dirty="0"/>
          </a:p>
          <a:p>
            <a:pPr indent="0" marL="0">
              <a:spcAft>
                <a:spcPts val="400"/>
              </a:spcAft>
              <a:buNone/>
            </a:pPr>
            <a:r>
              <a:rPr lang="en-US" sz="1200" dirty="0">
                <a:solidFill>
                  <a:srgbClr val="374151"/>
                </a:solidFill>
                <a:latin typeface="Microsoft YaHei" pitchFamily="34" charset="0"/>
                <a:ea typeface="Microsoft YaHei" pitchFamily="34" charset="-122"/>
                <a:cs typeface="Microsoft YaHei" pitchFamily="34" charset="-120"/>
              </a:rPr>
              <a:t>迭代后成熟度评估：</a:t>
            </a:r>
            <a:endParaRPr lang="en-US" sz="1200" dirty="0"/>
          </a:p>
          <a:p>
            <a:pPr indent="0" marL="0">
              <a:spcAft>
                <a:spcPts val="400"/>
              </a:spcAft>
              <a:buNone/>
            </a:pPr>
            <a:r>
              <a:rPr lang="en-US" sz="1200" dirty="0">
                <a:solidFill>
                  <a:srgbClr val="374151"/>
                </a:solidFill>
                <a:latin typeface="Microsoft YaHei" pitchFamily="34" charset="0"/>
                <a:ea typeface="Microsoft YaHei" pitchFamily="34" charset="-122"/>
                <a:cs typeface="Microsoft YaHei" pitchFamily="34" charset="-120"/>
              </a:rPr>
              <a:t>☐能用 ☐好用 ☐离不开</a:t>
            </a:r>
            <a:endParaRPr lang="en-US" sz="1200" dirty="0"/>
          </a:p>
        </p:txBody>
      </p:sp>
      <p:sp>
        <p:nvSpPr>
          <p:cNvPr id="8" name="Text 6"/>
          <p:cNvSpPr/>
          <p:nvPr/>
        </p:nvSpPr>
        <p:spPr>
          <a:xfrm>
            <a:off x="8503920" y="4663440"/>
            <a:ext cx="457200" cy="274320"/>
          </a:xfrm>
          <a:prstGeom prst="rect">
            <a:avLst/>
          </a:prstGeom>
          <a:noFill/>
          <a:ln/>
        </p:spPr>
        <p:txBody>
          <a:bodyPr wrap="square" rtlCol="0" anchor="ctr"/>
          <a:lstStyle/>
          <a:p>
            <a:pPr algn="ctr" indent="0" marL="0">
              <a:buNone/>
            </a:pPr>
            <a:r>
              <a:rPr lang="en-US" sz="1000" dirty="0">
                <a:solidFill>
                  <a:srgbClr val="374151"/>
                </a:solidFill>
                <a:latin typeface="Arial" pitchFamily="34" charset="0"/>
                <a:ea typeface="Arial" pitchFamily="34" charset="-122"/>
                <a:cs typeface="Arial" pitchFamily="34" charset="-120"/>
              </a:rPr>
              <a:t>135</a:t>
            </a:r>
            <a:endParaRPr lang="en-US" sz="100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274320"/>
            <a:ext cx="8229600" cy="457200"/>
          </a:xfrm>
          <a:prstGeom prst="rect">
            <a:avLst/>
          </a:prstGeom>
          <a:noFill/>
          <a:ln/>
        </p:spPr>
        <p:txBody>
          <a:bodyPr wrap="square" rtlCol="0" anchor="ctr"/>
          <a:lstStyle/>
          <a:p>
            <a:pPr indent="0" marL="0">
              <a:buNone/>
            </a:pPr>
            <a:r>
              <a:rPr lang="en-US" sz="1800" b="1" dirty="0">
                <a:solidFill>
                  <a:srgbClr val="B91C1C"/>
                </a:solidFill>
                <a:latin typeface="Microsoft YaHei" pitchFamily="34" charset="0"/>
                <a:ea typeface="Microsoft YaHei" pitchFamily="34" charset="-122"/>
                <a:cs typeface="Microsoft YaHei" pitchFamily="34" charset="-120"/>
              </a:rPr>
              <a:t>附录二续：Skill使用说明模板</a:t>
            </a:r>
            <a:endParaRPr lang="en-US" sz="1800" dirty="0"/>
          </a:p>
        </p:txBody>
      </p:sp>
      <p:sp>
        <p:nvSpPr>
          <p:cNvPr id="4" name="Shape 2"/>
          <p:cNvSpPr/>
          <p:nvPr/>
        </p:nvSpPr>
        <p:spPr>
          <a:xfrm>
            <a:off x="457200" y="868680"/>
            <a:ext cx="3931920" cy="822960"/>
          </a:xfrm>
          <a:prstGeom prst="roundRect">
            <a:avLst>
              <a:gd name="adj" fmla="val 8889"/>
            </a:avLst>
          </a:prstGeom>
          <a:solidFill>
            <a:srgbClr val="F3F4F6"/>
          </a:solidFill>
          <a:ln/>
        </p:spPr>
      </p:sp>
      <p:sp>
        <p:nvSpPr>
          <p:cNvPr id="5" name="Text 3"/>
          <p:cNvSpPr/>
          <p:nvPr/>
        </p:nvSpPr>
        <p:spPr>
          <a:xfrm>
            <a:off x="640080" y="960120"/>
            <a:ext cx="3657600" cy="274320"/>
          </a:xfrm>
          <a:prstGeom prst="rect">
            <a:avLst/>
          </a:prstGeom>
          <a:noFill/>
          <a:ln/>
        </p:spPr>
        <p:txBody>
          <a:bodyPr wrap="square" rtlCol="0" anchor="ctr"/>
          <a:lstStyle/>
          <a:p>
            <a:pPr indent="0" marL="0">
              <a:buNone/>
            </a:pPr>
            <a:r>
              <a:rPr lang="en-US" sz="1100" b="1" dirty="0">
                <a:solidFill>
                  <a:srgbClr val="EF4444"/>
                </a:solidFill>
                <a:latin typeface="Microsoft YaHei" pitchFamily="34" charset="0"/>
                <a:ea typeface="Microsoft YaHei" pitchFamily="34" charset="-122"/>
                <a:cs typeface="Microsoft YaHei" pitchFamily="34" charset="-120"/>
              </a:rPr>
              <a:t>这是什么</a:t>
            </a:r>
            <a:endParaRPr lang="en-US" sz="1100" dirty="0"/>
          </a:p>
        </p:txBody>
      </p:sp>
      <p:sp>
        <p:nvSpPr>
          <p:cNvPr id="6" name="Text 4"/>
          <p:cNvSpPr/>
          <p:nvPr/>
        </p:nvSpPr>
        <p:spPr>
          <a:xfrm>
            <a:off x="640080" y="1280160"/>
            <a:ext cx="3657600" cy="320040"/>
          </a:xfrm>
          <a:prstGeom prst="rect">
            <a:avLst/>
          </a:prstGeom>
          <a:noFill/>
          <a:ln/>
        </p:spPr>
        <p:txBody>
          <a:bodyPr wrap="square" rtlCol="0" anchor="ctr"/>
          <a:lstStyle/>
          <a:p>
            <a:pPr indent="0" marL="0">
              <a:buNone/>
            </a:pPr>
            <a:r>
              <a:rPr lang="en-US" sz="1000" dirty="0">
                <a:solidFill>
                  <a:srgbClr val="374151"/>
                </a:solidFill>
                <a:latin typeface="Microsoft YaHei" pitchFamily="34" charset="0"/>
                <a:ea typeface="Microsoft YaHei" pitchFamily="34" charset="-122"/>
                <a:cs typeface="Microsoft YaHei" pitchFamily="34" charset="-120"/>
              </a:rPr>
              <a:t>一句话描述功能</a:t>
            </a:r>
            <a:endParaRPr lang="en-US" sz="1000" dirty="0"/>
          </a:p>
        </p:txBody>
      </p:sp>
      <p:sp>
        <p:nvSpPr>
          <p:cNvPr id="7" name="Shape 5"/>
          <p:cNvSpPr/>
          <p:nvPr/>
        </p:nvSpPr>
        <p:spPr>
          <a:xfrm>
            <a:off x="457200" y="1783080"/>
            <a:ext cx="3931920" cy="822960"/>
          </a:xfrm>
          <a:prstGeom prst="roundRect">
            <a:avLst>
              <a:gd name="adj" fmla="val 8889"/>
            </a:avLst>
          </a:prstGeom>
          <a:solidFill>
            <a:srgbClr val="F3F4F6"/>
          </a:solidFill>
          <a:ln/>
        </p:spPr>
      </p:sp>
      <p:sp>
        <p:nvSpPr>
          <p:cNvPr id="8" name="Text 6"/>
          <p:cNvSpPr/>
          <p:nvPr/>
        </p:nvSpPr>
        <p:spPr>
          <a:xfrm>
            <a:off x="640080" y="1874520"/>
            <a:ext cx="3657600" cy="274320"/>
          </a:xfrm>
          <a:prstGeom prst="rect">
            <a:avLst/>
          </a:prstGeom>
          <a:noFill/>
          <a:ln/>
        </p:spPr>
        <p:txBody>
          <a:bodyPr wrap="square" rtlCol="0" anchor="ctr"/>
          <a:lstStyle/>
          <a:p>
            <a:pPr indent="0" marL="0">
              <a:buNone/>
            </a:pPr>
            <a:r>
              <a:rPr lang="en-US" sz="1100" b="1" dirty="0">
                <a:solidFill>
                  <a:srgbClr val="EF4444"/>
                </a:solidFill>
                <a:latin typeface="Microsoft YaHei" pitchFamily="34" charset="0"/>
                <a:ea typeface="Microsoft YaHei" pitchFamily="34" charset="-122"/>
                <a:cs typeface="Microsoft YaHei" pitchFamily="34" charset="-120"/>
              </a:rPr>
              <a:t>适合用在</a:t>
            </a:r>
            <a:endParaRPr lang="en-US" sz="1100" dirty="0"/>
          </a:p>
        </p:txBody>
      </p:sp>
      <p:sp>
        <p:nvSpPr>
          <p:cNvPr id="9" name="Text 7"/>
          <p:cNvSpPr/>
          <p:nvPr/>
        </p:nvSpPr>
        <p:spPr>
          <a:xfrm>
            <a:off x="640080" y="2194560"/>
            <a:ext cx="3657600" cy="320040"/>
          </a:xfrm>
          <a:prstGeom prst="rect">
            <a:avLst/>
          </a:prstGeom>
          <a:noFill/>
          <a:ln/>
        </p:spPr>
        <p:txBody>
          <a:bodyPr wrap="square" rtlCol="0" anchor="ctr"/>
          <a:lstStyle/>
          <a:p>
            <a:pPr indent="0" marL="0">
              <a:buNone/>
            </a:pPr>
            <a:r>
              <a:rPr lang="en-US" sz="1000" dirty="0">
                <a:solidFill>
                  <a:srgbClr val="374151"/>
                </a:solidFill>
                <a:latin typeface="Microsoft YaHei" pitchFamily="34" charset="0"/>
                <a:ea typeface="Microsoft YaHei" pitchFamily="34" charset="-122"/>
                <a:cs typeface="Microsoft YaHei" pitchFamily="34" charset="-120"/>
              </a:rPr>
              <a:t>什么情况下用它</a:t>
            </a:r>
            <a:endParaRPr lang="en-US" sz="1000" dirty="0"/>
          </a:p>
        </p:txBody>
      </p:sp>
      <p:sp>
        <p:nvSpPr>
          <p:cNvPr id="10" name="Shape 8"/>
          <p:cNvSpPr/>
          <p:nvPr/>
        </p:nvSpPr>
        <p:spPr>
          <a:xfrm>
            <a:off x="457200" y="2697480"/>
            <a:ext cx="3931920" cy="822960"/>
          </a:xfrm>
          <a:prstGeom prst="roundRect">
            <a:avLst>
              <a:gd name="adj" fmla="val 8889"/>
            </a:avLst>
          </a:prstGeom>
          <a:solidFill>
            <a:srgbClr val="F3F4F6"/>
          </a:solidFill>
          <a:ln/>
        </p:spPr>
      </p:sp>
      <p:sp>
        <p:nvSpPr>
          <p:cNvPr id="11" name="Text 9"/>
          <p:cNvSpPr/>
          <p:nvPr/>
        </p:nvSpPr>
        <p:spPr>
          <a:xfrm>
            <a:off x="640080" y="2788920"/>
            <a:ext cx="3657600" cy="274320"/>
          </a:xfrm>
          <a:prstGeom prst="rect">
            <a:avLst/>
          </a:prstGeom>
          <a:noFill/>
          <a:ln/>
        </p:spPr>
        <p:txBody>
          <a:bodyPr wrap="square" rtlCol="0" anchor="ctr"/>
          <a:lstStyle/>
          <a:p>
            <a:pPr indent="0" marL="0">
              <a:buNone/>
            </a:pPr>
            <a:r>
              <a:rPr lang="en-US" sz="1100" b="1" dirty="0">
                <a:solidFill>
                  <a:srgbClr val="EF4444"/>
                </a:solidFill>
                <a:latin typeface="Microsoft YaHei" pitchFamily="34" charset="0"/>
                <a:ea typeface="Microsoft YaHei" pitchFamily="34" charset="-122"/>
                <a:cs typeface="Microsoft YaHei" pitchFamily="34" charset="-120"/>
              </a:rPr>
              <a:t>不适合用在</a:t>
            </a:r>
            <a:endParaRPr lang="en-US" sz="1100" dirty="0"/>
          </a:p>
        </p:txBody>
      </p:sp>
      <p:sp>
        <p:nvSpPr>
          <p:cNvPr id="12" name="Text 10"/>
          <p:cNvSpPr/>
          <p:nvPr/>
        </p:nvSpPr>
        <p:spPr>
          <a:xfrm>
            <a:off x="640080" y="3108960"/>
            <a:ext cx="3657600" cy="320040"/>
          </a:xfrm>
          <a:prstGeom prst="rect">
            <a:avLst/>
          </a:prstGeom>
          <a:noFill/>
          <a:ln/>
        </p:spPr>
        <p:txBody>
          <a:bodyPr wrap="square" rtlCol="0" anchor="ctr"/>
          <a:lstStyle/>
          <a:p>
            <a:pPr indent="0" marL="0">
              <a:buNone/>
            </a:pPr>
            <a:r>
              <a:rPr lang="en-US" sz="1000" dirty="0">
                <a:solidFill>
                  <a:srgbClr val="374151"/>
                </a:solidFill>
                <a:latin typeface="Microsoft YaHei" pitchFamily="34" charset="0"/>
                <a:ea typeface="Microsoft YaHei" pitchFamily="34" charset="-122"/>
                <a:cs typeface="Microsoft YaHei" pitchFamily="34" charset="-120"/>
              </a:rPr>
              <a:t>什么情况不要用</a:t>
            </a:r>
            <a:endParaRPr lang="en-US" sz="1000" dirty="0"/>
          </a:p>
        </p:txBody>
      </p:sp>
      <p:sp>
        <p:nvSpPr>
          <p:cNvPr id="13" name="Shape 11"/>
          <p:cNvSpPr/>
          <p:nvPr/>
        </p:nvSpPr>
        <p:spPr>
          <a:xfrm>
            <a:off x="4754880" y="868680"/>
            <a:ext cx="3931920" cy="822960"/>
          </a:xfrm>
          <a:prstGeom prst="roundRect">
            <a:avLst>
              <a:gd name="adj" fmla="val 8889"/>
            </a:avLst>
          </a:prstGeom>
          <a:solidFill>
            <a:srgbClr val="F3F4F6"/>
          </a:solidFill>
          <a:ln/>
        </p:spPr>
      </p:sp>
      <p:sp>
        <p:nvSpPr>
          <p:cNvPr id="14" name="Text 12"/>
          <p:cNvSpPr/>
          <p:nvPr/>
        </p:nvSpPr>
        <p:spPr>
          <a:xfrm>
            <a:off x="4937760" y="960120"/>
            <a:ext cx="3657600" cy="274320"/>
          </a:xfrm>
          <a:prstGeom prst="rect">
            <a:avLst/>
          </a:prstGeom>
          <a:noFill/>
          <a:ln/>
        </p:spPr>
        <p:txBody>
          <a:bodyPr wrap="square" rtlCol="0" anchor="ctr"/>
          <a:lstStyle/>
          <a:p>
            <a:pPr indent="0" marL="0">
              <a:buNone/>
            </a:pPr>
            <a:r>
              <a:rPr lang="en-US" sz="1100" b="1" dirty="0">
                <a:solidFill>
                  <a:srgbClr val="EF4444"/>
                </a:solidFill>
                <a:latin typeface="Microsoft YaHei" pitchFamily="34" charset="0"/>
                <a:ea typeface="Microsoft YaHei" pitchFamily="34" charset="-122"/>
                <a:cs typeface="Microsoft YaHei" pitchFamily="34" charset="-120"/>
              </a:rPr>
              <a:t>使用步骤</a:t>
            </a:r>
            <a:endParaRPr lang="en-US" sz="1100" dirty="0"/>
          </a:p>
        </p:txBody>
      </p:sp>
      <p:sp>
        <p:nvSpPr>
          <p:cNvPr id="15" name="Text 13"/>
          <p:cNvSpPr/>
          <p:nvPr/>
        </p:nvSpPr>
        <p:spPr>
          <a:xfrm>
            <a:off x="4937760" y="1280160"/>
            <a:ext cx="3657600" cy="320040"/>
          </a:xfrm>
          <a:prstGeom prst="rect">
            <a:avLst/>
          </a:prstGeom>
          <a:noFill/>
          <a:ln/>
        </p:spPr>
        <p:txBody>
          <a:bodyPr wrap="square" rtlCol="0" anchor="ctr"/>
          <a:lstStyle/>
          <a:p>
            <a:pPr indent="0" marL="0">
              <a:buNone/>
            </a:pPr>
            <a:r>
              <a:rPr lang="en-US" sz="1000" dirty="0">
                <a:solidFill>
                  <a:srgbClr val="374151"/>
                </a:solidFill>
                <a:latin typeface="Microsoft YaHei" pitchFamily="34" charset="0"/>
                <a:ea typeface="Microsoft YaHei" pitchFamily="34" charset="-122"/>
                <a:cs typeface="Microsoft YaHei" pitchFamily="34" charset="-120"/>
              </a:rPr>
              <a:t>Step 1... Step 2... Step 3... Step 4...</a:t>
            </a:r>
            <a:endParaRPr lang="en-US" sz="1000" dirty="0"/>
          </a:p>
        </p:txBody>
      </p:sp>
      <p:sp>
        <p:nvSpPr>
          <p:cNvPr id="16" name="Shape 14"/>
          <p:cNvSpPr/>
          <p:nvPr/>
        </p:nvSpPr>
        <p:spPr>
          <a:xfrm>
            <a:off x="4754880" y="1783080"/>
            <a:ext cx="3931920" cy="822960"/>
          </a:xfrm>
          <a:prstGeom prst="roundRect">
            <a:avLst>
              <a:gd name="adj" fmla="val 8889"/>
            </a:avLst>
          </a:prstGeom>
          <a:solidFill>
            <a:srgbClr val="F3F4F6"/>
          </a:solidFill>
          <a:ln/>
        </p:spPr>
      </p:sp>
      <p:sp>
        <p:nvSpPr>
          <p:cNvPr id="17" name="Text 15"/>
          <p:cNvSpPr/>
          <p:nvPr/>
        </p:nvSpPr>
        <p:spPr>
          <a:xfrm>
            <a:off x="4937760" y="1874520"/>
            <a:ext cx="3657600" cy="274320"/>
          </a:xfrm>
          <a:prstGeom prst="rect">
            <a:avLst/>
          </a:prstGeom>
          <a:noFill/>
          <a:ln/>
        </p:spPr>
        <p:txBody>
          <a:bodyPr wrap="square" rtlCol="0" anchor="ctr"/>
          <a:lstStyle/>
          <a:p>
            <a:pPr indent="0" marL="0">
              <a:buNone/>
            </a:pPr>
            <a:r>
              <a:rPr lang="en-US" sz="1100" b="1" dirty="0">
                <a:solidFill>
                  <a:srgbClr val="EF4444"/>
                </a:solidFill>
                <a:latin typeface="Microsoft YaHei" pitchFamily="34" charset="0"/>
                <a:ea typeface="Microsoft YaHei" pitchFamily="34" charset="-122"/>
                <a:cs typeface="Microsoft YaHei" pitchFamily="34" charset="-120"/>
              </a:rPr>
              <a:t>常见问题</a:t>
            </a:r>
            <a:endParaRPr lang="en-US" sz="1100" dirty="0"/>
          </a:p>
        </p:txBody>
      </p:sp>
      <p:sp>
        <p:nvSpPr>
          <p:cNvPr id="18" name="Text 16"/>
          <p:cNvSpPr/>
          <p:nvPr/>
        </p:nvSpPr>
        <p:spPr>
          <a:xfrm>
            <a:off x="4937760" y="2194560"/>
            <a:ext cx="3657600" cy="320040"/>
          </a:xfrm>
          <a:prstGeom prst="rect">
            <a:avLst/>
          </a:prstGeom>
          <a:noFill/>
          <a:ln/>
        </p:spPr>
        <p:txBody>
          <a:bodyPr wrap="square" rtlCol="0" anchor="ctr"/>
          <a:lstStyle/>
          <a:p>
            <a:pPr indent="0" marL="0">
              <a:buNone/>
            </a:pPr>
            <a:r>
              <a:rPr lang="en-US" sz="1000" dirty="0">
                <a:solidFill>
                  <a:srgbClr val="374151"/>
                </a:solidFill>
                <a:latin typeface="Microsoft YaHei" pitchFamily="34" charset="0"/>
                <a:ea typeface="Microsoft YaHei" pitchFamily="34" charset="-122"/>
                <a:cs typeface="Microsoft YaHei" pitchFamily="34" charset="-120"/>
              </a:rPr>
              <a:t>Q&amp;A格式</a:t>
            </a:r>
            <a:endParaRPr lang="en-US" sz="1000" dirty="0"/>
          </a:p>
        </p:txBody>
      </p:sp>
      <p:sp>
        <p:nvSpPr>
          <p:cNvPr id="19" name="Shape 17"/>
          <p:cNvSpPr/>
          <p:nvPr/>
        </p:nvSpPr>
        <p:spPr>
          <a:xfrm>
            <a:off x="457200" y="3657600"/>
            <a:ext cx="8229600" cy="548640"/>
          </a:xfrm>
          <a:prstGeom prst="roundRect">
            <a:avLst>
              <a:gd name="adj" fmla="val 13333"/>
            </a:avLst>
          </a:prstGeom>
          <a:solidFill>
            <a:srgbClr val="B91C1C"/>
          </a:solidFill>
          <a:ln/>
        </p:spPr>
      </p:sp>
      <p:sp>
        <p:nvSpPr>
          <p:cNvPr id="20" name="Text 18"/>
          <p:cNvSpPr/>
          <p:nvPr/>
        </p:nvSpPr>
        <p:spPr>
          <a:xfrm>
            <a:off x="457200" y="3657600"/>
            <a:ext cx="8229600" cy="548640"/>
          </a:xfrm>
          <a:prstGeom prst="rect">
            <a:avLst/>
          </a:prstGeom>
          <a:noFill/>
          <a:ln/>
        </p:spPr>
        <p:txBody>
          <a:bodyPr wrap="square" rtlCol="0" anchor="ctr"/>
          <a:lstStyle/>
          <a:p>
            <a:pPr algn="ctr" indent="0" marL="0">
              <a:buNone/>
            </a:pPr>
            <a:r>
              <a:rPr lang="en-US" sz="1200" dirty="0">
                <a:solidFill>
                  <a:srgbClr val="FFFFFF"/>
                </a:solidFill>
                <a:latin typeface="Microsoft YaHei" pitchFamily="34" charset="0"/>
                <a:ea typeface="Microsoft YaHei" pitchFamily="34" charset="-122"/>
                <a:cs typeface="Microsoft YaHei" pitchFamily="34" charset="-120"/>
              </a:rPr>
              <a:t>维护者：[姓名] | 联系方式：[方式]</a:t>
            </a:r>
            <a:endParaRPr lang="en-US" sz="1200" dirty="0"/>
          </a:p>
        </p:txBody>
      </p:sp>
      <p:sp>
        <p:nvSpPr>
          <p:cNvPr id="21" name="Text 19"/>
          <p:cNvSpPr/>
          <p:nvPr/>
        </p:nvSpPr>
        <p:spPr>
          <a:xfrm>
            <a:off x="8503920" y="4663440"/>
            <a:ext cx="457200" cy="274320"/>
          </a:xfrm>
          <a:prstGeom prst="rect">
            <a:avLst/>
          </a:prstGeom>
          <a:noFill/>
          <a:ln/>
        </p:spPr>
        <p:txBody>
          <a:bodyPr wrap="square" rtlCol="0" anchor="ctr"/>
          <a:lstStyle/>
          <a:p>
            <a:pPr algn="ctr" indent="0" marL="0">
              <a:buNone/>
            </a:pPr>
            <a:r>
              <a:rPr lang="en-US" sz="1000" dirty="0">
                <a:solidFill>
                  <a:srgbClr val="374151"/>
                </a:solidFill>
                <a:latin typeface="Arial" pitchFamily="34" charset="0"/>
                <a:ea typeface="Arial" pitchFamily="34" charset="-122"/>
                <a:cs typeface="Arial" pitchFamily="34" charset="-120"/>
              </a:rPr>
              <a:t>136</a:t>
            </a:r>
            <a:endParaRPr lang="en-US" sz="100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B91C1C"/>
          </a:solidFill>
          <a:ln/>
        </p:spPr>
      </p:sp>
      <p:sp>
        <p:nvSpPr>
          <p:cNvPr id="3" name="Text 1"/>
          <p:cNvSpPr/>
          <p:nvPr/>
        </p:nvSpPr>
        <p:spPr>
          <a:xfrm>
            <a:off x="457200" y="1645920"/>
            <a:ext cx="8229600" cy="548640"/>
          </a:xfrm>
          <a:prstGeom prst="rect">
            <a:avLst/>
          </a:prstGeom>
          <a:noFill/>
          <a:ln/>
        </p:spPr>
        <p:txBody>
          <a:bodyPr wrap="square" rtlCol="0" anchor="ctr"/>
          <a:lstStyle/>
          <a:p>
            <a:pPr indent="0" marL="0">
              <a:buNone/>
            </a:pPr>
            <a:r>
              <a:rPr lang="en-US" sz="1800" spc="800" kern="0" dirty="0">
                <a:solidFill>
                  <a:srgbClr val="FFFFFF"/>
                </a:solidFill>
                <a:latin typeface="Microsoft YaHei" pitchFamily="34" charset="0"/>
                <a:ea typeface="Microsoft YaHei" pitchFamily="34" charset="-122"/>
                <a:cs typeface="Microsoft YaHei" pitchFamily="34" charset="-120"/>
              </a:rPr>
              <a:t>附录三</a:t>
            </a:r>
            <a:endParaRPr lang="en-US" sz="1800" dirty="0"/>
          </a:p>
        </p:txBody>
      </p:sp>
      <p:sp>
        <p:nvSpPr>
          <p:cNvPr id="4" name="Text 2"/>
          <p:cNvSpPr/>
          <p:nvPr/>
        </p:nvSpPr>
        <p:spPr>
          <a:xfrm>
            <a:off x="457200" y="2194560"/>
            <a:ext cx="8229600" cy="1097280"/>
          </a:xfrm>
          <a:prstGeom prst="rect">
            <a:avLst/>
          </a:prstGeom>
          <a:noFill/>
          <a:ln/>
        </p:spPr>
        <p:txBody>
          <a:bodyPr wrap="square" rtlCol="0" anchor="ctr"/>
          <a:lstStyle/>
          <a:p>
            <a:pPr indent="0" marL="0">
              <a:buNone/>
            </a:pPr>
            <a:r>
              <a:rPr lang="en-US" sz="4200" b="1" dirty="0">
                <a:solidFill>
                  <a:srgbClr val="FFFFFF"/>
                </a:solidFill>
                <a:latin typeface="Microsoft YaHei" pitchFamily="34" charset="0"/>
                <a:ea typeface="Microsoft YaHei" pitchFamily="34" charset="-122"/>
                <a:cs typeface="Microsoft YaHei" pitchFamily="34" charset="-120"/>
              </a:rPr>
              <a:t>各岗位常见数字员工速查表</a:t>
            </a:r>
            <a:endParaRPr lang="en-US" sz="4200" dirty="0"/>
          </a:p>
        </p:txBody>
      </p:sp>
      <p:sp>
        <p:nvSpPr>
          <p:cNvPr id="5" name="Shape 3"/>
          <p:cNvSpPr/>
          <p:nvPr/>
        </p:nvSpPr>
        <p:spPr>
          <a:xfrm>
            <a:off x="457200" y="3931920"/>
            <a:ext cx="1828800" cy="54864"/>
          </a:xfrm>
          <a:prstGeom prst="rect">
            <a:avLst/>
          </a:prstGeom>
          <a:solidFill>
            <a:srgbClr val="EF4444"/>
          </a:solidFill>
          <a:ln/>
        </p:spPr>
      </p:sp>
      <p:sp>
        <p:nvSpPr>
          <p:cNvPr id="6" name="Text 4"/>
          <p:cNvSpPr/>
          <p:nvPr/>
        </p:nvSpPr>
        <p:spPr>
          <a:xfrm>
            <a:off x="8503920" y="4663440"/>
            <a:ext cx="457200" cy="274320"/>
          </a:xfrm>
          <a:prstGeom prst="rect">
            <a:avLst/>
          </a:prstGeom>
          <a:noFill/>
          <a:ln/>
        </p:spPr>
        <p:txBody>
          <a:bodyPr wrap="square" rtlCol="0" anchor="ctr"/>
          <a:lstStyle/>
          <a:p>
            <a:pPr algn="ctr" indent="0" marL="0">
              <a:buNone/>
            </a:pPr>
            <a:r>
              <a:rPr lang="en-US" sz="1000" dirty="0">
                <a:solidFill>
                  <a:srgbClr val="FFFFFF"/>
                </a:solidFill>
                <a:latin typeface="Arial" pitchFamily="34" charset="0"/>
                <a:ea typeface="Arial" pitchFamily="34" charset="-122"/>
                <a:cs typeface="Arial" pitchFamily="34" charset="-120"/>
              </a:rPr>
              <a:t>137</a:t>
            </a:r>
            <a:endParaRPr lang="en-US" sz="100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274320"/>
            <a:ext cx="8229600" cy="457200"/>
          </a:xfrm>
          <a:prstGeom prst="rect">
            <a:avLst/>
          </a:prstGeom>
          <a:noFill/>
          <a:ln/>
        </p:spPr>
        <p:txBody>
          <a:bodyPr wrap="square" rtlCol="0" anchor="ctr"/>
          <a:lstStyle/>
          <a:p>
            <a:pPr indent="0" marL="0">
              <a:buNone/>
            </a:pPr>
            <a:r>
              <a:rPr lang="en-US" sz="1800" b="1" dirty="0">
                <a:solidFill>
                  <a:srgbClr val="B91C1C"/>
                </a:solidFill>
                <a:latin typeface="Microsoft YaHei" pitchFamily="34" charset="0"/>
                <a:ea typeface="Microsoft YaHei" pitchFamily="34" charset="-122"/>
                <a:cs typeface="Microsoft YaHei" pitchFamily="34" charset="-120"/>
              </a:rPr>
              <a:t>销售/BD岗位最高价值的3个数字员工</a:t>
            </a:r>
            <a:endParaRPr lang="en-US" sz="1800" dirty="0"/>
          </a:p>
        </p:txBody>
      </p:sp>
      <p:sp>
        <p:nvSpPr>
          <p:cNvPr id="4" name="Shape 2"/>
          <p:cNvSpPr/>
          <p:nvPr/>
        </p:nvSpPr>
        <p:spPr>
          <a:xfrm>
            <a:off x="457200" y="914400"/>
            <a:ext cx="2651760" cy="3474720"/>
          </a:xfrm>
          <a:prstGeom prst="roundRect">
            <a:avLst>
              <a:gd name="adj" fmla="val 3448"/>
            </a:avLst>
          </a:prstGeom>
          <a:solidFill>
            <a:srgbClr val="F3F4F6"/>
          </a:solidFill>
          <a:ln/>
        </p:spPr>
      </p:sp>
      <p:sp>
        <p:nvSpPr>
          <p:cNvPr id="5" name="Shape 3"/>
          <p:cNvSpPr/>
          <p:nvPr/>
        </p:nvSpPr>
        <p:spPr>
          <a:xfrm>
            <a:off x="1325880" y="1097280"/>
            <a:ext cx="914400" cy="914400"/>
          </a:xfrm>
          <a:prstGeom prst="ellipse">
            <a:avLst/>
          </a:prstGeom>
          <a:solidFill>
            <a:srgbClr val="EF4444"/>
          </a:solidFill>
          <a:ln/>
        </p:spPr>
      </p:sp>
      <p:sp>
        <p:nvSpPr>
          <p:cNvPr id="6" name="Text 4"/>
          <p:cNvSpPr/>
          <p:nvPr/>
        </p:nvSpPr>
        <p:spPr>
          <a:xfrm>
            <a:off x="1325880" y="1097280"/>
            <a:ext cx="914400" cy="91440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01</a:t>
            </a:r>
            <a:endParaRPr lang="en-US" sz="2000" dirty="0"/>
          </a:p>
        </p:txBody>
      </p:sp>
      <p:sp>
        <p:nvSpPr>
          <p:cNvPr id="7" name="Text 5"/>
          <p:cNvSpPr/>
          <p:nvPr/>
        </p:nvSpPr>
        <p:spPr>
          <a:xfrm>
            <a:off x="548640" y="2103120"/>
            <a:ext cx="2468880" cy="457200"/>
          </a:xfrm>
          <a:prstGeom prst="rect">
            <a:avLst/>
          </a:prstGeom>
          <a:noFill/>
          <a:ln/>
        </p:spPr>
        <p:txBody>
          <a:bodyPr wrap="square" rtlCol="0" anchor="ctr"/>
          <a:lstStyle/>
          <a:p>
            <a:pPr algn="ctr" indent="0" marL="0">
              <a:buNone/>
            </a:pPr>
            <a:r>
              <a:rPr lang="en-US" sz="1300" b="1" dirty="0">
                <a:solidFill>
                  <a:srgbClr val="B91C1C"/>
                </a:solidFill>
                <a:latin typeface="Microsoft YaHei" pitchFamily="34" charset="0"/>
                <a:ea typeface="Microsoft YaHei" pitchFamily="34" charset="-122"/>
                <a:cs typeface="Microsoft YaHei" pitchFamily="34" charset="-120"/>
              </a:rPr>
              <a:t>客户状态速查员</a:t>
            </a:r>
            <a:endParaRPr lang="en-US" sz="1300" dirty="0"/>
          </a:p>
        </p:txBody>
      </p:sp>
      <p:sp>
        <p:nvSpPr>
          <p:cNvPr id="8" name="Shape 6"/>
          <p:cNvSpPr/>
          <p:nvPr/>
        </p:nvSpPr>
        <p:spPr>
          <a:xfrm>
            <a:off x="640080" y="2606040"/>
            <a:ext cx="2286000" cy="36576"/>
          </a:xfrm>
          <a:prstGeom prst="rect">
            <a:avLst/>
          </a:prstGeom>
          <a:solidFill>
            <a:srgbClr val="EF4444"/>
          </a:solidFill>
          <a:ln/>
        </p:spPr>
      </p:sp>
      <p:sp>
        <p:nvSpPr>
          <p:cNvPr id="9" name="Text 7"/>
          <p:cNvSpPr/>
          <p:nvPr/>
        </p:nvSpPr>
        <p:spPr>
          <a:xfrm>
            <a:off x="594360" y="2743200"/>
            <a:ext cx="2377440" cy="640080"/>
          </a:xfrm>
          <a:prstGeom prst="rect">
            <a:avLst/>
          </a:prstGeom>
          <a:noFill/>
          <a:ln/>
        </p:spPr>
        <p:txBody>
          <a:bodyPr wrap="square" rtlCol="0" anchor="ctr"/>
          <a:lstStyle/>
          <a:p>
            <a:pPr indent="0" marL="0">
              <a:buNone/>
            </a:pPr>
            <a:r>
              <a:rPr lang="en-US" sz="1000" dirty="0">
                <a:solidFill>
                  <a:srgbClr val="374151"/>
                </a:solidFill>
                <a:latin typeface="Microsoft YaHei" pitchFamily="34" charset="0"/>
                <a:ea typeface="Microsoft YaHei" pitchFamily="34" charset="-122"/>
                <a:cs typeface="Microsoft YaHei" pitchFamily="34" charset="-120"/>
              </a:rPr>
              <a:t>输入=上次跟进记录</a:t>
            </a:r>
            <a:endParaRPr lang="en-US" sz="1000" dirty="0"/>
          </a:p>
        </p:txBody>
      </p:sp>
      <p:sp>
        <p:nvSpPr>
          <p:cNvPr id="10" name="Text 8"/>
          <p:cNvSpPr/>
          <p:nvPr/>
        </p:nvSpPr>
        <p:spPr>
          <a:xfrm>
            <a:off x="594360" y="3383280"/>
            <a:ext cx="2377440" cy="822960"/>
          </a:xfrm>
          <a:prstGeom prst="rect">
            <a:avLst/>
          </a:prstGeom>
          <a:noFill/>
          <a:ln/>
        </p:spPr>
        <p:txBody>
          <a:bodyPr wrap="square" rtlCol="0" anchor="ctr"/>
          <a:lstStyle/>
          <a:p>
            <a:pPr indent="0" marL="0">
              <a:buNone/>
            </a:pPr>
            <a:r>
              <a:rPr lang="en-US" sz="1000" dirty="0">
                <a:solidFill>
                  <a:srgbClr val="374151"/>
                </a:solidFill>
                <a:latin typeface="Microsoft YaHei" pitchFamily="34" charset="0"/>
                <a:ea typeface="Microsoft YaHei" pitchFamily="34" charset="-122"/>
                <a:cs typeface="Microsoft YaHei" pitchFamily="34" charset="-120"/>
              </a:rPr>
              <a:t>输出=客户当前阶段+本周建议行动</a:t>
            </a:r>
            <a:endParaRPr lang="en-US" sz="1000" dirty="0"/>
          </a:p>
        </p:txBody>
      </p:sp>
      <p:sp>
        <p:nvSpPr>
          <p:cNvPr id="11" name="Shape 9"/>
          <p:cNvSpPr/>
          <p:nvPr/>
        </p:nvSpPr>
        <p:spPr>
          <a:xfrm>
            <a:off x="3291840" y="914400"/>
            <a:ext cx="2651760" cy="3474720"/>
          </a:xfrm>
          <a:prstGeom prst="roundRect">
            <a:avLst>
              <a:gd name="adj" fmla="val 3448"/>
            </a:avLst>
          </a:prstGeom>
          <a:solidFill>
            <a:srgbClr val="F3F4F6"/>
          </a:solidFill>
          <a:ln/>
        </p:spPr>
      </p:sp>
      <p:sp>
        <p:nvSpPr>
          <p:cNvPr id="12" name="Shape 10"/>
          <p:cNvSpPr/>
          <p:nvPr/>
        </p:nvSpPr>
        <p:spPr>
          <a:xfrm>
            <a:off x="4160520" y="1097280"/>
            <a:ext cx="914400" cy="914400"/>
          </a:xfrm>
          <a:prstGeom prst="ellipse">
            <a:avLst/>
          </a:prstGeom>
          <a:solidFill>
            <a:srgbClr val="EF4444"/>
          </a:solidFill>
          <a:ln/>
        </p:spPr>
      </p:sp>
      <p:sp>
        <p:nvSpPr>
          <p:cNvPr id="13" name="Text 11"/>
          <p:cNvSpPr/>
          <p:nvPr/>
        </p:nvSpPr>
        <p:spPr>
          <a:xfrm>
            <a:off x="4160520" y="1097280"/>
            <a:ext cx="914400" cy="91440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02</a:t>
            </a:r>
            <a:endParaRPr lang="en-US" sz="2000" dirty="0"/>
          </a:p>
        </p:txBody>
      </p:sp>
      <p:sp>
        <p:nvSpPr>
          <p:cNvPr id="14" name="Text 12"/>
          <p:cNvSpPr/>
          <p:nvPr/>
        </p:nvSpPr>
        <p:spPr>
          <a:xfrm>
            <a:off x="3383280" y="2103120"/>
            <a:ext cx="2468880" cy="457200"/>
          </a:xfrm>
          <a:prstGeom prst="rect">
            <a:avLst/>
          </a:prstGeom>
          <a:noFill/>
          <a:ln/>
        </p:spPr>
        <p:txBody>
          <a:bodyPr wrap="square" rtlCol="0" anchor="ctr"/>
          <a:lstStyle/>
          <a:p>
            <a:pPr algn="ctr" indent="0" marL="0">
              <a:buNone/>
            </a:pPr>
            <a:r>
              <a:rPr lang="en-US" sz="1300" b="1" dirty="0">
                <a:solidFill>
                  <a:srgbClr val="B91C1C"/>
                </a:solidFill>
                <a:latin typeface="Microsoft YaHei" pitchFamily="34" charset="0"/>
                <a:ea typeface="Microsoft YaHei" pitchFamily="34" charset="-122"/>
                <a:cs typeface="Microsoft YaHei" pitchFamily="34" charset="-120"/>
              </a:rPr>
              <a:t>赢单信号分析员</a:t>
            </a:r>
            <a:endParaRPr lang="en-US" sz="1300" dirty="0"/>
          </a:p>
        </p:txBody>
      </p:sp>
      <p:sp>
        <p:nvSpPr>
          <p:cNvPr id="15" name="Shape 13"/>
          <p:cNvSpPr/>
          <p:nvPr/>
        </p:nvSpPr>
        <p:spPr>
          <a:xfrm>
            <a:off x="3474720" y="2606040"/>
            <a:ext cx="2286000" cy="36576"/>
          </a:xfrm>
          <a:prstGeom prst="rect">
            <a:avLst/>
          </a:prstGeom>
          <a:solidFill>
            <a:srgbClr val="EF4444"/>
          </a:solidFill>
          <a:ln/>
        </p:spPr>
      </p:sp>
      <p:sp>
        <p:nvSpPr>
          <p:cNvPr id="16" name="Text 14"/>
          <p:cNvSpPr/>
          <p:nvPr/>
        </p:nvSpPr>
        <p:spPr>
          <a:xfrm>
            <a:off x="3429000" y="2743200"/>
            <a:ext cx="2377440" cy="640080"/>
          </a:xfrm>
          <a:prstGeom prst="rect">
            <a:avLst/>
          </a:prstGeom>
          <a:noFill/>
          <a:ln/>
        </p:spPr>
        <p:txBody>
          <a:bodyPr wrap="square" rtlCol="0" anchor="ctr"/>
          <a:lstStyle/>
          <a:p>
            <a:pPr indent="0" marL="0">
              <a:buNone/>
            </a:pPr>
            <a:r>
              <a:rPr lang="en-US" sz="1000" dirty="0">
                <a:solidFill>
                  <a:srgbClr val="374151"/>
                </a:solidFill>
                <a:latin typeface="Microsoft YaHei" pitchFamily="34" charset="0"/>
                <a:ea typeface="Microsoft YaHei" pitchFamily="34" charset="-122"/>
                <a:cs typeface="Microsoft YaHei" pitchFamily="34" charset="-120"/>
              </a:rPr>
              <a:t>输入=客户沟通记录</a:t>
            </a:r>
            <a:endParaRPr lang="en-US" sz="1000" dirty="0"/>
          </a:p>
        </p:txBody>
      </p:sp>
      <p:sp>
        <p:nvSpPr>
          <p:cNvPr id="17" name="Text 15"/>
          <p:cNvSpPr/>
          <p:nvPr/>
        </p:nvSpPr>
        <p:spPr>
          <a:xfrm>
            <a:off x="3429000" y="3383280"/>
            <a:ext cx="2377440" cy="822960"/>
          </a:xfrm>
          <a:prstGeom prst="rect">
            <a:avLst/>
          </a:prstGeom>
          <a:noFill/>
          <a:ln/>
        </p:spPr>
        <p:txBody>
          <a:bodyPr wrap="square" rtlCol="0" anchor="ctr"/>
          <a:lstStyle/>
          <a:p>
            <a:pPr indent="0" marL="0">
              <a:buNone/>
            </a:pPr>
            <a:r>
              <a:rPr lang="en-US" sz="1000" dirty="0">
                <a:solidFill>
                  <a:srgbClr val="374151"/>
                </a:solidFill>
                <a:latin typeface="Microsoft YaHei" pitchFamily="34" charset="0"/>
                <a:ea typeface="Microsoft YaHei" pitchFamily="34" charset="-122"/>
                <a:cs typeface="Microsoft YaHei" pitchFamily="34" charset="-120"/>
              </a:rPr>
              <a:t>输出=购买信号（强/弱/中性）+成交概率</a:t>
            </a:r>
            <a:endParaRPr lang="en-US" sz="1000" dirty="0"/>
          </a:p>
        </p:txBody>
      </p:sp>
      <p:sp>
        <p:nvSpPr>
          <p:cNvPr id="18" name="Shape 16"/>
          <p:cNvSpPr/>
          <p:nvPr/>
        </p:nvSpPr>
        <p:spPr>
          <a:xfrm>
            <a:off x="6126480" y="914400"/>
            <a:ext cx="2651760" cy="3474720"/>
          </a:xfrm>
          <a:prstGeom prst="roundRect">
            <a:avLst>
              <a:gd name="adj" fmla="val 3448"/>
            </a:avLst>
          </a:prstGeom>
          <a:solidFill>
            <a:srgbClr val="F3F4F6"/>
          </a:solidFill>
          <a:ln/>
        </p:spPr>
      </p:sp>
      <p:sp>
        <p:nvSpPr>
          <p:cNvPr id="19" name="Shape 17"/>
          <p:cNvSpPr/>
          <p:nvPr/>
        </p:nvSpPr>
        <p:spPr>
          <a:xfrm>
            <a:off x="6995160" y="1097280"/>
            <a:ext cx="914400" cy="914400"/>
          </a:xfrm>
          <a:prstGeom prst="ellipse">
            <a:avLst/>
          </a:prstGeom>
          <a:solidFill>
            <a:srgbClr val="EF4444"/>
          </a:solidFill>
          <a:ln/>
        </p:spPr>
      </p:sp>
      <p:sp>
        <p:nvSpPr>
          <p:cNvPr id="20" name="Text 18"/>
          <p:cNvSpPr/>
          <p:nvPr/>
        </p:nvSpPr>
        <p:spPr>
          <a:xfrm>
            <a:off x="6995160" y="1097280"/>
            <a:ext cx="914400" cy="91440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03</a:t>
            </a:r>
            <a:endParaRPr lang="en-US" sz="2000" dirty="0"/>
          </a:p>
        </p:txBody>
      </p:sp>
      <p:sp>
        <p:nvSpPr>
          <p:cNvPr id="21" name="Text 19"/>
          <p:cNvSpPr/>
          <p:nvPr/>
        </p:nvSpPr>
        <p:spPr>
          <a:xfrm>
            <a:off x="6217920" y="2103120"/>
            <a:ext cx="2468880" cy="457200"/>
          </a:xfrm>
          <a:prstGeom prst="rect">
            <a:avLst/>
          </a:prstGeom>
          <a:noFill/>
          <a:ln/>
        </p:spPr>
        <p:txBody>
          <a:bodyPr wrap="square" rtlCol="0" anchor="ctr"/>
          <a:lstStyle/>
          <a:p>
            <a:pPr algn="ctr" indent="0" marL="0">
              <a:buNone/>
            </a:pPr>
            <a:r>
              <a:rPr lang="en-US" sz="1300" b="1" dirty="0">
                <a:solidFill>
                  <a:srgbClr val="B91C1C"/>
                </a:solidFill>
                <a:latin typeface="Microsoft YaHei" pitchFamily="34" charset="0"/>
                <a:ea typeface="Microsoft YaHei" pitchFamily="34" charset="-122"/>
                <a:cs typeface="Microsoft YaHei" pitchFamily="34" charset="-120"/>
              </a:rPr>
              <a:t>失单复盘员</a:t>
            </a:r>
            <a:endParaRPr lang="en-US" sz="1300" dirty="0"/>
          </a:p>
        </p:txBody>
      </p:sp>
      <p:sp>
        <p:nvSpPr>
          <p:cNvPr id="22" name="Shape 20"/>
          <p:cNvSpPr/>
          <p:nvPr/>
        </p:nvSpPr>
        <p:spPr>
          <a:xfrm>
            <a:off x="6309360" y="2606040"/>
            <a:ext cx="2286000" cy="36576"/>
          </a:xfrm>
          <a:prstGeom prst="rect">
            <a:avLst/>
          </a:prstGeom>
          <a:solidFill>
            <a:srgbClr val="EF4444"/>
          </a:solidFill>
          <a:ln/>
        </p:spPr>
      </p:sp>
      <p:sp>
        <p:nvSpPr>
          <p:cNvPr id="23" name="Text 21"/>
          <p:cNvSpPr/>
          <p:nvPr/>
        </p:nvSpPr>
        <p:spPr>
          <a:xfrm>
            <a:off x="6263640" y="2743200"/>
            <a:ext cx="2377440" cy="640080"/>
          </a:xfrm>
          <a:prstGeom prst="rect">
            <a:avLst/>
          </a:prstGeom>
          <a:noFill/>
          <a:ln/>
        </p:spPr>
        <p:txBody>
          <a:bodyPr wrap="square" rtlCol="0" anchor="ctr"/>
          <a:lstStyle/>
          <a:p>
            <a:pPr indent="0" marL="0">
              <a:buNone/>
            </a:pPr>
            <a:r>
              <a:rPr lang="en-US" sz="1000" dirty="0">
                <a:solidFill>
                  <a:srgbClr val="374151"/>
                </a:solidFill>
                <a:latin typeface="Microsoft YaHei" pitchFamily="34" charset="0"/>
                <a:ea typeface="Microsoft YaHei" pitchFamily="34" charset="-122"/>
                <a:cs typeface="Microsoft YaHei" pitchFamily="34" charset="-120"/>
              </a:rPr>
              <a:t>输入=失单项目跟进记录</a:t>
            </a:r>
            <a:endParaRPr lang="en-US" sz="1000" dirty="0"/>
          </a:p>
        </p:txBody>
      </p:sp>
      <p:sp>
        <p:nvSpPr>
          <p:cNvPr id="24" name="Text 22"/>
          <p:cNvSpPr/>
          <p:nvPr/>
        </p:nvSpPr>
        <p:spPr>
          <a:xfrm>
            <a:off x="6263640" y="3383280"/>
            <a:ext cx="2377440" cy="822960"/>
          </a:xfrm>
          <a:prstGeom prst="rect">
            <a:avLst/>
          </a:prstGeom>
          <a:noFill/>
          <a:ln/>
        </p:spPr>
        <p:txBody>
          <a:bodyPr wrap="square" rtlCol="0" anchor="ctr"/>
          <a:lstStyle/>
          <a:p>
            <a:pPr indent="0" marL="0">
              <a:buNone/>
            </a:pPr>
            <a:r>
              <a:rPr lang="en-US" sz="1000" dirty="0">
                <a:solidFill>
                  <a:srgbClr val="374151"/>
                </a:solidFill>
                <a:latin typeface="Microsoft YaHei" pitchFamily="34" charset="0"/>
                <a:ea typeface="Microsoft YaHei" pitchFamily="34" charset="-122"/>
                <a:cs typeface="Microsoft YaHei" pitchFamily="34" charset="-120"/>
              </a:rPr>
              <a:t>输出=可能失单原因+改进建议</a:t>
            </a:r>
            <a:endParaRPr lang="en-US" sz="1000" dirty="0"/>
          </a:p>
        </p:txBody>
      </p:sp>
      <p:sp>
        <p:nvSpPr>
          <p:cNvPr id="25" name="Text 23"/>
          <p:cNvSpPr/>
          <p:nvPr/>
        </p:nvSpPr>
        <p:spPr>
          <a:xfrm>
            <a:off x="8503920" y="4663440"/>
            <a:ext cx="457200" cy="274320"/>
          </a:xfrm>
          <a:prstGeom prst="rect">
            <a:avLst/>
          </a:prstGeom>
          <a:noFill/>
          <a:ln/>
        </p:spPr>
        <p:txBody>
          <a:bodyPr wrap="square" rtlCol="0" anchor="ctr"/>
          <a:lstStyle/>
          <a:p>
            <a:pPr algn="ctr" indent="0" marL="0">
              <a:buNone/>
            </a:pPr>
            <a:r>
              <a:rPr lang="en-US" sz="1000" dirty="0">
                <a:solidFill>
                  <a:srgbClr val="374151"/>
                </a:solidFill>
                <a:latin typeface="Arial" pitchFamily="34" charset="0"/>
                <a:ea typeface="Arial" pitchFamily="34" charset="-122"/>
                <a:cs typeface="Arial" pitchFamily="34" charset="-120"/>
              </a:rPr>
              <a:t>138</a:t>
            </a:r>
            <a:endParaRPr lang="en-US" sz="100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274320"/>
            <a:ext cx="8229600" cy="457200"/>
          </a:xfrm>
          <a:prstGeom prst="rect">
            <a:avLst/>
          </a:prstGeom>
          <a:noFill/>
          <a:ln/>
        </p:spPr>
        <p:txBody>
          <a:bodyPr wrap="square" rtlCol="0" anchor="ctr"/>
          <a:lstStyle/>
          <a:p>
            <a:pPr indent="0" marL="0">
              <a:buNone/>
            </a:pPr>
            <a:r>
              <a:rPr lang="en-US" sz="1800" b="1" dirty="0">
                <a:solidFill>
                  <a:srgbClr val="B91C1C"/>
                </a:solidFill>
                <a:latin typeface="Microsoft YaHei" pitchFamily="34" charset="0"/>
                <a:ea typeface="Microsoft YaHei" pitchFamily="34" charset="-122"/>
                <a:cs typeface="Microsoft YaHei" pitchFamily="34" charset="-120"/>
              </a:rPr>
              <a:t>客服/运营岗位最高价值的3个数字员工</a:t>
            </a:r>
            <a:endParaRPr lang="en-US" sz="1800" dirty="0"/>
          </a:p>
        </p:txBody>
      </p:sp>
      <p:sp>
        <p:nvSpPr>
          <p:cNvPr id="4" name="Shape 2"/>
          <p:cNvSpPr/>
          <p:nvPr/>
        </p:nvSpPr>
        <p:spPr>
          <a:xfrm>
            <a:off x="457200" y="914400"/>
            <a:ext cx="2651760" cy="3474720"/>
          </a:xfrm>
          <a:prstGeom prst="roundRect">
            <a:avLst>
              <a:gd name="adj" fmla="val 3448"/>
            </a:avLst>
          </a:prstGeom>
          <a:solidFill>
            <a:srgbClr val="F3F4F6"/>
          </a:solidFill>
          <a:ln/>
        </p:spPr>
      </p:sp>
      <p:sp>
        <p:nvSpPr>
          <p:cNvPr id="5" name="Shape 3"/>
          <p:cNvSpPr/>
          <p:nvPr/>
        </p:nvSpPr>
        <p:spPr>
          <a:xfrm>
            <a:off x="1325880" y="1097280"/>
            <a:ext cx="914400" cy="914400"/>
          </a:xfrm>
          <a:prstGeom prst="ellipse">
            <a:avLst/>
          </a:prstGeom>
          <a:solidFill>
            <a:srgbClr val="EF4444"/>
          </a:solidFill>
          <a:ln/>
        </p:spPr>
      </p:sp>
      <p:sp>
        <p:nvSpPr>
          <p:cNvPr id="6" name="Text 4"/>
          <p:cNvSpPr/>
          <p:nvPr/>
        </p:nvSpPr>
        <p:spPr>
          <a:xfrm>
            <a:off x="1325880" y="1097280"/>
            <a:ext cx="914400" cy="91440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01</a:t>
            </a:r>
            <a:endParaRPr lang="en-US" sz="2000" dirty="0"/>
          </a:p>
        </p:txBody>
      </p:sp>
      <p:sp>
        <p:nvSpPr>
          <p:cNvPr id="7" name="Text 5"/>
          <p:cNvSpPr/>
          <p:nvPr/>
        </p:nvSpPr>
        <p:spPr>
          <a:xfrm>
            <a:off x="548640" y="2103120"/>
            <a:ext cx="2468880" cy="457200"/>
          </a:xfrm>
          <a:prstGeom prst="rect">
            <a:avLst/>
          </a:prstGeom>
          <a:noFill/>
          <a:ln/>
        </p:spPr>
        <p:txBody>
          <a:bodyPr wrap="square" rtlCol="0" anchor="ctr"/>
          <a:lstStyle/>
          <a:p>
            <a:pPr algn="ctr" indent="0" marL="0">
              <a:buNone/>
            </a:pPr>
            <a:r>
              <a:rPr lang="en-US" sz="1300" b="1" dirty="0">
                <a:solidFill>
                  <a:srgbClr val="B91C1C"/>
                </a:solidFill>
                <a:latin typeface="Microsoft YaHei" pitchFamily="34" charset="0"/>
                <a:ea typeface="Microsoft YaHei" pitchFamily="34" charset="-122"/>
                <a:cs typeface="Microsoft YaHei" pitchFamily="34" charset="-120"/>
              </a:rPr>
              <a:t>投诉初判专员</a:t>
            </a:r>
            <a:endParaRPr lang="en-US" sz="1300" dirty="0"/>
          </a:p>
        </p:txBody>
      </p:sp>
      <p:sp>
        <p:nvSpPr>
          <p:cNvPr id="8" name="Shape 6"/>
          <p:cNvSpPr/>
          <p:nvPr/>
        </p:nvSpPr>
        <p:spPr>
          <a:xfrm>
            <a:off x="640080" y="2606040"/>
            <a:ext cx="2286000" cy="36576"/>
          </a:xfrm>
          <a:prstGeom prst="rect">
            <a:avLst/>
          </a:prstGeom>
          <a:solidFill>
            <a:srgbClr val="EF4444"/>
          </a:solidFill>
          <a:ln/>
        </p:spPr>
      </p:sp>
      <p:sp>
        <p:nvSpPr>
          <p:cNvPr id="9" name="Text 7"/>
          <p:cNvSpPr/>
          <p:nvPr/>
        </p:nvSpPr>
        <p:spPr>
          <a:xfrm>
            <a:off x="594360" y="2743200"/>
            <a:ext cx="2377440" cy="640080"/>
          </a:xfrm>
          <a:prstGeom prst="rect">
            <a:avLst/>
          </a:prstGeom>
          <a:noFill/>
          <a:ln/>
        </p:spPr>
        <p:txBody>
          <a:bodyPr wrap="square" rtlCol="0" anchor="ctr"/>
          <a:lstStyle/>
          <a:p>
            <a:pPr indent="0" marL="0">
              <a:buNone/>
            </a:pPr>
            <a:r>
              <a:rPr lang="en-US" sz="1000" dirty="0">
                <a:solidFill>
                  <a:srgbClr val="374151"/>
                </a:solidFill>
                <a:latin typeface="Microsoft YaHei" pitchFamily="34" charset="0"/>
                <a:ea typeface="Microsoft YaHei" pitchFamily="34" charset="-122"/>
                <a:cs typeface="Microsoft YaHei" pitchFamily="34" charset="-120"/>
              </a:rPr>
              <a:t>输入=客户投诉原文</a:t>
            </a:r>
            <a:endParaRPr lang="en-US" sz="1000" dirty="0"/>
          </a:p>
        </p:txBody>
      </p:sp>
      <p:sp>
        <p:nvSpPr>
          <p:cNvPr id="10" name="Text 8"/>
          <p:cNvSpPr/>
          <p:nvPr/>
        </p:nvSpPr>
        <p:spPr>
          <a:xfrm>
            <a:off x="594360" y="3383280"/>
            <a:ext cx="2377440" cy="822960"/>
          </a:xfrm>
          <a:prstGeom prst="rect">
            <a:avLst/>
          </a:prstGeom>
          <a:noFill/>
          <a:ln/>
        </p:spPr>
        <p:txBody>
          <a:bodyPr wrap="square" rtlCol="0" anchor="ctr"/>
          <a:lstStyle/>
          <a:p>
            <a:pPr indent="0" marL="0">
              <a:buNone/>
            </a:pPr>
            <a:r>
              <a:rPr lang="en-US" sz="1000" dirty="0">
                <a:solidFill>
                  <a:srgbClr val="374151"/>
                </a:solidFill>
                <a:latin typeface="Microsoft YaHei" pitchFamily="34" charset="0"/>
                <a:ea typeface="Microsoft YaHei" pitchFamily="34" charset="-122"/>
                <a:cs typeface="Microsoft YaHei" pitchFamily="34" charset="-120"/>
              </a:rPr>
              <a:t>输出=优先级+类型分类+处理建议</a:t>
            </a:r>
            <a:endParaRPr lang="en-US" sz="1000" dirty="0"/>
          </a:p>
        </p:txBody>
      </p:sp>
      <p:sp>
        <p:nvSpPr>
          <p:cNvPr id="11" name="Shape 9"/>
          <p:cNvSpPr/>
          <p:nvPr/>
        </p:nvSpPr>
        <p:spPr>
          <a:xfrm>
            <a:off x="3291840" y="914400"/>
            <a:ext cx="2651760" cy="3474720"/>
          </a:xfrm>
          <a:prstGeom prst="roundRect">
            <a:avLst>
              <a:gd name="adj" fmla="val 3448"/>
            </a:avLst>
          </a:prstGeom>
          <a:solidFill>
            <a:srgbClr val="F3F4F6"/>
          </a:solidFill>
          <a:ln/>
        </p:spPr>
      </p:sp>
      <p:sp>
        <p:nvSpPr>
          <p:cNvPr id="12" name="Shape 10"/>
          <p:cNvSpPr/>
          <p:nvPr/>
        </p:nvSpPr>
        <p:spPr>
          <a:xfrm>
            <a:off x="4160520" y="1097280"/>
            <a:ext cx="914400" cy="914400"/>
          </a:xfrm>
          <a:prstGeom prst="ellipse">
            <a:avLst/>
          </a:prstGeom>
          <a:solidFill>
            <a:srgbClr val="EF4444"/>
          </a:solidFill>
          <a:ln/>
        </p:spPr>
      </p:sp>
      <p:sp>
        <p:nvSpPr>
          <p:cNvPr id="13" name="Text 11"/>
          <p:cNvSpPr/>
          <p:nvPr/>
        </p:nvSpPr>
        <p:spPr>
          <a:xfrm>
            <a:off x="4160520" y="1097280"/>
            <a:ext cx="914400" cy="91440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02</a:t>
            </a:r>
            <a:endParaRPr lang="en-US" sz="2000" dirty="0"/>
          </a:p>
        </p:txBody>
      </p:sp>
      <p:sp>
        <p:nvSpPr>
          <p:cNvPr id="14" name="Text 12"/>
          <p:cNvSpPr/>
          <p:nvPr/>
        </p:nvSpPr>
        <p:spPr>
          <a:xfrm>
            <a:off x="3383280" y="2103120"/>
            <a:ext cx="2468880" cy="457200"/>
          </a:xfrm>
          <a:prstGeom prst="rect">
            <a:avLst/>
          </a:prstGeom>
          <a:noFill/>
          <a:ln/>
        </p:spPr>
        <p:txBody>
          <a:bodyPr wrap="square" rtlCol="0" anchor="ctr"/>
          <a:lstStyle/>
          <a:p>
            <a:pPr algn="ctr" indent="0" marL="0">
              <a:buNone/>
            </a:pPr>
            <a:r>
              <a:rPr lang="en-US" sz="1300" b="1" dirty="0">
                <a:solidFill>
                  <a:srgbClr val="B91C1C"/>
                </a:solidFill>
                <a:latin typeface="Microsoft YaHei" pitchFamily="34" charset="0"/>
                <a:ea typeface="Microsoft YaHei" pitchFamily="34" charset="-122"/>
                <a:cs typeface="Microsoft YaHei" pitchFamily="34" charset="-120"/>
              </a:rPr>
              <a:t>客户情绪识别员</a:t>
            </a:r>
            <a:endParaRPr lang="en-US" sz="1300" dirty="0"/>
          </a:p>
        </p:txBody>
      </p:sp>
      <p:sp>
        <p:nvSpPr>
          <p:cNvPr id="15" name="Shape 13"/>
          <p:cNvSpPr/>
          <p:nvPr/>
        </p:nvSpPr>
        <p:spPr>
          <a:xfrm>
            <a:off x="3474720" y="2606040"/>
            <a:ext cx="2286000" cy="36576"/>
          </a:xfrm>
          <a:prstGeom prst="rect">
            <a:avLst/>
          </a:prstGeom>
          <a:solidFill>
            <a:srgbClr val="EF4444"/>
          </a:solidFill>
          <a:ln/>
        </p:spPr>
      </p:sp>
      <p:sp>
        <p:nvSpPr>
          <p:cNvPr id="16" name="Text 14"/>
          <p:cNvSpPr/>
          <p:nvPr/>
        </p:nvSpPr>
        <p:spPr>
          <a:xfrm>
            <a:off x="3429000" y="2743200"/>
            <a:ext cx="2377440" cy="640080"/>
          </a:xfrm>
          <a:prstGeom prst="rect">
            <a:avLst/>
          </a:prstGeom>
          <a:noFill/>
          <a:ln/>
        </p:spPr>
        <p:txBody>
          <a:bodyPr wrap="square" rtlCol="0" anchor="ctr"/>
          <a:lstStyle/>
          <a:p>
            <a:pPr indent="0" marL="0">
              <a:buNone/>
            </a:pPr>
            <a:r>
              <a:rPr lang="en-US" sz="1000" dirty="0">
                <a:solidFill>
                  <a:srgbClr val="374151"/>
                </a:solidFill>
                <a:latin typeface="Microsoft YaHei" pitchFamily="34" charset="0"/>
                <a:ea typeface="Microsoft YaHei" pitchFamily="34" charset="-122"/>
                <a:cs typeface="Microsoft YaHei" pitchFamily="34" charset="-120"/>
              </a:rPr>
              <a:t>输入=客户沟通消息</a:t>
            </a:r>
            <a:endParaRPr lang="en-US" sz="1000" dirty="0"/>
          </a:p>
        </p:txBody>
      </p:sp>
      <p:sp>
        <p:nvSpPr>
          <p:cNvPr id="17" name="Text 15"/>
          <p:cNvSpPr/>
          <p:nvPr/>
        </p:nvSpPr>
        <p:spPr>
          <a:xfrm>
            <a:off x="3429000" y="3383280"/>
            <a:ext cx="2377440" cy="822960"/>
          </a:xfrm>
          <a:prstGeom prst="rect">
            <a:avLst/>
          </a:prstGeom>
          <a:noFill/>
          <a:ln/>
        </p:spPr>
        <p:txBody>
          <a:bodyPr wrap="square" rtlCol="0" anchor="ctr"/>
          <a:lstStyle/>
          <a:p>
            <a:pPr indent="0" marL="0">
              <a:buNone/>
            </a:pPr>
            <a:r>
              <a:rPr lang="en-US" sz="1000" dirty="0">
                <a:solidFill>
                  <a:srgbClr val="374151"/>
                </a:solidFill>
                <a:latin typeface="Microsoft YaHei" pitchFamily="34" charset="0"/>
                <a:ea typeface="Microsoft YaHei" pitchFamily="34" charset="-122"/>
                <a:cs typeface="Microsoft YaHei" pitchFamily="34" charset="-120"/>
              </a:rPr>
              <a:t>输出=情绪状态+触发情绪的关键信息</a:t>
            </a:r>
            <a:endParaRPr lang="en-US" sz="1000" dirty="0"/>
          </a:p>
        </p:txBody>
      </p:sp>
      <p:sp>
        <p:nvSpPr>
          <p:cNvPr id="18" name="Shape 16"/>
          <p:cNvSpPr/>
          <p:nvPr/>
        </p:nvSpPr>
        <p:spPr>
          <a:xfrm>
            <a:off x="6126480" y="914400"/>
            <a:ext cx="2651760" cy="3474720"/>
          </a:xfrm>
          <a:prstGeom prst="roundRect">
            <a:avLst>
              <a:gd name="adj" fmla="val 3448"/>
            </a:avLst>
          </a:prstGeom>
          <a:solidFill>
            <a:srgbClr val="F3F4F6"/>
          </a:solidFill>
          <a:ln/>
        </p:spPr>
      </p:sp>
      <p:sp>
        <p:nvSpPr>
          <p:cNvPr id="19" name="Shape 17"/>
          <p:cNvSpPr/>
          <p:nvPr/>
        </p:nvSpPr>
        <p:spPr>
          <a:xfrm>
            <a:off x="6995160" y="1097280"/>
            <a:ext cx="914400" cy="914400"/>
          </a:xfrm>
          <a:prstGeom prst="ellipse">
            <a:avLst/>
          </a:prstGeom>
          <a:solidFill>
            <a:srgbClr val="EF4444"/>
          </a:solidFill>
          <a:ln/>
        </p:spPr>
      </p:sp>
      <p:sp>
        <p:nvSpPr>
          <p:cNvPr id="20" name="Text 18"/>
          <p:cNvSpPr/>
          <p:nvPr/>
        </p:nvSpPr>
        <p:spPr>
          <a:xfrm>
            <a:off x="6995160" y="1097280"/>
            <a:ext cx="914400" cy="91440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03</a:t>
            </a:r>
            <a:endParaRPr lang="en-US" sz="2000" dirty="0"/>
          </a:p>
        </p:txBody>
      </p:sp>
      <p:sp>
        <p:nvSpPr>
          <p:cNvPr id="21" name="Text 19"/>
          <p:cNvSpPr/>
          <p:nvPr/>
        </p:nvSpPr>
        <p:spPr>
          <a:xfrm>
            <a:off x="6217920" y="2103120"/>
            <a:ext cx="2468880" cy="457200"/>
          </a:xfrm>
          <a:prstGeom prst="rect">
            <a:avLst/>
          </a:prstGeom>
          <a:noFill/>
          <a:ln/>
        </p:spPr>
        <p:txBody>
          <a:bodyPr wrap="square" rtlCol="0" anchor="ctr"/>
          <a:lstStyle/>
          <a:p>
            <a:pPr algn="ctr" indent="0" marL="0">
              <a:buNone/>
            </a:pPr>
            <a:r>
              <a:rPr lang="en-US" sz="1300" b="1" dirty="0">
                <a:solidFill>
                  <a:srgbClr val="B91C1C"/>
                </a:solidFill>
                <a:latin typeface="Microsoft YaHei" pitchFamily="34" charset="0"/>
                <a:ea typeface="Microsoft YaHei" pitchFamily="34" charset="-122"/>
                <a:cs typeface="Microsoft YaHei" pitchFamily="34" charset="-120"/>
              </a:rPr>
              <a:t>处理效果追踪员</a:t>
            </a:r>
            <a:endParaRPr lang="en-US" sz="1300" dirty="0"/>
          </a:p>
        </p:txBody>
      </p:sp>
      <p:sp>
        <p:nvSpPr>
          <p:cNvPr id="22" name="Shape 20"/>
          <p:cNvSpPr/>
          <p:nvPr/>
        </p:nvSpPr>
        <p:spPr>
          <a:xfrm>
            <a:off x="6309360" y="2606040"/>
            <a:ext cx="2286000" cy="36576"/>
          </a:xfrm>
          <a:prstGeom prst="rect">
            <a:avLst/>
          </a:prstGeom>
          <a:solidFill>
            <a:srgbClr val="EF4444"/>
          </a:solidFill>
          <a:ln/>
        </p:spPr>
      </p:sp>
      <p:sp>
        <p:nvSpPr>
          <p:cNvPr id="23" name="Text 21"/>
          <p:cNvSpPr/>
          <p:nvPr/>
        </p:nvSpPr>
        <p:spPr>
          <a:xfrm>
            <a:off x="6263640" y="2743200"/>
            <a:ext cx="2377440" cy="640080"/>
          </a:xfrm>
          <a:prstGeom prst="rect">
            <a:avLst/>
          </a:prstGeom>
          <a:noFill/>
          <a:ln/>
        </p:spPr>
        <p:txBody>
          <a:bodyPr wrap="square" rtlCol="0" anchor="ctr"/>
          <a:lstStyle/>
          <a:p>
            <a:pPr indent="0" marL="0">
              <a:buNone/>
            </a:pPr>
            <a:r>
              <a:rPr lang="en-US" sz="1000" dirty="0">
                <a:solidFill>
                  <a:srgbClr val="374151"/>
                </a:solidFill>
                <a:latin typeface="Microsoft YaHei" pitchFamily="34" charset="0"/>
                <a:ea typeface="Microsoft YaHei" pitchFamily="34" charset="-122"/>
                <a:cs typeface="Microsoft YaHei" pitchFamily="34" charset="-120"/>
              </a:rPr>
              <a:t>输入=投诉处理过程记录</a:t>
            </a:r>
            <a:endParaRPr lang="en-US" sz="1000" dirty="0"/>
          </a:p>
        </p:txBody>
      </p:sp>
      <p:sp>
        <p:nvSpPr>
          <p:cNvPr id="24" name="Text 22"/>
          <p:cNvSpPr/>
          <p:nvPr/>
        </p:nvSpPr>
        <p:spPr>
          <a:xfrm>
            <a:off x="6263640" y="3383280"/>
            <a:ext cx="2377440" cy="822960"/>
          </a:xfrm>
          <a:prstGeom prst="rect">
            <a:avLst/>
          </a:prstGeom>
          <a:noFill/>
          <a:ln/>
        </p:spPr>
        <p:txBody>
          <a:bodyPr wrap="square" rtlCol="0" anchor="ctr"/>
          <a:lstStyle/>
          <a:p>
            <a:pPr indent="0" marL="0">
              <a:buNone/>
            </a:pPr>
            <a:r>
              <a:rPr lang="en-US" sz="1000" dirty="0">
                <a:solidFill>
                  <a:srgbClr val="374151"/>
                </a:solidFill>
                <a:latin typeface="Microsoft YaHei" pitchFamily="34" charset="0"/>
                <a:ea typeface="Microsoft YaHei" pitchFamily="34" charset="-122"/>
                <a:cs typeface="Microsoft YaHei" pitchFamily="34" charset="-120"/>
              </a:rPr>
              <a:t>输出=是否彻底解决+是否需要跟进</a:t>
            </a:r>
            <a:endParaRPr lang="en-US" sz="1000" dirty="0"/>
          </a:p>
        </p:txBody>
      </p:sp>
      <p:sp>
        <p:nvSpPr>
          <p:cNvPr id="25" name="Text 23"/>
          <p:cNvSpPr/>
          <p:nvPr/>
        </p:nvSpPr>
        <p:spPr>
          <a:xfrm>
            <a:off x="8503920" y="4663440"/>
            <a:ext cx="457200" cy="274320"/>
          </a:xfrm>
          <a:prstGeom prst="rect">
            <a:avLst/>
          </a:prstGeom>
          <a:noFill/>
          <a:ln/>
        </p:spPr>
        <p:txBody>
          <a:bodyPr wrap="square" rtlCol="0" anchor="ctr"/>
          <a:lstStyle/>
          <a:p>
            <a:pPr algn="ctr" indent="0" marL="0">
              <a:buNone/>
            </a:pPr>
            <a:r>
              <a:rPr lang="en-US" sz="1000" dirty="0">
                <a:solidFill>
                  <a:srgbClr val="374151"/>
                </a:solidFill>
                <a:latin typeface="Arial" pitchFamily="34" charset="0"/>
                <a:ea typeface="Arial" pitchFamily="34" charset="-122"/>
                <a:cs typeface="Arial" pitchFamily="34" charset="-120"/>
              </a:rPr>
              <a:t>139</a:t>
            </a:r>
            <a:endParaRPr lang="en-US" sz="100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274320"/>
            <a:ext cx="8229600" cy="457200"/>
          </a:xfrm>
          <a:prstGeom prst="rect">
            <a:avLst/>
          </a:prstGeom>
          <a:noFill/>
          <a:ln/>
        </p:spPr>
        <p:txBody>
          <a:bodyPr wrap="square" rtlCol="0" anchor="ctr"/>
          <a:lstStyle/>
          <a:p>
            <a:pPr indent="0" marL="0">
              <a:buNone/>
            </a:pPr>
            <a:r>
              <a:rPr lang="en-US" sz="1800" b="1" dirty="0">
                <a:solidFill>
                  <a:srgbClr val="B91C1C"/>
                </a:solidFill>
                <a:latin typeface="Microsoft YaHei" pitchFamily="34" charset="0"/>
                <a:ea typeface="Microsoft YaHei" pitchFamily="34" charset="-122"/>
                <a:cs typeface="Microsoft YaHei" pitchFamily="34" charset="-120"/>
              </a:rPr>
              <a:t>运营/数据分析岗位最高价值的3个数字员工</a:t>
            </a:r>
            <a:endParaRPr lang="en-US" sz="1800" dirty="0"/>
          </a:p>
        </p:txBody>
      </p:sp>
      <p:sp>
        <p:nvSpPr>
          <p:cNvPr id="4" name="Shape 2"/>
          <p:cNvSpPr/>
          <p:nvPr/>
        </p:nvSpPr>
        <p:spPr>
          <a:xfrm>
            <a:off x="457200" y="914400"/>
            <a:ext cx="2651760" cy="3474720"/>
          </a:xfrm>
          <a:prstGeom prst="roundRect">
            <a:avLst>
              <a:gd name="adj" fmla="val 3448"/>
            </a:avLst>
          </a:prstGeom>
          <a:solidFill>
            <a:srgbClr val="F3F4F6"/>
          </a:solidFill>
          <a:ln/>
        </p:spPr>
      </p:sp>
      <p:sp>
        <p:nvSpPr>
          <p:cNvPr id="5" name="Shape 3"/>
          <p:cNvSpPr/>
          <p:nvPr/>
        </p:nvSpPr>
        <p:spPr>
          <a:xfrm>
            <a:off x="1325880" y="1097280"/>
            <a:ext cx="914400" cy="914400"/>
          </a:xfrm>
          <a:prstGeom prst="ellipse">
            <a:avLst/>
          </a:prstGeom>
          <a:solidFill>
            <a:srgbClr val="EF4444"/>
          </a:solidFill>
          <a:ln/>
        </p:spPr>
      </p:sp>
      <p:sp>
        <p:nvSpPr>
          <p:cNvPr id="6" name="Text 4"/>
          <p:cNvSpPr/>
          <p:nvPr/>
        </p:nvSpPr>
        <p:spPr>
          <a:xfrm>
            <a:off x="1325880" y="1097280"/>
            <a:ext cx="914400" cy="91440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01</a:t>
            </a:r>
            <a:endParaRPr lang="en-US" sz="2000" dirty="0"/>
          </a:p>
        </p:txBody>
      </p:sp>
      <p:sp>
        <p:nvSpPr>
          <p:cNvPr id="7" name="Text 5"/>
          <p:cNvSpPr/>
          <p:nvPr/>
        </p:nvSpPr>
        <p:spPr>
          <a:xfrm>
            <a:off x="548640" y="2103120"/>
            <a:ext cx="2468880" cy="457200"/>
          </a:xfrm>
          <a:prstGeom prst="rect">
            <a:avLst/>
          </a:prstGeom>
          <a:noFill/>
          <a:ln/>
        </p:spPr>
        <p:txBody>
          <a:bodyPr wrap="square" rtlCol="0" anchor="ctr"/>
          <a:lstStyle/>
          <a:p>
            <a:pPr algn="ctr" indent="0" marL="0">
              <a:buNone/>
            </a:pPr>
            <a:r>
              <a:rPr lang="en-US" sz="1300" b="1" dirty="0">
                <a:solidFill>
                  <a:srgbClr val="B91C1C"/>
                </a:solidFill>
                <a:latin typeface="Microsoft YaHei" pitchFamily="34" charset="0"/>
                <a:ea typeface="Microsoft YaHei" pitchFamily="34" charset="-122"/>
                <a:cs typeface="Microsoft YaHei" pitchFamily="34" charset="-120"/>
              </a:rPr>
              <a:t>数据日报生成员</a:t>
            </a:r>
            <a:endParaRPr lang="en-US" sz="1300" dirty="0"/>
          </a:p>
        </p:txBody>
      </p:sp>
      <p:sp>
        <p:nvSpPr>
          <p:cNvPr id="8" name="Shape 6"/>
          <p:cNvSpPr/>
          <p:nvPr/>
        </p:nvSpPr>
        <p:spPr>
          <a:xfrm>
            <a:off x="640080" y="2606040"/>
            <a:ext cx="2286000" cy="36576"/>
          </a:xfrm>
          <a:prstGeom prst="rect">
            <a:avLst/>
          </a:prstGeom>
          <a:solidFill>
            <a:srgbClr val="EF4444"/>
          </a:solidFill>
          <a:ln/>
        </p:spPr>
      </p:sp>
      <p:sp>
        <p:nvSpPr>
          <p:cNvPr id="9" name="Text 7"/>
          <p:cNvSpPr/>
          <p:nvPr/>
        </p:nvSpPr>
        <p:spPr>
          <a:xfrm>
            <a:off x="594360" y="2743200"/>
            <a:ext cx="2377440" cy="640080"/>
          </a:xfrm>
          <a:prstGeom prst="rect">
            <a:avLst/>
          </a:prstGeom>
          <a:noFill/>
          <a:ln/>
        </p:spPr>
        <p:txBody>
          <a:bodyPr wrap="square" rtlCol="0" anchor="ctr"/>
          <a:lstStyle/>
          <a:p>
            <a:pPr indent="0" marL="0">
              <a:buNone/>
            </a:pPr>
            <a:r>
              <a:rPr lang="en-US" sz="1000" dirty="0">
                <a:solidFill>
                  <a:srgbClr val="374151"/>
                </a:solidFill>
                <a:latin typeface="Microsoft YaHei" pitchFamily="34" charset="0"/>
                <a:ea typeface="Microsoft YaHei" pitchFamily="34" charset="-122"/>
                <a:cs typeface="Microsoft YaHei" pitchFamily="34" charset="-120"/>
              </a:rPr>
              <a:t>输入=当日核心指标数据</a:t>
            </a:r>
            <a:endParaRPr lang="en-US" sz="1000" dirty="0"/>
          </a:p>
        </p:txBody>
      </p:sp>
      <p:sp>
        <p:nvSpPr>
          <p:cNvPr id="10" name="Text 8"/>
          <p:cNvSpPr/>
          <p:nvPr/>
        </p:nvSpPr>
        <p:spPr>
          <a:xfrm>
            <a:off x="594360" y="3383280"/>
            <a:ext cx="2377440" cy="822960"/>
          </a:xfrm>
          <a:prstGeom prst="rect">
            <a:avLst/>
          </a:prstGeom>
          <a:noFill/>
          <a:ln/>
        </p:spPr>
        <p:txBody>
          <a:bodyPr wrap="square" rtlCol="0" anchor="ctr"/>
          <a:lstStyle/>
          <a:p>
            <a:pPr indent="0" marL="0">
              <a:buNone/>
            </a:pPr>
            <a:r>
              <a:rPr lang="en-US" sz="1000" dirty="0">
                <a:solidFill>
                  <a:srgbClr val="374151"/>
                </a:solidFill>
                <a:latin typeface="Microsoft YaHei" pitchFamily="34" charset="0"/>
                <a:ea typeface="Microsoft YaHei" pitchFamily="34" charset="-122"/>
                <a:cs typeface="Microsoft YaHei" pitchFamily="34" charset="-120"/>
              </a:rPr>
              <a:t>输出=与昨日/上周同期对比+异常标注</a:t>
            </a:r>
            <a:endParaRPr lang="en-US" sz="1000" dirty="0"/>
          </a:p>
        </p:txBody>
      </p:sp>
      <p:sp>
        <p:nvSpPr>
          <p:cNvPr id="11" name="Shape 9"/>
          <p:cNvSpPr/>
          <p:nvPr/>
        </p:nvSpPr>
        <p:spPr>
          <a:xfrm>
            <a:off x="3291840" y="914400"/>
            <a:ext cx="2651760" cy="3474720"/>
          </a:xfrm>
          <a:prstGeom prst="roundRect">
            <a:avLst>
              <a:gd name="adj" fmla="val 3448"/>
            </a:avLst>
          </a:prstGeom>
          <a:solidFill>
            <a:srgbClr val="F3F4F6"/>
          </a:solidFill>
          <a:ln/>
        </p:spPr>
      </p:sp>
      <p:sp>
        <p:nvSpPr>
          <p:cNvPr id="12" name="Shape 10"/>
          <p:cNvSpPr/>
          <p:nvPr/>
        </p:nvSpPr>
        <p:spPr>
          <a:xfrm>
            <a:off x="4160520" y="1097280"/>
            <a:ext cx="914400" cy="914400"/>
          </a:xfrm>
          <a:prstGeom prst="ellipse">
            <a:avLst/>
          </a:prstGeom>
          <a:solidFill>
            <a:srgbClr val="EF4444"/>
          </a:solidFill>
          <a:ln/>
        </p:spPr>
      </p:sp>
      <p:sp>
        <p:nvSpPr>
          <p:cNvPr id="13" name="Text 11"/>
          <p:cNvSpPr/>
          <p:nvPr/>
        </p:nvSpPr>
        <p:spPr>
          <a:xfrm>
            <a:off x="4160520" y="1097280"/>
            <a:ext cx="914400" cy="91440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02</a:t>
            </a:r>
            <a:endParaRPr lang="en-US" sz="2000" dirty="0"/>
          </a:p>
        </p:txBody>
      </p:sp>
      <p:sp>
        <p:nvSpPr>
          <p:cNvPr id="14" name="Text 12"/>
          <p:cNvSpPr/>
          <p:nvPr/>
        </p:nvSpPr>
        <p:spPr>
          <a:xfrm>
            <a:off x="3383280" y="2103120"/>
            <a:ext cx="2468880" cy="457200"/>
          </a:xfrm>
          <a:prstGeom prst="rect">
            <a:avLst/>
          </a:prstGeom>
          <a:noFill/>
          <a:ln/>
        </p:spPr>
        <p:txBody>
          <a:bodyPr wrap="square" rtlCol="0" anchor="ctr"/>
          <a:lstStyle/>
          <a:p>
            <a:pPr algn="ctr" indent="0" marL="0">
              <a:buNone/>
            </a:pPr>
            <a:r>
              <a:rPr lang="en-US" sz="1300" b="1" dirty="0">
                <a:solidFill>
                  <a:srgbClr val="B91C1C"/>
                </a:solidFill>
                <a:latin typeface="Microsoft YaHei" pitchFamily="34" charset="0"/>
                <a:ea typeface="Microsoft YaHei" pitchFamily="34" charset="-122"/>
                <a:cs typeface="Microsoft YaHei" pitchFamily="34" charset="-120"/>
              </a:rPr>
              <a:t>异常监控员</a:t>
            </a:r>
            <a:endParaRPr lang="en-US" sz="1300" dirty="0"/>
          </a:p>
        </p:txBody>
      </p:sp>
      <p:sp>
        <p:nvSpPr>
          <p:cNvPr id="15" name="Shape 13"/>
          <p:cNvSpPr/>
          <p:nvPr/>
        </p:nvSpPr>
        <p:spPr>
          <a:xfrm>
            <a:off x="3474720" y="2606040"/>
            <a:ext cx="2286000" cy="36576"/>
          </a:xfrm>
          <a:prstGeom prst="rect">
            <a:avLst/>
          </a:prstGeom>
          <a:solidFill>
            <a:srgbClr val="EF4444"/>
          </a:solidFill>
          <a:ln/>
        </p:spPr>
      </p:sp>
      <p:sp>
        <p:nvSpPr>
          <p:cNvPr id="16" name="Text 14"/>
          <p:cNvSpPr/>
          <p:nvPr/>
        </p:nvSpPr>
        <p:spPr>
          <a:xfrm>
            <a:off x="3429000" y="2743200"/>
            <a:ext cx="2377440" cy="640080"/>
          </a:xfrm>
          <a:prstGeom prst="rect">
            <a:avLst/>
          </a:prstGeom>
          <a:noFill/>
          <a:ln/>
        </p:spPr>
        <p:txBody>
          <a:bodyPr wrap="square" rtlCol="0" anchor="ctr"/>
          <a:lstStyle/>
          <a:p>
            <a:pPr indent="0" marL="0">
              <a:buNone/>
            </a:pPr>
            <a:r>
              <a:rPr lang="en-US" sz="1000" dirty="0">
                <a:solidFill>
                  <a:srgbClr val="374151"/>
                </a:solidFill>
                <a:latin typeface="Microsoft YaHei" pitchFamily="34" charset="0"/>
                <a:ea typeface="Microsoft YaHei" pitchFamily="34" charset="-122"/>
                <a:cs typeface="Microsoft YaHei" pitchFamily="34" charset="-120"/>
              </a:rPr>
              <a:t>输入=实时或每日监控指标</a:t>
            </a:r>
            <a:endParaRPr lang="en-US" sz="1000" dirty="0"/>
          </a:p>
        </p:txBody>
      </p:sp>
      <p:sp>
        <p:nvSpPr>
          <p:cNvPr id="17" name="Text 15"/>
          <p:cNvSpPr/>
          <p:nvPr/>
        </p:nvSpPr>
        <p:spPr>
          <a:xfrm>
            <a:off x="3429000" y="3383280"/>
            <a:ext cx="2377440" cy="822960"/>
          </a:xfrm>
          <a:prstGeom prst="rect">
            <a:avLst/>
          </a:prstGeom>
          <a:noFill/>
          <a:ln/>
        </p:spPr>
        <p:txBody>
          <a:bodyPr wrap="square" rtlCol="0" anchor="ctr"/>
          <a:lstStyle/>
          <a:p>
            <a:pPr indent="0" marL="0">
              <a:buNone/>
            </a:pPr>
            <a:r>
              <a:rPr lang="en-US" sz="1000" dirty="0">
                <a:solidFill>
                  <a:srgbClr val="374151"/>
                </a:solidFill>
                <a:latin typeface="Microsoft YaHei" pitchFamily="34" charset="0"/>
                <a:ea typeface="Microsoft YaHei" pitchFamily="34" charset="-122"/>
                <a:cs typeface="Microsoft YaHei" pitchFamily="34" charset="-120"/>
              </a:rPr>
              <a:t>输出=是否超过基准线+可能原因</a:t>
            </a:r>
            <a:endParaRPr lang="en-US" sz="1000" dirty="0"/>
          </a:p>
        </p:txBody>
      </p:sp>
      <p:sp>
        <p:nvSpPr>
          <p:cNvPr id="18" name="Shape 16"/>
          <p:cNvSpPr/>
          <p:nvPr/>
        </p:nvSpPr>
        <p:spPr>
          <a:xfrm>
            <a:off x="6126480" y="914400"/>
            <a:ext cx="2651760" cy="3474720"/>
          </a:xfrm>
          <a:prstGeom prst="roundRect">
            <a:avLst>
              <a:gd name="adj" fmla="val 3448"/>
            </a:avLst>
          </a:prstGeom>
          <a:solidFill>
            <a:srgbClr val="F3F4F6"/>
          </a:solidFill>
          <a:ln/>
        </p:spPr>
      </p:sp>
      <p:sp>
        <p:nvSpPr>
          <p:cNvPr id="19" name="Shape 17"/>
          <p:cNvSpPr/>
          <p:nvPr/>
        </p:nvSpPr>
        <p:spPr>
          <a:xfrm>
            <a:off x="6995160" y="1097280"/>
            <a:ext cx="914400" cy="914400"/>
          </a:xfrm>
          <a:prstGeom prst="ellipse">
            <a:avLst/>
          </a:prstGeom>
          <a:solidFill>
            <a:srgbClr val="EF4444"/>
          </a:solidFill>
          <a:ln/>
        </p:spPr>
      </p:sp>
      <p:sp>
        <p:nvSpPr>
          <p:cNvPr id="20" name="Text 18"/>
          <p:cNvSpPr/>
          <p:nvPr/>
        </p:nvSpPr>
        <p:spPr>
          <a:xfrm>
            <a:off x="6995160" y="1097280"/>
            <a:ext cx="914400" cy="91440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03</a:t>
            </a:r>
            <a:endParaRPr lang="en-US" sz="2000" dirty="0"/>
          </a:p>
        </p:txBody>
      </p:sp>
      <p:sp>
        <p:nvSpPr>
          <p:cNvPr id="21" name="Text 19"/>
          <p:cNvSpPr/>
          <p:nvPr/>
        </p:nvSpPr>
        <p:spPr>
          <a:xfrm>
            <a:off x="6217920" y="2103120"/>
            <a:ext cx="2468880" cy="457200"/>
          </a:xfrm>
          <a:prstGeom prst="rect">
            <a:avLst/>
          </a:prstGeom>
          <a:noFill/>
          <a:ln/>
        </p:spPr>
        <p:txBody>
          <a:bodyPr wrap="square" rtlCol="0" anchor="ctr"/>
          <a:lstStyle/>
          <a:p>
            <a:pPr algn="ctr" indent="0" marL="0">
              <a:buNone/>
            </a:pPr>
            <a:r>
              <a:rPr lang="en-US" sz="1300" b="1" dirty="0">
                <a:solidFill>
                  <a:srgbClr val="B91C1C"/>
                </a:solidFill>
                <a:latin typeface="Microsoft YaHei" pitchFamily="34" charset="0"/>
                <a:ea typeface="Microsoft YaHei" pitchFamily="34" charset="-122"/>
                <a:cs typeface="Microsoft YaHei" pitchFamily="34" charset="-120"/>
              </a:rPr>
              <a:t>活动复盘员</a:t>
            </a:r>
            <a:endParaRPr lang="en-US" sz="1300" dirty="0"/>
          </a:p>
        </p:txBody>
      </p:sp>
      <p:sp>
        <p:nvSpPr>
          <p:cNvPr id="22" name="Shape 20"/>
          <p:cNvSpPr/>
          <p:nvPr/>
        </p:nvSpPr>
        <p:spPr>
          <a:xfrm>
            <a:off x="6309360" y="2606040"/>
            <a:ext cx="2286000" cy="36576"/>
          </a:xfrm>
          <a:prstGeom prst="rect">
            <a:avLst/>
          </a:prstGeom>
          <a:solidFill>
            <a:srgbClr val="EF4444"/>
          </a:solidFill>
          <a:ln/>
        </p:spPr>
      </p:sp>
      <p:sp>
        <p:nvSpPr>
          <p:cNvPr id="23" name="Text 21"/>
          <p:cNvSpPr/>
          <p:nvPr/>
        </p:nvSpPr>
        <p:spPr>
          <a:xfrm>
            <a:off x="6263640" y="2743200"/>
            <a:ext cx="2377440" cy="640080"/>
          </a:xfrm>
          <a:prstGeom prst="rect">
            <a:avLst/>
          </a:prstGeom>
          <a:noFill/>
          <a:ln/>
        </p:spPr>
        <p:txBody>
          <a:bodyPr wrap="square" rtlCol="0" anchor="ctr"/>
          <a:lstStyle/>
          <a:p>
            <a:pPr indent="0" marL="0">
              <a:buNone/>
            </a:pPr>
            <a:r>
              <a:rPr lang="en-US" sz="1000" dirty="0">
                <a:solidFill>
                  <a:srgbClr val="374151"/>
                </a:solidFill>
                <a:latin typeface="Microsoft YaHei" pitchFamily="34" charset="0"/>
                <a:ea typeface="Microsoft YaHei" pitchFamily="34" charset="-122"/>
                <a:cs typeface="Microsoft YaHei" pitchFamily="34" charset="-120"/>
              </a:rPr>
              <a:t>输入=活动数据报告</a:t>
            </a:r>
            <a:endParaRPr lang="en-US" sz="1000" dirty="0"/>
          </a:p>
        </p:txBody>
      </p:sp>
      <p:sp>
        <p:nvSpPr>
          <p:cNvPr id="24" name="Text 22"/>
          <p:cNvSpPr/>
          <p:nvPr/>
        </p:nvSpPr>
        <p:spPr>
          <a:xfrm>
            <a:off x="6263640" y="3383280"/>
            <a:ext cx="2377440" cy="822960"/>
          </a:xfrm>
          <a:prstGeom prst="rect">
            <a:avLst/>
          </a:prstGeom>
          <a:noFill/>
          <a:ln/>
        </p:spPr>
        <p:txBody>
          <a:bodyPr wrap="square" rtlCol="0" anchor="ctr"/>
          <a:lstStyle/>
          <a:p>
            <a:pPr indent="0" marL="0">
              <a:buNone/>
            </a:pPr>
            <a:r>
              <a:rPr lang="en-US" sz="1000" dirty="0">
                <a:solidFill>
                  <a:srgbClr val="374151"/>
                </a:solidFill>
                <a:latin typeface="Microsoft YaHei" pitchFamily="34" charset="0"/>
                <a:ea typeface="Microsoft YaHei" pitchFamily="34" charset="-122"/>
                <a:cs typeface="Microsoft YaHei" pitchFamily="34" charset="-120"/>
              </a:rPr>
              <a:t>输出=与历史同类活动对比+改进建议</a:t>
            </a:r>
            <a:endParaRPr lang="en-US" sz="1000" dirty="0"/>
          </a:p>
        </p:txBody>
      </p:sp>
      <p:sp>
        <p:nvSpPr>
          <p:cNvPr id="25" name="Text 23"/>
          <p:cNvSpPr/>
          <p:nvPr/>
        </p:nvSpPr>
        <p:spPr>
          <a:xfrm>
            <a:off x="8503920" y="4663440"/>
            <a:ext cx="457200" cy="274320"/>
          </a:xfrm>
          <a:prstGeom prst="rect">
            <a:avLst/>
          </a:prstGeom>
          <a:noFill/>
          <a:ln/>
        </p:spPr>
        <p:txBody>
          <a:bodyPr wrap="square" rtlCol="0" anchor="ctr"/>
          <a:lstStyle/>
          <a:p>
            <a:pPr algn="ctr" indent="0" marL="0">
              <a:buNone/>
            </a:pPr>
            <a:r>
              <a:rPr lang="en-US" sz="1000" dirty="0">
                <a:solidFill>
                  <a:srgbClr val="374151"/>
                </a:solidFill>
                <a:latin typeface="Arial" pitchFamily="34" charset="0"/>
                <a:ea typeface="Arial" pitchFamily="34" charset="-122"/>
                <a:cs typeface="Arial" pitchFamily="34" charset="-120"/>
              </a:rPr>
              <a:t>140</a:t>
            </a:r>
            <a:endParaRPr lang="en-US" sz="100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274320"/>
            <a:ext cx="8229600" cy="457200"/>
          </a:xfrm>
          <a:prstGeom prst="rect">
            <a:avLst/>
          </a:prstGeom>
          <a:noFill/>
          <a:ln/>
        </p:spPr>
        <p:txBody>
          <a:bodyPr wrap="square" rtlCol="0" anchor="ctr"/>
          <a:lstStyle/>
          <a:p>
            <a:pPr indent="0" marL="0">
              <a:buNone/>
            </a:pPr>
            <a:r>
              <a:rPr lang="en-US" sz="1800" b="1" dirty="0">
                <a:solidFill>
                  <a:srgbClr val="B91C1C"/>
                </a:solidFill>
                <a:latin typeface="Microsoft YaHei" pitchFamily="34" charset="0"/>
                <a:ea typeface="Microsoft YaHei" pitchFamily="34" charset="-122"/>
                <a:cs typeface="Microsoft YaHei" pitchFamily="34" charset="-120"/>
              </a:rPr>
              <a:t>产品/需求管理岗位最高价值的3个数字员工</a:t>
            </a:r>
            <a:endParaRPr lang="en-US" sz="1800" dirty="0"/>
          </a:p>
        </p:txBody>
      </p:sp>
      <p:sp>
        <p:nvSpPr>
          <p:cNvPr id="4" name="Shape 2"/>
          <p:cNvSpPr/>
          <p:nvPr/>
        </p:nvSpPr>
        <p:spPr>
          <a:xfrm>
            <a:off x="457200" y="914400"/>
            <a:ext cx="2651760" cy="3474720"/>
          </a:xfrm>
          <a:prstGeom prst="roundRect">
            <a:avLst>
              <a:gd name="adj" fmla="val 3448"/>
            </a:avLst>
          </a:prstGeom>
          <a:solidFill>
            <a:srgbClr val="F3F4F6"/>
          </a:solidFill>
          <a:ln/>
        </p:spPr>
      </p:sp>
      <p:sp>
        <p:nvSpPr>
          <p:cNvPr id="5" name="Shape 3"/>
          <p:cNvSpPr/>
          <p:nvPr/>
        </p:nvSpPr>
        <p:spPr>
          <a:xfrm>
            <a:off x="1325880" y="1097280"/>
            <a:ext cx="914400" cy="914400"/>
          </a:xfrm>
          <a:prstGeom prst="ellipse">
            <a:avLst/>
          </a:prstGeom>
          <a:solidFill>
            <a:srgbClr val="EF4444"/>
          </a:solidFill>
          <a:ln/>
        </p:spPr>
      </p:sp>
      <p:sp>
        <p:nvSpPr>
          <p:cNvPr id="6" name="Text 4"/>
          <p:cNvSpPr/>
          <p:nvPr/>
        </p:nvSpPr>
        <p:spPr>
          <a:xfrm>
            <a:off x="1325880" y="1097280"/>
            <a:ext cx="914400" cy="91440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01</a:t>
            </a:r>
            <a:endParaRPr lang="en-US" sz="2000" dirty="0"/>
          </a:p>
        </p:txBody>
      </p:sp>
      <p:sp>
        <p:nvSpPr>
          <p:cNvPr id="7" name="Text 5"/>
          <p:cNvSpPr/>
          <p:nvPr/>
        </p:nvSpPr>
        <p:spPr>
          <a:xfrm>
            <a:off x="548640" y="2103120"/>
            <a:ext cx="2468880" cy="457200"/>
          </a:xfrm>
          <a:prstGeom prst="rect">
            <a:avLst/>
          </a:prstGeom>
          <a:noFill/>
          <a:ln/>
        </p:spPr>
        <p:txBody>
          <a:bodyPr wrap="square" rtlCol="0" anchor="ctr"/>
          <a:lstStyle/>
          <a:p>
            <a:pPr algn="ctr" indent="0" marL="0">
              <a:buNone/>
            </a:pPr>
            <a:r>
              <a:rPr lang="en-US" sz="1300" b="1" dirty="0">
                <a:solidFill>
                  <a:srgbClr val="B91C1C"/>
                </a:solidFill>
                <a:latin typeface="Microsoft YaHei" pitchFamily="34" charset="0"/>
                <a:ea typeface="Microsoft YaHei" pitchFamily="34" charset="-122"/>
                <a:cs typeface="Microsoft YaHei" pitchFamily="34" charset="-120"/>
              </a:rPr>
              <a:t>需求有效性评估员</a:t>
            </a:r>
            <a:endParaRPr lang="en-US" sz="1300" dirty="0"/>
          </a:p>
        </p:txBody>
      </p:sp>
      <p:sp>
        <p:nvSpPr>
          <p:cNvPr id="8" name="Shape 6"/>
          <p:cNvSpPr/>
          <p:nvPr/>
        </p:nvSpPr>
        <p:spPr>
          <a:xfrm>
            <a:off x="640080" y="2606040"/>
            <a:ext cx="2286000" cy="36576"/>
          </a:xfrm>
          <a:prstGeom prst="rect">
            <a:avLst/>
          </a:prstGeom>
          <a:solidFill>
            <a:srgbClr val="EF4444"/>
          </a:solidFill>
          <a:ln/>
        </p:spPr>
      </p:sp>
      <p:sp>
        <p:nvSpPr>
          <p:cNvPr id="9" name="Text 7"/>
          <p:cNvSpPr/>
          <p:nvPr/>
        </p:nvSpPr>
        <p:spPr>
          <a:xfrm>
            <a:off x="594360" y="2743200"/>
            <a:ext cx="2377440" cy="640080"/>
          </a:xfrm>
          <a:prstGeom prst="rect">
            <a:avLst/>
          </a:prstGeom>
          <a:noFill/>
          <a:ln/>
        </p:spPr>
        <p:txBody>
          <a:bodyPr wrap="square" rtlCol="0" anchor="ctr"/>
          <a:lstStyle/>
          <a:p>
            <a:pPr indent="0" marL="0">
              <a:buNone/>
            </a:pPr>
            <a:r>
              <a:rPr lang="en-US" sz="1000" dirty="0">
                <a:solidFill>
                  <a:srgbClr val="374151"/>
                </a:solidFill>
                <a:latin typeface="Microsoft YaHei" pitchFamily="34" charset="0"/>
                <a:ea typeface="Microsoft YaHei" pitchFamily="34" charset="-122"/>
                <a:cs typeface="Microsoft YaHei" pitchFamily="34" charset="-120"/>
              </a:rPr>
              <a:t>输入=用户提交的需求描述</a:t>
            </a:r>
            <a:endParaRPr lang="en-US" sz="1000" dirty="0"/>
          </a:p>
        </p:txBody>
      </p:sp>
      <p:sp>
        <p:nvSpPr>
          <p:cNvPr id="10" name="Text 8"/>
          <p:cNvSpPr/>
          <p:nvPr/>
        </p:nvSpPr>
        <p:spPr>
          <a:xfrm>
            <a:off x="594360" y="3383280"/>
            <a:ext cx="2377440" cy="822960"/>
          </a:xfrm>
          <a:prstGeom prst="rect">
            <a:avLst/>
          </a:prstGeom>
          <a:noFill/>
          <a:ln/>
        </p:spPr>
        <p:txBody>
          <a:bodyPr wrap="square" rtlCol="0" anchor="ctr"/>
          <a:lstStyle/>
          <a:p>
            <a:pPr indent="0" marL="0">
              <a:buNone/>
            </a:pPr>
            <a:r>
              <a:rPr lang="en-US" sz="1000" dirty="0">
                <a:solidFill>
                  <a:srgbClr val="374151"/>
                </a:solidFill>
                <a:latin typeface="Microsoft YaHei" pitchFamily="34" charset="0"/>
                <a:ea typeface="Microsoft YaHei" pitchFamily="34" charset="-122"/>
                <a:cs typeface="Microsoft YaHei" pitchFamily="34" charset="-120"/>
              </a:rPr>
              <a:t>输出=完整性评估+优先级建议</a:t>
            </a:r>
            <a:endParaRPr lang="en-US" sz="1000" dirty="0"/>
          </a:p>
        </p:txBody>
      </p:sp>
      <p:sp>
        <p:nvSpPr>
          <p:cNvPr id="11" name="Shape 9"/>
          <p:cNvSpPr/>
          <p:nvPr/>
        </p:nvSpPr>
        <p:spPr>
          <a:xfrm>
            <a:off x="3291840" y="914400"/>
            <a:ext cx="2651760" cy="3474720"/>
          </a:xfrm>
          <a:prstGeom prst="roundRect">
            <a:avLst>
              <a:gd name="adj" fmla="val 3448"/>
            </a:avLst>
          </a:prstGeom>
          <a:solidFill>
            <a:srgbClr val="F3F4F6"/>
          </a:solidFill>
          <a:ln/>
        </p:spPr>
      </p:sp>
      <p:sp>
        <p:nvSpPr>
          <p:cNvPr id="12" name="Shape 10"/>
          <p:cNvSpPr/>
          <p:nvPr/>
        </p:nvSpPr>
        <p:spPr>
          <a:xfrm>
            <a:off x="4160520" y="1097280"/>
            <a:ext cx="914400" cy="914400"/>
          </a:xfrm>
          <a:prstGeom prst="ellipse">
            <a:avLst/>
          </a:prstGeom>
          <a:solidFill>
            <a:srgbClr val="EF4444"/>
          </a:solidFill>
          <a:ln/>
        </p:spPr>
      </p:sp>
      <p:sp>
        <p:nvSpPr>
          <p:cNvPr id="13" name="Text 11"/>
          <p:cNvSpPr/>
          <p:nvPr/>
        </p:nvSpPr>
        <p:spPr>
          <a:xfrm>
            <a:off x="4160520" y="1097280"/>
            <a:ext cx="914400" cy="91440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02</a:t>
            </a:r>
            <a:endParaRPr lang="en-US" sz="2000" dirty="0"/>
          </a:p>
        </p:txBody>
      </p:sp>
      <p:sp>
        <p:nvSpPr>
          <p:cNvPr id="14" name="Text 12"/>
          <p:cNvSpPr/>
          <p:nvPr/>
        </p:nvSpPr>
        <p:spPr>
          <a:xfrm>
            <a:off x="3383280" y="2103120"/>
            <a:ext cx="2468880" cy="457200"/>
          </a:xfrm>
          <a:prstGeom prst="rect">
            <a:avLst/>
          </a:prstGeom>
          <a:noFill/>
          <a:ln/>
        </p:spPr>
        <p:txBody>
          <a:bodyPr wrap="square" rtlCol="0" anchor="ctr"/>
          <a:lstStyle/>
          <a:p>
            <a:pPr algn="ctr" indent="0" marL="0">
              <a:buNone/>
            </a:pPr>
            <a:r>
              <a:rPr lang="en-US" sz="1300" b="1" dirty="0">
                <a:solidFill>
                  <a:srgbClr val="B91C1C"/>
                </a:solidFill>
                <a:latin typeface="Microsoft YaHei" pitchFamily="34" charset="0"/>
                <a:ea typeface="Microsoft YaHei" pitchFamily="34" charset="-122"/>
                <a:cs typeface="Microsoft YaHei" pitchFamily="34" charset="-120"/>
              </a:rPr>
              <a:t>用户反馈分类员</a:t>
            </a:r>
            <a:endParaRPr lang="en-US" sz="1300" dirty="0"/>
          </a:p>
        </p:txBody>
      </p:sp>
      <p:sp>
        <p:nvSpPr>
          <p:cNvPr id="15" name="Shape 13"/>
          <p:cNvSpPr/>
          <p:nvPr/>
        </p:nvSpPr>
        <p:spPr>
          <a:xfrm>
            <a:off x="3474720" y="2606040"/>
            <a:ext cx="2286000" cy="36576"/>
          </a:xfrm>
          <a:prstGeom prst="rect">
            <a:avLst/>
          </a:prstGeom>
          <a:solidFill>
            <a:srgbClr val="EF4444"/>
          </a:solidFill>
          <a:ln/>
        </p:spPr>
      </p:sp>
      <p:sp>
        <p:nvSpPr>
          <p:cNvPr id="16" name="Text 14"/>
          <p:cNvSpPr/>
          <p:nvPr/>
        </p:nvSpPr>
        <p:spPr>
          <a:xfrm>
            <a:off x="3429000" y="2743200"/>
            <a:ext cx="2377440" cy="640080"/>
          </a:xfrm>
          <a:prstGeom prst="rect">
            <a:avLst/>
          </a:prstGeom>
          <a:noFill/>
          <a:ln/>
        </p:spPr>
        <p:txBody>
          <a:bodyPr wrap="square" rtlCol="0" anchor="ctr"/>
          <a:lstStyle/>
          <a:p>
            <a:pPr indent="0" marL="0">
              <a:buNone/>
            </a:pPr>
            <a:r>
              <a:rPr lang="en-US" sz="1000" dirty="0">
                <a:solidFill>
                  <a:srgbClr val="374151"/>
                </a:solidFill>
                <a:latin typeface="Microsoft YaHei" pitchFamily="34" charset="0"/>
                <a:ea typeface="Microsoft YaHei" pitchFamily="34" charset="-122"/>
                <a:cs typeface="Microsoft YaHei" pitchFamily="34" charset="-120"/>
              </a:rPr>
              <a:t>输入=用户反馈原文</a:t>
            </a:r>
            <a:endParaRPr lang="en-US" sz="1000" dirty="0"/>
          </a:p>
        </p:txBody>
      </p:sp>
      <p:sp>
        <p:nvSpPr>
          <p:cNvPr id="17" name="Text 15"/>
          <p:cNvSpPr/>
          <p:nvPr/>
        </p:nvSpPr>
        <p:spPr>
          <a:xfrm>
            <a:off x="3429000" y="3383280"/>
            <a:ext cx="2377440" cy="822960"/>
          </a:xfrm>
          <a:prstGeom prst="rect">
            <a:avLst/>
          </a:prstGeom>
          <a:noFill/>
          <a:ln/>
        </p:spPr>
        <p:txBody>
          <a:bodyPr wrap="square" rtlCol="0" anchor="ctr"/>
          <a:lstStyle/>
          <a:p>
            <a:pPr indent="0" marL="0">
              <a:buNone/>
            </a:pPr>
            <a:r>
              <a:rPr lang="en-US" sz="1000" dirty="0">
                <a:solidFill>
                  <a:srgbClr val="374151"/>
                </a:solidFill>
                <a:latin typeface="Microsoft YaHei" pitchFamily="34" charset="0"/>
                <a:ea typeface="Microsoft YaHei" pitchFamily="34" charset="-122"/>
                <a:cs typeface="Microsoft YaHei" pitchFamily="34" charset="-120"/>
              </a:rPr>
              <a:t>输出=分类+紧急程度+是否需要关联</a:t>
            </a:r>
            <a:endParaRPr lang="en-US" sz="1000" dirty="0"/>
          </a:p>
        </p:txBody>
      </p:sp>
      <p:sp>
        <p:nvSpPr>
          <p:cNvPr id="18" name="Shape 16"/>
          <p:cNvSpPr/>
          <p:nvPr/>
        </p:nvSpPr>
        <p:spPr>
          <a:xfrm>
            <a:off x="6126480" y="914400"/>
            <a:ext cx="2651760" cy="3474720"/>
          </a:xfrm>
          <a:prstGeom prst="roundRect">
            <a:avLst>
              <a:gd name="adj" fmla="val 3448"/>
            </a:avLst>
          </a:prstGeom>
          <a:solidFill>
            <a:srgbClr val="F3F4F6"/>
          </a:solidFill>
          <a:ln/>
        </p:spPr>
      </p:sp>
      <p:sp>
        <p:nvSpPr>
          <p:cNvPr id="19" name="Shape 17"/>
          <p:cNvSpPr/>
          <p:nvPr/>
        </p:nvSpPr>
        <p:spPr>
          <a:xfrm>
            <a:off x="6995160" y="1097280"/>
            <a:ext cx="914400" cy="914400"/>
          </a:xfrm>
          <a:prstGeom prst="ellipse">
            <a:avLst/>
          </a:prstGeom>
          <a:solidFill>
            <a:srgbClr val="EF4444"/>
          </a:solidFill>
          <a:ln/>
        </p:spPr>
      </p:sp>
      <p:sp>
        <p:nvSpPr>
          <p:cNvPr id="20" name="Text 18"/>
          <p:cNvSpPr/>
          <p:nvPr/>
        </p:nvSpPr>
        <p:spPr>
          <a:xfrm>
            <a:off x="6995160" y="1097280"/>
            <a:ext cx="914400" cy="91440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03</a:t>
            </a:r>
            <a:endParaRPr lang="en-US" sz="2000" dirty="0"/>
          </a:p>
        </p:txBody>
      </p:sp>
      <p:sp>
        <p:nvSpPr>
          <p:cNvPr id="21" name="Text 19"/>
          <p:cNvSpPr/>
          <p:nvPr/>
        </p:nvSpPr>
        <p:spPr>
          <a:xfrm>
            <a:off x="6217920" y="2103120"/>
            <a:ext cx="2468880" cy="457200"/>
          </a:xfrm>
          <a:prstGeom prst="rect">
            <a:avLst/>
          </a:prstGeom>
          <a:noFill/>
          <a:ln/>
        </p:spPr>
        <p:txBody>
          <a:bodyPr wrap="square" rtlCol="0" anchor="ctr"/>
          <a:lstStyle/>
          <a:p>
            <a:pPr algn="ctr" indent="0" marL="0">
              <a:buNone/>
            </a:pPr>
            <a:r>
              <a:rPr lang="en-US" sz="1300" b="1" dirty="0">
                <a:solidFill>
                  <a:srgbClr val="B91C1C"/>
                </a:solidFill>
                <a:latin typeface="Microsoft YaHei" pitchFamily="34" charset="0"/>
                <a:ea typeface="Microsoft YaHei" pitchFamily="34" charset="-122"/>
                <a:cs typeface="Microsoft YaHei" pitchFamily="34" charset="-120"/>
              </a:rPr>
              <a:t>版本更新说明生成员</a:t>
            </a:r>
            <a:endParaRPr lang="en-US" sz="1300" dirty="0"/>
          </a:p>
        </p:txBody>
      </p:sp>
      <p:sp>
        <p:nvSpPr>
          <p:cNvPr id="22" name="Shape 20"/>
          <p:cNvSpPr/>
          <p:nvPr/>
        </p:nvSpPr>
        <p:spPr>
          <a:xfrm>
            <a:off x="6309360" y="2606040"/>
            <a:ext cx="2286000" cy="36576"/>
          </a:xfrm>
          <a:prstGeom prst="rect">
            <a:avLst/>
          </a:prstGeom>
          <a:solidFill>
            <a:srgbClr val="EF4444"/>
          </a:solidFill>
          <a:ln/>
        </p:spPr>
      </p:sp>
      <p:sp>
        <p:nvSpPr>
          <p:cNvPr id="23" name="Text 21"/>
          <p:cNvSpPr/>
          <p:nvPr/>
        </p:nvSpPr>
        <p:spPr>
          <a:xfrm>
            <a:off x="6263640" y="2743200"/>
            <a:ext cx="2377440" cy="640080"/>
          </a:xfrm>
          <a:prstGeom prst="rect">
            <a:avLst/>
          </a:prstGeom>
          <a:noFill/>
          <a:ln/>
        </p:spPr>
        <p:txBody>
          <a:bodyPr wrap="square" rtlCol="0" anchor="ctr"/>
          <a:lstStyle/>
          <a:p>
            <a:pPr indent="0" marL="0">
              <a:buNone/>
            </a:pPr>
            <a:r>
              <a:rPr lang="en-US" sz="1000" dirty="0">
                <a:solidFill>
                  <a:srgbClr val="374151"/>
                </a:solidFill>
                <a:latin typeface="Microsoft YaHei" pitchFamily="34" charset="0"/>
                <a:ea typeface="Microsoft YaHei" pitchFamily="34" charset="-122"/>
                <a:cs typeface="Microsoft YaHei" pitchFamily="34" charset="-120"/>
              </a:rPr>
              <a:t>输入=开发任务列表和修复清单</a:t>
            </a:r>
            <a:endParaRPr lang="en-US" sz="1000" dirty="0"/>
          </a:p>
        </p:txBody>
      </p:sp>
      <p:sp>
        <p:nvSpPr>
          <p:cNvPr id="24" name="Text 22"/>
          <p:cNvSpPr/>
          <p:nvPr/>
        </p:nvSpPr>
        <p:spPr>
          <a:xfrm>
            <a:off x="6263640" y="3383280"/>
            <a:ext cx="2377440" cy="822960"/>
          </a:xfrm>
          <a:prstGeom prst="rect">
            <a:avLst/>
          </a:prstGeom>
          <a:noFill/>
          <a:ln/>
        </p:spPr>
        <p:txBody>
          <a:bodyPr wrap="square" rtlCol="0" anchor="ctr"/>
          <a:lstStyle/>
          <a:p>
            <a:pPr indent="0" marL="0">
              <a:buNone/>
            </a:pPr>
            <a:r>
              <a:rPr lang="en-US" sz="1000" dirty="0">
                <a:solidFill>
                  <a:srgbClr val="374151"/>
                </a:solidFill>
                <a:latin typeface="Microsoft YaHei" pitchFamily="34" charset="0"/>
                <a:ea typeface="Microsoft YaHei" pitchFamily="34" charset="-122"/>
                <a:cs typeface="Microsoft YaHei" pitchFamily="34" charset="-120"/>
              </a:rPr>
              <a:t>输出=面向用户的更新说明</a:t>
            </a:r>
            <a:endParaRPr lang="en-US" sz="1000" dirty="0"/>
          </a:p>
        </p:txBody>
      </p:sp>
      <p:sp>
        <p:nvSpPr>
          <p:cNvPr id="25" name="Text 23"/>
          <p:cNvSpPr/>
          <p:nvPr/>
        </p:nvSpPr>
        <p:spPr>
          <a:xfrm>
            <a:off x="8503920" y="4663440"/>
            <a:ext cx="457200" cy="274320"/>
          </a:xfrm>
          <a:prstGeom prst="rect">
            <a:avLst/>
          </a:prstGeom>
          <a:noFill/>
          <a:ln/>
        </p:spPr>
        <p:txBody>
          <a:bodyPr wrap="square" rtlCol="0" anchor="ctr"/>
          <a:lstStyle/>
          <a:p>
            <a:pPr algn="ctr" indent="0" marL="0">
              <a:buNone/>
            </a:pPr>
            <a:r>
              <a:rPr lang="en-US" sz="1000" dirty="0">
                <a:solidFill>
                  <a:srgbClr val="374151"/>
                </a:solidFill>
                <a:latin typeface="Arial" pitchFamily="34" charset="0"/>
                <a:ea typeface="Arial" pitchFamily="34" charset="-122"/>
                <a:cs typeface="Arial" pitchFamily="34" charset="-120"/>
              </a:rPr>
              <a:t>141</a:t>
            </a:r>
            <a:endParaRPr lang="en-US" sz="100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274320"/>
            <a:ext cx="8229600" cy="457200"/>
          </a:xfrm>
          <a:prstGeom prst="rect">
            <a:avLst/>
          </a:prstGeom>
          <a:noFill/>
          <a:ln/>
        </p:spPr>
        <p:txBody>
          <a:bodyPr wrap="square" rtlCol="0" anchor="ctr"/>
          <a:lstStyle/>
          <a:p>
            <a:pPr indent="0" marL="0">
              <a:buNone/>
            </a:pPr>
            <a:r>
              <a:rPr lang="en-US" sz="1800" b="1" dirty="0">
                <a:solidFill>
                  <a:srgbClr val="B91C1C"/>
                </a:solidFill>
                <a:latin typeface="Microsoft YaHei" pitchFamily="34" charset="0"/>
                <a:ea typeface="Microsoft YaHei" pitchFamily="34" charset="-122"/>
                <a:cs typeface="Microsoft YaHei" pitchFamily="34" charset="-120"/>
              </a:rPr>
              <a:t>财务/合规岗位最高价值的3个数字员工</a:t>
            </a:r>
            <a:endParaRPr lang="en-US" sz="1800" dirty="0"/>
          </a:p>
        </p:txBody>
      </p:sp>
      <p:sp>
        <p:nvSpPr>
          <p:cNvPr id="4" name="Shape 2"/>
          <p:cNvSpPr/>
          <p:nvPr/>
        </p:nvSpPr>
        <p:spPr>
          <a:xfrm>
            <a:off x="457200" y="914400"/>
            <a:ext cx="2651760" cy="3474720"/>
          </a:xfrm>
          <a:prstGeom prst="roundRect">
            <a:avLst>
              <a:gd name="adj" fmla="val 3448"/>
            </a:avLst>
          </a:prstGeom>
          <a:solidFill>
            <a:srgbClr val="F3F4F6"/>
          </a:solidFill>
          <a:ln/>
        </p:spPr>
      </p:sp>
      <p:sp>
        <p:nvSpPr>
          <p:cNvPr id="5" name="Shape 3"/>
          <p:cNvSpPr/>
          <p:nvPr/>
        </p:nvSpPr>
        <p:spPr>
          <a:xfrm>
            <a:off x="1325880" y="1097280"/>
            <a:ext cx="914400" cy="914400"/>
          </a:xfrm>
          <a:prstGeom prst="ellipse">
            <a:avLst/>
          </a:prstGeom>
          <a:solidFill>
            <a:srgbClr val="EF4444"/>
          </a:solidFill>
          <a:ln/>
        </p:spPr>
      </p:sp>
      <p:sp>
        <p:nvSpPr>
          <p:cNvPr id="6" name="Text 4"/>
          <p:cNvSpPr/>
          <p:nvPr/>
        </p:nvSpPr>
        <p:spPr>
          <a:xfrm>
            <a:off x="1325880" y="1097280"/>
            <a:ext cx="914400" cy="91440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01</a:t>
            </a:r>
            <a:endParaRPr lang="en-US" sz="2000" dirty="0"/>
          </a:p>
        </p:txBody>
      </p:sp>
      <p:sp>
        <p:nvSpPr>
          <p:cNvPr id="7" name="Text 5"/>
          <p:cNvSpPr/>
          <p:nvPr/>
        </p:nvSpPr>
        <p:spPr>
          <a:xfrm>
            <a:off x="548640" y="2103120"/>
            <a:ext cx="2468880" cy="457200"/>
          </a:xfrm>
          <a:prstGeom prst="rect">
            <a:avLst/>
          </a:prstGeom>
          <a:noFill/>
          <a:ln/>
        </p:spPr>
        <p:txBody>
          <a:bodyPr wrap="square" rtlCol="0" anchor="ctr"/>
          <a:lstStyle/>
          <a:p>
            <a:pPr algn="ctr" indent="0" marL="0">
              <a:buNone/>
            </a:pPr>
            <a:r>
              <a:rPr lang="en-US" sz="1300" b="1" dirty="0">
                <a:solidFill>
                  <a:srgbClr val="B91C1C"/>
                </a:solidFill>
                <a:latin typeface="Microsoft YaHei" pitchFamily="34" charset="0"/>
                <a:ea typeface="Microsoft YaHei" pitchFamily="34" charset="-122"/>
                <a:cs typeface="Microsoft YaHei" pitchFamily="34" charset="-120"/>
              </a:rPr>
              <a:t>发票要件审查员</a:t>
            </a:r>
            <a:endParaRPr lang="en-US" sz="1300" dirty="0"/>
          </a:p>
        </p:txBody>
      </p:sp>
      <p:sp>
        <p:nvSpPr>
          <p:cNvPr id="8" name="Shape 6"/>
          <p:cNvSpPr/>
          <p:nvPr/>
        </p:nvSpPr>
        <p:spPr>
          <a:xfrm>
            <a:off x="640080" y="2606040"/>
            <a:ext cx="2286000" cy="36576"/>
          </a:xfrm>
          <a:prstGeom prst="rect">
            <a:avLst/>
          </a:prstGeom>
          <a:solidFill>
            <a:srgbClr val="EF4444"/>
          </a:solidFill>
          <a:ln/>
        </p:spPr>
      </p:sp>
      <p:sp>
        <p:nvSpPr>
          <p:cNvPr id="9" name="Text 7"/>
          <p:cNvSpPr/>
          <p:nvPr/>
        </p:nvSpPr>
        <p:spPr>
          <a:xfrm>
            <a:off x="594360" y="2743200"/>
            <a:ext cx="2377440" cy="640080"/>
          </a:xfrm>
          <a:prstGeom prst="rect">
            <a:avLst/>
          </a:prstGeom>
          <a:noFill/>
          <a:ln/>
        </p:spPr>
        <p:txBody>
          <a:bodyPr wrap="square" rtlCol="0" anchor="ctr"/>
          <a:lstStyle/>
          <a:p>
            <a:pPr indent="0" marL="0">
              <a:buNone/>
            </a:pPr>
            <a:r>
              <a:rPr lang="en-US" sz="1000" dirty="0">
                <a:solidFill>
                  <a:srgbClr val="374151"/>
                </a:solidFill>
                <a:latin typeface="Microsoft YaHei" pitchFamily="34" charset="0"/>
                <a:ea typeface="Microsoft YaHei" pitchFamily="34" charset="-122"/>
                <a:cs typeface="Microsoft YaHei" pitchFamily="34" charset="-120"/>
              </a:rPr>
              <a:t>输入=发票扫描件或关键字段</a:t>
            </a:r>
            <a:endParaRPr lang="en-US" sz="1000" dirty="0"/>
          </a:p>
        </p:txBody>
      </p:sp>
      <p:sp>
        <p:nvSpPr>
          <p:cNvPr id="10" name="Text 8"/>
          <p:cNvSpPr/>
          <p:nvPr/>
        </p:nvSpPr>
        <p:spPr>
          <a:xfrm>
            <a:off x="594360" y="3383280"/>
            <a:ext cx="2377440" cy="822960"/>
          </a:xfrm>
          <a:prstGeom prst="rect">
            <a:avLst/>
          </a:prstGeom>
          <a:noFill/>
          <a:ln/>
        </p:spPr>
        <p:txBody>
          <a:bodyPr wrap="square" rtlCol="0" anchor="ctr"/>
          <a:lstStyle/>
          <a:p>
            <a:pPr indent="0" marL="0">
              <a:buNone/>
            </a:pPr>
            <a:r>
              <a:rPr lang="en-US" sz="1000" dirty="0">
                <a:solidFill>
                  <a:srgbClr val="374151"/>
                </a:solidFill>
                <a:latin typeface="Microsoft YaHei" pitchFamily="34" charset="0"/>
                <a:ea typeface="Microsoft YaHei" pitchFamily="34" charset="-122"/>
                <a:cs typeface="Microsoft YaHei" pitchFamily="34" charset="-120"/>
              </a:rPr>
              <a:t>输出=是否符合报销要求+不符合项</a:t>
            </a:r>
            <a:endParaRPr lang="en-US" sz="1000" dirty="0"/>
          </a:p>
        </p:txBody>
      </p:sp>
      <p:sp>
        <p:nvSpPr>
          <p:cNvPr id="11" name="Shape 9"/>
          <p:cNvSpPr/>
          <p:nvPr/>
        </p:nvSpPr>
        <p:spPr>
          <a:xfrm>
            <a:off x="3291840" y="914400"/>
            <a:ext cx="2651760" cy="3474720"/>
          </a:xfrm>
          <a:prstGeom prst="roundRect">
            <a:avLst>
              <a:gd name="adj" fmla="val 3448"/>
            </a:avLst>
          </a:prstGeom>
          <a:solidFill>
            <a:srgbClr val="F3F4F6"/>
          </a:solidFill>
          <a:ln/>
        </p:spPr>
      </p:sp>
      <p:sp>
        <p:nvSpPr>
          <p:cNvPr id="12" name="Shape 10"/>
          <p:cNvSpPr/>
          <p:nvPr/>
        </p:nvSpPr>
        <p:spPr>
          <a:xfrm>
            <a:off x="4160520" y="1097280"/>
            <a:ext cx="914400" cy="914400"/>
          </a:xfrm>
          <a:prstGeom prst="ellipse">
            <a:avLst/>
          </a:prstGeom>
          <a:solidFill>
            <a:srgbClr val="EF4444"/>
          </a:solidFill>
          <a:ln/>
        </p:spPr>
      </p:sp>
      <p:sp>
        <p:nvSpPr>
          <p:cNvPr id="13" name="Text 11"/>
          <p:cNvSpPr/>
          <p:nvPr/>
        </p:nvSpPr>
        <p:spPr>
          <a:xfrm>
            <a:off x="4160520" y="1097280"/>
            <a:ext cx="914400" cy="91440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02</a:t>
            </a:r>
            <a:endParaRPr lang="en-US" sz="2000" dirty="0"/>
          </a:p>
        </p:txBody>
      </p:sp>
      <p:sp>
        <p:nvSpPr>
          <p:cNvPr id="14" name="Text 12"/>
          <p:cNvSpPr/>
          <p:nvPr/>
        </p:nvSpPr>
        <p:spPr>
          <a:xfrm>
            <a:off x="3383280" y="2103120"/>
            <a:ext cx="2468880" cy="457200"/>
          </a:xfrm>
          <a:prstGeom prst="rect">
            <a:avLst/>
          </a:prstGeom>
          <a:noFill/>
          <a:ln/>
        </p:spPr>
        <p:txBody>
          <a:bodyPr wrap="square" rtlCol="0" anchor="ctr"/>
          <a:lstStyle/>
          <a:p>
            <a:pPr algn="ctr" indent="0" marL="0">
              <a:buNone/>
            </a:pPr>
            <a:r>
              <a:rPr lang="en-US" sz="1300" b="1" dirty="0">
                <a:solidFill>
                  <a:srgbClr val="B91C1C"/>
                </a:solidFill>
                <a:latin typeface="Microsoft YaHei" pitchFamily="34" charset="0"/>
                <a:ea typeface="Microsoft YaHei" pitchFamily="34" charset="-122"/>
                <a:cs typeface="Microsoft YaHei" pitchFamily="34" charset="-120"/>
              </a:rPr>
              <a:t>合同风险初筛员</a:t>
            </a:r>
            <a:endParaRPr lang="en-US" sz="1300" dirty="0"/>
          </a:p>
        </p:txBody>
      </p:sp>
      <p:sp>
        <p:nvSpPr>
          <p:cNvPr id="15" name="Shape 13"/>
          <p:cNvSpPr/>
          <p:nvPr/>
        </p:nvSpPr>
        <p:spPr>
          <a:xfrm>
            <a:off x="3474720" y="2606040"/>
            <a:ext cx="2286000" cy="36576"/>
          </a:xfrm>
          <a:prstGeom prst="rect">
            <a:avLst/>
          </a:prstGeom>
          <a:solidFill>
            <a:srgbClr val="EF4444"/>
          </a:solidFill>
          <a:ln/>
        </p:spPr>
      </p:sp>
      <p:sp>
        <p:nvSpPr>
          <p:cNvPr id="16" name="Text 14"/>
          <p:cNvSpPr/>
          <p:nvPr/>
        </p:nvSpPr>
        <p:spPr>
          <a:xfrm>
            <a:off x="3429000" y="2743200"/>
            <a:ext cx="2377440" cy="640080"/>
          </a:xfrm>
          <a:prstGeom prst="rect">
            <a:avLst/>
          </a:prstGeom>
          <a:noFill/>
          <a:ln/>
        </p:spPr>
        <p:txBody>
          <a:bodyPr wrap="square" rtlCol="0" anchor="ctr"/>
          <a:lstStyle/>
          <a:p>
            <a:pPr indent="0" marL="0">
              <a:buNone/>
            </a:pPr>
            <a:r>
              <a:rPr lang="en-US" sz="1000" dirty="0">
                <a:solidFill>
                  <a:srgbClr val="374151"/>
                </a:solidFill>
                <a:latin typeface="Microsoft YaHei" pitchFamily="34" charset="0"/>
                <a:ea typeface="Microsoft YaHei" pitchFamily="34" charset="-122"/>
                <a:cs typeface="Microsoft YaHei" pitchFamily="34" charset="-120"/>
              </a:rPr>
              <a:t>输入=合同文本</a:t>
            </a:r>
            <a:endParaRPr lang="en-US" sz="1000" dirty="0"/>
          </a:p>
        </p:txBody>
      </p:sp>
      <p:sp>
        <p:nvSpPr>
          <p:cNvPr id="17" name="Text 15"/>
          <p:cNvSpPr/>
          <p:nvPr/>
        </p:nvSpPr>
        <p:spPr>
          <a:xfrm>
            <a:off x="3429000" y="3383280"/>
            <a:ext cx="2377440" cy="822960"/>
          </a:xfrm>
          <a:prstGeom prst="rect">
            <a:avLst/>
          </a:prstGeom>
          <a:noFill/>
          <a:ln/>
        </p:spPr>
        <p:txBody>
          <a:bodyPr wrap="square" rtlCol="0" anchor="ctr"/>
          <a:lstStyle/>
          <a:p>
            <a:pPr indent="0" marL="0">
              <a:buNone/>
            </a:pPr>
            <a:r>
              <a:rPr lang="en-US" sz="1000" dirty="0">
                <a:solidFill>
                  <a:srgbClr val="374151"/>
                </a:solidFill>
                <a:latin typeface="Microsoft YaHei" pitchFamily="34" charset="0"/>
                <a:ea typeface="Microsoft YaHei" pitchFamily="34" charset="-122"/>
                <a:cs typeface="Microsoft YaHei" pitchFamily="34" charset="-120"/>
              </a:rPr>
              <a:t>输出=关键条款核验+风险点+建议</a:t>
            </a:r>
            <a:endParaRPr lang="en-US" sz="1000" dirty="0"/>
          </a:p>
        </p:txBody>
      </p:sp>
      <p:sp>
        <p:nvSpPr>
          <p:cNvPr id="18" name="Shape 16"/>
          <p:cNvSpPr/>
          <p:nvPr/>
        </p:nvSpPr>
        <p:spPr>
          <a:xfrm>
            <a:off x="6126480" y="914400"/>
            <a:ext cx="2651760" cy="3474720"/>
          </a:xfrm>
          <a:prstGeom prst="roundRect">
            <a:avLst>
              <a:gd name="adj" fmla="val 3448"/>
            </a:avLst>
          </a:prstGeom>
          <a:solidFill>
            <a:srgbClr val="F3F4F6"/>
          </a:solidFill>
          <a:ln/>
        </p:spPr>
      </p:sp>
      <p:sp>
        <p:nvSpPr>
          <p:cNvPr id="19" name="Shape 17"/>
          <p:cNvSpPr/>
          <p:nvPr/>
        </p:nvSpPr>
        <p:spPr>
          <a:xfrm>
            <a:off x="6995160" y="1097280"/>
            <a:ext cx="914400" cy="914400"/>
          </a:xfrm>
          <a:prstGeom prst="ellipse">
            <a:avLst/>
          </a:prstGeom>
          <a:solidFill>
            <a:srgbClr val="EF4444"/>
          </a:solidFill>
          <a:ln/>
        </p:spPr>
      </p:sp>
      <p:sp>
        <p:nvSpPr>
          <p:cNvPr id="20" name="Text 18"/>
          <p:cNvSpPr/>
          <p:nvPr/>
        </p:nvSpPr>
        <p:spPr>
          <a:xfrm>
            <a:off x="6995160" y="1097280"/>
            <a:ext cx="914400" cy="91440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03</a:t>
            </a:r>
            <a:endParaRPr lang="en-US" sz="2000" dirty="0"/>
          </a:p>
        </p:txBody>
      </p:sp>
      <p:sp>
        <p:nvSpPr>
          <p:cNvPr id="21" name="Text 19"/>
          <p:cNvSpPr/>
          <p:nvPr/>
        </p:nvSpPr>
        <p:spPr>
          <a:xfrm>
            <a:off x="6217920" y="2103120"/>
            <a:ext cx="2468880" cy="457200"/>
          </a:xfrm>
          <a:prstGeom prst="rect">
            <a:avLst/>
          </a:prstGeom>
          <a:noFill/>
          <a:ln/>
        </p:spPr>
        <p:txBody>
          <a:bodyPr wrap="square" rtlCol="0" anchor="ctr"/>
          <a:lstStyle/>
          <a:p>
            <a:pPr algn="ctr" indent="0" marL="0">
              <a:buNone/>
            </a:pPr>
            <a:r>
              <a:rPr lang="en-US" sz="1300" b="1" dirty="0">
                <a:solidFill>
                  <a:srgbClr val="B91C1C"/>
                </a:solidFill>
                <a:latin typeface="Microsoft YaHei" pitchFamily="34" charset="0"/>
                <a:ea typeface="Microsoft YaHei" pitchFamily="34" charset="-122"/>
                <a:cs typeface="Microsoft YaHei" pitchFamily="34" charset="-120"/>
              </a:rPr>
              <a:t>应收账款跟进提醒员</a:t>
            </a:r>
            <a:endParaRPr lang="en-US" sz="1300" dirty="0"/>
          </a:p>
        </p:txBody>
      </p:sp>
      <p:sp>
        <p:nvSpPr>
          <p:cNvPr id="22" name="Shape 20"/>
          <p:cNvSpPr/>
          <p:nvPr/>
        </p:nvSpPr>
        <p:spPr>
          <a:xfrm>
            <a:off x="6309360" y="2606040"/>
            <a:ext cx="2286000" cy="36576"/>
          </a:xfrm>
          <a:prstGeom prst="rect">
            <a:avLst/>
          </a:prstGeom>
          <a:solidFill>
            <a:srgbClr val="EF4444"/>
          </a:solidFill>
          <a:ln/>
        </p:spPr>
      </p:sp>
      <p:sp>
        <p:nvSpPr>
          <p:cNvPr id="23" name="Text 21"/>
          <p:cNvSpPr/>
          <p:nvPr/>
        </p:nvSpPr>
        <p:spPr>
          <a:xfrm>
            <a:off x="6263640" y="2743200"/>
            <a:ext cx="2377440" cy="640080"/>
          </a:xfrm>
          <a:prstGeom prst="rect">
            <a:avLst/>
          </a:prstGeom>
          <a:noFill/>
          <a:ln/>
        </p:spPr>
        <p:txBody>
          <a:bodyPr wrap="square" rtlCol="0" anchor="ctr"/>
          <a:lstStyle/>
          <a:p>
            <a:pPr indent="0" marL="0">
              <a:buNone/>
            </a:pPr>
            <a:r>
              <a:rPr lang="en-US" sz="1000" dirty="0">
                <a:solidFill>
                  <a:srgbClr val="374151"/>
                </a:solidFill>
                <a:latin typeface="Microsoft YaHei" pitchFamily="34" charset="0"/>
                <a:ea typeface="Microsoft YaHei" pitchFamily="34" charset="-122"/>
                <a:cs typeface="Microsoft YaHei" pitchFamily="34" charset="-120"/>
              </a:rPr>
              <a:t>输入=应收账款明细</a:t>
            </a:r>
            <a:endParaRPr lang="en-US" sz="1000" dirty="0"/>
          </a:p>
        </p:txBody>
      </p:sp>
      <p:sp>
        <p:nvSpPr>
          <p:cNvPr id="24" name="Text 22"/>
          <p:cNvSpPr/>
          <p:nvPr/>
        </p:nvSpPr>
        <p:spPr>
          <a:xfrm>
            <a:off x="6263640" y="3383280"/>
            <a:ext cx="2377440" cy="822960"/>
          </a:xfrm>
          <a:prstGeom prst="rect">
            <a:avLst/>
          </a:prstGeom>
          <a:noFill/>
          <a:ln/>
        </p:spPr>
        <p:txBody>
          <a:bodyPr wrap="square" rtlCol="0" anchor="ctr"/>
          <a:lstStyle/>
          <a:p>
            <a:pPr indent="0" marL="0">
              <a:buNone/>
            </a:pPr>
            <a:r>
              <a:rPr lang="en-US" sz="1000" dirty="0">
                <a:solidFill>
                  <a:srgbClr val="374151"/>
                </a:solidFill>
                <a:latin typeface="Microsoft YaHei" pitchFamily="34" charset="0"/>
                <a:ea typeface="Microsoft YaHei" pitchFamily="34" charset="-122"/>
                <a:cs typeface="Microsoft YaHei" pitchFamily="34" charset="-120"/>
              </a:rPr>
              <a:t>输出=逾期清单+建议联系优先级</a:t>
            </a:r>
            <a:endParaRPr lang="en-US" sz="1000" dirty="0"/>
          </a:p>
        </p:txBody>
      </p:sp>
      <p:sp>
        <p:nvSpPr>
          <p:cNvPr id="25" name="Text 23"/>
          <p:cNvSpPr/>
          <p:nvPr/>
        </p:nvSpPr>
        <p:spPr>
          <a:xfrm>
            <a:off x="8503920" y="4663440"/>
            <a:ext cx="457200" cy="274320"/>
          </a:xfrm>
          <a:prstGeom prst="rect">
            <a:avLst/>
          </a:prstGeom>
          <a:noFill/>
          <a:ln/>
        </p:spPr>
        <p:txBody>
          <a:bodyPr wrap="square" rtlCol="0" anchor="ctr"/>
          <a:lstStyle/>
          <a:p>
            <a:pPr algn="ctr" indent="0" marL="0">
              <a:buNone/>
            </a:pPr>
            <a:r>
              <a:rPr lang="en-US" sz="1000" dirty="0">
                <a:solidFill>
                  <a:srgbClr val="374151"/>
                </a:solidFill>
                <a:latin typeface="Arial" pitchFamily="34" charset="0"/>
                <a:ea typeface="Arial" pitchFamily="34" charset="-122"/>
                <a:cs typeface="Arial" pitchFamily="34" charset="-120"/>
              </a:rPr>
              <a:t>142</a:t>
            </a:r>
            <a:endParaRPr lang="en-US" sz="100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B91C1C"/>
          </a:solidFill>
          <a:ln/>
        </p:spPr>
      </p:sp>
      <p:sp>
        <p:nvSpPr>
          <p:cNvPr id="3" name="Text 1"/>
          <p:cNvSpPr/>
          <p:nvPr/>
        </p:nvSpPr>
        <p:spPr>
          <a:xfrm>
            <a:off x="457200" y="1645920"/>
            <a:ext cx="8229600" cy="548640"/>
          </a:xfrm>
          <a:prstGeom prst="rect">
            <a:avLst/>
          </a:prstGeom>
          <a:noFill/>
          <a:ln/>
        </p:spPr>
        <p:txBody>
          <a:bodyPr wrap="square" rtlCol="0" anchor="ctr"/>
          <a:lstStyle/>
          <a:p>
            <a:pPr indent="0" marL="0">
              <a:buNone/>
            </a:pPr>
            <a:r>
              <a:rPr lang="en-US" sz="1800" spc="800" kern="0" dirty="0">
                <a:solidFill>
                  <a:srgbClr val="FFFFFF"/>
                </a:solidFill>
                <a:latin typeface="Microsoft YaHei" pitchFamily="34" charset="0"/>
                <a:ea typeface="Microsoft YaHei" pitchFamily="34" charset="-122"/>
                <a:cs typeface="Microsoft YaHei" pitchFamily="34" charset="-120"/>
              </a:rPr>
              <a:t>附录四</a:t>
            </a:r>
            <a:endParaRPr lang="en-US" sz="1800" dirty="0"/>
          </a:p>
        </p:txBody>
      </p:sp>
      <p:sp>
        <p:nvSpPr>
          <p:cNvPr id="4" name="Text 2"/>
          <p:cNvSpPr/>
          <p:nvPr/>
        </p:nvSpPr>
        <p:spPr>
          <a:xfrm>
            <a:off x="457200" y="2194560"/>
            <a:ext cx="8229600" cy="1097280"/>
          </a:xfrm>
          <a:prstGeom prst="rect">
            <a:avLst/>
          </a:prstGeom>
          <a:noFill/>
          <a:ln/>
        </p:spPr>
        <p:txBody>
          <a:bodyPr wrap="square" rtlCol="0" anchor="ctr"/>
          <a:lstStyle/>
          <a:p>
            <a:pPr indent="0" marL="0">
              <a:buNone/>
            </a:pPr>
            <a:r>
              <a:rPr lang="en-US" sz="4800" b="1" dirty="0">
                <a:solidFill>
                  <a:srgbClr val="FFFFFF"/>
                </a:solidFill>
                <a:latin typeface="Microsoft YaHei" pitchFamily="34" charset="0"/>
                <a:ea typeface="Microsoft YaHei" pitchFamily="34" charset="-122"/>
                <a:cs typeface="Microsoft YaHei" pitchFamily="34" charset="-120"/>
              </a:rPr>
              <a:t>常见错误速查</a:t>
            </a:r>
            <a:endParaRPr lang="en-US" sz="4800" dirty="0"/>
          </a:p>
        </p:txBody>
      </p:sp>
      <p:sp>
        <p:nvSpPr>
          <p:cNvPr id="5" name="Text 3"/>
          <p:cNvSpPr/>
          <p:nvPr/>
        </p:nvSpPr>
        <p:spPr>
          <a:xfrm>
            <a:off x="457200" y="3291840"/>
            <a:ext cx="8229600" cy="457200"/>
          </a:xfrm>
          <a:prstGeom prst="rect">
            <a:avLst/>
          </a:prstGeom>
          <a:noFill/>
          <a:ln/>
        </p:spPr>
        <p:txBody>
          <a:bodyPr wrap="square" rtlCol="0" anchor="ctr"/>
          <a:lstStyle/>
          <a:p>
            <a:pPr indent="0" marL="0">
              <a:buNone/>
            </a:pPr>
            <a:r>
              <a:rPr lang="en-US" sz="1800" dirty="0">
                <a:solidFill>
                  <a:srgbClr val="FFFFFF"/>
                </a:solidFill>
                <a:latin typeface="Microsoft YaHei" pitchFamily="34" charset="0"/>
                <a:ea typeface="Microsoft YaHei" pitchFamily="34" charset="-122"/>
                <a:cs typeface="Microsoft YaHei" pitchFamily="34" charset="-120"/>
              </a:rPr>
              <a:t>症状对照诊断表</a:t>
            </a:r>
            <a:endParaRPr lang="en-US" sz="1800" dirty="0"/>
          </a:p>
        </p:txBody>
      </p:sp>
      <p:sp>
        <p:nvSpPr>
          <p:cNvPr id="6" name="Shape 4"/>
          <p:cNvSpPr/>
          <p:nvPr/>
        </p:nvSpPr>
        <p:spPr>
          <a:xfrm>
            <a:off x="457200" y="3931920"/>
            <a:ext cx="1828800" cy="54864"/>
          </a:xfrm>
          <a:prstGeom prst="rect">
            <a:avLst/>
          </a:prstGeom>
          <a:solidFill>
            <a:srgbClr val="EF4444"/>
          </a:solidFill>
          <a:ln/>
        </p:spPr>
      </p:sp>
      <p:sp>
        <p:nvSpPr>
          <p:cNvPr id="7" name="Text 5"/>
          <p:cNvSpPr/>
          <p:nvPr/>
        </p:nvSpPr>
        <p:spPr>
          <a:xfrm>
            <a:off x="8503920" y="4663440"/>
            <a:ext cx="457200" cy="274320"/>
          </a:xfrm>
          <a:prstGeom prst="rect">
            <a:avLst/>
          </a:prstGeom>
          <a:noFill/>
          <a:ln/>
        </p:spPr>
        <p:txBody>
          <a:bodyPr wrap="square" rtlCol="0" anchor="ctr"/>
          <a:lstStyle/>
          <a:p>
            <a:pPr algn="ctr" indent="0" marL="0">
              <a:buNone/>
            </a:pPr>
            <a:r>
              <a:rPr lang="en-US" sz="1000" dirty="0">
                <a:solidFill>
                  <a:srgbClr val="FFFFFF"/>
                </a:solidFill>
                <a:latin typeface="Arial" pitchFamily="34" charset="0"/>
                <a:ea typeface="Arial" pitchFamily="34" charset="-122"/>
                <a:cs typeface="Arial" pitchFamily="34" charset="-120"/>
              </a:rPr>
              <a:t>143</a:t>
            </a:r>
            <a:endParaRPr lang="en-US" sz="100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274320"/>
            <a:ext cx="8229600" cy="457200"/>
          </a:xfrm>
          <a:prstGeom prst="rect">
            <a:avLst/>
          </a:prstGeom>
          <a:noFill/>
          <a:ln/>
        </p:spPr>
        <p:txBody>
          <a:bodyPr wrap="square" rtlCol="0" anchor="ctr"/>
          <a:lstStyle/>
          <a:p>
            <a:pPr indent="0" marL="0">
              <a:buNone/>
            </a:pPr>
            <a:r>
              <a:rPr lang="en-US" sz="1800" b="1" dirty="0">
                <a:solidFill>
                  <a:srgbClr val="B91C1C"/>
                </a:solidFill>
                <a:latin typeface="Microsoft YaHei" pitchFamily="34" charset="0"/>
                <a:ea typeface="Microsoft YaHei" pitchFamily="34" charset="-122"/>
                <a:cs typeface="Microsoft YaHei" pitchFamily="34" charset="-120"/>
              </a:rPr>
              <a:t>常见错误速查表（1/2）</a:t>
            </a:r>
            <a:endParaRPr lang="en-US" sz="1800" dirty="0"/>
          </a:p>
        </p:txBody>
      </p:sp>
      <p:sp>
        <p:nvSpPr>
          <p:cNvPr id="4" name="Shape 2"/>
          <p:cNvSpPr/>
          <p:nvPr/>
        </p:nvSpPr>
        <p:spPr>
          <a:xfrm>
            <a:off x="457200" y="868680"/>
            <a:ext cx="8229600" cy="822960"/>
          </a:xfrm>
          <a:prstGeom prst="rect">
            <a:avLst/>
          </a:prstGeom>
          <a:solidFill>
            <a:srgbClr val="B91C1C"/>
          </a:solidFill>
          <a:ln/>
        </p:spPr>
      </p:sp>
      <p:sp>
        <p:nvSpPr>
          <p:cNvPr id="5" name="Text 3"/>
          <p:cNvSpPr/>
          <p:nvPr/>
        </p:nvSpPr>
        <p:spPr>
          <a:xfrm>
            <a:off x="457200" y="868680"/>
            <a:ext cx="3200400" cy="822960"/>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症状</a:t>
            </a:r>
            <a:endParaRPr lang="en-US" sz="1200" dirty="0"/>
          </a:p>
        </p:txBody>
      </p:sp>
      <p:sp>
        <p:nvSpPr>
          <p:cNvPr id="6" name="Text 4"/>
          <p:cNvSpPr/>
          <p:nvPr/>
        </p:nvSpPr>
        <p:spPr>
          <a:xfrm>
            <a:off x="3657600" y="868680"/>
            <a:ext cx="2560320" cy="822960"/>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最可能的原因</a:t>
            </a:r>
            <a:endParaRPr lang="en-US" sz="1200" dirty="0"/>
          </a:p>
        </p:txBody>
      </p:sp>
      <p:sp>
        <p:nvSpPr>
          <p:cNvPr id="7" name="Text 5"/>
          <p:cNvSpPr/>
          <p:nvPr/>
        </p:nvSpPr>
        <p:spPr>
          <a:xfrm>
            <a:off x="6217920" y="868680"/>
            <a:ext cx="2468880" cy="822960"/>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对应解法</a:t>
            </a:r>
            <a:endParaRPr lang="en-US" sz="1200" dirty="0"/>
          </a:p>
        </p:txBody>
      </p:sp>
      <p:sp>
        <p:nvSpPr>
          <p:cNvPr id="8" name="Shape 6"/>
          <p:cNvSpPr/>
          <p:nvPr/>
        </p:nvSpPr>
        <p:spPr>
          <a:xfrm>
            <a:off x="457200" y="1691640"/>
            <a:ext cx="8229600" cy="822960"/>
          </a:xfrm>
          <a:prstGeom prst="rect">
            <a:avLst/>
          </a:prstGeom>
          <a:solidFill>
            <a:srgbClr val="F3F4F6"/>
          </a:solidFill>
          <a:ln/>
        </p:spPr>
      </p:sp>
      <p:sp>
        <p:nvSpPr>
          <p:cNvPr id="9" name="Text 7"/>
          <p:cNvSpPr/>
          <p:nvPr/>
        </p:nvSpPr>
        <p:spPr>
          <a:xfrm>
            <a:off x="457200" y="1691640"/>
            <a:ext cx="3200400" cy="822960"/>
          </a:xfrm>
          <a:prstGeom prst="rect">
            <a:avLst/>
          </a:prstGeom>
          <a:noFill/>
          <a:ln/>
        </p:spPr>
        <p:txBody>
          <a:bodyPr wrap="square" lIns="0" tIns="127000" rIns="0" bIns="0" rtlCol="0" anchor="ctr"/>
          <a:lstStyle/>
          <a:p>
            <a:pPr algn="l" indent="0" marL="0">
              <a:buNone/>
            </a:pPr>
            <a:r>
              <a:rPr lang="en-US" sz="1100" b="1" dirty="0">
                <a:solidFill>
                  <a:srgbClr val="B91C1C"/>
                </a:solidFill>
                <a:latin typeface="Microsoft YaHei" pitchFamily="34" charset="0"/>
                <a:ea typeface="Microsoft YaHei" pitchFamily="34" charset="-122"/>
                <a:cs typeface="Microsoft YaHei" pitchFamily="34" charset="-120"/>
              </a:rPr>
              <a:t>AI每次输出格式不一样</a:t>
            </a:r>
            <a:endParaRPr lang="en-US" sz="1100" dirty="0"/>
          </a:p>
        </p:txBody>
      </p:sp>
      <p:sp>
        <p:nvSpPr>
          <p:cNvPr id="10" name="Text 8"/>
          <p:cNvSpPr/>
          <p:nvPr/>
        </p:nvSpPr>
        <p:spPr>
          <a:xfrm>
            <a:off x="3657600" y="1691640"/>
            <a:ext cx="2560320" cy="822960"/>
          </a:xfrm>
          <a:prstGeom prst="rect">
            <a:avLst/>
          </a:prstGeom>
          <a:noFill/>
          <a:ln/>
        </p:spPr>
        <p:txBody>
          <a:bodyPr wrap="square" lIns="0" tIns="63500" rIns="0" bIns="0" rtlCol="0" anchor="ctr"/>
          <a:lstStyle/>
          <a:p>
            <a:pPr algn="l" indent="0" marL="0">
              <a:buNone/>
            </a:pPr>
            <a:r>
              <a:rPr lang="en-US" sz="1100" dirty="0">
                <a:solidFill>
                  <a:srgbClr val="374151"/>
                </a:solidFill>
                <a:latin typeface="Microsoft YaHei" pitchFamily="34" charset="0"/>
                <a:ea typeface="Microsoft YaHei" pitchFamily="34" charset="-122"/>
                <a:cs typeface="Microsoft YaHei" pitchFamily="34" charset="-120"/>
              </a:rPr>
              <a:t>格式模板约束不够硬</a:t>
            </a:r>
            <a:endParaRPr lang="en-US" sz="1100" dirty="0"/>
          </a:p>
        </p:txBody>
      </p:sp>
      <p:sp>
        <p:nvSpPr>
          <p:cNvPr id="11" name="Text 9"/>
          <p:cNvSpPr/>
          <p:nvPr/>
        </p:nvSpPr>
        <p:spPr>
          <a:xfrm>
            <a:off x="6217920" y="1691640"/>
            <a:ext cx="2468880" cy="822960"/>
          </a:xfrm>
          <a:prstGeom prst="rect">
            <a:avLst/>
          </a:prstGeom>
          <a:noFill/>
          <a:ln/>
        </p:spPr>
        <p:txBody>
          <a:bodyPr wrap="square" lIns="0" tIns="63500" rIns="0" bIns="0" rtlCol="0" anchor="ctr"/>
          <a:lstStyle/>
          <a:p>
            <a:pPr algn="l" indent="0" marL="0">
              <a:buNone/>
            </a:pPr>
            <a:r>
              <a:rPr lang="en-US" sz="1100" b="1" dirty="0">
                <a:solidFill>
                  <a:srgbClr val="EF4444"/>
                </a:solidFill>
                <a:latin typeface="Microsoft YaHei" pitchFamily="34" charset="0"/>
                <a:ea typeface="Microsoft YaHei" pitchFamily="34" charset="-122"/>
                <a:cs typeface="Microsoft YaHei" pitchFamily="34" charset="-120"/>
              </a:rPr>
              <a:t>加硬性约束</a:t>
            </a:r>
            <a:endParaRPr lang="en-US" sz="1100" dirty="0"/>
          </a:p>
        </p:txBody>
      </p:sp>
      <p:sp>
        <p:nvSpPr>
          <p:cNvPr id="12" name="Shape 10"/>
          <p:cNvSpPr/>
          <p:nvPr/>
        </p:nvSpPr>
        <p:spPr>
          <a:xfrm>
            <a:off x="457200" y="2514600"/>
            <a:ext cx="8229600" cy="822960"/>
          </a:xfrm>
          <a:prstGeom prst="rect">
            <a:avLst/>
          </a:prstGeom>
          <a:solidFill>
            <a:srgbClr val="FFFFFF"/>
          </a:solidFill>
          <a:ln/>
        </p:spPr>
      </p:sp>
      <p:sp>
        <p:nvSpPr>
          <p:cNvPr id="13" name="Text 11"/>
          <p:cNvSpPr/>
          <p:nvPr/>
        </p:nvSpPr>
        <p:spPr>
          <a:xfrm>
            <a:off x="457200" y="2514600"/>
            <a:ext cx="3200400" cy="822960"/>
          </a:xfrm>
          <a:prstGeom prst="rect">
            <a:avLst/>
          </a:prstGeom>
          <a:noFill/>
          <a:ln/>
        </p:spPr>
        <p:txBody>
          <a:bodyPr wrap="square" lIns="0" tIns="127000" rIns="0" bIns="0" rtlCol="0" anchor="ctr"/>
          <a:lstStyle/>
          <a:p>
            <a:pPr algn="l" indent="0" marL="0">
              <a:buNone/>
            </a:pPr>
            <a:r>
              <a:rPr lang="en-US" sz="1100" b="1" dirty="0">
                <a:solidFill>
                  <a:srgbClr val="B91C1C"/>
                </a:solidFill>
                <a:latin typeface="Microsoft YaHei" pitchFamily="34" charset="0"/>
                <a:ea typeface="Microsoft YaHei" pitchFamily="34" charset="-122"/>
                <a:cs typeface="Microsoft YaHei" pitchFamily="34" charset="-120"/>
              </a:rPr>
              <a:t>触发了错误的规则</a:t>
            </a:r>
            <a:endParaRPr lang="en-US" sz="1100" dirty="0"/>
          </a:p>
        </p:txBody>
      </p:sp>
      <p:sp>
        <p:nvSpPr>
          <p:cNvPr id="14" name="Text 12"/>
          <p:cNvSpPr/>
          <p:nvPr/>
        </p:nvSpPr>
        <p:spPr>
          <a:xfrm>
            <a:off x="3657600" y="2514600"/>
            <a:ext cx="2560320" cy="822960"/>
          </a:xfrm>
          <a:prstGeom prst="rect">
            <a:avLst/>
          </a:prstGeom>
          <a:noFill/>
          <a:ln/>
        </p:spPr>
        <p:txBody>
          <a:bodyPr wrap="square" lIns="0" tIns="63500" rIns="0" bIns="0" rtlCol="0" anchor="ctr"/>
          <a:lstStyle/>
          <a:p>
            <a:pPr algn="l" indent="0" marL="0">
              <a:buNone/>
            </a:pPr>
            <a:r>
              <a:rPr lang="en-US" sz="1100" dirty="0">
                <a:solidFill>
                  <a:srgbClr val="374151"/>
                </a:solidFill>
                <a:latin typeface="Microsoft YaHei" pitchFamily="34" charset="0"/>
                <a:ea typeface="Microsoft YaHei" pitchFamily="34" charset="-122"/>
                <a:cs typeface="Microsoft YaHei" pitchFamily="34" charset="-120"/>
              </a:rPr>
              <a:t>触发条件之间有重叠或优先级不清</a:t>
            </a:r>
            <a:endParaRPr lang="en-US" sz="1100" dirty="0"/>
          </a:p>
        </p:txBody>
      </p:sp>
      <p:sp>
        <p:nvSpPr>
          <p:cNvPr id="15" name="Text 13"/>
          <p:cNvSpPr/>
          <p:nvPr/>
        </p:nvSpPr>
        <p:spPr>
          <a:xfrm>
            <a:off x="6217920" y="2514600"/>
            <a:ext cx="2468880" cy="822960"/>
          </a:xfrm>
          <a:prstGeom prst="rect">
            <a:avLst/>
          </a:prstGeom>
          <a:noFill/>
          <a:ln/>
        </p:spPr>
        <p:txBody>
          <a:bodyPr wrap="square" lIns="0" tIns="63500" rIns="0" bIns="0" rtlCol="0" anchor="ctr"/>
          <a:lstStyle/>
          <a:p>
            <a:pPr algn="l" indent="0" marL="0">
              <a:buNone/>
            </a:pPr>
            <a:r>
              <a:rPr lang="en-US" sz="1100" b="1" dirty="0">
                <a:solidFill>
                  <a:srgbClr val="EF4444"/>
                </a:solidFill>
                <a:latin typeface="Microsoft YaHei" pitchFamily="34" charset="0"/>
                <a:ea typeface="Microsoft YaHei" pitchFamily="34" charset="-122"/>
                <a:cs typeface="Microsoft YaHei" pitchFamily="34" charset="-120"/>
              </a:rPr>
              <a:t>检查规则冲突</a:t>
            </a:r>
            <a:endParaRPr lang="en-US" sz="1100" dirty="0"/>
          </a:p>
        </p:txBody>
      </p:sp>
      <p:sp>
        <p:nvSpPr>
          <p:cNvPr id="16" name="Shape 14"/>
          <p:cNvSpPr/>
          <p:nvPr/>
        </p:nvSpPr>
        <p:spPr>
          <a:xfrm>
            <a:off x="457200" y="3337560"/>
            <a:ext cx="8229600" cy="822960"/>
          </a:xfrm>
          <a:prstGeom prst="rect">
            <a:avLst/>
          </a:prstGeom>
          <a:solidFill>
            <a:srgbClr val="F3F4F6"/>
          </a:solidFill>
          <a:ln/>
        </p:spPr>
      </p:sp>
      <p:sp>
        <p:nvSpPr>
          <p:cNvPr id="17" name="Text 15"/>
          <p:cNvSpPr/>
          <p:nvPr/>
        </p:nvSpPr>
        <p:spPr>
          <a:xfrm>
            <a:off x="457200" y="3337560"/>
            <a:ext cx="3200400" cy="822960"/>
          </a:xfrm>
          <a:prstGeom prst="rect">
            <a:avLst/>
          </a:prstGeom>
          <a:noFill/>
          <a:ln/>
        </p:spPr>
        <p:txBody>
          <a:bodyPr wrap="square" lIns="0" tIns="127000" rIns="0" bIns="0" rtlCol="0" anchor="ctr"/>
          <a:lstStyle/>
          <a:p>
            <a:pPr algn="l" indent="0" marL="0">
              <a:buNone/>
            </a:pPr>
            <a:r>
              <a:rPr lang="en-US" sz="1100" b="1" dirty="0">
                <a:solidFill>
                  <a:srgbClr val="B91C1C"/>
                </a:solidFill>
                <a:latin typeface="Microsoft YaHei" pitchFamily="34" charset="0"/>
                <a:ea typeface="Microsoft YaHei" pitchFamily="34" charset="-122"/>
                <a:cs typeface="Microsoft YaHei" pitchFamily="34" charset="-120"/>
              </a:rPr>
              <a:t>AI自己发明了一个处理方案</a:t>
            </a:r>
            <a:endParaRPr lang="en-US" sz="1100" dirty="0"/>
          </a:p>
        </p:txBody>
      </p:sp>
      <p:sp>
        <p:nvSpPr>
          <p:cNvPr id="18" name="Text 16"/>
          <p:cNvSpPr/>
          <p:nvPr/>
        </p:nvSpPr>
        <p:spPr>
          <a:xfrm>
            <a:off x="3657600" y="3337560"/>
            <a:ext cx="2560320" cy="822960"/>
          </a:xfrm>
          <a:prstGeom prst="rect">
            <a:avLst/>
          </a:prstGeom>
          <a:noFill/>
          <a:ln/>
        </p:spPr>
        <p:txBody>
          <a:bodyPr wrap="square" lIns="0" tIns="63500" rIns="0" bIns="0" rtlCol="0" anchor="ctr"/>
          <a:lstStyle/>
          <a:p>
            <a:pPr algn="l" indent="0" marL="0">
              <a:buNone/>
            </a:pPr>
            <a:r>
              <a:rPr lang="en-US" sz="1100" dirty="0">
                <a:solidFill>
                  <a:srgbClr val="374151"/>
                </a:solidFill>
                <a:latin typeface="Microsoft YaHei" pitchFamily="34" charset="0"/>
                <a:ea typeface="Microsoft YaHei" pitchFamily="34" charset="-122"/>
                <a:cs typeface="Microsoft YaHei" pitchFamily="34" charset="-120"/>
              </a:rPr>
              <a:t>兜底规则缺失或太弱</a:t>
            </a:r>
            <a:endParaRPr lang="en-US" sz="1100" dirty="0"/>
          </a:p>
        </p:txBody>
      </p:sp>
      <p:sp>
        <p:nvSpPr>
          <p:cNvPr id="19" name="Text 17"/>
          <p:cNvSpPr/>
          <p:nvPr/>
        </p:nvSpPr>
        <p:spPr>
          <a:xfrm>
            <a:off x="6217920" y="3337560"/>
            <a:ext cx="2468880" cy="822960"/>
          </a:xfrm>
          <a:prstGeom prst="rect">
            <a:avLst/>
          </a:prstGeom>
          <a:noFill/>
          <a:ln/>
        </p:spPr>
        <p:txBody>
          <a:bodyPr wrap="square" lIns="0" tIns="63500" rIns="0" bIns="0" rtlCol="0" anchor="ctr"/>
          <a:lstStyle/>
          <a:p>
            <a:pPr algn="l" indent="0" marL="0">
              <a:buNone/>
            </a:pPr>
            <a:r>
              <a:rPr lang="en-US" sz="1100" b="1" dirty="0">
                <a:solidFill>
                  <a:srgbClr val="EF4444"/>
                </a:solidFill>
                <a:latin typeface="Microsoft YaHei" pitchFamily="34" charset="0"/>
                <a:ea typeface="Microsoft YaHei" pitchFamily="34" charset="-122"/>
                <a:cs typeface="Microsoft YaHei" pitchFamily="34" charset="-120"/>
              </a:rPr>
              <a:t>加强兜底约束</a:t>
            </a:r>
            <a:endParaRPr lang="en-US" sz="1100" dirty="0"/>
          </a:p>
        </p:txBody>
      </p:sp>
      <p:sp>
        <p:nvSpPr>
          <p:cNvPr id="20" name="Shape 18"/>
          <p:cNvSpPr/>
          <p:nvPr/>
        </p:nvSpPr>
        <p:spPr>
          <a:xfrm>
            <a:off x="457200" y="4160520"/>
            <a:ext cx="8229600" cy="822960"/>
          </a:xfrm>
          <a:prstGeom prst="rect">
            <a:avLst/>
          </a:prstGeom>
          <a:solidFill>
            <a:srgbClr val="FFFFFF"/>
          </a:solidFill>
          <a:ln/>
        </p:spPr>
      </p:sp>
      <p:sp>
        <p:nvSpPr>
          <p:cNvPr id="21" name="Text 19"/>
          <p:cNvSpPr/>
          <p:nvPr/>
        </p:nvSpPr>
        <p:spPr>
          <a:xfrm>
            <a:off x="457200" y="4160520"/>
            <a:ext cx="3200400" cy="822960"/>
          </a:xfrm>
          <a:prstGeom prst="rect">
            <a:avLst/>
          </a:prstGeom>
          <a:noFill/>
          <a:ln/>
        </p:spPr>
        <p:txBody>
          <a:bodyPr wrap="square" lIns="0" tIns="127000" rIns="0" bIns="0" rtlCol="0" anchor="ctr"/>
          <a:lstStyle/>
          <a:p>
            <a:pPr algn="l" indent="0" marL="0">
              <a:buNone/>
            </a:pPr>
            <a:r>
              <a:rPr lang="en-US" sz="1100" b="1" dirty="0">
                <a:solidFill>
                  <a:srgbClr val="B91C1C"/>
                </a:solidFill>
                <a:latin typeface="Microsoft YaHei" pitchFamily="34" charset="0"/>
                <a:ea typeface="Microsoft YaHei" pitchFamily="34" charset="-122"/>
                <a:cs typeface="Microsoft YaHei" pitchFamily="34" charset="-120"/>
              </a:rPr>
              <a:t>输出的内容似乎有道理但不对</a:t>
            </a:r>
            <a:endParaRPr lang="en-US" sz="1100" dirty="0"/>
          </a:p>
        </p:txBody>
      </p:sp>
      <p:sp>
        <p:nvSpPr>
          <p:cNvPr id="22" name="Text 20"/>
          <p:cNvSpPr/>
          <p:nvPr/>
        </p:nvSpPr>
        <p:spPr>
          <a:xfrm>
            <a:off x="3657600" y="4160520"/>
            <a:ext cx="2560320" cy="822960"/>
          </a:xfrm>
          <a:prstGeom prst="rect">
            <a:avLst/>
          </a:prstGeom>
          <a:noFill/>
          <a:ln/>
        </p:spPr>
        <p:txBody>
          <a:bodyPr wrap="square" lIns="0" tIns="63500" rIns="0" bIns="0" rtlCol="0" anchor="ctr"/>
          <a:lstStyle/>
          <a:p>
            <a:pPr algn="l" indent="0" marL="0">
              <a:buNone/>
            </a:pPr>
            <a:r>
              <a:rPr lang="en-US" sz="1100" dirty="0">
                <a:solidFill>
                  <a:srgbClr val="374151"/>
                </a:solidFill>
                <a:latin typeface="Microsoft YaHei" pitchFamily="34" charset="0"/>
                <a:ea typeface="Microsoft YaHei" pitchFamily="34" charset="-122"/>
                <a:cs typeface="Microsoft YaHei" pitchFamily="34" charset="-120"/>
              </a:rPr>
              <a:t>知识库里缺少业务信息</a:t>
            </a:r>
            <a:endParaRPr lang="en-US" sz="1100" dirty="0"/>
          </a:p>
        </p:txBody>
      </p:sp>
      <p:sp>
        <p:nvSpPr>
          <p:cNvPr id="23" name="Text 21"/>
          <p:cNvSpPr/>
          <p:nvPr/>
        </p:nvSpPr>
        <p:spPr>
          <a:xfrm>
            <a:off x="6217920" y="4160520"/>
            <a:ext cx="2468880" cy="822960"/>
          </a:xfrm>
          <a:prstGeom prst="rect">
            <a:avLst/>
          </a:prstGeom>
          <a:noFill/>
          <a:ln/>
        </p:spPr>
        <p:txBody>
          <a:bodyPr wrap="square" lIns="0" tIns="63500" rIns="0" bIns="0" rtlCol="0" anchor="ctr"/>
          <a:lstStyle/>
          <a:p>
            <a:pPr algn="l" indent="0" marL="0">
              <a:buNone/>
            </a:pPr>
            <a:r>
              <a:rPr lang="en-US" sz="1100" b="1" dirty="0">
                <a:solidFill>
                  <a:srgbClr val="EF4444"/>
                </a:solidFill>
                <a:latin typeface="Microsoft YaHei" pitchFamily="34" charset="0"/>
                <a:ea typeface="Microsoft YaHei" pitchFamily="34" charset="-122"/>
                <a:cs typeface="Microsoft YaHei" pitchFamily="34" charset="-120"/>
              </a:rPr>
              <a:t>补充知识库内容</a:t>
            </a:r>
            <a:endParaRPr lang="en-US" sz="1100" dirty="0"/>
          </a:p>
        </p:txBody>
      </p:sp>
      <p:sp>
        <p:nvSpPr>
          <p:cNvPr id="24" name="Text 22"/>
          <p:cNvSpPr/>
          <p:nvPr/>
        </p:nvSpPr>
        <p:spPr>
          <a:xfrm>
            <a:off x="8503920" y="4663440"/>
            <a:ext cx="457200" cy="274320"/>
          </a:xfrm>
          <a:prstGeom prst="rect">
            <a:avLst/>
          </a:prstGeom>
          <a:noFill/>
          <a:ln/>
        </p:spPr>
        <p:txBody>
          <a:bodyPr wrap="square" rtlCol="0" anchor="ctr"/>
          <a:lstStyle/>
          <a:p>
            <a:pPr algn="ctr" indent="0" marL="0">
              <a:buNone/>
            </a:pPr>
            <a:r>
              <a:rPr lang="en-US" sz="1000" dirty="0">
                <a:solidFill>
                  <a:srgbClr val="374151"/>
                </a:solidFill>
                <a:latin typeface="Arial" pitchFamily="34" charset="0"/>
                <a:ea typeface="Arial" pitchFamily="34" charset="-122"/>
                <a:cs typeface="Arial" pitchFamily="34" charset="-120"/>
              </a:rPr>
              <a:t>144</a:t>
            </a:r>
            <a:endParaRPr lang="en-US" sz="100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274320"/>
            <a:ext cx="8229600" cy="457200"/>
          </a:xfrm>
          <a:prstGeom prst="rect">
            <a:avLst/>
          </a:prstGeom>
          <a:noFill/>
          <a:ln/>
        </p:spPr>
        <p:txBody>
          <a:bodyPr wrap="square" rtlCol="0" anchor="ctr"/>
          <a:lstStyle/>
          <a:p>
            <a:pPr indent="0" marL="0">
              <a:buNone/>
            </a:pPr>
            <a:r>
              <a:rPr lang="en-US" sz="1800" b="1" dirty="0">
                <a:solidFill>
                  <a:srgbClr val="B91C1C"/>
                </a:solidFill>
                <a:latin typeface="Microsoft YaHei" pitchFamily="34" charset="0"/>
                <a:ea typeface="Microsoft YaHei" pitchFamily="34" charset="-122"/>
                <a:cs typeface="Microsoft YaHei" pitchFamily="34" charset="-120"/>
              </a:rPr>
              <a:t>常见错误速查表（2/2）</a:t>
            </a:r>
            <a:endParaRPr lang="en-US" sz="1800" dirty="0"/>
          </a:p>
        </p:txBody>
      </p:sp>
      <p:sp>
        <p:nvSpPr>
          <p:cNvPr id="4" name="Shape 2"/>
          <p:cNvSpPr/>
          <p:nvPr/>
        </p:nvSpPr>
        <p:spPr>
          <a:xfrm>
            <a:off x="457200" y="868680"/>
            <a:ext cx="8229600" cy="822960"/>
          </a:xfrm>
          <a:prstGeom prst="rect">
            <a:avLst/>
          </a:prstGeom>
          <a:solidFill>
            <a:srgbClr val="B91C1C"/>
          </a:solidFill>
          <a:ln/>
        </p:spPr>
      </p:sp>
      <p:sp>
        <p:nvSpPr>
          <p:cNvPr id="5" name="Text 3"/>
          <p:cNvSpPr/>
          <p:nvPr/>
        </p:nvSpPr>
        <p:spPr>
          <a:xfrm>
            <a:off x="457200" y="868680"/>
            <a:ext cx="3200400" cy="822960"/>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症状</a:t>
            </a:r>
            <a:endParaRPr lang="en-US" sz="1200" dirty="0"/>
          </a:p>
        </p:txBody>
      </p:sp>
      <p:sp>
        <p:nvSpPr>
          <p:cNvPr id="6" name="Text 4"/>
          <p:cNvSpPr/>
          <p:nvPr/>
        </p:nvSpPr>
        <p:spPr>
          <a:xfrm>
            <a:off x="3657600" y="868680"/>
            <a:ext cx="2560320" cy="822960"/>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最可能的原因</a:t>
            </a:r>
            <a:endParaRPr lang="en-US" sz="1200" dirty="0"/>
          </a:p>
        </p:txBody>
      </p:sp>
      <p:sp>
        <p:nvSpPr>
          <p:cNvPr id="7" name="Text 5"/>
          <p:cNvSpPr/>
          <p:nvPr/>
        </p:nvSpPr>
        <p:spPr>
          <a:xfrm>
            <a:off x="6217920" y="868680"/>
            <a:ext cx="2468880" cy="822960"/>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对应解法</a:t>
            </a:r>
            <a:endParaRPr lang="en-US" sz="1200" dirty="0"/>
          </a:p>
        </p:txBody>
      </p:sp>
      <p:sp>
        <p:nvSpPr>
          <p:cNvPr id="8" name="Shape 6"/>
          <p:cNvSpPr/>
          <p:nvPr/>
        </p:nvSpPr>
        <p:spPr>
          <a:xfrm>
            <a:off x="457200" y="1691640"/>
            <a:ext cx="8229600" cy="822960"/>
          </a:xfrm>
          <a:prstGeom prst="rect">
            <a:avLst/>
          </a:prstGeom>
          <a:solidFill>
            <a:srgbClr val="F3F4F6"/>
          </a:solidFill>
          <a:ln/>
        </p:spPr>
      </p:sp>
      <p:sp>
        <p:nvSpPr>
          <p:cNvPr id="9" name="Text 7"/>
          <p:cNvSpPr/>
          <p:nvPr/>
        </p:nvSpPr>
        <p:spPr>
          <a:xfrm>
            <a:off x="457200" y="1691640"/>
            <a:ext cx="3200400" cy="822960"/>
          </a:xfrm>
          <a:prstGeom prst="rect">
            <a:avLst/>
          </a:prstGeom>
          <a:noFill/>
          <a:ln/>
        </p:spPr>
        <p:txBody>
          <a:bodyPr wrap="square" lIns="0" tIns="127000" rIns="0" bIns="0" rtlCol="0" anchor="ctr"/>
          <a:lstStyle/>
          <a:p>
            <a:pPr algn="l" indent="0" marL="0">
              <a:buNone/>
            </a:pPr>
            <a:r>
              <a:rPr lang="en-US" sz="1100" b="1" dirty="0">
                <a:solidFill>
                  <a:srgbClr val="B91C1C"/>
                </a:solidFill>
                <a:latin typeface="Microsoft YaHei" pitchFamily="34" charset="0"/>
                <a:ea typeface="Microsoft YaHei" pitchFamily="34" charset="-122"/>
                <a:cs typeface="Microsoft YaHei" pitchFamily="34" charset="-120"/>
              </a:rPr>
              <a:t>Skill简单情况OK，复杂就乱</a:t>
            </a:r>
            <a:endParaRPr lang="en-US" sz="1100" dirty="0"/>
          </a:p>
        </p:txBody>
      </p:sp>
      <p:sp>
        <p:nvSpPr>
          <p:cNvPr id="10" name="Text 8"/>
          <p:cNvSpPr/>
          <p:nvPr/>
        </p:nvSpPr>
        <p:spPr>
          <a:xfrm>
            <a:off x="3657600" y="1691640"/>
            <a:ext cx="2560320" cy="822960"/>
          </a:xfrm>
          <a:prstGeom prst="rect">
            <a:avLst/>
          </a:prstGeom>
          <a:noFill/>
          <a:ln/>
        </p:spPr>
        <p:txBody>
          <a:bodyPr wrap="square" lIns="0" tIns="63500" rIns="0" bIns="0" rtlCol="0" anchor="ctr"/>
          <a:lstStyle/>
          <a:p>
            <a:pPr algn="l" indent="0" marL="0">
              <a:buNone/>
            </a:pPr>
            <a:r>
              <a:rPr lang="en-US" sz="1100" dirty="0">
                <a:solidFill>
                  <a:srgbClr val="374151"/>
                </a:solidFill>
                <a:latin typeface="Microsoft YaHei" pitchFamily="34" charset="0"/>
                <a:ea typeface="Microsoft YaHei" pitchFamily="34" charset="-122"/>
                <a:cs typeface="Microsoft YaHei" pitchFamily="34" charset="-120"/>
              </a:rPr>
              <a:t>指令太长导致AI注意力分散</a:t>
            </a:r>
            <a:endParaRPr lang="en-US" sz="1100" dirty="0"/>
          </a:p>
        </p:txBody>
      </p:sp>
      <p:sp>
        <p:nvSpPr>
          <p:cNvPr id="11" name="Text 9"/>
          <p:cNvSpPr/>
          <p:nvPr/>
        </p:nvSpPr>
        <p:spPr>
          <a:xfrm>
            <a:off x="6217920" y="1691640"/>
            <a:ext cx="2468880" cy="822960"/>
          </a:xfrm>
          <a:prstGeom prst="rect">
            <a:avLst/>
          </a:prstGeom>
          <a:noFill/>
          <a:ln/>
        </p:spPr>
        <p:txBody>
          <a:bodyPr wrap="square" lIns="0" tIns="63500" rIns="0" bIns="0" rtlCol="0" anchor="ctr"/>
          <a:lstStyle/>
          <a:p>
            <a:pPr algn="l" indent="0" marL="0">
              <a:buNone/>
            </a:pPr>
            <a:r>
              <a:rPr lang="en-US" sz="1100" b="1" dirty="0">
                <a:solidFill>
                  <a:srgbClr val="EF4444"/>
                </a:solidFill>
                <a:latin typeface="Microsoft YaHei" pitchFamily="34" charset="0"/>
                <a:ea typeface="Microsoft YaHei" pitchFamily="34" charset="-122"/>
                <a:cs typeface="Microsoft YaHei" pitchFamily="34" charset="-120"/>
              </a:rPr>
              <a:t>拆成多Skill串行</a:t>
            </a:r>
            <a:endParaRPr lang="en-US" sz="1100" dirty="0"/>
          </a:p>
        </p:txBody>
      </p:sp>
      <p:sp>
        <p:nvSpPr>
          <p:cNvPr id="12" name="Shape 10"/>
          <p:cNvSpPr/>
          <p:nvPr/>
        </p:nvSpPr>
        <p:spPr>
          <a:xfrm>
            <a:off x="457200" y="2514600"/>
            <a:ext cx="8229600" cy="822960"/>
          </a:xfrm>
          <a:prstGeom prst="rect">
            <a:avLst/>
          </a:prstGeom>
          <a:solidFill>
            <a:srgbClr val="FFFFFF"/>
          </a:solidFill>
          <a:ln/>
        </p:spPr>
      </p:sp>
      <p:sp>
        <p:nvSpPr>
          <p:cNvPr id="13" name="Text 11"/>
          <p:cNvSpPr/>
          <p:nvPr/>
        </p:nvSpPr>
        <p:spPr>
          <a:xfrm>
            <a:off x="457200" y="2514600"/>
            <a:ext cx="3200400" cy="822960"/>
          </a:xfrm>
          <a:prstGeom prst="rect">
            <a:avLst/>
          </a:prstGeom>
          <a:noFill/>
          <a:ln/>
        </p:spPr>
        <p:txBody>
          <a:bodyPr wrap="square" lIns="0" tIns="127000" rIns="0" bIns="0" rtlCol="0" anchor="ctr"/>
          <a:lstStyle/>
          <a:p>
            <a:pPr algn="l" indent="0" marL="0">
              <a:buNone/>
            </a:pPr>
            <a:r>
              <a:rPr lang="en-US" sz="1100" b="1" dirty="0">
                <a:solidFill>
                  <a:srgbClr val="B91C1C"/>
                </a:solidFill>
                <a:latin typeface="Microsoft YaHei" pitchFamily="34" charset="0"/>
                <a:ea typeface="Microsoft YaHei" pitchFamily="34" charset="-122"/>
                <a:cs typeface="Microsoft YaHei" pitchFamily="34" charset="-120"/>
              </a:rPr>
              <a:t>规则写了但AI不遵守</a:t>
            </a:r>
            <a:endParaRPr lang="en-US" sz="1100" dirty="0"/>
          </a:p>
        </p:txBody>
      </p:sp>
      <p:sp>
        <p:nvSpPr>
          <p:cNvPr id="14" name="Text 12"/>
          <p:cNvSpPr/>
          <p:nvPr/>
        </p:nvSpPr>
        <p:spPr>
          <a:xfrm>
            <a:off x="3657600" y="2514600"/>
            <a:ext cx="2560320" cy="822960"/>
          </a:xfrm>
          <a:prstGeom prst="rect">
            <a:avLst/>
          </a:prstGeom>
          <a:noFill/>
          <a:ln/>
        </p:spPr>
        <p:txBody>
          <a:bodyPr wrap="square" lIns="0" tIns="63500" rIns="0" bIns="0" rtlCol="0" anchor="ctr"/>
          <a:lstStyle/>
          <a:p>
            <a:pPr algn="l" indent="0" marL="0">
              <a:buNone/>
            </a:pPr>
            <a:r>
              <a:rPr lang="en-US" sz="1100" dirty="0">
                <a:solidFill>
                  <a:srgbClr val="374151"/>
                </a:solidFill>
                <a:latin typeface="Microsoft YaHei" pitchFamily="34" charset="0"/>
                <a:ea typeface="Microsoft YaHei" pitchFamily="34" charset="-122"/>
                <a:cs typeface="Microsoft YaHei" pitchFamily="34" charset="-120"/>
              </a:rPr>
              <a:t>触发条件太隐含，AI识别不到</a:t>
            </a:r>
            <a:endParaRPr lang="en-US" sz="1100" dirty="0"/>
          </a:p>
        </p:txBody>
      </p:sp>
      <p:sp>
        <p:nvSpPr>
          <p:cNvPr id="15" name="Text 13"/>
          <p:cNvSpPr/>
          <p:nvPr/>
        </p:nvSpPr>
        <p:spPr>
          <a:xfrm>
            <a:off x="6217920" y="2514600"/>
            <a:ext cx="2468880" cy="822960"/>
          </a:xfrm>
          <a:prstGeom prst="rect">
            <a:avLst/>
          </a:prstGeom>
          <a:noFill/>
          <a:ln/>
        </p:spPr>
        <p:txBody>
          <a:bodyPr wrap="square" lIns="0" tIns="63500" rIns="0" bIns="0" rtlCol="0" anchor="ctr"/>
          <a:lstStyle/>
          <a:p>
            <a:pPr algn="l" indent="0" marL="0">
              <a:buNone/>
            </a:pPr>
            <a:r>
              <a:rPr lang="en-US" sz="1100" b="1" dirty="0">
                <a:solidFill>
                  <a:srgbClr val="EF4444"/>
                </a:solidFill>
                <a:latin typeface="Microsoft YaHei" pitchFamily="34" charset="0"/>
                <a:ea typeface="Microsoft YaHei" pitchFamily="34" charset="-122"/>
                <a:cs typeface="Microsoft YaHei" pitchFamily="34" charset="-120"/>
              </a:rPr>
              <a:t>改成可检测信号词</a:t>
            </a:r>
            <a:endParaRPr lang="en-US" sz="1100" dirty="0"/>
          </a:p>
        </p:txBody>
      </p:sp>
      <p:sp>
        <p:nvSpPr>
          <p:cNvPr id="16" name="Shape 14"/>
          <p:cNvSpPr/>
          <p:nvPr/>
        </p:nvSpPr>
        <p:spPr>
          <a:xfrm>
            <a:off x="457200" y="3337560"/>
            <a:ext cx="8229600" cy="822960"/>
          </a:xfrm>
          <a:prstGeom prst="rect">
            <a:avLst/>
          </a:prstGeom>
          <a:solidFill>
            <a:srgbClr val="F3F4F6"/>
          </a:solidFill>
          <a:ln/>
        </p:spPr>
      </p:sp>
      <p:sp>
        <p:nvSpPr>
          <p:cNvPr id="17" name="Text 15"/>
          <p:cNvSpPr/>
          <p:nvPr/>
        </p:nvSpPr>
        <p:spPr>
          <a:xfrm>
            <a:off x="457200" y="3337560"/>
            <a:ext cx="3200400" cy="822960"/>
          </a:xfrm>
          <a:prstGeom prst="rect">
            <a:avLst/>
          </a:prstGeom>
          <a:noFill/>
          <a:ln/>
        </p:spPr>
        <p:txBody>
          <a:bodyPr wrap="square" lIns="0" tIns="127000" rIns="0" bIns="0" rtlCol="0" anchor="ctr"/>
          <a:lstStyle/>
          <a:p>
            <a:pPr algn="l" indent="0" marL="0">
              <a:buNone/>
            </a:pPr>
            <a:r>
              <a:rPr lang="en-US" sz="1100" b="1" dirty="0">
                <a:solidFill>
                  <a:srgbClr val="B91C1C"/>
                </a:solidFill>
                <a:latin typeface="Microsoft YaHei" pitchFamily="34" charset="0"/>
                <a:ea typeface="Microsoft YaHei" pitchFamily="34" charset="-122"/>
                <a:cs typeface="Microsoft YaHei" pitchFamily="34" charset="-120"/>
              </a:rPr>
              <a:t>输出格式正确但建议没依据</a:t>
            </a:r>
            <a:endParaRPr lang="en-US" sz="1100" dirty="0"/>
          </a:p>
        </p:txBody>
      </p:sp>
      <p:sp>
        <p:nvSpPr>
          <p:cNvPr id="18" name="Text 16"/>
          <p:cNvSpPr/>
          <p:nvPr/>
        </p:nvSpPr>
        <p:spPr>
          <a:xfrm>
            <a:off x="3657600" y="3337560"/>
            <a:ext cx="2560320" cy="822960"/>
          </a:xfrm>
          <a:prstGeom prst="rect">
            <a:avLst/>
          </a:prstGeom>
          <a:noFill/>
          <a:ln/>
        </p:spPr>
        <p:txBody>
          <a:bodyPr wrap="square" lIns="0" tIns="63500" rIns="0" bIns="0" rtlCol="0" anchor="ctr"/>
          <a:lstStyle/>
          <a:p>
            <a:pPr algn="l" indent="0" marL="0">
              <a:buNone/>
            </a:pPr>
            <a:r>
              <a:rPr lang="en-US" sz="1100" dirty="0">
                <a:solidFill>
                  <a:srgbClr val="374151"/>
                </a:solidFill>
                <a:latin typeface="Microsoft YaHei" pitchFamily="34" charset="0"/>
                <a:ea typeface="Microsoft YaHei" pitchFamily="34" charset="-122"/>
                <a:cs typeface="Microsoft YaHei" pitchFamily="34" charset="-120"/>
              </a:rPr>
              <a:t>知识库未关联或关联太少</a:t>
            </a:r>
            <a:endParaRPr lang="en-US" sz="1100" dirty="0"/>
          </a:p>
        </p:txBody>
      </p:sp>
      <p:sp>
        <p:nvSpPr>
          <p:cNvPr id="19" name="Text 17"/>
          <p:cNvSpPr/>
          <p:nvPr/>
        </p:nvSpPr>
        <p:spPr>
          <a:xfrm>
            <a:off x="6217920" y="3337560"/>
            <a:ext cx="2468880" cy="822960"/>
          </a:xfrm>
          <a:prstGeom prst="rect">
            <a:avLst/>
          </a:prstGeom>
          <a:noFill/>
          <a:ln/>
        </p:spPr>
        <p:txBody>
          <a:bodyPr wrap="square" lIns="0" tIns="63500" rIns="0" bIns="0" rtlCol="0" anchor="ctr"/>
          <a:lstStyle/>
          <a:p>
            <a:pPr algn="l" indent="0" marL="0">
              <a:buNone/>
            </a:pPr>
            <a:r>
              <a:rPr lang="en-US" sz="1100" b="1" dirty="0">
                <a:solidFill>
                  <a:srgbClr val="EF4444"/>
                </a:solidFill>
                <a:latin typeface="Microsoft YaHei" pitchFamily="34" charset="0"/>
                <a:ea typeface="Microsoft YaHei" pitchFamily="34" charset="-122"/>
                <a:cs typeface="Microsoft YaHei" pitchFamily="34" charset="-120"/>
              </a:rPr>
              <a:t>检查知识库关联</a:t>
            </a:r>
            <a:endParaRPr lang="en-US" sz="1100" dirty="0"/>
          </a:p>
        </p:txBody>
      </p:sp>
      <p:sp>
        <p:nvSpPr>
          <p:cNvPr id="20" name="Shape 18"/>
          <p:cNvSpPr/>
          <p:nvPr/>
        </p:nvSpPr>
        <p:spPr>
          <a:xfrm>
            <a:off x="457200" y="4160520"/>
            <a:ext cx="8229600" cy="822960"/>
          </a:xfrm>
          <a:prstGeom prst="rect">
            <a:avLst/>
          </a:prstGeom>
          <a:solidFill>
            <a:srgbClr val="FFFFFF"/>
          </a:solidFill>
          <a:ln/>
        </p:spPr>
      </p:sp>
      <p:sp>
        <p:nvSpPr>
          <p:cNvPr id="21" name="Text 19"/>
          <p:cNvSpPr/>
          <p:nvPr/>
        </p:nvSpPr>
        <p:spPr>
          <a:xfrm>
            <a:off x="457200" y="4160520"/>
            <a:ext cx="3200400" cy="822960"/>
          </a:xfrm>
          <a:prstGeom prst="rect">
            <a:avLst/>
          </a:prstGeom>
          <a:noFill/>
          <a:ln/>
        </p:spPr>
        <p:txBody>
          <a:bodyPr wrap="square" lIns="0" tIns="127000" rIns="0" bIns="0" rtlCol="0" anchor="ctr"/>
          <a:lstStyle/>
          <a:p>
            <a:pPr algn="l" indent="0" marL="0">
              <a:buNone/>
            </a:pPr>
            <a:r>
              <a:rPr lang="en-US" sz="1100" b="1" dirty="0">
                <a:solidFill>
                  <a:srgbClr val="B91C1C"/>
                </a:solidFill>
                <a:latin typeface="Microsoft YaHei" pitchFamily="34" charset="0"/>
                <a:ea typeface="Microsoft YaHei" pitchFamily="34" charset="-122"/>
                <a:cs typeface="Microsoft YaHei" pitchFamily="34" charset="-120"/>
              </a:rPr>
              <a:t>同一个输入给两次结果不一样</a:t>
            </a:r>
            <a:endParaRPr lang="en-US" sz="1100" dirty="0"/>
          </a:p>
        </p:txBody>
      </p:sp>
      <p:sp>
        <p:nvSpPr>
          <p:cNvPr id="22" name="Text 20"/>
          <p:cNvSpPr/>
          <p:nvPr/>
        </p:nvSpPr>
        <p:spPr>
          <a:xfrm>
            <a:off x="3657600" y="4160520"/>
            <a:ext cx="2560320" cy="822960"/>
          </a:xfrm>
          <a:prstGeom prst="rect">
            <a:avLst/>
          </a:prstGeom>
          <a:noFill/>
          <a:ln/>
        </p:spPr>
        <p:txBody>
          <a:bodyPr wrap="square" lIns="0" tIns="63500" rIns="0" bIns="0" rtlCol="0" anchor="ctr"/>
          <a:lstStyle/>
          <a:p>
            <a:pPr algn="l" indent="0" marL="0">
              <a:buNone/>
            </a:pPr>
            <a:r>
              <a:rPr lang="en-US" sz="1100" dirty="0">
                <a:solidFill>
                  <a:srgbClr val="374151"/>
                </a:solidFill>
                <a:latin typeface="Microsoft YaHei" pitchFamily="34" charset="0"/>
                <a:ea typeface="Microsoft YaHei" pitchFamily="34" charset="-122"/>
                <a:cs typeface="Microsoft YaHei" pitchFamily="34" charset="-120"/>
              </a:rPr>
              <a:t>边界情况规则不够精确</a:t>
            </a:r>
            <a:endParaRPr lang="en-US" sz="1100" dirty="0"/>
          </a:p>
        </p:txBody>
      </p:sp>
      <p:sp>
        <p:nvSpPr>
          <p:cNvPr id="23" name="Text 21"/>
          <p:cNvSpPr/>
          <p:nvPr/>
        </p:nvSpPr>
        <p:spPr>
          <a:xfrm>
            <a:off x="6217920" y="4160520"/>
            <a:ext cx="2468880" cy="822960"/>
          </a:xfrm>
          <a:prstGeom prst="rect">
            <a:avLst/>
          </a:prstGeom>
          <a:noFill/>
          <a:ln/>
        </p:spPr>
        <p:txBody>
          <a:bodyPr wrap="square" lIns="0" tIns="63500" rIns="0" bIns="0" rtlCol="0" anchor="ctr"/>
          <a:lstStyle/>
          <a:p>
            <a:pPr algn="l" indent="0" marL="0">
              <a:buNone/>
            </a:pPr>
            <a:r>
              <a:rPr lang="en-US" sz="1100" b="1" dirty="0">
                <a:solidFill>
                  <a:srgbClr val="EF4444"/>
                </a:solidFill>
                <a:latin typeface="Microsoft YaHei" pitchFamily="34" charset="0"/>
                <a:ea typeface="Microsoft YaHei" pitchFamily="34" charset="-122"/>
                <a:cs typeface="Microsoft YaHei" pitchFamily="34" charset="-120"/>
              </a:rPr>
              <a:t>写得更精确</a:t>
            </a:r>
            <a:endParaRPr lang="en-US" sz="1100" dirty="0"/>
          </a:p>
        </p:txBody>
      </p:sp>
      <p:sp>
        <p:nvSpPr>
          <p:cNvPr id="24" name="Text 22"/>
          <p:cNvSpPr/>
          <p:nvPr/>
        </p:nvSpPr>
        <p:spPr>
          <a:xfrm>
            <a:off x="8503920" y="4663440"/>
            <a:ext cx="457200" cy="274320"/>
          </a:xfrm>
          <a:prstGeom prst="rect">
            <a:avLst/>
          </a:prstGeom>
          <a:noFill/>
          <a:ln/>
        </p:spPr>
        <p:txBody>
          <a:bodyPr wrap="square" rtlCol="0" anchor="ctr"/>
          <a:lstStyle/>
          <a:p>
            <a:pPr algn="ctr" indent="0" marL="0">
              <a:buNone/>
            </a:pPr>
            <a:r>
              <a:rPr lang="en-US" sz="1000" dirty="0">
                <a:solidFill>
                  <a:srgbClr val="374151"/>
                </a:solidFill>
                <a:latin typeface="Arial" pitchFamily="34" charset="0"/>
                <a:ea typeface="Arial" pitchFamily="34" charset="-122"/>
                <a:cs typeface="Arial" pitchFamily="34" charset="-120"/>
              </a:rPr>
              <a:t>145</a:t>
            </a:r>
            <a:endParaRPr lang="en-US" sz="100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B91C1C"/>
          </a:solidFill>
          <a:ln/>
        </p:spPr>
      </p:sp>
      <p:sp>
        <p:nvSpPr>
          <p:cNvPr id="3" name="Text 1"/>
          <p:cNvSpPr/>
          <p:nvPr/>
        </p:nvSpPr>
        <p:spPr>
          <a:xfrm>
            <a:off x="457200" y="1645920"/>
            <a:ext cx="8229600" cy="548640"/>
          </a:xfrm>
          <a:prstGeom prst="rect">
            <a:avLst/>
          </a:prstGeom>
          <a:noFill/>
          <a:ln/>
        </p:spPr>
        <p:txBody>
          <a:bodyPr wrap="square" rtlCol="0" anchor="ctr"/>
          <a:lstStyle/>
          <a:p>
            <a:pPr indent="0" marL="0">
              <a:buNone/>
            </a:pPr>
            <a:r>
              <a:rPr lang="en-US" sz="1800" spc="800" kern="0" dirty="0">
                <a:solidFill>
                  <a:srgbClr val="FFFFFF"/>
                </a:solidFill>
                <a:latin typeface="Microsoft YaHei" pitchFamily="34" charset="0"/>
                <a:ea typeface="Microsoft YaHei" pitchFamily="34" charset="-122"/>
                <a:cs typeface="Microsoft YaHei" pitchFamily="34" charset="-120"/>
              </a:rPr>
              <a:t>附录五</a:t>
            </a:r>
            <a:endParaRPr lang="en-US" sz="1800" dirty="0"/>
          </a:p>
        </p:txBody>
      </p:sp>
      <p:sp>
        <p:nvSpPr>
          <p:cNvPr id="4" name="Text 2"/>
          <p:cNvSpPr/>
          <p:nvPr/>
        </p:nvSpPr>
        <p:spPr>
          <a:xfrm>
            <a:off x="457200" y="2194560"/>
            <a:ext cx="8229600" cy="1097280"/>
          </a:xfrm>
          <a:prstGeom prst="rect">
            <a:avLst/>
          </a:prstGeom>
          <a:noFill/>
          <a:ln/>
        </p:spPr>
        <p:txBody>
          <a:bodyPr wrap="square" rtlCol="0" anchor="ctr"/>
          <a:lstStyle/>
          <a:p>
            <a:pPr indent="0" marL="0">
              <a:buNone/>
            </a:pPr>
            <a:r>
              <a:rPr lang="en-US" sz="4800" b="1" dirty="0">
                <a:solidFill>
                  <a:srgbClr val="FFFFFF"/>
                </a:solidFill>
                <a:latin typeface="Microsoft YaHei" pitchFamily="34" charset="0"/>
                <a:ea typeface="Microsoft YaHei" pitchFamily="34" charset="-122"/>
                <a:cs typeface="Microsoft YaHei" pitchFamily="34" charset="-120"/>
              </a:rPr>
              <a:t>Skill成熟度自评清单</a:t>
            </a:r>
            <a:endParaRPr lang="en-US" sz="4800" dirty="0"/>
          </a:p>
        </p:txBody>
      </p:sp>
      <p:sp>
        <p:nvSpPr>
          <p:cNvPr id="5" name="Shape 3"/>
          <p:cNvSpPr/>
          <p:nvPr/>
        </p:nvSpPr>
        <p:spPr>
          <a:xfrm>
            <a:off x="457200" y="3931920"/>
            <a:ext cx="1828800" cy="54864"/>
          </a:xfrm>
          <a:prstGeom prst="rect">
            <a:avLst/>
          </a:prstGeom>
          <a:solidFill>
            <a:srgbClr val="EF4444"/>
          </a:solidFill>
          <a:ln/>
        </p:spPr>
      </p:sp>
      <p:sp>
        <p:nvSpPr>
          <p:cNvPr id="6" name="Text 4"/>
          <p:cNvSpPr/>
          <p:nvPr/>
        </p:nvSpPr>
        <p:spPr>
          <a:xfrm>
            <a:off x="8503920" y="4663440"/>
            <a:ext cx="457200" cy="274320"/>
          </a:xfrm>
          <a:prstGeom prst="rect">
            <a:avLst/>
          </a:prstGeom>
          <a:noFill/>
          <a:ln/>
        </p:spPr>
        <p:txBody>
          <a:bodyPr wrap="square" rtlCol="0" anchor="ctr"/>
          <a:lstStyle/>
          <a:p>
            <a:pPr algn="ctr" indent="0" marL="0">
              <a:buNone/>
            </a:pPr>
            <a:r>
              <a:rPr lang="en-US" sz="1000" dirty="0">
                <a:solidFill>
                  <a:srgbClr val="FFFFFF"/>
                </a:solidFill>
                <a:latin typeface="Arial" pitchFamily="34" charset="0"/>
                <a:ea typeface="Arial" pitchFamily="34" charset="-122"/>
                <a:cs typeface="Arial" pitchFamily="34" charset="-120"/>
              </a:rPr>
              <a:t>146</a:t>
            </a:r>
            <a:endParaRPr lang="en-US" sz="100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274320"/>
            <a:ext cx="8229600" cy="457200"/>
          </a:xfrm>
          <a:prstGeom prst="rect">
            <a:avLst/>
          </a:prstGeom>
          <a:noFill/>
          <a:ln/>
        </p:spPr>
        <p:txBody>
          <a:bodyPr wrap="square" rtlCol="0" anchor="ctr"/>
          <a:lstStyle/>
          <a:p>
            <a:pPr indent="0" marL="0">
              <a:buNone/>
            </a:pPr>
            <a:r>
              <a:rPr lang="en-US" sz="1800" b="1" dirty="0">
                <a:solidFill>
                  <a:srgbClr val="B91C1C"/>
                </a:solidFill>
                <a:latin typeface="Microsoft YaHei" pitchFamily="34" charset="0"/>
                <a:ea typeface="Microsoft YaHei" pitchFamily="34" charset="-122"/>
                <a:cs typeface="Microsoft YaHei" pitchFamily="34" charset="-120"/>
              </a:rPr>
              <a:t>能用阶段自评</a:t>
            </a:r>
            <a:endParaRPr lang="en-US" sz="1800" dirty="0"/>
          </a:p>
        </p:txBody>
      </p:sp>
      <p:sp>
        <p:nvSpPr>
          <p:cNvPr id="4" name="Text 2"/>
          <p:cNvSpPr/>
          <p:nvPr/>
        </p:nvSpPr>
        <p:spPr>
          <a:xfrm>
            <a:off x="457200" y="731520"/>
            <a:ext cx="8229600" cy="365760"/>
          </a:xfrm>
          <a:prstGeom prst="rect">
            <a:avLst/>
          </a:prstGeom>
          <a:noFill/>
          <a:ln/>
        </p:spPr>
        <p:txBody>
          <a:bodyPr wrap="square" rtlCol="0" anchor="ctr"/>
          <a:lstStyle/>
          <a:p>
            <a:pPr indent="0" marL="0">
              <a:buNone/>
            </a:pPr>
            <a:r>
              <a:rPr lang="en-US" sz="1400" dirty="0">
                <a:solidFill>
                  <a:srgbClr val="374151"/>
                </a:solidFill>
                <a:latin typeface="Microsoft YaHei" pitchFamily="34" charset="0"/>
                <a:ea typeface="Microsoft YaHei" pitchFamily="34" charset="-122"/>
                <a:cs typeface="Microsoft YaHei" pitchFamily="34" charset="-120"/>
              </a:rPr>
              <a:t>主要检查基础是否稳定</a:t>
            </a:r>
            <a:endParaRPr lang="en-US" sz="1400" dirty="0"/>
          </a:p>
        </p:txBody>
      </p:sp>
      <p:sp>
        <p:nvSpPr>
          <p:cNvPr id="5" name="Shape 3"/>
          <p:cNvSpPr/>
          <p:nvPr/>
        </p:nvSpPr>
        <p:spPr>
          <a:xfrm>
            <a:off x="457200" y="1188720"/>
            <a:ext cx="8229600" cy="3474720"/>
          </a:xfrm>
          <a:prstGeom prst="roundRect">
            <a:avLst>
              <a:gd name="adj" fmla="val 2632"/>
            </a:avLst>
          </a:prstGeom>
          <a:solidFill>
            <a:srgbClr val="F3F4F6"/>
          </a:solidFill>
          <a:ln/>
        </p:spPr>
      </p:sp>
      <p:sp>
        <p:nvSpPr>
          <p:cNvPr id="6" name="Shape 4"/>
          <p:cNvSpPr/>
          <p:nvPr/>
        </p:nvSpPr>
        <p:spPr>
          <a:xfrm>
            <a:off x="640080" y="1371600"/>
            <a:ext cx="320040" cy="320040"/>
          </a:xfrm>
          <a:prstGeom prst="roundRect">
            <a:avLst>
              <a:gd name="adj" fmla="val 14286"/>
            </a:avLst>
          </a:prstGeom>
          <a:solidFill>
            <a:srgbClr val="FFFFFF"/>
          </a:solidFill>
          <a:ln/>
        </p:spPr>
      </p:sp>
      <p:sp>
        <p:nvSpPr>
          <p:cNvPr id="7" name="Text 5"/>
          <p:cNvSpPr/>
          <p:nvPr/>
        </p:nvSpPr>
        <p:spPr>
          <a:xfrm>
            <a:off x="640080" y="1371600"/>
            <a:ext cx="320040" cy="320040"/>
          </a:xfrm>
          <a:prstGeom prst="rect">
            <a:avLst/>
          </a:prstGeom>
          <a:noFill/>
          <a:ln/>
        </p:spPr>
        <p:txBody>
          <a:bodyPr wrap="square" rtlCol="0" anchor="ctr"/>
          <a:lstStyle/>
          <a:p>
            <a:pPr algn="ctr" indent="0" marL="0">
              <a:buNone/>
            </a:pPr>
            <a:r>
              <a:rPr lang="en-US" sz="1600" dirty="0">
                <a:solidFill>
                  <a:srgbClr val="EF4444"/>
                </a:solidFill>
                <a:latin typeface="Arial" pitchFamily="34" charset="0"/>
                <a:ea typeface="Arial" pitchFamily="34" charset="-122"/>
                <a:cs typeface="Arial" pitchFamily="34" charset="-120"/>
              </a:rPr>
              <a:t>☐</a:t>
            </a:r>
            <a:endParaRPr lang="en-US" sz="1600" dirty="0"/>
          </a:p>
        </p:txBody>
      </p:sp>
      <p:sp>
        <p:nvSpPr>
          <p:cNvPr id="8" name="Text 6"/>
          <p:cNvSpPr/>
          <p:nvPr/>
        </p:nvSpPr>
        <p:spPr>
          <a:xfrm>
            <a:off x="1097280" y="1371600"/>
            <a:ext cx="7315200" cy="45720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三类测试（标准/边界/意外）中，标准情形100%通过</a:t>
            </a:r>
            <a:endParaRPr lang="en-US" sz="1300" dirty="0"/>
          </a:p>
        </p:txBody>
      </p:sp>
      <p:sp>
        <p:nvSpPr>
          <p:cNvPr id="9" name="Shape 7"/>
          <p:cNvSpPr/>
          <p:nvPr/>
        </p:nvSpPr>
        <p:spPr>
          <a:xfrm>
            <a:off x="640080" y="2148840"/>
            <a:ext cx="320040" cy="320040"/>
          </a:xfrm>
          <a:prstGeom prst="roundRect">
            <a:avLst>
              <a:gd name="adj" fmla="val 14286"/>
            </a:avLst>
          </a:prstGeom>
          <a:solidFill>
            <a:srgbClr val="FFFFFF"/>
          </a:solidFill>
          <a:ln/>
        </p:spPr>
      </p:sp>
      <p:sp>
        <p:nvSpPr>
          <p:cNvPr id="10" name="Text 8"/>
          <p:cNvSpPr/>
          <p:nvPr/>
        </p:nvSpPr>
        <p:spPr>
          <a:xfrm>
            <a:off x="640080" y="2148840"/>
            <a:ext cx="320040" cy="320040"/>
          </a:xfrm>
          <a:prstGeom prst="rect">
            <a:avLst/>
          </a:prstGeom>
          <a:noFill/>
          <a:ln/>
        </p:spPr>
        <p:txBody>
          <a:bodyPr wrap="square" rtlCol="0" anchor="ctr"/>
          <a:lstStyle/>
          <a:p>
            <a:pPr algn="ctr" indent="0" marL="0">
              <a:buNone/>
            </a:pPr>
            <a:r>
              <a:rPr lang="en-US" sz="1600" dirty="0">
                <a:solidFill>
                  <a:srgbClr val="EF4444"/>
                </a:solidFill>
                <a:latin typeface="Arial" pitchFamily="34" charset="0"/>
                <a:ea typeface="Arial" pitchFamily="34" charset="-122"/>
                <a:cs typeface="Arial" pitchFamily="34" charset="-120"/>
              </a:rPr>
              <a:t>☐</a:t>
            </a:r>
            <a:endParaRPr lang="en-US" sz="1600" dirty="0"/>
          </a:p>
        </p:txBody>
      </p:sp>
      <p:sp>
        <p:nvSpPr>
          <p:cNvPr id="11" name="Text 9"/>
          <p:cNvSpPr/>
          <p:nvPr/>
        </p:nvSpPr>
        <p:spPr>
          <a:xfrm>
            <a:off x="1097280" y="2148840"/>
            <a:ext cx="7315200" cy="45720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格式输出稳定，字段完整</a:t>
            </a:r>
            <a:endParaRPr lang="en-US" sz="1300" dirty="0"/>
          </a:p>
        </p:txBody>
      </p:sp>
      <p:sp>
        <p:nvSpPr>
          <p:cNvPr id="12" name="Shape 10"/>
          <p:cNvSpPr/>
          <p:nvPr/>
        </p:nvSpPr>
        <p:spPr>
          <a:xfrm>
            <a:off x="640080" y="2926080"/>
            <a:ext cx="320040" cy="320040"/>
          </a:xfrm>
          <a:prstGeom prst="roundRect">
            <a:avLst>
              <a:gd name="adj" fmla="val 14286"/>
            </a:avLst>
          </a:prstGeom>
          <a:solidFill>
            <a:srgbClr val="FFFFFF"/>
          </a:solidFill>
          <a:ln/>
        </p:spPr>
      </p:sp>
      <p:sp>
        <p:nvSpPr>
          <p:cNvPr id="13" name="Text 11"/>
          <p:cNvSpPr/>
          <p:nvPr/>
        </p:nvSpPr>
        <p:spPr>
          <a:xfrm>
            <a:off x="640080" y="2926080"/>
            <a:ext cx="320040" cy="320040"/>
          </a:xfrm>
          <a:prstGeom prst="rect">
            <a:avLst/>
          </a:prstGeom>
          <a:noFill/>
          <a:ln/>
        </p:spPr>
        <p:txBody>
          <a:bodyPr wrap="square" rtlCol="0" anchor="ctr"/>
          <a:lstStyle/>
          <a:p>
            <a:pPr algn="ctr" indent="0" marL="0">
              <a:buNone/>
            </a:pPr>
            <a:r>
              <a:rPr lang="en-US" sz="1600" dirty="0">
                <a:solidFill>
                  <a:srgbClr val="EF4444"/>
                </a:solidFill>
                <a:latin typeface="Arial" pitchFamily="34" charset="0"/>
                <a:ea typeface="Arial" pitchFamily="34" charset="-122"/>
                <a:cs typeface="Arial" pitchFamily="34" charset="-120"/>
              </a:rPr>
              <a:t>☐</a:t>
            </a:r>
            <a:endParaRPr lang="en-US" sz="1600" dirty="0"/>
          </a:p>
        </p:txBody>
      </p:sp>
      <p:sp>
        <p:nvSpPr>
          <p:cNvPr id="14" name="Text 12"/>
          <p:cNvSpPr/>
          <p:nvPr/>
        </p:nvSpPr>
        <p:spPr>
          <a:xfrm>
            <a:off x="1097280" y="2926080"/>
            <a:ext cx="7315200" cy="45720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兜底规则有效触发</a:t>
            </a:r>
            <a:endParaRPr lang="en-US" sz="1300" dirty="0"/>
          </a:p>
        </p:txBody>
      </p:sp>
      <p:sp>
        <p:nvSpPr>
          <p:cNvPr id="15" name="Shape 13"/>
          <p:cNvSpPr/>
          <p:nvPr/>
        </p:nvSpPr>
        <p:spPr>
          <a:xfrm>
            <a:off x="640080" y="3703320"/>
            <a:ext cx="320040" cy="320040"/>
          </a:xfrm>
          <a:prstGeom prst="roundRect">
            <a:avLst>
              <a:gd name="adj" fmla="val 14286"/>
            </a:avLst>
          </a:prstGeom>
          <a:solidFill>
            <a:srgbClr val="FFFFFF"/>
          </a:solidFill>
          <a:ln/>
        </p:spPr>
      </p:sp>
      <p:sp>
        <p:nvSpPr>
          <p:cNvPr id="16" name="Text 14"/>
          <p:cNvSpPr/>
          <p:nvPr/>
        </p:nvSpPr>
        <p:spPr>
          <a:xfrm>
            <a:off x="640080" y="3703320"/>
            <a:ext cx="320040" cy="320040"/>
          </a:xfrm>
          <a:prstGeom prst="rect">
            <a:avLst/>
          </a:prstGeom>
          <a:noFill/>
          <a:ln/>
        </p:spPr>
        <p:txBody>
          <a:bodyPr wrap="square" rtlCol="0" anchor="ctr"/>
          <a:lstStyle/>
          <a:p>
            <a:pPr algn="ctr" indent="0" marL="0">
              <a:buNone/>
            </a:pPr>
            <a:r>
              <a:rPr lang="en-US" sz="1600" dirty="0">
                <a:solidFill>
                  <a:srgbClr val="EF4444"/>
                </a:solidFill>
                <a:latin typeface="Arial" pitchFamily="34" charset="0"/>
                <a:ea typeface="Arial" pitchFamily="34" charset="-122"/>
                <a:cs typeface="Arial" pitchFamily="34" charset="-120"/>
              </a:rPr>
              <a:t>☐</a:t>
            </a:r>
            <a:endParaRPr lang="en-US" sz="1600" dirty="0"/>
          </a:p>
        </p:txBody>
      </p:sp>
      <p:sp>
        <p:nvSpPr>
          <p:cNvPr id="17" name="Text 15"/>
          <p:cNvSpPr/>
          <p:nvPr/>
        </p:nvSpPr>
        <p:spPr>
          <a:xfrm>
            <a:off x="1097280" y="3703320"/>
            <a:ext cx="7315200" cy="45720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使用者知道什么情况下不该信任这个Skill的输出</a:t>
            </a:r>
            <a:endParaRPr lang="en-US" sz="1300" dirty="0"/>
          </a:p>
        </p:txBody>
      </p:sp>
      <p:sp>
        <p:nvSpPr>
          <p:cNvPr id="18" name="Text 16"/>
          <p:cNvSpPr/>
          <p:nvPr/>
        </p:nvSpPr>
        <p:spPr>
          <a:xfrm>
            <a:off x="8503920" y="4663440"/>
            <a:ext cx="457200" cy="274320"/>
          </a:xfrm>
          <a:prstGeom prst="rect">
            <a:avLst/>
          </a:prstGeom>
          <a:noFill/>
          <a:ln/>
        </p:spPr>
        <p:txBody>
          <a:bodyPr wrap="square" rtlCol="0" anchor="ctr"/>
          <a:lstStyle/>
          <a:p>
            <a:pPr algn="ctr" indent="0" marL="0">
              <a:buNone/>
            </a:pPr>
            <a:r>
              <a:rPr lang="en-US" sz="1000" dirty="0">
                <a:solidFill>
                  <a:srgbClr val="374151"/>
                </a:solidFill>
                <a:latin typeface="Arial" pitchFamily="34" charset="0"/>
                <a:ea typeface="Arial" pitchFamily="34" charset="-122"/>
                <a:cs typeface="Arial" pitchFamily="34" charset="-120"/>
              </a:rPr>
              <a:t>147</a:t>
            </a:r>
            <a:endParaRPr lang="en-US" sz="100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274320"/>
            <a:ext cx="8229600" cy="457200"/>
          </a:xfrm>
          <a:prstGeom prst="rect">
            <a:avLst/>
          </a:prstGeom>
          <a:noFill/>
          <a:ln/>
        </p:spPr>
        <p:txBody>
          <a:bodyPr wrap="square" rtlCol="0" anchor="ctr"/>
          <a:lstStyle/>
          <a:p>
            <a:pPr indent="0" marL="0">
              <a:buNone/>
            </a:pPr>
            <a:r>
              <a:rPr lang="en-US" sz="1800" b="1" dirty="0">
                <a:solidFill>
                  <a:srgbClr val="B91C1C"/>
                </a:solidFill>
                <a:latin typeface="Microsoft YaHei" pitchFamily="34" charset="0"/>
                <a:ea typeface="Microsoft YaHei" pitchFamily="34" charset="-122"/>
                <a:cs typeface="Microsoft YaHei" pitchFamily="34" charset="-120"/>
              </a:rPr>
              <a:t>好用阶段自评</a:t>
            </a:r>
            <a:endParaRPr lang="en-US" sz="1800" dirty="0"/>
          </a:p>
        </p:txBody>
      </p:sp>
      <p:sp>
        <p:nvSpPr>
          <p:cNvPr id="4" name="Text 2"/>
          <p:cNvSpPr/>
          <p:nvPr/>
        </p:nvSpPr>
        <p:spPr>
          <a:xfrm>
            <a:off x="457200" y="731520"/>
            <a:ext cx="8229600" cy="365760"/>
          </a:xfrm>
          <a:prstGeom prst="rect">
            <a:avLst/>
          </a:prstGeom>
          <a:noFill/>
          <a:ln/>
        </p:spPr>
        <p:txBody>
          <a:bodyPr wrap="square" rtlCol="0" anchor="ctr"/>
          <a:lstStyle/>
          <a:p>
            <a:pPr indent="0" marL="0">
              <a:buNone/>
            </a:pPr>
            <a:r>
              <a:rPr lang="en-US" sz="1400" dirty="0">
                <a:solidFill>
                  <a:srgbClr val="374151"/>
                </a:solidFill>
                <a:latin typeface="Microsoft YaHei" pitchFamily="34" charset="0"/>
                <a:ea typeface="Microsoft YaHei" pitchFamily="34" charset="-122"/>
                <a:cs typeface="Microsoft YaHei" pitchFamily="34" charset="-120"/>
              </a:rPr>
              <a:t>主要检查是否可以减少人工复核</a:t>
            </a:r>
            <a:endParaRPr lang="en-US" sz="1400" dirty="0"/>
          </a:p>
        </p:txBody>
      </p:sp>
      <p:sp>
        <p:nvSpPr>
          <p:cNvPr id="5" name="Shape 3"/>
          <p:cNvSpPr/>
          <p:nvPr/>
        </p:nvSpPr>
        <p:spPr>
          <a:xfrm>
            <a:off x="457200" y="1188720"/>
            <a:ext cx="8229600" cy="3474720"/>
          </a:xfrm>
          <a:prstGeom prst="roundRect">
            <a:avLst>
              <a:gd name="adj" fmla="val 2632"/>
            </a:avLst>
          </a:prstGeom>
          <a:solidFill>
            <a:srgbClr val="F3F4F6"/>
          </a:solidFill>
          <a:ln/>
        </p:spPr>
      </p:sp>
      <p:sp>
        <p:nvSpPr>
          <p:cNvPr id="6" name="Shape 4"/>
          <p:cNvSpPr/>
          <p:nvPr/>
        </p:nvSpPr>
        <p:spPr>
          <a:xfrm>
            <a:off x="640080" y="1371600"/>
            <a:ext cx="320040" cy="320040"/>
          </a:xfrm>
          <a:prstGeom prst="roundRect">
            <a:avLst>
              <a:gd name="adj" fmla="val 14286"/>
            </a:avLst>
          </a:prstGeom>
          <a:solidFill>
            <a:srgbClr val="FFFFFF"/>
          </a:solidFill>
          <a:ln/>
        </p:spPr>
      </p:sp>
      <p:sp>
        <p:nvSpPr>
          <p:cNvPr id="7" name="Text 5"/>
          <p:cNvSpPr/>
          <p:nvPr/>
        </p:nvSpPr>
        <p:spPr>
          <a:xfrm>
            <a:off x="640080" y="1371600"/>
            <a:ext cx="320040" cy="320040"/>
          </a:xfrm>
          <a:prstGeom prst="rect">
            <a:avLst/>
          </a:prstGeom>
          <a:noFill/>
          <a:ln/>
        </p:spPr>
        <p:txBody>
          <a:bodyPr wrap="square" rtlCol="0" anchor="ctr"/>
          <a:lstStyle/>
          <a:p>
            <a:pPr algn="ctr" indent="0" marL="0">
              <a:buNone/>
            </a:pPr>
            <a:r>
              <a:rPr lang="en-US" sz="1600" dirty="0">
                <a:solidFill>
                  <a:srgbClr val="EF4444"/>
                </a:solidFill>
                <a:latin typeface="Arial" pitchFamily="34" charset="0"/>
                <a:ea typeface="Arial" pitchFamily="34" charset="-122"/>
                <a:cs typeface="Arial" pitchFamily="34" charset="-120"/>
              </a:rPr>
              <a:t>☐</a:t>
            </a:r>
            <a:endParaRPr lang="en-US" sz="1600" dirty="0"/>
          </a:p>
        </p:txBody>
      </p:sp>
      <p:sp>
        <p:nvSpPr>
          <p:cNvPr id="8" name="Text 6"/>
          <p:cNvSpPr/>
          <p:nvPr/>
        </p:nvSpPr>
        <p:spPr>
          <a:xfrm>
            <a:off x="1097280" y="1371600"/>
            <a:ext cx="7315200" cy="45720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三类测试全部通过</a:t>
            </a:r>
            <a:endParaRPr lang="en-US" sz="1300" dirty="0"/>
          </a:p>
        </p:txBody>
      </p:sp>
      <p:sp>
        <p:nvSpPr>
          <p:cNvPr id="9" name="Shape 7"/>
          <p:cNvSpPr/>
          <p:nvPr/>
        </p:nvSpPr>
        <p:spPr>
          <a:xfrm>
            <a:off x="640080" y="2011680"/>
            <a:ext cx="320040" cy="320040"/>
          </a:xfrm>
          <a:prstGeom prst="roundRect">
            <a:avLst>
              <a:gd name="adj" fmla="val 14286"/>
            </a:avLst>
          </a:prstGeom>
          <a:solidFill>
            <a:srgbClr val="FFFFFF"/>
          </a:solidFill>
          <a:ln/>
        </p:spPr>
      </p:sp>
      <p:sp>
        <p:nvSpPr>
          <p:cNvPr id="10" name="Text 8"/>
          <p:cNvSpPr/>
          <p:nvPr/>
        </p:nvSpPr>
        <p:spPr>
          <a:xfrm>
            <a:off x="640080" y="2011680"/>
            <a:ext cx="320040" cy="320040"/>
          </a:xfrm>
          <a:prstGeom prst="rect">
            <a:avLst/>
          </a:prstGeom>
          <a:noFill/>
          <a:ln/>
        </p:spPr>
        <p:txBody>
          <a:bodyPr wrap="square" rtlCol="0" anchor="ctr"/>
          <a:lstStyle/>
          <a:p>
            <a:pPr algn="ctr" indent="0" marL="0">
              <a:buNone/>
            </a:pPr>
            <a:r>
              <a:rPr lang="en-US" sz="1600" dirty="0">
                <a:solidFill>
                  <a:srgbClr val="EF4444"/>
                </a:solidFill>
                <a:latin typeface="Arial" pitchFamily="34" charset="0"/>
                <a:ea typeface="Arial" pitchFamily="34" charset="-122"/>
                <a:cs typeface="Arial" pitchFamily="34" charset="-120"/>
              </a:rPr>
              <a:t>☐</a:t>
            </a:r>
            <a:endParaRPr lang="en-US" sz="1600" dirty="0"/>
          </a:p>
        </p:txBody>
      </p:sp>
      <p:sp>
        <p:nvSpPr>
          <p:cNvPr id="11" name="Text 9"/>
          <p:cNvSpPr/>
          <p:nvPr/>
        </p:nvSpPr>
        <p:spPr>
          <a:xfrm>
            <a:off x="1097280" y="2011680"/>
            <a:ext cx="7315200" cy="45720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知识库内容覆盖80%以上的常见业务场景</a:t>
            </a:r>
            <a:endParaRPr lang="en-US" sz="1300" dirty="0"/>
          </a:p>
        </p:txBody>
      </p:sp>
      <p:sp>
        <p:nvSpPr>
          <p:cNvPr id="12" name="Shape 10"/>
          <p:cNvSpPr/>
          <p:nvPr/>
        </p:nvSpPr>
        <p:spPr>
          <a:xfrm>
            <a:off x="640080" y="2651760"/>
            <a:ext cx="320040" cy="320040"/>
          </a:xfrm>
          <a:prstGeom prst="roundRect">
            <a:avLst>
              <a:gd name="adj" fmla="val 14286"/>
            </a:avLst>
          </a:prstGeom>
          <a:solidFill>
            <a:srgbClr val="FFFFFF"/>
          </a:solidFill>
          <a:ln/>
        </p:spPr>
      </p:sp>
      <p:sp>
        <p:nvSpPr>
          <p:cNvPr id="13" name="Text 11"/>
          <p:cNvSpPr/>
          <p:nvPr/>
        </p:nvSpPr>
        <p:spPr>
          <a:xfrm>
            <a:off x="640080" y="2651760"/>
            <a:ext cx="320040" cy="320040"/>
          </a:xfrm>
          <a:prstGeom prst="rect">
            <a:avLst/>
          </a:prstGeom>
          <a:noFill/>
          <a:ln/>
        </p:spPr>
        <p:txBody>
          <a:bodyPr wrap="square" rtlCol="0" anchor="ctr"/>
          <a:lstStyle/>
          <a:p>
            <a:pPr algn="ctr" indent="0" marL="0">
              <a:buNone/>
            </a:pPr>
            <a:r>
              <a:rPr lang="en-US" sz="1600" dirty="0">
                <a:solidFill>
                  <a:srgbClr val="EF4444"/>
                </a:solidFill>
                <a:latin typeface="Arial" pitchFamily="34" charset="0"/>
                <a:ea typeface="Arial" pitchFamily="34" charset="-122"/>
                <a:cs typeface="Arial" pitchFamily="34" charset="-120"/>
              </a:rPr>
              <a:t>☐</a:t>
            </a:r>
            <a:endParaRPr lang="en-US" sz="1600" dirty="0"/>
          </a:p>
        </p:txBody>
      </p:sp>
      <p:sp>
        <p:nvSpPr>
          <p:cNvPr id="14" name="Text 12"/>
          <p:cNvSpPr/>
          <p:nvPr/>
        </p:nvSpPr>
        <p:spPr>
          <a:xfrm>
            <a:off x="1097280" y="2651760"/>
            <a:ext cx="7315200" cy="45720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已有3人以上在真实工作中使用</a:t>
            </a:r>
            <a:endParaRPr lang="en-US" sz="1300" dirty="0"/>
          </a:p>
        </p:txBody>
      </p:sp>
      <p:sp>
        <p:nvSpPr>
          <p:cNvPr id="15" name="Shape 13"/>
          <p:cNvSpPr/>
          <p:nvPr/>
        </p:nvSpPr>
        <p:spPr>
          <a:xfrm>
            <a:off x="640080" y="3291840"/>
            <a:ext cx="320040" cy="320040"/>
          </a:xfrm>
          <a:prstGeom prst="roundRect">
            <a:avLst>
              <a:gd name="adj" fmla="val 14286"/>
            </a:avLst>
          </a:prstGeom>
          <a:solidFill>
            <a:srgbClr val="FFFFFF"/>
          </a:solidFill>
          <a:ln/>
        </p:spPr>
      </p:sp>
      <p:sp>
        <p:nvSpPr>
          <p:cNvPr id="16" name="Text 14"/>
          <p:cNvSpPr/>
          <p:nvPr/>
        </p:nvSpPr>
        <p:spPr>
          <a:xfrm>
            <a:off x="640080" y="3291840"/>
            <a:ext cx="320040" cy="320040"/>
          </a:xfrm>
          <a:prstGeom prst="rect">
            <a:avLst/>
          </a:prstGeom>
          <a:noFill/>
          <a:ln/>
        </p:spPr>
        <p:txBody>
          <a:bodyPr wrap="square" rtlCol="0" anchor="ctr"/>
          <a:lstStyle/>
          <a:p>
            <a:pPr algn="ctr" indent="0" marL="0">
              <a:buNone/>
            </a:pPr>
            <a:r>
              <a:rPr lang="en-US" sz="1600" dirty="0">
                <a:solidFill>
                  <a:srgbClr val="EF4444"/>
                </a:solidFill>
                <a:latin typeface="Arial" pitchFamily="34" charset="0"/>
                <a:ea typeface="Arial" pitchFamily="34" charset="-122"/>
                <a:cs typeface="Arial" pitchFamily="34" charset="-120"/>
              </a:rPr>
              <a:t>☐</a:t>
            </a:r>
            <a:endParaRPr lang="en-US" sz="1600" dirty="0"/>
          </a:p>
        </p:txBody>
      </p:sp>
      <p:sp>
        <p:nvSpPr>
          <p:cNvPr id="17" name="Text 15"/>
          <p:cNvSpPr/>
          <p:nvPr/>
        </p:nvSpPr>
        <p:spPr>
          <a:xfrm>
            <a:off x="1097280" y="3291840"/>
            <a:ext cx="7315200" cy="45720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有问题台账，在定期处理</a:t>
            </a:r>
            <a:endParaRPr lang="en-US" sz="1300" dirty="0"/>
          </a:p>
        </p:txBody>
      </p:sp>
      <p:sp>
        <p:nvSpPr>
          <p:cNvPr id="18" name="Shape 16"/>
          <p:cNvSpPr/>
          <p:nvPr/>
        </p:nvSpPr>
        <p:spPr>
          <a:xfrm>
            <a:off x="640080" y="3931920"/>
            <a:ext cx="320040" cy="320040"/>
          </a:xfrm>
          <a:prstGeom prst="roundRect">
            <a:avLst>
              <a:gd name="adj" fmla="val 14286"/>
            </a:avLst>
          </a:prstGeom>
          <a:solidFill>
            <a:srgbClr val="FFFFFF"/>
          </a:solidFill>
          <a:ln/>
        </p:spPr>
      </p:sp>
      <p:sp>
        <p:nvSpPr>
          <p:cNvPr id="19" name="Text 17"/>
          <p:cNvSpPr/>
          <p:nvPr/>
        </p:nvSpPr>
        <p:spPr>
          <a:xfrm>
            <a:off x="640080" y="3931920"/>
            <a:ext cx="320040" cy="320040"/>
          </a:xfrm>
          <a:prstGeom prst="rect">
            <a:avLst/>
          </a:prstGeom>
          <a:noFill/>
          <a:ln/>
        </p:spPr>
        <p:txBody>
          <a:bodyPr wrap="square" rtlCol="0" anchor="ctr"/>
          <a:lstStyle/>
          <a:p>
            <a:pPr algn="ctr" indent="0" marL="0">
              <a:buNone/>
            </a:pPr>
            <a:r>
              <a:rPr lang="en-US" sz="1600" dirty="0">
                <a:solidFill>
                  <a:srgbClr val="EF4444"/>
                </a:solidFill>
                <a:latin typeface="Arial" pitchFamily="34" charset="0"/>
                <a:ea typeface="Arial" pitchFamily="34" charset="-122"/>
                <a:cs typeface="Arial" pitchFamily="34" charset="-120"/>
              </a:rPr>
              <a:t>☐</a:t>
            </a:r>
            <a:endParaRPr lang="en-US" sz="1600" dirty="0"/>
          </a:p>
        </p:txBody>
      </p:sp>
      <p:sp>
        <p:nvSpPr>
          <p:cNvPr id="20" name="Text 18"/>
          <p:cNvSpPr/>
          <p:nvPr/>
        </p:nvSpPr>
        <p:spPr>
          <a:xfrm>
            <a:off x="1097280" y="3931920"/>
            <a:ext cx="7315200" cy="45720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知识库在3个月内有过更新</a:t>
            </a:r>
            <a:endParaRPr lang="en-US" sz="1300" dirty="0"/>
          </a:p>
        </p:txBody>
      </p:sp>
      <p:sp>
        <p:nvSpPr>
          <p:cNvPr id="21" name="Text 19"/>
          <p:cNvSpPr/>
          <p:nvPr/>
        </p:nvSpPr>
        <p:spPr>
          <a:xfrm>
            <a:off x="8503920" y="4663440"/>
            <a:ext cx="457200" cy="274320"/>
          </a:xfrm>
          <a:prstGeom prst="rect">
            <a:avLst/>
          </a:prstGeom>
          <a:noFill/>
          <a:ln/>
        </p:spPr>
        <p:txBody>
          <a:bodyPr wrap="square" rtlCol="0" anchor="ctr"/>
          <a:lstStyle/>
          <a:p>
            <a:pPr algn="ctr" indent="0" marL="0">
              <a:buNone/>
            </a:pPr>
            <a:r>
              <a:rPr lang="en-US" sz="1000" dirty="0">
                <a:solidFill>
                  <a:srgbClr val="374151"/>
                </a:solidFill>
                <a:latin typeface="Arial" pitchFamily="34" charset="0"/>
                <a:ea typeface="Arial" pitchFamily="34" charset="-122"/>
                <a:cs typeface="Arial" pitchFamily="34" charset="-120"/>
              </a:rPr>
              <a:t>148</a:t>
            </a:r>
            <a:endParaRPr lang="en-US" sz="100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274320"/>
            <a:ext cx="8229600" cy="457200"/>
          </a:xfrm>
          <a:prstGeom prst="rect">
            <a:avLst/>
          </a:prstGeom>
          <a:noFill/>
          <a:ln/>
        </p:spPr>
        <p:txBody>
          <a:bodyPr wrap="square" rtlCol="0" anchor="ctr"/>
          <a:lstStyle/>
          <a:p>
            <a:pPr indent="0" marL="0">
              <a:buNone/>
            </a:pPr>
            <a:r>
              <a:rPr lang="en-US" sz="1800" b="1" dirty="0">
                <a:solidFill>
                  <a:srgbClr val="B91C1C"/>
                </a:solidFill>
                <a:latin typeface="Microsoft YaHei" pitchFamily="34" charset="0"/>
                <a:ea typeface="Microsoft YaHei" pitchFamily="34" charset="-122"/>
                <a:cs typeface="Microsoft YaHei" pitchFamily="34" charset="-120"/>
              </a:rPr>
              <a:t>离不开阶段自评</a:t>
            </a:r>
            <a:endParaRPr lang="en-US" sz="1800" dirty="0"/>
          </a:p>
        </p:txBody>
      </p:sp>
      <p:sp>
        <p:nvSpPr>
          <p:cNvPr id="4" name="Text 2"/>
          <p:cNvSpPr/>
          <p:nvPr/>
        </p:nvSpPr>
        <p:spPr>
          <a:xfrm>
            <a:off x="457200" y="731520"/>
            <a:ext cx="8229600" cy="365760"/>
          </a:xfrm>
          <a:prstGeom prst="rect">
            <a:avLst/>
          </a:prstGeom>
          <a:noFill/>
          <a:ln/>
        </p:spPr>
        <p:txBody>
          <a:bodyPr wrap="square" rtlCol="0" anchor="ctr"/>
          <a:lstStyle/>
          <a:p>
            <a:pPr indent="0" marL="0">
              <a:buNone/>
            </a:pPr>
            <a:r>
              <a:rPr lang="en-US" sz="1400" dirty="0">
                <a:solidFill>
                  <a:srgbClr val="374151"/>
                </a:solidFill>
                <a:latin typeface="Microsoft YaHei" pitchFamily="34" charset="0"/>
                <a:ea typeface="Microsoft YaHei" pitchFamily="34" charset="-122"/>
                <a:cs typeface="Microsoft YaHei" pitchFamily="34" charset="-120"/>
              </a:rPr>
              <a:t>主要检查是否已经成为默认工具</a:t>
            </a:r>
            <a:endParaRPr lang="en-US" sz="1400" dirty="0"/>
          </a:p>
        </p:txBody>
      </p:sp>
      <p:sp>
        <p:nvSpPr>
          <p:cNvPr id="5" name="Shape 3"/>
          <p:cNvSpPr/>
          <p:nvPr/>
        </p:nvSpPr>
        <p:spPr>
          <a:xfrm>
            <a:off x="457200" y="1188720"/>
            <a:ext cx="8229600" cy="3474720"/>
          </a:xfrm>
          <a:prstGeom prst="roundRect">
            <a:avLst>
              <a:gd name="adj" fmla="val 2632"/>
            </a:avLst>
          </a:prstGeom>
          <a:solidFill>
            <a:srgbClr val="F3F4F6"/>
          </a:solidFill>
          <a:ln/>
        </p:spPr>
      </p:sp>
      <p:sp>
        <p:nvSpPr>
          <p:cNvPr id="6" name="Shape 4"/>
          <p:cNvSpPr/>
          <p:nvPr/>
        </p:nvSpPr>
        <p:spPr>
          <a:xfrm>
            <a:off x="640080" y="1371600"/>
            <a:ext cx="320040" cy="320040"/>
          </a:xfrm>
          <a:prstGeom prst="roundRect">
            <a:avLst>
              <a:gd name="adj" fmla="val 14286"/>
            </a:avLst>
          </a:prstGeom>
          <a:solidFill>
            <a:srgbClr val="FFFFFF"/>
          </a:solidFill>
          <a:ln/>
        </p:spPr>
      </p:sp>
      <p:sp>
        <p:nvSpPr>
          <p:cNvPr id="7" name="Text 5"/>
          <p:cNvSpPr/>
          <p:nvPr/>
        </p:nvSpPr>
        <p:spPr>
          <a:xfrm>
            <a:off x="640080" y="1371600"/>
            <a:ext cx="320040" cy="320040"/>
          </a:xfrm>
          <a:prstGeom prst="rect">
            <a:avLst/>
          </a:prstGeom>
          <a:noFill/>
          <a:ln/>
        </p:spPr>
        <p:txBody>
          <a:bodyPr wrap="square" rtlCol="0" anchor="ctr"/>
          <a:lstStyle/>
          <a:p>
            <a:pPr algn="ctr" indent="0" marL="0">
              <a:buNone/>
            </a:pPr>
            <a:r>
              <a:rPr lang="en-US" sz="1600" dirty="0">
                <a:solidFill>
                  <a:srgbClr val="EF4444"/>
                </a:solidFill>
                <a:latin typeface="Arial" pitchFamily="34" charset="0"/>
                <a:ea typeface="Arial" pitchFamily="34" charset="-122"/>
                <a:cs typeface="Arial" pitchFamily="34" charset="-120"/>
              </a:rPr>
              <a:t>☐</a:t>
            </a:r>
            <a:endParaRPr lang="en-US" sz="1600" dirty="0"/>
          </a:p>
        </p:txBody>
      </p:sp>
      <p:sp>
        <p:nvSpPr>
          <p:cNvPr id="8" name="Text 6"/>
          <p:cNvSpPr/>
          <p:nvPr/>
        </p:nvSpPr>
        <p:spPr>
          <a:xfrm>
            <a:off x="1097280" y="1371600"/>
            <a:ext cx="7315200" cy="45720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团队成员遇到对应任务，第一反应是用这个Skill</a:t>
            </a:r>
            <a:endParaRPr lang="en-US" sz="1300" dirty="0"/>
          </a:p>
        </p:txBody>
      </p:sp>
      <p:sp>
        <p:nvSpPr>
          <p:cNvPr id="9" name="Shape 7"/>
          <p:cNvSpPr/>
          <p:nvPr/>
        </p:nvSpPr>
        <p:spPr>
          <a:xfrm>
            <a:off x="640080" y="2148840"/>
            <a:ext cx="320040" cy="320040"/>
          </a:xfrm>
          <a:prstGeom prst="roundRect">
            <a:avLst>
              <a:gd name="adj" fmla="val 14286"/>
            </a:avLst>
          </a:prstGeom>
          <a:solidFill>
            <a:srgbClr val="FFFFFF"/>
          </a:solidFill>
          <a:ln/>
        </p:spPr>
      </p:sp>
      <p:sp>
        <p:nvSpPr>
          <p:cNvPr id="10" name="Text 8"/>
          <p:cNvSpPr/>
          <p:nvPr/>
        </p:nvSpPr>
        <p:spPr>
          <a:xfrm>
            <a:off x="640080" y="2148840"/>
            <a:ext cx="320040" cy="320040"/>
          </a:xfrm>
          <a:prstGeom prst="rect">
            <a:avLst/>
          </a:prstGeom>
          <a:noFill/>
          <a:ln/>
        </p:spPr>
        <p:txBody>
          <a:bodyPr wrap="square" rtlCol="0" anchor="ctr"/>
          <a:lstStyle/>
          <a:p>
            <a:pPr algn="ctr" indent="0" marL="0">
              <a:buNone/>
            </a:pPr>
            <a:r>
              <a:rPr lang="en-US" sz="1600" dirty="0">
                <a:solidFill>
                  <a:srgbClr val="EF4444"/>
                </a:solidFill>
                <a:latin typeface="Arial" pitchFamily="34" charset="0"/>
                <a:ea typeface="Arial" pitchFamily="34" charset="-122"/>
                <a:cs typeface="Arial" pitchFamily="34" charset="-120"/>
              </a:rPr>
              <a:t>☐</a:t>
            </a:r>
            <a:endParaRPr lang="en-US" sz="1600" dirty="0"/>
          </a:p>
        </p:txBody>
      </p:sp>
      <p:sp>
        <p:nvSpPr>
          <p:cNvPr id="11" name="Text 9"/>
          <p:cNvSpPr/>
          <p:nvPr/>
        </p:nvSpPr>
        <p:spPr>
          <a:xfrm>
            <a:off x="1097280" y="2148840"/>
            <a:ext cx="7315200" cy="45720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新成员入职，Skill使用说明作为培训材料的一部分</a:t>
            </a:r>
            <a:endParaRPr lang="en-US" sz="1300" dirty="0"/>
          </a:p>
        </p:txBody>
      </p:sp>
      <p:sp>
        <p:nvSpPr>
          <p:cNvPr id="12" name="Shape 10"/>
          <p:cNvSpPr/>
          <p:nvPr/>
        </p:nvSpPr>
        <p:spPr>
          <a:xfrm>
            <a:off x="640080" y="2926080"/>
            <a:ext cx="320040" cy="320040"/>
          </a:xfrm>
          <a:prstGeom prst="roundRect">
            <a:avLst>
              <a:gd name="adj" fmla="val 14286"/>
            </a:avLst>
          </a:prstGeom>
          <a:solidFill>
            <a:srgbClr val="FFFFFF"/>
          </a:solidFill>
          <a:ln/>
        </p:spPr>
      </p:sp>
      <p:sp>
        <p:nvSpPr>
          <p:cNvPr id="13" name="Text 11"/>
          <p:cNvSpPr/>
          <p:nvPr/>
        </p:nvSpPr>
        <p:spPr>
          <a:xfrm>
            <a:off x="640080" y="2926080"/>
            <a:ext cx="320040" cy="320040"/>
          </a:xfrm>
          <a:prstGeom prst="rect">
            <a:avLst/>
          </a:prstGeom>
          <a:noFill/>
          <a:ln/>
        </p:spPr>
        <p:txBody>
          <a:bodyPr wrap="square" rtlCol="0" anchor="ctr"/>
          <a:lstStyle/>
          <a:p>
            <a:pPr algn="ctr" indent="0" marL="0">
              <a:buNone/>
            </a:pPr>
            <a:r>
              <a:rPr lang="en-US" sz="1600" dirty="0">
                <a:solidFill>
                  <a:srgbClr val="EF4444"/>
                </a:solidFill>
                <a:latin typeface="Arial" pitchFamily="34" charset="0"/>
                <a:ea typeface="Arial" pitchFamily="34" charset="-122"/>
                <a:cs typeface="Arial" pitchFamily="34" charset="-120"/>
              </a:rPr>
              <a:t>☐</a:t>
            </a:r>
            <a:endParaRPr lang="en-US" sz="1600" dirty="0"/>
          </a:p>
        </p:txBody>
      </p:sp>
      <p:sp>
        <p:nvSpPr>
          <p:cNvPr id="14" name="Text 12"/>
          <p:cNvSpPr/>
          <p:nvPr/>
        </p:nvSpPr>
        <p:spPr>
          <a:xfrm>
            <a:off x="1097280" y="2926080"/>
            <a:ext cx="7315200" cy="45720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上个季度没有该Skill就无法完成的任务至少发生3次</a:t>
            </a:r>
            <a:endParaRPr lang="en-US" sz="1300" dirty="0"/>
          </a:p>
        </p:txBody>
      </p:sp>
      <p:sp>
        <p:nvSpPr>
          <p:cNvPr id="15" name="Shape 13"/>
          <p:cNvSpPr/>
          <p:nvPr/>
        </p:nvSpPr>
        <p:spPr>
          <a:xfrm>
            <a:off x="640080" y="3703320"/>
            <a:ext cx="320040" cy="320040"/>
          </a:xfrm>
          <a:prstGeom prst="roundRect">
            <a:avLst>
              <a:gd name="adj" fmla="val 14286"/>
            </a:avLst>
          </a:prstGeom>
          <a:solidFill>
            <a:srgbClr val="FFFFFF"/>
          </a:solidFill>
          <a:ln/>
        </p:spPr>
      </p:sp>
      <p:sp>
        <p:nvSpPr>
          <p:cNvPr id="16" name="Text 14"/>
          <p:cNvSpPr/>
          <p:nvPr/>
        </p:nvSpPr>
        <p:spPr>
          <a:xfrm>
            <a:off x="640080" y="3703320"/>
            <a:ext cx="320040" cy="320040"/>
          </a:xfrm>
          <a:prstGeom prst="rect">
            <a:avLst/>
          </a:prstGeom>
          <a:noFill/>
          <a:ln/>
        </p:spPr>
        <p:txBody>
          <a:bodyPr wrap="square" rtlCol="0" anchor="ctr"/>
          <a:lstStyle/>
          <a:p>
            <a:pPr algn="ctr" indent="0" marL="0">
              <a:buNone/>
            </a:pPr>
            <a:r>
              <a:rPr lang="en-US" sz="1600" dirty="0">
                <a:solidFill>
                  <a:srgbClr val="EF4444"/>
                </a:solidFill>
                <a:latin typeface="Arial" pitchFamily="34" charset="0"/>
                <a:ea typeface="Arial" pitchFamily="34" charset="-122"/>
                <a:cs typeface="Arial" pitchFamily="34" charset="-120"/>
              </a:rPr>
              <a:t>☐</a:t>
            </a:r>
            <a:endParaRPr lang="en-US" sz="1600" dirty="0"/>
          </a:p>
        </p:txBody>
      </p:sp>
      <p:sp>
        <p:nvSpPr>
          <p:cNvPr id="17" name="Text 15"/>
          <p:cNvSpPr/>
          <p:nvPr/>
        </p:nvSpPr>
        <p:spPr>
          <a:xfrm>
            <a:off x="1097280" y="3703320"/>
            <a:ext cx="7315200" cy="457200"/>
          </a:xfrm>
          <a:prstGeom prst="rect">
            <a:avLst/>
          </a:prstGeom>
          <a:noFill/>
          <a:ln/>
        </p:spPr>
        <p:txBody>
          <a:bodyPr wrap="square" rtlCol="0" anchor="ctr"/>
          <a:lstStyle/>
          <a:p>
            <a:pPr indent="0" marL="0">
              <a:buNone/>
            </a:pPr>
            <a:r>
              <a:rPr lang="en-US" sz="1300" dirty="0">
                <a:solidFill>
                  <a:srgbClr val="374151"/>
                </a:solidFill>
                <a:latin typeface="Microsoft YaHei" pitchFamily="34" charset="0"/>
                <a:ea typeface="Microsoft YaHei" pitchFamily="34" charset="-122"/>
                <a:cs typeface="Microsoft YaHei" pitchFamily="34" charset="-120"/>
              </a:rPr>
              <a:t>有版本记录文档，可以追踪每次修改历史</a:t>
            </a:r>
            <a:endParaRPr lang="en-US" sz="1300" dirty="0"/>
          </a:p>
        </p:txBody>
      </p:sp>
      <p:sp>
        <p:nvSpPr>
          <p:cNvPr id="18" name="Text 16"/>
          <p:cNvSpPr/>
          <p:nvPr/>
        </p:nvSpPr>
        <p:spPr>
          <a:xfrm>
            <a:off x="8503920" y="4663440"/>
            <a:ext cx="457200" cy="274320"/>
          </a:xfrm>
          <a:prstGeom prst="rect">
            <a:avLst/>
          </a:prstGeom>
          <a:noFill/>
          <a:ln/>
        </p:spPr>
        <p:txBody>
          <a:bodyPr wrap="square" rtlCol="0" anchor="ctr"/>
          <a:lstStyle/>
          <a:p>
            <a:pPr algn="ctr" indent="0" marL="0">
              <a:buNone/>
            </a:pPr>
            <a:r>
              <a:rPr lang="en-US" sz="1000" dirty="0">
                <a:solidFill>
                  <a:srgbClr val="374151"/>
                </a:solidFill>
                <a:latin typeface="Arial" pitchFamily="34" charset="0"/>
                <a:ea typeface="Arial" pitchFamily="34" charset="-122"/>
                <a:cs typeface="Arial" pitchFamily="34" charset="-120"/>
              </a:rPr>
              <a:t>149</a:t>
            </a:r>
            <a:endParaRPr lang="en-US" sz="1000"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B91C1C"/>
          </a:solidFill>
          <a:ln/>
        </p:spPr>
      </p:sp>
      <p:sp>
        <p:nvSpPr>
          <p:cNvPr id="3" name="Text 1"/>
          <p:cNvSpPr/>
          <p:nvPr/>
        </p:nvSpPr>
        <p:spPr>
          <a:xfrm>
            <a:off x="457200" y="1645920"/>
            <a:ext cx="8229600" cy="548640"/>
          </a:xfrm>
          <a:prstGeom prst="rect">
            <a:avLst/>
          </a:prstGeom>
          <a:noFill/>
          <a:ln/>
        </p:spPr>
        <p:txBody>
          <a:bodyPr wrap="square" rtlCol="0" anchor="ctr"/>
          <a:lstStyle/>
          <a:p>
            <a:pPr indent="0" marL="0">
              <a:buNone/>
            </a:pPr>
            <a:r>
              <a:rPr lang="en-US" sz="1800" spc="800" kern="0" dirty="0">
                <a:solidFill>
                  <a:srgbClr val="FFFFFF"/>
                </a:solidFill>
                <a:latin typeface="Microsoft YaHei" pitchFamily="34" charset="0"/>
                <a:ea typeface="Microsoft YaHei" pitchFamily="34" charset="-122"/>
                <a:cs typeface="Microsoft YaHei" pitchFamily="34" charset="-120"/>
              </a:rPr>
              <a:t>附录六</a:t>
            </a:r>
            <a:endParaRPr lang="en-US" sz="1800" dirty="0"/>
          </a:p>
        </p:txBody>
      </p:sp>
      <p:sp>
        <p:nvSpPr>
          <p:cNvPr id="4" name="Text 2"/>
          <p:cNvSpPr/>
          <p:nvPr/>
        </p:nvSpPr>
        <p:spPr>
          <a:xfrm>
            <a:off x="457200" y="2194560"/>
            <a:ext cx="8229600" cy="1097280"/>
          </a:xfrm>
          <a:prstGeom prst="rect">
            <a:avLst/>
          </a:prstGeom>
          <a:noFill/>
          <a:ln/>
        </p:spPr>
        <p:txBody>
          <a:bodyPr wrap="square" rtlCol="0" anchor="ctr"/>
          <a:lstStyle/>
          <a:p>
            <a:pPr indent="0" marL="0">
              <a:buNone/>
            </a:pPr>
            <a:r>
              <a:rPr lang="en-US" sz="4800" b="1" dirty="0">
                <a:solidFill>
                  <a:srgbClr val="FFFFFF"/>
                </a:solidFill>
                <a:latin typeface="Microsoft YaHei" pitchFamily="34" charset="0"/>
                <a:ea typeface="Microsoft YaHei" pitchFamily="34" charset="-122"/>
                <a:cs typeface="Microsoft YaHei" pitchFamily="34" charset="-120"/>
              </a:rPr>
              <a:t>两天产出物全览</a:t>
            </a:r>
            <a:endParaRPr lang="en-US" sz="4800" dirty="0"/>
          </a:p>
        </p:txBody>
      </p:sp>
      <p:sp>
        <p:nvSpPr>
          <p:cNvPr id="5" name="Shape 3"/>
          <p:cNvSpPr/>
          <p:nvPr/>
        </p:nvSpPr>
        <p:spPr>
          <a:xfrm>
            <a:off x="457200" y="3931920"/>
            <a:ext cx="1828800" cy="54864"/>
          </a:xfrm>
          <a:prstGeom prst="rect">
            <a:avLst/>
          </a:prstGeom>
          <a:solidFill>
            <a:srgbClr val="EF4444"/>
          </a:solidFill>
          <a:ln/>
        </p:spPr>
      </p:sp>
      <p:sp>
        <p:nvSpPr>
          <p:cNvPr id="6" name="Text 4"/>
          <p:cNvSpPr/>
          <p:nvPr/>
        </p:nvSpPr>
        <p:spPr>
          <a:xfrm>
            <a:off x="8503920" y="4663440"/>
            <a:ext cx="457200" cy="274320"/>
          </a:xfrm>
          <a:prstGeom prst="rect">
            <a:avLst/>
          </a:prstGeom>
          <a:noFill/>
          <a:ln/>
        </p:spPr>
        <p:txBody>
          <a:bodyPr wrap="square" rtlCol="0" anchor="ctr"/>
          <a:lstStyle/>
          <a:p>
            <a:pPr algn="ctr" indent="0" marL="0">
              <a:buNone/>
            </a:pPr>
            <a:r>
              <a:rPr lang="en-US" sz="1000" dirty="0">
                <a:solidFill>
                  <a:srgbClr val="FFFFFF"/>
                </a:solidFill>
                <a:latin typeface="Arial" pitchFamily="34" charset="0"/>
                <a:ea typeface="Arial" pitchFamily="34" charset="-122"/>
                <a:cs typeface="Arial" pitchFamily="34" charset="-120"/>
              </a:rPr>
              <a:t>150</a:t>
            </a:r>
            <a:endParaRPr lang="en-US" sz="1000"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274320"/>
            <a:ext cx="8229600" cy="457200"/>
          </a:xfrm>
          <a:prstGeom prst="rect">
            <a:avLst/>
          </a:prstGeom>
          <a:noFill/>
          <a:ln/>
        </p:spPr>
        <p:txBody>
          <a:bodyPr wrap="square" rtlCol="0" anchor="ctr"/>
          <a:lstStyle/>
          <a:p>
            <a:pPr indent="0" marL="0">
              <a:buNone/>
            </a:pPr>
            <a:r>
              <a:rPr lang="en-US" sz="1800" b="1" dirty="0">
                <a:solidFill>
                  <a:srgbClr val="B91C1C"/>
                </a:solidFill>
                <a:latin typeface="Microsoft YaHei" pitchFamily="34" charset="0"/>
                <a:ea typeface="Microsoft YaHei" pitchFamily="34" charset="-122"/>
                <a:cs typeface="Microsoft YaHei" pitchFamily="34" charset="-120"/>
              </a:rPr>
              <a:t>产出物全览（1/2）</a:t>
            </a:r>
            <a:endParaRPr lang="en-US" sz="1800" dirty="0"/>
          </a:p>
        </p:txBody>
      </p:sp>
      <p:sp>
        <p:nvSpPr>
          <p:cNvPr id="4" name="Shape 2"/>
          <p:cNvSpPr/>
          <p:nvPr/>
        </p:nvSpPr>
        <p:spPr>
          <a:xfrm>
            <a:off x="457200" y="868680"/>
            <a:ext cx="8229600" cy="594360"/>
          </a:xfrm>
          <a:prstGeom prst="rect">
            <a:avLst/>
          </a:prstGeom>
          <a:solidFill>
            <a:srgbClr val="B91C1C"/>
          </a:solidFill>
          <a:ln/>
        </p:spPr>
      </p:sp>
      <p:sp>
        <p:nvSpPr>
          <p:cNvPr id="5" name="Text 3"/>
          <p:cNvSpPr/>
          <p:nvPr/>
        </p:nvSpPr>
        <p:spPr>
          <a:xfrm>
            <a:off x="457200" y="868680"/>
            <a:ext cx="3657600" cy="594360"/>
          </a:xfrm>
          <a:prstGeom prst="rect">
            <a:avLst/>
          </a:prstGeom>
          <a:noFill/>
          <a:ln/>
        </p:spPr>
        <p:txBody>
          <a:bodyPr wrap="square" rtlCol="0" anchor="ctr"/>
          <a:lstStyle/>
          <a:p>
            <a:pPr algn="ctr" indent="0" marL="0">
              <a:buNone/>
            </a:pPr>
            <a:r>
              <a:rPr lang="en-US" sz="1100" b="1" dirty="0">
                <a:solidFill>
                  <a:srgbClr val="FFFFFF"/>
                </a:solidFill>
                <a:latin typeface="Microsoft YaHei" pitchFamily="34" charset="0"/>
                <a:ea typeface="Microsoft YaHei" pitchFamily="34" charset="-122"/>
                <a:cs typeface="Microsoft YaHei" pitchFamily="34" charset="-120"/>
              </a:rPr>
              <a:t>产出物</a:t>
            </a:r>
            <a:endParaRPr lang="en-US" sz="1100" dirty="0"/>
          </a:p>
        </p:txBody>
      </p:sp>
      <p:sp>
        <p:nvSpPr>
          <p:cNvPr id="6" name="Text 4"/>
          <p:cNvSpPr/>
          <p:nvPr/>
        </p:nvSpPr>
        <p:spPr>
          <a:xfrm>
            <a:off x="4114800" y="868680"/>
            <a:ext cx="2743200" cy="594360"/>
          </a:xfrm>
          <a:prstGeom prst="rect">
            <a:avLst/>
          </a:prstGeom>
          <a:noFill/>
          <a:ln/>
        </p:spPr>
        <p:txBody>
          <a:bodyPr wrap="square" rtlCol="0" anchor="ctr"/>
          <a:lstStyle/>
          <a:p>
            <a:pPr algn="ctr" indent="0" marL="0">
              <a:buNone/>
            </a:pPr>
            <a:r>
              <a:rPr lang="en-US" sz="1100" b="1" dirty="0">
                <a:solidFill>
                  <a:srgbClr val="FFFFFF"/>
                </a:solidFill>
                <a:latin typeface="Microsoft YaHei" pitchFamily="34" charset="0"/>
                <a:ea typeface="Microsoft YaHei" pitchFamily="34" charset="-122"/>
                <a:cs typeface="Microsoft YaHei" pitchFamily="34" charset="-120"/>
              </a:rPr>
              <a:t>来自</a:t>
            </a:r>
            <a:endParaRPr lang="en-US" sz="1100" dirty="0"/>
          </a:p>
        </p:txBody>
      </p:sp>
      <p:sp>
        <p:nvSpPr>
          <p:cNvPr id="7" name="Text 5"/>
          <p:cNvSpPr/>
          <p:nvPr/>
        </p:nvSpPr>
        <p:spPr>
          <a:xfrm>
            <a:off x="6858000" y="868680"/>
            <a:ext cx="1828800" cy="594360"/>
          </a:xfrm>
          <a:prstGeom prst="rect">
            <a:avLst/>
          </a:prstGeom>
          <a:noFill/>
          <a:ln/>
        </p:spPr>
        <p:txBody>
          <a:bodyPr wrap="square" rtlCol="0" anchor="ctr"/>
          <a:lstStyle/>
          <a:p>
            <a:pPr algn="ctr" indent="0" marL="0">
              <a:buNone/>
            </a:pPr>
            <a:r>
              <a:rPr lang="en-US" sz="1100" b="1" dirty="0">
                <a:solidFill>
                  <a:srgbClr val="FFFFFF"/>
                </a:solidFill>
                <a:latin typeface="Microsoft YaHei" pitchFamily="34" charset="0"/>
                <a:ea typeface="Microsoft YaHei" pitchFamily="34" charset="-122"/>
                <a:cs typeface="Microsoft YaHei" pitchFamily="34" charset="-120"/>
              </a:rPr>
              <a:t>完成情况</a:t>
            </a:r>
            <a:endParaRPr lang="en-US" sz="1100" dirty="0"/>
          </a:p>
        </p:txBody>
      </p:sp>
      <p:sp>
        <p:nvSpPr>
          <p:cNvPr id="8" name="Shape 6"/>
          <p:cNvSpPr/>
          <p:nvPr/>
        </p:nvSpPr>
        <p:spPr>
          <a:xfrm>
            <a:off x="457200" y="1463040"/>
            <a:ext cx="8229600" cy="594360"/>
          </a:xfrm>
          <a:prstGeom prst="rect">
            <a:avLst/>
          </a:prstGeom>
          <a:solidFill>
            <a:srgbClr val="F3F4F6"/>
          </a:solidFill>
          <a:ln/>
        </p:spPr>
      </p:sp>
      <p:sp>
        <p:nvSpPr>
          <p:cNvPr id="9" name="Text 7"/>
          <p:cNvSpPr/>
          <p:nvPr/>
        </p:nvSpPr>
        <p:spPr>
          <a:xfrm>
            <a:off x="457200" y="1463040"/>
            <a:ext cx="3657600" cy="594360"/>
          </a:xfrm>
          <a:prstGeom prst="rect">
            <a:avLst/>
          </a:prstGeom>
          <a:noFill/>
          <a:ln/>
        </p:spPr>
        <p:txBody>
          <a:bodyPr wrap="square" lIns="0" tIns="101600" rIns="0" bIns="0" rtlCol="0" anchor="ctr"/>
          <a:lstStyle/>
          <a:p>
            <a:pPr algn="l" indent="0" marL="0">
              <a:buNone/>
            </a:pPr>
            <a:r>
              <a:rPr lang="en-US" sz="1000" b="1" dirty="0">
                <a:solidFill>
                  <a:srgbClr val="B91C1C"/>
                </a:solidFill>
                <a:latin typeface="Microsoft YaHei" pitchFamily="34" charset="0"/>
                <a:ea typeface="Microsoft YaHei" pitchFamily="34" charset="-122"/>
                <a:cs typeface="Microsoft YaHei" pitchFamily="34" charset="-120"/>
              </a:rPr>
              <a:t>岗位画像表</a:t>
            </a:r>
            <a:endParaRPr lang="en-US" sz="1000" dirty="0"/>
          </a:p>
        </p:txBody>
      </p:sp>
      <p:sp>
        <p:nvSpPr>
          <p:cNvPr id="10" name="Text 8"/>
          <p:cNvSpPr/>
          <p:nvPr/>
        </p:nvSpPr>
        <p:spPr>
          <a:xfrm>
            <a:off x="4114800" y="1463040"/>
            <a:ext cx="2743200" cy="594360"/>
          </a:xfrm>
          <a:prstGeom prst="rect">
            <a:avLst/>
          </a:prstGeom>
          <a:noFill/>
          <a:ln/>
        </p:spPr>
        <p:txBody>
          <a:bodyPr wrap="square" rtlCol="0" anchor="ctr"/>
          <a:lstStyle/>
          <a:p>
            <a:pPr algn="ctr" indent="0" marL="0">
              <a:buNone/>
            </a:pPr>
            <a:r>
              <a:rPr lang="en-US" sz="1000" dirty="0">
                <a:solidFill>
                  <a:srgbClr val="374151"/>
                </a:solidFill>
                <a:latin typeface="Microsoft YaHei" pitchFamily="34" charset="0"/>
                <a:ea typeface="Microsoft YaHei" pitchFamily="34" charset="-122"/>
                <a:cs typeface="Microsoft YaHei" pitchFamily="34" charset="-120"/>
              </a:rPr>
              <a:t>第一天上午·练习一</a:t>
            </a:r>
            <a:endParaRPr lang="en-US" sz="1000" dirty="0"/>
          </a:p>
        </p:txBody>
      </p:sp>
      <p:sp>
        <p:nvSpPr>
          <p:cNvPr id="11" name="Text 9"/>
          <p:cNvSpPr/>
          <p:nvPr/>
        </p:nvSpPr>
        <p:spPr>
          <a:xfrm>
            <a:off x="6858000" y="1463040"/>
            <a:ext cx="1828800" cy="594360"/>
          </a:xfrm>
          <a:prstGeom prst="rect">
            <a:avLst/>
          </a:prstGeom>
          <a:noFill/>
          <a:ln/>
        </p:spPr>
        <p:txBody>
          <a:bodyPr wrap="square" rtlCol="0" anchor="ctr"/>
          <a:lstStyle/>
          <a:p>
            <a:pPr algn="ctr" indent="0" marL="0">
              <a:buNone/>
            </a:pPr>
            <a:r>
              <a:rPr lang="en-US" sz="1400" dirty="0">
                <a:solidFill>
                  <a:srgbClr val="EF4444"/>
                </a:solidFill>
                <a:latin typeface="Arial" pitchFamily="34" charset="0"/>
                <a:ea typeface="Arial" pitchFamily="34" charset="-122"/>
                <a:cs typeface="Arial" pitchFamily="34" charset="-120"/>
              </a:rPr>
              <a:t>☐</a:t>
            </a:r>
            <a:endParaRPr lang="en-US" sz="1400" dirty="0"/>
          </a:p>
        </p:txBody>
      </p:sp>
      <p:sp>
        <p:nvSpPr>
          <p:cNvPr id="12" name="Shape 10"/>
          <p:cNvSpPr/>
          <p:nvPr/>
        </p:nvSpPr>
        <p:spPr>
          <a:xfrm>
            <a:off x="457200" y="2057400"/>
            <a:ext cx="8229600" cy="594360"/>
          </a:xfrm>
          <a:prstGeom prst="rect">
            <a:avLst/>
          </a:prstGeom>
          <a:solidFill>
            <a:srgbClr val="FFFFFF"/>
          </a:solidFill>
          <a:ln/>
        </p:spPr>
      </p:sp>
      <p:sp>
        <p:nvSpPr>
          <p:cNvPr id="13" name="Text 11"/>
          <p:cNvSpPr/>
          <p:nvPr/>
        </p:nvSpPr>
        <p:spPr>
          <a:xfrm>
            <a:off x="457200" y="2057400"/>
            <a:ext cx="3657600" cy="594360"/>
          </a:xfrm>
          <a:prstGeom prst="rect">
            <a:avLst/>
          </a:prstGeom>
          <a:noFill/>
          <a:ln/>
        </p:spPr>
        <p:txBody>
          <a:bodyPr wrap="square" lIns="0" tIns="101600" rIns="0" bIns="0" rtlCol="0" anchor="ctr"/>
          <a:lstStyle/>
          <a:p>
            <a:pPr algn="l" indent="0" marL="0">
              <a:buNone/>
            </a:pPr>
            <a:r>
              <a:rPr lang="en-US" sz="1000" b="1" dirty="0">
                <a:solidFill>
                  <a:srgbClr val="B91C1C"/>
                </a:solidFill>
                <a:latin typeface="Microsoft YaHei" pitchFamily="34" charset="0"/>
                <a:ea typeface="Microsoft YaHei" pitchFamily="34" charset="-122"/>
                <a:cs typeface="Microsoft YaHei" pitchFamily="34" charset="-120"/>
              </a:rPr>
              <a:t>数字员工设计文档（2份）</a:t>
            </a:r>
            <a:endParaRPr lang="en-US" sz="1000" dirty="0"/>
          </a:p>
        </p:txBody>
      </p:sp>
      <p:sp>
        <p:nvSpPr>
          <p:cNvPr id="14" name="Text 12"/>
          <p:cNvSpPr/>
          <p:nvPr/>
        </p:nvSpPr>
        <p:spPr>
          <a:xfrm>
            <a:off x="4114800" y="2057400"/>
            <a:ext cx="2743200" cy="594360"/>
          </a:xfrm>
          <a:prstGeom prst="rect">
            <a:avLst/>
          </a:prstGeom>
          <a:noFill/>
          <a:ln/>
        </p:spPr>
        <p:txBody>
          <a:bodyPr wrap="square" rtlCol="0" anchor="ctr"/>
          <a:lstStyle/>
          <a:p>
            <a:pPr algn="ctr" indent="0" marL="0">
              <a:buNone/>
            </a:pPr>
            <a:r>
              <a:rPr lang="en-US" sz="1000" dirty="0">
                <a:solidFill>
                  <a:srgbClr val="374151"/>
                </a:solidFill>
                <a:latin typeface="Microsoft YaHei" pitchFamily="34" charset="0"/>
                <a:ea typeface="Microsoft YaHei" pitchFamily="34" charset="-122"/>
                <a:cs typeface="Microsoft YaHei" pitchFamily="34" charset="-120"/>
              </a:rPr>
              <a:t>第一天上午·练习二</a:t>
            </a:r>
            <a:endParaRPr lang="en-US" sz="1000" dirty="0"/>
          </a:p>
        </p:txBody>
      </p:sp>
      <p:sp>
        <p:nvSpPr>
          <p:cNvPr id="15" name="Text 13"/>
          <p:cNvSpPr/>
          <p:nvPr/>
        </p:nvSpPr>
        <p:spPr>
          <a:xfrm>
            <a:off x="6858000" y="2057400"/>
            <a:ext cx="1828800" cy="594360"/>
          </a:xfrm>
          <a:prstGeom prst="rect">
            <a:avLst/>
          </a:prstGeom>
          <a:noFill/>
          <a:ln/>
        </p:spPr>
        <p:txBody>
          <a:bodyPr wrap="square" rtlCol="0" anchor="ctr"/>
          <a:lstStyle/>
          <a:p>
            <a:pPr algn="ctr" indent="0" marL="0">
              <a:buNone/>
            </a:pPr>
            <a:r>
              <a:rPr lang="en-US" sz="1400" dirty="0">
                <a:solidFill>
                  <a:srgbClr val="EF4444"/>
                </a:solidFill>
                <a:latin typeface="Arial" pitchFamily="34" charset="0"/>
                <a:ea typeface="Arial" pitchFamily="34" charset="-122"/>
                <a:cs typeface="Arial" pitchFamily="34" charset="-120"/>
              </a:rPr>
              <a:t>☐</a:t>
            </a:r>
            <a:endParaRPr lang="en-US" sz="1400" dirty="0"/>
          </a:p>
        </p:txBody>
      </p:sp>
      <p:sp>
        <p:nvSpPr>
          <p:cNvPr id="16" name="Shape 14"/>
          <p:cNvSpPr/>
          <p:nvPr/>
        </p:nvSpPr>
        <p:spPr>
          <a:xfrm>
            <a:off x="457200" y="2651760"/>
            <a:ext cx="8229600" cy="594360"/>
          </a:xfrm>
          <a:prstGeom prst="rect">
            <a:avLst/>
          </a:prstGeom>
          <a:solidFill>
            <a:srgbClr val="F3F4F6"/>
          </a:solidFill>
          <a:ln/>
        </p:spPr>
      </p:sp>
      <p:sp>
        <p:nvSpPr>
          <p:cNvPr id="17" name="Text 15"/>
          <p:cNvSpPr/>
          <p:nvPr/>
        </p:nvSpPr>
        <p:spPr>
          <a:xfrm>
            <a:off x="457200" y="2651760"/>
            <a:ext cx="3657600" cy="594360"/>
          </a:xfrm>
          <a:prstGeom prst="rect">
            <a:avLst/>
          </a:prstGeom>
          <a:noFill/>
          <a:ln/>
        </p:spPr>
        <p:txBody>
          <a:bodyPr wrap="square" lIns="0" tIns="101600" rIns="0" bIns="0" rtlCol="0" anchor="ctr"/>
          <a:lstStyle/>
          <a:p>
            <a:pPr algn="l" indent="0" marL="0">
              <a:buNone/>
            </a:pPr>
            <a:r>
              <a:rPr lang="en-US" sz="1000" b="1" dirty="0">
                <a:solidFill>
                  <a:srgbClr val="B91C1C"/>
                </a:solidFill>
                <a:latin typeface="Microsoft YaHei" pitchFamily="34" charset="0"/>
                <a:ea typeface="Microsoft YaHei" pitchFamily="34" charset="-122"/>
                <a:cs typeface="Microsoft YaHei" pitchFamily="34" charset="-120"/>
              </a:rPr>
              <a:t>业务规则表（2份，每份&gt;=8条）</a:t>
            </a:r>
            <a:endParaRPr lang="en-US" sz="1000" dirty="0"/>
          </a:p>
        </p:txBody>
      </p:sp>
      <p:sp>
        <p:nvSpPr>
          <p:cNvPr id="18" name="Text 16"/>
          <p:cNvSpPr/>
          <p:nvPr/>
        </p:nvSpPr>
        <p:spPr>
          <a:xfrm>
            <a:off x="4114800" y="2651760"/>
            <a:ext cx="2743200" cy="594360"/>
          </a:xfrm>
          <a:prstGeom prst="rect">
            <a:avLst/>
          </a:prstGeom>
          <a:noFill/>
          <a:ln/>
        </p:spPr>
        <p:txBody>
          <a:bodyPr wrap="square" rtlCol="0" anchor="ctr"/>
          <a:lstStyle/>
          <a:p>
            <a:pPr algn="ctr" indent="0" marL="0">
              <a:buNone/>
            </a:pPr>
            <a:r>
              <a:rPr lang="en-US" sz="1000" dirty="0">
                <a:solidFill>
                  <a:srgbClr val="374151"/>
                </a:solidFill>
                <a:latin typeface="Microsoft YaHei" pitchFamily="34" charset="0"/>
                <a:ea typeface="Microsoft YaHei" pitchFamily="34" charset="-122"/>
                <a:cs typeface="Microsoft YaHei" pitchFamily="34" charset="-120"/>
              </a:rPr>
              <a:t>第一天下午·练习四</a:t>
            </a:r>
            <a:endParaRPr lang="en-US" sz="1000" dirty="0"/>
          </a:p>
        </p:txBody>
      </p:sp>
      <p:sp>
        <p:nvSpPr>
          <p:cNvPr id="19" name="Text 17"/>
          <p:cNvSpPr/>
          <p:nvPr/>
        </p:nvSpPr>
        <p:spPr>
          <a:xfrm>
            <a:off x="6858000" y="2651760"/>
            <a:ext cx="1828800" cy="594360"/>
          </a:xfrm>
          <a:prstGeom prst="rect">
            <a:avLst/>
          </a:prstGeom>
          <a:noFill/>
          <a:ln/>
        </p:spPr>
        <p:txBody>
          <a:bodyPr wrap="square" rtlCol="0" anchor="ctr"/>
          <a:lstStyle/>
          <a:p>
            <a:pPr algn="ctr" indent="0" marL="0">
              <a:buNone/>
            </a:pPr>
            <a:r>
              <a:rPr lang="en-US" sz="1400" dirty="0">
                <a:solidFill>
                  <a:srgbClr val="EF4444"/>
                </a:solidFill>
                <a:latin typeface="Arial" pitchFamily="34" charset="0"/>
                <a:ea typeface="Arial" pitchFamily="34" charset="-122"/>
                <a:cs typeface="Arial" pitchFamily="34" charset="-120"/>
              </a:rPr>
              <a:t>☐</a:t>
            </a:r>
            <a:endParaRPr lang="en-US" sz="1400" dirty="0"/>
          </a:p>
        </p:txBody>
      </p:sp>
      <p:sp>
        <p:nvSpPr>
          <p:cNvPr id="20" name="Shape 18"/>
          <p:cNvSpPr/>
          <p:nvPr/>
        </p:nvSpPr>
        <p:spPr>
          <a:xfrm>
            <a:off x="457200" y="3246120"/>
            <a:ext cx="8229600" cy="594360"/>
          </a:xfrm>
          <a:prstGeom prst="rect">
            <a:avLst/>
          </a:prstGeom>
          <a:solidFill>
            <a:srgbClr val="FFFFFF"/>
          </a:solidFill>
          <a:ln/>
        </p:spPr>
      </p:sp>
      <p:sp>
        <p:nvSpPr>
          <p:cNvPr id="21" name="Text 19"/>
          <p:cNvSpPr/>
          <p:nvPr/>
        </p:nvSpPr>
        <p:spPr>
          <a:xfrm>
            <a:off x="457200" y="3246120"/>
            <a:ext cx="3657600" cy="594360"/>
          </a:xfrm>
          <a:prstGeom prst="rect">
            <a:avLst/>
          </a:prstGeom>
          <a:noFill/>
          <a:ln/>
        </p:spPr>
        <p:txBody>
          <a:bodyPr wrap="square" lIns="0" tIns="101600" rIns="0" bIns="0" rtlCol="0" anchor="ctr"/>
          <a:lstStyle/>
          <a:p>
            <a:pPr algn="l" indent="0" marL="0">
              <a:buNone/>
            </a:pPr>
            <a:r>
              <a:rPr lang="en-US" sz="1000" b="1" dirty="0">
                <a:solidFill>
                  <a:srgbClr val="B91C1C"/>
                </a:solidFill>
                <a:latin typeface="Microsoft YaHei" pitchFamily="34" charset="0"/>
                <a:ea typeface="Microsoft YaHei" pitchFamily="34" charset="-122"/>
                <a:cs typeface="Microsoft YaHei" pitchFamily="34" charset="-120"/>
              </a:rPr>
              <a:t>Skill初稿（2个，经第一轮迭代）</a:t>
            </a:r>
            <a:endParaRPr lang="en-US" sz="1000" dirty="0"/>
          </a:p>
        </p:txBody>
      </p:sp>
      <p:sp>
        <p:nvSpPr>
          <p:cNvPr id="22" name="Text 20"/>
          <p:cNvSpPr/>
          <p:nvPr/>
        </p:nvSpPr>
        <p:spPr>
          <a:xfrm>
            <a:off x="4114800" y="3246120"/>
            <a:ext cx="2743200" cy="594360"/>
          </a:xfrm>
          <a:prstGeom prst="rect">
            <a:avLst/>
          </a:prstGeom>
          <a:noFill/>
          <a:ln/>
        </p:spPr>
        <p:txBody>
          <a:bodyPr wrap="square" rtlCol="0" anchor="ctr"/>
          <a:lstStyle/>
          <a:p>
            <a:pPr algn="ctr" indent="0" marL="0">
              <a:buNone/>
            </a:pPr>
            <a:r>
              <a:rPr lang="en-US" sz="1000" dirty="0">
                <a:solidFill>
                  <a:srgbClr val="374151"/>
                </a:solidFill>
                <a:latin typeface="Microsoft YaHei" pitchFamily="34" charset="0"/>
                <a:ea typeface="Microsoft YaHei" pitchFamily="34" charset="-122"/>
                <a:cs typeface="Microsoft YaHei" pitchFamily="34" charset="-120"/>
              </a:rPr>
              <a:t>第一天下午·练习五</a:t>
            </a:r>
            <a:endParaRPr lang="en-US" sz="1000" dirty="0"/>
          </a:p>
        </p:txBody>
      </p:sp>
      <p:sp>
        <p:nvSpPr>
          <p:cNvPr id="23" name="Text 21"/>
          <p:cNvSpPr/>
          <p:nvPr/>
        </p:nvSpPr>
        <p:spPr>
          <a:xfrm>
            <a:off x="6858000" y="3246120"/>
            <a:ext cx="1828800" cy="594360"/>
          </a:xfrm>
          <a:prstGeom prst="rect">
            <a:avLst/>
          </a:prstGeom>
          <a:noFill/>
          <a:ln/>
        </p:spPr>
        <p:txBody>
          <a:bodyPr wrap="square" rtlCol="0" anchor="ctr"/>
          <a:lstStyle/>
          <a:p>
            <a:pPr algn="ctr" indent="0" marL="0">
              <a:buNone/>
            </a:pPr>
            <a:r>
              <a:rPr lang="en-US" sz="1400" dirty="0">
                <a:solidFill>
                  <a:srgbClr val="EF4444"/>
                </a:solidFill>
                <a:latin typeface="Arial" pitchFamily="34" charset="0"/>
                <a:ea typeface="Arial" pitchFamily="34" charset="-122"/>
                <a:cs typeface="Arial" pitchFamily="34" charset="-120"/>
              </a:rPr>
              <a:t>☐</a:t>
            </a:r>
            <a:endParaRPr lang="en-US" sz="1400" dirty="0"/>
          </a:p>
        </p:txBody>
      </p:sp>
      <p:sp>
        <p:nvSpPr>
          <p:cNvPr id="24" name="Shape 22"/>
          <p:cNvSpPr/>
          <p:nvPr/>
        </p:nvSpPr>
        <p:spPr>
          <a:xfrm>
            <a:off x="457200" y="3840480"/>
            <a:ext cx="8229600" cy="594360"/>
          </a:xfrm>
          <a:prstGeom prst="rect">
            <a:avLst/>
          </a:prstGeom>
          <a:solidFill>
            <a:srgbClr val="F3F4F6"/>
          </a:solidFill>
          <a:ln/>
        </p:spPr>
      </p:sp>
      <p:sp>
        <p:nvSpPr>
          <p:cNvPr id="25" name="Text 23"/>
          <p:cNvSpPr/>
          <p:nvPr/>
        </p:nvSpPr>
        <p:spPr>
          <a:xfrm>
            <a:off x="457200" y="3840480"/>
            <a:ext cx="3657600" cy="594360"/>
          </a:xfrm>
          <a:prstGeom prst="rect">
            <a:avLst/>
          </a:prstGeom>
          <a:noFill/>
          <a:ln/>
        </p:spPr>
        <p:txBody>
          <a:bodyPr wrap="square" lIns="0" tIns="101600" rIns="0" bIns="0" rtlCol="0" anchor="ctr"/>
          <a:lstStyle/>
          <a:p>
            <a:pPr algn="l" indent="0" marL="0">
              <a:buNone/>
            </a:pPr>
            <a:r>
              <a:rPr lang="en-US" sz="1000" b="1" dirty="0">
                <a:solidFill>
                  <a:srgbClr val="B91C1C"/>
                </a:solidFill>
                <a:latin typeface="Microsoft YaHei" pitchFamily="34" charset="0"/>
                <a:ea typeface="Microsoft YaHei" pitchFamily="34" charset="-122"/>
                <a:cs typeface="Microsoft YaHei" pitchFamily="34" charset="-120"/>
              </a:rPr>
              <a:t>知识库初版 + 对比测试记录</a:t>
            </a:r>
            <a:endParaRPr lang="en-US" sz="1000" dirty="0"/>
          </a:p>
        </p:txBody>
      </p:sp>
      <p:sp>
        <p:nvSpPr>
          <p:cNvPr id="26" name="Text 24"/>
          <p:cNvSpPr/>
          <p:nvPr/>
        </p:nvSpPr>
        <p:spPr>
          <a:xfrm>
            <a:off x="4114800" y="3840480"/>
            <a:ext cx="2743200" cy="594360"/>
          </a:xfrm>
          <a:prstGeom prst="rect">
            <a:avLst/>
          </a:prstGeom>
          <a:noFill/>
          <a:ln/>
        </p:spPr>
        <p:txBody>
          <a:bodyPr wrap="square" rtlCol="0" anchor="ctr"/>
          <a:lstStyle/>
          <a:p>
            <a:pPr algn="ctr" indent="0" marL="0">
              <a:buNone/>
            </a:pPr>
            <a:r>
              <a:rPr lang="en-US" sz="1000" dirty="0">
                <a:solidFill>
                  <a:srgbClr val="374151"/>
                </a:solidFill>
                <a:latin typeface="Microsoft YaHei" pitchFamily="34" charset="0"/>
                <a:ea typeface="Microsoft YaHei" pitchFamily="34" charset="-122"/>
                <a:cs typeface="Microsoft YaHei" pitchFamily="34" charset="-120"/>
              </a:rPr>
              <a:t>第一天下午·练习六</a:t>
            </a:r>
            <a:endParaRPr lang="en-US" sz="1000" dirty="0"/>
          </a:p>
        </p:txBody>
      </p:sp>
      <p:sp>
        <p:nvSpPr>
          <p:cNvPr id="27" name="Text 25"/>
          <p:cNvSpPr/>
          <p:nvPr/>
        </p:nvSpPr>
        <p:spPr>
          <a:xfrm>
            <a:off x="6858000" y="3840480"/>
            <a:ext cx="1828800" cy="594360"/>
          </a:xfrm>
          <a:prstGeom prst="rect">
            <a:avLst/>
          </a:prstGeom>
          <a:noFill/>
          <a:ln/>
        </p:spPr>
        <p:txBody>
          <a:bodyPr wrap="square" rtlCol="0" anchor="ctr"/>
          <a:lstStyle/>
          <a:p>
            <a:pPr algn="ctr" indent="0" marL="0">
              <a:buNone/>
            </a:pPr>
            <a:r>
              <a:rPr lang="en-US" sz="1400" dirty="0">
                <a:solidFill>
                  <a:srgbClr val="EF4444"/>
                </a:solidFill>
                <a:latin typeface="Arial" pitchFamily="34" charset="0"/>
                <a:ea typeface="Arial" pitchFamily="34" charset="-122"/>
                <a:cs typeface="Arial" pitchFamily="34" charset="-120"/>
              </a:rPr>
              <a:t>☐</a:t>
            </a:r>
            <a:endParaRPr lang="en-US" sz="1400" dirty="0"/>
          </a:p>
        </p:txBody>
      </p:sp>
      <p:sp>
        <p:nvSpPr>
          <p:cNvPr id="28" name="Shape 26"/>
          <p:cNvSpPr/>
          <p:nvPr/>
        </p:nvSpPr>
        <p:spPr>
          <a:xfrm>
            <a:off x="457200" y="4434840"/>
            <a:ext cx="8229600" cy="594360"/>
          </a:xfrm>
          <a:prstGeom prst="rect">
            <a:avLst/>
          </a:prstGeom>
          <a:solidFill>
            <a:srgbClr val="FFFFFF"/>
          </a:solidFill>
          <a:ln/>
        </p:spPr>
      </p:sp>
      <p:sp>
        <p:nvSpPr>
          <p:cNvPr id="29" name="Text 27"/>
          <p:cNvSpPr/>
          <p:nvPr/>
        </p:nvSpPr>
        <p:spPr>
          <a:xfrm>
            <a:off x="457200" y="4434840"/>
            <a:ext cx="3657600" cy="594360"/>
          </a:xfrm>
          <a:prstGeom prst="rect">
            <a:avLst/>
          </a:prstGeom>
          <a:noFill/>
          <a:ln/>
        </p:spPr>
        <p:txBody>
          <a:bodyPr wrap="square" lIns="0" tIns="101600" rIns="0" bIns="0" rtlCol="0" anchor="ctr"/>
          <a:lstStyle/>
          <a:p>
            <a:pPr algn="l" indent="0" marL="0">
              <a:buNone/>
            </a:pPr>
            <a:r>
              <a:rPr lang="en-US" sz="1000" b="1" dirty="0">
                <a:solidFill>
                  <a:srgbClr val="B91C1C"/>
                </a:solidFill>
                <a:latin typeface="Microsoft YaHei" pitchFamily="34" charset="0"/>
                <a:ea typeface="Microsoft YaHei" pitchFamily="34" charset="-122"/>
                <a:cs typeface="Microsoft YaHei" pitchFamily="34" charset="-120"/>
              </a:rPr>
              <a:t>2个Skill正式验收记录</a:t>
            </a:r>
            <a:endParaRPr lang="en-US" sz="1000" dirty="0"/>
          </a:p>
        </p:txBody>
      </p:sp>
      <p:sp>
        <p:nvSpPr>
          <p:cNvPr id="30" name="Text 28"/>
          <p:cNvSpPr/>
          <p:nvPr/>
        </p:nvSpPr>
        <p:spPr>
          <a:xfrm>
            <a:off x="4114800" y="4434840"/>
            <a:ext cx="2743200" cy="594360"/>
          </a:xfrm>
          <a:prstGeom prst="rect">
            <a:avLst/>
          </a:prstGeom>
          <a:noFill/>
          <a:ln/>
        </p:spPr>
        <p:txBody>
          <a:bodyPr wrap="square" rtlCol="0" anchor="ctr"/>
          <a:lstStyle/>
          <a:p>
            <a:pPr algn="ctr" indent="0" marL="0">
              <a:buNone/>
            </a:pPr>
            <a:r>
              <a:rPr lang="en-US" sz="1000" dirty="0">
                <a:solidFill>
                  <a:srgbClr val="374151"/>
                </a:solidFill>
                <a:latin typeface="Microsoft YaHei" pitchFamily="34" charset="0"/>
                <a:ea typeface="Microsoft YaHei" pitchFamily="34" charset="-122"/>
                <a:cs typeface="Microsoft YaHei" pitchFamily="34" charset="-120"/>
              </a:rPr>
              <a:t>第二天上午·练习七</a:t>
            </a:r>
            <a:endParaRPr lang="en-US" sz="1000" dirty="0"/>
          </a:p>
        </p:txBody>
      </p:sp>
      <p:sp>
        <p:nvSpPr>
          <p:cNvPr id="31" name="Text 29"/>
          <p:cNvSpPr/>
          <p:nvPr/>
        </p:nvSpPr>
        <p:spPr>
          <a:xfrm>
            <a:off x="6858000" y="4434840"/>
            <a:ext cx="1828800" cy="594360"/>
          </a:xfrm>
          <a:prstGeom prst="rect">
            <a:avLst/>
          </a:prstGeom>
          <a:noFill/>
          <a:ln/>
        </p:spPr>
        <p:txBody>
          <a:bodyPr wrap="square" rtlCol="0" anchor="ctr"/>
          <a:lstStyle/>
          <a:p>
            <a:pPr algn="ctr" indent="0" marL="0">
              <a:buNone/>
            </a:pPr>
            <a:r>
              <a:rPr lang="en-US" sz="1400" dirty="0">
                <a:solidFill>
                  <a:srgbClr val="EF4444"/>
                </a:solidFill>
                <a:latin typeface="Arial" pitchFamily="34" charset="0"/>
                <a:ea typeface="Arial" pitchFamily="34" charset="-122"/>
                <a:cs typeface="Arial" pitchFamily="34" charset="-120"/>
              </a:rPr>
              <a:t>☐</a:t>
            </a:r>
            <a:endParaRPr lang="en-US" sz="1400" dirty="0"/>
          </a:p>
        </p:txBody>
      </p:sp>
      <p:sp>
        <p:nvSpPr>
          <p:cNvPr id="32" name="Text 30"/>
          <p:cNvSpPr/>
          <p:nvPr/>
        </p:nvSpPr>
        <p:spPr>
          <a:xfrm>
            <a:off x="8503920" y="4663440"/>
            <a:ext cx="457200" cy="274320"/>
          </a:xfrm>
          <a:prstGeom prst="rect">
            <a:avLst/>
          </a:prstGeom>
          <a:noFill/>
          <a:ln/>
        </p:spPr>
        <p:txBody>
          <a:bodyPr wrap="square" rtlCol="0" anchor="ctr"/>
          <a:lstStyle/>
          <a:p>
            <a:pPr algn="ctr" indent="0" marL="0">
              <a:buNone/>
            </a:pPr>
            <a:r>
              <a:rPr lang="en-US" sz="1000" dirty="0">
                <a:solidFill>
                  <a:srgbClr val="374151"/>
                </a:solidFill>
                <a:latin typeface="Arial" pitchFamily="34" charset="0"/>
                <a:ea typeface="Arial" pitchFamily="34" charset="-122"/>
                <a:cs typeface="Arial" pitchFamily="34" charset="-120"/>
              </a:rPr>
              <a:t>151</a:t>
            </a:r>
            <a:endParaRPr lang="en-US" sz="1000"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274320"/>
            <a:ext cx="8229600" cy="457200"/>
          </a:xfrm>
          <a:prstGeom prst="rect">
            <a:avLst/>
          </a:prstGeom>
          <a:noFill/>
          <a:ln/>
        </p:spPr>
        <p:txBody>
          <a:bodyPr wrap="square" rtlCol="0" anchor="ctr"/>
          <a:lstStyle/>
          <a:p>
            <a:pPr indent="0" marL="0">
              <a:buNone/>
            </a:pPr>
            <a:r>
              <a:rPr lang="en-US" sz="1800" b="1" dirty="0">
                <a:solidFill>
                  <a:srgbClr val="B91C1C"/>
                </a:solidFill>
                <a:latin typeface="Microsoft YaHei" pitchFamily="34" charset="0"/>
                <a:ea typeface="Microsoft YaHei" pitchFamily="34" charset="-122"/>
                <a:cs typeface="Microsoft YaHei" pitchFamily="34" charset="-120"/>
              </a:rPr>
              <a:t>产出物全览（2/2）</a:t>
            </a:r>
            <a:endParaRPr lang="en-US" sz="1800" dirty="0"/>
          </a:p>
        </p:txBody>
      </p:sp>
      <p:sp>
        <p:nvSpPr>
          <p:cNvPr id="4" name="Shape 2"/>
          <p:cNvSpPr/>
          <p:nvPr/>
        </p:nvSpPr>
        <p:spPr>
          <a:xfrm>
            <a:off x="457200" y="868680"/>
            <a:ext cx="8229600" cy="594360"/>
          </a:xfrm>
          <a:prstGeom prst="rect">
            <a:avLst/>
          </a:prstGeom>
          <a:solidFill>
            <a:srgbClr val="B91C1C"/>
          </a:solidFill>
          <a:ln/>
        </p:spPr>
      </p:sp>
      <p:sp>
        <p:nvSpPr>
          <p:cNvPr id="5" name="Text 3"/>
          <p:cNvSpPr/>
          <p:nvPr/>
        </p:nvSpPr>
        <p:spPr>
          <a:xfrm>
            <a:off x="457200" y="868680"/>
            <a:ext cx="4114800" cy="594360"/>
          </a:xfrm>
          <a:prstGeom prst="rect">
            <a:avLst/>
          </a:prstGeom>
          <a:noFill/>
          <a:ln/>
        </p:spPr>
        <p:txBody>
          <a:bodyPr wrap="square" rtlCol="0" anchor="ctr"/>
          <a:lstStyle/>
          <a:p>
            <a:pPr algn="ctr" indent="0" marL="0">
              <a:buNone/>
            </a:pPr>
            <a:r>
              <a:rPr lang="en-US" sz="1100" b="1" dirty="0">
                <a:solidFill>
                  <a:srgbClr val="FFFFFF"/>
                </a:solidFill>
                <a:latin typeface="Microsoft YaHei" pitchFamily="34" charset="0"/>
                <a:ea typeface="Microsoft YaHei" pitchFamily="34" charset="-122"/>
                <a:cs typeface="Microsoft YaHei" pitchFamily="34" charset="-120"/>
              </a:rPr>
              <a:t>产出物</a:t>
            </a:r>
            <a:endParaRPr lang="en-US" sz="1100" dirty="0"/>
          </a:p>
        </p:txBody>
      </p:sp>
      <p:sp>
        <p:nvSpPr>
          <p:cNvPr id="6" name="Text 4"/>
          <p:cNvSpPr/>
          <p:nvPr/>
        </p:nvSpPr>
        <p:spPr>
          <a:xfrm>
            <a:off x="4572000" y="868680"/>
            <a:ext cx="2743200" cy="594360"/>
          </a:xfrm>
          <a:prstGeom prst="rect">
            <a:avLst/>
          </a:prstGeom>
          <a:noFill/>
          <a:ln/>
        </p:spPr>
        <p:txBody>
          <a:bodyPr wrap="square" rtlCol="0" anchor="ctr"/>
          <a:lstStyle/>
          <a:p>
            <a:pPr algn="ctr" indent="0" marL="0">
              <a:buNone/>
            </a:pPr>
            <a:r>
              <a:rPr lang="en-US" sz="1100" b="1" dirty="0">
                <a:solidFill>
                  <a:srgbClr val="FFFFFF"/>
                </a:solidFill>
                <a:latin typeface="Microsoft YaHei" pitchFamily="34" charset="0"/>
                <a:ea typeface="Microsoft YaHei" pitchFamily="34" charset="-122"/>
                <a:cs typeface="Microsoft YaHei" pitchFamily="34" charset="-120"/>
              </a:rPr>
              <a:t>来自</a:t>
            </a:r>
            <a:endParaRPr lang="en-US" sz="1100" dirty="0"/>
          </a:p>
        </p:txBody>
      </p:sp>
      <p:sp>
        <p:nvSpPr>
          <p:cNvPr id="7" name="Text 5"/>
          <p:cNvSpPr/>
          <p:nvPr/>
        </p:nvSpPr>
        <p:spPr>
          <a:xfrm>
            <a:off x="7315200" y="868680"/>
            <a:ext cx="1371600" cy="594360"/>
          </a:xfrm>
          <a:prstGeom prst="rect">
            <a:avLst/>
          </a:prstGeom>
          <a:noFill/>
          <a:ln/>
        </p:spPr>
        <p:txBody>
          <a:bodyPr wrap="square" rtlCol="0" anchor="ctr"/>
          <a:lstStyle/>
          <a:p>
            <a:pPr algn="ctr" indent="0" marL="0">
              <a:buNone/>
            </a:pPr>
            <a:r>
              <a:rPr lang="en-US" sz="1100" b="1" dirty="0">
                <a:solidFill>
                  <a:srgbClr val="FFFFFF"/>
                </a:solidFill>
                <a:latin typeface="Microsoft YaHei" pitchFamily="34" charset="0"/>
                <a:ea typeface="Microsoft YaHei" pitchFamily="34" charset="-122"/>
                <a:cs typeface="Microsoft YaHei" pitchFamily="34" charset="-120"/>
              </a:rPr>
              <a:t>完成情况</a:t>
            </a:r>
            <a:endParaRPr lang="en-US" sz="1100" dirty="0"/>
          </a:p>
        </p:txBody>
      </p:sp>
      <p:sp>
        <p:nvSpPr>
          <p:cNvPr id="8" name="Shape 6"/>
          <p:cNvSpPr/>
          <p:nvPr/>
        </p:nvSpPr>
        <p:spPr>
          <a:xfrm>
            <a:off x="457200" y="1463040"/>
            <a:ext cx="8229600" cy="594360"/>
          </a:xfrm>
          <a:prstGeom prst="rect">
            <a:avLst/>
          </a:prstGeom>
          <a:solidFill>
            <a:srgbClr val="F3F4F6"/>
          </a:solidFill>
          <a:ln/>
        </p:spPr>
      </p:sp>
      <p:sp>
        <p:nvSpPr>
          <p:cNvPr id="9" name="Text 7"/>
          <p:cNvSpPr/>
          <p:nvPr/>
        </p:nvSpPr>
        <p:spPr>
          <a:xfrm>
            <a:off x="457200" y="1463040"/>
            <a:ext cx="4114800" cy="594360"/>
          </a:xfrm>
          <a:prstGeom prst="rect">
            <a:avLst/>
          </a:prstGeom>
          <a:noFill/>
          <a:ln/>
        </p:spPr>
        <p:txBody>
          <a:bodyPr wrap="square" lIns="0" tIns="101600" rIns="0" bIns="0" rtlCol="0" anchor="ctr"/>
          <a:lstStyle/>
          <a:p>
            <a:pPr algn="l" indent="0" marL="0">
              <a:buNone/>
            </a:pPr>
            <a:r>
              <a:rPr lang="en-US" sz="1000" b="1" dirty="0">
                <a:solidFill>
                  <a:srgbClr val="B91C1C"/>
                </a:solidFill>
                <a:latin typeface="Microsoft YaHei" pitchFamily="34" charset="0"/>
                <a:ea typeface="Microsoft YaHei" pitchFamily="34" charset="-122"/>
                <a:cs typeface="Microsoft YaHei" pitchFamily="34" charset="-120"/>
              </a:rPr>
              <a:t>2个Skill第二轮迭代完成</a:t>
            </a:r>
            <a:endParaRPr lang="en-US" sz="1000" dirty="0"/>
          </a:p>
        </p:txBody>
      </p:sp>
      <p:sp>
        <p:nvSpPr>
          <p:cNvPr id="10" name="Text 8"/>
          <p:cNvSpPr/>
          <p:nvPr/>
        </p:nvSpPr>
        <p:spPr>
          <a:xfrm>
            <a:off x="4572000" y="1463040"/>
            <a:ext cx="2743200" cy="594360"/>
          </a:xfrm>
          <a:prstGeom prst="rect">
            <a:avLst/>
          </a:prstGeom>
          <a:noFill/>
          <a:ln/>
        </p:spPr>
        <p:txBody>
          <a:bodyPr wrap="square" rtlCol="0" anchor="ctr"/>
          <a:lstStyle/>
          <a:p>
            <a:pPr algn="ctr" indent="0" marL="0">
              <a:buNone/>
            </a:pPr>
            <a:r>
              <a:rPr lang="en-US" sz="1000" dirty="0">
                <a:solidFill>
                  <a:srgbClr val="374151"/>
                </a:solidFill>
                <a:latin typeface="Microsoft YaHei" pitchFamily="34" charset="0"/>
                <a:ea typeface="Microsoft YaHei" pitchFamily="34" charset="-122"/>
                <a:cs typeface="Microsoft YaHei" pitchFamily="34" charset="-120"/>
              </a:rPr>
              <a:t>第二天上午·练习七</a:t>
            </a:r>
            <a:endParaRPr lang="en-US" sz="1000" dirty="0"/>
          </a:p>
        </p:txBody>
      </p:sp>
      <p:sp>
        <p:nvSpPr>
          <p:cNvPr id="11" name="Text 9"/>
          <p:cNvSpPr/>
          <p:nvPr/>
        </p:nvSpPr>
        <p:spPr>
          <a:xfrm>
            <a:off x="7315200" y="1463040"/>
            <a:ext cx="1371600" cy="594360"/>
          </a:xfrm>
          <a:prstGeom prst="rect">
            <a:avLst/>
          </a:prstGeom>
          <a:noFill/>
          <a:ln/>
        </p:spPr>
        <p:txBody>
          <a:bodyPr wrap="square" rtlCol="0" anchor="ctr"/>
          <a:lstStyle/>
          <a:p>
            <a:pPr algn="ctr" indent="0" marL="0">
              <a:buNone/>
            </a:pPr>
            <a:r>
              <a:rPr lang="en-US" sz="1400" dirty="0">
                <a:solidFill>
                  <a:srgbClr val="EF4444"/>
                </a:solidFill>
                <a:latin typeface="Arial" pitchFamily="34" charset="0"/>
                <a:ea typeface="Arial" pitchFamily="34" charset="-122"/>
                <a:cs typeface="Arial" pitchFamily="34" charset="-120"/>
              </a:rPr>
              <a:t>☐</a:t>
            </a:r>
            <a:endParaRPr lang="en-US" sz="1400" dirty="0"/>
          </a:p>
        </p:txBody>
      </p:sp>
      <p:sp>
        <p:nvSpPr>
          <p:cNvPr id="12" name="Shape 10"/>
          <p:cNvSpPr/>
          <p:nvPr/>
        </p:nvSpPr>
        <p:spPr>
          <a:xfrm>
            <a:off x="457200" y="2057400"/>
            <a:ext cx="8229600" cy="594360"/>
          </a:xfrm>
          <a:prstGeom prst="rect">
            <a:avLst/>
          </a:prstGeom>
          <a:solidFill>
            <a:srgbClr val="FFFFFF"/>
          </a:solidFill>
          <a:ln/>
        </p:spPr>
      </p:sp>
      <p:sp>
        <p:nvSpPr>
          <p:cNvPr id="13" name="Text 11"/>
          <p:cNvSpPr/>
          <p:nvPr/>
        </p:nvSpPr>
        <p:spPr>
          <a:xfrm>
            <a:off x="457200" y="2057400"/>
            <a:ext cx="4114800" cy="594360"/>
          </a:xfrm>
          <a:prstGeom prst="rect">
            <a:avLst/>
          </a:prstGeom>
          <a:noFill/>
          <a:ln/>
        </p:spPr>
        <p:txBody>
          <a:bodyPr wrap="square" lIns="0" tIns="101600" rIns="0" bIns="0" rtlCol="0" anchor="ctr"/>
          <a:lstStyle/>
          <a:p>
            <a:pPr algn="l" indent="0" marL="0">
              <a:buNone/>
            </a:pPr>
            <a:r>
              <a:rPr lang="en-US" sz="1000" b="1" dirty="0">
                <a:solidFill>
                  <a:srgbClr val="B91C1C"/>
                </a:solidFill>
                <a:latin typeface="Microsoft YaHei" pitchFamily="34" charset="0"/>
                <a:ea typeface="Microsoft YaHei" pitchFamily="34" charset="-122"/>
                <a:cs typeface="Microsoft YaHei" pitchFamily="34" charset="-120"/>
              </a:rPr>
              <a:t>定时任务设计方案（&gt;=1个）</a:t>
            </a:r>
            <a:endParaRPr lang="en-US" sz="1000" dirty="0"/>
          </a:p>
        </p:txBody>
      </p:sp>
      <p:sp>
        <p:nvSpPr>
          <p:cNvPr id="14" name="Text 12"/>
          <p:cNvSpPr/>
          <p:nvPr/>
        </p:nvSpPr>
        <p:spPr>
          <a:xfrm>
            <a:off x="4572000" y="2057400"/>
            <a:ext cx="2743200" cy="594360"/>
          </a:xfrm>
          <a:prstGeom prst="rect">
            <a:avLst/>
          </a:prstGeom>
          <a:noFill/>
          <a:ln/>
        </p:spPr>
        <p:txBody>
          <a:bodyPr wrap="square" rtlCol="0" anchor="ctr"/>
          <a:lstStyle/>
          <a:p>
            <a:pPr algn="ctr" indent="0" marL="0">
              <a:buNone/>
            </a:pPr>
            <a:r>
              <a:rPr lang="en-US" sz="1000" dirty="0">
                <a:solidFill>
                  <a:srgbClr val="374151"/>
                </a:solidFill>
                <a:latin typeface="Microsoft YaHei" pitchFamily="34" charset="0"/>
                <a:ea typeface="Microsoft YaHei" pitchFamily="34" charset="-122"/>
                <a:cs typeface="Microsoft YaHei" pitchFamily="34" charset="-120"/>
              </a:rPr>
              <a:t>第二天上午·练习八</a:t>
            </a:r>
            <a:endParaRPr lang="en-US" sz="1000" dirty="0"/>
          </a:p>
        </p:txBody>
      </p:sp>
      <p:sp>
        <p:nvSpPr>
          <p:cNvPr id="15" name="Text 13"/>
          <p:cNvSpPr/>
          <p:nvPr/>
        </p:nvSpPr>
        <p:spPr>
          <a:xfrm>
            <a:off x="7315200" y="2057400"/>
            <a:ext cx="1371600" cy="594360"/>
          </a:xfrm>
          <a:prstGeom prst="rect">
            <a:avLst/>
          </a:prstGeom>
          <a:noFill/>
          <a:ln/>
        </p:spPr>
        <p:txBody>
          <a:bodyPr wrap="square" rtlCol="0" anchor="ctr"/>
          <a:lstStyle/>
          <a:p>
            <a:pPr algn="ctr" indent="0" marL="0">
              <a:buNone/>
            </a:pPr>
            <a:r>
              <a:rPr lang="en-US" sz="1400" dirty="0">
                <a:solidFill>
                  <a:srgbClr val="EF4444"/>
                </a:solidFill>
                <a:latin typeface="Arial" pitchFamily="34" charset="0"/>
                <a:ea typeface="Arial" pitchFamily="34" charset="-122"/>
                <a:cs typeface="Arial" pitchFamily="34" charset="-120"/>
              </a:rPr>
              <a:t>☐</a:t>
            </a:r>
            <a:endParaRPr lang="en-US" sz="1400" dirty="0"/>
          </a:p>
        </p:txBody>
      </p:sp>
      <p:sp>
        <p:nvSpPr>
          <p:cNvPr id="16" name="Shape 14"/>
          <p:cNvSpPr/>
          <p:nvPr/>
        </p:nvSpPr>
        <p:spPr>
          <a:xfrm>
            <a:off x="457200" y="2651760"/>
            <a:ext cx="8229600" cy="594360"/>
          </a:xfrm>
          <a:prstGeom prst="rect">
            <a:avLst/>
          </a:prstGeom>
          <a:solidFill>
            <a:srgbClr val="F3F4F6"/>
          </a:solidFill>
          <a:ln/>
        </p:spPr>
      </p:sp>
      <p:sp>
        <p:nvSpPr>
          <p:cNvPr id="17" name="Text 15"/>
          <p:cNvSpPr/>
          <p:nvPr/>
        </p:nvSpPr>
        <p:spPr>
          <a:xfrm>
            <a:off x="457200" y="2651760"/>
            <a:ext cx="4114800" cy="594360"/>
          </a:xfrm>
          <a:prstGeom prst="rect">
            <a:avLst/>
          </a:prstGeom>
          <a:noFill/>
          <a:ln/>
        </p:spPr>
        <p:txBody>
          <a:bodyPr wrap="square" lIns="0" tIns="101600" rIns="0" bIns="0" rtlCol="0" anchor="ctr"/>
          <a:lstStyle/>
          <a:p>
            <a:pPr algn="l" indent="0" marL="0">
              <a:buNone/>
            </a:pPr>
            <a:r>
              <a:rPr lang="en-US" sz="1000" b="1" dirty="0">
                <a:solidFill>
                  <a:srgbClr val="B91C1C"/>
                </a:solidFill>
                <a:latin typeface="Microsoft YaHei" pitchFamily="34" charset="0"/>
                <a:ea typeface="Microsoft YaHei" pitchFamily="34" charset="-122"/>
                <a:cs typeface="Microsoft YaHei" pitchFamily="34" charset="-120"/>
              </a:rPr>
              <a:t>多Skill协作方案图</a:t>
            </a:r>
            <a:endParaRPr lang="en-US" sz="1000" dirty="0"/>
          </a:p>
        </p:txBody>
      </p:sp>
      <p:sp>
        <p:nvSpPr>
          <p:cNvPr id="18" name="Text 16"/>
          <p:cNvSpPr/>
          <p:nvPr/>
        </p:nvSpPr>
        <p:spPr>
          <a:xfrm>
            <a:off x="4572000" y="2651760"/>
            <a:ext cx="2743200" cy="594360"/>
          </a:xfrm>
          <a:prstGeom prst="rect">
            <a:avLst/>
          </a:prstGeom>
          <a:noFill/>
          <a:ln/>
        </p:spPr>
        <p:txBody>
          <a:bodyPr wrap="square" rtlCol="0" anchor="ctr"/>
          <a:lstStyle/>
          <a:p>
            <a:pPr algn="ctr" indent="0" marL="0">
              <a:buNone/>
            </a:pPr>
            <a:r>
              <a:rPr lang="en-US" sz="1000" dirty="0">
                <a:solidFill>
                  <a:srgbClr val="374151"/>
                </a:solidFill>
                <a:latin typeface="Microsoft YaHei" pitchFamily="34" charset="0"/>
                <a:ea typeface="Microsoft YaHei" pitchFamily="34" charset="-122"/>
                <a:cs typeface="Microsoft YaHei" pitchFamily="34" charset="-120"/>
              </a:rPr>
              <a:t>第二天下午·练习九</a:t>
            </a:r>
            <a:endParaRPr lang="en-US" sz="1000" dirty="0"/>
          </a:p>
        </p:txBody>
      </p:sp>
      <p:sp>
        <p:nvSpPr>
          <p:cNvPr id="19" name="Text 17"/>
          <p:cNvSpPr/>
          <p:nvPr/>
        </p:nvSpPr>
        <p:spPr>
          <a:xfrm>
            <a:off x="7315200" y="2651760"/>
            <a:ext cx="1371600" cy="594360"/>
          </a:xfrm>
          <a:prstGeom prst="rect">
            <a:avLst/>
          </a:prstGeom>
          <a:noFill/>
          <a:ln/>
        </p:spPr>
        <p:txBody>
          <a:bodyPr wrap="square" rtlCol="0" anchor="ctr"/>
          <a:lstStyle/>
          <a:p>
            <a:pPr algn="ctr" indent="0" marL="0">
              <a:buNone/>
            </a:pPr>
            <a:r>
              <a:rPr lang="en-US" sz="1400" dirty="0">
                <a:solidFill>
                  <a:srgbClr val="EF4444"/>
                </a:solidFill>
                <a:latin typeface="Arial" pitchFamily="34" charset="0"/>
                <a:ea typeface="Arial" pitchFamily="34" charset="-122"/>
                <a:cs typeface="Arial" pitchFamily="34" charset="-120"/>
              </a:rPr>
              <a:t>☐</a:t>
            </a:r>
            <a:endParaRPr lang="en-US" sz="1400" dirty="0"/>
          </a:p>
        </p:txBody>
      </p:sp>
      <p:sp>
        <p:nvSpPr>
          <p:cNvPr id="20" name="Shape 18"/>
          <p:cNvSpPr/>
          <p:nvPr/>
        </p:nvSpPr>
        <p:spPr>
          <a:xfrm>
            <a:off x="457200" y="3246120"/>
            <a:ext cx="8229600" cy="594360"/>
          </a:xfrm>
          <a:prstGeom prst="rect">
            <a:avLst/>
          </a:prstGeom>
          <a:solidFill>
            <a:srgbClr val="FFFFFF"/>
          </a:solidFill>
          <a:ln/>
        </p:spPr>
      </p:sp>
      <p:sp>
        <p:nvSpPr>
          <p:cNvPr id="21" name="Text 19"/>
          <p:cNvSpPr/>
          <p:nvPr/>
        </p:nvSpPr>
        <p:spPr>
          <a:xfrm>
            <a:off x="457200" y="3246120"/>
            <a:ext cx="4114800" cy="594360"/>
          </a:xfrm>
          <a:prstGeom prst="rect">
            <a:avLst/>
          </a:prstGeom>
          <a:noFill/>
          <a:ln/>
        </p:spPr>
        <p:txBody>
          <a:bodyPr wrap="square" lIns="0" tIns="101600" rIns="0" bIns="0" rtlCol="0" anchor="ctr"/>
          <a:lstStyle/>
          <a:p>
            <a:pPr algn="l" indent="0" marL="0">
              <a:buNone/>
            </a:pPr>
            <a:r>
              <a:rPr lang="en-US" sz="1000" b="1" dirty="0">
                <a:solidFill>
                  <a:srgbClr val="B91C1C"/>
                </a:solidFill>
                <a:latin typeface="Microsoft YaHei" pitchFamily="34" charset="0"/>
                <a:ea typeface="Microsoft YaHei" pitchFamily="34" charset="-122"/>
                <a:cs typeface="Microsoft YaHei" pitchFamily="34" charset="-120"/>
              </a:rPr>
              <a:t>Skill迭代计划（3个月）</a:t>
            </a:r>
            <a:endParaRPr lang="en-US" sz="1000" dirty="0"/>
          </a:p>
        </p:txBody>
      </p:sp>
      <p:sp>
        <p:nvSpPr>
          <p:cNvPr id="22" name="Text 20"/>
          <p:cNvSpPr/>
          <p:nvPr/>
        </p:nvSpPr>
        <p:spPr>
          <a:xfrm>
            <a:off x="4572000" y="3246120"/>
            <a:ext cx="2743200" cy="594360"/>
          </a:xfrm>
          <a:prstGeom prst="rect">
            <a:avLst/>
          </a:prstGeom>
          <a:noFill/>
          <a:ln/>
        </p:spPr>
        <p:txBody>
          <a:bodyPr wrap="square" rtlCol="0" anchor="ctr"/>
          <a:lstStyle/>
          <a:p>
            <a:pPr algn="ctr" indent="0" marL="0">
              <a:buNone/>
            </a:pPr>
            <a:r>
              <a:rPr lang="en-US" sz="1000" dirty="0">
                <a:solidFill>
                  <a:srgbClr val="374151"/>
                </a:solidFill>
                <a:latin typeface="Microsoft YaHei" pitchFamily="34" charset="0"/>
                <a:ea typeface="Microsoft YaHei" pitchFamily="34" charset="-122"/>
                <a:cs typeface="Microsoft YaHei" pitchFamily="34" charset="-120"/>
              </a:rPr>
              <a:t>第二天下午·练习十</a:t>
            </a:r>
            <a:endParaRPr lang="en-US" sz="1000" dirty="0"/>
          </a:p>
        </p:txBody>
      </p:sp>
      <p:sp>
        <p:nvSpPr>
          <p:cNvPr id="23" name="Text 21"/>
          <p:cNvSpPr/>
          <p:nvPr/>
        </p:nvSpPr>
        <p:spPr>
          <a:xfrm>
            <a:off x="7315200" y="3246120"/>
            <a:ext cx="1371600" cy="594360"/>
          </a:xfrm>
          <a:prstGeom prst="rect">
            <a:avLst/>
          </a:prstGeom>
          <a:noFill/>
          <a:ln/>
        </p:spPr>
        <p:txBody>
          <a:bodyPr wrap="square" rtlCol="0" anchor="ctr"/>
          <a:lstStyle/>
          <a:p>
            <a:pPr algn="ctr" indent="0" marL="0">
              <a:buNone/>
            </a:pPr>
            <a:r>
              <a:rPr lang="en-US" sz="1400" dirty="0">
                <a:solidFill>
                  <a:srgbClr val="EF4444"/>
                </a:solidFill>
                <a:latin typeface="Arial" pitchFamily="34" charset="0"/>
                <a:ea typeface="Arial" pitchFamily="34" charset="-122"/>
                <a:cs typeface="Arial" pitchFamily="34" charset="-120"/>
              </a:rPr>
              <a:t>☐</a:t>
            </a:r>
            <a:endParaRPr lang="en-US" sz="1400" dirty="0"/>
          </a:p>
        </p:txBody>
      </p:sp>
      <p:sp>
        <p:nvSpPr>
          <p:cNvPr id="24" name="Shape 22"/>
          <p:cNvSpPr/>
          <p:nvPr/>
        </p:nvSpPr>
        <p:spPr>
          <a:xfrm>
            <a:off x="457200" y="3840480"/>
            <a:ext cx="8229600" cy="594360"/>
          </a:xfrm>
          <a:prstGeom prst="rect">
            <a:avLst/>
          </a:prstGeom>
          <a:solidFill>
            <a:srgbClr val="F3F4F6"/>
          </a:solidFill>
          <a:ln/>
        </p:spPr>
      </p:sp>
      <p:sp>
        <p:nvSpPr>
          <p:cNvPr id="25" name="Text 23"/>
          <p:cNvSpPr/>
          <p:nvPr/>
        </p:nvSpPr>
        <p:spPr>
          <a:xfrm>
            <a:off x="457200" y="3840480"/>
            <a:ext cx="4114800" cy="594360"/>
          </a:xfrm>
          <a:prstGeom prst="rect">
            <a:avLst/>
          </a:prstGeom>
          <a:noFill/>
          <a:ln/>
        </p:spPr>
        <p:txBody>
          <a:bodyPr wrap="square" lIns="0" tIns="101600" rIns="0" bIns="0" rtlCol="0" anchor="ctr"/>
          <a:lstStyle/>
          <a:p>
            <a:pPr algn="l" indent="0" marL="0">
              <a:buNone/>
            </a:pPr>
            <a:r>
              <a:rPr lang="en-US" sz="1000" b="1" dirty="0">
                <a:solidFill>
                  <a:srgbClr val="B91C1C"/>
                </a:solidFill>
                <a:latin typeface="Microsoft YaHei" pitchFamily="34" charset="0"/>
                <a:ea typeface="Microsoft YaHei" pitchFamily="34" charset="-122"/>
                <a:cs typeface="Microsoft YaHei" pitchFamily="34" charset="-120"/>
              </a:rPr>
              <a:t>团队部署计划 + 三周行动清单</a:t>
            </a:r>
            <a:endParaRPr lang="en-US" sz="1000" dirty="0"/>
          </a:p>
        </p:txBody>
      </p:sp>
      <p:sp>
        <p:nvSpPr>
          <p:cNvPr id="26" name="Text 24"/>
          <p:cNvSpPr/>
          <p:nvPr/>
        </p:nvSpPr>
        <p:spPr>
          <a:xfrm>
            <a:off x="4572000" y="3840480"/>
            <a:ext cx="2743200" cy="594360"/>
          </a:xfrm>
          <a:prstGeom prst="rect">
            <a:avLst/>
          </a:prstGeom>
          <a:noFill/>
          <a:ln/>
        </p:spPr>
        <p:txBody>
          <a:bodyPr wrap="square" rtlCol="0" anchor="ctr"/>
          <a:lstStyle/>
          <a:p>
            <a:pPr algn="ctr" indent="0" marL="0">
              <a:buNone/>
            </a:pPr>
            <a:r>
              <a:rPr lang="en-US" sz="1000" dirty="0">
                <a:solidFill>
                  <a:srgbClr val="374151"/>
                </a:solidFill>
                <a:latin typeface="Microsoft YaHei" pitchFamily="34" charset="0"/>
                <a:ea typeface="Microsoft YaHei" pitchFamily="34" charset="-122"/>
                <a:cs typeface="Microsoft YaHei" pitchFamily="34" charset="-120"/>
              </a:rPr>
              <a:t>第二天下午·练习十一</a:t>
            </a:r>
            <a:endParaRPr lang="en-US" sz="1000" dirty="0"/>
          </a:p>
        </p:txBody>
      </p:sp>
      <p:sp>
        <p:nvSpPr>
          <p:cNvPr id="27" name="Text 25"/>
          <p:cNvSpPr/>
          <p:nvPr/>
        </p:nvSpPr>
        <p:spPr>
          <a:xfrm>
            <a:off x="7315200" y="3840480"/>
            <a:ext cx="1371600" cy="594360"/>
          </a:xfrm>
          <a:prstGeom prst="rect">
            <a:avLst/>
          </a:prstGeom>
          <a:noFill/>
          <a:ln/>
        </p:spPr>
        <p:txBody>
          <a:bodyPr wrap="square" rtlCol="0" anchor="ctr"/>
          <a:lstStyle/>
          <a:p>
            <a:pPr algn="ctr" indent="0" marL="0">
              <a:buNone/>
            </a:pPr>
            <a:r>
              <a:rPr lang="en-US" sz="1400" dirty="0">
                <a:solidFill>
                  <a:srgbClr val="EF4444"/>
                </a:solidFill>
                <a:latin typeface="Arial" pitchFamily="34" charset="0"/>
                <a:ea typeface="Arial" pitchFamily="34" charset="-122"/>
                <a:cs typeface="Arial" pitchFamily="34" charset="-120"/>
              </a:rPr>
              <a:t>☐</a:t>
            </a:r>
            <a:endParaRPr lang="en-US" sz="1400" dirty="0"/>
          </a:p>
        </p:txBody>
      </p:sp>
      <p:sp>
        <p:nvSpPr>
          <p:cNvPr id="28" name="Shape 26"/>
          <p:cNvSpPr/>
          <p:nvPr/>
        </p:nvSpPr>
        <p:spPr>
          <a:xfrm>
            <a:off x="457200" y="4434840"/>
            <a:ext cx="8229600" cy="594360"/>
          </a:xfrm>
          <a:prstGeom prst="rect">
            <a:avLst/>
          </a:prstGeom>
          <a:solidFill>
            <a:srgbClr val="FFFFFF"/>
          </a:solidFill>
          <a:ln/>
        </p:spPr>
      </p:sp>
      <p:sp>
        <p:nvSpPr>
          <p:cNvPr id="29" name="Text 27"/>
          <p:cNvSpPr/>
          <p:nvPr/>
        </p:nvSpPr>
        <p:spPr>
          <a:xfrm>
            <a:off x="457200" y="4434840"/>
            <a:ext cx="4114800" cy="594360"/>
          </a:xfrm>
          <a:prstGeom prst="rect">
            <a:avLst/>
          </a:prstGeom>
          <a:noFill/>
          <a:ln/>
        </p:spPr>
        <p:txBody>
          <a:bodyPr wrap="square" lIns="0" tIns="101600" rIns="0" bIns="0" rtlCol="0" anchor="ctr"/>
          <a:lstStyle/>
          <a:p>
            <a:pPr algn="l" indent="0" marL="0">
              <a:buNone/>
            </a:pPr>
            <a:r>
              <a:rPr lang="en-US" sz="1000" b="1" dirty="0">
                <a:solidFill>
                  <a:srgbClr val="B91C1C"/>
                </a:solidFill>
                <a:latin typeface="Microsoft YaHei" pitchFamily="34" charset="0"/>
                <a:ea typeface="Microsoft YaHei" pitchFamily="34" charset="-122"/>
                <a:cs typeface="Microsoft YaHei" pitchFamily="34" charset="-120"/>
              </a:rPr>
              <a:t>30天行动目标卡</a:t>
            </a:r>
            <a:endParaRPr lang="en-US" sz="1000" dirty="0"/>
          </a:p>
        </p:txBody>
      </p:sp>
      <p:sp>
        <p:nvSpPr>
          <p:cNvPr id="30" name="Text 28"/>
          <p:cNvSpPr/>
          <p:nvPr/>
        </p:nvSpPr>
        <p:spPr>
          <a:xfrm>
            <a:off x="4572000" y="4434840"/>
            <a:ext cx="2743200" cy="594360"/>
          </a:xfrm>
          <a:prstGeom prst="rect">
            <a:avLst/>
          </a:prstGeom>
          <a:noFill/>
          <a:ln/>
        </p:spPr>
        <p:txBody>
          <a:bodyPr wrap="square" rtlCol="0" anchor="ctr"/>
          <a:lstStyle/>
          <a:p>
            <a:pPr algn="ctr" indent="0" marL="0">
              <a:buNone/>
            </a:pPr>
            <a:r>
              <a:rPr lang="en-US" sz="1000" dirty="0">
                <a:solidFill>
                  <a:srgbClr val="374151"/>
                </a:solidFill>
                <a:latin typeface="Microsoft YaHei" pitchFamily="34" charset="0"/>
                <a:ea typeface="Microsoft YaHei" pitchFamily="34" charset="-122"/>
                <a:cs typeface="Microsoft YaHei" pitchFamily="34" charset="-120"/>
              </a:rPr>
              <a:t>第二天下午·练习十二</a:t>
            </a:r>
            <a:endParaRPr lang="en-US" sz="1000" dirty="0"/>
          </a:p>
        </p:txBody>
      </p:sp>
      <p:sp>
        <p:nvSpPr>
          <p:cNvPr id="31" name="Text 29"/>
          <p:cNvSpPr/>
          <p:nvPr/>
        </p:nvSpPr>
        <p:spPr>
          <a:xfrm>
            <a:off x="7315200" y="4434840"/>
            <a:ext cx="1371600" cy="594360"/>
          </a:xfrm>
          <a:prstGeom prst="rect">
            <a:avLst/>
          </a:prstGeom>
          <a:noFill/>
          <a:ln/>
        </p:spPr>
        <p:txBody>
          <a:bodyPr wrap="square" rtlCol="0" anchor="ctr"/>
          <a:lstStyle/>
          <a:p>
            <a:pPr algn="ctr" indent="0" marL="0">
              <a:buNone/>
            </a:pPr>
            <a:r>
              <a:rPr lang="en-US" sz="1400" dirty="0">
                <a:solidFill>
                  <a:srgbClr val="EF4444"/>
                </a:solidFill>
                <a:latin typeface="Arial" pitchFamily="34" charset="0"/>
                <a:ea typeface="Arial" pitchFamily="34" charset="-122"/>
                <a:cs typeface="Arial" pitchFamily="34" charset="-120"/>
              </a:rPr>
              <a:t>☐</a:t>
            </a:r>
            <a:endParaRPr lang="en-US" sz="1400" dirty="0"/>
          </a:p>
        </p:txBody>
      </p:sp>
      <p:sp>
        <p:nvSpPr>
          <p:cNvPr id="32" name="Text 30"/>
          <p:cNvSpPr/>
          <p:nvPr/>
        </p:nvSpPr>
        <p:spPr>
          <a:xfrm>
            <a:off x="8503920" y="4663440"/>
            <a:ext cx="457200" cy="274320"/>
          </a:xfrm>
          <a:prstGeom prst="rect">
            <a:avLst/>
          </a:prstGeom>
          <a:noFill/>
          <a:ln/>
        </p:spPr>
        <p:txBody>
          <a:bodyPr wrap="square" rtlCol="0" anchor="ctr"/>
          <a:lstStyle/>
          <a:p>
            <a:pPr algn="ctr" indent="0" marL="0">
              <a:buNone/>
            </a:pPr>
            <a:r>
              <a:rPr lang="en-US" sz="1000" dirty="0">
                <a:solidFill>
                  <a:srgbClr val="374151"/>
                </a:solidFill>
                <a:latin typeface="Arial" pitchFamily="34" charset="0"/>
                <a:ea typeface="Arial" pitchFamily="34" charset="-122"/>
                <a:cs typeface="Arial" pitchFamily="34" charset="-120"/>
              </a:rPr>
              <a:t>152</a:t>
            </a:r>
            <a:endParaRPr lang="en-US" sz="1000"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B91C1C"/>
          </a:solidFill>
          <a:ln/>
        </p:spPr>
      </p:sp>
      <p:sp>
        <p:nvSpPr>
          <p:cNvPr id="3" name="Text 1"/>
          <p:cNvSpPr/>
          <p:nvPr/>
        </p:nvSpPr>
        <p:spPr>
          <a:xfrm>
            <a:off x="457200" y="2194560"/>
            <a:ext cx="8229600" cy="1097280"/>
          </a:xfrm>
          <a:prstGeom prst="rect">
            <a:avLst/>
          </a:prstGeom>
          <a:noFill/>
          <a:ln/>
        </p:spPr>
        <p:txBody>
          <a:bodyPr wrap="square" rtlCol="0" anchor="ctr"/>
          <a:lstStyle/>
          <a:p>
            <a:pPr indent="0" marL="0">
              <a:buNone/>
            </a:pPr>
            <a:r>
              <a:rPr lang="en-US" sz="5400" b="1" dirty="0">
                <a:solidFill>
                  <a:srgbClr val="FFFFFF"/>
                </a:solidFill>
                <a:latin typeface="Microsoft YaHei" pitchFamily="34" charset="0"/>
                <a:ea typeface="Microsoft YaHei" pitchFamily="34" charset="-122"/>
                <a:cs typeface="Microsoft YaHei" pitchFamily="34" charset="-120"/>
              </a:rPr>
              <a:t>课程总结</a:t>
            </a:r>
            <a:endParaRPr lang="en-US" sz="5400" dirty="0"/>
          </a:p>
        </p:txBody>
      </p:sp>
      <p:sp>
        <p:nvSpPr>
          <p:cNvPr id="4" name="Shape 2"/>
          <p:cNvSpPr/>
          <p:nvPr/>
        </p:nvSpPr>
        <p:spPr>
          <a:xfrm>
            <a:off x="457200" y="3931920"/>
            <a:ext cx="1828800" cy="54864"/>
          </a:xfrm>
          <a:prstGeom prst="rect">
            <a:avLst/>
          </a:prstGeom>
          <a:solidFill>
            <a:srgbClr val="EF4444"/>
          </a:solidFill>
          <a:ln/>
        </p:spPr>
      </p:sp>
      <p:sp>
        <p:nvSpPr>
          <p:cNvPr id="5" name="Text 3"/>
          <p:cNvSpPr/>
          <p:nvPr/>
        </p:nvSpPr>
        <p:spPr>
          <a:xfrm>
            <a:off x="8503920" y="4663440"/>
            <a:ext cx="457200" cy="274320"/>
          </a:xfrm>
          <a:prstGeom prst="rect">
            <a:avLst/>
          </a:prstGeom>
          <a:noFill/>
          <a:ln/>
        </p:spPr>
        <p:txBody>
          <a:bodyPr wrap="square" rtlCol="0" anchor="ctr"/>
          <a:lstStyle/>
          <a:p>
            <a:pPr algn="ctr" indent="0" marL="0">
              <a:buNone/>
            </a:pPr>
            <a:r>
              <a:rPr lang="en-US" sz="1000" dirty="0">
                <a:solidFill>
                  <a:srgbClr val="FFFFFF"/>
                </a:solidFill>
                <a:latin typeface="Arial" pitchFamily="34" charset="0"/>
                <a:ea typeface="Arial" pitchFamily="34" charset="-122"/>
                <a:cs typeface="Arial" pitchFamily="34" charset="-120"/>
              </a:rPr>
              <a:t>153</a:t>
            </a:r>
            <a:endParaRPr lang="en-US" sz="1000"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274320"/>
            <a:ext cx="8229600" cy="457200"/>
          </a:xfrm>
          <a:prstGeom prst="rect">
            <a:avLst/>
          </a:prstGeom>
          <a:noFill/>
          <a:ln/>
        </p:spPr>
        <p:txBody>
          <a:bodyPr wrap="square" rtlCol="0" anchor="ctr"/>
          <a:lstStyle/>
          <a:p>
            <a:pPr indent="0" marL="0">
              <a:buNone/>
            </a:pPr>
            <a:r>
              <a:rPr lang="en-US" sz="1800" b="1" dirty="0">
                <a:solidFill>
                  <a:srgbClr val="B91C1C"/>
                </a:solidFill>
                <a:latin typeface="Microsoft YaHei" pitchFamily="34" charset="0"/>
                <a:ea typeface="Microsoft YaHei" pitchFamily="34" charset="-122"/>
                <a:cs typeface="Microsoft YaHei" pitchFamily="34" charset="-120"/>
              </a:rPr>
              <a:t>课程整体知识框架</a:t>
            </a:r>
            <a:endParaRPr lang="en-US" sz="1800" dirty="0"/>
          </a:p>
        </p:txBody>
      </p:sp>
      <p:sp>
        <p:nvSpPr>
          <p:cNvPr id="4" name="Shape 2"/>
          <p:cNvSpPr/>
          <p:nvPr/>
        </p:nvSpPr>
        <p:spPr>
          <a:xfrm>
            <a:off x="457200" y="822960"/>
            <a:ext cx="8229600" cy="4023360"/>
          </a:xfrm>
          <a:prstGeom prst="roundRect">
            <a:avLst>
              <a:gd name="adj" fmla="val 2273"/>
            </a:avLst>
          </a:prstGeom>
          <a:solidFill>
            <a:srgbClr val="F3F4F6"/>
          </a:solidFill>
          <a:ln/>
        </p:spPr>
      </p:sp>
      <p:sp>
        <p:nvSpPr>
          <p:cNvPr id="5" name="Text 3"/>
          <p:cNvSpPr/>
          <p:nvPr/>
        </p:nvSpPr>
        <p:spPr>
          <a:xfrm>
            <a:off x="640080" y="914400"/>
            <a:ext cx="7863840" cy="457200"/>
          </a:xfrm>
          <a:prstGeom prst="rect">
            <a:avLst/>
          </a:prstGeom>
          <a:noFill/>
          <a:ln/>
        </p:spPr>
        <p:txBody>
          <a:bodyPr wrap="square" rtlCol="0" anchor="ctr"/>
          <a:lstStyle/>
          <a:p>
            <a:pPr indent="0" marL="0">
              <a:buNone/>
            </a:pPr>
            <a:r>
              <a:rPr lang="en-US" sz="1400" b="1" dirty="0">
                <a:solidFill>
                  <a:srgbClr val="B91C1C"/>
                </a:solidFill>
                <a:latin typeface="Microsoft YaHei" pitchFamily="34" charset="0"/>
                <a:ea typeface="Microsoft YaHei" pitchFamily="34" charset="-122"/>
                <a:cs typeface="Microsoft YaHei" pitchFamily="34" charset="-120"/>
              </a:rPr>
              <a:t>不请假的团队：构建AI数字员工协作体系</a:t>
            </a:r>
            <a:endParaRPr lang="en-US" sz="1400" dirty="0"/>
          </a:p>
        </p:txBody>
      </p:sp>
      <p:sp>
        <p:nvSpPr>
          <p:cNvPr id="6" name="Text 4"/>
          <p:cNvSpPr/>
          <p:nvPr/>
        </p:nvSpPr>
        <p:spPr>
          <a:xfrm>
            <a:off x="822960" y="1463040"/>
            <a:ext cx="7498080" cy="365760"/>
          </a:xfrm>
          <a:prstGeom prst="rect">
            <a:avLst/>
          </a:prstGeom>
          <a:noFill/>
          <a:ln/>
        </p:spPr>
        <p:txBody>
          <a:bodyPr wrap="square" rtlCol="0" anchor="ctr"/>
          <a:lstStyle/>
          <a:p>
            <a:pPr indent="0" marL="0">
              <a:buNone/>
            </a:pPr>
            <a:r>
              <a:rPr lang="en-US" sz="1200" b="1" dirty="0">
                <a:solidFill>
                  <a:srgbClr val="EF4444"/>
                </a:solidFill>
                <a:latin typeface="Microsoft YaHei" pitchFamily="34" charset="0"/>
                <a:ea typeface="Microsoft YaHei" pitchFamily="34" charset="-122"/>
                <a:cs typeface="Microsoft YaHei" pitchFamily="34" charset="-120"/>
              </a:rPr>
              <a:t>├── 第一天：设计与构建</a:t>
            </a:r>
            <a:endParaRPr lang="en-US" sz="1200" dirty="0"/>
          </a:p>
        </p:txBody>
      </p:sp>
      <p:sp>
        <p:nvSpPr>
          <p:cNvPr id="7" name="Text 5"/>
          <p:cNvSpPr/>
          <p:nvPr/>
        </p:nvSpPr>
        <p:spPr>
          <a:xfrm>
            <a:off x="1005840" y="1828800"/>
            <a:ext cx="7315200" cy="365760"/>
          </a:xfrm>
          <a:prstGeom prst="rect">
            <a:avLst/>
          </a:prstGeom>
          <a:noFill/>
          <a:ln/>
        </p:spPr>
        <p:txBody>
          <a:bodyPr wrap="square" rtlCol="0" anchor="ctr"/>
          <a:lstStyle/>
          <a:p>
            <a:pPr indent="0" marL="0">
              <a:buNone/>
            </a:pPr>
            <a:r>
              <a:rPr lang="en-US" sz="1100" dirty="0">
                <a:solidFill>
                  <a:srgbClr val="374151"/>
                </a:solidFill>
                <a:latin typeface="Microsoft YaHei" pitchFamily="34" charset="0"/>
                <a:ea typeface="Microsoft YaHei" pitchFamily="34" charset="-122"/>
                <a:cs typeface="Microsoft YaHei" pitchFamily="34" charset="-120"/>
              </a:rPr>
              <a:t>├── 上午：重新认识数字员工</a:t>
            </a:r>
            <a:endParaRPr lang="en-US" sz="1100" dirty="0"/>
          </a:p>
        </p:txBody>
      </p:sp>
      <p:sp>
        <p:nvSpPr>
          <p:cNvPr id="8" name="Text 6"/>
          <p:cNvSpPr/>
          <p:nvPr/>
        </p:nvSpPr>
        <p:spPr>
          <a:xfrm>
            <a:off x="1005840" y="2194560"/>
            <a:ext cx="7315200" cy="365760"/>
          </a:xfrm>
          <a:prstGeom prst="rect">
            <a:avLst/>
          </a:prstGeom>
          <a:noFill/>
          <a:ln/>
        </p:spPr>
        <p:txBody>
          <a:bodyPr wrap="square" rtlCol="0" anchor="ctr"/>
          <a:lstStyle/>
          <a:p>
            <a:pPr indent="0" marL="0">
              <a:buNone/>
            </a:pPr>
            <a:r>
              <a:rPr lang="en-US" sz="1100" dirty="0">
                <a:solidFill>
                  <a:srgbClr val="374151"/>
                </a:solidFill>
                <a:latin typeface="Microsoft YaHei" pitchFamily="34" charset="0"/>
                <a:ea typeface="Microsoft YaHei" pitchFamily="34" charset="-122"/>
                <a:cs typeface="Microsoft YaHei" pitchFamily="34" charset="-120"/>
              </a:rPr>
              <a:t>└── 下午：萃取、搭建、建库</a:t>
            </a:r>
            <a:endParaRPr lang="en-US" sz="1100" dirty="0"/>
          </a:p>
        </p:txBody>
      </p:sp>
      <p:sp>
        <p:nvSpPr>
          <p:cNvPr id="9" name="Text 7"/>
          <p:cNvSpPr/>
          <p:nvPr/>
        </p:nvSpPr>
        <p:spPr>
          <a:xfrm>
            <a:off x="822960" y="2651760"/>
            <a:ext cx="7498080" cy="365760"/>
          </a:xfrm>
          <a:prstGeom prst="rect">
            <a:avLst/>
          </a:prstGeom>
          <a:noFill/>
          <a:ln/>
        </p:spPr>
        <p:txBody>
          <a:bodyPr wrap="square" rtlCol="0" anchor="ctr"/>
          <a:lstStyle/>
          <a:p>
            <a:pPr indent="0" marL="0">
              <a:buNone/>
            </a:pPr>
            <a:r>
              <a:rPr lang="en-US" sz="1200" b="1" dirty="0">
                <a:solidFill>
                  <a:srgbClr val="EF4444"/>
                </a:solidFill>
                <a:latin typeface="Microsoft YaHei" pitchFamily="34" charset="0"/>
                <a:ea typeface="Microsoft YaHei" pitchFamily="34" charset="-122"/>
                <a:cs typeface="Microsoft YaHei" pitchFamily="34" charset="-120"/>
              </a:rPr>
              <a:t>├── 第二天：验证与系统化</a:t>
            </a:r>
            <a:endParaRPr lang="en-US" sz="1200" dirty="0"/>
          </a:p>
        </p:txBody>
      </p:sp>
      <p:sp>
        <p:nvSpPr>
          <p:cNvPr id="10" name="Text 8"/>
          <p:cNvSpPr/>
          <p:nvPr/>
        </p:nvSpPr>
        <p:spPr>
          <a:xfrm>
            <a:off x="1005840" y="3017520"/>
            <a:ext cx="7315200" cy="365760"/>
          </a:xfrm>
          <a:prstGeom prst="rect">
            <a:avLst/>
          </a:prstGeom>
          <a:noFill/>
          <a:ln/>
        </p:spPr>
        <p:txBody>
          <a:bodyPr wrap="square" rtlCol="0" anchor="ctr"/>
          <a:lstStyle/>
          <a:p>
            <a:pPr indent="0" marL="0">
              <a:buNone/>
            </a:pPr>
            <a:r>
              <a:rPr lang="en-US" sz="1100" dirty="0">
                <a:solidFill>
                  <a:srgbClr val="374151"/>
                </a:solidFill>
                <a:latin typeface="Microsoft YaHei" pitchFamily="34" charset="0"/>
                <a:ea typeface="Microsoft YaHei" pitchFamily="34" charset="-122"/>
                <a:cs typeface="Microsoft YaHei" pitchFamily="34" charset="-120"/>
              </a:rPr>
              <a:t>├── 上午：验收与激活</a:t>
            </a:r>
            <a:endParaRPr lang="en-US" sz="1100" dirty="0"/>
          </a:p>
        </p:txBody>
      </p:sp>
      <p:sp>
        <p:nvSpPr>
          <p:cNvPr id="11" name="Text 9"/>
          <p:cNvSpPr/>
          <p:nvPr/>
        </p:nvSpPr>
        <p:spPr>
          <a:xfrm>
            <a:off x="1005840" y="3383280"/>
            <a:ext cx="7315200" cy="365760"/>
          </a:xfrm>
          <a:prstGeom prst="rect">
            <a:avLst/>
          </a:prstGeom>
          <a:noFill/>
          <a:ln/>
        </p:spPr>
        <p:txBody>
          <a:bodyPr wrap="square" rtlCol="0" anchor="ctr"/>
          <a:lstStyle/>
          <a:p>
            <a:pPr indent="0" marL="0">
              <a:buNone/>
            </a:pPr>
            <a:r>
              <a:rPr lang="en-US" sz="1100" dirty="0">
                <a:solidFill>
                  <a:srgbClr val="374151"/>
                </a:solidFill>
                <a:latin typeface="Microsoft YaHei" pitchFamily="34" charset="0"/>
                <a:ea typeface="Microsoft YaHei" pitchFamily="34" charset="-122"/>
                <a:cs typeface="Microsoft YaHei" pitchFamily="34" charset="-120"/>
              </a:rPr>
              <a:t>└── 下午：协作、迭代、落地</a:t>
            </a:r>
            <a:endParaRPr lang="en-US" sz="1100" dirty="0"/>
          </a:p>
        </p:txBody>
      </p:sp>
      <p:sp>
        <p:nvSpPr>
          <p:cNvPr id="12" name="Text 10"/>
          <p:cNvSpPr/>
          <p:nvPr/>
        </p:nvSpPr>
        <p:spPr>
          <a:xfrm>
            <a:off x="822960" y="3840480"/>
            <a:ext cx="7498080" cy="365760"/>
          </a:xfrm>
          <a:prstGeom prst="rect">
            <a:avLst/>
          </a:prstGeom>
          <a:noFill/>
          <a:ln/>
        </p:spPr>
        <p:txBody>
          <a:bodyPr wrap="square" rtlCol="0" anchor="ctr"/>
          <a:lstStyle/>
          <a:p>
            <a:pPr indent="0" marL="0">
              <a:buNone/>
            </a:pPr>
            <a:r>
              <a:rPr lang="en-US" sz="1200" b="1" dirty="0">
                <a:solidFill>
                  <a:srgbClr val="EF4444"/>
                </a:solidFill>
                <a:latin typeface="Microsoft YaHei" pitchFamily="34" charset="0"/>
                <a:ea typeface="Microsoft YaHei" pitchFamily="34" charset="-122"/>
                <a:cs typeface="Microsoft YaHei" pitchFamily="34" charset="-120"/>
              </a:rPr>
              <a:t>└── 两天带走的四样成果</a:t>
            </a:r>
            <a:endParaRPr lang="en-US" sz="1200" dirty="0"/>
          </a:p>
        </p:txBody>
      </p:sp>
      <p:sp>
        <p:nvSpPr>
          <p:cNvPr id="13" name="Text 11"/>
          <p:cNvSpPr/>
          <p:nvPr/>
        </p:nvSpPr>
        <p:spPr>
          <a:xfrm>
            <a:off x="1005840" y="4206240"/>
            <a:ext cx="7315200" cy="365760"/>
          </a:xfrm>
          <a:prstGeom prst="rect">
            <a:avLst/>
          </a:prstGeom>
          <a:noFill/>
          <a:ln/>
        </p:spPr>
        <p:txBody>
          <a:bodyPr wrap="square" rtlCol="0" anchor="ctr"/>
          <a:lstStyle/>
          <a:p>
            <a:pPr indent="0" marL="0">
              <a:buNone/>
            </a:pPr>
            <a:r>
              <a:rPr lang="en-US" sz="1100" dirty="0">
                <a:solidFill>
                  <a:srgbClr val="374151"/>
                </a:solidFill>
                <a:latin typeface="Microsoft YaHei" pitchFamily="34" charset="0"/>
                <a:ea typeface="Microsoft YaHei" pitchFamily="34" charset="-122"/>
                <a:cs typeface="Microsoft YaHei" pitchFamily="34" charset="-120"/>
              </a:rPr>
              <a:t>├── 数字员工蓝图</a:t>
            </a:r>
            <a:endParaRPr lang="en-US" sz="1100" dirty="0"/>
          </a:p>
        </p:txBody>
      </p:sp>
      <p:sp>
        <p:nvSpPr>
          <p:cNvPr id="14" name="Text 12"/>
          <p:cNvSpPr/>
          <p:nvPr/>
        </p:nvSpPr>
        <p:spPr>
          <a:xfrm>
            <a:off x="1005840" y="4572000"/>
            <a:ext cx="7315200" cy="365760"/>
          </a:xfrm>
          <a:prstGeom prst="rect">
            <a:avLst/>
          </a:prstGeom>
          <a:noFill/>
          <a:ln/>
        </p:spPr>
        <p:txBody>
          <a:bodyPr wrap="square" rtlCol="0" anchor="ctr"/>
          <a:lstStyle/>
          <a:p>
            <a:pPr indent="0" marL="0">
              <a:buNone/>
            </a:pPr>
            <a:r>
              <a:rPr lang="en-US" sz="1100" dirty="0">
                <a:solidFill>
                  <a:srgbClr val="374151"/>
                </a:solidFill>
                <a:latin typeface="Microsoft YaHei" pitchFamily="34" charset="0"/>
                <a:ea typeface="Microsoft YaHei" pitchFamily="34" charset="-122"/>
                <a:cs typeface="Microsoft YaHei" pitchFamily="34" charset="-120"/>
              </a:rPr>
              <a:t>├── 2个以上验证过的专属Skill</a:t>
            </a:r>
            <a:endParaRPr lang="en-US" sz="1100" dirty="0"/>
          </a:p>
        </p:txBody>
      </p:sp>
      <p:sp>
        <p:nvSpPr>
          <p:cNvPr id="15" name="Text 13"/>
          <p:cNvSpPr/>
          <p:nvPr/>
        </p:nvSpPr>
        <p:spPr>
          <a:xfrm>
            <a:off x="1005840" y="4937760"/>
            <a:ext cx="7315200" cy="365760"/>
          </a:xfrm>
          <a:prstGeom prst="rect">
            <a:avLst/>
          </a:prstGeom>
          <a:noFill/>
          <a:ln/>
        </p:spPr>
        <p:txBody>
          <a:bodyPr wrap="square" rtlCol="0" anchor="ctr"/>
          <a:lstStyle/>
          <a:p>
            <a:pPr indent="0" marL="0">
              <a:buNone/>
            </a:pPr>
            <a:r>
              <a:rPr lang="en-US" sz="1100" dirty="0">
                <a:solidFill>
                  <a:srgbClr val="374151"/>
                </a:solidFill>
                <a:latin typeface="Microsoft YaHei" pitchFamily="34" charset="0"/>
                <a:ea typeface="Microsoft YaHei" pitchFamily="34" charset="-122"/>
                <a:cs typeface="Microsoft YaHei" pitchFamily="34" charset="-120"/>
              </a:rPr>
              <a:t>├── 知识库资产初版</a:t>
            </a:r>
            <a:endParaRPr lang="en-US" sz="1100" dirty="0"/>
          </a:p>
        </p:txBody>
      </p:sp>
      <p:sp>
        <p:nvSpPr>
          <p:cNvPr id="16" name="Text 14"/>
          <p:cNvSpPr/>
          <p:nvPr/>
        </p:nvSpPr>
        <p:spPr>
          <a:xfrm>
            <a:off x="1005840" y="5303520"/>
            <a:ext cx="7315200" cy="365760"/>
          </a:xfrm>
          <a:prstGeom prst="rect">
            <a:avLst/>
          </a:prstGeom>
          <a:noFill/>
          <a:ln/>
        </p:spPr>
        <p:txBody>
          <a:bodyPr wrap="square" rtlCol="0" anchor="ctr"/>
          <a:lstStyle/>
          <a:p>
            <a:pPr indent="0" marL="0">
              <a:buNone/>
            </a:pPr>
            <a:r>
              <a:rPr lang="en-US" sz="1100" dirty="0">
                <a:solidFill>
                  <a:srgbClr val="374151"/>
                </a:solidFill>
                <a:latin typeface="Microsoft YaHei" pitchFamily="34" charset="0"/>
                <a:ea typeface="Microsoft YaHei" pitchFamily="34" charset="-122"/>
                <a:cs typeface="Microsoft YaHei" pitchFamily="34" charset="-120"/>
              </a:rPr>
              <a:t>└── 团队部署计划 + 30天行动目标卡</a:t>
            </a:r>
            <a:endParaRPr lang="en-US" sz="1100" dirty="0"/>
          </a:p>
        </p:txBody>
      </p:sp>
      <p:sp>
        <p:nvSpPr>
          <p:cNvPr id="17" name="Text 15"/>
          <p:cNvSpPr/>
          <p:nvPr/>
        </p:nvSpPr>
        <p:spPr>
          <a:xfrm>
            <a:off x="8503920" y="4663440"/>
            <a:ext cx="457200" cy="274320"/>
          </a:xfrm>
          <a:prstGeom prst="rect">
            <a:avLst/>
          </a:prstGeom>
          <a:noFill/>
          <a:ln/>
        </p:spPr>
        <p:txBody>
          <a:bodyPr wrap="square" rtlCol="0" anchor="ctr"/>
          <a:lstStyle/>
          <a:p>
            <a:pPr algn="ctr" indent="0" marL="0">
              <a:buNone/>
            </a:pPr>
            <a:r>
              <a:rPr lang="en-US" sz="1000" dirty="0">
                <a:solidFill>
                  <a:srgbClr val="374151"/>
                </a:solidFill>
                <a:latin typeface="Arial" pitchFamily="34" charset="0"/>
                <a:ea typeface="Arial" pitchFamily="34" charset="-122"/>
                <a:cs typeface="Arial" pitchFamily="34" charset="-120"/>
              </a:rPr>
              <a:t>154</a:t>
            </a:r>
            <a:endParaRPr lang="en-US" sz="1000"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274320"/>
            <a:ext cx="8229600" cy="457200"/>
          </a:xfrm>
          <a:prstGeom prst="rect">
            <a:avLst/>
          </a:prstGeom>
          <a:noFill/>
          <a:ln/>
        </p:spPr>
        <p:txBody>
          <a:bodyPr wrap="square" rtlCol="0" anchor="ctr"/>
          <a:lstStyle/>
          <a:p>
            <a:pPr indent="0" marL="0">
              <a:buNone/>
            </a:pPr>
            <a:r>
              <a:rPr lang="en-US" sz="1800" b="1" dirty="0">
                <a:solidFill>
                  <a:srgbClr val="B91C1C"/>
                </a:solidFill>
                <a:latin typeface="Microsoft YaHei" pitchFamily="34" charset="0"/>
                <a:ea typeface="Microsoft YaHei" pitchFamily="34" charset="-122"/>
                <a:cs typeface="Microsoft YaHei" pitchFamily="34" charset="-120"/>
              </a:rPr>
              <a:t>四样成果回顾</a:t>
            </a:r>
            <a:endParaRPr lang="en-US" sz="1800" dirty="0"/>
          </a:p>
        </p:txBody>
      </p:sp>
      <p:sp>
        <p:nvSpPr>
          <p:cNvPr id="4" name="Shape 2"/>
          <p:cNvSpPr/>
          <p:nvPr/>
        </p:nvSpPr>
        <p:spPr>
          <a:xfrm>
            <a:off x="457200" y="914400"/>
            <a:ext cx="4023360" cy="1737360"/>
          </a:xfrm>
          <a:prstGeom prst="roundRect">
            <a:avLst>
              <a:gd name="adj" fmla="val 5263"/>
            </a:avLst>
          </a:prstGeom>
          <a:solidFill>
            <a:srgbClr val="F3F4F6"/>
          </a:solidFill>
          <a:ln/>
        </p:spPr>
      </p:sp>
      <p:sp>
        <p:nvSpPr>
          <p:cNvPr id="5" name="Shape 3"/>
          <p:cNvSpPr/>
          <p:nvPr/>
        </p:nvSpPr>
        <p:spPr>
          <a:xfrm>
            <a:off x="594360" y="1051560"/>
            <a:ext cx="640080" cy="640080"/>
          </a:xfrm>
          <a:prstGeom prst="roundRect">
            <a:avLst>
              <a:gd name="adj" fmla="val 14286"/>
            </a:avLst>
          </a:prstGeom>
          <a:solidFill>
            <a:srgbClr val="EF4444"/>
          </a:solidFill>
          <a:ln/>
        </p:spPr>
      </p:sp>
      <p:sp>
        <p:nvSpPr>
          <p:cNvPr id="6" name="Text 4"/>
          <p:cNvSpPr/>
          <p:nvPr/>
        </p:nvSpPr>
        <p:spPr>
          <a:xfrm>
            <a:off x="594360" y="1051560"/>
            <a:ext cx="640080" cy="64008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01</a:t>
            </a:r>
            <a:endParaRPr lang="en-US" sz="1800" dirty="0"/>
          </a:p>
        </p:txBody>
      </p:sp>
      <p:sp>
        <p:nvSpPr>
          <p:cNvPr id="7" name="Text 5"/>
          <p:cNvSpPr/>
          <p:nvPr/>
        </p:nvSpPr>
        <p:spPr>
          <a:xfrm>
            <a:off x="1371600" y="1097280"/>
            <a:ext cx="2926080" cy="457200"/>
          </a:xfrm>
          <a:prstGeom prst="rect">
            <a:avLst/>
          </a:prstGeom>
          <a:noFill/>
          <a:ln/>
        </p:spPr>
        <p:txBody>
          <a:bodyPr wrap="square" rtlCol="0" anchor="ctr"/>
          <a:lstStyle/>
          <a:p>
            <a:pPr indent="0" marL="0">
              <a:buNone/>
            </a:pPr>
            <a:r>
              <a:rPr lang="en-US" sz="1400" b="1" dirty="0">
                <a:solidFill>
                  <a:srgbClr val="B91C1C"/>
                </a:solidFill>
                <a:latin typeface="Microsoft YaHei" pitchFamily="34" charset="0"/>
                <a:ea typeface="Microsoft YaHei" pitchFamily="34" charset="-122"/>
                <a:cs typeface="Microsoft YaHei" pitchFamily="34" charset="-120"/>
              </a:rPr>
              <a:t>数字员工蓝图</a:t>
            </a:r>
            <a:endParaRPr lang="en-US" sz="1400" dirty="0"/>
          </a:p>
        </p:txBody>
      </p:sp>
      <p:sp>
        <p:nvSpPr>
          <p:cNvPr id="8" name="Text 6"/>
          <p:cNvSpPr/>
          <p:nvPr/>
        </p:nvSpPr>
        <p:spPr>
          <a:xfrm>
            <a:off x="594360" y="1783080"/>
            <a:ext cx="3749040" cy="731520"/>
          </a:xfrm>
          <a:prstGeom prst="rect">
            <a:avLst/>
          </a:prstGeom>
          <a:noFill/>
          <a:ln/>
        </p:spPr>
        <p:txBody>
          <a:bodyPr wrap="square" rtlCol="0" anchor="ctr"/>
          <a:lstStyle/>
          <a:p>
            <a:pPr indent="0" marL="0">
              <a:buNone/>
            </a:pPr>
            <a:r>
              <a:rPr lang="en-US" sz="1100" dirty="0">
                <a:solidFill>
                  <a:srgbClr val="374151"/>
                </a:solidFill>
                <a:latin typeface="Microsoft YaHei" pitchFamily="34" charset="0"/>
                <a:ea typeface="Microsoft YaHei" pitchFamily="34" charset="-122"/>
                <a:cs typeface="Microsoft YaHei" pitchFamily="34" charset="-120"/>
              </a:rPr>
              <a:t>你这个岗位的数字员工规划图</a:t>
            </a:r>
            <a:endParaRPr lang="en-US" sz="1100" dirty="0"/>
          </a:p>
        </p:txBody>
      </p:sp>
      <p:sp>
        <p:nvSpPr>
          <p:cNvPr id="9" name="Shape 7"/>
          <p:cNvSpPr/>
          <p:nvPr/>
        </p:nvSpPr>
        <p:spPr>
          <a:xfrm>
            <a:off x="4663440" y="914400"/>
            <a:ext cx="4023360" cy="1737360"/>
          </a:xfrm>
          <a:prstGeom prst="roundRect">
            <a:avLst>
              <a:gd name="adj" fmla="val 5263"/>
            </a:avLst>
          </a:prstGeom>
          <a:solidFill>
            <a:srgbClr val="F3F4F6"/>
          </a:solidFill>
          <a:ln/>
        </p:spPr>
      </p:sp>
      <p:sp>
        <p:nvSpPr>
          <p:cNvPr id="10" name="Shape 8"/>
          <p:cNvSpPr/>
          <p:nvPr/>
        </p:nvSpPr>
        <p:spPr>
          <a:xfrm>
            <a:off x="4800600" y="1051560"/>
            <a:ext cx="640080" cy="640080"/>
          </a:xfrm>
          <a:prstGeom prst="roundRect">
            <a:avLst>
              <a:gd name="adj" fmla="val 14286"/>
            </a:avLst>
          </a:prstGeom>
          <a:solidFill>
            <a:srgbClr val="EF4444"/>
          </a:solidFill>
          <a:ln/>
        </p:spPr>
      </p:sp>
      <p:sp>
        <p:nvSpPr>
          <p:cNvPr id="11" name="Text 9"/>
          <p:cNvSpPr/>
          <p:nvPr/>
        </p:nvSpPr>
        <p:spPr>
          <a:xfrm>
            <a:off x="4800600" y="1051560"/>
            <a:ext cx="640080" cy="64008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02</a:t>
            </a:r>
            <a:endParaRPr lang="en-US" sz="1800" dirty="0"/>
          </a:p>
        </p:txBody>
      </p:sp>
      <p:sp>
        <p:nvSpPr>
          <p:cNvPr id="12" name="Text 10"/>
          <p:cNvSpPr/>
          <p:nvPr/>
        </p:nvSpPr>
        <p:spPr>
          <a:xfrm>
            <a:off x="5577840" y="1097280"/>
            <a:ext cx="2926080" cy="457200"/>
          </a:xfrm>
          <a:prstGeom prst="rect">
            <a:avLst/>
          </a:prstGeom>
          <a:noFill/>
          <a:ln/>
        </p:spPr>
        <p:txBody>
          <a:bodyPr wrap="square" rtlCol="0" anchor="ctr"/>
          <a:lstStyle/>
          <a:p>
            <a:pPr indent="0" marL="0">
              <a:buNone/>
            </a:pPr>
            <a:r>
              <a:rPr lang="en-US" sz="1400" b="1" dirty="0">
                <a:solidFill>
                  <a:srgbClr val="B91C1C"/>
                </a:solidFill>
                <a:latin typeface="Microsoft YaHei" pitchFamily="34" charset="0"/>
                <a:ea typeface="Microsoft YaHei" pitchFamily="34" charset="-122"/>
                <a:cs typeface="Microsoft YaHei" pitchFamily="34" charset="-120"/>
              </a:rPr>
              <a:t>2个以上的专属Skill</a:t>
            </a:r>
            <a:endParaRPr lang="en-US" sz="1400" dirty="0"/>
          </a:p>
        </p:txBody>
      </p:sp>
      <p:sp>
        <p:nvSpPr>
          <p:cNvPr id="13" name="Text 11"/>
          <p:cNvSpPr/>
          <p:nvPr/>
        </p:nvSpPr>
        <p:spPr>
          <a:xfrm>
            <a:off x="4800600" y="1783080"/>
            <a:ext cx="3749040" cy="731520"/>
          </a:xfrm>
          <a:prstGeom prst="rect">
            <a:avLst/>
          </a:prstGeom>
          <a:noFill/>
          <a:ln/>
        </p:spPr>
        <p:txBody>
          <a:bodyPr wrap="square" rtlCol="0" anchor="ctr"/>
          <a:lstStyle/>
          <a:p>
            <a:pPr indent="0" marL="0">
              <a:buNone/>
            </a:pPr>
            <a:r>
              <a:rPr lang="en-US" sz="1100" dirty="0">
                <a:solidFill>
                  <a:srgbClr val="374151"/>
                </a:solidFill>
                <a:latin typeface="Microsoft YaHei" pitchFamily="34" charset="0"/>
                <a:ea typeface="Microsoft YaHei" pitchFamily="34" charset="-122"/>
                <a:cs typeface="Microsoft YaHei" pitchFamily="34" charset="-120"/>
              </a:rPr>
              <a:t>用真实数据跑过两轮迭代</a:t>
            </a:r>
            <a:endParaRPr lang="en-US" sz="1100" dirty="0"/>
          </a:p>
        </p:txBody>
      </p:sp>
      <p:sp>
        <p:nvSpPr>
          <p:cNvPr id="14" name="Shape 12"/>
          <p:cNvSpPr/>
          <p:nvPr/>
        </p:nvSpPr>
        <p:spPr>
          <a:xfrm>
            <a:off x="457200" y="2834640"/>
            <a:ext cx="4023360" cy="1737360"/>
          </a:xfrm>
          <a:prstGeom prst="roundRect">
            <a:avLst>
              <a:gd name="adj" fmla="val 5263"/>
            </a:avLst>
          </a:prstGeom>
          <a:solidFill>
            <a:srgbClr val="F3F4F6"/>
          </a:solidFill>
          <a:ln/>
        </p:spPr>
      </p:sp>
      <p:sp>
        <p:nvSpPr>
          <p:cNvPr id="15" name="Shape 13"/>
          <p:cNvSpPr/>
          <p:nvPr/>
        </p:nvSpPr>
        <p:spPr>
          <a:xfrm>
            <a:off x="594360" y="2971800"/>
            <a:ext cx="640080" cy="640080"/>
          </a:xfrm>
          <a:prstGeom prst="roundRect">
            <a:avLst>
              <a:gd name="adj" fmla="val 14286"/>
            </a:avLst>
          </a:prstGeom>
          <a:solidFill>
            <a:srgbClr val="EF4444"/>
          </a:solidFill>
          <a:ln/>
        </p:spPr>
      </p:sp>
      <p:sp>
        <p:nvSpPr>
          <p:cNvPr id="16" name="Text 14"/>
          <p:cNvSpPr/>
          <p:nvPr/>
        </p:nvSpPr>
        <p:spPr>
          <a:xfrm>
            <a:off x="594360" y="2971800"/>
            <a:ext cx="640080" cy="64008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03</a:t>
            </a:r>
            <a:endParaRPr lang="en-US" sz="1800" dirty="0"/>
          </a:p>
        </p:txBody>
      </p:sp>
      <p:sp>
        <p:nvSpPr>
          <p:cNvPr id="17" name="Text 15"/>
          <p:cNvSpPr/>
          <p:nvPr/>
        </p:nvSpPr>
        <p:spPr>
          <a:xfrm>
            <a:off x="1371600" y="3017520"/>
            <a:ext cx="2926080" cy="457200"/>
          </a:xfrm>
          <a:prstGeom prst="rect">
            <a:avLst/>
          </a:prstGeom>
          <a:noFill/>
          <a:ln/>
        </p:spPr>
        <p:txBody>
          <a:bodyPr wrap="square" rtlCol="0" anchor="ctr"/>
          <a:lstStyle/>
          <a:p>
            <a:pPr indent="0" marL="0">
              <a:buNone/>
            </a:pPr>
            <a:r>
              <a:rPr lang="en-US" sz="1400" b="1" dirty="0">
                <a:solidFill>
                  <a:srgbClr val="B91C1C"/>
                </a:solidFill>
                <a:latin typeface="Microsoft YaHei" pitchFamily="34" charset="0"/>
                <a:ea typeface="Microsoft YaHei" pitchFamily="34" charset="-122"/>
                <a:cs typeface="Microsoft YaHei" pitchFamily="34" charset="-120"/>
              </a:rPr>
              <a:t>知识库资产</a:t>
            </a:r>
            <a:endParaRPr lang="en-US" sz="1400" dirty="0"/>
          </a:p>
        </p:txBody>
      </p:sp>
      <p:sp>
        <p:nvSpPr>
          <p:cNvPr id="18" name="Text 16"/>
          <p:cNvSpPr/>
          <p:nvPr/>
        </p:nvSpPr>
        <p:spPr>
          <a:xfrm>
            <a:off x="594360" y="3703320"/>
            <a:ext cx="3749040" cy="731520"/>
          </a:xfrm>
          <a:prstGeom prst="rect">
            <a:avLst/>
          </a:prstGeom>
          <a:noFill/>
          <a:ln/>
        </p:spPr>
        <p:txBody>
          <a:bodyPr wrap="square" rtlCol="0" anchor="ctr"/>
          <a:lstStyle/>
          <a:p>
            <a:pPr indent="0" marL="0">
              <a:buNone/>
            </a:pPr>
            <a:r>
              <a:rPr lang="en-US" sz="1100" dirty="0">
                <a:solidFill>
                  <a:srgbClr val="374151"/>
                </a:solidFill>
                <a:latin typeface="Microsoft YaHei" pitchFamily="34" charset="0"/>
                <a:ea typeface="Microsoft YaHei" pitchFamily="34" charset="-122"/>
                <a:cs typeface="Microsoft YaHei" pitchFamily="34" charset="-120"/>
              </a:rPr>
              <a:t>业务经验的沉淀</a:t>
            </a:r>
            <a:endParaRPr lang="en-US" sz="1100" dirty="0"/>
          </a:p>
        </p:txBody>
      </p:sp>
      <p:sp>
        <p:nvSpPr>
          <p:cNvPr id="19" name="Shape 17"/>
          <p:cNvSpPr/>
          <p:nvPr/>
        </p:nvSpPr>
        <p:spPr>
          <a:xfrm>
            <a:off x="4663440" y="2834640"/>
            <a:ext cx="4023360" cy="1737360"/>
          </a:xfrm>
          <a:prstGeom prst="roundRect">
            <a:avLst>
              <a:gd name="adj" fmla="val 5263"/>
            </a:avLst>
          </a:prstGeom>
          <a:solidFill>
            <a:srgbClr val="F3F4F6"/>
          </a:solidFill>
          <a:ln/>
        </p:spPr>
      </p:sp>
      <p:sp>
        <p:nvSpPr>
          <p:cNvPr id="20" name="Shape 18"/>
          <p:cNvSpPr/>
          <p:nvPr/>
        </p:nvSpPr>
        <p:spPr>
          <a:xfrm>
            <a:off x="4800600" y="2971800"/>
            <a:ext cx="640080" cy="640080"/>
          </a:xfrm>
          <a:prstGeom prst="roundRect">
            <a:avLst>
              <a:gd name="adj" fmla="val 14286"/>
            </a:avLst>
          </a:prstGeom>
          <a:solidFill>
            <a:srgbClr val="EF4444"/>
          </a:solidFill>
          <a:ln/>
        </p:spPr>
      </p:sp>
      <p:sp>
        <p:nvSpPr>
          <p:cNvPr id="21" name="Text 19"/>
          <p:cNvSpPr/>
          <p:nvPr/>
        </p:nvSpPr>
        <p:spPr>
          <a:xfrm>
            <a:off x="4800600" y="2971800"/>
            <a:ext cx="640080" cy="64008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04</a:t>
            </a:r>
            <a:endParaRPr lang="en-US" sz="1800" dirty="0"/>
          </a:p>
        </p:txBody>
      </p:sp>
      <p:sp>
        <p:nvSpPr>
          <p:cNvPr id="22" name="Text 20"/>
          <p:cNvSpPr/>
          <p:nvPr/>
        </p:nvSpPr>
        <p:spPr>
          <a:xfrm>
            <a:off x="5577840" y="3017520"/>
            <a:ext cx="2926080" cy="457200"/>
          </a:xfrm>
          <a:prstGeom prst="rect">
            <a:avLst/>
          </a:prstGeom>
          <a:noFill/>
          <a:ln/>
        </p:spPr>
        <p:txBody>
          <a:bodyPr wrap="square" rtlCol="0" anchor="ctr"/>
          <a:lstStyle/>
          <a:p>
            <a:pPr indent="0" marL="0">
              <a:buNone/>
            </a:pPr>
            <a:r>
              <a:rPr lang="en-US" sz="1400" b="1" dirty="0">
                <a:solidFill>
                  <a:srgbClr val="B91C1C"/>
                </a:solidFill>
                <a:latin typeface="Microsoft YaHei" pitchFamily="34" charset="0"/>
                <a:ea typeface="Microsoft YaHei" pitchFamily="34" charset="-122"/>
                <a:cs typeface="Microsoft YaHei" pitchFamily="34" charset="-120"/>
              </a:rPr>
              <a:t>团队部署计划</a:t>
            </a:r>
            <a:endParaRPr lang="en-US" sz="1400" dirty="0"/>
          </a:p>
        </p:txBody>
      </p:sp>
      <p:sp>
        <p:nvSpPr>
          <p:cNvPr id="23" name="Text 21"/>
          <p:cNvSpPr/>
          <p:nvPr/>
        </p:nvSpPr>
        <p:spPr>
          <a:xfrm>
            <a:off x="4800600" y="3703320"/>
            <a:ext cx="3749040" cy="731520"/>
          </a:xfrm>
          <a:prstGeom prst="rect">
            <a:avLst/>
          </a:prstGeom>
          <a:noFill/>
          <a:ln/>
        </p:spPr>
        <p:txBody>
          <a:bodyPr wrap="square" rtlCol="0" anchor="ctr"/>
          <a:lstStyle/>
          <a:p>
            <a:pPr indent="0" marL="0">
              <a:buNone/>
            </a:pPr>
            <a:r>
              <a:rPr lang="en-US" sz="1100" dirty="0">
                <a:solidFill>
                  <a:srgbClr val="374151"/>
                </a:solidFill>
                <a:latin typeface="Microsoft YaHei" pitchFamily="34" charset="0"/>
                <a:ea typeface="Microsoft YaHei" pitchFamily="34" charset="-122"/>
                <a:cs typeface="Microsoft YaHei" pitchFamily="34" charset="-120"/>
              </a:rPr>
              <a:t>含定时任务配置、推广方案、30天行动清单</a:t>
            </a:r>
            <a:endParaRPr lang="en-US" sz="1100" dirty="0"/>
          </a:p>
        </p:txBody>
      </p:sp>
      <p:sp>
        <p:nvSpPr>
          <p:cNvPr id="24" name="Text 22"/>
          <p:cNvSpPr/>
          <p:nvPr/>
        </p:nvSpPr>
        <p:spPr>
          <a:xfrm>
            <a:off x="8503920" y="4663440"/>
            <a:ext cx="457200" cy="274320"/>
          </a:xfrm>
          <a:prstGeom prst="rect">
            <a:avLst/>
          </a:prstGeom>
          <a:noFill/>
          <a:ln/>
        </p:spPr>
        <p:txBody>
          <a:bodyPr wrap="square" rtlCol="0" anchor="ctr"/>
          <a:lstStyle/>
          <a:p>
            <a:pPr algn="ctr" indent="0" marL="0">
              <a:buNone/>
            </a:pPr>
            <a:r>
              <a:rPr lang="en-US" sz="1000" dirty="0">
                <a:solidFill>
                  <a:srgbClr val="374151"/>
                </a:solidFill>
                <a:latin typeface="Arial" pitchFamily="34" charset="0"/>
                <a:ea typeface="Arial" pitchFamily="34" charset="-122"/>
                <a:cs typeface="Arial" pitchFamily="34" charset="-120"/>
              </a:rPr>
              <a:t>155</a:t>
            </a:r>
            <a:endParaRPr lang="en-US" sz="1000"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274320"/>
            <a:ext cx="8229600" cy="457200"/>
          </a:xfrm>
          <a:prstGeom prst="rect">
            <a:avLst/>
          </a:prstGeom>
          <a:noFill/>
          <a:ln/>
        </p:spPr>
        <p:txBody>
          <a:bodyPr wrap="square" rtlCol="0" anchor="ctr"/>
          <a:lstStyle/>
          <a:p>
            <a:pPr indent="0" marL="0">
              <a:buNone/>
            </a:pPr>
            <a:r>
              <a:rPr lang="en-US" sz="1800" b="1" dirty="0">
                <a:solidFill>
                  <a:srgbClr val="B91C1C"/>
                </a:solidFill>
                <a:latin typeface="Microsoft YaHei" pitchFamily="34" charset="0"/>
                <a:ea typeface="Microsoft YaHei" pitchFamily="34" charset="-122"/>
                <a:cs typeface="Microsoft YaHei" pitchFamily="34" charset="-120"/>
              </a:rPr>
              <a:t>核心方法论</a:t>
            </a:r>
            <a:endParaRPr lang="en-US" sz="1800" dirty="0"/>
          </a:p>
        </p:txBody>
      </p:sp>
      <p:sp>
        <p:nvSpPr>
          <p:cNvPr id="4" name="Shape 2"/>
          <p:cNvSpPr/>
          <p:nvPr/>
        </p:nvSpPr>
        <p:spPr>
          <a:xfrm>
            <a:off x="457200" y="914400"/>
            <a:ext cx="8229600" cy="1188720"/>
          </a:xfrm>
          <a:prstGeom prst="roundRect">
            <a:avLst>
              <a:gd name="adj" fmla="val 7692"/>
            </a:avLst>
          </a:prstGeom>
          <a:solidFill>
            <a:srgbClr val="F3F4F6"/>
          </a:solidFill>
          <a:ln/>
        </p:spPr>
      </p:sp>
      <p:sp>
        <p:nvSpPr>
          <p:cNvPr id="5" name="Shape 3"/>
          <p:cNvSpPr/>
          <p:nvPr/>
        </p:nvSpPr>
        <p:spPr>
          <a:xfrm>
            <a:off x="457200" y="914400"/>
            <a:ext cx="73152" cy="1188720"/>
          </a:xfrm>
          <a:prstGeom prst="rect">
            <a:avLst/>
          </a:prstGeom>
          <a:solidFill>
            <a:srgbClr val="EF4444"/>
          </a:solidFill>
          <a:ln/>
        </p:spPr>
      </p:sp>
      <p:sp>
        <p:nvSpPr>
          <p:cNvPr id="6" name="Text 4"/>
          <p:cNvSpPr/>
          <p:nvPr/>
        </p:nvSpPr>
        <p:spPr>
          <a:xfrm>
            <a:off x="731520" y="1051560"/>
            <a:ext cx="7772400" cy="457200"/>
          </a:xfrm>
          <a:prstGeom prst="rect">
            <a:avLst/>
          </a:prstGeom>
          <a:noFill/>
          <a:ln/>
        </p:spPr>
        <p:txBody>
          <a:bodyPr wrap="square" rtlCol="0" anchor="ctr"/>
          <a:lstStyle/>
          <a:p>
            <a:pPr indent="0" marL="0">
              <a:buNone/>
            </a:pPr>
            <a:r>
              <a:rPr lang="en-US" sz="1500" b="1" dirty="0">
                <a:solidFill>
                  <a:srgbClr val="B91C1C"/>
                </a:solidFill>
                <a:latin typeface="Microsoft YaHei" pitchFamily="34" charset="0"/>
                <a:ea typeface="Microsoft YaHei" pitchFamily="34" charset="-122"/>
                <a:cs typeface="Microsoft YaHei" pitchFamily="34" charset="-120"/>
              </a:rPr>
              <a:t>从工具到员工</a:t>
            </a:r>
            <a:endParaRPr lang="en-US" sz="1500" dirty="0"/>
          </a:p>
        </p:txBody>
      </p:sp>
      <p:sp>
        <p:nvSpPr>
          <p:cNvPr id="7" name="Text 5"/>
          <p:cNvSpPr/>
          <p:nvPr/>
        </p:nvSpPr>
        <p:spPr>
          <a:xfrm>
            <a:off x="731520" y="1508760"/>
            <a:ext cx="7772400" cy="457200"/>
          </a:xfrm>
          <a:prstGeom prst="rect">
            <a:avLst/>
          </a:prstGeom>
          <a:noFill/>
          <a:ln/>
        </p:spPr>
        <p:txBody>
          <a:bodyPr wrap="square" rtlCol="0" anchor="ctr"/>
          <a:lstStyle/>
          <a:p>
            <a:pPr indent="0" marL="0">
              <a:buNone/>
            </a:pPr>
            <a:r>
              <a:rPr lang="en-US" sz="1200" dirty="0">
                <a:solidFill>
                  <a:srgbClr val="374151"/>
                </a:solidFill>
                <a:latin typeface="Microsoft YaHei" pitchFamily="34" charset="0"/>
                <a:ea typeface="Microsoft YaHei" pitchFamily="34" charset="-122"/>
                <a:cs typeface="Microsoft YaHei" pitchFamily="34" charset="-120"/>
              </a:rPr>
              <a:t>不是你每次输入，而是AI按角色和规则执行</a:t>
            </a:r>
            <a:endParaRPr lang="en-US" sz="1200" dirty="0"/>
          </a:p>
        </p:txBody>
      </p:sp>
      <p:sp>
        <p:nvSpPr>
          <p:cNvPr id="8" name="Shape 6"/>
          <p:cNvSpPr/>
          <p:nvPr/>
        </p:nvSpPr>
        <p:spPr>
          <a:xfrm>
            <a:off x="457200" y="2240280"/>
            <a:ext cx="8229600" cy="1188720"/>
          </a:xfrm>
          <a:prstGeom prst="roundRect">
            <a:avLst>
              <a:gd name="adj" fmla="val 7692"/>
            </a:avLst>
          </a:prstGeom>
          <a:solidFill>
            <a:srgbClr val="F3F4F6"/>
          </a:solidFill>
          <a:ln/>
        </p:spPr>
      </p:sp>
      <p:sp>
        <p:nvSpPr>
          <p:cNvPr id="9" name="Shape 7"/>
          <p:cNvSpPr/>
          <p:nvPr/>
        </p:nvSpPr>
        <p:spPr>
          <a:xfrm>
            <a:off x="457200" y="2240280"/>
            <a:ext cx="73152" cy="1188720"/>
          </a:xfrm>
          <a:prstGeom prst="rect">
            <a:avLst/>
          </a:prstGeom>
          <a:solidFill>
            <a:srgbClr val="EF4444"/>
          </a:solidFill>
          <a:ln/>
        </p:spPr>
      </p:sp>
      <p:sp>
        <p:nvSpPr>
          <p:cNvPr id="10" name="Text 8"/>
          <p:cNvSpPr/>
          <p:nvPr/>
        </p:nvSpPr>
        <p:spPr>
          <a:xfrm>
            <a:off x="731520" y="2377440"/>
            <a:ext cx="7772400" cy="457200"/>
          </a:xfrm>
          <a:prstGeom prst="rect">
            <a:avLst/>
          </a:prstGeom>
          <a:noFill/>
          <a:ln/>
        </p:spPr>
        <p:txBody>
          <a:bodyPr wrap="square" rtlCol="0" anchor="ctr"/>
          <a:lstStyle/>
          <a:p>
            <a:pPr indent="0" marL="0">
              <a:buNone/>
            </a:pPr>
            <a:r>
              <a:rPr lang="en-US" sz="1500" b="1" dirty="0">
                <a:solidFill>
                  <a:srgbClr val="B91C1C"/>
                </a:solidFill>
                <a:latin typeface="Microsoft YaHei" pitchFamily="34" charset="0"/>
                <a:ea typeface="Microsoft YaHei" pitchFamily="34" charset="-122"/>
                <a:cs typeface="Microsoft YaHei" pitchFamily="34" charset="-120"/>
              </a:rPr>
              <a:t>从规则到知识库</a:t>
            </a:r>
            <a:endParaRPr lang="en-US" sz="1500" dirty="0"/>
          </a:p>
        </p:txBody>
      </p:sp>
      <p:sp>
        <p:nvSpPr>
          <p:cNvPr id="11" name="Text 9"/>
          <p:cNvSpPr/>
          <p:nvPr/>
        </p:nvSpPr>
        <p:spPr>
          <a:xfrm>
            <a:off x="731520" y="2834640"/>
            <a:ext cx="7772400" cy="457200"/>
          </a:xfrm>
          <a:prstGeom prst="rect">
            <a:avLst/>
          </a:prstGeom>
          <a:noFill/>
          <a:ln/>
        </p:spPr>
        <p:txBody>
          <a:bodyPr wrap="square" rtlCol="0" anchor="ctr"/>
          <a:lstStyle/>
          <a:p>
            <a:pPr indent="0" marL="0">
              <a:buNone/>
            </a:pPr>
            <a:r>
              <a:rPr lang="en-US" sz="1200" dirty="0">
                <a:solidFill>
                  <a:srgbClr val="374151"/>
                </a:solidFill>
                <a:latin typeface="Microsoft YaHei" pitchFamily="34" charset="0"/>
                <a:ea typeface="Microsoft YaHei" pitchFamily="34" charset="-122"/>
                <a:cs typeface="Microsoft YaHei" pitchFamily="34" charset="-120"/>
              </a:rPr>
              <a:t>规则管怎么做，知识库管凭什么做</a:t>
            </a:r>
            <a:endParaRPr lang="en-US" sz="1200" dirty="0"/>
          </a:p>
        </p:txBody>
      </p:sp>
      <p:sp>
        <p:nvSpPr>
          <p:cNvPr id="12" name="Shape 10"/>
          <p:cNvSpPr/>
          <p:nvPr/>
        </p:nvSpPr>
        <p:spPr>
          <a:xfrm>
            <a:off x="457200" y="3566160"/>
            <a:ext cx="8229600" cy="1188720"/>
          </a:xfrm>
          <a:prstGeom prst="roundRect">
            <a:avLst>
              <a:gd name="adj" fmla="val 7692"/>
            </a:avLst>
          </a:prstGeom>
          <a:solidFill>
            <a:srgbClr val="F3F4F6"/>
          </a:solidFill>
          <a:ln/>
        </p:spPr>
      </p:sp>
      <p:sp>
        <p:nvSpPr>
          <p:cNvPr id="13" name="Shape 11"/>
          <p:cNvSpPr/>
          <p:nvPr/>
        </p:nvSpPr>
        <p:spPr>
          <a:xfrm>
            <a:off x="457200" y="3566160"/>
            <a:ext cx="73152" cy="1188720"/>
          </a:xfrm>
          <a:prstGeom prst="rect">
            <a:avLst/>
          </a:prstGeom>
          <a:solidFill>
            <a:srgbClr val="EF4444"/>
          </a:solidFill>
          <a:ln/>
        </p:spPr>
      </p:sp>
      <p:sp>
        <p:nvSpPr>
          <p:cNvPr id="14" name="Text 12"/>
          <p:cNvSpPr/>
          <p:nvPr/>
        </p:nvSpPr>
        <p:spPr>
          <a:xfrm>
            <a:off x="731520" y="3703320"/>
            <a:ext cx="7772400" cy="457200"/>
          </a:xfrm>
          <a:prstGeom prst="rect">
            <a:avLst/>
          </a:prstGeom>
          <a:noFill/>
          <a:ln/>
        </p:spPr>
        <p:txBody>
          <a:bodyPr wrap="square" rtlCol="0" anchor="ctr"/>
          <a:lstStyle/>
          <a:p>
            <a:pPr indent="0" marL="0">
              <a:buNone/>
            </a:pPr>
            <a:r>
              <a:rPr lang="en-US" sz="1500" b="1" dirty="0">
                <a:solidFill>
                  <a:srgbClr val="B91C1C"/>
                </a:solidFill>
                <a:latin typeface="Microsoft YaHei" pitchFamily="34" charset="0"/>
                <a:ea typeface="Microsoft YaHei" pitchFamily="34" charset="-122"/>
                <a:cs typeface="Microsoft YaHei" pitchFamily="34" charset="-120"/>
              </a:rPr>
              <a:t>从个人到组织</a:t>
            </a:r>
            <a:endParaRPr lang="en-US" sz="1500" dirty="0"/>
          </a:p>
        </p:txBody>
      </p:sp>
      <p:sp>
        <p:nvSpPr>
          <p:cNvPr id="15" name="Text 13"/>
          <p:cNvSpPr/>
          <p:nvPr/>
        </p:nvSpPr>
        <p:spPr>
          <a:xfrm>
            <a:off x="731520" y="4160520"/>
            <a:ext cx="7772400" cy="457200"/>
          </a:xfrm>
          <a:prstGeom prst="rect">
            <a:avLst/>
          </a:prstGeom>
          <a:noFill/>
          <a:ln/>
        </p:spPr>
        <p:txBody>
          <a:bodyPr wrap="square" rtlCol="0" anchor="ctr"/>
          <a:lstStyle/>
          <a:p>
            <a:pPr indent="0" marL="0">
              <a:buNone/>
            </a:pPr>
            <a:r>
              <a:rPr lang="en-US" sz="1200" dirty="0">
                <a:solidFill>
                  <a:srgbClr val="374151"/>
                </a:solidFill>
                <a:latin typeface="Microsoft YaHei" pitchFamily="34" charset="0"/>
                <a:ea typeface="Microsoft YaHei" pitchFamily="34" charset="-122"/>
                <a:cs typeface="Microsoft YaHei" pitchFamily="34" charset="-120"/>
              </a:rPr>
              <a:t>个人工具-&gt;团队资产，需要推广和管理机制</a:t>
            </a:r>
            <a:endParaRPr lang="en-US" sz="1200" dirty="0"/>
          </a:p>
        </p:txBody>
      </p:sp>
      <p:sp>
        <p:nvSpPr>
          <p:cNvPr id="16" name="Text 14"/>
          <p:cNvSpPr/>
          <p:nvPr/>
        </p:nvSpPr>
        <p:spPr>
          <a:xfrm>
            <a:off x="8503920" y="4663440"/>
            <a:ext cx="457200" cy="274320"/>
          </a:xfrm>
          <a:prstGeom prst="rect">
            <a:avLst/>
          </a:prstGeom>
          <a:noFill/>
          <a:ln/>
        </p:spPr>
        <p:txBody>
          <a:bodyPr wrap="square" rtlCol="0" anchor="ctr"/>
          <a:lstStyle/>
          <a:p>
            <a:pPr algn="ctr" indent="0" marL="0">
              <a:buNone/>
            </a:pPr>
            <a:r>
              <a:rPr lang="en-US" sz="1000" dirty="0">
                <a:solidFill>
                  <a:srgbClr val="374151"/>
                </a:solidFill>
                <a:latin typeface="Arial" pitchFamily="34" charset="0"/>
                <a:ea typeface="Arial" pitchFamily="34" charset="-122"/>
                <a:cs typeface="Arial" pitchFamily="34" charset="-120"/>
              </a:rPr>
              <a:t>156</a:t>
            </a:r>
            <a:endParaRPr lang="en-US" sz="1000"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274320"/>
            <a:ext cx="8229600" cy="457200"/>
          </a:xfrm>
          <a:prstGeom prst="rect">
            <a:avLst/>
          </a:prstGeom>
          <a:noFill/>
          <a:ln/>
        </p:spPr>
        <p:txBody>
          <a:bodyPr wrap="square" rtlCol="0" anchor="ctr"/>
          <a:lstStyle/>
          <a:p>
            <a:pPr indent="0" marL="0">
              <a:buNone/>
            </a:pPr>
            <a:r>
              <a:rPr lang="en-US" sz="1800" b="1" dirty="0">
                <a:solidFill>
                  <a:srgbClr val="B91C1C"/>
                </a:solidFill>
                <a:latin typeface="Microsoft YaHei" pitchFamily="34" charset="0"/>
                <a:ea typeface="Microsoft YaHei" pitchFamily="34" charset="-122"/>
                <a:cs typeface="Microsoft YaHei" pitchFamily="34" charset="-120"/>
              </a:rPr>
              <a:t>30天行动计划提示</a:t>
            </a:r>
            <a:endParaRPr lang="en-US" sz="1800" dirty="0"/>
          </a:p>
        </p:txBody>
      </p:sp>
      <p:sp>
        <p:nvSpPr>
          <p:cNvPr id="4" name="Shape 2"/>
          <p:cNvSpPr/>
          <p:nvPr/>
        </p:nvSpPr>
        <p:spPr>
          <a:xfrm>
            <a:off x="457200" y="822960"/>
            <a:ext cx="8229600" cy="4023360"/>
          </a:xfrm>
          <a:prstGeom prst="roundRect">
            <a:avLst>
              <a:gd name="adj" fmla="val 2273"/>
            </a:avLst>
          </a:prstGeom>
          <a:solidFill>
            <a:srgbClr val="F3F4F6"/>
          </a:solidFill>
          <a:ln/>
        </p:spPr>
      </p:sp>
      <p:sp>
        <p:nvSpPr>
          <p:cNvPr id="5" name="Shape 3"/>
          <p:cNvSpPr/>
          <p:nvPr/>
        </p:nvSpPr>
        <p:spPr>
          <a:xfrm>
            <a:off x="731520" y="1188720"/>
            <a:ext cx="457200" cy="457200"/>
          </a:xfrm>
          <a:prstGeom prst="ellipse">
            <a:avLst/>
          </a:prstGeom>
          <a:solidFill>
            <a:srgbClr val="EF4444"/>
          </a:solidFill>
          <a:ln/>
        </p:spPr>
      </p:sp>
      <p:sp>
        <p:nvSpPr>
          <p:cNvPr id="6" name="Text 4"/>
          <p:cNvSpPr/>
          <p:nvPr/>
        </p:nvSpPr>
        <p:spPr>
          <a:xfrm>
            <a:off x="731520" y="1188720"/>
            <a:ext cx="457200" cy="45720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7" name="Text 5"/>
          <p:cNvSpPr/>
          <p:nvPr/>
        </p:nvSpPr>
        <p:spPr>
          <a:xfrm>
            <a:off x="1371600" y="1097280"/>
            <a:ext cx="7132320" cy="640080"/>
          </a:xfrm>
          <a:prstGeom prst="rect">
            <a:avLst/>
          </a:prstGeom>
          <a:noFill/>
          <a:ln/>
        </p:spPr>
        <p:txBody>
          <a:bodyPr wrap="square" rtlCol="0" anchor="ctr"/>
          <a:lstStyle/>
          <a:p>
            <a:pPr indent="0" marL="0">
              <a:buNone/>
            </a:pPr>
            <a:r>
              <a:rPr lang="en-US" sz="1400" dirty="0">
                <a:solidFill>
                  <a:srgbClr val="374151"/>
                </a:solidFill>
                <a:latin typeface="Microsoft YaHei" pitchFamily="34" charset="0"/>
                <a:ea typeface="Microsoft YaHei" pitchFamily="34" charset="-122"/>
                <a:cs typeface="Microsoft YaHei" pitchFamily="34" charset="-120"/>
              </a:rPr>
              <a:t>选一个最合适的场景建第一个Skill</a:t>
            </a:r>
            <a:endParaRPr lang="en-US" sz="1400" dirty="0"/>
          </a:p>
        </p:txBody>
      </p:sp>
      <p:sp>
        <p:nvSpPr>
          <p:cNvPr id="8" name="Shape 6"/>
          <p:cNvSpPr/>
          <p:nvPr/>
        </p:nvSpPr>
        <p:spPr>
          <a:xfrm>
            <a:off x="731520" y="2103120"/>
            <a:ext cx="457200" cy="457200"/>
          </a:xfrm>
          <a:prstGeom prst="ellipse">
            <a:avLst/>
          </a:prstGeom>
          <a:solidFill>
            <a:srgbClr val="EF4444"/>
          </a:solidFill>
          <a:ln/>
        </p:spPr>
      </p:sp>
      <p:sp>
        <p:nvSpPr>
          <p:cNvPr id="9" name="Text 7"/>
          <p:cNvSpPr/>
          <p:nvPr/>
        </p:nvSpPr>
        <p:spPr>
          <a:xfrm>
            <a:off x="731520" y="2103120"/>
            <a:ext cx="457200" cy="45720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0" name="Text 8"/>
          <p:cNvSpPr/>
          <p:nvPr/>
        </p:nvSpPr>
        <p:spPr>
          <a:xfrm>
            <a:off x="1371600" y="2011680"/>
            <a:ext cx="7132320" cy="640080"/>
          </a:xfrm>
          <a:prstGeom prst="rect">
            <a:avLst/>
          </a:prstGeom>
          <a:noFill/>
          <a:ln/>
        </p:spPr>
        <p:txBody>
          <a:bodyPr wrap="square" rtlCol="0" anchor="ctr"/>
          <a:lstStyle/>
          <a:p>
            <a:pPr indent="0" marL="0">
              <a:buNone/>
            </a:pPr>
            <a:r>
              <a:rPr lang="en-US" sz="1400" dirty="0">
                <a:solidFill>
                  <a:srgbClr val="374151"/>
                </a:solidFill>
                <a:latin typeface="Microsoft YaHei" pitchFamily="34" charset="0"/>
                <a:ea typeface="Microsoft YaHei" pitchFamily="34" charset="-122"/>
                <a:cs typeface="Microsoft YaHei" pitchFamily="34" charset="-120"/>
              </a:rPr>
              <a:t>用真实数据测试，不要用为它定制的数据</a:t>
            </a:r>
            <a:endParaRPr lang="en-US" sz="1400" dirty="0"/>
          </a:p>
        </p:txBody>
      </p:sp>
      <p:sp>
        <p:nvSpPr>
          <p:cNvPr id="11" name="Shape 9"/>
          <p:cNvSpPr/>
          <p:nvPr/>
        </p:nvSpPr>
        <p:spPr>
          <a:xfrm>
            <a:off x="731520" y="3017520"/>
            <a:ext cx="457200" cy="457200"/>
          </a:xfrm>
          <a:prstGeom prst="ellipse">
            <a:avLst/>
          </a:prstGeom>
          <a:solidFill>
            <a:srgbClr val="EF4444"/>
          </a:solidFill>
          <a:ln/>
        </p:spPr>
      </p:sp>
      <p:sp>
        <p:nvSpPr>
          <p:cNvPr id="12" name="Text 10"/>
          <p:cNvSpPr/>
          <p:nvPr/>
        </p:nvSpPr>
        <p:spPr>
          <a:xfrm>
            <a:off x="731520" y="3017520"/>
            <a:ext cx="457200" cy="45720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3" name="Text 11"/>
          <p:cNvSpPr/>
          <p:nvPr/>
        </p:nvSpPr>
        <p:spPr>
          <a:xfrm>
            <a:off x="1371600" y="2926080"/>
            <a:ext cx="7132320" cy="640080"/>
          </a:xfrm>
          <a:prstGeom prst="rect">
            <a:avLst/>
          </a:prstGeom>
          <a:noFill/>
          <a:ln/>
        </p:spPr>
        <p:txBody>
          <a:bodyPr wrap="square" rtlCol="0" anchor="ctr"/>
          <a:lstStyle/>
          <a:p>
            <a:pPr indent="0" marL="0">
              <a:buNone/>
            </a:pPr>
            <a:r>
              <a:rPr lang="en-US" sz="1400" dirty="0">
                <a:solidFill>
                  <a:srgbClr val="374151"/>
                </a:solidFill>
                <a:latin typeface="Microsoft YaHei" pitchFamily="34" charset="0"/>
                <a:ea typeface="Microsoft YaHei" pitchFamily="34" charset="-122"/>
                <a:cs typeface="Microsoft YaHei" pitchFamily="34" charset="-120"/>
              </a:rPr>
              <a:t>找1-2个种子用户，帮他们成功用一次</a:t>
            </a:r>
            <a:endParaRPr lang="en-US" sz="1400" dirty="0"/>
          </a:p>
        </p:txBody>
      </p:sp>
      <p:sp>
        <p:nvSpPr>
          <p:cNvPr id="14" name="Shape 12"/>
          <p:cNvSpPr/>
          <p:nvPr/>
        </p:nvSpPr>
        <p:spPr>
          <a:xfrm>
            <a:off x="731520" y="3931920"/>
            <a:ext cx="457200" cy="457200"/>
          </a:xfrm>
          <a:prstGeom prst="ellipse">
            <a:avLst/>
          </a:prstGeom>
          <a:solidFill>
            <a:srgbClr val="EF4444"/>
          </a:solidFill>
          <a:ln/>
        </p:spPr>
      </p:sp>
      <p:sp>
        <p:nvSpPr>
          <p:cNvPr id="15" name="Text 13"/>
          <p:cNvSpPr/>
          <p:nvPr/>
        </p:nvSpPr>
        <p:spPr>
          <a:xfrm>
            <a:off x="731520" y="3931920"/>
            <a:ext cx="457200" cy="45720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16" name="Text 14"/>
          <p:cNvSpPr/>
          <p:nvPr/>
        </p:nvSpPr>
        <p:spPr>
          <a:xfrm>
            <a:off x="1371600" y="3840480"/>
            <a:ext cx="7132320" cy="640080"/>
          </a:xfrm>
          <a:prstGeom prst="rect">
            <a:avLst/>
          </a:prstGeom>
          <a:noFill/>
          <a:ln/>
        </p:spPr>
        <p:txBody>
          <a:bodyPr wrap="square" rtlCol="0" anchor="ctr"/>
          <a:lstStyle/>
          <a:p>
            <a:pPr indent="0" marL="0">
              <a:buNone/>
            </a:pPr>
            <a:r>
              <a:rPr lang="en-US" sz="1400" dirty="0">
                <a:solidFill>
                  <a:srgbClr val="374151"/>
                </a:solidFill>
                <a:latin typeface="Microsoft YaHei" pitchFamily="34" charset="0"/>
                <a:ea typeface="Microsoft YaHei" pitchFamily="34" charset="-122"/>
                <a:cs typeface="Microsoft YaHei" pitchFamily="34" charset="-120"/>
              </a:rPr>
              <a:t>建立反馈机制，持续迭代</a:t>
            </a:r>
            <a:endParaRPr lang="en-US" sz="1400" dirty="0"/>
          </a:p>
        </p:txBody>
      </p:sp>
      <p:sp>
        <p:nvSpPr>
          <p:cNvPr id="17" name="Text 15"/>
          <p:cNvSpPr/>
          <p:nvPr/>
        </p:nvSpPr>
        <p:spPr>
          <a:xfrm>
            <a:off x="8503920" y="4663440"/>
            <a:ext cx="457200" cy="274320"/>
          </a:xfrm>
          <a:prstGeom prst="rect">
            <a:avLst/>
          </a:prstGeom>
          <a:noFill/>
          <a:ln/>
        </p:spPr>
        <p:txBody>
          <a:bodyPr wrap="square" rtlCol="0" anchor="ctr"/>
          <a:lstStyle/>
          <a:p>
            <a:pPr algn="ctr" indent="0" marL="0">
              <a:buNone/>
            </a:pPr>
            <a:r>
              <a:rPr lang="en-US" sz="1000" dirty="0">
                <a:solidFill>
                  <a:srgbClr val="374151"/>
                </a:solidFill>
                <a:latin typeface="Arial" pitchFamily="34" charset="0"/>
                <a:ea typeface="Arial" pitchFamily="34" charset="-122"/>
                <a:cs typeface="Arial" pitchFamily="34" charset="-120"/>
              </a:rPr>
              <a:t>157</a:t>
            </a:r>
            <a:endParaRPr lang="en-US" sz="1000" dirty="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274320"/>
            <a:ext cx="8229600" cy="457200"/>
          </a:xfrm>
          <a:prstGeom prst="rect">
            <a:avLst/>
          </a:prstGeom>
          <a:noFill/>
          <a:ln/>
        </p:spPr>
        <p:txBody>
          <a:bodyPr wrap="square" rtlCol="0" anchor="ctr"/>
          <a:lstStyle/>
          <a:p>
            <a:pPr indent="0" marL="0">
              <a:buNone/>
            </a:pPr>
            <a:r>
              <a:rPr lang="en-US" sz="1800" b="1" dirty="0">
                <a:solidFill>
                  <a:srgbClr val="B91C1C"/>
                </a:solidFill>
                <a:latin typeface="Microsoft YaHei" pitchFamily="34" charset="0"/>
                <a:ea typeface="Microsoft YaHei" pitchFamily="34" charset="-122"/>
                <a:cs typeface="Microsoft YaHei" pitchFamily="34" charset="-120"/>
              </a:rPr>
              <a:t>常见问题与解决方案回顾</a:t>
            </a:r>
            <a:endParaRPr lang="en-US" sz="1800" dirty="0"/>
          </a:p>
        </p:txBody>
      </p:sp>
      <p:sp>
        <p:nvSpPr>
          <p:cNvPr id="4" name="Shape 2"/>
          <p:cNvSpPr/>
          <p:nvPr/>
        </p:nvSpPr>
        <p:spPr>
          <a:xfrm>
            <a:off x="457200" y="868680"/>
            <a:ext cx="8229600" cy="3474720"/>
          </a:xfrm>
          <a:prstGeom prst="roundRect">
            <a:avLst>
              <a:gd name="adj" fmla="val 2632"/>
            </a:avLst>
          </a:prstGeom>
          <a:solidFill>
            <a:srgbClr val="F3F4F6"/>
          </a:solidFill>
          <a:ln/>
        </p:spPr>
      </p:sp>
      <p:sp>
        <p:nvSpPr>
          <p:cNvPr id="5" name="Shape 3"/>
          <p:cNvSpPr/>
          <p:nvPr/>
        </p:nvSpPr>
        <p:spPr>
          <a:xfrm>
            <a:off x="640080" y="1005840"/>
            <a:ext cx="3474720" cy="685800"/>
          </a:xfrm>
          <a:prstGeom prst="roundRect">
            <a:avLst>
              <a:gd name="adj" fmla="val 10667"/>
            </a:avLst>
          </a:prstGeom>
          <a:solidFill>
            <a:srgbClr val="FFFFFF"/>
          </a:solidFill>
          <a:ln/>
        </p:spPr>
      </p:sp>
      <p:sp>
        <p:nvSpPr>
          <p:cNvPr id="6" name="Text 4"/>
          <p:cNvSpPr/>
          <p:nvPr/>
        </p:nvSpPr>
        <p:spPr>
          <a:xfrm>
            <a:off x="640080" y="1005840"/>
            <a:ext cx="3474720" cy="685800"/>
          </a:xfrm>
          <a:prstGeom prst="rect">
            <a:avLst/>
          </a:prstGeom>
          <a:noFill/>
          <a:ln/>
        </p:spPr>
        <p:txBody>
          <a:bodyPr wrap="square" rtlCol="0" anchor="ctr"/>
          <a:lstStyle/>
          <a:p>
            <a:pPr algn="ctr" indent="0" marL="0">
              <a:buNone/>
            </a:pPr>
            <a:r>
              <a:rPr lang="en-US" sz="1200" b="1" dirty="0">
                <a:solidFill>
                  <a:srgbClr val="B91C1C"/>
                </a:solidFill>
                <a:latin typeface="Microsoft YaHei" pitchFamily="34" charset="0"/>
                <a:ea typeface="Microsoft YaHei" pitchFamily="34" charset="-122"/>
                <a:cs typeface="Microsoft YaHei" pitchFamily="34" charset="-120"/>
              </a:rPr>
              <a:t>格式不稳定</a:t>
            </a:r>
            <a:endParaRPr lang="en-US" sz="1200" dirty="0"/>
          </a:p>
        </p:txBody>
      </p:sp>
      <p:sp>
        <p:nvSpPr>
          <p:cNvPr id="7" name="Text 5"/>
          <p:cNvSpPr/>
          <p:nvPr/>
        </p:nvSpPr>
        <p:spPr>
          <a:xfrm>
            <a:off x="4114800" y="1005840"/>
            <a:ext cx="548640" cy="685800"/>
          </a:xfrm>
          <a:prstGeom prst="rect">
            <a:avLst/>
          </a:prstGeom>
          <a:noFill/>
          <a:ln/>
        </p:spPr>
        <p:txBody>
          <a:bodyPr wrap="square" rtlCol="0" anchor="ctr"/>
          <a:lstStyle/>
          <a:p>
            <a:pPr algn="ctr" indent="0" marL="0">
              <a:buNone/>
            </a:pPr>
            <a:r>
              <a:rPr lang="en-US" sz="1600" b="1" dirty="0">
                <a:solidFill>
                  <a:srgbClr val="EF4444"/>
                </a:solidFill>
                <a:latin typeface="Arial" pitchFamily="34" charset="0"/>
                <a:ea typeface="Arial" pitchFamily="34" charset="-122"/>
                <a:cs typeface="Arial" pitchFamily="34" charset="-120"/>
              </a:rPr>
              <a:t>-&gt;</a:t>
            </a:r>
            <a:endParaRPr lang="en-US" sz="1600" dirty="0"/>
          </a:p>
        </p:txBody>
      </p:sp>
      <p:sp>
        <p:nvSpPr>
          <p:cNvPr id="8" name="Shape 6"/>
          <p:cNvSpPr/>
          <p:nvPr/>
        </p:nvSpPr>
        <p:spPr>
          <a:xfrm>
            <a:off x="4663440" y="1005840"/>
            <a:ext cx="3840480" cy="685800"/>
          </a:xfrm>
          <a:prstGeom prst="roundRect">
            <a:avLst>
              <a:gd name="adj" fmla="val 10667"/>
            </a:avLst>
          </a:prstGeom>
          <a:solidFill>
            <a:srgbClr val="EF4444"/>
          </a:solidFill>
          <a:ln/>
        </p:spPr>
      </p:sp>
      <p:sp>
        <p:nvSpPr>
          <p:cNvPr id="9" name="Text 7"/>
          <p:cNvSpPr/>
          <p:nvPr/>
        </p:nvSpPr>
        <p:spPr>
          <a:xfrm>
            <a:off x="4663440" y="1005840"/>
            <a:ext cx="3840480" cy="685800"/>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加硬性约束</a:t>
            </a:r>
            <a:endParaRPr lang="en-US" sz="1200" dirty="0"/>
          </a:p>
        </p:txBody>
      </p:sp>
      <p:sp>
        <p:nvSpPr>
          <p:cNvPr id="10" name="Shape 8"/>
          <p:cNvSpPr/>
          <p:nvPr/>
        </p:nvSpPr>
        <p:spPr>
          <a:xfrm>
            <a:off x="640080" y="1828800"/>
            <a:ext cx="3474720" cy="685800"/>
          </a:xfrm>
          <a:prstGeom prst="roundRect">
            <a:avLst>
              <a:gd name="adj" fmla="val 10667"/>
            </a:avLst>
          </a:prstGeom>
          <a:solidFill>
            <a:srgbClr val="FFFFFF"/>
          </a:solidFill>
          <a:ln/>
        </p:spPr>
      </p:sp>
      <p:sp>
        <p:nvSpPr>
          <p:cNvPr id="11" name="Text 9"/>
          <p:cNvSpPr/>
          <p:nvPr/>
        </p:nvSpPr>
        <p:spPr>
          <a:xfrm>
            <a:off x="640080" y="1828800"/>
            <a:ext cx="3474720" cy="685800"/>
          </a:xfrm>
          <a:prstGeom prst="rect">
            <a:avLst/>
          </a:prstGeom>
          <a:noFill/>
          <a:ln/>
        </p:spPr>
        <p:txBody>
          <a:bodyPr wrap="square" rtlCol="0" anchor="ctr"/>
          <a:lstStyle/>
          <a:p>
            <a:pPr algn="ctr" indent="0" marL="0">
              <a:buNone/>
            </a:pPr>
            <a:r>
              <a:rPr lang="en-US" sz="1200" b="1" dirty="0">
                <a:solidFill>
                  <a:srgbClr val="B91C1C"/>
                </a:solidFill>
                <a:latin typeface="Microsoft YaHei" pitchFamily="34" charset="0"/>
                <a:ea typeface="Microsoft YaHei" pitchFamily="34" charset="-122"/>
                <a:cs typeface="Microsoft YaHei" pitchFamily="34" charset="-120"/>
              </a:rPr>
              <a:t>规则被绕过</a:t>
            </a:r>
            <a:endParaRPr lang="en-US" sz="1200" dirty="0"/>
          </a:p>
        </p:txBody>
      </p:sp>
      <p:sp>
        <p:nvSpPr>
          <p:cNvPr id="12" name="Text 10"/>
          <p:cNvSpPr/>
          <p:nvPr/>
        </p:nvSpPr>
        <p:spPr>
          <a:xfrm>
            <a:off x="4114800" y="1828800"/>
            <a:ext cx="548640" cy="685800"/>
          </a:xfrm>
          <a:prstGeom prst="rect">
            <a:avLst/>
          </a:prstGeom>
          <a:noFill/>
          <a:ln/>
        </p:spPr>
        <p:txBody>
          <a:bodyPr wrap="square" rtlCol="0" anchor="ctr"/>
          <a:lstStyle/>
          <a:p>
            <a:pPr algn="ctr" indent="0" marL="0">
              <a:buNone/>
            </a:pPr>
            <a:r>
              <a:rPr lang="en-US" sz="1600" b="1" dirty="0">
                <a:solidFill>
                  <a:srgbClr val="EF4444"/>
                </a:solidFill>
                <a:latin typeface="Arial" pitchFamily="34" charset="0"/>
                <a:ea typeface="Arial" pitchFamily="34" charset="-122"/>
                <a:cs typeface="Arial" pitchFamily="34" charset="-120"/>
              </a:rPr>
              <a:t>-&gt;</a:t>
            </a:r>
            <a:endParaRPr lang="en-US" sz="1600" dirty="0"/>
          </a:p>
        </p:txBody>
      </p:sp>
      <p:sp>
        <p:nvSpPr>
          <p:cNvPr id="13" name="Shape 11"/>
          <p:cNvSpPr/>
          <p:nvPr/>
        </p:nvSpPr>
        <p:spPr>
          <a:xfrm>
            <a:off x="4663440" y="1828800"/>
            <a:ext cx="3840480" cy="685800"/>
          </a:xfrm>
          <a:prstGeom prst="roundRect">
            <a:avLst>
              <a:gd name="adj" fmla="val 10667"/>
            </a:avLst>
          </a:prstGeom>
          <a:solidFill>
            <a:srgbClr val="EF4444"/>
          </a:solidFill>
          <a:ln/>
        </p:spPr>
      </p:sp>
      <p:sp>
        <p:nvSpPr>
          <p:cNvPr id="14" name="Text 12"/>
          <p:cNvSpPr/>
          <p:nvPr/>
        </p:nvSpPr>
        <p:spPr>
          <a:xfrm>
            <a:off x="4663440" y="1828800"/>
            <a:ext cx="3840480" cy="685800"/>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改成可检测信号</a:t>
            </a:r>
            <a:endParaRPr lang="en-US" sz="1200" dirty="0"/>
          </a:p>
        </p:txBody>
      </p:sp>
      <p:sp>
        <p:nvSpPr>
          <p:cNvPr id="15" name="Shape 13"/>
          <p:cNvSpPr/>
          <p:nvPr/>
        </p:nvSpPr>
        <p:spPr>
          <a:xfrm>
            <a:off x="640080" y="2651760"/>
            <a:ext cx="3474720" cy="685800"/>
          </a:xfrm>
          <a:prstGeom prst="roundRect">
            <a:avLst>
              <a:gd name="adj" fmla="val 10667"/>
            </a:avLst>
          </a:prstGeom>
          <a:solidFill>
            <a:srgbClr val="FFFFFF"/>
          </a:solidFill>
          <a:ln/>
        </p:spPr>
      </p:sp>
      <p:sp>
        <p:nvSpPr>
          <p:cNvPr id="16" name="Text 14"/>
          <p:cNvSpPr/>
          <p:nvPr/>
        </p:nvSpPr>
        <p:spPr>
          <a:xfrm>
            <a:off x="640080" y="2651760"/>
            <a:ext cx="3474720" cy="685800"/>
          </a:xfrm>
          <a:prstGeom prst="rect">
            <a:avLst/>
          </a:prstGeom>
          <a:noFill/>
          <a:ln/>
        </p:spPr>
        <p:txBody>
          <a:bodyPr wrap="square" rtlCol="0" anchor="ctr"/>
          <a:lstStyle/>
          <a:p>
            <a:pPr algn="ctr" indent="0" marL="0">
              <a:buNone/>
            </a:pPr>
            <a:r>
              <a:rPr lang="en-US" sz="1200" b="1" dirty="0">
                <a:solidFill>
                  <a:srgbClr val="B91C1C"/>
                </a:solidFill>
                <a:latin typeface="Microsoft YaHei" pitchFamily="34" charset="0"/>
                <a:ea typeface="Microsoft YaHei" pitchFamily="34" charset="-122"/>
                <a:cs typeface="Microsoft YaHei" pitchFamily="34" charset="-120"/>
              </a:rPr>
              <a:t>边界情况乱发挥</a:t>
            </a:r>
            <a:endParaRPr lang="en-US" sz="1200" dirty="0"/>
          </a:p>
        </p:txBody>
      </p:sp>
      <p:sp>
        <p:nvSpPr>
          <p:cNvPr id="17" name="Text 15"/>
          <p:cNvSpPr/>
          <p:nvPr/>
        </p:nvSpPr>
        <p:spPr>
          <a:xfrm>
            <a:off x="4114800" y="2651760"/>
            <a:ext cx="548640" cy="685800"/>
          </a:xfrm>
          <a:prstGeom prst="rect">
            <a:avLst/>
          </a:prstGeom>
          <a:noFill/>
          <a:ln/>
        </p:spPr>
        <p:txBody>
          <a:bodyPr wrap="square" rtlCol="0" anchor="ctr"/>
          <a:lstStyle/>
          <a:p>
            <a:pPr algn="ctr" indent="0" marL="0">
              <a:buNone/>
            </a:pPr>
            <a:r>
              <a:rPr lang="en-US" sz="1600" b="1" dirty="0">
                <a:solidFill>
                  <a:srgbClr val="EF4444"/>
                </a:solidFill>
                <a:latin typeface="Arial" pitchFamily="34" charset="0"/>
                <a:ea typeface="Arial" pitchFamily="34" charset="-122"/>
                <a:cs typeface="Arial" pitchFamily="34" charset="-120"/>
              </a:rPr>
              <a:t>-&gt;</a:t>
            </a:r>
            <a:endParaRPr lang="en-US" sz="1600" dirty="0"/>
          </a:p>
        </p:txBody>
      </p:sp>
      <p:sp>
        <p:nvSpPr>
          <p:cNvPr id="18" name="Shape 16"/>
          <p:cNvSpPr/>
          <p:nvPr/>
        </p:nvSpPr>
        <p:spPr>
          <a:xfrm>
            <a:off x="4663440" y="2651760"/>
            <a:ext cx="3840480" cy="685800"/>
          </a:xfrm>
          <a:prstGeom prst="roundRect">
            <a:avLst>
              <a:gd name="adj" fmla="val 10667"/>
            </a:avLst>
          </a:prstGeom>
          <a:solidFill>
            <a:srgbClr val="EF4444"/>
          </a:solidFill>
          <a:ln/>
        </p:spPr>
      </p:sp>
      <p:sp>
        <p:nvSpPr>
          <p:cNvPr id="19" name="Text 17"/>
          <p:cNvSpPr/>
          <p:nvPr/>
        </p:nvSpPr>
        <p:spPr>
          <a:xfrm>
            <a:off x="4663440" y="2651760"/>
            <a:ext cx="3840480" cy="685800"/>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加强兜底规则</a:t>
            </a:r>
            <a:endParaRPr lang="en-US" sz="1200" dirty="0"/>
          </a:p>
        </p:txBody>
      </p:sp>
      <p:sp>
        <p:nvSpPr>
          <p:cNvPr id="20" name="Shape 18"/>
          <p:cNvSpPr/>
          <p:nvPr/>
        </p:nvSpPr>
        <p:spPr>
          <a:xfrm>
            <a:off x="640080" y="3474720"/>
            <a:ext cx="3474720" cy="685800"/>
          </a:xfrm>
          <a:prstGeom prst="roundRect">
            <a:avLst>
              <a:gd name="adj" fmla="val 10667"/>
            </a:avLst>
          </a:prstGeom>
          <a:solidFill>
            <a:srgbClr val="FFFFFF"/>
          </a:solidFill>
          <a:ln/>
        </p:spPr>
      </p:sp>
      <p:sp>
        <p:nvSpPr>
          <p:cNvPr id="21" name="Text 19"/>
          <p:cNvSpPr/>
          <p:nvPr/>
        </p:nvSpPr>
        <p:spPr>
          <a:xfrm>
            <a:off x="640080" y="3474720"/>
            <a:ext cx="3474720" cy="685800"/>
          </a:xfrm>
          <a:prstGeom prst="rect">
            <a:avLst/>
          </a:prstGeom>
          <a:noFill/>
          <a:ln/>
        </p:spPr>
        <p:txBody>
          <a:bodyPr wrap="square" rtlCol="0" anchor="ctr"/>
          <a:lstStyle/>
          <a:p>
            <a:pPr algn="ctr" indent="0" marL="0">
              <a:buNone/>
            </a:pPr>
            <a:r>
              <a:rPr lang="en-US" sz="1200" b="1" dirty="0">
                <a:solidFill>
                  <a:srgbClr val="B91C1C"/>
                </a:solidFill>
                <a:latin typeface="Microsoft YaHei" pitchFamily="34" charset="0"/>
                <a:ea typeface="Microsoft YaHei" pitchFamily="34" charset="-122"/>
                <a:cs typeface="Microsoft YaHei" pitchFamily="34" charset="-120"/>
              </a:rPr>
              <a:t>输出内容没依据</a:t>
            </a:r>
            <a:endParaRPr lang="en-US" sz="1200" dirty="0"/>
          </a:p>
        </p:txBody>
      </p:sp>
      <p:sp>
        <p:nvSpPr>
          <p:cNvPr id="22" name="Text 20"/>
          <p:cNvSpPr/>
          <p:nvPr/>
        </p:nvSpPr>
        <p:spPr>
          <a:xfrm>
            <a:off x="4114800" y="3474720"/>
            <a:ext cx="548640" cy="685800"/>
          </a:xfrm>
          <a:prstGeom prst="rect">
            <a:avLst/>
          </a:prstGeom>
          <a:noFill/>
          <a:ln/>
        </p:spPr>
        <p:txBody>
          <a:bodyPr wrap="square" rtlCol="0" anchor="ctr"/>
          <a:lstStyle/>
          <a:p>
            <a:pPr algn="ctr" indent="0" marL="0">
              <a:buNone/>
            </a:pPr>
            <a:r>
              <a:rPr lang="en-US" sz="1600" b="1" dirty="0">
                <a:solidFill>
                  <a:srgbClr val="EF4444"/>
                </a:solidFill>
                <a:latin typeface="Arial" pitchFamily="34" charset="0"/>
                <a:ea typeface="Arial" pitchFamily="34" charset="-122"/>
                <a:cs typeface="Arial" pitchFamily="34" charset="-120"/>
              </a:rPr>
              <a:t>-&gt;</a:t>
            </a:r>
            <a:endParaRPr lang="en-US" sz="1600" dirty="0"/>
          </a:p>
        </p:txBody>
      </p:sp>
      <p:sp>
        <p:nvSpPr>
          <p:cNvPr id="23" name="Shape 21"/>
          <p:cNvSpPr/>
          <p:nvPr/>
        </p:nvSpPr>
        <p:spPr>
          <a:xfrm>
            <a:off x="4663440" y="3474720"/>
            <a:ext cx="3840480" cy="685800"/>
          </a:xfrm>
          <a:prstGeom prst="roundRect">
            <a:avLst>
              <a:gd name="adj" fmla="val 10667"/>
            </a:avLst>
          </a:prstGeom>
          <a:solidFill>
            <a:srgbClr val="EF4444"/>
          </a:solidFill>
          <a:ln/>
        </p:spPr>
      </p:sp>
      <p:sp>
        <p:nvSpPr>
          <p:cNvPr id="24" name="Text 22"/>
          <p:cNvSpPr/>
          <p:nvPr/>
        </p:nvSpPr>
        <p:spPr>
          <a:xfrm>
            <a:off x="4663440" y="3474720"/>
            <a:ext cx="3840480" cy="685800"/>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补充知识库</a:t>
            </a:r>
            <a:endParaRPr lang="en-US" sz="1200" dirty="0"/>
          </a:p>
        </p:txBody>
      </p:sp>
      <p:sp>
        <p:nvSpPr>
          <p:cNvPr id="25" name="Text 23"/>
          <p:cNvSpPr/>
          <p:nvPr/>
        </p:nvSpPr>
        <p:spPr>
          <a:xfrm>
            <a:off x="8503920" y="4663440"/>
            <a:ext cx="457200" cy="274320"/>
          </a:xfrm>
          <a:prstGeom prst="rect">
            <a:avLst/>
          </a:prstGeom>
          <a:noFill/>
          <a:ln/>
        </p:spPr>
        <p:txBody>
          <a:bodyPr wrap="square" rtlCol="0" anchor="ctr"/>
          <a:lstStyle/>
          <a:p>
            <a:pPr algn="ctr" indent="0" marL="0">
              <a:buNone/>
            </a:pPr>
            <a:r>
              <a:rPr lang="en-US" sz="1000" dirty="0">
                <a:solidFill>
                  <a:srgbClr val="374151"/>
                </a:solidFill>
                <a:latin typeface="Arial" pitchFamily="34" charset="0"/>
                <a:ea typeface="Arial" pitchFamily="34" charset="-122"/>
                <a:cs typeface="Arial" pitchFamily="34" charset="-120"/>
              </a:rPr>
              <a:t>158</a:t>
            </a:r>
            <a:endParaRPr lang="en-US" sz="1000" dirty="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274320"/>
            <a:ext cx="8229600" cy="457200"/>
          </a:xfrm>
          <a:prstGeom prst="rect">
            <a:avLst/>
          </a:prstGeom>
          <a:noFill/>
          <a:ln/>
        </p:spPr>
        <p:txBody>
          <a:bodyPr wrap="square" rtlCol="0" anchor="ctr"/>
          <a:lstStyle/>
          <a:p>
            <a:pPr indent="0" marL="0">
              <a:buNone/>
            </a:pPr>
            <a:r>
              <a:rPr lang="en-US" sz="1800" b="1" dirty="0">
                <a:solidFill>
                  <a:srgbClr val="B91C1C"/>
                </a:solidFill>
                <a:latin typeface="Microsoft YaHei" pitchFamily="34" charset="0"/>
                <a:ea typeface="Microsoft YaHei" pitchFamily="34" charset="-122"/>
                <a:cs typeface="Microsoft YaHei" pitchFamily="34" charset="-120"/>
              </a:rPr>
              <a:t>记住这些关键认知</a:t>
            </a:r>
            <a:endParaRPr lang="en-US" sz="1800" dirty="0"/>
          </a:p>
        </p:txBody>
      </p:sp>
      <p:sp>
        <p:nvSpPr>
          <p:cNvPr id="4" name="Shape 2"/>
          <p:cNvSpPr/>
          <p:nvPr/>
        </p:nvSpPr>
        <p:spPr>
          <a:xfrm>
            <a:off x="457200" y="914400"/>
            <a:ext cx="8229600" cy="1188720"/>
          </a:xfrm>
          <a:prstGeom prst="roundRect">
            <a:avLst>
              <a:gd name="adj" fmla="val 7692"/>
            </a:avLst>
          </a:prstGeom>
          <a:solidFill>
            <a:srgbClr val="F3F4F6"/>
          </a:solidFill>
          <a:ln/>
        </p:spPr>
      </p:sp>
      <p:sp>
        <p:nvSpPr>
          <p:cNvPr id="5" name="Shape 3"/>
          <p:cNvSpPr/>
          <p:nvPr/>
        </p:nvSpPr>
        <p:spPr>
          <a:xfrm>
            <a:off x="457200" y="914400"/>
            <a:ext cx="73152" cy="1188720"/>
          </a:xfrm>
          <a:prstGeom prst="rect">
            <a:avLst/>
          </a:prstGeom>
          <a:solidFill>
            <a:srgbClr val="EF4444"/>
          </a:solidFill>
          <a:ln/>
        </p:spPr>
      </p:sp>
      <p:sp>
        <p:nvSpPr>
          <p:cNvPr id="6" name="Text 4"/>
          <p:cNvSpPr/>
          <p:nvPr/>
        </p:nvSpPr>
        <p:spPr>
          <a:xfrm>
            <a:off x="731520" y="1051560"/>
            <a:ext cx="7772400" cy="457200"/>
          </a:xfrm>
          <a:prstGeom prst="rect">
            <a:avLst/>
          </a:prstGeom>
          <a:noFill/>
          <a:ln/>
        </p:spPr>
        <p:txBody>
          <a:bodyPr wrap="square" rtlCol="0" anchor="ctr"/>
          <a:lstStyle/>
          <a:p>
            <a:pPr indent="0" marL="0">
              <a:buNone/>
            </a:pPr>
            <a:r>
              <a:rPr lang="en-US" sz="1500" b="1" dirty="0">
                <a:solidFill>
                  <a:srgbClr val="EF4444"/>
                </a:solidFill>
                <a:latin typeface="Microsoft YaHei" pitchFamily="34" charset="0"/>
                <a:ea typeface="Microsoft YaHei" pitchFamily="34" charset="-122"/>
                <a:cs typeface="Microsoft YaHei" pitchFamily="34" charset="-120"/>
              </a:rPr>
              <a:t>兜底规则不能少</a:t>
            </a:r>
            <a:endParaRPr lang="en-US" sz="1500" dirty="0"/>
          </a:p>
        </p:txBody>
      </p:sp>
      <p:sp>
        <p:nvSpPr>
          <p:cNvPr id="7" name="Text 5"/>
          <p:cNvSpPr/>
          <p:nvPr/>
        </p:nvSpPr>
        <p:spPr>
          <a:xfrm>
            <a:off x="731520" y="1508760"/>
            <a:ext cx="7772400" cy="457200"/>
          </a:xfrm>
          <a:prstGeom prst="rect">
            <a:avLst/>
          </a:prstGeom>
          <a:noFill/>
          <a:ln/>
        </p:spPr>
        <p:txBody>
          <a:bodyPr wrap="square" rtlCol="0" anchor="ctr"/>
          <a:lstStyle/>
          <a:p>
            <a:pPr indent="0" marL="0">
              <a:buNone/>
            </a:pPr>
            <a:r>
              <a:rPr lang="en-US" sz="1200" dirty="0">
                <a:solidFill>
                  <a:srgbClr val="374151"/>
                </a:solidFill>
                <a:latin typeface="Microsoft YaHei" pitchFamily="34" charset="0"/>
                <a:ea typeface="Microsoft YaHei" pitchFamily="34" charset="-122"/>
                <a:cs typeface="Microsoft YaHei" pitchFamily="34" charset="-120"/>
              </a:rPr>
              <a:t>没有兜底，遇到边界情况AI会创造性地出错</a:t>
            </a:r>
            <a:endParaRPr lang="en-US" sz="1200" dirty="0"/>
          </a:p>
        </p:txBody>
      </p:sp>
      <p:sp>
        <p:nvSpPr>
          <p:cNvPr id="8" name="Shape 6"/>
          <p:cNvSpPr/>
          <p:nvPr/>
        </p:nvSpPr>
        <p:spPr>
          <a:xfrm>
            <a:off x="457200" y="2240280"/>
            <a:ext cx="8229600" cy="1188720"/>
          </a:xfrm>
          <a:prstGeom prst="roundRect">
            <a:avLst>
              <a:gd name="adj" fmla="val 7692"/>
            </a:avLst>
          </a:prstGeom>
          <a:solidFill>
            <a:srgbClr val="F3F4F6"/>
          </a:solidFill>
          <a:ln/>
        </p:spPr>
      </p:sp>
      <p:sp>
        <p:nvSpPr>
          <p:cNvPr id="9" name="Shape 7"/>
          <p:cNvSpPr/>
          <p:nvPr/>
        </p:nvSpPr>
        <p:spPr>
          <a:xfrm>
            <a:off x="457200" y="2240280"/>
            <a:ext cx="73152" cy="1188720"/>
          </a:xfrm>
          <a:prstGeom prst="rect">
            <a:avLst/>
          </a:prstGeom>
          <a:solidFill>
            <a:srgbClr val="EF4444"/>
          </a:solidFill>
          <a:ln/>
        </p:spPr>
      </p:sp>
      <p:sp>
        <p:nvSpPr>
          <p:cNvPr id="10" name="Text 8"/>
          <p:cNvSpPr/>
          <p:nvPr/>
        </p:nvSpPr>
        <p:spPr>
          <a:xfrm>
            <a:off x="731520" y="2377440"/>
            <a:ext cx="7772400" cy="457200"/>
          </a:xfrm>
          <a:prstGeom prst="rect">
            <a:avLst/>
          </a:prstGeom>
          <a:noFill/>
          <a:ln/>
        </p:spPr>
        <p:txBody>
          <a:bodyPr wrap="square" rtlCol="0" anchor="ctr"/>
          <a:lstStyle/>
          <a:p>
            <a:pPr indent="0" marL="0">
              <a:buNone/>
            </a:pPr>
            <a:r>
              <a:rPr lang="en-US" sz="1500" b="1" dirty="0">
                <a:solidFill>
                  <a:srgbClr val="EF4444"/>
                </a:solidFill>
                <a:latin typeface="Microsoft YaHei" pitchFamily="34" charset="0"/>
                <a:ea typeface="Microsoft YaHei" pitchFamily="34" charset="-122"/>
                <a:cs typeface="Microsoft YaHei" pitchFamily="34" charset="-120"/>
              </a:rPr>
              <a:t>宁可上游冗余，不要下游不足</a:t>
            </a:r>
            <a:endParaRPr lang="en-US" sz="1500" dirty="0"/>
          </a:p>
        </p:txBody>
      </p:sp>
      <p:sp>
        <p:nvSpPr>
          <p:cNvPr id="11" name="Text 9"/>
          <p:cNvSpPr/>
          <p:nvPr/>
        </p:nvSpPr>
        <p:spPr>
          <a:xfrm>
            <a:off x="731520" y="2834640"/>
            <a:ext cx="7772400" cy="457200"/>
          </a:xfrm>
          <a:prstGeom prst="rect">
            <a:avLst/>
          </a:prstGeom>
          <a:noFill/>
          <a:ln/>
        </p:spPr>
        <p:txBody>
          <a:bodyPr wrap="square" rtlCol="0" anchor="ctr"/>
          <a:lstStyle/>
          <a:p>
            <a:pPr indent="0" marL="0">
              <a:buNone/>
            </a:pPr>
            <a:r>
              <a:rPr lang="en-US" sz="1200" dirty="0">
                <a:solidFill>
                  <a:srgbClr val="374151"/>
                </a:solidFill>
                <a:latin typeface="Microsoft YaHei" pitchFamily="34" charset="0"/>
                <a:ea typeface="Microsoft YaHei" pitchFamily="34" charset="-122"/>
                <a:cs typeface="Microsoft YaHei" pitchFamily="34" charset="-120"/>
              </a:rPr>
              <a:t>多Skill协作里信息要完整</a:t>
            </a:r>
            <a:endParaRPr lang="en-US" sz="1200" dirty="0"/>
          </a:p>
        </p:txBody>
      </p:sp>
      <p:sp>
        <p:nvSpPr>
          <p:cNvPr id="12" name="Shape 10"/>
          <p:cNvSpPr/>
          <p:nvPr/>
        </p:nvSpPr>
        <p:spPr>
          <a:xfrm>
            <a:off x="457200" y="3566160"/>
            <a:ext cx="8229600" cy="1188720"/>
          </a:xfrm>
          <a:prstGeom prst="roundRect">
            <a:avLst>
              <a:gd name="adj" fmla="val 7692"/>
            </a:avLst>
          </a:prstGeom>
          <a:solidFill>
            <a:srgbClr val="F3F4F6"/>
          </a:solidFill>
          <a:ln/>
        </p:spPr>
      </p:sp>
      <p:sp>
        <p:nvSpPr>
          <p:cNvPr id="13" name="Shape 11"/>
          <p:cNvSpPr/>
          <p:nvPr/>
        </p:nvSpPr>
        <p:spPr>
          <a:xfrm>
            <a:off x="457200" y="3566160"/>
            <a:ext cx="73152" cy="1188720"/>
          </a:xfrm>
          <a:prstGeom prst="rect">
            <a:avLst/>
          </a:prstGeom>
          <a:solidFill>
            <a:srgbClr val="EF4444"/>
          </a:solidFill>
          <a:ln/>
        </p:spPr>
      </p:sp>
      <p:sp>
        <p:nvSpPr>
          <p:cNvPr id="14" name="Text 12"/>
          <p:cNvSpPr/>
          <p:nvPr/>
        </p:nvSpPr>
        <p:spPr>
          <a:xfrm>
            <a:off x="731520" y="3703320"/>
            <a:ext cx="7772400" cy="457200"/>
          </a:xfrm>
          <a:prstGeom prst="rect">
            <a:avLst/>
          </a:prstGeom>
          <a:noFill/>
          <a:ln/>
        </p:spPr>
        <p:txBody>
          <a:bodyPr wrap="square" rtlCol="0" anchor="ctr"/>
          <a:lstStyle/>
          <a:p>
            <a:pPr indent="0" marL="0">
              <a:buNone/>
            </a:pPr>
            <a:r>
              <a:rPr lang="en-US" sz="1500" b="1" dirty="0">
                <a:solidFill>
                  <a:srgbClr val="EF4444"/>
                </a:solidFill>
                <a:latin typeface="Microsoft YaHei" pitchFamily="34" charset="0"/>
                <a:ea typeface="Microsoft YaHei" pitchFamily="34" charset="-122"/>
                <a:cs typeface="Microsoft YaHei" pitchFamily="34" charset="-120"/>
              </a:rPr>
              <a:t>先求能用，再求好用，最后离不开</a:t>
            </a:r>
            <a:endParaRPr lang="en-US" sz="1500" dirty="0"/>
          </a:p>
        </p:txBody>
      </p:sp>
      <p:sp>
        <p:nvSpPr>
          <p:cNvPr id="15" name="Text 13"/>
          <p:cNvSpPr/>
          <p:nvPr/>
        </p:nvSpPr>
        <p:spPr>
          <a:xfrm>
            <a:off x="731520" y="4160520"/>
            <a:ext cx="7772400" cy="457200"/>
          </a:xfrm>
          <a:prstGeom prst="rect">
            <a:avLst/>
          </a:prstGeom>
          <a:noFill/>
          <a:ln/>
        </p:spPr>
        <p:txBody>
          <a:bodyPr wrap="square" rtlCol="0" anchor="ctr"/>
          <a:lstStyle/>
          <a:p>
            <a:pPr indent="0" marL="0">
              <a:buNone/>
            </a:pPr>
            <a:r>
              <a:rPr lang="en-US" sz="1200" dirty="0">
                <a:solidFill>
                  <a:srgbClr val="374151"/>
                </a:solidFill>
                <a:latin typeface="Microsoft YaHei" pitchFamily="34" charset="0"/>
                <a:ea typeface="Microsoft YaHei" pitchFamily="34" charset="-122"/>
                <a:cs typeface="Microsoft YaHei" pitchFamily="34" charset="-120"/>
              </a:rPr>
              <a:t>迭代是正常的，不是失败</a:t>
            </a:r>
            <a:endParaRPr lang="en-US" sz="1200" dirty="0"/>
          </a:p>
        </p:txBody>
      </p:sp>
      <p:sp>
        <p:nvSpPr>
          <p:cNvPr id="16" name="Text 14"/>
          <p:cNvSpPr/>
          <p:nvPr/>
        </p:nvSpPr>
        <p:spPr>
          <a:xfrm>
            <a:off x="8503920" y="4663440"/>
            <a:ext cx="457200" cy="274320"/>
          </a:xfrm>
          <a:prstGeom prst="rect">
            <a:avLst/>
          </a:prstGeom>
          <a:noFill/>
          <a:ln/>
        </p:spPr>
        <p:txBody>
          <a:bodyPr wrap="square" rtlCol="0" anchor="ctr"/>
          <a:lstStyle/>
          <a:p>
            <a:pPr algn="ctr" indent="0" marL="0">
              <a:buNone/>
            </a:pPr>
            <a:r>
              <a:rPr lang="en-US" sz="1000" dirty="0">
                <a:solidFill>
                  <a:srgbClr val="374151"/>
                </a:solidFill>
                <a:latin typeface="Arial" pitchFamily="34" charset="0"/>
                <a:ea typeface="Arial" pitchFamily="34" charset="-122"/>
                <a:cs typeface="Arial" pitchFamily="34" charset="-120"/>
              </a:rPr>
              <a:t>159</a:t>
            </a:r>
            <a:endParaRPr lang="en-US" sz="1000" dirty="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274320"/>
            <a:ext cx="8229600" cy="457200"/>
          </a:xfrm>
          <a:prstGeom prst="rect">
            <a:avLst/>
          </a:prstGeom>
          <a:noFill/>
          <a:ln/>
        </p:spPr>
        <p:txBody>
          <a:bodyPr wrap="square" rtlCol="0" anchor="ctr"/>
          <a:lstStyle/>
          <a:p>
            <a:pPr indent="0" marL="0">
              <a:buNone/>
            </a:pPr>
            <a:r>
              <a:rPr lang="en-US" sz="1800" b="1" dirty="0">
                <a:solidFill>
                  <a:srgbClr val="B91C1C"/>
                </a:solidFill>
                <a:latin typeface="Microsoft YaHei" pitchFamily="34" charset="0"/>
                <a:ea typeface="Microsoft YaHei" pitchFamily="34" charset="-122"/>
                <a:cs typeface="Microsoft YaHei" pitchFamily="34" charset="-120"/>
              </a:rPr>
              <a:t>最后一句话</a:t>
            </a:r>
            <a:endParaRPr lang="en-US" sz="1800" dirty="0"/>
          </a:p>
        </p:txBody>
      </p:sp>
      <p:sp>
        <p:nvSpPr>
          <p:cNvPr id="4" name="Shape 2"/>
          <p:cNvSpPr/>
          <p:nvPr/>
        </p:nvSpPr>
        <p:spPr>
          <a:xfrm>
            <a:off x="914400" y="1371600"/>
            <a:ext cx="7315200" cy="2560320"/>
          </a:xfrm>
          <a:prstGeom prst="roundRect">
            <a:avLst>
              <a:gd name="adj" fmla="val 5357"/>
            </a:avLst>
          </a:prstGeom>
          <a:solidFill>
            <a:srgbClr val="B91C1C"/>
          </a:solidFill>
          <a:ln/>
        </p:spPr>
      </p:sp>
      <p:sp>
        <p:nvSpPr>
          <p:cNvPr id="5" name="Text 3"/>
          <p:cNvSpPr/>
          <p:nvPr/>
        </p:nvSpPr>
        <p:spPr>
          <a:xfrm>
            <a:off x="1188720" y="1463040"/>
            <a:ext cx="731520" cy="731520"/>
          </a:xfrm>
          <a:prstGeom prst="rect">
            <a:avLst/>
          </a:prstGeom>
          <a:noFill/>
          <a:ln/>
        </p:spPr>
        <p:txBody>
          <a:bodyPr wrap="square" rtlCol="0" anchor="ctr"/>
          <a:lstStyle/>
          <a:p>
            <a:pPr indent="0" marL="0">
              <a:buNone/>
            </a:pPr>
            <a:r>
              <a:rPr lang="en-US" sz="6000" b="1" dirty="0">
                <a:solidFill>
                  <a:srgbClr val="EF4444"/>
                </a:solidFill>
                <a:latin typeface="Georgia" pitchFamily="34" charset="0"/>
                <a:ea typeface="Georgia" pitchFamily="34" charset="-122"/>
                <a:cs typeface="Georgia" pitchFamily="34" charset="-120"/>
              </a:rPr>
              <a:t>"</a:t>
            </a:r>
            <a:endParaRPr lang="en-US" sz="6000" dirty="0"/>
          </a:p>
        </p:txBody>
      </p:sp>
      <p:sp>
        <p:nvSpPr>
          <p:cNvPr id="6" name="Text 4"/>
          <p:cNvSpPr/>
          <p:nvPr/>
        </p:nvSpPr>
        <p:spPr>
          <a:xfrm>
            <a:off x="1371600" y="2011680"/>
            <a:ext cx="6400800" cy="1645920"/>
          </a:xfrm>
          <a:prstGeom prst="rect">
            <a:avLst/>
          </a:prstGeom>
          <a:noFill/>
          <a:ln/>
        </p:spPr>
        <p:txBody>
          <a:bodyPr wrap="square" rtlCol="0" anchor="ctr"/>
          <a:lstStyle/>
          <a:p>
            <a:pPr indent="0" marL="0">
              <a:buNone/>
            </a:pPr>
            <a:r>
              <a:rPr lang="en-US" sz="1800" dirty="0">
                <a:solidFill>
                  <a:srgbClr val="FFFFFF"/>
                </a:solidFill>
                <a:latin typeface="Microsoft YaHei" pitchFamily="34" charset="0"/>
                <a:ea typeface="Microsoft YaHei" pitchFamily="34" charset="-122"/>
                <a:cs typeface="Microsoft YaHei" pitchFamily="34" charset="-120"/>
              </a:rPr>
              <a:t>数字员工不是取代你，而是放大你。与其担心被AI替代，不如学会用AI放大自己的价值。</a:t>
            </a:r>
            <a:endParaRPr lang="en-US" sz="1800" dirty="0"/>
          </a:p>
        </p:txBody>
      </p:sp>
      <p:sp>
        <p:nvSpPr>
          <p:cNvPr id="7" name="Text 5"/>
          <p:cNvSpPr/>
          <p:nvPr/>
        </p:nvSpPr>
        <p:spPr>
          <a:xfrm>
            <a:off x="7040880" y="3017520"/>
            <a:ext cx="731520" cy="731520"/>
          </a:xfrm>
          <a:prstGeom prst="rect">
            <a:avLst/>
          </a:prstGeom>
          <a:noFill/>
          <a:ln/>
        </p:spPr>
        <p:txBody>
          <a:bodyPr wrap="square" rtlCol="0" anchor="ctr"/>
          <a:lstStyle/>
          <a:p>
            <a:pPr indent="0" marL="0">
              <a:buNone/>
            </a:pPr>
            <a:r>
              <a:rPr lang="en-US" sz="6000" b="1" dirty="0">
                <a:solidFill>
                  <a:srgbClr val="EF4444"/>
                </a:solidFill>
                <a:latin typeface="Georgia" pitchFamily="34" charset="0"/>
                <a:ea typeface="Georgia" pitchFamily="34" charset="-122"/>
                <a:cs typeface="Georgia" pitchFamily="34" charset="-120"/>
              </a:rPr>
              <a:t>"</a:t>
            </a:r>
            <a:endParaRPr lang="en-US" sz="6000" dirty="0"/>
          </a:p>
        </p:txBody>
      </p:sp>
      <p:sp>
        <p:nvSpPr>
          <p:cNvPr id="8" name="Text 6"/>
          <p:cNvSpPr/>
          <p:nvPr/>
        </p:nvSpPr>
        <p:spPr>
          <a:xfrm>
            <a:off x="8503920" y="4663440"/>
            <a:ext cx="457200" cy="274320"/>
          </a:xfrm>
          <a:prstGeom prst="rect">
            <a:avLst/>
          </a:prstGeom>
          <a:noFill/>
          <a:ln/>
        </p:spPr>
        <p:txBody>
          <a:bodyPr wrap="square" rtlCol="0" anchor="ctr"/>
          <a:lstStyle/>
          <a:p>
            <a:pPr algn="ctr" indent="0" marL="0">
              <a:buNone/>
            </a:pPr>
            <a:r>
              <a:rPr lang="en-US" sz="1000" dirty="0">
                <a:solidFill>
                  <a:srgbClr val="374151"/>
                </a:solidFill>
                <a:latin typeface="Arial" pitchFamily="34" charset="0"/>
                <a:ea typeface="Arial" pitchFamily="34" charset="-122"/>
                <a:cs typeface="Arial" pitchFamily="34" charset="-120"/>
              </a:rPr>
              <a:t>160</a:t>
            </a:r>
            <a:endParaRPr lang="en-US" sz="1000" dirty="0"/>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B91C1C"/>
          </a:solidFill>
          <a:ln/>
        </p:spPr>
      </p:sp>
      <p:sp>
        <p:nvSpPr>
          <p:cNvPr id="3" name="Text 1"/>
          <p:cNvSpPr/>
          <p:nvPr/>
        </p:nvSpPr>
        <p:spPr>
          <a:xfrm>
            <a:off x="457200" y="1645920"/>
            <a:ext cx="8229600" cy="914400"/>
          </a:xfrm>
          <a:prstGeom prst="rect">
            <a:avLst/>
          </a:prstGeom>
          <a:noFill/>
          <a:ln/>
        </p:spPr>
        <p:txBody>
          <a:bodyPr wrap="square" rtlCol="0" anchor="ctr"/>
          <a:lstStyle/>
          <a:p>
            <a:pPr algn="ctr" indent="0" marL="0">
              <a:buNone/>
            </a:pPr>
            <a:r>
              <a:rPr lang="en-US" sz="4800" b="1" dirty="0">
                <a:solidFill>
                  <a:srgbClr val="FFFFFF"/>
                </a:solidFill>
                <a:latin typeface="Microsoft YaHei" pitchFamily="34" charset="0"/>
                <a:ea typeface="Microsoft YaHei" pitchFamily="34" charset="-122"/>
                <a:cs typeface="Microsoft YaHei" pitchFamily="34" charset="-120"/>
              </a:rPr>
              <a:t>不请假的团队</a:t>
            </a:r>
            <a:endParaRPr lang="en-US" sz="4800" dirty="0"/>
          </a:p>
        </p:txBody>
      </p:sp>
      <p:sp>
        <p:nvSpPr>
          <p:cNvPr id="4" name="Text 2"/>
          <p:cNvSpPr/>
          <p:nvPr/>
        </p:nvSpPr>
        <p:spPr>
          <a:xfrm>
            <a:off x="457200" y="2560320"/>
            <a:ext cx="8229600" cy="548640"/>
          </a:xfrm>
          <a:prstGeom prst="rect">
            <a:avLst/>
          </a:prstGeom>
          <a:noFill/>
          <a:ln/>
        </p:spPr>
        <p:txBody>
          <a:bodyPr wrap="square" rtlCol="0" anchor="ctr"/>
          <a:lstStyle/>
          <a:p>
            <a:pPr algn="ctr" indent="0" marL="0">
              <a:buNone/>
            </a:pPr>
            <a:r>
              <a:rPr lang="en-US" sz="2000" dirty="0">
                <a:solidFill>
                  <a:srgbClr val="FFFFFF"/>
                </a:solidFill>
                <a:latin typeface="Microsoft YaHei" pitchFamily="34" charset="0"/>
                <a:ea typeface="Microsoft YaHei" pitchFamily="34" charset="-122"/>
                <a:cs typeface="Microsoft YaHei" pitchFamily="34" charset="-120"/>
              </a:rPr>
              <a:t>构建AI数字员工协作体系</a:t>
            </a:r>
            <a:endParaRPr lang="en-US" sz="2000" dirty="0"/>
          </a:p>
        </p:txBody>
      </p:sp>
      <p:sp>
        <p:nvSpPr>
          <p:cNvPr id="5" name="Shape 3"/>
          <p:cNvSpPr/>
          <p:nvPr/>
        </p:nvSpPr>
        <p:spPr>
          <a:xfrm>
            <a:off x="3657600" y="3291840"/>
            <a:ext cx="1828800" cy="54864"/>
          </a:xfrm>
          <a:prstGeom prst="rect">
            <a:avLst/>
          </a:prstGeom>
          <a:solidFill>
            <a:srgbClr val="EF4444"/>
          </a:solidFill>
          <a:ln/>
        </p:spPr>
      </p:sp>
      <p:sp>
        <p:nvSpPr>
          <p:cNvPr id="6" name="Text 4"/>
          <p:cNvSpPr/>
          <p:nvPr/>
        </p:nvSpPr>
        <p:spPr>
          <a:xfrm>
            <a:off x="457200" y="3840480"/>
            <a:ext cx="8229600" cy="457200"/>
          </a:xfrm>
          <a:prstGeom prst="rect">
            <a:avLst/>
          </a:prstGeom>
          <a:noFill/>
          <a:ln/>
        </p:spPr>
        <p:txBody>
          <a:bodyPr wrap="square" rtlCol="0" anchor="ctr"/>
          <a:lstStyle/>
          <a:p>
            <a:pPr algn="ctr" indent="0" marL="0">
              <a:buNone/>
            </a:pPr>
            <a:r>
              <a:rPr lang="en-US" sz="1400" dirty="0">
                <a:solidFill>
                  <a:srgbClr val="FFFFFF"/>
                </a:solidFill>
                <a:latin typeface="Microsoft YaHei" pitchFamily="34" charset="0"/>
                <a:ea typeface="Microsoft YaHei" pitchFamily="34" charset="-122"/>
                <a:cs typeface="Microsoft YaHei" pitchFamily="34" charset="-120"/>
              </a:rPr>
              <a:t>感谢参与 | 罗宏伟 · 课程设计</a:t>
            </a:r>
            <a:endParaRPr lang="en-US" sz="1400" dirty="0"/>
          </a:p>
        </p:txBody>
      </p:sp>
      <p:sp>
        <p:nvSpPr>
          <p:cNvPr id="7" name="Text 5"/>
          <p:cNvSpPr/>
          <p:nvPr/>
        </p:nvSpPr>
        <p:spPr>
          <a:xfrm>
            <a:off x="8503920" y="4663440"/>
            <a:ext cx="457200" cy="274320"/>
          </a:xfrm>
          <a:prstGeom prst="rect">
            <a:avLst/>
          </a:prstGeom>
          <a:noFill/>
          <a:ln/>
        </p:spPr>
        <p:txBody>
          <a:bodyPr wrap="square" rtlCol="0" anchor="ctr"/>
          <a:lstStyle/>
          <a:p>
            <a:pPr algn="ctr" indent="0" marL="0">
              <a:buNone/>
            </a:pPr>
            <a:r>
              <a:rPr lang="en-US" sz="1000" dirty="0">
                <a:solidFill>
                  <a:srgbClr val="FFFFFF"/>
                </a:solidFill>
                <a:latin typeface="Arial" pitchFamily="34" charset="0"/>
                <a:ea typeface="Arial" pitchFamily="34" charset="-122"/>
                <a:cs typeface="Arial" pitchFamily="34" charset="-120"/>
              </a:rPr>
              <a:t>161</a:t>
            </a:r>
            <a:endParaRPr lang="en-US" sz="1000" dirty="0"/>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B91C1C"/>
          </a:solidFill>
          <a:ln/>
        </p:spPr>
      </p:sp>
      <p:sp>
        <p:nvSpPr>
          <p:cNvPr id="3" name="Text 1"/>
          <p:cNvSpPr/>
          <p:nvPr/>
        </p:nvSpPr>
        <p:spPr>
          <a:xfrm>
            <a:off x="457200" y="1828800"/>
            <a:ext cx="8229600" cy="914400"/>
          </a:xfrm>
          <a:prstGeom prst="rect">
            <a:avLst/>
          </a:prstGeom>
          <a:noFill/>
          <a:ln/>
        </p:spPr>
        <p:txBody>
          <a:bodyPr wrap="square" rtlCol="0" anchor="ctr"/>
          <a:lstStyle/>
          <a:p>
            <a:pPr algn="ctr" indent="0" marL="0">
              <a:buNone/>
            </a:pPr>
            <a:r>
              <a:rPr lang="en-US" sz="5400" b="1" dirty="0">
                <a:solidFill>
                  <a:srgbClr val="FFFFFF"/>
                </a:solidFill>
                <a:latin typeface="Microsoft YaHei" pitchFamily="34" charset="0"/>
                <a:ea typeface="Microsoft YaHei" pitchFamily="34" charset="-122"/>
                <a:cs typeface="Microsoft YaHei" pitchFamily="34" charset="-120"/>
              </a:rPr>
              <a:t>开始行动</a:t>
            </a:r>
            <a:endParaRPr lang="en-US" sz="5400" dirty="0"/>
          </a:p>
        </p:txBody>
      </p:sp>
      <p:sp>
        <p:nvSpPr>
          <p:cNvPr id="4" name="Shape 2"/>
          <p:cNvSpPr/>
          <p:nvPr/>
        </p:nvSpPr>
        <p:spPr>
          <a:xfrm>
            <a:off x="2286000" y="3017520"/>
            <a:ext cx="4572000" cy="914400"/>
          </a:xfrm>
          <a:prstGeom prst="roundRect">
            <a:avLst>
              <a:gd name="adj" fmla="val 10000"/>
            </a:avLst>
          </a:prstGeom>
          <a:solidFill>
            <a:srgbClr val="EF4444"/>
          </a:solidFill>
          <a:ln/>
        </p:spPr>
      </p:sp>
      <p:sp>
        <p:nvSpPr>
          <p:cNvPr id="5" name="Text 3"/>
          <p:cNvSpPr/>
          <p:nvPr/>
        </p:nvSpPr>
        <p:spPr>
          <a:xfrm>
            <a:off x="2286000" y="3017520"/>
            <a:ext cx="4572000" cy="914400"/>
          </a:xfrm>
          <a:prstGeom prst="rect">
            <a:avLst/>
          </a:prstGeom>
          <a:noFill/>
          <a:ln/>
        </p:spPr>
        <p:txBody>
          <a:bodyPr wrap="square" rtlCol="0" anchor="ctr"/>
          <a:lstStyle/>
          <a:p>
            <a:pPr algn="ctr" indent="0" marL="0">
              <a:buNone/>
            </a:pPr>
            <a:r>
              <a:rPr lang="en-US" sz="1400" dirty="0">
                <a:solidFill>
                  <a:srgbClr val="FFFFFF"/>
                </a:solidFill>
                <a:latin typeface="Microsoft YaHei" pitchFamily="34" charset="0"/>
                <a:ea typeface="Microsoft YaHei" pitchFamily="34" charset="-122"/>
                <a:cs typeface="Microsoft YaHei" pitchFamily="34" charset="-120"/>
              </a:rPr>
              <a:t>30天后，你将感谢今天开始行动的自己</a:t>
            </a:r>
            <a:endParaRPr lang="en-US" sz="1400" dirty="0"/>
          </a:p>
        </p:txBody>
      </p:sp>
      <p:sp>
        <p:nvSpPr>
          <p:cNvPr id="6" name="Text 4"/>
          <p:cNvSpPr/>
          <p:nvPr/>
        </p:nvSpPr>
        <p:spPr>
          <a:xfrm>
            <a:off x="8503920" y="4663440"/>
            <a:ext cx="457200" cy="274320"/>
          </a:xfrm>
          <a:prstGeom prst="rect">
            <a:avLst/>
          </a:prstGeom>
          <a:noFill/>
          <a:ln/>
        </p:spPr>
        <p:txBody>
          <a:bodyPr wrap="square" rtlCol="0" anchor="ctr"/>
          <a:lstStyle/>
          <a:p>
            <a:pPr algn="ctr" indent="0" marL="0">
              <a:buNone/>
            </a:pPr>
            <a:r>
              <a:rPr lang="en-US" sz="1000" dirty="0">
                <a:solidFill>
                  <a:srgbClr val="FFFFFF"/>
                </a:solidFill>
                <a:latin typeface="Arial" pitchFamily="34" charset="0"/>
                <a:ea typeface="Arial" pitchFamily="34" charset="-122"/>
                <a:cs typeface="Arial" pitchFamily="34" charset="-120"/>
              </a:rPr>
              <a:t>162</a:t>
            </a:r>
            <a:endParaRPr lang="en-US" sz="1000" dirty="0"/>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274320"/>
            <a:ext cx="8229600" cy="457200"/>
          </a:xfrm>
          <a:prstGeom prst="rect">
            <a:avLst/>
          </a:prstGeom>
          <a:noFill/>
          <a:ln/>
        </p:spPr>
        <p:txBody>
          <a:bodyPr wrap="square" rtlCol="0" anchor="ctr"/>
          <a:lstStyle/>
          <a:p>
            <a:pPr indent="0" marL="0">
              <a:buNone/>
            </a:pPr>
            <a:r>
              <a:rPr lang="en-US" sz="1800" b="1" dirty="0">
                <a:solidFill>
                  <a:srgbClr val="B91C1C"/>
                </a:solidFill>
                <a:latin typeface="Microsoft YaHei" pitchFamily="34" charset="0"/>
                <a:ea typeface="Microsoft YaHei" pitchFamily="34" charset="-122"/>
                <a:cs typeface="Microsoft YaHei" pitchFamily="34" charset="-120"/>
              </a:rPr>
              <a:t>联系方式与资源</a:t>
            </a:r>
            <a:endParaRPr lang="en-US" sz="1800" dirty="0"/>
          </a:p>
        </p:txBody>
      </p:sp>
      <p:sp>
        <p:nvSpPr>
          <p:cNvPr id="4" name="Shape 2"/>
          <p:cNvSpPr/>
          <p:nvPr/>
        </p:nvSpPr>
        <p:spPr>
          <a:xfrm>
            <a:off x="457200" y="822960"/>
            <a:ext cx="8229600" cy="4023360"/>
          </a:xfrm>
          <a:prstGeom prst="roundRect">
            <a:avLst>
              <a:gd name="adj" fmla="val 2273"/>
            </a:avLst>
          </a:prstGeom>
          <a:solidFill>
            <a:srgbClr val="F3F4F6"/>
          </a:solidFill>
          <a:ln/>
        </p:spPr>
      </p:sp>
      <p:sp>
        <p:nvSpPr>
          <p:cNvPr id="5" name="Shape 3"/>
          <p:cNvSpPr/>
          <p:nvPr/>
        </p:nvSpPr>
        <p:spPr>
          <a:xfrm>
            <a:off x="640080" y="1097280"/>
            <a:ext cx="2286000" cy="731520"/>
          </a:xfrm>
          <a:prstGeom prst="roundRect">
            <a:avLst>
              <a:gd name="adj" fmla="val 10000"/>
            </a:avLst>
          </a:prstGeom>
          <a:solidFill>
            <a:srgbClr val="EF4444"/>
          </a:solidFill>
          <a:ln/>
        </p:spPr>
      </p:sp>
      <p:sp>
        <p:nvSpPr>
          <p:cNvPr id="6" name="Text 4"/>
          <p:cNvSpPr/>
          <p:nvPr/>
        </p:nvSpPr>
        <p:spPr>
          <a:xfrm>
            <a:off x="640080" y="1097280"/>
            <a:ext cx="2286000" cy="731520"/>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课程答疑群</a:t>
            </a:r>
            <a:endParaRPr lang="en-US" sz="1200" dirty="0"/>
          </a:p>
        </p:txBody>
      </p:sp>
      <p:sp>
        <p:nvSpPr>
          <p:cNvPr id="7" name="Text 5"/>
          <p:cNvSpPr/>
          <p:nvPr/>
        </p:nvSpPr>
        <p:spPr>
          <a:xfrm>
            <a:off x="3108960" y="1097280"/>
            <a:ext cx="5394960" cy="731520"/>
          </a:xfrm>
          <a:prstGeom prst="rect">
            <a:avLst/>
          </a:prstGeom>
          <a:noFill/>
          <a:ln/>
        </p:spPr>
        <p:txBody>
          <a:bodyPr wrap="square" rtlCol="0" anchor="ctr"/>
          <a:lstStyle/>
          <a:p>
            <a:pPr indent="0" marL="0">
              <a:buNone/>
            </a:pPr>
            <a:r>
              <a:rPr lang="en-US" sz="1200" dirty="0">
                <a:solidFill>
                  <a:srgbClr val="374151"/>
                </a:solidFill>
                <a:latin typeface="Microsoft YaHei" pitchFamily="34" charset="0"/>
                <a:ea typeface="Microsoft YaHei" pitchFamily="34" charset="-122"/>
                <a:cs typeface="Microsoft YaHei" pitchFamily="34" charset="-120"/>
              </a:rPr>
              <a:t>扫描二维码加入课程交流群</a:t>
            </a:r>
            <a:endParaRPr lang="en-US" sz="1200" dirty="0"/>
          </a:p>
        </p:txBody>
      </p:sp>
      <p:sp>
        <p:nvSpPr>
          <p:cNvPr id="8" name="Shape 6"/>
          <p:cNvSpPr/>
          <p:nvPr/>
        </p:nvSpPr>
        <p:spPr>
          <a:xfrm>
            <a:off x="640080" y="2194560"/>
            <a:ext cx="2286000" cy="731520"/>
          </a:xfrm>
          <a:prstGeom prst="roundRect">
            <a:avLst>
              <a:gd name="adj" fmla="val 10000"/>
            </a:avLst>
          </a:prstGeom>
          <a:solidFill>
            <a:srgbClr val="EF4444"/>
          </a:solidFill>
          <a:ln/>
        </p:spPr>
      </p:sp>
      <p:sp>
        <p:nvSpPr>
          <p:cNvPr id="9" name="Text 7"/>
          <p:cNvSpPr/>
          <p:nvPr/>
        </p:nvSpPr>
        <p:spPr>
          <a:xfrm>
            <a:off x="640080" y="2194560"/>
            <a:ext cx="2286000" cy="731520"/>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Skill模板下载</a:t>
            </a:r>
            <a:endParaRPr lang="en-US" sz="1200" dirty="0"/>
          </a:p>
        </p:txBody>
      </p:sp>
      <p:sp>
        <p:nvSpPr>
          <p:cNvPr id="10" name="Text 8"/>
          <p:cNvSpPr/>
          <p:nvPr/>
        </p:nvSpPr>
        <p:spPr>
          <a:xfrm>
            <a:off x="3108960" y="2194560"/>
            <a:ext cx="5394960" cy="731520"/>
          </a:xfrm>
          <a:prstGeom prst="rect">
            <a:avLst/>
          </a:prstGeom>
          <a:noFill/>
          <a:ln/>
        </p:spPr>
        <p:txBody>
          <a:bodyPr wrap="square" rtlCol="0" anchor="ctr"/>
          <a:lstStyle/>
          <a:p>
            <a:pPr indent="0" marL="0">
              <a:buNone/>
            </a:pPr>
            <a:r>
              <a:rPr lang="en-US" sz="1200" dirty="0">
                <a:solidFill>
                  <a:srgbClr val="374151"/>
                </a:solidFill>
                <a:latin typeface="Microsoft YaHei" pitchFamily="34" charset="0"/>
                <a:ea typeface="Microsoft YaHei" pitchFamily="34" charset="-122"/>
                <a:cs typeface="Microsoft YaHei" pitchFamily="34" charset="-120"/>
              </a:rPr>
              <a:t>访问课程官网下载最新模板</a:t>
            </a:r>
            <a:endParaRPr lang="en-US" sz="1200" dirty="0"/>
          </a:p>
        </p:txBody>
      </p:sp>
      <p:sp>
        <p:nvSpPr>
          <p:cNvPr id="11" name="Shape 9"/>
          <p:cNvSpPr/>
          <p:nvPr/>
        </p:nvSpPr>
        <p:spPr>
          <a:xfrm>
            <a:off x="640080" y="3291840"/>
            <a:ext cx="2286000" cy="731520"/>
          </a:xfrm>
          <a:prstGeom prst="roundRect">
            <a:avLst>
              <a:gd name="adj" fmla="val 10000"/>
            </a:avLst>
          </a:prstGeom>
          <a:solidFill>
            <a:srgbClr val="EF4444"/>
          </a:solidFill>
          <a:ln/>
        </p:spPr>
      </p:sp>
      <p:sp>
        <p:nvSpPr>
          <p:cNvPr id="12" name="Text 10"/>
          <p:cNvSpPr/>
          <p:nvPr/>
        </p:nvSpPr>
        <p:spPr>
          <a:xfrm>
            <a:off x="640080" y="3291840"/>
            <a:ext cx="2286000" cy="731520"/>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持续更新</a:t>
            </a:r>
            <a:endParaRPr lang="en-US" sz="1200" dirty="0"/>
          </a:p>
        </p:txBody>
      </p:sp>
      <p:sp>
        <p:nvSpPr>
          <p:cNvPr id="13" name="Text 11"/>
          <p:cNvSpPr/>
          <p:nvPr/>
        </p:nvSpPr>
        <p:spPr>
          <a:xfrm>
            <a:off x="3108960" y="3291840"/>
            <a:ext cx="5394960" cy="731520"/>
          </a:xfrm>
          <a:prstGeom prst="rect">
            <a:avLst/>
          </a:prstGeom>
          <a:noFill/>
          <a:ln/>
        </p:spPr>
        <p:txBody>
          <a:bodyPr wrap="square" rtlCol="0" anchor="ctr"/>
          <a:lstStyle/>
          <a:p>
            <a:pPr indent="0" marL="0">
              <a:buNone/>
            </a:pPr>
            <a:r>
              <a:rPr lang="en-US" sz="1200" dirty="0">
                <a:solidFill>
                  <a:srgbClr val="374151"/>
                </a:solidFill>
                <a:latin typeface="Microsoft YaHei" pitchFamily="34" charset="0"/>
                <a:ea typeface="Microsoft YaHei" pitchFamily="34" charset="-122"/>
                <a:cs typeface="Microsoft YaHei" pitchFamily="34" charset="-120"/>
              </a:rPr>
              <a:t>课程内容将根据学员反馈持续迭代</a:t>
            </a:r>
            <a:endParaRPr lang="en-US" sz="1200" dirty="0"/>
          </a:p>
        </p:txBody>
      </p:sp>
      <p:sp>
        <p:nvSpPr>
          <p:cNvPr id="14" name="Text 12"/>
          <p:cNvSpPr/>
          <p:nvPr/>
        </p:nvSpPr>
        <p:spPr>
          <a:xfrm>
            <a:off x="8503920" y="4663440"/>
            <a:ext cx="457200" cy="274320"/>
          </a:xfrm>
          <a:prstGeom prst="rect">
            <a:avLst/>
          </a:prstGeom>
          <a:noFill/>
          <a:ln/>
        </p:spPr>
        <p:txBody>
          <a:bodyPr wrap="square" rtlCol="0" anchor="ctr"/>
          <a:lstStyle/>
          <a:p>
            <a:pPr algn="ctr" indent="0" marL="0">
              <a:buNone/>
            </a:pPr>
            <a:r>
              <a:rPr lang="en-US" sz="1000" dirty="0">
                <a:solidFill>
                  <a:srgbClr val="374151"/>
                </a:solidFill>
                <a:latin typeface="Arial" pitchFamily="34" charset="0"/>
                <a:ea typeface="Arial" pitchFamily="34" charset="-122"/>
                <a:cs typeface="Arial" pitchFamily="34" charset="-120"/>
              </a:rPr>
              <a:t>163</a:t>
            </a:r>
            <a:endParaRPr lang="en-US" sz="1000" dirty="0"/>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F4444"/>
          </a:solidFill>
          <a:ln/>
        </p:spPr>
      </p:sp>
      <p:sp>
        <p:nvSpPr>
          <p:cNvPr id="3" name="Text 1"/>
          <p:cNvSpPr/>
          <p:nvPr/>
        </p:nvSpPr>
        <p:spPr>
          <a:xfrm>
            <a:off x="457200" y="274320"/>
            <a:ext cx="8229600" cy="457200"/>
          </a:xfrm>
          <a:prstGeom prst="rect">
            <a:avLst/>
          </a:prstGeom>
          <a:noFill/>
          <a:ln/>
        </p:spPr>
        <p:txBody>
          <a:bodyPr wrap="square" rtlCol="0" anchor="ctr"/>
          <a:lstStyle/>
          <a:p>
            <a:pPr indent="0" marL="0">
              <a:buNone/>
            </a:pPr>
            <a:r>
              <a:rPr lang="en-US" sz="1800" b="1" dirty="0">
                <a:solidFill>
                  <a:srgbClr val="B91C1C"/>
                </a:solidFill>
                <a:latin typeface="Microsoft YaHei" pitchFamily="34" charset="0"/>
                <a:ea typeface="Microsoft YaHei" pitchFamily="34" charset="-122"/>
                <a:cs typeface="Microsoft YaHei" pitchFamily="34" charset="-120"/>
              </a:rPr>
              <a:t>Q&amp;A 问答环节</a:t>
            </a:r>
            <a:endParaRPr lang="en-US" sz="1800" dirty="0"/>
          </a:p>
        </p:txBody>
      </p:sp>
      <p:sp>
        <p:nvSpPr>
          <p:cNvPr id="4" name="Shape 2"/>
          <p:cNvSpPr/>
          <p:nvPr/>
        </p:nvSpPr>
        <p:spPr>
          <a:xfrm>
            <a:off x="2286000" y="1371600"/>
            <a:ext cx="4572000" cy="2743200"/>
          </a:xfrm>
          <a:prstGeom prst="roundRect">
            <a:avLst>
              <a:gd name="adj" fmla="val 5000"/>
            </a:avLst>
          </a:prstGeom>
          <a:solidFill>
            <a:srgbClr val="F3F4F6"/>
          </a:solidFill>
          <a:ln/>
        </p:spPr>
      </p:sp>
      <p:sp>
        <p:nvSpPr>
          <p:cNvPr id="5" name="Text 3"/>
          <p:cNvSpPr/>
          <p:nvPr/>
        </p:nvSpPr>
        <p:spPr>
          <a:xfrm>
            <a:off x="2286000" y="1554480"/>
            <a:ext cx="4572000" cy="1371600"/>
          </a:xfrm>
          <a:prstGeom prst="rect">
            <a:avLst/>
          </a:prstGeom>
          <a:noFill/>
          <a:ln/>
        </p:spPr>
        <p:txBody>
          <a:bodyPr wrap="square" rtlCol="0" anchor="ctr"/>
          <a:lstStyle/>
          <a:p>
            <a:pPr algn="ctr" indent="0" marL="0">
              <a:buNone/>
            </a:pPr>
            <a:r>
              <a:rPr lang="en-US" sz="8000" b="1" dirty="0">
                <a:solidFill>
                  <a:srgbClr val="EF4444"/>
                </a:solidFill>
                <a:latin typeface="Georgia" pitchFamily="34" charset="0"/>
                <a:ea typeface="Georgia" pitchFamily="34" charset="-122"/>
                <a:cs typeface="Georgia" pitchFamily="34" charset="-120"/>
              </a:rPr>
              <a:t>?</a:t>
            </a:r>
            <a:endParaRPr lang="en-US" sz="8000" dirty="0"/>
          </a:p>
        </p:txBody>
      </p:sp>
      <p:sp>
        <p:nvSpPr>
          <p:cNvPr id="6" name="Text 4"/>
          <p:cNvSpPr/>
          <p:nvPr/>
        </p:nvSpPr>
        <p:spPr>
          <a:xfrm>
            <a:off x="2286000" y="3017520"/>
            <a:ext cx="4572000" cy="548640"/>
          </a:xfrm>
          <a:prstGeom prst="rect">
            <a:avLst/>
          </a:prstGeom>
          <a:noFill/>
          <a:ln/>
        </p:spPr>
        <p:txBody>
          <a:bodyPr wrap="square" rtlCol="0" anchor="ctr"/>
          <a:lstStyle/>
          <a:p>
            <a:pPr algn="ctr" indent="0" marL="0">
              <a:buNone/>
            </a:pPr>
            <a:r>
              <a:rPr lang="en-US" sz="1600" dirty="0">
                <a:solidFill>
                  <a:srgbClr val="374151"/>
                </a:solidFill>
                <a:latin typeface="Microsoft YaHei" pitchFamily="34" charset="0"/>
                <a:ea typeface="Microsoft YaHei" pitchFamily="34" charset="-122"/>
                <a:cs typeface="Microsoft YaHei" pitchFamily="34" charset="-120"/>
              </a:rPr>
              <a:t>欢迎提问</a:t>
            </a:r>
            <a:endParaRPr lang="en-US" sz="1600" dirty="0"/>
          </a:p>
        </p:txBody>
      </p:sp>
      <p:sp>
        <p:nvSpPr>
          <p:cNvPr id="7" name="Text 5"/>
          <p:cNvSpPr/>
          <p:nvPr/>
        </p:nvSpPr>
        <p:spPr>
          <a:xfrm>
            <a:off x="8503920" y="4663440"/>
            <a:ext cx="457200" cy="274320"/>
          </a:xfrm>
          <a:prstGeom prst="rect">
            <a:avLst/>
          </a:prstGeom>
          <a:noFill/>
          <a:ln/>
        </p:spPr>
        <p:txBody>
          <a:bodyPr wrap="square" rtlCol="0" anchor="ctr"/>
          <a:lstStyle/>
          <a:p>
            <a:pPr algn="ctr" indent="0" marL="0">
              <a:buNone/>
            </a:pPr>
            <a:r>
              <a:rPr lang="en-US" sz="1000" dirty="0">
                <a:solidFill>
                  <a:srgbClr val="374151"/>
                </a:solidFill>
                <a:latin typeface="Arial" pitchFamily="34" charset="0"/>
                <a:ea typeface="Arial" pitchFamily="34" charset="-122"/>
                <a:cs typeface="Arial" pitchFamily="34" charset="-120"/>
              </a:rPr>
              <a:t>164</a:t>
            </a:r>
            <a:endParaRPr lang="en-US" sz="1000" dirty="0"/>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B91C1C"/>
          </a:solidFill>
          <a:ln/>
        </p:spPr>
      </p:sp>
      <p:sp>
        <p:nvSpPr>
          <p:cNvPr id="3" name="Text 1"/>
          <p:cNvSpPr/>
          <p:nvPr/>
        </p:nvSpPr>
        <p:spPr>
          <a:xfrm>
            <a:off x="457200" y="1828800"/>
            <a:ext cx="8229600" cy="1097280"/>
          </a:xfrm>
          <a:prstGeom prst="rect">
            <a:avLst/>
          </a:prstGeom>
          <a:noFill/>
          <a:ln/>
        </p:spPr>
        <p:txBody>
          <a:bodyPr wrap="square" rtlCol="0" anchor="ctr"/>
          <a:lstStyle/>
          <a:p>
            <a:pPr algn="ctr" indent="0" marL="0">
              <a:buNone/>
            </a:pPr>
            <a:r>
              <a:rPr lang="en-US" sz="5400" b="1" dirty="0">
                <a:solidFill>
                  <a:srgbClr val="FFFFFF"/>
                </a:solidFill>
                <a:latin typeface="Microsoft YaHei" pitchFamily="34" charset="0"/>
                <a:ea typeface="Microsoft YaHei" pitchFamily="34" charset="-122"/>
                <a:cs typeface="Microsoft YaHei" pitchFamily="34" charset="-120"/>
              </a:rPr>
              <a:t>感谢聆听</a:t>
            </a:r>
            <a:endParaRPr lang="en-US" sz="5400" dirty="0"/>
          </a:p>
        </p:txBody>
      </p:sp>
      <p:sp>
        <p:nvSpPr>
          <p:cNvPr id="4" name="Shape 2"/>
          <p:cNvSpPr/>
          <p:nvPr/>
        </p:nvSpPr>
        <p:spPr>
          <a:xfrm>
            <a:off x="3657600" y="3108960"/>
            <a:ext cx="1828800" cy="54864"/>
          </a:xfrm>
          <a:prstGeom prst="rect">
            <a:avLst/>
          </a:prstGeom>
          <a:solidFill>
            <a:srgbClr val="EF4444"/>
          </a:solidFill>
          <a:ln/>
        </p:spPr>
      </p:sp>
      <p:sp>
        <p:nvSpPr>
          <p:cNvPr id="5" name="Text 3"/>
          <p:cNvSpPr/>
          <p:nvPr/>
        </p:nvSpPr>
        <p:spPr>
          <a:xfrm>
            <a:off x="457200" y="3474720"/>
            <a:ext cx="8229600" cy="548640"/>
          </a:xfrm>
          <a:prstGeom prst="rect">
            <a:avLst/>
          </a:prstGeom>
          <a:noFill/>
          <a:ln/>
        </p:spPr>
        <p:txBody>
          <a:bodyPr wrap="square" rtlCol="0" anchor="ctr"/>
          <a:lstStyle/>
          <a:p>
            <a:pPr algn="ctr" indent="0" marL="0">
              <a:buNone/>
            </a:pPr>
            <a:r>
              <a:rPr lang="en-US" sz="1600" dirty="0">
                <a:solidFill>
                  <a:srgbClr val="FFFFFF"/>
                </a:solidFill>
                <a:latin typeface="Microsoft YaHei" pitchFamily="34" charset="0"/>
                <a:ea typeface="Microsoft YaHei" pitchFamily="34" charset="-122"/>
                <a:cs typeface="Microsoft YaHei" pitchFamily="34" charset="-120"/>
              </a:rPr>
              <a:t>祝各位构建出不请假的数字员工团队</a:t>
            </a:r>
            <a:endParaRPr lang="en-US" sz="1600" dirty="0"/>
          </a:p>
        </p:txBody>
      </p:sp>
      <p:sp>
        <p:nvSpPr>
          <p:cNvPr id="6" name="Text 4"/>
          <p:cNvSpPr/>
          <p:nvPr/>
        </p:nvSpPr>
        <p:spPr>
          <a:xfrm>
            <a:off x="8503920" y="4663440"/>
            <a:ext cx="457200" cy="274320"/>
          </a:xfrm>
          <a:prstGeom prst="rect">
            <a:avLst/>
          </a:prstGeom>
          <a:noFill/>
          <a:ln/>
        </p:spPr>
        <p:txBody>
          <a:bodyPr wrap="square" rtlCol="0" anchor="ctr"/>
          <a:lstStyle/>
          <a:p>
            <a:pPr algn="ctr" indent="0" marL="0">
              <a:buNone/>
            </a:pPr>
            <a:r>
              <a:rPr lang="en-US" sz="1000" dirty="0">
                <a:solidFill>
                  <a:srgbClr val="FFFFFF"/>
                </a:solidFill>
                <a:latin typeface="Arial" pitchFamily="34" charset="0"/>
                <a:ea typeface="Arial" pitchFamily="34" charset="-122"/>
                <a:cs typeface="Arial" pitchFamily="34" charset="-120"/>
              </a:rPr>
              <a:t>165</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136</Slides>
  <Notes>136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136</vt:i4>
      </vt:variant>
    </vt:vector>
  </HeadingPairs>
  <TitlesOfParts>
    <vt:vector size="1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lpstr>Slide 134</vt:lpstr>
      <vt:lpstr>Slide 135</vt:lpstr>
      <vt:lpstr>Slide 136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不请假的团队：构建AI数字员工协作体系</dc:title>
  <dc:subject>PptxGenJS Presentation</dc:subject>
  <dc:creator>罗宏伟</dc:creator>
  <cp:lastModifiedBy>罗宏伟</cp:lastModifiedBy>
  <cp:revision>1</cp:revision>
  <dcterms:created xsi:type="dcterms:W3CDTF">2026-05-19T04:54:01Z</dcterms:created>
  <dcterms:modified xsi:type="dcterms:W3CDTF">2026-05-19T04:54:01Z</dcterms:modified>
</cp:coreProperties>
</file>