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专项经验萃取</a:t>
            </a:r>
            <a:endParaRPr lang="en-US" sz="2800" dirty="0"/>
          </a:p>
        </p:txBody>
      </p:sp>
      <p:sp>
        <p:nvSpPr>
          <p:cNvPr id="4" name="Text 2"/>
          <p:cNvSpPr/>
          <p:nvPr/>
        </p:nvSpPr>
        <p:spPr>
          <a:xfrm>
            <a:off x="457200" y="822960"/>
            <a:ext cx="8229600" cy="365760"/>
          </a:xfrm>
          <a:prstGeom prst="rect">
            <a:avLst/>
          </a:prstGeom>
          <a:noFill/>
          <a:ln/>
        </p:spPr>
        <p:txBody>
          <a:bodyPr wrap="square" rtlCol="0" anchor="ctr"/>
          <a:lstStyle/>
          <a:p>
            <a:pPr indent="0" marL="0">
              <a:buNone/>
            </a:pPr>
            <a:r>
              <a:rPr lang="en-US" sz="1600" dirty="0">
                <a:solidFill>
                  <a:srgbClr val="374151"/>
                </a:solidFill>
                <a:latin typeface="Microsoft YaHei" pitchFamily="34" charset="0"/>
                <a:ea typeface="Microsoft YaHei" pitchFamily="34" charset="-122"/>
                <a:cs typeface="Microsoft YaHei" pitchFamily="34" charset="-120"/>
              </a:rPr>
              <a:t>你的业务判断藏在哪三个层次里</a:t>
            </a:r>
            <a:endParaRPr lang="en-US" sz="1600" dirty="0"/>
          </a:p>
        </p:txBody>
      </p:sp>
      <p:sp>
        <p:nvSpPr>
          <p:cNvPr id="5" name="Shape 3"/>
          <p:cNvSpPr/>
          <p:nvPr/>
        </p:nvSpPr>
        <p:spPr>
          <a:xfrm>
            <a:off x="457200" y="1371600"/>
            <a:ext cx="2651760" cy="2560320"/>
          </a:xfrm>
          <a:prstGeom prst="roundRect">
            <a:avLst>
              <a:gd name="adj" fmla="val 3571"/>
            </a:avLst>
          </a:prstGeom>
          <a:solidFill>
            <a:srgbClr val="F3F4F6"/>
          </a:solidFill>
          <a:ln/>
        </p:spPr>
      </p:sp>
      <p:sp>
        <p:nvSpPr>
          <p:cNvPr id="6" name="Shape 4"/>
          <p:cNvSpPr/>
          <p:nvPr/>
        </p:nvSpPr>
        <p:spPr>
          <a:xfrm>
            <a:off x="1417320" y="1645920"/>
            <a:ext cx="731520" cy="731520"/>
          </a:xfrm>
          <a:prstGeom prst="ellipse">
            <a:avLst/>
          </a:prstGeom>
          <a:solidFill>
            <a:srgbClr val="EF4444"/>
          </a:solidFill>
          <a:ln/>
        </p:spPr>
      </p:sp>
      <p:sp>
        <p:nvSpPr>
          <p:cNvPr id="7" name="Text 5"/>
          <p:cNvSpPr/>
          <p:nvPr/>
        </p:nvSpPr>
        <p:spPr>
          <a:xfrm>
            <a:off x="1417320" y="1645920"/>
            <a:ext cx="731520" cy="73152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8" name="Text 6"/>
          <p:cNvSpPr/>
          <p:nvPr/>
        </p:nvSpPr>
        <p:spPr>
          <a:xfrm>
            <a:off x="640080" y="2560320"/>
            <a:ext cx="2286000" cy="45720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显性规则</a:t>
            </a:r>
            <a:endParaRPr lang="en-US" sz="1600" dirty="0"/>
          </a:p>
        </p:txBody>
      </p:sp>
      <p:sp>
        <p:nvSpPr>
          <p:cNvPr id="9" name="Text 7"/>
          <p:cNvSpPr/>
          <p:nvPr/>
        </p:nvSpPr>
        <p:spPr>
          <a:xfrm>
            <a:off x="640080" y="3108960"/>
            <a:ext cx="2286000" cy="64008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能直接说出来的规则</a:t>
            </a:r>
            <a:endParaRPr lang="en-US" sz="1200" dirty="0"/>
          </a:p>
        </p:txBody>
      </p:sp>
      <p:sp>
        <p:nvSpPr>
          <p:cNvPr id="10" name="Shape 8"/>
          <p:cNvSpPr/>
          <p:nvPr/>
        </p:nvSpPr>
        <p:spPr>
          <a:xfrm>
            <a:off x="3291840" y="1371600"/>
            <a:ext cx="2651760" cy="2560320"/>
          </a:xfrm>
          <a:prstGeom prst="roundRect">
            <a:avLst>
              <a:gd name="adj" fmla="val 3571"/>
            </a:avLst>
          </a:prstGeom>
          <a:solidFill>
            <a:srgbClr val="F3F4F6"/>
          </a:solidFill>
          <a:ln/>
        </p:spPr>
      </p:sp>
      <p:sp>
        <p:nvSpPr>
          <p:cNvPr id="11" name="Shape 9"/>
          <p:cNvSpPr/>
          <p:nvPr/>
        </p:nvSpPr>
        <p:spPr>
          <a:xfrm>
            <a:off x="4251960" y="1645920"/>
            <a:ext cx="731520" cy="731520"/>
          </a:xfrm>
          <a:prstGeom prst="ellipse">
            <a:avLst/>
          </a:prstGeom>
          <a:solidFill>
            <a:srgbClr val="EF4444"/>
          </a:solidFill>
          <a:ln/>
        </p:spPr>
      </p:sp>
      <p:sp>
        <p:nvSpPr>
          <p:cNvPr id="12" name="Text 10"/>
          <p:cNvSpPr/>
          <p:nvPr/>
        </p:nvSpPr>
        <p:spPr>
          <a:xfrm>
            <a:off x="4251960" y="1645920"/>
            <a:ext cx="731520" cy="73152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p:nvPr/>
        </p:nvSpPr>
        <p:spPr>
          <a:xfrm>
            <a:off x="3474720" y="2560320"/>
            <a:ext cx="2286000" cy="45720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隐性判断</a:t>
            </a:r>
            <a:endParaRPr lang="en-US" sz="1600" dirty="0"/>
          </a:p>
        </p:txBody>
      </p:sp>
      <p:sp>
        <p:nvSpPr>
          <p:cNvPr id="14" name="Text 12"/>
          <p:cNvSpPr/>
          <p:nvPr/>
        </p:nvSpPr>
        <p:spPr>
          <a:xfrm>
            <a:off x="3474720" y="3108960"/>
            <a:ext cx="2286000" cy="64008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凭感觉做，但说不清楚</a:t>
            </a:r>
            <a:endParaRPr lang="en-US" sz="1200" dirty="0"/>
          </a:p>
        </p:txBody>
      </p:sp>
      <p:sp>
        <p:nvSpPr>
          <p:cNvPr id="15" name="Shape 13"/>
          <p:cNvSpPr/>
          <p:nvPr/>
        </p:nvSpPr>
        <p:spPr>
          <a:xfrm>
            <a:off x="6126480" y="1371600"/>
            <a:ext cx="2651760" cy="2560320"/>
          </a:xfrm>
          <a:prstGeom prst="roundRect">
            <a:avLst>
              <a:gd name="adj" fmla="val 3571"/>
            </a:avLst>
          </a:prstGeom>
          <a:solidFill>
            <a:srgbClr val="F3F4F6"/>
          </a:solidFill>
          <a:ln/>
        </p:spPr>
      </p:sp>
      <p:sp>
        <p:nvSpPr>
          <p:cNvPr id="16" name="Shape 14"/>
          <p:cNvSpPr/>
          <p:nvPr/>
        </p:nvSpPr>
        <p:spPr>
          <a:xfrm>
            <a:off x="7086600" y="1645920"/>
            <a:ext cx="731520" cy="731520"/>
          </a:xfrm>
          <a:prstGeom prst="ellipse">
            <a:avLst/>
          </a:prstGeom>
          <a:solidFill>
            <a:srgbClr val="EF4444"/>
          </a:solidFill>
          <a:ln/>
        </p:spPr>
      </p:sp>
      <p:sp>
        <p:nvSpPr>
          <p:cNvPr id="17" name="Text 15"/>
          <p:cNvSpPr/>
          <p:nvPr/>
        </p:nvSpPr>
        <p:spPr>
          <a:xfrm>
            <a:off x="7086600" y="1645920"/>
            <a:ext cx="731520" cy="73152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8" name="Text 16"/>
          <p:cNvSpPr/>
          <p:nvPr/>
        </p:nvSpPr>
        <p:spPr>
          <a:xfrm>
            <a:off x="6309360" y="2560320"/>
            <a:ext cx="2286000" cy="45720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量化条件</a:t>
            </a:r>
            <a:endParaRPr lang="en-US" sz="1600" dirty="0"/>
          </a:p>
        </p:txBody>
      </p:sp>
      <p:sp>
        <p:nvSpPr>
          <p:cNvPr id="19" name="Text 17"/>
          <p:cNvSpPr/>
          <p:nvPr/>
        </p:nvSpPr>
        <p:spPr>
          <a:xfrm>
            <a:off x="6309360" y="3108960"/>
            <a:ext cx="2286000" cy="64008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把模糊标准变成可识别的触发条件</a:t>
            </a:r>
            <a:endParaRPr lang="en-US" sz="1200" dirty="0"/>
          </a:p>
        </p:txBody>
      </p:sp>
      <p:sp>
        <p:nvSpPr>
          <p:cNvPr id="20" name="Shape 18"/>
          <p:cNvSpPr/>
          <p:nvPr/>
        </p:nvSpPr>
        <p:spPr>
          <a:xfrm>
            <a:off x="8503920" y="4663440"/>
            <a:ext cx="365760" cy="365760"/>
          </a:xfrm>
          <a:prstGeom prst="ellipse">
            <a:avLst/>
          </a:prstGeom>
          <a:solidFill>
            <a:srgbClr val="EF4444"/>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三层经验的区别</a:t>
            </a:r>
            <a:endParaRPr lang="en-US" sz="2400" dirty="0"/>
          </a:p>
        </p:txBody>
      </p:sp>
      <p:sp>
        <p:nvSpPr>
          <p:cNvPr id="4" name="Shape 2"/>
          <p:cNvSpPr/>
          <p:nvPr/>
        </p:nvSpPr>
        <p:spPr>
          <a:xfrm>
            <a:off x="457200" y="914400"/>
            <a:ext cx="1645920" cy="457200"/>
          </a:xfrm>
          <a:prstGeom prst="rect">
            <a:avLst/>
          </a:prstGeom>
          <a:solidFill>
            <a:srgbClr val="B91C1C"/>
          </a:solidFill>
          <a:ln/>
        </p:spPr>
      </p:sp>
      <p:sp>
        <p:nvSpPr>
          <p:cNvPr id="5" name="Text 3"/>
          <p:cNvSpPr/>
          <p:nvPr/>
        </p:nvSpPr>
        <p:spPr>
          <a:xfrm>
            <a:off x="457200" y="914400"/>
            <a:ext cx="164592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层次</a:t>
            </a:r>
            <a:endParaRPr lang="en-US" sz="1400" dirty="0"/>
          </a:p>
        </p:txBody>
      </p:sp>
      <p:sp>
        <p:nvSpPr>
          <p:cNvPr id="6" name="Shape 4"/>
          <p:cNvSpPr/>
          <p:nvPr/>
        </p:nvSpPr>
        <p:spPr>
          <a:xfrm>
            <a:off x="2103120" y="914400"/>
            <a:ext cx="3200400" cy="457200"/>
          </a:xfrm>
          <a:prstGeom prst="rect">
            <a:avLst/>
          </a:prstGeom>
          <a:solidFill>
            <a:srgbClr val="B91C1C"/>
          </a:solidFill>
          <a:ln/>
        </p:spPr>
      </p:sp>
      <p:sp>
        <p:nvSpPr>
          <p:cNvPr id="7" name="Text 5"/>
          <p:cNvSpPr/>
          <p:nvPr/>
        </p:nvSpPr>
        <p:spPr>
          <a:xfrm>
            <a:off x="2103120" y="914400"/>
            <a:ext cx="320040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例子</a:t>
            </a:r>
            <a:endParaRPr lang="en-US" sz="1400" dirty="0"/>
          </a:p>
        </p:txBody>
      </p:sp>
      <p:sp>
        <p:nvSpPr>
          <p:cNvPr id="8" name="Shape 6"/>
          <p:cNvSpPr/>
          <p:nvPr/>
        </p:nvSpPr>
        <p:spPr>
          <a:xfrm>
            <a:off x="5303520" y="914400"/>
            <a:ext cx="3383280" cy="457200"/>
          </a:xfrm>
          <a:prstGeom prst="rect">
            <a:avLst/>
          </a:prstGeom>
          <a:solidFill>
            <a:srgbClr val="B91C1C"/>
          </a:solidFill>
          <a:ln/>
        </p:spPr>
      </p:sp>
      <p:sp>
        <p:nvSpPr>
          <p:cNvPr id="9" name="Text 7"/>
          <p:cNvSpPr/>
          <p:nvPr/>
        </p:nvSpPr>
        <p:spPr>
          <a:xfrm>
            <a:off x="5303520" y="914400"/>
            <a:ext cx="338328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萃取方法</a:t>
            </a:r>
            <a:endParaRPr lang="en-US" sz="1400" dirty="0"/>
          </a:p>
        </p:txBody>
      </p:sp>
      <p:sp>
        <p:nvSpPr>
          <p:cNvPr id="10" name="Shape 8"/>
          <p:cNvSpPr/>
          <p:nvPr/>
        </p:nvSpPr>
        <p:spPr>
          <a:xfrm>
            <a:off x="457200" y="1371600"/>
            <a:ext cx="1645920" cy="685800"/>
          </a:xfrm>
          <a:prstGeom prst="rect">
            <a:avLst/>
          </a:prstGeom>
          <a:solidFill>
            <a:srgbClr val="F3F4F6"/>
          </a:solidFill>
          <a:ln/>
        </p:spPr>
      </p:sp>
      <p:sp>
        <p:nvSpPr>
          <p:cNvPr id="11" name="Text 9"/>
          <p:cNvSpPr/>
          <p:nvPr/>
        </p:nvSpPr>
        <p:spPr>
          <a:xfrm>
            <a:off x="548640" y="1371600"/>
            <a:ext cx="14630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显性规则</a:t>
            </a:r>
            <a:endParaRPr lang="en-US" sz="1200" dirty="0"/>
          </a:p>
        </p:txBody>
      </p:sp>
      <p:sp>
        <p:nvSpPr>
          <p:cNvPr id="12" name="Shape 10"/>
          <p:cNvSpPr/>
          <p:nvPr/>
        </p:nvSpPr>
        <p:spPr>
          <a:xfrm>
            <a:off x="2103120" y="1371600"/>
            <a:ext cx="3200400" cy="685800"/>
          </a:xfrm>
          <a:prstGeom prst="rect">
            <a:avLst/>
          </a:prstGeom>
          <a:solidFill>
            <a:srgbClr val="F3F4F6"/>
          </a:solidFill>
          <a:ln/>
        </p:spPr>
      </p:sp>
      <p:sp>
        <p:nvSpPr>
          <p:cNvPr id="13" name="Text 11"/>
          <p:cNvSpPr/>
          <p:nvPr/>
        </p:nvSpPr>
        <p:spPr>
          <a:xfrm>
            <a:off x="2194560" y="1371600"/>
            <a:ext cx="30175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超过500元需主管介入</a:t>
            </a:r>
            <a:endParaRPr lang="en-US" sz="1200" dirty="0"/>
          </a:p>
        </p:txBody>
      </p:sp>
      <p:sp>
        <p:nvSpPr>
          <p:cNvPr id="14" name="Shape 12"/>
          <p:cNvSpPr/>
          <p:nvPr/>
        </p:nvSpPr>
        <p:spPr>
          <a:xfrm>
            <a:off x="5303520" y="1371600"/>
            <a:ext cx="3383280" cy="685800"/>
          </a:xfrm>
          <a:prstGeom prst="rect">
            <a:avLst/>
          </a:prstGeom>
          <a:solidFill>
            <a:srgbClr val="F3F4F6"/>
          </a:solidFill>
          <a:ln/>
        </p:spPr>
      </p:sp>
      <p:sp>
        <p:nvSpPr>
          <p:cNvPr id="15" name="Text 13"/>
          <p:cNvSpPr/>
          <p:nvPr/>
        </p:nvSpPr>
        <p:spPr>
          <a:xfrm>
            <a:off x="5394960" y="1371600"/>
            <a:ext cx="32004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格式化即可</a:t>
            </a:r>
            <a:endParaRPr lang="en-US" sz="1200" dirty="0"/>
          </a:p>
        </p:txBody>
      </p:sp>
      <p:sp>
        <p:nvSpPr>
          <p:cNvPr id="16" name="Shape 14"/>
          <p:cNvSpPr/>
          <p:nvPr/>
        </p:nvSpPr>
        <p:spPr>
          <a:xfrm>
            <a:off x="457200" y="2148840"/>
            <a:ext cx="1645920" cy="685800"/>
          </a:xfrm>
          <a:prstGeom prst="rect">
            <a:avLst/>
          </a:prstGeom>
          <a:solidFill>
            <a:srgbClr val="FFFFFF"/>
          </a:solidFill>
          <a:ln/>
        </p:spPr>
      </p:sp>
      <p:sp>
        <p:nvSpPr>
          <p:cNvPr id="17" name="Text 15"/>
          <p:cNvSpPr/>
          <p:nvPr/>
        </p:nvSpPr>
        <p:spPr>
          <a:xfrm>
            <a:off x="548640" y="2148840"/>
            <a:ext cx="14630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隐性判断</a:t>
            </a:r>
            <a:endParaRPr lang="en-US" sz="1200" dirty="0"/>
          </a:p>
        </p:txBody>
      </p:sp>
      <p:sp>
        <p:nvSpPr>
          <p:cNvPr id="18" name="Shape 16"/>
          <p:cNvSpPr/>
          <p:nvPr/>
        </p:nvSpPr>
        <p:spPr>
          <a:xfrm>
            <a:off x="2103120" y="2148840"/>
            <a:ext cx="3200400" cy="685800"/>
          </a:xfrm>
          <a:prstGeom prst="rect">
            <a:avLst/>
          </a:prstGeom>
          <a:solidFill>
            <a:srgbClr val="FFFFFF"/>
          </a:solidFill>
          <a:ln/>
        </p:spPr>
      </p:sp>
      <p:sp>
        <p:nvSpPr>
          <p:cNvPr id="19" name="Text 17"/>
          <p:cNvSpPr/>
          <p:nvPr/>
        </p:nvSpPr>
        <p:spPr>
          <a:xfrm>
            <a:off x="2194560" y="2148840"/>
            <a:ext cx="30175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这个客户像职业投诉人</a:t>
            </a:r>
            <a:endParaRPr lang="en-US" sz="1200" dirty="0"/>
          </a:p>
        </p:txBody>
      </p:sp>
      <p:sp>
        <p:nvSpPr>
          <p:cNvPr id="20" name="Shape 18"/>
          <p:cNvSpPr/>
          <p:nvPr/>
        </p:nvSpPr>
        <p:spPr>
          <a:xfrm>
            <a:off x="5303520" y="2148840"/>
            <a:ext cx="3383280" cy="685800"/>
          </a:xfrm>
          <a:prstGeom prst="rect">
            <a:avLst/>
          </a:prstGeom>
          <a:solidFill>
            <a:srgbClr val="FFFFFF"/>
          </a:solidFill>
          <a:ln/>
        </p:spPr>
      </p:sp>
      <p:sp>
        <p:nvSpPr>
          <p:cNvPr id="21" name="Text 19"/>
          <p:cNvSpPr/>
          <p:nvPr/>
        </p:nvSpPr>
        <p:spPr>
          <a:xfrm>
            <a:off x="5394960" y="2148840"/>
            <a:ext cx="32004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回忆三个"做得和新人不一样"的案例</a:t>
            </a:r>
            <a:endParaRPr lang="en-US" sz="1200" dirty="0"/>
          </a:p>
        </p:txBody>
      </p:sp>
      <p:sp>
        <p:nvSpPr>
          <p:cNvPr id="22" name="Shape 20"/>
          <p:cNvSpPr/>
          <p:nvPr/>
        </p:nvSpPr>
        <p:spPr>
          <a:xfrm>
            <a:off x="457200" y="2926080"/>
            <a:ext cx="1645920" cy="685800"/>
          </a:xfrm>
          <a:prstGeom prst="rect">
            <a:avLst/>
          </a:prstGeom>
          <a:solidFill>
            <a:srgbClr val="F3F4F6"/>
          </a:solidFill>
          <a:ln/>
        </p:spPr>
      </p:sp>
      <p:sp>
        <p:nvSpPr>
          <p:cNvPr id="23" name="Text 21"/>
          <p:cNvSpPr/>
          <p:nvPr/>
        </p:nvSpPr>
        <p:spPr>
          <a:xfrm>
            <a:off x="548640" y="2926080"/>
            <a:ext cx="14630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量化条件</a:t>
            </a:r>
            <a:endParaRPr lang="en-US" sz="1200" dirty="0"/>
          </a:p>
        </p:txBody>
      </p:sp>
      <p:sp>
        <p:nvSpPr>
          <p:cNvPr id="24" name="Shape 22"/>
          <p:cNvSpPr/>
          <p:nvPr/>
        </p:nvSpPr>
        <p:spPr>
          <a:xfrm>
            <a:off x="2103120" y="2926080"/>
            <a:ext cx="3200400" cy="685800"/>
          </a:xfrm>
          <a:prstGeom prst="rect">
            <a:avLst/>
          </a:prstGeom>
          <a:solidFill>
            <a:srgbClr val="F3F4F6"/>
          </a:solidFill>
          <a:ln/>
        </p:spPr>
      </p:sp>
      <p:sp>
        <p:nvSpPr>
          <p:cNvPr id="25" name="Text 23"/>
          <p:cNvSpPr/>
          <p:nvPr/>
        </p:nvSpPr>
        <p:spPr>
          <a:xfrm>
            <a:off x="2194560" y="2926080"/>
            <a:ext cx="30175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高优先级的具体情形</a:t>
            </a:r>
            <a:endParaRPr lang="en-US" sz="1200" dirty="0"/>
          </a:p>
        </p:txBody>
      </p:sp>
      <p:sp>
        <p:nvSpPr>
          <p:cNvPr id="26" name="Shape 24"/>
          <p:cNvSpPr/>
          <p:nvPr/>
        </p:nvSpPr>
        <p:spPr>
          <a:xfrm>
            <a:off x="5303520" y="2926080"/>
            <a:ext cx="3383280" cy="685800"/>
          </a:xfrm>
          <a:prstGeom prst="rect">
            <a:avLst/>
          </a:prstGeom>
          <a:solidFill>
            <a:srgbClr val="F3F4F6"/>
          </a:solidFill>
          <a:ln/>
        </p:spPr>
      </p:sp>
      <p:sp>
        <p:nvSpPr>
          <p:cNvPr id="27" name="Text 25"/>
          <p:cNvSpPr/>
          <p:nvPr/>
        </p:nvSpPr>
        <p:spPr>
          <a:xfrm>
            <a:off x="5394960" y="2926080"/>
            <a:ext cx="32004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问自己：具体是什么触发？</a:t>
            </a:r>
            <a:endParaRPr lang="en-US" sz="1200" dirty="0"/>
          </a:p>
        </p:txBody>
      </p:sp>
      <p:sp>
        <p:nvSpPr>
          <p:cNvPr id="28" name="Shape 26"/>
          <p:cNvSpPr/>
          <p:nvPr/>
        </p:nvSpPr>
        <p:spPr>
          <a:xfrm>
            <a:off x="8503920" y="4663440"/>
            <a:ext cx="365760" cy="365760"/>
          </a:xfrm>
          <a:prstGeom prst="ellipse">
            <a:avLst/>
          </a:prstGeom>
          <a:solidFill>
            <a:srgbClr val="EF4444"/>
          </a:solidFill>
          <a:ln/>
        </p:spPr>
      </p:sp>
      <p:sp>
        <p:nvSpPr>
          <p:cNvPr id="29" name="Text 2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规则写法的四个硬要求</a:t>
            </a:r>
            <a:endParaRPr lang="en-US" sz="2400" dirty="0"/>
          </a:p>
        </p:txBody>
      </p:sp>
      <p:sp>
        <p:nvSpPr>
          <p:cNvPr id="4" name="Shape 2"/>
          <p:cNvSpPr/>
          <p:nvPr/>
        </p:nvSpPr>
        <p:spPr>
          <a:xfrm>
            <a:off x="457200" y="914400"/>
            <a:ext cx="548640" cy="548640"/>
          </a:xfrm>
          <a:prstGeom prst="roundRect">
            <a:avLst>
              <a:gd name="adj" fmla="val 13333"/>
            </a:avLst>
          </a:prstGeom>
          <a:solidFill>
            <a:srgbClr val="EF4444"/>
          </a:solidFill>
          <a:ln/>
        </p:spPr>
      </p:sp>
      <p:sp>
        <p:nvSpPr>
          <p:cNvPr id="5" name="Text 3"/>
          <p:cNvSpPr/>
          <p:nvPr/>
        </p:nvSpPr>
        <p:spPr>
          <a:xfrm>
            <a:off x="457200" y="9144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188720" y="91440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条件可识别</a:t>
            </a:r>
            <a:endParaRPr lang="en-US" sz="1600" dirty="0"/>
          </a:p>
        </p:txBody>
      </p:sp>
      <p:sp>
        <p:nvSpPr>
          <p:cNvPr id="7" name="Text 5"/>
          <p:cNvSpPr/>
          <p:nvPr/>
        </p:nvSpPr>
        <p:spPr>
          <a:xfrm>
            <a:off x="1188720" y="123444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改成AI能检测到的信号</a:t>
            </a:r>
            <a:endParaRPr lang="en-US" sz="1300" dirty="0"/>
          </a:p>
        </p:txBody>
      </p:sp>
      <p:sp>
        <p:nvSpPr>
          <p:cNvPr id="8" name="Shape 6"/>
          <p:cNvSpPr/>
          <p:nvPr/>
        </p:nvSpPr>
        <p:spPr>
          <a:xfrm>
            <a:off x="457200" y="1828800"/>
            <a:ext cx="548640" cy="548640"/>
          </a:xfrm>
          <a:prstGeom prst="roundRect">
            <a:avLst>
              <a:gd name="adj" fmla="val 13333"/>
            </a:avLst>
          </a:prstGeom>
          <a:solidFill>
            <a:srgbClr val="EF4444"/>
          </a:solidFill>
          <a:ln/>
        </p:spPr>
      </p:sp>
      <p:sp>
        <p:nvSpPr>
          <p:cNvPr id="9" name="Text 7"/>
          <p:cNvSpPr/>
          <p:nvPr/>
        </p:nvSpPr>
        <p:spPr>
          <a:xfrm>
            <a:off x="457200" y="18288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1188720" y="182880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行动可执行</a:t>
            </a:r>
            <a:endParaRPr lang="en-US" sz="1600" dirty="0"/>
          </a:p>
        </p:txBody>
      </p:sp>
      <p:sp>
        <p:nvSpPr>
          <p:cNvPr id="11" name="Text 9"/>
          <p:cNvSpPr/>
          <p:nvPr/>
        </p:nvSpPr>
        <p:spPr>
          <a:xfrm>
            <a:off x="1188720" y="214884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具体到AI可以直接做</a:t>
            </a:r>
            <a:endParaRPr lang="en-US" sz="1300" dirty="0"/>
          </a:p>
        </p:txBody>
      </p:sp>
      <p:sp>
        <p:nvSpPr>
          <p:cNvPr id="12" name="Shape 10"/>
          <p:cNvSpPr/>
          <p:nvPr/>
        </p:nvSpPr>
        <p:spPr>
          <a:xfrm>
            <a:off x="457200" y="2743200"/>
            <a:ext cx="548640" cy="548640"/>
          </a:xfrm>
          <a:prstGeom prst="roundRect">
            <a:avLst>
              <a:gd name="adj" fmla="val 13333"/>
            </a:avLst>
          </a:prstGeom>
          <a:solidFill>
            <a:srgbClr val="EF4444"/>
          </a:solidFill>
          <a:ln/>
        </p:spPr>
      </p:sp>
      <p:sp>
        <p:nvSpPr>
          <p:cNvPr id="13" name="Text 11"/>
          <p:cNvSpPr/>
          <p:nvPr/>
        </p:nvSpPr>
        <p:spPr>
          <a:xfrm>
            <a:off x="457200" y="27432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4" name="Text 12"/>
          <p:cNvSpPr/>
          <p:nvPr/>
        </p:nvSpPr>
        <p:spPr>
          <a:xfrm>
            <a:off x="1188720" y="274320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关键规则用强制约束</a:t>
            </a:r>
            <a:endParaRPr lang="en-US" sz="1600" dirty="0"/>
          </a:p>
        </p:txBody>
      </p:sp>
      <p:sp>
        <p:nvSpPr>
          <p:cNvPr id="15" name="Text 13"/>
          <p:cNvSpPr/>
          <p:nvPr/>
        </p:nvSpPr>
        <p:spPr>
          <a:xfrm>
            <a:off x="1188720" y="306324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必须/禁止</a:t>
            </a:r>
            <a:endParaRPr lang="en-US" sz="1300" dirty="0"/>
          </a:p>
        </p:txBody>
      </p:sp>
      <p:sp>
        <p:nvSpPr>
          <p:cNvPr id="16" name="Shape 14"/>
          <p:cNvSpPr/>
          <p:nvPr/>
        </p:nvSpPr>
        <p:spPr>
          <a:xfrm>
            <a:off x="457200" y="3657600"/>
            <a:ext cx="548640" cy="548640"/>
          </a:xfrm>
          <a:prstGeom prst="roundRect">
            <a:avLst>
              <a:gd name="adj" fmla="val 13333"/>
            </a:avLst>
          </a:prstGeom>
          <a:solidFill>
            <a:srgbClr val="EF4444"/>
          </a:solidFill>
          <a:ln/>
        </p:spPr>
      </p:sp>
      <p:sp>
        <p:nvSpPr>
          <p:cNvPr id="17" name="Text 15"/>
          <p:cNvSpPr/>
          <p:nvPr/>
        </p:nvSpPr>
        <p:spPr>
          <a:xfrm>
            <a:off x="457200" y="36576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8" name="Text 16"/>
          <p:cNvSpPr/>
          <p:nvPr/>
        </p:nvSpPr>
        <p:spPr>
          <a:xfrm>
            <a:off x="1188720" y="365760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兜底规则不缺席</a:t>
            </a:r>
            <a:endParaRPr lang="en-US" sz="1600" dirty="0"/>
          </a:p>
        </p:txBody>
      </p:sp>
      <p:sp>
        <p:nvSpPr>
          <p:cNvPr id="19" name="Text 17"/>
          <p:cNvSpPr/>
          <p:nvPr/>
        </p:nvSpPr>
        <p:spPr>
          <a:xfrm>
            <a:off x="1188720" y="397764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遇到不确定情况怎么办</a:t>
            </a:r>
            <a:endParaRPr lang="en-US" sz="1300" dirty="0"/>
          </a:p>
        </p:txBody>
      </p:sp>
      <p:sp>
        <p:nvSpPr>
          <p:cNvPr id="20" name="Shape 18"/>
          <p:cNvSpPr/>
          <p:nvPr/>
        </p:nvSpPr>
        <p:spPr>
          <a:xfrm>
            <a:off x="8503920" y="4663440"/>
            <a:ext cx="365760" cy="365760"/>
          </a:xfrm>
          <a:prstGeom prst="ellipse">
            <a:avLst/>
          </a:prstGeom>
          <a:solidFill>
            <a:srgbClr val="EF4444"/>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不同岗位的萃取重点</a:t>
            </a:r>
            <a:endParaRPr lang="en-US" sz="2400" dirty="0"/>
          </a:p>
        </p:txBody>
      </p:sp>
      <p:sp>
        <p:nvSpPr>
          <p:cNvPr id="4" name="Shape 2"/>
          <p:cNvSpPr/>
          <p:nvPr/>
        </p:nvSpPr>
        <p:spPr>
          <a:xfrm>
            <a:off x="457200" y="822960"/>
            <a:ext cx="2011680" cy="594360"/>
          </a:xfrm>
          <a:prstGeom prst="roundRect">
            <a:avLst>
              <a:gd name="adj" fmla="val 12308"/>
            </a:avLst>
          </a:prstGeom>
          <a:solidFill>
            <a:srgbClr val="B91C1C"/>
          </a:solidFill>
          <a:ln/>
        </p:spPr>
      </p:sp>
      <p:sp>
        <p:nvSpPr>
          <p:cNvPr id="5" name="Text 3"/>
          <p:cNvSpPr/>
          <p:nvPr/>
        </p:nvSpPr>
        <p:spPr>
          <a:xfrm>
            <a:off x="457200" y="822960"/>
            <a:ext cx="2011680" cy="5943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销售/客户成功</a:t>
            </a:r>
            <a:endParaRPr lang="en-US" sz="1200" dirty="0"/>
          </a:p>
        </p:txBody>
      </p:sp>
      <p:sp>
        <p:nvSpPr>
          <p:cNvPr id="6" name="Shape 4"/>
          <p:cNvSpPr/>
          <p:nvPr/>
        </p:nvSpPr>
        <p:spPr>
          <a:xfrm>
            <a:off x="2651760" y="822960"/>
            <a:ext cx="6035040" cy="594360"/>
          </a:xfrm>
          <a:prstGeom prst="roundRect">
            <a:avLst>
              <a:gd name="adj" fmla="val 12308"/>
            </a:avLst>
          </a:prstGeom>
          <a:solidFill>
            <a:srgbClr val="F3F4F6"/>
          </a:solidFill>
          <a:ln/>
        </p:spPr>
      </p:sp>
      <p:sp>
        <p:nvSpPr>
          <p:cNvPr id="7" name="Text 5"/>
          <p:cNvSpPr/>
          <p:nvPr/>
        </p:nvSpPr>
        <p:spPr>
          <a:xfrm>
            <a:off x="2834640" y="822960"/>
            <a:ext cx="5852160" cy="5943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赢单信号、客户分层、话术优先级</a:t>
            </a:r>
            <a:endParaRPr lang="en-US" sz="1300" dirty="0"/>
          </a:p>
        </p:txBody>
      </p:sp>
      <p:sp>
        <p:nvSpPr>
          <p:cNvPr id="8" name="Shape 6"/>
          <p:cNvSpPr/>
          <p:nvPr/>
        </p:nvSpPr>
        <p:spPr>
          <a:xfrm>
            <a:off x="457200" y="1554480"/>
            <a:ext cx="2011680" cy="594360"/>
          </a:xfrm>
          <a:prstGeom prst="roundRect">
            <a:avLst>
              <a:gd name="adj" fmla="val 12308"/>
            </a:avLst>
          </a:prstGeom>
          <a:solidFill>
            <a:srgbClr val="B91C1C"/>
          </a:solidFill>
          <a:ln/>
        </p:spPr>
      </p:sp>
      <p:sp>
        <p:nvSpPr>
          <p:cNvPr id="9" name="Text 7"/>
          <p:cNvSpPr/>
          <p:nvPr/>
        </p:nvSpPr>
        <p:spPr>
          <a:xfrm>
            <a:off x="457200" y="1554480"/>
            <a:ext cx="2011680" cy="5943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客服/运营</a:t>
            </a:r>
            <a:endParaRPr lang="en-US" sz="1200" dirty="0"/>
          </a:p>
        </p:txBody>
      </p:sp>
      <p:sp>
        <p:nvSpPr>
          <p:cNvPr id="10" name="Shape 8"/>
          <p:cNvSpPr/>
          <p:nvPr/>
        </p:nvSpPr>
        <p:spPr>
          <a:xfrm>
            <a:off x="2651760" y="1554480"/>
            <a:ext cx="6035040" cy="594360"/>
          </a:xfrm>
          <a:prstGeom prst="roundRect">
            <a:avLst>
              <a:gd name="adj" fmla="val 12308"/>
            </a:avLst>
          </a:prstGeom>
          <a:solidFill>
            <a:srgbClr val="F3F4F6"/>
          </a:solidFill>
          <a:ln/>
        </p:spPr>
      </p:sp>
      <p:sp>
        <p:nvSpPr>
          <p:cNvPr id="11" name="Text 9"/>
          <p:cNvSpPr/>
          <p:nvPr/>
        </p:nvSpPr>
        <p:spPr>
          <a:xfrm>
            <a:off x="2834640" y="1554480"/>
            <a:ext cx="5852160" cy="5943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问题分类树、升级触发、情绪识别</a:t>
            </a:r>
            <a:endParaRPr lang="en-US" sz="1300" dirty="0"/>
          </a:p>
        </p:txBody>
      </p:sp>
      <p:sp>
        <p:nvSpPr>
          <p:cNvPr id="12" name="Shape 10"/>
          <p:cNvSpPr/>
          <p:nvPr/>
        </p:nvSpPr>
        <p:spPr>
          <a:xfrm>
            <a:off x="457200" y="2286000"/>
            <a:ext cx="2011680" cy="594360"/>
          </a:xfrm>
          <a:prstGeom prst="roundRect">
            <a:avLst>
              <a:gd name="adj" fmla="val 12308"/>
            </a:avLst>
          </a:prstGeom>
          <a:solidFill>
            <a:srgbClr val="B91C1C"/>
          </a:solidFill>
          <a:ln/>
        </p:spPr>
      </p:sp>
      <p:sp>
        <p:nvSpPr>
          <p:cNvPr id="13" name="Text 11"/>
          <p:cNvSpPr/>
          <p:nvPr/>
        </p:nvSpPr>
        <p:spPr>
          <a:xfrm>
            <a:off x="457200" y="2286000"/>
            <a:ext cx="2011680" cy="5943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运营/数据</a:t>
            </a:r>
            <a:endParaRPr lang="en-US" sz="1200" dirty="0"/>
          </a:p>
        </p:txBody>
      </p:sp>
      <p:sp>
        <p:nvSpPr>
          <p:cNvPr id="14" name="Shape 12"/>
          <p:cNvSpPr/>
          <p:nvPr/>
        </p:nvSpPr>
        <p:spPr>
          <a:xfrm>
            <a:off x="2651760" y="2286000"/>
            <a:ext cx="6035040" cy="594360"/>
          </a:xfrm>
          <a:prstGeom prst="roundRect">
            <a:avLst>
              <a:gd name="adj" fmla="val 12308"/>
            </a:avLst>
          </a:prstGeom>
          <a:solidFill>
            <a:srgbClr val="F3F4F6"/>
          </a:solidFill>
          <a:ln/>
        </p:spPr>
      </p:sp>
      <p:sp>
        <p:nvSpPr>
          <p:cNvPr id="15" name="Text 13"/>
          <p:cNvSpPr/>
          <p:nvPr/>
        </p:nvSpPr>
        <p:spPr>
          <a:xfrm>
            <a:off x="2834640" y="2286000"/>
            <a:ext cx="5852160" cy="5943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数据异常阈值、内容质量标准、异常原因假设</a:t>
            </a:r>
            <a:endParaRPr lang="en-US" sz="1300" dirty="0"/>
          </a:p>
        </p:txBody>
      </p:sp>
      <p:sp>
        <p:nvSpPr>
          <p:cNvPr id="16" name="Shape 14"/>
          <p:cNvSpPr/>
          <p:nvPr/>
        </p:nvSpPr>
        <p:spPr>
          <a:xfrm>
            <a:off x="457200" y="3017520"/>
            <a:ext cx="2011680" cy="594360"/>
          </a:xfrm>
          <a:prstGeom prst="roundRect">
            <a:avLst>
              <a:gd name="adj" fmla="val 12308"/>
            </a:avLst>
          </a:prstGeom>
          <a:solidFill>
            <a:srgbClr val="B91C1C"/>
          </a:solidFill>
          <a:ln/>
        </p:spPr>
      </p:sp>
      <p:sp>
        <p:nvSpPr>
          <p:cNvPr id="17" name="Text 15"/>
          <p:cNvSpPr/>
          <p:nvPr/>
        </p:nvSpPr>
        <p:spPr>
          <a:xfrm>
            <a:off x="457200" y="3017520"/>
            <a:ext cx="2011680" cy="5943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产品/需求</a:t>
            </a:r>
            <a:endParaRPr lang="en-US" sz="1200" dirty="0"/>
          </a:p>
        </p:txBody>
      </p:sp>
      <p:sp>
        <p:nvSpPr>
          <p:cNvPr id="18" name="Shape 16"/>
          <p:cNvSpPr/>
          <p:nvPr/>
        </p:nvSpPr>
        <p:spPr>
          <a:xfrm>
            <a:off x="2651760" y="3017520"/>
            <a:ext cx="6035040" cy="594360"/>
          </a:xfrm>
          <a:prstGeom prst="roundRect">
            <a:avLst>
              <a:gd name="adj" fmla="val 12308"/>
            </a:avLst>
          </a:prstGeom>
          <a:solidFill>
            <a:srgbClr val="F3F4F6"/>
          </a:solidFill>
          <a:ln/>
        </p:spPr>
      </p:sp>
      <p:sp>
        <p:nvSpPr>
          <p:cNvPr id="19" name="Text 17"/>
          <p:cNvSpPr/>
          <p:nvPr/>
        </p:nvSpPr>
        <p:spPr>
          <a:xfrm>
            <a:off x="2834640" y="3017520"/>
            <a:ext cx="5852160" cy="5943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需求有效性、优先级框架、反馈有效性</a:t>
            </a:r>
            <a:endParaRPr lang="en-US" sz="1300" dirty="0"/>
          </a:p>
        </p:txBody>
      </p:sp>
      <p:sp>
        <p:nvSpPr>
          <p:cNvPr id="20" name="Shape 18"/>
          <p:cNvSpPr/>
          <p:nvPr/>
        </p:nvSpPr>
        <p:spPr>
          <a:xfrm>
            <a:off x="457200" y="3749040"/>
            <a:ext cx="2011680" cy="594360"/>
          </a:xfrm>
          <a:prstGeom prst="roundRect">
            <a:avLst>
              <a:gd name="adj" fmla="val 12308"/>
            </a:avLst>
          </a:prstGeom>
          <a:solidFill>
            <a:srgbClr val="B91C1C"/>
          </a:solidFill>
          <a:ln/>
        </p:spPr>
      </p:sp>
      <p:sp>
        <p:nvSpPr>
          <p:cNvPr id="21" name="Text 19"/>
          <p:cNvSpPr/>
          <p:nvPr/>
        </p:nvSpPr>
        <p:spPr>
          <a:xfrm>
            <a:off x="457200" y="3749040"/>
            <a:ext cx="2011680" cy="5943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财务/合规</a:t>
            </a:r>
            <a:endParaRPr lang="en-US" sz="1200" dirty="0"/>
          </a:p>
        </p:txBody>
      </p:sp>
      <p:sp>
        <p:nvSpPr>
          <p:cNvPr id="22" name="Shape 20"/>
          <p:cNvSpPr/>
          <p:nvPr/>
        </p:nvSpPr>
        <p:spPr>
          <a:xfrm>
            <a:off x="2651760" y="3749040"/>
            <a:ext cx="6035040" cy="594360"/>
          </a:xfrm>
          <a:prstGeom prst="roundRect">
            <a:avLst>
              <a:gd name="adj" fmla="val 12308"/>
            </a:avLst>
          </a:prstGeom>
          <a:solidFill>
            <a:srgbClr val="F3F4F6"/>
          </a:solidFill>
          <a:ln/>
        </p:spPr>
      </p:sp>
      <p:sp>
        <p:nvSpPr>
          <p:cNvPr id="23" name="Text 21"/>
          <p:cNvSpPr/>
          <p:nvPr/>
        </p:nvSpPr>
        <p:spPr>
          <a:xfrm>
            <a:off x="2834640" y="3749040"/>
            <a:ext cx="5852160" cy="5943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风险识别、审核流程、格式合规</a:t>
            </a:r>
            <a:endParaRPr lang="en-US" sz="1300" dirty="0"/>
          </a:p>
        </p:txBody>
      </p:sp>
      <p:sp>
        <p:nvSpPr>
          <p:cNvPr id="24" name="Shape 22"/>
          <p:cNvSpPr/>
          <p:nvPr/>
        </p:nvSpPr>
        <p:spPr>
          <a:xfrm>
            <a:off x="8503920" y="4663440"/>
            <a:ext cx="365760" cy="365760"/>
          </a:xfrm>
          <a:prstGeom prst="ellipse">
            <a:avLst/>
          </a:prstGeom>
          <a:solidFill>
            <a:srgbClr val="EF4444"/>
          </a:solidFill>
          <a:ln/>
        </p:spPr>
      </p:sp>
      <p:sp>
        <p:nvSpPr>
          <p:cNvPr id="25" name="Text 23"/>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练习四：填写业务规则表</a:t>
            </a:r>
            <a:endParaRPr lang="en-US" sz="2400" dirty="0"/>
          </a:p>
        </p:txBody>
      </p:sp>
      <p:sp>
        <p:nvSpPr>
          <p:cNvPr id="4" name="Shape 2"/>
          <p:cNvSpPr/>
          <p:nvPr/>
        </p:nvSpPr>
        <p:spPr>
          <a:xfrm>
            <a:off x="457200" y="1097280"/>
            <a:ext cx="8229600" cy="685800"/>
          </a:xfrm>
          <a:prstGeom prst="roundRect">
            <a:avLst>
              <a:gd name="adj" fmla="val 10667"/>
            </a:avLst>
          </a:prstGeom>
          <a:solidFill>
            <a:srgbClr val="F3F4F6"/>
          </a:solidFill>
          <a:ln/>
        </p:spPr>
      </p:sp>
      <p:sp>
        <p:nvSpPr>
          <p:cNvPr id="5" name="Shape 3"/>
          <p:cNvSpPr/>
          <p:nvPr/>
        </p:nvSpPr>
        <p:spPr>
          <a:xfrm>
            <a:off x="640080" y="1207008"/>
            <a:ext cx="457200" cy="457200"/>
          </a:xfrm>
          <a:prstGeom prst="ellipse">
            <a:avLst/>
          </a:prstGeom>
          <a:solidFill>
            <a:srgbClr val="EF4444"/>
          </a:solidFill>
          <a:ln/>
        </p:spPr>
      </p:sp>
      <p:sp>
        <p:nvSpPr>
          <p:cNvPr id="6" name="Text 4"/>
          <p:cNvSpPr/>
          <p:nvPr/>
        </p:nvSpPr>
        <p:spPr>
          <a:xfrm>
            <a:off x="640080" y="120700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80160" y="109728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针对两个数字员工分别填写</a:t>
            </a:r>
            <a:endParaRPr lang="en-US" sz="1600" dirty="0"/>
          </a:p>
        </p:txBody>
      </p:sp>
      <p:sp>
        <p:nvSpPr>
          <p:cNvPr id="8" name="Shape 6"/>
          <p:cNvSpPr/>
          <p:nvPr/>
        </p:nvSpPr>
        <p:spPr>
          <a:xfrm>
            <a:off x="457200" y="1920240"/>
            <a:ext cx="8229600" cy="685800"/>
          </a:xfrm>
          <a:prstGeom prst="roundRect">
            <a:avLst>
              <a:gd name="adj" fmla="val 10667"/>
            </a:avLst>
          </a:prstGeom>
          <a:solidFill>
            <a:srgbClr val="F3F4F6"/>
          </a:solidFill>
          <a:ln/>
        </p:spPr>
      </p:sp>
      <p:sp>
        <p:nvSpPr>
          <p:cNvPr id="9" name="Shape 7"/>
          <p:cNvSpPr/>
          <p:nvPr/>
        </p:nvSpPr>
        <p:spPr>
          <a:xfrm>
            <a:off x="640080" y="2029968"/>
            <a:ext cx="457200" cy="457200"/>
          </a:xfrm>
          <a:prstGeom prst="ellipse">
            <a:avLst/>
          </a:prstGeom>
          <a:solidFill>
            <a:srgbClr val="EF4444"/>
          </a:solidFill>
          <a:ln/>
        </p:spPr>
      </p:sp>
      <p:sp>
        <p:nvSpPr>
          <p:cNvPr id="10" name="Text 8"/>
          <p:cNvSpPr/>
          <p:nvPr/>
        </p:nvSpPr>
        <p:spPr>
          <a:xfrm>
            <a:off x="640080" y="202996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80160" y="192024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每份至少8条核心规则</a:t>
            </a:r>
            <a:endParaRPr lang="en-US" sz="1600" dirty="0"/>
          </a:p>
        </p:txBody>
      </p:sp>
      <p:sp>
        <p:nvSpPr>
          <p:cNvPr id="12" name="Shape 10"/>
          <p:cNvSpPr/>
          <p:nvPr/>
        </p:nvSpPr>
        <p:spPr>
          <a:xfrm>
            <a:off x="457200" y="2743200"/>
            <a:ext cx="8229600" cy="685800"/>
          </a:xfrm>
          <a:prstGeom prst="roundRect">
            <a:avLst>
              <a:gd name="adj" fmla="val 10667"/>
            </a:avLst>
          </a:prstGeom>
          <a:solidFill>
            <a:srgbClr val="F3F4F6"/>
          </a:solidFill>
          <a:ln/>
        </p:spPr>
      </p:sp>
      <p:sp>
        <p:nvSpPr>
          <p:cNvPr id="13" name="Shape 11"/>
          <p:cNvSpPr/>
          <p:nvPr/>
        </p:nvSpPr>
        <p:spPr>
          <a:xfrm>
            <a:off x="640080" y="2852928"/>
            <a:ext cx="457200" cy="457200"/>
          </a:xfrm>
          <a:prstGeom prst="ellipse">
            <a:avLst/>
          </a:prstGeom>
          <a:solidFill>
            <a:srgbClr val="EF4444"/>
          </a:solidFill>
          <a:ln/>
        </p:spPr>
      </p:sp>
      <p:sp>
        <p:nvSpPr>
          <p:cNvPr id="14" name="Text 12"/>
          <p:cNvSpPr/>
          <p:nvPr/>
        </p:nvSpPr>
        <p:spPr>
          <a:xfrm>
            <a:off x="640080" y="285292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80160" y="274320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使用真实工作记录作为规则来源</a:t>
            </a:r>
            <a:endParaRPr lang="en-US" sz="1600" dirty="0"/>
          </a:p>
        </p:txBody>
      </p:sp>
      <p:sp>
        <p:nvSpPr>
          <p:cNvPr id="16" name="Shape 14"/>
          <p:cNvSpPr/>
          <p:nvPr/>
        </p:nvSpPr>
        <p:spPr>
          <a:xfrm>
            <a:off x="457200" y="3566160"/>
            <a:ext cx="8229600" cy="685800"/>
          </a:xfrm>
          <a:prstGeom prst="roundRect">
            <a:avLst>
              <a:gd name="adj" fmla="val 10667"/>
            </a:avLst>
          </a:prstGeom>
          <a:solidFill>
            <a:srgbClr val="F3F4F6"/>
          </a:solidFill>
          <a:ln/>
        </p:spPr>
      </p:sp>
      <p:sp>
        <p:nvSpPr>
          <p:cNvPr id="17" name="Shape 15"/>
          <p:cNvSpPr/>
          <p:nvPr/>
        </p:nvSpPr>
        <p:spPr>
          <a:xfrm>
            <a:off x="640080" y="3675888"/>
            <a:ext cx="457200" cy="457200"/>
          </a:xfrm>
          <a:prstGeom prst="ellipse">
            <a:avLst/>
          </a:prstGeom>
          <a:solidFill>
            <a:srgbClr val="EF4444"/>
          </a:solidFill>
          <a:ln/>
        </p:spPr>
      </p:sp>
      <p:sp>
        <p:nvSpPr>
          <p:cNvPr id="18" name="Text 16"/>
          <p:cNvSpPr/>
          <p:nvPr/>
        </p:nvSpPr>
        <p:spPr>
          <a:xfrm>
            <a:off x="640080" y="367588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1280160" y="356616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给自己25分钟</a:t>
            </a:r>
            <a:endParaRPr lang="en-US" sz="1600" dirty="0"/>
          </a:p>
        </p:txBody>
      </p:sp>
      <p:sp>
        <p:nvSpPr>
          <p:cNvPr id="20" name="Shape 18"/>
          <p:cNvSpPr/>
          <p:nvPr/>
        </p:nvSpPr>
        <p:spPr>
          <a:xfrm>
            <a:off x="8503920" y="4663440"/>
            <a:ext cx="365760" cy="365760"/>
          </a:xfrm>
          <a:prstGeom prst="ellipse">
            <a:avLst/>
          </a:prstGeom>
          <a:solidFill>
            <a:srgbClr val="EF4444"/>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规则完整性自查方法</a:t>
            </a:r>
            <a:endParaRPr lang="en-US" sz="2400" dirty="0"/>
          </a:p>
        </p:txBody>
      </p:sp>
      <p:sp>
        <p:nvSpPr>
          <p:cNvPr id="4" name="Text 2"/>
          <p:cNvSpPr/>
          <p:nvPr/>
        </p:nvSpPr>
        <p:spPr>
          <a:xfrm>
            <a:off x="457200" y="777240"/>
            <a:ext cx="8229600" cy="3200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四个自查问题</a:t>
            </a:r>
            <a:endParaRPr lang="en-US" sz="1400" dirty="0"/>
          </a:p>
        </p:txBody>
      </p:sp>
      <p:sp>
        <p:nvSpPr>
          <p:cNvPr id="5" name="Shape 3"/>
          <p:cNvSpPr/>
          <p:nvPr/>
        </p:nvSpPr>
        <p:spPr>
          <a:xfrm>
            <a:off x="457200" y="1280160"/>
            <a:ext cx="548640" cy="548640"/>
          </a:xfrm>
          <a:prstGeom prst="roundRect">
            <a:avLst>
              <a:gd name="adj" fmla="val 13333"/>
            </a:avLst>
          </a:prstGeom>
          <a:solidFill>
            <a:srgbClr val="EF4444"/>
          </a:solidFill>
          <a:ln/>
        </p:spPr>
      </p:sp>
      <p:sp>
        <p:nvSpPr>
          <p:cNvPr id="6" name="Text 4"/>
          <p:cNvSpPr/>
          <p:nvPr/>
        </p:nvSpPr>
        <p:spPr>
          <a:xfrm>
            <a:off x="457200" y="128016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188720" y="1280160"/>
            <a:ext cx="7498080" cy="54864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每条规则能否举出真实案例？</a:t>
            </a:r>
            <a:endParaRPr lang="en-US" sz="1600" dirty="0"/>
          </a:p>
        </p:txBody>
      </p:sp>
      <p:sp>
        <p:nvSpPr>
          <p:cNvPr id="8" name="Shape 6"/>
          <p:cNvSpPr/>
          <p:nvPr/>
        </p:nvSpPr>
        <p:spPr>
          <a:xfrm>
            <a:off x="457200" y="2057400"/>
            <a:ext cx="548640" cy="548640"/>
          </a:xfrm>
          <a:prstGeom prst="roundRect">
            <a:avLst>
              <a:gd name="adj" fmla="val 13333"/>
            </a:avLst>
          </a:prstGeom>
          <a:solidFill>
            <a:srgbClr val="EF4444"/>
          </a:solidFill>
          <a:ln/>
        </p:spPr>
      </p:sp>
      <p:sp>
        <p:nvSpPr>
          <p:cNvPr id="9" name="Text 7"/>
          <p:cNvSpPr/>
          <p:nvPr/>
        </p:nvSpPr>
        <p:spPr>
          <a:xfrm>
            <a:off x="457200" y="20574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1188720" y="2057400"/>
            <a:ext cx="7498080" cy="54864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是否覆盖正常/异常/边界三种情况？</a:t>
            </a:r>
            <a:endParaRPr lang="en-US" sz="1600" dirty="0"/>
          </a:p>
        </p:txBody>
      </p:sp>
      <p:sp>
        <p:nvSpPr>
          <p:cNvPr id="11" name="Shape 9"/>
          <p:cNvSpPr/>
          <p:nvPr/>
        </p:nvSpPr>
        <p:spPr>
          <a:xfrm>
            <a:off x="457200" y="2834640"/>
            <a:ext cx="548640" cy="548640"/>
          </a:xfrm>
          <a:prstGeom prst="roundRect">
            <a:avLst>
              <a:gd name="adj" fmla="val 13333"/>
            </a:avLst>
          </a:prstGeom>
          <a:solidFill>
            <a:srgbClr val="EF4444"/>
          </a:solidFill>
          <a:ln/>
        </p:spPr>
      </p:sp>
      <p:sp>
        <p:nvSpPr>
          <p:cNvPr id="12" name="Text 10"/>
          <p:cNvSpPr/>
          <p:nvPr/>
        </p:nvSpPr>
        <p:spPr>
          <a:xfrm>
            <a:off x="457200" y="283464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3" name="Text 11"/>
          <p:cNvSpPr/>
          <p:nvPr/>
        </p:nvSpPr>
        <p:spPr>
          <a:xfrm>
            <a:off x="1188720" y="2834640"/>
            <a:ext cx="7498080" cy="54864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规则之间有没有矛盾？</a:t>
            </a:r>
            <a:endParaRPr lang="en-US" sz="1600" dirty="0"/>
          </a:p>
        </p:txBody>
      </p:sp>
      <p:sp>
        <p:nvSpPr>
          <p:cNvPr id="14" name="Shape 12"/>
          <p:cNvSpPr/>
          <p:nvPr/>
        </p:nvSpPr>
        <p:spPr>
          <a:xfrm>
            <a:off x="457200" y="3611880"/>
            <a:ext cx="548640" cy="548640"/>
          </a:xfrm>
          <a:prstGeom prst="roundRect">
            <a:avLst>
              <a:gd name="adj" fmla="val 13333"/>
            </a:avLst>
          </a:prstGeom>
          <a:solidFill>
            <a:srgbClr val="EF4444"/>
          </a:solidFill>
          <a:ln/>
        </p:spPr>
      </p:sp>
      <p:sp>
        <p:nvSpPr>
          <p:cNvPr id="15" name="Text 13"/>
          <p:cNvSpPr/>
          <p:nvPr/>
        </p:nvSpPr>
        <p:spPr>
          <a:xfrm>
            <a:off x="457200" y="361188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6" name="Text 14"/>
          <p:cNvSpPr/>
          <p:nvPr/>
        </p:nvSpPr>
        <p:spPr>
          <a:xfrm>
            <a:off x="1188720" y="3611880"/>
            <a:ext cx="7498080" cy="54864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兜底规则是否存在且可执行？</a:t>
            </a:r>
            <a:endParaRPr lang="en-US" sz="1600" dirty="0"/>
          </a:p>
        </p:txBody>
      </p:sp>
      <p:sp>
        <p:nvSpPr>
          <p:cNvPr id="17" name="Shape 15"/>
          <p:cNvSpPr/>
          <p:nvPr/>
        </p:nvSpPr>
        <p:spPr>
          <a:xfrm>
            <a:off x="8503920" y="4663440"/>
            <a:ext cx="365760" cy="365760"/>
          </a:xfrm>
          <a:prstGeom prst="ellipse">
            <a:avLst/>
          </a:prstGeom>
          <a:solidFill>
            <a:srgbClr val="EF4444"/>
          </a:solidFill>
          <a:ln/>
        </p:spPr>
      </p:sp>
      <p:sp>
        <p:nvSpPr>
          <p:cNvPr id="18" name="Text 16"/>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2103120"/>
            <a:ext cx="9144000" cy="54864"/>
          </a:xfrm>
          <a:prstGeom prst="rect">
            <a:avLst/>
          </a:prstGeom>
          <a:solidFill>
            <a:srgbClr val="EF4444"/>
          </a:solidFill>
          <a:ln/>
        </p:spPr>
      </p:sp>
      <p:sp>
        <p:nvSpPr>
          <p:cNvPr id="3" name="Text 1"/>
          <p:cNvSpPr/>
          <p:nvPr/>
        </p:nvSpPr>
        <p:spPr>
          <a:xfrm>
            <a:off x="457200" y="1645920"/>
            <a:ext cx="8229600" cy="548640"/>
          </a:xfrm>
          <a:prstGeom prst="rect">
            <a:avLst/>
          </a:prstGeom>
          <a:noFill/>
          <a:ln/>
        </p:spPr>
        <p:txBody>
          <a:bodyPr wrap="square" rtlCol="0" anchor="ctr"/>
          <a:lstStyle/>
          <a:p>
            <a:pPr indent="0" marL="0">
              <a:buNone/>
            </a:pPr>
            <a:r>
              <a:rPr lang="en-US" sz="2400" dirty="0">
                <a:solidFill>
                  <a:srgbClr val="F3F4F6"/>
                </a:solidFill>
                <a:latin typeface="Microsoft YaHei" pitchFamily="34" charset="0"/>
                <a:ea typeface="Microsoft YaHei" pitchFamily="34" charset="-122"/>
                <a:cs typeface="Microsoft YaHei" pitchFamily="34" charset="-120"/>
              </a:rPr>
              <a:t>第三部分</a:t>
            </a:r>
            <a:endParaRPr lang="en-US" sz="2400" dirty="0"/>
          </a:p>
        </p:txBody>
      </p:sp>
      <p:sp>
        <p:nvSpPr>
          <p:cNvPr id="4" name="Text 2"/>
          <p:cNvSpPr/>
          <p:nvPr/>
        </p:nvSpPr>
        <p:spPr>
          <a:xfrm>
            <a:off x="457200" y="2286000"/>
            <a:ext cx="8229600" cy="731520"/>
          </a:xfrm>
          <a:prstGeom prst="rect">
            <a:avLst/>
          </a:prstGeom>
          <a:noFill/>
          <a:ln/>
        </p:spPr>
        <p:txBody>
          <a:bodyPr wrap="square" rtlCol="0" anchor="ctr"/>
          <a:lstStyle/>
          <a:p>
            <a:pPr indent="0" marL="0">
              <a:buNone/>
            </a:pPr>
            <a:r>
              <a:rPr lang="en-US" sz="3800" b="1" dirty="0">
                <a:solidFill>
                  <a:srgbClr val="FFFFFF"/>
                </a:solidFill>
                <a:latin typeface="Microsoft YaHei" pitchFamily="34" charset="0"/>
                <a:ea typeface="Microsoft YaHei" pitchFamily="34" charset="-122"/>
                <a:cs typeface="Microsoft YaHei" pitchFamily="34" charset="-120"/>
              </a:rPr>
              <a:t>搭建Skill</a:t>
            </a:r>
            <a:endParaRPr lang="en-US" sz="38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800" dirty="0">
                <a:solidFill>
                  <a:srgbClr val="F3F4F6"/>
                </a:solidFill>
                <a:latin typeface="Microsoft YaHei" pitchFamily="34" charset="0"/>
                <a:ea typeface="Microsoft YaHei" pitchFamily="34" charset="-122"/>
                <a:cs typeface="Microsoft YaHei" pitchFamily="34" charset="-120"/>
              </a:rPr>
              <a:t>从规则表到可运行的Skill</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Skill五模块结构</a:t>
            </a:r>
            <a:endParaRPr lang="en-US" sz="2400" dirty="0"/>
          </a:p>
        </p:txBody>
      </p:sp>
      <p:sp>
        <p:nvSpPr>
          <p:cNvPr id="4" name="Shape 2"/>
          <p:cNvSpPr/>
          <p:nvPr/>
        </p:nvSpPr>
        <p:spPr>
          <a:xfrm>
            <a:off x="457200" y="960120"/>
            <a:ext cx="548640" cy="548640"/>
          </a:xfrm>
          <a:prstGeom prst="ellipse">
            <a:avLst/>
          </a:prstGeom>
          <a:solidFill>
            <a:srgbClr val="EF4444"/>
          </a:solidFill>
          <a:ln/>
        </p:spPr>
      </p:sp>
      <p:sp>
        <p:nvSpPr>
          <p:cNvPr id="5" name="Text 3"/>
          <p:cNvSpPr/>
          <p:nvPr/>
        </p:nvSpPr>
        <p:spPr>
          <a:xfrm>
            <a:off x="457200" y="96012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188720" y="914400"/>
            <a:ext cx="32004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角色人格设定</a:t>
            </a:r>
            <a:endParaRPr lang="en-US" sz="1600" dirty="0"/>
          </a:p>
        </p:txBody>
      </p:sp>
      <p:sp>
        <p:nvSpPr>
          <p:cNvPr id="7" name="Text 5"/>
          <p:cNvSpPr/>
          <p:nvPr/>
        </p:nvSpPr>
        <p:spPr>
          <a:xfrm>
            <a:off x="1188720" y="123444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它是谁，对什么负责</a:t>
            </a:r>
            <a:endParaRPr lang="en-US" sz="1300" dirty="0"/>
          </a:p>
        </p:txBody>
      </p:sp>
      <p:sp>
        <p:nvSpPr>
          <p:cNvPr id="8" name="Shape 6"/>
          <p:cNvSpPr/>
          <p:nvPr/>
        </p:nvSpPr>
        <p:spPr>
          <a:xfrm>
            <a:off x="457200" y="1737360"/>
            <a:ext cx="548640" cy="548640"/>
          </a:xfrm>
          <a:prstGeom prst="ellipse">
            <a:avLst/>
          </a:prstGeom>
          <a:solidFill>
            <a:srgbClr val="EF4444"/>
          </a:solidFill>
          <a:ln/>
        </p:spPr>
      </p:sp>
      <p:sp>
        <p:nvSpPr>
          <p:cNvPr id="9" name="Text 7"/>
          <p:cNvSpPr/>
          <p:nvPr/>
        </p:nvSpPr>
        <p:spPr>
          <a:xfrm>
            <a:off x="457200" y="173736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1188720" y="1691640"/>
            <a:ext cx="32004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工作方式设定</a:t>
            </a:r>
            <a:endParaRPr lang="en-US" sz="1600" dirty="0"/>
          </a:p>
        </p:txBody>
      </p:sp>
      <p:sp>
        <p:nvSpPr>
          <p:cNvPr id="11" name="Text 9"/>
          <p:cNvSpPr/>
          <p:nvPr/>
        </p:nvSpPr>
        <p:spPr>
          <a:xfrm>
            <a:off x="1188720" y="201168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先做什么，再做什么</a:t>
            </a:r>
            <a:endParaRPr lang="en-US" sz="1300" dirty="0"/>
          </a:p>
        </p:txBody>
      </p:sp>
      <p:sp>
        <p:nvSpPr>
          <p:cNvPr id="12" name="Shape 10"/>
          <p:cNvSpPr/>
          <p:nvPr/>
        </p:nvSpPr>
        <p:spPr>
          <a:xfrm>
            <a:off x="457200" y="2514600"/>
            <a:ext cx="548640" cy="548640"/>
          </a:xfrm>
          <a:prstGeom prst="ellipse">
            <a:avLst/>
          </a:prstGeom>
          <a:solidFill>
            <a:srgbClr val="EF4444"/>
          </a:solidFill>
          <a:ln/>
        </p:spPr>
      </p:sp>
      <p:sp>
        <p:nvSpPr>
          <p:cNvPr id="13" name="Text 11"/>
          <p:cNvSpPr/>
          <p:nvPr/>
        </p:nvSpPr>
        <p:spPr>
          <a:xfrm>
            <a:off x="457200" y="251460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4" name="Text 12"/>
          <p:cNvSpPr/>
          <p:nvPr/>
        </p:nvSpPr>
        <p:spPr>
          <a:xfrm>
            <a:off x="1188720" y="2468880"/>
            <a:ext cx="32004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规则指令</a:t>
            </a:r>
            <a:endParaRPr lang="en-US" sz="1600" dirty="0"/>
          </a:p>
        </p:txBody>
      </p:sp>
      <p:sp>
        <p:nvSpPr>
          <p:cNvPr id="15" name="Text 13"/>
          <p:cNvSpPr/>
          <p:nvPr/>
        </p:nvSpPr>
        <p:spPr>
          <a:xfrm>
            <a:off x="1188720" y="278892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条件→行动</a:t>
            </a:r>
            <a:endParaRPr lang="en-US" sz="1300" dirty="0"/>
          </a:p>
        </p:txBody>
      </p:sp>
      <p:sp>
        <p:nvSpPr>
          <p:cNvPr id="16" name="Shape 14"/>
          <p:cNvSpPr/>
          <p:nvPr/>
        </p:nvSpPr>
        <p:spPr>
          <a:xfrm>
            <a:off x="457200" y="3291840"/>
            <a:ext cx="548640" cy="548640"/>
          </a:xfrm>
          <a:prstGeom prst="ellipse">
            <a:avLst/>
          </a:prstGeom>
          <a:solidFill>
            <a:srgbClr val="EF4444"/>
          </a:solidFill>
          <a:ln/>
        </p:spPr>
      </p:sp>
      <p:sp>
        <p:nvSpPr>
          <p:cNvPr id="17" name="Text 15"/>
          <p:cNvSpPr/>
          <p:nvPr/>
        </p:nvSpPr>
        <p:spPr>
          <a:xfrm>
            <a:off x="457200" y="329184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8" name="Text 16"/>
          <p:cNvSpPr/>
          <p:nvPr/>
        </p:nvSpPr>
        <p:spPr>
          <a:xfrm>
            <a:off x="1188720" y="3246120"/>
            <a:ext cx="32004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格式模板嵌入</a:t>
            </a:r>
            <a:endParaRPr lang="en-US" sz="1600" dirty="0"/>
          </a:p>
        </p:txBody>
      </p:sp>
      <p:sp>
        <p:nvSpPr>
          <p:cNvPr id="19" name="Text 17"/>
          <p:cNvSpPr/>
          <p:nvPr/>
        </p:nvSpPr>
        <p:spPr>
          <a:xfrm>
            <a:off x="1188720" y="356616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固定输出格式</a:t>
            </a:r>
            <a:endParaRPr lang="en-US" sz="1300" dirty="0"/>
          </a:p>
        </p:txBody>
      </p:sp>
      <p:sp>
        <p:nvSpPr>
          <p:cNvPr id="20" name="Shape 18"/>
          <p:cNvSpPr/>
          <p:nvPr/>
        </p:nvSpPr>
        <p:spPr>
          <a:xfrm>
            <a:off x="457200" y="4069080"/>
            <a:ext cx="548640" cy="548640"/>
          </a:xfrm>
          <a:prstGeom prst="ellipse">
            <a:avLst/>
          </a:prstGeom>
          <a:solidFill>
            <a:srgbClr val="EF4444"/>
          </a:solidFill>
          <a:ln/>
        </p:spPr>
      </p:sp>
      <p:sp>
        <p:nvSpPr>
          <p:cNvPr id="21" name="Text 19"/>
          <p:cNvSpPr/>
          <p:nvPr/>
        </p:nvSpPr>
        <p:spPr>
          <a:xfrm>
            <a:off x="457200" y="406908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2" name="Text 20"/>
          <p:cNvSpPr/>
          <p:nvPr/>
        </p:nvSpPr>
        <p:spPr>
          <a:xfrm>
            <a:off x="1188720" y="4023360"/>
            <a:ext cx="32004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兜底设定</a:t>
            </a:r>
            <a:endParaRPr lang="en-US" sz="1600" dirty="0"/>
          </a:p>
        </p:txBody>
      </p:sp>
      <p:sp>
        <p:nvSpPr>
          <p:cNvPr id="23" name="Text 21"/>
          <p:cNvSpPr/>
          <p:nvPr/>
        </p:nvSpPr>
        <p:spPr>
          <a:xfrm>
            <a:off x="1188720" y="434340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遇到未覆盖情形怎么办</a:t>
            </a:r>
            <a:endParaRPr lang="en-US" sz="1300" dirty="0"/>
          </a:p>
        </p:txBody>
      </p:sp>
      <p:sp>
        <p:nvSpPr>
          <p:cNvPr id="24" name="Shape 22"/>
          <p:cNvSpPr/>
          <p:nvPr/>
        </p:nvSpPr>
        <p:spPr>
          <a:xfrm>
            <a:off x="8503920" y="4663440"/>
            <a:ext cx="365760" cy="365760"/>
          </a:xfrm>
          <a:prstGeom prst="ellipse">
            <a:avLst/>
          </a:prstGeom>
          <a:solidFill>
            <a:srgbClr val="EF4444"/>
          </a:solidFill>
          <a:ln/>
        </p:spPr>
      </p:sp>
      <p:sp>
        <p:nvSpPr>
          <p:cNvPr id="25" name="Text 23"/>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模块一：角色人格设定</a:t>
            </a:r>
            <a:endParaRPr lang="en-US" sz="2400" dirty="0"/>
          </a:p>
        </p:txBody>
      </p:sp>
      <p:sp>
        <p:nvSpPr>
          <p:cNvPr id="4" name="Shape 2"/>
          <p:cNvSpPr/>
          <p:nvPr/>
        </p:nvSpPr>
        <p:spPr>
          <a:xfrm>
            <a:off x="457200" y="914400"/>
            <a:ext cx="8229600" cy="3200400"/>
          </a:xfrm>
          <a:prstGeom prst="roundRect">
            <a:avLst>
              <a:gd name="adj" fmla="val 2857"/>
            </a:avLst>
          </a:prstGeom>
          <a:solidFill>
            <a:srgbClr val="F3F4F6"/>
          </a:solidFill>
          <a:ln/>
        </p:spPr>
      </p:sp>
      <p:sp>
        <p:nvSpPr>
          <p:cNvPr id="5" name="Shape 3"/>
          <p:cNvSpPr/>
          <p:nvPr/>
        </p:nvSpPr>
        <p:spPr>
          <a:xfrm>
            <a:off x="457200" y="914400"/>
            <a:ext cx="109728" cy="3200400"/>
          </a:xfrm>
          <a:prstGeom prst="rect">
            <a:avLst/>
          </a:prstGeom>
          <a:solidFill>
            <a:srgbClr val="EF4444"/>
          </a:solidFill>
          <a:ln/>
        </p:spPr>
      </p:sp>
      <p:sp>
        <p:nvSpPr>
          <p:cNvPr id="6" name="Text 4"/>
          <p:cNvSpPr/>
          <p:nvPr/>
        </p:nvSpPr>
        <p:spPr>
          <a:xfrm>
            <a:off x="731520" y="1097280"/>
            <a:ext cx="137160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示例</a:t>
            </a:r>
            <a:endParaRPr lang="en-US" sz="1400" dirty="0"/>
          </a:p>
        </p:txBody>
      </p:sp>
      <p:sp>
        <p:nvSpPr>
          <p:cNvPr id="7" name="Text 5"/>
          <p:cNvSpPr/>
          <p:nvPr/>
        </p:nvSpPr>
        <p:spPr>
          <a:xfrm>
            <a:off x="731520" y="1554480"/>
            <a:ext cx="7772400" cy="228600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你是[公司名]的客诉初判专员，专门负责对进入工单系统的每一条用户投诉做第一层分类和优先级判定。你的工作是输出分析结果和处理建议，你不负责直接联系客户，也不负责做最终的赔偿决策——那些由人工客服根据你的建议来完成。</a:t>
            </a:r>
            <a:endParaRPr lang="en-US" sz="1500" dirty="0"/>
          </a:p>
        </p:txBody>
      </p:sp>
      <p:sp>
        <p:nvSpPr>
          <p:cNvPr id="8" name="Shape 6"/>
          <p:cNvSpPr/>
          <p:nvPr/>
        </p:nvSpPr>
        <p:spPr>
          <a:xfrm>
            <a:off x="8503920" y="4663440"/>
            <a:ext cx="365760" cy="365760"/>
          </a:xfrm>
          <a:prstGeom prst="ellipse">
            <a:avLst/>
          </a:prstGeom>
          <a:solidFill>
            <a:srgbClr val="EF4444"/>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模块三：规则指令示例</a:t>
            </a:r>
            <a:endParaRPr lang="en-US" sz="2400" dirty="0"/>
          </a:p>
        </p:txBody>
      </p:sp>
      <p:sp>
        <p:nvSpPr>
          <p:cNvPr id="4" name="Shape 2"/>
          <p:cNvSpPr/>
          <p:nvPr/>
        </p:nvSpPr>
        <p:spPr>
          <a:xfrm>
            <a:off x="457200" y="914400"/>
            <a:ext cx="8229600" cy="3200400"/>
          </a:xfrm>
          <a:prstGeom prst="roundRect">
            <a:avLst>
              <a:gd name="adj" fmla="val 2857"/>
            </a:avLst>
          </a:prstGeom>
          <a:solidFill>
            <a:srgbClr val="B91C1C"/>
          </a:solidFill>
          <a:ln/>
        </p:spPr>
      </p:sp>
      <p:sp>
        <p:nvSpPr>
          <p:cNvPr id="5" name="Text 3"/>
          <p:cNvSpPr/>
          <p:nvPr/>
        </p:nvSpPr>
        <p:spPr>
          <a:xfrm>
            <a:off x="731520" y="1051560"/>
            <a:ext cx="768096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【优先级判定规则】</a:t>
            </a:r>
            <a:endParaRPr lang="en-US" sz="1400" dirty="0"/>
          </a:p>
        </p:txBody>
      </p:sp>
      <p:sp>
        <p:nvSpPr>
          <p:cNvPr id="6" name="Text 4"/>
          <p:cNvSpPr/>
          <p:nvPr/>
        </p:nvSpPr>
        <p:spPr>
          <a:xfrm>
            <a:off x="731520" y="1463040"/>
            <a:ext cx="7680960" cy="365760"/>
          </a:xfrm>
          <a:prstGeom prst="rect">
            <a:avLst/>
          </a:prstGeom>
          <a:noFill/>
          <a:ln/>
        </p:spPr>
        <p:txBody>
          <a:bodyPr wrap="square" rtlCol="0" anchor="ctr"/>
          <a:lstStyle/>
          <a:p>
            <a:pPr indent="0" marL="0">
              <a:buNone/>
            </a:pPr>
            <a:r>
              <a:rPr lang="en-US" sz="1300" dirty="0">
                <a:solidFill>
                  <a:srgbClr val="F3F4F6"/>
                </a:solidFill>
                <a:latin typeface="Microsoft YaHei" pitchFamily="34" charset="0"/>
                <a:ea typeface="Microsoft YaHei" pitchFamily="34" charset="-122"/>
                <a:cs typeface="Microsoft YaHei" pitchFamily="34" charset="-120"/>
              </a:rPr>
              <a:t>P1级（需2小时内响应）：当投诉内容满足以下任意一项时——</a:t>
            </a:r>
            <a:endParaRPr lang="en-US" sz="1300" dirty="0"/>
          </a:p>
        </p:txBody>
      </p:sp>
      <p:sp>
        <p:nvSpPr>
          <p:cNvPr id="7" name="Text 5"/>
          <p:cNvSpPr/>
          <p:nvPr/>
        </p:nvSpPr>
        <p:spPr>
          <a:xfrm>
            <a:off x="914400" y="1920240"/>
            <a:ext cx="7498080" cy="201168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 投诉人明确说明有实际损失</a:t>
            </a:r>
            <a:endParaRPr lang="en-US" sz="1300" dirty="0"/>
          </a:p>
          <a:p>
            <a:pPr indent="0" marL="0">
              <a:buNone/>
            </a:pPr>
            <a:r>
              <a:rPr lang="en-US" sz="1300" dirty="0">
                <a:solidFill>
                  <a:srgbClr val="FFFFFF"/>
                </a:solidFill>
                <a:latin typeface="Microsoft YaHei" pitchFamily="34" charset="0"/>
                <a:ea typeface="Microsoft YaHei" pitchFamily="34" charset="-122"/>
                <a:cs typeface="Microsoft YaHei" pitchFamily="34" charset="-120"/>
              </a:rPr>
              <a:t>• 投诉人明确提及升级行为</a:t>
            </a:r>
            <a:endParaRPr lang="en-US" sz="1300" dirty="0"/>
          </a:p>
          <a:p>
            <a:pPr indent="0" marL="0">
              <a:buNone/>
            </a:pPr>
            <a:r>
              <a:rPr lang="en-US" sz="1300" dirty="0">
                <a:solidFill>
                  <a:srgbClr val="FFFFFF"/>
                </a:solidFill>
                <a:latin typeface="Microsoft YaHei" pitchFamily="34" charset="0"/>
                <a:ea typeface="Microsoft YaHei" pitchFamily="34" charset="-122"/>
                <a:cs typeface="Microsoft YaHei" pitchFamily="34" charset="-120"/>
              </a:rPr>
              <a:t>• 同一客户本月第3次或以上提出相同问题</a:t>
            </a:r>
            <a:endParaRPr lang="en-US" sz="1300" dirty="0"/>
          </a:p>
          <a:p>
            <a:pPr indent="0" marL="0">
              <a:buNone/>
            </a:pPr>
            <a:r>
              <a:rPr lang="en-US" sz="1300" dirty="0">
                <a:solidFill>
                  <a:srgbClr val="FFFFFF"/>
                </a:solidFill>
                <a:latin typeface="Microsoft YaHei" pitchFamily="34" charset="0"/>
                <a:ea typeface="Microsoft YaHei" pitchFamily="34" charset="-122"/>
                <a:cs typeface="Microsoft YaHei" pitchFamily="34" charset="-120"/>
              </a:rPr>
              <a:t>• 涉及金额/赔偿声明超过阈值</a:t>
            </a:r>
            <a:endParaRPr lang="en-US" sz="1300" dirty="0"/>
          </a:p>
        </p:txBody>
      </p:sp>
      <p:sp>
        <p:nvSpPr>
          <p:cNvPr id="8" name="Shape 6"/>
          <p:cNvSpPr/>
          <p:nvPr/>
        </p:nvSpPr>
        <p:spPr>
          <a:xfrm>
            <a:off x="8503920" y="4663440"/>
            <a:ext cx="365760" cy="365760"/>
          </a:xfrm>
          <a:prstGeom prst="ellipse">
            <a:avLst/>
          </a:prstGeom>
          <a:solidFill>
            <a:srgbClr val="EF4444"/>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模块四：输出格式模板</a:t>
            </a:r>
            <a:endParaRPr lang="en-US" sz="2400" dirty="0"/>
          </a:p>
        </p:txBody>
      </p:sp>
      <p:sp>
        <p:nvSpPr>
          <p:cNvPr id="4" name="Shape 2"/>
          <p:cNvSpPr/>
          <p:nvPr/>
        </p:nvSpPr>
        <p:spPr>
          <a:xfrm>
            <a:off x="457200" y="914400"/>
            <a:ext cx="8229600" cy="3474720"/>
          </a:xfrm>
          <a:prstGeom prst="roundRect">
            <a:avLst>
              <a:gd name="adj" fmla="val 2632"/>
            </a:avLst>
          </a:prstGeom>
          <a:solidFill>
            <a:srgbClr val="B91C1C"/>
          </a:solidFill>
          <a:ln/>
        </p:spPr>
      </p:sp>
      <p:sp>
        <p:nvSpPr>
          <p:cNvPr id="5" name="Text 3"/>
          <p:cNvSpPr/>
          <p:nvPr/>
        </p:nvSpPr>
        <p:spPr>
          <a:xfrm>
            <a:off x="731520" y="1051560"/>
            <a:ext cx="7680960" cy="365760"/>
          </a:xfrm>
          <a:prstGeom prst="rect">
            <a:avLst/>
          </a:prstGeom>
          <a:noFill/>
          <a:ln/>
        </p:spPr>
        <p:txBody>
          <a:bodyPr wrap="square" rtlCol="0" anchor="ctr"/>
          <a:lstStyle/>
          <a:p>
            <a:pPr indent="0" marL="0">
              <a:buNone/>
            </a:pPr>
            <a:r>
              <a:rPr lang="en-US" sz="1300" b="1" dirty="0">
                <a:solidFill>
                  <a:srgbClr val="EF4444"/>
                </a:solidFill>
                <a:latin typeface="Microsoft YaHei" pitchFamily="34" charset="0"/>
                <a:ea typeface="Microsoft YaHei" pitchFamily="34" charset="-122"/>
                <a:cs typeface="Microsoft YaHei" pitchFamily="34" charset="-120"/>
              </a:rPr>
              <a:t>【输出格式，每次必须严格遵守】</a:t>
            </a:r>
            <a:endParaRPr lang="en-US" sz="1300" dirty="0"/>
          </a:p>
        </p:txBody>
      </p:sp>
      <p:sp>
        <p:nvSpPr>
          <p:cNvPr id="6" name="Text 4"/>
          <p:cNvSpPr/>
          <p:nvPr/>
        </p:nvSpPr>
        <p:spPr>
          <a:xfrm>
            <a:off x="731520" y="1417320"/>
            <a:ext cx="7680960" cy="320040"/>
          </a:xfrm>
          <a:prstGeom prst="rect">
            <a:avLst/>
          </a:prstGeom>
          <a:noFill/>
          <a:ln/>
        </p:spPr>
        <p:txBody>
          <a:bodyPr wrap="square" rtlCol="0" anchor="ctr"/>
          <a:lstStyle/>
          <a:p>
            <a:pPr indent="0" marL="0">
              <a:buNone/>
            </a:pPr>
            <a:r>
              <a:rPr lang="en-US" sz="1200" dirty="0">
                <a:solidFill>
                  <a:srgbClr val="F3F4F6"/>
                </a:solidFill>
                <a:latin typeface="Microsoft YaHei" pitchFamily="34" charset="0"/>
                <a:ea typeface="Microsoft YaHei" pitchFamily="34" charset="-122"/>
                <a:cs typeface="Microsoft YaHei" pitchFamily="34" charset="-120"/>
              </a:rPr>
              <a:t>---客诉初判报告---</a:t>
            </a:r>
            <a:endParaRPr lang="en-US" sz="1200" dirty="0"/>
          </a:p>
        </p:txBody>
      </p:sp>
      <p:sp>
        <p:nvSpPr>
          <p:cNvPr id="7" name="Text 5"/>
          <p:cNvSpPr/>
          <p:nvPr/>
        </p:nvSpPr>
        <p:spPr>
          <a:xfrm>
            <a:off x="731520" y="1828800"/>
            <a:ext cx="7680960" cy="237744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投诉等级：[P1/P2/P3]</a:t>
            </a:r>
            <a:endParaRPr lang="en-US" sz="1200" dirty="0"/>
          </a:p>
          <a:p>
            <a:pPr indent="0" marL="0">
              <a:buNone/>
            </a:pPr>
            <a:r>
              <a:rPr lang="en-US" sz="1200" dirty="0">
                <a:solidFill>
                  <a:srgbClr val="FFFFFF"/>
                </a:solidFill>
                <a:latin typeface="Microsoft YaHei" pitchFamily="34" charset="0"/>
                <a:ea typeface="Microsoft YaHei" pitchFamily="34" charset="-122"/>
                <a:cs typeface="Microsoft YaHei" pitchFamily="34" charset="-120"/>
              </a:rPr>
              <a:t>判定依据：[说明触发哪条规则]</a:t>
            </a:r>
            <a:endParaRPr lang="en-US" sz="1200" dirty="0"/>
          </a:p>
          <a:p>
            <a:pPr indent="0" marL="0">
              <a:buNone/>
            </a:pPr>
            <a:r>
              <a:rPr lang="en-US" sz="1200" dirty="0">
                <a:solidFill>
                  <a:srgbClr val="FFFFFF"/>
                </a:solidFill>
                <a:latin typeface="Microsoft YaHei" pitchFamily="34" charset="0"/>
                <a:ea typeface="Microsoft YaHei" pitchFamily="34" charset="-122"/>
                <a:cs typeface="Microsoft YaHei" pitchFamily="34" charset="-120"/>
              </a:rPr>
              <a:t>投诉类型：[一级分类] / [二级分类]</a:t>
            </a:r>
            <a:endParaRPr lang="en-US" sz="1200" dirty="0"/>
          </a:p>
          <a:p>
            <a:pPr indent="0" marL="0">
              <a:buNone/>
            </a:pPr>
            <a:r>
              <a:rPr lang="en-US" sz="1200" dirty="0">
                <a:solidFill>
                  <a:srgbClr val="FFFFFF"/>
                </a:solidFill>
                <a:latin typeface="Microsoft YaHei" pitchFamily="34" charset="0"/>
                <a:ea typeface="Microsoft YaHei" pitchFamily="34" charset="-122"/>
                <a:cs typeface="Microsoft YaHei" pitchFamily="34" charset="-120"/>
              </a:rPr>
              <a:t>本案关键事实：...</a:t>
            </a:r>
            <a:endParaRPr lang="en-US" sz="1200" dirty="0"/>
          </a:p>
          <a:p>
            <a:pPr indent="0" marL="0">
              <a:buNone/>
            </a:pPr>
            <a:r>
              <a:rPr lang="en-US" sz="1200" dirty="0">
                <a:solidFill>
                  <a:srgbClr val="FFFFFF"/>
                </a:solidFill>
                <a:latin typeface="Microsoft YaHei" pitchFamily="34" charset="0"/>
                <a:ea typeface="Microsoft YaHei" pitchFamily="34" charset="-122"/>
                <a:cs typeface="Microsoft YaHei" pitchFamily="34" charset="-120"/>
              </a:rPr>
              <a:t>建议处理路径：...</a:t>
            </a:r>
            <a:endParaRPr lang="en-US" sz="1200" dirty="0"/>
          </a:p>
          <a:p>
            <a:pPr indent="0" marL="0">
              <a:buNone/>
            </a:pPr>
            <a:r>
              <a:rPr lang="en-US" sz="1200" dirty="0">
                <a:solidFill>
                  <a:srgbClr val="FFFFFF"/>
                </a:solidFill>
                <a:latin typeface="Microsoft YaHei" pitchFamily="34" charset="0"/>
                <a:ea typeface="Microsoft YaHei" pitchFamily="34" charset="-122"/>
                <a:cs typeface="Microsoft YaHei" pitchFamily="34" charset="-120"/>
              </a:rPr>
              <a:t>需人工决策的判断点：...</a:t>
            </a:r>
            <a:endParaRPr lang="en-US" sz="1200" dirty="0"/>
          </a:p>
        </p:txBody>
      </p:sp>
      <p:sp>
        <p:nvSpPr>
          <p:cNvPr id="8" name="Shape 6"/>
          <p:cNvSpPr/>
          <p:nvPr/>
        </p:nvSpPr>
        <p:spPr>
          <a:xfrm>
            <a:off x="8503920" y="4663440"/>
            <a:ext cx="365760" cy="365760"/>
          </a:xfrm>
          <a:prstGeom prst="ellipse">
            <a:avLst/>
          </a:prstGeom>
          <a:solidFill>
            <a:srgbClr val="EF4444"/>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完整示例：Skill输出</a:t>
            </a:r>
            <a:endParaRPr lang="en-US" sz="2400" dirty="0"/>
          </a:p>
        </p:txBody>
      </p:sp>
      <p:sp>
        <p:nvSpPr>
          <p:cNvPr id="4" name="Shape 2"/>
          <p:cNvSpPr/>
          <p:nvPr/>
        </p:nvSpPr>
        <p:spPr>
          <a:xfrm>
            <a:off x="457200" y="914400"/>
            <a:ext cx="3931920" cy="1097280"/>
          </a:xfrm>
          <a:prstGeom prst="roundRect">
            <a:avLst>
              <a:gd name="adj" fmla="val 6667"/>
            </a:avLst>
          </a:prstGeom>
          <a:solidFill>
            <a:srgbClr val="F3F4F6"/>
          </a:solidFill>
          <a:ln/>
        </p:spPr>
      </p:sp>
      <p:sp>
        <p:nvSpPr>
          <p:cNvPr id="5" name="Text 3"/>
          <p:cNvSpPr/>
          <p:nvPr/>
        </p:nvSpPr>
        <p:spPr>
          <a:xfrm>
            <a:off x="640080" y="1005840"/>
            <a:ext cx="914400" cy="32004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输入</a:t>
            </a:r>
            <a:endParaRPr lang="en-US" sz="1200" dirty="0"/>
          </a:p>
        </p:txBody>
      </p:sp>
      <p:sp>
        <p:nvSpPr>
          <p:cNvPr id="6" name="Text 4"/>
          <p:cNvSpPr/>
          <p:nvPr/>
        </p:nvSpPr>
        <p:spPr>
          <a:xfrm>
            <a:off x="640080" y="1371600"/>
            <a:ext cx="3566160" cy="5486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客户投诉原材料延误8天，已停工等料</a:t>
            </a:r>
            <a:endParaRPr lang="en-US" sz="1300" dirty="0"/>
          </a:p>
        </p:txBody>
      </p:sp>
      <p:sp>
        <p:nvSpPr>
          <p:cNvPr id="7" name="Text 5"/>
          <p:cNvSpPr/>
          <p:nvPr/>
        </p:nvSpPr>
        <p:spPr>
          <a:xfrm>
            <a:off x="4114800" y="1188720"/>
            <a:ext cx="914400" cy="548640"/>
          </a:xfrm>
          <a:prstGeom prst="rect">
            <a:avLst/>
          </a:prstGeom>
          <a:noFill/>
          <a:ln/>
        </p:spPr>
        <p:txBody>
          <a:bodyPr wrap="square" rtlCol="0" anchor="ctr"/>
          <a:lstStyle/>
          <a:p>
            <a:pPr algn="ctr" indent="0" marL="0">
              <a:buNone/>
            </a:pPr>
            <a:r>
              <a:rPr lang="en-US" sz="2800" dirty="0">
                <a:solidFill>
                  <a:srgbClr val="EF4444"/>
                </a:solidFill>
                <a:latin typeface="Arial" pitchFamily="34" charset="0"/>
                <a:ea typeface="Arial" pitchFamily="34" charset="-122"/>
                <a:cs typeface="Arial" pitchFamily="34" charset="-120"/>
              </a:rPr>
              <a:t>→</a:t>
            </a:r>
            <a:endParaRPr lang="en-US" sz="2800" dirty="0"/>
          </a:p>
        </p:txBody>
      </p:sp>
      <p:sp>
        <p:nvSpPr>
          <p:cNvPr id="8" name="Shape 6"/>
          <p:cNvSpPr/>
          <p:nvPr/>
        </p:nvSpPr>
        <p:spPr>
          <a:xfrm>
            <a:off x="4754880" y="914400"/>
            <a:ext cx="3931920" cy="1097280"/>
          </a:xfrm>
          <a:prstGeom prst="roundRect">
            <a:avLst>
              <a:gd name="adj" fmla="val 6667"/>
            </a:avLst>
          </a:prstGeom>
          <a:solidFill>
            <a:srgbClr val="B91C1C"/>
          </a:solidFill>
          <a:ln/>
        </p:spPr>
      </p:sp>
      <p:sp>
        <p:nvSpPr>
          <p:cNvPr id="9" name="Text 7"/>
          <p:cNvSpPr/>
          <p:nvPr/>
        </p:nvSpPr>
        <p:spPr>
          <a:xfrm>
            <a:off x="4937760" y="1005840"/>
            <a:ext cx="914400" cy="32004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输出</a:t>
            </a:r>
            <a:endParaRPr lang="en-US" sz="1200" dirty="0"/>
          </a:p>
        </p:txBody>
      </p:sp>
      <p:sp>
        <p:nvSpPr>
          <p:cNvPr id="10" name="Text 8"/>
          <p:cNvSpPr/>
          <p:nvPr/>
        </p:nvSpPr>
        <p:spPr>
          <a:xfrm>
            <a:off x="4937760" y="1371600"/>
            <a:ext cx="3566160" cy="45720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投诉等级：P1</a:t>
            </a:r>
            <a:endParaRPr lang="en-US" sz="1300" dirty="0"/>
          </a:p>
        </p:txBody>
      </p:sp>
      <p:sp>
        <p:nvSpPr>
          <p:cNvPr id="11" name="Shape 9"/>
          <p:cNvSpPr/>
          <p:nvPr/>
        </p:nvSpPr>
        <p:spPr>
          <a:xfrm>
            <a:off x="457200" y="2194560"/>
            <a:ext cx="8229600" cy="2194560"/>
          </a:xfrm>
          <a:prstGeom prst="roundRect">
            <a:avLst>
              <a:gd name="adj" fmla="val 3333"/>
            </a:avLst>
          </a:prstGeom>
          <a:solidFill>
            <a:srgbClr val="F3F4F6"/>
          </a:solidFill>
          <a:ln/>
        </p:spPr>
      </p:sp>
      <p:sp>
        <p:nvSpPr>
          <p:cNvPr id="12" name="Text 10"/>
          <p:cNvSpPr/>
          <p:nvPr/>
        </p:nvSpPr>
        <p:spPr>
          <a:xfrm>
            <a:off x="640080" y="2377440"/>
            <a:ext cx="1645920" cy="457200"/>
          </a:xfrm>
          <a:prstGeom prst="rect">
            <a:avLst/>
          </a:prstGeom>
          <a:noFill/>
          <a:ln/>
        </p:spPr>
        <p:txBody>
          <a:bodyPr wrap="square" rtlCol="0" anchor="ctr"/>
          <a:lstStyle/>
          <a:p>
            <a:pPr indent="0" marL="0">
              <a:buNone/>
            </a:pPr>
            <a:r>
              <a:rPr lang="en-US" sz="1300" b="1" dirty="0">
                <a:solidFill>
                  <a:srgbClr val="EF4444"/>
                </a:solidFill>
                <a:latin typeface="Microsoft YaHei" pitchFamily="34" charset="0"/>
                <a:ea typeface="Microsoft YaHei" pitchFamily="34" charset="-122"/>
                <a:cs typeface="Microsoft YaHei" pitchFamily="34" charset="-120"/>
              </a:rPr>
              <a:t>判定依据：</a:t>
            </a:r>
            <a:endParaRPr lang="en-US" sz="1300" dirty="0"/>
          </a:p>
        </p:txBody>
      </p:sp>
      <p:sp>
        <p:nvSpPr>
          <p:cNvPr id="13" name="Text 11"/>
          <p:cNvSpPr/>
          <p:nvPr/>
        </p:nvSpPr>
        <p:spPr>
          <a:xfrm>
            <a:off x="2286000" y="2377440"/>
            <a:ext cx="6217920" cy="457200"/>
          </a:xfrm>
          <a:prstGeom prst="rect">
            <a:avLst/>
          </a:prstGeom>
          <a:noFill/>
          <a:ln/>
        </p:spPr>
        <p:txBody>
          <a:bodyPr wrap="square" rtlCol="0" anchor="ctr"/>
          <a:lstStyle/>
          <a:p>
            <a:pPr indent="0" marL="0">
              <a:buNone/>
            </a:pPr>
            <a:r>
              <a:rPr lang="en-US" sz="1300" dirty="0">
                <a:solidFill>
                  <a:srgbClr val="B91C1C"/>
                </a:solidFill>
                <a:latin typeface="Microsoft YaHei" pitchFamily="34" charset="0"/>
                <a:ea typeface="Microsoft YaHei" pitchFamily="34" charset="-122"/>
                <a:cs typeface="Microsoft YaHei" pitchFamily="34" charset="-120"/>
              </a:rPr>
              <a:t>实际损失+升级信号+超期60%</a:t>
            </a:r>
            <a:endParaRPr lang="en-US" sz="1300" dirty="0"/>
          </a:p>
        </p:txBody>
      </p:sp>
      <p:sp>
        <p:nvSpPr>
          <p:cNvPr id="14" name="Text 12"/>
          <p:cNvSpPr/>
          <p:nvPr/>
        </p:nvSpPr>
        <p:spPr>
          <a:xfrm>
            <a:off x="640080" y="3017520"/>
            <a:ext cx="1645920" cy="457200"/>
          </a:xfrm>
          <a:prstGeom prst="rect">
            <a:avLst/>
          </a:prstGeom>
          <a:noFill/>
          <a:ln/>
        </p:spPr>
        <p:txBody>
          <a:bodyPr wrap="square" rtlCol="0" anchor="ctr"/>
          <a:lstStyle/>
          <a:p>
            <a:pPr indent="0" marL="0">
              <a:buNone/>
            </a:pPr>
            <a:r>
              <a:rPr lang="en-US" sz="1300" b="1" dirty="0">
                <a:solidFill>
                  <a:srgbClr val="EF4444"/>
                </a:solidFill>
                <a:latin typeface="Microsoft YaHei" pitchFamily="34" charset="0"/>
                <a:ea typeface="Microsoft YaHei" pitchFamily="34" charset="-122"/>
                <a:cs typeface="Microsoft YaHei" pitchFamily="34" charset="-120"/>
              </a:rPr>
              <a:t>投诉类型：</a:t>
            </a:r>
            <a:endParaRPr lang="en-US" sz="1300" dirty="0"/>
          </a:p>
        </p:txBody>
      </p:sp>
      <p:sp>
        <p:nvSpPr>
          <p:cNvPr id="15" name="Text 13"/>
          <p:cNvSpPr/>
          <p:nvPr/>
        </p:nvSpPr>
        <p:spPr>
          <a:xfrm>
            <a:off x="2286000" y="3017520"/>
            <a:ext cx="6217920" cy="457200"/>
          </a:xfrm>
          <a:prstGeom prst="rect">
            <a:avLst/>
          </a:prstGeom>
          <a:noFill/>
          <a:ln/>
        </p:spPr>
        <p:txBody>
          <a:bodyPr wrap="square" rtlCol="0" anchor="ctr"/>
          <a:lstStyle/>
          <a:p>
            <a:pPr indent="0" marL="0">
              <a:buNone/>
            </a:pPr>
            <a:r>
              <a:rPr lang="en-US" sz="1300" dirty="0">
                <a:solidFill>
                  <a:srgbClr val="B91C1C"/>
                </a:solidFill>
                <a:latin typeface="Microsoft YaHei" pitchFamily="34" charset="0"/>
                <a:ea typeface="Microsoft YaHei" pitchFamily="34" charset="-122"/>
                <a:cs typeface="Microsoft YaHei" pitchFamily="34" charset="-120"/>
              </a:rPr>
              <a:t>物流类/延误超期</a:t>
            </a:r>
            <a:endParaRPr lang="en-US" sz="1300" dirty="0"/>
          </a:p>
        </p:txBody>
      </p:sp>
      <p:sp>
        <p:nvSpPr>
          <p:cNvPr id="16" name="Text 14"/>
          <p:cNvSpPr/>
          <p:nvPr/>
        </p:nvSpPr>
        <p:spPr>
          <a:xfrm>
            <a:off x="640080" y="3657600"/>
            <a:ext cx="1645920" cy="457200"/>
          </a:xfrm>
          <a:prstGeom prst="rect">
            <a:avLst/>
          </a:prstGeom>
          <a:noFill/>
          <a:ln/>
        </p:spPr>
        <p:txBody>
          <a:bodyPr wrap="square" rtlCol="0" anchor="ctr"/>
          <a:lstStyle/>
          <a:p>
            <a:pPr indent="0" marL="0">
              <a:buNone/>
            </a:pPr>
            <a:r>
              <a:rPr lang="en-US" sz="1300" b="1" dirty="0">
                <a:solidFill>
                  <a:srgbClr val="EF4444"/>
                </a:solidFill>
                <a:latin typeface="Microsoft YaHei" pitchFamily="34" charset="0"/>
                <a:ea typeface="Microsoft YaHei" pitchFamily="34" charset="-122"/>
                <a:cs typeface="Microsoft YaHei" pitchFamily="34" charset="-120"/>
              </a:rPr>
              <a:t>建议处理路径：</a:t>
            </a:r>
            <a:endParaRPr lang="en-US" sz="1300" dirty="0"/>
          </a:p>
        </p:txBody>
      </p:sp>
      <p:sp>
        <p:nvSpPr>
          <p:cNvPr id="17" name="Text 15"/>
          <p:cNvSpPr/>
          <p:nvPr/>
        </p:nvSpPr>
        <p:spPr>
          <a:xfrm>
            <a:off x="2286000" y="3657600"/>
            <a:ext cx="6217920" cy="457200"/>
          </a:xfrm>
          <a:prstGeom prst="rect">
            <a:avLst/>
          </a:prstGeom>
          <a:noFill/>
          <a:ln/>
        </p:spPr>
        <p:txBody>
          <a:bodyPr wrap="square" rtlCol="0" anchor="ctr"/>
          <a:lstStyle/>
          <a:p>
            <a:pPr indent="0" marL="0">
              <a:buNone/>
            </a:pPr>
            <a:r>
              <a:rPr lang="en-US" sz="1300" dirty="0">
                <a:solidFill>
                  <a:srgbClr val="B91C1C"/>
                </a:solidFill>
                <a:latin typeface="Microsoft YaHei" pitchFamily="34" charset="0"/>
                <a:ea typeface="Microsoft YaHei" pitchFamily="34" charset="-122"/>
                <a:cs typeface="Microsoft YaHei" pitchFamily="34" charset="-120"/>
              </a:rPr>
              <a:t>立即转交高级客服、确认货物位置、说明赔偿方案</a:t>
            </a:r>
            <a:endParaRPr lang="en-US" sz="1300" dirty="0"/>
          </a:p>
        </p:txBody>
      </p:sp>
      <p:sp>
        <p:nvSpPr>
          <p:cNvPr id="18" name="Shape 16"/>
          <p:cNvSpPr/>
          <p:nvPr/>
        </p:nvSpPr>
        <p:spPr>
          <a:xfrm>
            <a:off x="8503920" y="4663440"/>
            <a:ext cx="365760" cy="365760"/>
          </a:xfrm>
          <a:prstGeom prst="ellipse">
            <a:avLst/>
          </a:prstGeom>
          <a:solidFill>
            <a:srgbClr val="EF4444"/>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初稿常见问题与解法</a:t>
            </a:r>
            <a:endParaRPr lang="en-US" sz="2400" dirty="0"/>
          </a:p>
        </p:txBody>
      </p:sp>
      <p:sp>
        <p:nvSpPr>
          <p:cNvPr id="4" name="Shape 2"/>
          <p:cNvSpPr/>
          <p:nvPr/>
        </p:nvSpPr>
        <p:spPr>
          <a:xfrm>
            <a:off x="457200" y="822960"/>
            <a:ext cx="2926080" cy="457200"/>
          </a:xfrm>
          <a:prstGeom prst="rect">
            <a:avLst/>
          </a:prstGeom>
          <a:solidFill>
            <a:srgbClr val="B91C1C"/>
          </a:solidFill>
          <a:ln/>
        </p:spPr>
      </p:sp>
      <p:sp>
        <p:nvSpPr>
          <p:cNvPr id="5" name="Text 3"/>
          <p:cNvSpPr/>
          <p:nvPr/>
        </p:nvSpPr>
        <p:spPr>
          <a:xfrm>
            <a:off x="457200" y="822960"/>
            <a:ext cx="292608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问题现象</a:t>
            </a:r>
            <a:endParaRPr lang="en-US" sz="1400" dirty="0"/>
          </a:p>
        </p:txBody>
      </p:sp>
      <p:sp>
        <p:nvSpPr>
          <p:cNvPr id="6" name="Shape 4"/>
          <p:cNvSpPr/>
          <p:nvPr/>
        </p:nvSpPr>
        <p:spPr>
          <a:xfrm>
            <a:off x="3383280" y="822960"/>
            <a:ext cx="2560320" cy="457200"/>
          </a:xfrm>
          <a:prstGeom prst="rect">
            <a:avLst/>
          </a:prstGeom>
          <a:solidFill>
            <a:srgbClr val="B91C1C"/>
          </a:solidFill>
          <a:ln/>
        </p:spPr>
      </p:sp>
      <p:sp>
        <p:nvSpPr>
          <p:cNvPr id="7" name="Text 5"/>
          <p:cNvSpPr/>
          <p:nvPr/>
        </p:nvSpPr>
        <p:spPr>
          <a:xfrm>
            <a:off x="3383280" y="822960"/>
            <a:ext cx="256032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根本原因</a:t>
            </a:r>
            <a:endParaRPr lang="en-US" sz="1400" dirty="0"/>
          </a:p>
        </p:txBody>
      </p:sp>
      <p:sp>
        <p:nvSpPr>
          <p:cNvPr id="8" name="Shape 6"/>
          <p:cNvSpPr/>
          <p:nvPr/>
        </p:nvSpPr>
        <p:spPr>
          <a:xfrm>
            <a:off x="5943600" y="822960"/>
            <a:ext cx="2743200" cy="457200"/>
          </a:xfrm>
          <a:prstGeom prst="rect">
            <a:avLst/>
          </a:prstGeom>
          <a:solidFill>
            <a:srgbClr val="B91C1C"/>
          </a:solidFill>
          <a:ln/>
        </p:spPr>
      </p:sp>
      <p:sp>
        <p:nvSpPr>
          <p:cNvPr id="9" name="Text 7"/>
          <p:cNvSpPr/>
          <p:nvPr/>
        </p:nvSpPr>
        <p:spPr>
          <a:xfrm>
            <a:off x="5943600" y="822960"/>
            <a:ext cx="274320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解法</a:t>
            </a:r>
            <a:endParaRPr lang="en-US" sz="1400" dirty="0"/>
          </a:p>
        </p:txBody>
      </p:sp>
      <p:sp>
        <p:nvSpPr>
          <p:cNvPr id="10" name="Shape 8"/>
          <p:cNvSpPr/>
          <p:nvPr/>
        </p:nvSpPr>
        <p:spPr>
          <a:xfrm>
            <a:off x="457200" y="1280160"/>
            <a:ext cx="2926080" cy="685800"/>
          </a:xfrm>
          <a:prstGeom prst="rect">
            <a:avLst/>
          </a:prstGeom>
          <a:solidFill>
            <a:srgbClr val="F3F4F6"/>
          </a:solidFill>
          <a:ln/>
        </p:spPr>
      </p:sp>
      <p:sp>
        <p:nvSpPr>
          <p:cNvPr id="11" name="Text 9"/>
          <p:cNvSpPr/>
          <p:nvPr/>
        </p:nvSpPr>
        <p:spPr>
          <a:xfrm>
            <a:off x="548640" y="1280160"/>
            <a:ext cx="27432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输出格式每次不一样</a:t>
            </a:r>
            <a:endParaRPr lang="en-US" sz="1200" dirty="0"/>
          </a:p>
        </p:txBody>
      </p:sp>
      <p:sp>
        <p:nvSpPr>
          <p:cNvPr id="12" name="Shape 10"/>
          <p:cNvSpPr/>
          <p:nvPr/>
        </p:nvSpPr>
        <p:spPr>
          <a:xfrm>
            <a:off x="3383280" y="1280160"/>
            <a:ext cx="2560320" cy="685800"/>
          </a:xfrm>
          <a:prstGeom prst="rect">
            <a:avLst/>
          </a:prstGeom>
          <a:solidFill>
            <a:srgbClr val="F3F4F6"/>
          </a:solidFill>
          <a:ln/>
        </p:spPr>
      </p:sp>
      <p:sp>
        <p:nvSpPr>
          <p:cNvPr id="13" name="Text 11"/>
          <p:cNvSpPr/>
          <p:nvPr/>
        </p:nvSpPr>
        <p:spPr>
          <a:xfrm>
            <a:off x="3474720" y="1280160"/>
            <a:ext cx="23774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格式模板不够死板</a:t>
            </a:r>
            <a:endParaRPr lang="en-US" sz="1200" dirty="0"/>
          </a:p>
        </p:txBody>
      </p:sp>
      <p:sp>
        <p:nvSpPr>
          <p:cNvPr id="14" name="Shape 12"/>
          <p:cNvSpPr/>
          <p:nvPr/>
        </p:nvSpPr>
        <p:spPr>
          <a:xfrm>
            <a:off x="5943600" y="1280160"/>
            <a:ext cx="2743200" cy="685800"/>
          </a:xfrm>
          <a:prstGeom prst="rect">
            <a:avLst/>
          </a:prstGeom>
          <a:solidFill>
            <a:srgbClr val="F3F4F6"/>
          </a:solidFill>
          <a:ln/>
        </p:spPr>
      </p:sp>
      <p:sp>
        <p:nvSpPr>
          <p:cNvPr id="15" name="Text 13"/>
          <p:cNvSpPr/>
          <p:nvPr/>
        </p:nvSpPr>
        <p:spPr>
          <a:xfrm>
            <a:off x="6035040" y="1280160"/>
            <a:ext cx="25603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加硬性约束</a:t>
            </a:r>
            <a:endParaRPr lang="en-US" sz="1200" dirty="0"/>
          </a:p>
        </p:txBody>
      </p:sp>
      <p:sp>
        <p:nvSpPr>
          <p:cNvPr id="16" name="Shape 14"/>
          <p:cNvSpPr/>
          <p:nvPr/>
        </p:nvSpPr>
        <p:spPr>
          <a:xfrm>
            <a:off x="457200" y="2057400"/>
            <a:ext cx="2926080" cy="685800"/>
          </a:xfrm>
          <a:prstGeom prst="rect">
            <a:avLst/>
          </a:prstGeom>
          <a:solidFill>
            <a:srgbClr val="FFFFFF"/>
          </a:solidFill>
          <a:ln/>
        </p:spPr>
      </p:sp>
      <p:sp>
        <p:nvSpPr>
          <p:cNvPr id="17" name="Text 15"/>
          <p:cNvSpPr/>
          <p:nvPr/>
        </p:nvSpPr>
        <p:spPr>
          <a:xfrm>
            <a:off x="548640" y="2057400"/>
            <a:ext cx="27432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规则被绕过</a:t>
            </a:r>
            <a:endParaRPr lang="en-US" sz="1200" dirty="0"/>
          </a:p>
        </p:txBody>
      </p:sp>
      <p:sp>
        <p:nvSpPr>
          <p:cNvPr id="18" name="Shape 16"/>
          <p:cNvSpPr/>
          <p:nvPr/>
        </p:nvSpPr>
        <p:spPr>
          <a:xfrm>
            <a:off x="3383280" y="2057400"/>
            <a:ext cx="2560320" cy="685800"/>
          </a:xfrm>
          <a:prstGeom prst="rect">
            <a:avLst/>
          </a:prstGeom>
          <a:solidFill>
            <a:srgbClr val="FFFFFF"/>
          </a:solidFill>
          <a:ln/>
        </p:spPr>
      </p:sp>
      <p:sp>
        <p:nvSpPr>
          <p:cNvPr id="19" name="Text 17"/>
          <p:cNvSpPr/>
          <p:nvPr/>
        </p:nvSpPr>
        <p:spPr>
          <a:xfrm>
            <a:off x="3474720" y="2057400"/>
            <a:ext cx="23774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触发条件太模糊</a:t>
            </a:r>
            <a:endParaRPr lang="en-US" sz="1200" dirty="0"/>
          </a:p>
        </p:txBody>
      </p:sp>
      <p:sp>
        <p:nvSpPr>
          <p:cNvPr id="20" name="Shape 18"/>
          <p:cNvSpPr/>
          <p:nvPr/>
        </p:nvSpPr>
        <p:spPr>
          <a:xfrm>
            <a:off x="5943600" y="2057400"/>
            <a:ext cx="2743200" cy="685800"/>
          </a:xfrm>
          <a:prstGeom prst="rect">
            <a:avLst/>
          </a:prstGeom>
          <a:solidFill>
            <a:srgbClr val="FFFFFF"/>
          </a:solidFill>
          <a:ln/>
        </p:spPr>
      </p:sp>
      <p:sp>
        <p:nvSpPr>
          <p:cNvPr id="21" name="Text 19"/>
          <p:cNvSpPr/>
          <p:nvPr/>
        </p:nvSpPr>
        <p:spPr>
          <a:xfrm>
            <a:off x="6035040" y="2057400"/>
            <a:ext cx="25603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改成可检测信号</a:t>
            </a:r>
            <a:endParaRPr lang="en-US" sz="1200" dirty="0"/>
          </a:p>
        </p:txBody>
      </p:sp>
      <p:sp>
        <p:nvSpPr>
          <p:cNvPr id="22" name="Shape 20"/>
          <p:cNvSpPr/>
          <p:nvPr/>
        </p:nvSpPr>
        <p:spPr>
          <a:xfrm>
            <a:off x="457200" y="2834640"/>
            <a:ext cx="2926080" cy="685800"/>
          </a:xfrm>
          <a:prstGeom prst="rect">
            <a:avLst/>
          </a:prstGeom>
          <a:solidFill>
            <a:srgbClr val="F3F4F6"/>
          </a:solidFill>
          <a:ln/>
        </p:spPr>
      </p:sp>
      <p:sp>
        <p:nvSpPr>
          <p:cNvPr id="23" name="Text 21"/>
          <p:cNvSpPr/>
          <p:nvPr/>
        </p:nvSpPr>
        <p:spPr>
          <a:xfrm>
            <a:off x="548640" y="2834640"/>
            <a:ext cx="27432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边界情况乱发挥</a:t>
            </a:r>
            <a:endParaRPr lang="en-US" sz="1200" dirty="0"/>
          </a:p>
        </p:txBody>
      </p:sp>
      <p:sp>
        <p:nvSpPr>
          <p:cNvPr id="24" name="Shape 22"/>
          <p:cNvSpPr/>
          <p:nvPr/>
        </p:nvSpPr>
        <p:spPr>
          <a:xfrm>
            <a:off x="3383280" y="2834640"/>
            <a:ext cx="2560320" cy="685800"/>
          </a:xfrm>
          <a:prstGeom prst="rect">
            <a:avLst/>
          </a:prstGeom>
          <a:solidFill>
            <a:srgbClr val="F3F4F6"/>
          </a:solidFill>
          <a:ln/>
        </p:spPr>
      </p:sp>
      <p:sp>
        <p:nvSpPr>
          <p:cNvPr id="25" name="Text 23"/>
          <p:cNvSpPr/>
          <p:nvPr/>
        </p:nvSpPr>
        <p:spPr>
          <a:xfrm>
            <a:off x="3474720" y="2834640"/>
            <a:ext cx="23774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没有兜底规则</a:t>
            </a:r>
            <a:endParaRPr lang="en-US" sz="1200" dirty="0"/>
          </a:p>
        </p:txBody>
      </p:sp>
      <p:sp>
        <p:nvSpPr>
          <p:cNvPr id="26" name="Shape 24"/>
          <p:cNvSpPr/>
          <p:nvPr/>
        </p:nvSpPr>
        <p:spPr>
          <a:xfrm>
            <a:off x="5943600" y="2834640"/>
            <a:ext cx="2743200" cy="685800"/>
          </a:xfrm>
          <a:prstGeom prst="rect">
            <a:avLst/>
          </a:prstGeom>
          <a:solidFill>
            <a:srgbClr val="F3F4F6"/>
          </a:solidFill>
          <a:ln/>
        </p:spPr>
      </p:sp>
      <p:sp>
        <p:nvSpPr>
          <p:cNvPr id="27" name="Text 25"/>
          <p:cNvSpPr/>
          <p:nvPr/>
        </p:nvSpPr>
        <p:spPr>
          <a:xfrm>
            <a:off x="6035040" y="2834640"/>
            <a:ext cx="25603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加强兜底约束</a:t>
            </a:r>
            <a:endParaRPr lang="en-US" sz="1200" dirty="0"/>
          </a:p>
        </p:txBody>
      </p:sp>
      <p:sp>
        <p:nvSpPr>
          <p:cNvPr id="28" name="Shape 26"/>
          <p:cNvSpPr/>
          <p:nvPr/>
        </p:nvSpPr>
        <p:spPr>
          <a:xfrm>
            <a:off x="457200" y="3611880"/>
            <a:ext cx="2926080" cy="685800"/>
          </a:xfrm>
          <a:prstGeom prst="rect">
            <a:avLst/>
          </a:prstGeom>
          <a:solidFill>
            <a:srgbClr val="FFFFFF"/>
          </a:solidFill>
          <a:ln/>
        </p:spPr>
      </p:sp>
      <p:sp>
        <p:nvSpPr>
          <p:cNvPr id="29" name="Text 27"/>
          <p:cNvSpPr/>
          <p:nvPr/>
        </p:nvSpPr>
        <p:spPr>
          <a:xfrm>
            <a:off x="548640" y="3611880"/>
            <a:ext cx="27432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输出混了两个角色</a:t>
            </a:r>
            <a:endParaRPr lang="en-US" sz="1200" dirty="0"/>
          </a:p>
        </p:txBody>
      </p:sp>
      <p:sp>
        <p:nvSpPr>
          <p:cNvPr id="30" name="Shape 28"/>
          <p:cNvSpPr/>
          <p:nvPr/>
        </p:nvSpPr>
        <p:spPr>
          <a:xfrm>
            <a:off x="3383280" y="3611880"/>
            <a:ext cx="2560320" cy="685800"/>
          </a:xfrm>
          <a:prstGeom prst="rect">
            <a:avLst/>
          </a:prstGeom>
          <a:solidFill>
            <a:srgbClr val="FFFFFF"/>
          </a:solidFill>
          <a:ln/>
        </p:spPr>
      </p:sp>
      <p:sp>
        <p:nvSpPr>
          <p:cNvPr id="31" name="Text 29"/>
          <p:cNvSpPr/>
          <p:nvPr/>
        </p:nvSpPr>
        <p:spPr>
          <a:xfrm>
            <a:off x="3474720" y="3611880"/>
            <a:ext cx="23774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角色定义不清晰</a:t>
            </a:r>
            <a:endParaRPr lang="en-US" sz="1200" dirty="0"/>
          </a:p>
        </p:txBody>
      </p:sp>
      <p:sp>
        <p:nvSpPr>
          <p:cNvPr id="32" name="Shape 30"/>
          <p:cNvSpPr/>
          <p:nvPr/>
        </p:nvSpPr>
        <p:spPr>
          <a:xfrm>
            <a:off x="5943600" y="3611880"/>
            <a:ext cx="2743200" cy="685800"/>
          </a:xfrm>
          <a:prstGeom prst="rect">
            <a:avLst/>
          </a:prstGeom>
          <a:solidFill>
            <a:srgbClr val="FFFFFF"/>
          </a:solidFill>
          <a:ln/>
        </p:spPr>
      </p:sp>
      <p:sp>
        <p:nvSpPr>
          <p:cNvPr id="33" name="Text 31"/>
          <p:cNvSpPr/>
          <p:nvPr/>
        </p:nvSpPr>
        <p:spPr>
          <a:xfrm>
            <a:off x="6035040" y="3611880"/>
            <a:ext cx="25603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明确"不负责什么"</a:t>
            </a:r>
            <a:endParaRPr lang="en-US" sz="1200" dirty="0"/>
          </a:p>
        </p:txBody>
      </p:sp>
      <p:sp>
        <p:nvSpPr>
          <p:cNvPr id="34" name="Shape 32"/>
          <p:cNvSpPr/>
          <p:nvPr/>
        </p:nvSpPr>
        <p:spPr>
          <a:xfrm>
            <a:off x="8503920" y="4663440"/>
            <a:ext cx="365760" cy="365760"/>
          </a:xfrm>
          <a:prstGeom prst="ellipse">
            <a:avLst/>
          </a:prstGeom>
          <a:solidFill>
            <a:srgbClr val="EF4444"/>
          </a:solidFill>
          <a:ln/>
        </p:spPr>
      </p:sp>
      <p:sp>
        <p:nvSpPr>
          <p:cNvPr id="35" name="Text 33"/>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练习五：搭建你的第一个Skill</a:t>
            </a:r>
            <a:endParaRPr lang="en-US" sz="2400" dirty="0"/>
          </a:p>
        </p:txBody>
      </p:sp>
      <p:sp>
        <p:nvSpPr>
          <p:cNvPr id="4" name="Shape 2"/>
          <p:cNvSpPr/>
          <p:nvPr/>
        </p:nvSpPr>
        <p:spPr>
          <a:xfrm>
            <a:off x="457200" y="1097280"/>
            <a:ext cx="8229600" cy="685800"/>
          </a:xfrm>
          <a:prstGeom prst="roundRect">
            <a:avLst>
              <a:gd name="adj" fmla="val 10667"/>
            </a:avLst>
          </a:prstGeom>
          <a:solidFill>
            <a:srgbClr val="F3F4F6"/>
          </a:solidFill>
          <a:ln/>
        </p:spPr>
      </p:sp>
      <p:sp>
        <p:nvSpPr>
          <p:cNvPr id="5" name="Shape 3"/>
          <p:cNvSpPr/>
          <p:nvPr/>
        </p:nvSpPr>
        <p:spPr>
          <a:xfrm>
            <a:off x="640080" y="1207008"/>
            <a:ext cx="457200" cy="457200"/>
          </a:xfrm>
          <a:prstGeom prst="ellipse">
            <a:avLst/>
          </a:prstGeom>
          <a:solidFill>
            <a:srgbClr val="EF4444"/>
          </a:solidFill>
          <a:ln/>
        </p:spPr>
      </p:sp>
      <p:sp>
        <p:nvSpPr>
          <p:cNvPr id="6" name="Text 4"/>
          <p:cNvSpPr/>
          <p:nvPr/>
        </p:nvSpPr>
        <p:spPr>
          <a:xfrm>
            <a:off x="640080" y="120700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80160" y="109728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按五模块结构转化业务规则表</a:t>
            </a:r>
            <a:endParaRPr lang="en-US" sz="1600" dirty="0"/>
          </a:p>
        </p:txBody>
      </p:sp>
      <p:sp>
        <p:nvSpPr>
          <p:cNvPr id="8" name="Shape 6"/>
          <p:cNvSpPr/>
          <p:nvPr/>
        </p:nvSpPr>
        <p:spPr>
          <a:xfrm>
            <a:off x="457200" y="1920240"/>
            <a:ext cx="8229600" cy="685800"/>
          </a:xfrm>
          <a:prstGeom prst="roundRect">
            <a:avLst>
              <a:gd name="adj" fmla="val 10667"/>
            </a:avLst>
          </a:prstGeom>
          <a:solidFill>
            <a:srgbClr val="F3F4F6"/>
          </a:solidFill>
          <a:ln/>
        </p:spPr>
      </p:sp>
      <p:sp>
        <p:nvSpPr>
          <p:cNvPr id="9" name="Shape 7"/>
          <p:cNvSpPr/>
          <p:nvPr/>
        </p:nvSpPr>
        <p:spPr>
          <a:xfrm>
            <a:off x="640080" y="2029968"/>
            <a:ext cx="457200" cy="457200"/>
          </a:xfrm>
          <a:prstGeom prst="ellipse">
            <a:avLst/>
          </a:prstGeom>
          <a:solidFill>
            <a:srgbClr val="EF4444"/>
          </a:solidFill>
          <a:ln/>
        </p:spPr>
      </p:sp>
      <p:sp>
        <p:nvSpPr>
          <p:cNvPr id="10" name="Text 8"/>
          <p:cNvSpPr/>
          <p:nvPr/>
        </p:nvSpPr>
        <p:spPr>
          <a:xfrm>
            <a:off x="640080" y="202996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80160" y="192024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录入AI平台并测试至少3次</a:t>
            </a:r>
            <a:endParaRPr lang="en-US" sz="1600" dirty="0"/>
          </a:p>
        </p:txBody>
      </p:sp>
      <p:sp>
        <p:nvSpPr>
          <p:cNvPr id="12" name="Shape 10"/>
          <p:cNvSpPr/>
          <p:nvPr/>
        </p:nvSpPr>
        <p:spPr>
          <a:xfrm>
            <a:off x="457200" y="2743200"/>
            <a:ext cx="8229600" cy="685800"/>
          </a:xfrm>
          <a:prstGeom prst="roundRect">
            <a:avLst>
              <a:gd name="adj" fmla="val 10667"/>
            </a:avLst>
          </a:prstGeom>
          <a:solidFill>
            <a:srgbClr val="F3F4F6"/>
          </a:solidFill>
          <a:ln/>
        </p:spPr>
      </p:sp>
      <p:sp>
        <p:nvSpPr>
          <p:cNvPr id="13" name="Shape 11"/>
          <p:cNvSpPr/>
          <p:nvPr/>
        </p:nvSpPr>
        <p:spPr>
          <a:xfrm>
            <a:off x="640080" y="2852928"/>
            <a:ext cx="457200" cy="457200"/>
          </a:xfrm>
          <a:prstGeom prst="ellipse">
            <a:avLst/>
          </a:prstGeom>
          <a:solidFill>
            <a:srgbClr val="EF4444"/>
          </a:solidFill>
          <a:ln/>
        </p:spPr>
      </p:sp>
      <p:sp>
        <p:nvSpPr>
          <p:cNvPr id="14" name="Text 12"/>
          <p:cNvSpPr/>
          <p:nvPr/>
        </p:nvSpPr>
        <p:spPr>
          <a:xfrm>
            <a:off x="640080" y="285292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80160" y="274320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记录问题并修改</a:t>
            </a:r>
            <a:endParaRPr lang="en-US" sz="1600" dirty="0"/>
          </a:p>
        </p:txBody>
      </p:sp>
      <p:sp>
        <p:nvSpPr>
          <p:cNvPr id="16" name="Shape 14"/>
          <p:cNvSpPr/>
          <p:nvPr/>
        </p:nvSpPr>
        <p:spPr>
          <a:xfrm>
            <a:off x="457200" y="3566160"/>
            <a:ext cx="8229600" cy="685800"/>
          </a:xfrm>
          <a:prstGeom prst="roundRect">
            <a:avLst>
              <a:gd name="adj" fmla="val 10667"/>
            </a:avLst>
          </a:prstGeom>
          <a:solidFill>
            <a:srgbClr val="F3F4F6"/>
          </a:solidFill>
          <a:ln/>
        </p:spPr>
      </p:sp>
      <p:sp>
        <p:nvSpPr>
          <p:cNvPr id="17" name="Shape 15"/>
          <p:cNvSpPr/>
          <p:nvPr/>
        </p:nvSpPr>
        <p:spPr>
          <a:xfrm>
            <a:off x="640080" y="3675888"/>
            <a:ext cx="457200" cy="457200"/>
          </a:xfrm>
          <a:prstGeom prst="ellipse">
            <a:avLst/>
          </a:prstGeom>
          <a:solidFill>
            <a:srgbClr val="EF4444"/>
          </a:solidFill>
          <a:ln/>
        </p:spPr>
      </p:sp>
      <p:sp>
        <p:nvSpPr>
          <p:cNvPr id="18" name="Text 16"/>
          <p:cNvSpPr/>
          <p:nvPr/>
        </p:nvSpPr>
        <p:spPr>
          <a:xfrm>
            <a:off x="640080" y="367588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1280160" y="356616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给自己30分钟</a:t>
            </a:r>
            <a:endParaRPr lang="en-US" sz="1600" dirty="0"/>
          </a:p>
        </p:txBody>
      </p:sp>
      <p:sp>
        <p:nvSpPr>
          <p:cNvPr id="20" name="Shape 18"/>
          <p:cNvSpPr/>
          <p:nvPr/>
        </p:nvSpPr>
        <p:spPr>
          <a:xfrm>
            <a:off x="8503920" y="4663440"/>
            <a:ext cx="365760" cy="365760"/>
          </a:xfrm>
          <a:prstGeom prst="ellipse">
            <a:avLst/>
          </a:prstGeom>
          <a:solidFill>
            <a:srgbClr val="EF4444"/>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2103120"/>
            <a:ext cx="9144000" cy="54864"/>
          </a:xfrm>
          <a:prstGeom prst="rect">
            <a:avLst/>
          </a:prstGeom>
          <a:solidFill>
            <a:srgbClr val="EF4444"/>
          </a:solidFill>
          <a:ln/>
        </p:spPr>
      </p:sp>
      <p:sp>
        <p:nvSpPr>
          <p:cNvPr id="3" name="Text 1"/>
          <p:cNvSpPr/>
          <p:nvPr/>
        </p:nvSpPr>
        <p:spPr>
          <a:xfrm>
            <a:off x="457200" y="1645920"/>
            <a:ext cx="8229600" cy="548640"/>
          </a:xfrm>
          <a:prstGeom prst="rect">
            <a:avLst/>
          </a:prstGeom>
          <a:noFill/>
          <a:ln/>
        </p:spPr>
        <p:txBody>
          <a:bodyPr wrap="square" rtlCol="0" anchor="ctr"/>
          <a:lstStyle/>
          <a:p>
            <a:pPr indent="0" marL="0">
              <a:buNone/>
            </a:pPr>
            <a:r>
              <a:rPr lang="en-US" sz="2400" dirty="0">
                <a:solidFill>
                  <a:srgbClr val="F3F4F6"/>
                </a:solidFill>
                <a:latin typeface="Microsoft YaHei" pitchFamily="34" charset="0"/>
                <a:ea typeface="Microsoft YaHei" pitchFamily="34" charset="-122"/>
                <a:cs typeface="Microsoft YaHei" pitchFamily="34" charset="-120"/>
              </a:rPr>
              <a:t>第四部分</a:t>
            </a:r>
            <a:endParaRPr lang="en-US" sz="2400" dirty="0"/>
          </a:p>
        </p:txBody>
      </p:sp>
      <p:sp>
        <p:nvSpPr>
          <p:cNvPr id="4" name="Text 2"/>
          <p:cNvSpPr/>
          <p:nvPr/>
        </p:nvSpPr>
        <p:spPr>
          <a:xfrm>
            <a:off x="457200" y="2286000"/>
            <a:ext cx="8229600" cy="731520"/>
          </a:xfrm>
          <a:prstGeom prst="rect">
            <a:avLst/>
          </a:prstGeom>
          <a:noFill/>
          <a:ln/>
        </p:spPr>
        <p:txBody>
          <a:bodyPr wrap="square" rtlCol="0" anchor="ctr"/>
          <a:lstStyle/>
          <a:p>
            <a:pPr indent="0" marL="0">
              <a:buNone/>
            </a:pPr>
            <a:r>
              <a:rPr lang="en-US" sz="3800" b="1" dirty="0">
                <a:solidFill>
                  <a:srgbClr val="FFFFFF"/>
                </a:solidFill>
                <a:latin typeface="Microsoft YaHei" pitchFamily="34" charset="0"/>
                <a:ea typeface="Microsoft YaHei" pitchFamily="34" charset="-122"/>
                <a:cs typeface="Microsoft YaHei" pitchFamily="34" charset="-120"/>
              </a:rPr>
              <a:t>构建知识库</a:t>
            </a:r>
            <a:endParaRPr lang="en-US" sz="38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800" dirty="0">
                <a:solidFill>
                  <a:srgbClr val="F3F4F6"/>
                </a:solidFill>
                <a:latin typeface="Microsoft YaHei" pitchFamily="34" charset="0"/>
                <a:ea typeface="Microsoft YaHei" pitchFamily="34" charset="-122"/>
                <a:cs typeface="Microsoft YaHei" pitchFamily="34" charset="-120"/>
              </a:rPr>
              <a:t>规则和知识库的分工</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规则 vs 知识库</a:t>
            </a:r>
            <a:endParaRPr lang="en-US" sz="2400" dirty="0"/>
          </a:p>
        </p:txBody>
      </p:sp>
      <p:sp>
        <p:nvSpPr>
          <p:cNvPr id="4" name="Shape 2"/>
          <p:cNvSpPr/>
          <p:nvPr/>
        </p:nvSpPr>
        <p:spPr>
          <a:xfrm>
            <a:off x="457200" y="914400"/>
            <a:ext cx="3931920" cy="3291840"/>
          </a:xfrm>
          <a:prstGeom prst="roundRect">
            <a:avLst>
              <a:gd name="adj" fmla="val 2778"/>
            </a:avLst>
          </a:prstGeom>
          <a:solidFill>
            <a:srgbClr val="B91C1C"/>
          </a:solidFill>
          <a:ln/>
        </p:spPr>
      </p:sp>
      <p:sp>
        <p:nvSpPr>
          <p:cNvPr id="5" name="Text 3"/>
          <p:cNvSpPr/>
          <p:nvPr/>
        </p:nvSpPr>
        <p:spPr>
          <a:xfrm>
            <a:off x="731520" y="1097280"/>
            <a:ext cx="3383280" cy="457200"/>
          </a:xfrm>
          <a:prstGeom prst="rect">
            <a:avLst/>
          </a:prstGeom>
          <a:noFill/>
          <a:ln/>
        </p:spPr>
        <p:txBody>
          <a:bodyPr wrap="square"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规则</a:t>
            </a:r>
            <a:endParaRPr lang="en-US" sz="2000" dirty="0"/>
          </a:p>
        </p:txBody>
      </p:sp>
      <p:sp>
        <p:nvSpPr>
          <p:cNvPr id="6" name="Text 4"/>
          <p:cNvSpPr/>
          <p:nvPr/>
        </p:nvSpPr>
        <p:spPr>
          <a:xfrm>
            <a:off x="731520" y="1554480"/>
            <a:ext cx="3383280" cy="365760"/>
          </a:xfrm>
          <a:prstGeom prst="rect">
            <a:avLst/>
          </a:prstGeom>
          <a:noFill/>
          <a:ln/>
        </p:spPr>
        <p:txBody>
          <a:bodyPr wrap="square" rtlCol="0" anchor="ctr"/>
          <a:lstStyle/>
          <a:p>
            <a:pPr indent="0" marL="0">
              <a:buNone/>
            </a:pPr>
            <a:r>
              <a:rPr lang="en-US" sz="1400" dirty="0">
                <a:solidFill>
                  <a:srgbClr val="EF4444"/>
                </a:solidFill>
                <a:latin typeface="Microsoft YaHei" pitchFamily="34" charset="0"/>
                <a:ea typeface="Microsoft YaHei" pitchFamily="34" charset="-122"/>
                <a:cs typeface="Microsoft YaHei" pitchFamily="34" charset="-120"/>
              </a:rPr>
              <a:t>决定"怎么做"</a:t>
            </a:r>
            <a:endParaRPr lang="en-US" sz="1400" dirty="0"/>
          </a:p>
        </p:txBody>
      </p:sp>
      <p:sp>
        <p:nvSpPr>
          <p:cNvPr id="7" name="Text 5"/>
          <p:cNvSpPr/>
          <p:nvPr/>
        </p:nvSpPr>
        <p:spPr>
          <a:xfrm>
            <a:off x="731520" y="2011680"/>
            <a:ext cx="3383280" cy="1097280"/>
          </a:xfrm>
          <a:prstGeom prst="rect">
            <a:avLst/>
          </a:prstGeom>
          <a:noFill/>
          <a:ln/>
        </p:spPr>
        <p:txBody>
          <a:bodyPr wrap="square" rtlCol="0" anchor="ctr"/>
          <a:lstStyle/>
          <a:p>
            <a:pPr indent="0" marL="0">
              <a:buNone/>
            </a:pPr>
            <a:r>
              <a:rPr lang="en-US" sz="1400" dirty="0">
                <a:solidFill>
                  <a:srgbClr val="F3F4F6"/>
                </a:solidFill>
                <a:latin typeface="Microsoft YaHei" pitchFamily="34" charset="0"/>
                <a:ea typeface="Microsoft YaHei" pitchFamily="34" charset="-122"/>
                <a:cs typeface="Microsoft YaHei" pitchFamily="34" charset="-120"/>
              </a:rPr>
              <a:t>• 处理流程</a:t>
            </a:r>
            <a:endParaRPr lang="en-US" sz="1400" dirty="0"/>
          </a:p>
          <a:p>
            <a:pPr indent="0" marL="0">
              <a:buNone/>
            </a:pPr>
            <a:r>
              <a:rPr lang="en-US" sz="1400" dirty="0">
                <a:solidFill>
                  <a:srgbClr val="F3F4F6"/>
                </a:solidFill>
                <a:latin typeface="Microsoft YaHei" pitchFamily="34" charset="0"/>
                <a:ea typeface="Microsoft YaHei" pitchFamily="34" charset="-122"/>
                <a:cs typeface="Microsoft YaHei" pitchFamily="34" charset="-120"/>
              </a:rPr>
              <a:t>• 判断逻辑</a:t>
            </a:r>
            <a:endParaRPr lang="en-US" sz="1400" dirty="0"/>
          </a:p>
          <a:p>
            <a:pPr indent="0" marL="0">
              <a:buNone/>
            </a:pPr>
            <a:r>
              <a:rPr lang="en-US" sz="1400" dirty="0">
                <a:solidFill>
                  <a:srgbClr val="F3F4F6"/>
                </a:solidFill>
                <a:latin typeface="Microsoft YaHei" pitchFamily="34" charset="0"/>
                <a:ea typeface="Microsoft YaHei" pitchFamily="34" charset="-122"/>
                <a:cs typeface="Microsoft YaHei" pitchFamily="34" charset="-120"/>
              </a:rPr>
              <a:t>• 执行标准</a:t>
            </a:r>
            <a:endParaRPr lang="en-US" sz="1400" dirty="0"/>
          </a:p>
        </p:txBody>
      </p:sp>
      <p:sp>
        <p:nvSpPr>
          <p:cNvPr id="8" name="Shape 6"/>
          <p:cNvSpPr/>
          <p:nvPr/>
        </p:nvSpPr>
        <p:spPr>
          <a:xfrm>
            <a:off x="731520" y="3200400"/>
            <a:ext cx="3383280" cy="731520"/>
          </a:xfrm>
          <a:prstGeom prst="roundRect">
            <a:avLst>
              <a:gd name="adj" fmla="val 10000"/>
            </a:avLst>
          </a:prstGeom>
          <a:solidFill>
            <a:srgbClr val="EF4444"/>
          </a:solidFill>
          <a:ln/>
        </p:spPr>
      </p:sp>
      <p:sp>
        <p:nvSpPr>
          <p:cNvPr id="9" name="Text 7"/>
          <p:cNvSpPr/>
          <p:nvPr/>
        </p:nvSpPr>
        <p:spPr>
          <a:xfrm>
            <a:off x="731520" y="3200400"/>
            <a:ext cx="3383280" cy="7315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写进Skill指令</a:t>
            </a:r>
            <a:endParaRPr lang="en-US" sz="1400" dirty="0"/>
          </a:p>
        </p:txBody>
      </p:sp>
      <p:sp>
        <p:nvSpPr>
          <p:cNvPr id="10" name="Shape 8"/>
          <p:cNvSpPr/>
          <p:nvPr/>
        </p:nvSpPr>
        <p:spPr>
          <a:xfrm>
            <a:off x="4754880" y="914400"/>
            <a:ext cx="3931920" cy="3291840"/>
          </a:xfrm>
          <a:prstGeom prst="roundRect">
            <a:avLst>
              <a:gd name="adj" fmla="val 2778"/>
            </a:avLst>
          </a:prstGeom>
          <a:solidFill>
            <a:srgbClr val="F3F4F6"/>
          </a:solidFill>
          <a:ln/>
        </p:spPr>
      </p:sp>
      <p:sp>
        <p:nvSpPr>
          <p:cNvPr id="11" name="Text 9"/>
          <p:cNvSpPr/>
          <p:nvPr/>
        </p:nvSpPr>
        <p:spPr>
          <a:xfrm>
            <a:off x="5029200" y="1097280"/>
            <a:ext cx="3383280" cy="457200"/>
          </a:xfrm>
          <a:prstGeom prst="rect">
            <a:avLst/>
          </a:prstGeom>
          <a:noFill/>
          <a:ln/>
        </p:spPr>
        <p:txBody>
          <a:bodyPr wrap="square" rtlCol="0" anchor="ctr"/>
          <a:lstStyle/>
          <a:p>
            <a:pPr indent="0" marL="0">
              <a:buNone/>
            </a:pPr>
            <a:r>
              <a:rPr lang="en-US" sz="2000" b="1" dirty="0">
                <a:solidFill>
                  <a:srgbClr val="B91C1C"/>
                </a:solidFill>
                <a:latin typeface="Microsoft YaHei" pitchFamily="34" charset="0"/>
                <a:ea typeface="Microsoft YaHei" pitchFamily="34" charset="-122"/>
                <a:cs typeface="Microsoft YaHei" pitchFamily="34" charset="-120"/>
              </a:rPr>
              <a:t>知识库</a:t>
            </a:r>
            <a:endParaRPr lang="en-US" sz="2000" dirty="0"/>
          </a:p>
        </p:txBody>
      </p:sp>
      <p:sp>
        <p:nvSpPr>
          <p:cNvPr id="12" name="Text 10"/>
          <p:cNvSpPr/>
          <p:nvPr/>
        </p:nvSpPr>
        <p:spPr>
          <a:xfrm>
            <a:off x="5029200" y="1554480"/>
            <a:ext cx="3383280" cy="365760"/>
          </a:xfrm>
          <a:prstGeom prst="rect">
            <a:avLst/>
          </a:prstGeom>
          <a:noFill/>
          <a:ln/>
        </p:spPr>
        <p:txBody>
          <a:bodyPr wrap="square" rtlCol="0" anchor="ctr"/>
          <a:lstStyle/>
          <a:p>
            <a:pPr indent="0" marL="0">
              <a:buNone/>
            </a:pPr>
            <a:r>
              <a:rPr lang="en-US" sz="1400" dirty="0">
                <a:solidFill>
                  <a:srgbClr val="EF4444"/>
                </a:solidFill>
                <a:latin typeface="Microsoft YaHei" pitchFamily="34" charset="0"/>
                <a:ea typeface="Microsoft YaHei" pitchFamily="34" charset="-122"/>
                <a:cs typeface="Microsoft YaHei" pitchFamily="34" charset="-120"/>
              </a:rPr>
              <a:t>提供"凭什么做"</a:t>
            </a:r>
            <a:endParaRPr lang="en-US" sz="1400" dirty="0"/>
          </a:p>
        </p:txBody>
      </p:sp>
      <p:sp>
        <p:nvSpPr>
          <p:cNvPr id="13" name="Text 11"/>
          <p:cNvSpPr/>
          <p:nvPr/>
        </p:nvSpPr>
        <p:spPr>
          <a:xfrm>
            <a:off x="5029200" y="2011680"/>
            <a:ext cx="3383280" cy="128016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 背景信息</a:t>
            </a:r>
            <a:endParaRPr lang="en-US" sz="1400" dirty="0"/>
          </a:p>
          <a:p>
            <a:pPr indent="0" marL="0">
              <a:buNone/>
            </a:pPr>
            <a:r>
              <a:rPr lang="en-US" sz="1400" dirty="0">
                <a:solidFill>
                  <a:srgbClr val="374151"/>
                </a:solidFill>
                <a:latin typeface="Microsoft YaHei" pitchFamily="34" charset="0"/>
                <a:ea typeface="Microsoft YaHei" pitchFamily="34" charset="-122"/>
                <a:cs typeface="Microsoft YaHei" pitchFamily="34" charset="-120"/>
              </a:rPr>
              <a:t>• 历史案例</a:t>
            </a:r>
            <a:endParaRPr lang="en-US" sz="1400" dirty="0"/>
          </a:p>
          <a:p>
            <a:pPr indent="0" marL="0">
              <a:buNone/>
            </a:pPr>
            <a:r>
              <a:rPr lang="en-US" sz="1400" dirty="0">
                <a:solidFill>
                  <a:srgbClr val="374151"/>
                </a:solidFill>
                <a:latin typeface="Microsoft YaHei" pitchFamily="34" charset="0"/>
                <a:ea typeface="Microsoft YaHei" pitchFamily="34" charset="-122"/>
                <a:cs typeface="Microsoft YaHei" pitchFamily="34" charset="-120"/>
              </a:rPr>
              <a:t>• 行业标准</a:t>
            </a:r>
            <a:endParaRPr lang="en-US" sz="1400" dirty="0"/>
          </a:p>
          <a:p>
            <a:pPr indent="0" marL="0">
              <a:buNone/>
            </a:pPr>
            <a:r>
              <a:rPr lang="en-US" sz="1400" dirty="0">
                <a:solidFill>
                  <a:srgbClr val="374151"/>
                </a:solidFill>
                <a:latin typeface="Microsoft YaHei" pitchFamily="34" charset="0"/>
                <a:ea typeface="Microsoft YaHei" pitchFamily="34" charset="-122"/>
                <a:cs typeface="Microsoft YaHei" pitchFamily="34" charset="-120"/>
              </a:rPr>
              <a:t>• 公司政策</a:t>
            </a:r>
            <a:endParaRPr lang="en-US" sz="1400" dirty="0"/>
          </a:p>
        </p:txBody>
      </p:sp>
      <p:sp>
        <p:nvSpPr>
          <p:cNvPr id="14" name="Shape 12"/>
          <p:cNvSpPr/>
          <p:nvPr/>
        </p:nvSpPr>
        <p:spPr>
          <a:xfrm>
            <a:off x="5029200" y="3200400"/>
            <a:ext cx="3383280" cy="731520"/>
          </a:xfrm>
          <a:prstGeom prst="roundRect">
            <a:avLst>
              <a:gd name="adj" fmla="val 10000"/>
            </a:avLst>
          </a:prstGeom>
          <a:solidFill>
            <a:srgbClr val="374151"/>
          </a:solidFill>
          <a:ln/>
        </p:spPr>
      </p:sp>
      <p:sp>
        <p:nvSpPr>
          <p:cNvPr id="15" name="Text 13"/>
          <p:cNvSpPr/>
          <p:nvPr/>
        </p:nvSpPr>
        <p:spPr>
          <a:xfrm>
            <a:off x="5029200" y="3200400"/>
            <a:ext cx="3383280" cy="7315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独立存放，AI调取参考</a:t>
            </a:r>
            <a:endParaRPr lang="en-US" sz="1400" dirty="0"/>
          </a:p>
        </p:txBody>
      </p:sp>
      <p:sp>
        <p:nvSpPr>
          <p:cNvPr id="16" name="Shape 14"/>
          <p:cNvSpPr/>
          <p:nvPr/>
        </p:nvSpPr>
        <p:spPr>
          <a:xfrm>
            <a:off x="8503920" y="4663440"/>
            <a:ext cx="365760" cy="365760"/>
          </a:xfrm>
          <a:prstGeom prst="ellipse">
            <a:avLst/>
          </a:prstGeom>
          <a:solidFill>
            <a:srgbClr val="EF4444"/>
          </a:solidFill>
          <a:ln/>
        </p:spPr>
      </p:sp>
      <p:sp>
        <p:nvSpPr>
          <p:cNvPr id="17" name="Text 15"/>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知识库的三类内容</a:t>
            </a:r>
            <a:endParaRPr lang="en-US" sz="2400" dirty="0"/>
          </a:p>
        </p:txBody>
      </p:sp>
      <p:sp>
        <p:nvSpPr>
          <p:cNvPr id="4" name="Shape 2"/>
          <p:cNvSpPr/>
          <p:nvPr/>
        </p:nvSpPr>
        <p:spPr>
          <a:xfrm>
            <a:off x="457200" y="1097280"/>
            <a:ext cx="2651760" cy="2926080"/>
          </a:xfrm>
          <a:prstGeom prst="roundRect">
            <a:avLst>
              <a:gd name="adj" fmla="val 3448"/>
            </a:avLst>
          </a:prstGeom>
          <a:solidFill>
            <a:srgbClr val="F3F4F6"/>
          </a:solidFill>
          <a:ln/>
        </p:spPr>
      </p:sp>
      <p:sp>
        <p:nvSpPr>
          <p:cNvPr id="5" name="Shape 3"/>
          <p:cNvSpPr/>
          <p:nvPr/>
        </p:nvSpPr>
        <p:spPr>
          <a:xfrm>
            <a:off x="1417320" y="1371600"/>
            <a:ext cx="731520" cy="731520"/>
          </a:xfrm>
          <a:prstGeom prst="ellipse">
            <a:avLst/>
          </a:prstGeom>
          <a:solidFill>
            <a:srgbClr val="EF4444"/>
          </a:solidFill>
          <a:ln/>
        </p:spPr>
      </p:sp>
      <p:sp>
        <p:nvSpPr>
          <p:cNvPr id="6" name="Text 4"/>
          <p:cNvSpPr/>
          <p:nvPr/>
        </p:nvSpPr>
        <p:spPr>
          <a:xfrm>
            <a:off x="1417320" y="1371600"/>
            <a:ext cx="731520" cy="73152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7" name="Text 5"/>
          <p:cNvSpPr/>
          <p:nvPr/>
        </p:nvSpPr>
        <p:spPr>
          <a:xfrm>
            <a:off x="640080" y="2286000"/>
            <a:ext cx="2286000" cy="36576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案例库</a:t>
            </a:r>
            <a:endParaRPr lang="en-US" sz="1600" dirty="0"/>
          </a:p>
        </p:txBody>
      </p:sp>
      <p:sp>
        <p:nvSpPr>
          <p:cNvPr id="8" name="Text 6"/>
          <p:cNvSpPr/>
          <p:nvPr/>
        </p:nvSpPr>
        <p:spPr>
          <a:xfrm>
            <a:off x="640080" y="2651760"/>
            <a:ext cx="2286000" cy="274320"/>
          </a:xfrm>
          <a:prstGeom prst="rect">
            <a:avLst/>
          </a:prstGeom>
          <a:noFill/>
          <a:ln/>
        </p:spPr>
        <p:txBody>
          <a:bodyPr wrap="square" rtlCol="0" anchor="ctr"/>
          <a:lstStyle/>
          <a:p>
            <a:pPr algn="ctr" indent="0" marL="0">
              <a:buNone/>
            </a:pPr>
            <a:r>
              <a:rPr lang="en-US" sz="1200" dirty="0">
                <a:solidFill>
                  <a:srgbClr val="EF4444"/>
                </a:solidFill>
                <a:latin typeface="Microsoft YaHei" pitchFamily="34" charset="0"/>
                <a:ea typeface="Microsoft YaHei" pitchFamily="34" charset="-122"/>
                <a:cs typeface="Microsoft YaHei" pitchFamily="34" charset="-120"/>
              </a:rPr>
              <a:t>（最重要）</a:t>
            </a:r>
            <a:endParaRPr lang="en-US" sz="1200" dirty="0"/>
          </a:p>
        </p:txBody>
      </p:sp>
      <p:sp>
        <p:nvSpPr>
          <p:cNvPr id="9" name="Text 7"/>
          <p:cNvSpPr/>
          <p:nvPr/>
        </p:nvSpPr>
        <p:spPr>
          <a:xfrm>
            <a:off x="640080" y="3017520"/>
            <a:ext cx="2286000" cy="73152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背景→处理方式→结果→原因说明</a:t>
            </a:r>
            <a:endParaRPr lang="en-US" sz="1200" dirty="0"/>
          </a:p>
        </p:txBody>
      </p:sp>
      <p:sp>
        <p:nvSpPr>
          <p:cNvPr id="10" name="Shape 8"/>
          <p:cNvSpPr/>
          <p:nvPr/>
        </p:nvSpPr>
        <p:spPr>
          <a:xfrm>
            <a:off x="3291840" y="1097280"/>
            <a:ext cx="2651760" cy="2926080"/>
          </a:xfrm>
          <a:prstGeom prst="roundRect">
            <a:avLst>
              <a:gd name="adj" fmla="val 3448"/>
            </a:avLst>
          </a:prstGeom>
          <a:solidFill>
            <a:srgbClr val="F3F4F6"/>
          </a:solidFill>
          <a:ln/>
        </p:spPr>
      </p:sp>
      <p:sp>
        <p:nvSpPr>
          <p:cNvPr id="11" name="Shape 9"/>
          <p:cNvSpPr/>
          <p:nvPr/>
        </p:nvSpPr>
        <p:spPr>
          <a:xfrm>
            <a:off x="4251960" y="1371600"/>
            <a:ext cx="731520" cy="731520"/>
          </a:xfrm>
          <a:prstGeom prst="ellipse">
            <a:avLst/>
          </a:prstGeom>
          <a:solidFill>
            <a:srgbClr val="EF4444"/>
          </a:solidFill>
          <a:ln/>
        </p:spPr>
      </p:sp>
      <p:sp>
        <p:nvSpPr>
          <p:cNvPr id="12" name="Text 10"/>
          <p:cNvSpPr/>
          <p:nvPr/>
        </p:nvSpPr>
        <p:spPr>
          <a:xfrm>
            <a:off x="4251960" y="1371600"/>
            <a:ext cx="731520" cy="73152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p:nvPr/>
        </p:nvSpPr>
        <p:spPr>
          <a:xfrm>
            <a:off x="3474720" y="2286000"/>
            <a:ext cx="2286000" cy="36576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规则库</a:t>
            </a:r>
            <a:endParaRPr lang="en-US" sz="1600" dirty="0"/>
          </a:p>
        </p:txBody>
      </p:sp>
      <p:sp>
        <p:nvSpPr>
          <p:cNvPr id="14" name="Text 12"/>
          <p:cNvSpPr/>
          <p:nvPr/>
        </p:nvSpPr>
        <p:spPr>
          <a:xfrm>
            <a:off x="3474720" y="2743200"/>
            <a:ext cx="2286000" cy="73152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标准、阈值、公式</a:t>
            </a:r>
            <a:endParaRPr lang="en-US" sz="1200" dirty="0"/>
          </a:p>
        </p:txBody>
      </p:sp>
      <p:sp>
        <p:nvSpPr>
          <p:cNvPr id="15" name="Shape 13"/>
          <p:cNvSpPr/>
          <p:nvPr/>
        </p:nvSpPr>
        <p:spPr>
          <a:xfrm>
            <a:off x="6126480" y="1097280"/>
            <a:ext cx="2651760" cy="2926080"/>
          </a:xfrm>
          <a:prstGeom prst="roundRect">
            <a:avLst>
              <a:gd name="adj" fmla="val 3448"/>
            </a:avLst>
          </a:prstGeom>
          <a:solidFill>
            <a:srgbClr val="F3F4F6"/>
          </a:solidFill>
          <a:ln/>
        </p:spPr>
      </p:sp>
      <p:sp>
        <p:nvSpPr>
          <p:cNvPr id="16" name="Shape 14"/>
          <p:cNvSpPr/>
          <p:nvPr/>
        </p:nvSpPr>
        <p:spPr>
          <a:xfrm>
            <a:off x="7086600" y="1371600"/>
            <a:ext cx="731520" cy="731520"/>
          </a:xfrm>
          <a:prstGeom prst="ellipse">
            <a:avLst/>
          </a:prstGeom>
          <a:solidFill>
            <a:srgbClr val="EF4444"/>
          </a:solidFill>
          <a:ln/>
        </p:spPr>
      </p:sp>
      <p:sp>
        <p:nvSpPr>
          <p:cNvPr id="17" name="Text 15"/>
          <p:cNvSpPr/>
          <p:nvPr/>
        </p:nvSpPr>
        <p:spPr>
          <a:xfrm>
            <a:off x="7086600" y="1371600"/>
            <a:ext cx="731520" cy="73152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8" name="Text 16"/>
          <p:cNvSpPr/>
          <p:nvPr/>
        </p:nvSpPr>
        <p:spPr>
          <a:xfrm>
            <a:off x="6309360" y="2286000"/>
            <a:ext cx="2286000" cy="36576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模板库</a:t>
            </a:r>
            <a:endParaRPr lang="en-US" sz="1600" dirty="0"/>
          </a:p>
        </p:txBody>
      </p:sp>
      <p:sp>
        <p:nvSpPr>
          <p:cNvPr id="19" name="Text 17"/>
          <p:cNvSpPr/>
          <p:nvPr/>
        </p:nvSpPr>
        <p:spPr>
          <a:xfrm>
            <a:off x="6309360" y="2743200"/>
            <a:ext cx="2286000" cy="73152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话术、格式、结构</a:t>
            </a:r>
            <a:endParaRPr lang="en-US" sz="1200" dirty="0"/>
          </a:p>
        </p:txBody>
      </p:sp>
      <p:sp>
        <p:nvSpPr>
          <p:cNvPr id="20" name="Shape 18"/>
          <p:cNvSpPr/>
          <p:nvPr/>
        </p:nvSpPr>
        <p:spPr>
          <a:xfrm>
            <a:off x="8503920" y="4663440"/>
            <a:ext cx="365760" cy="365760"/>
          </a:xfrm>
          <a:prstGeom prst="ellipse">
            <a:avLst/>
          </a:prstGeom>
          <a:solidFill>
            <a:srgbClr val="EF4444"/>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各岗位知识库内容设计</a:t>
            </a:r>
            <a:endParaRPr lang="en-US" sz="2200" dirty="0"/>
          </a:p>
        </p:txBody>
      </p:sp>
      <p:sp>
        <p:nvSpPr>
          <p:cNvPr id="4" name="Shape 2"/>
          <p:cNvSpPr/>
          <p:nvPr/>
        </p:nvSpPr>
        <p:spPr>
          <a:xfrm>
            <a:off x="457200" y="777240"/>
            <a:ext cx="1645920" cy="457200"/>
          </a:xfrm>
          <a:prstGeom prst="rect">
            <a:avLst/>
          </a:prstGeom>
          <a:solidFill>
            <a:srgbClr val="B91C1C"/>
          </a:solidFill>
          <a:ln/>
        </p:spPr>
      </p:sp>
      <p:sp>
        <p:nvSpPr>
          <p:cNvPr id="5" name="Text 3"/>
          <p:cNvSpPr/>
          <p:nvPr/>
        </p:nvSpPr>
        <p:spPr>
          <a:xfrm>
            <a:off x="457200" y="777240"/>
            <a:ext cx="164592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岗位</a:t>
            </a:r>
            <a:endParaRPr lang="en-US" sz="1200" dirty="0"/>
          </a:p>
        </p:txBody>
      </p:sp>
      <p:sp>
        <p:nvSpPr>
          <p:cNvPr id="6" name="Shape 4"/>
          <p:cNvSpPr/>
          <p:nvPr/>
        </p:nvSpPr>
        <p:spPr>
          <a:xfrm>
            <a:off x="2103120" y="777240"/>
            <a:ext cx="2194560" cy="457200"/>
          </a:xfrm>
          <a:prstGeom prst="rect">
            <a:avLst/>
          </a:prstGeom>
          <a:solidFill>
            <a:srgbClr val="B91C1C"/>
          </a:solidFill>
          <a:ln/>
        </p:spPr>
      </p:sp>
      <p:sp>
        <p:nvSpPr>
          <p:cNvPr id="7" name="Text 5"/>
          <p:cNvSpPr/>
          <p:nvPr/>
        </p:nvSpPr>
        <p:spPr>
          <a:xfrm>
            <a:off x="21031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案例库重点</a:t>
            </a:r>
            <a:endParaRPr lang="en-US" sz="1200" dirty="0"/>
          </a:p>
        </p:txBody>
      </p:sp>
      <p:sp>
        <p:nvSpPr>
          <p:cNvPr id="8" name="Shape 6"/>
          <p:cNvSpPr/>
          <p:nvPr/>
        </p:nvSpPr>
        <p:spPr>
          <a:xfrm>
            <a:off x="4297680" y="777240"/>
            <a:ext cx="2194560" cy="457200"/>
          </a:xfrm>
          <a:prstGeom prst="rect">
            <a:avLst/>
          </a:prstGeom>
          <a:solidFill>
            <a:srgbClr val="B91C1C"/>
          </a:solidFill>
          <a:ln/>
        </p:spPr>
      </p:sp>
      <p:sp>
        <p:nvSpPr>
          <p:cNvPr id="9" name="Text 7"/>
          <p:cNvSpPr/>
          <p:nvPr/>
        </p:nvSpPr>
        <p:spPr>
          <a:xfrm>
            <a:off x="429768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规则库重点</a:t>
            </a:r>
            <a:endParaRPr lang="en-US" sz="1200" dirty="0"/>
          </a:p>
        </p:txBody>
      </p:sp>
      <p:sp>
        <p:nvSpPr>
          <p:cNvPr id="10" name="Shape 8"/>
          <p:cNvSpPr/>
          <p:nvPr/>
        </p:nvSpPr>
        <p:spPr>
          <a:xfrm>
            <a:off x="6492240" y="777240"/>
            <a:ext cx="2194560" cy="457200"/>
          </a:xfrm>
          <a:prstGeom prst="rect">
            <a:avLst/>
          </a:prstGeom>
          <a:solidFill>
            <a:srgbClr val="B91C1C"/>
          </a:solidFill>
          <a:ln/>
        </p:spPr>
      </p:sp>
      <p:sp>
        <p:nvSpPr>
          <p:cNvPr id="11" name="Text 9"/>
          <p:cNvSpPr/>
          <p:nvPr/>
        </p:nvSpPr>
        <p:spPr>
          <a:xfrm>
            <a:off x="649224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模板库重点</a:t>
            </a:r>
            <a:endParaRPr lang="en-US" sz="1200" dirty="0"/>
          </a:p>
        </p:txBody>
      </p:sp>
      <p:sp>
        <p:nvSpPr>
          <p:cNvPr id="12" name="Shape 10"/>
          <p:cNvSpPr/>
          <p:nvPr/>
        </p:nvSpPr>
        <p:spPr>
          <a:xfrm>
            <a:off x="457200" y="1234440"/>
            <a:ext cx="1645920" cy="594360"/>
          </a:xfrm>
          <a:prstGeom prst="rect">
            <a:avLst/>
          </a:prstGeom>
          <a:solidFill>
            <a:srgbClr val="F3F4F6"/>
          </a:solidFill>
          <a:ln/>
        </p:spPr>
      </p:sp>
      <p:sp>
        <p:nvSpPr>
          <p:cNvPr id="13" name="Text 11"/>
          <p:cNvSpPr/>
          <p:nvPr/>
        </p:nvSpPr>
        <p:spPr>
          <a:xfrm>
            <a:off x="530352" y="1234440"/>
            <a:ext cx="149961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销售/BD</a:t>
            </a:r>
            <a:endParaRPr lang="en-US" sz="1000" dirty="0"/>
          </a:p>
        </p:txBody>
      </p:sp>
      <p:sp>
        <p:nvSpPr>
          <p:cNvPr id="14" name="Shape 12"/>
          <p:cNvSpPr/>
          <p:nvPr/>
        </p:nvSpPr>
        <p:spPr>
          <a:xfrm>
            <a:off x="2103120" y="1234440"/>
            <a:ext cx="2194560" cy="594360"/>
          </a:xfrm>
          <a:prstGeom prst="rect">
            <a:avLst/>
          </a:prstGeom>
          <a:solidFill>
            <a:srgbClr val="F3F4F6"/>
          </a:solidFill>
          <a:ln/>
        </p:spPr>
      </p:sp>
      <p:sp>
        <p:nvSpPr>
          <p:cNvPr id="15" name="Text 13"/>
          <p:cNvSpPr/>
          <p:nvPr/>
        </p:nvSpPr>
        <p:spPr>
          <a:xfrm>
            <a:off x="2176272" y="1234440"/>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赢单+失单案例</a:t>
            </a:r>
            <a:endParaRPr lang="en-US" sz="1000" dirty="0"/>
          </a:p>
        </p:txBody>
      </p:sp>
      <p:sp>
        <p:nvSpPr>
          <p:cNvPr id="16" name="Shape 14"/>
          <p:cNvSpPr/>
          <p:nvPr/>
        </p:nvSpPr>
        <p:spPr>
          <a:xfrm>
            <a:off x="4297680" y="1234440"/>
            <a:ext cx="2194560" cy="594360"/>
          </a:xfrm>
          <a:prstGeom prst="rect">
            <a:avLst/>
          </a:prstGeom>
          <a:solidFill>
            <a:srgbClr val="F3F4F6"/>
          </a:solidFill>
          <a:ln/>
        </p:spPr>
      </p:sp>
      <p:sp>
        <p:nvSpPr>
          <p:cNvPr id="17" name="Text 15"/>
          <p:cNvSpPr/>
          <p:nvPr/>
        </p:nvSpPr>
        <p:spPr>
          <a:xfrm>
            <a:off x="4370832" y="1234440"/>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客户分层、报价规则</a:t>
            </a:r>
            <a:endParaRPr lang="en-US" sz="1000" dirty="0"/>
          </a:p>
        </p:txBody>
      </p:sp>
      <p:sp>
        <p:nvSpPr>
          <p:cNvPr id="18" name="Shape 16"/>
          <p:cNvSpPr/>
          <p:nvPr/>
        </p:nvSpPr>
        <p:spPr>
          <a:xfrm>
            <a:off x="6492240" y="1234440"/>
            <a:ext cx="2194560" cy="594360"/>
          </a:xfrm>
          <a:prstGeom prst="rect">
            <a:avLst/>
          </a:prstGeom>
          <a:solidFill>
            <a:srgbClr val="F3F4F6"/>
          </a:solidFill>
          <a:ln/>
        </p:spPr>
      </p:sp>
      <p:sp>
        <p:nvSpPr>
          <p:cNvPr id="19" name="Text 17"/>
          <p:cNvSpPr/>
          <p:nvPr/>
        </p:nvSpPr>
        <p:spPr>
          <a:xfrm>
            <a:off x="6565392" y="1234440"/>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话术、报价单格式</a:t>
            </a:r>
            <a:endParaRPr lang="en-US" sz="1000" dirty="0"/>
          </a:p>
        </p:txBody>
      </p:sp>
      <p:sp>
        <p:nvSpPr>
          <p:cNvPr id="20" name="Shape 18"/>
          <p:cNvSpPr/>
          <p:nvPr/>
        </p:nvSpPr>
        <p:spPr>
          <a:xfrm>
            <a:off x="457200" y="1892808"/>
            <a:ext cx="1645920" cy="594360"/>
          </a:xfrm>
          <a:prstGeom prst="rect">
            <a:avLst/>
          </a:prstGeom>
          <a:solidFill>
            <a:srgbClr val="FFFFFF"/>
          </a:solidFill>
          <a:ln/>
        </p:spPr>
      </p:sp>
      <p:sp>
        <p:nvSpPr>
          <p:cNvPr id="21" name="Text 19"/>
          <p:cNvSpPr/>
          <p:nvPr/>
        </p:nvSpPr>
        <p:spPr>
          <a:xfrm>
            <a:off x="530352" y="1892808"/>
            <a:ext cx="149961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客服</a:t>
            </a:r>
            <a:endParaRPr lang="en-US" sz="1000" dirty="0"/>
          </a:p>
        </p:txBody>
      </p:sp>
      <p:sp>
        <p:nvSpPr>
          <p:cNvPr id="22" name="Shape 20"/>
          <p:cNvSpPr/>
          <p:nvPr/>
        </p:nvSpPr>
        <p:spPr>
          <a:xfrm>
            <a:off x="2103120" y="1892808"/>
            <a:ext cx="2194560" cy="594360"/>
          </a:xfrm>
          <a:prstGeom prst="rect">
            <a:avLst/>
          </a:prstGeom>
          <a:solidFill>
            <a:srgbClr val="FFFFFF"/>
          </a:solidFill>
          <a:ln/>
        </p:spPr>
      </p:sp>
      <p:sp>
        <p:nvSpPr>
          <p:cNvPr id="23" name="Text 21"/>
          <p:cNvSpPr/>
          <p:nvPr/>
        </p:nvSpPr>
        <p:spPr>
          <a:xfrm>
            <a:off x="2176272" y="1892808"/>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投诉处理案例</a:t>
            </a:r>
            <a:endParaRPr lang="en-US" sz="1000" dirty="0"/>
          </a:p>
        </p:txBody>
      </p:sp>
      <p:sp>
        <p:nvSpPr>
          <p:cNvPr id="24" name="Shape 22"/>
          <p:cNvSpPr/>
          <p:nvPr/>
        </p:nvSpPr>
        <p:spPr>
          <a:xfrm>
            <a:off x="4297680" y="1892808"/>
            <a:ext cx="2194560" cy="594360"/>
          </a:xfrm>
          <a:prstGeom prst="rect">
            <a:avLst/>
          </a:prstGeom>
          <a:solidFill>
            <a:srgbClr val="FFFFFF"/>
          </a:solidFill>
          <a:ln/>
        </p:spPr>
      </p:sp>
      <p:sp>
        <p:nvSpPr>
          <p:cNvPr id="25" name="Text 23"/>
          <p:cNvSpPr/>
          <p:nvPr/>
        </p:nvSpPr>
        <p:spPr>
          <a:xfrm>
            <a:off x="4370832" y="1892808"/>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补偿标准、升级流程</a:t>
            </a:r>
            <a:endParaRPr lang="en-US" sz="1000" dirty="0"/>
          </a:p>
        </p:txBody>
      </p:sp>
      <p:sp>
        <p:nvSpPr>
          <p:cNvPr id="26" name="Shape 24"/>
          <p:cNvSpPr/>
          <p:nvPr/>
        </p:nvSpPr>
        <p:spPr>
          <a:xfrm>
            <a:off x="6492240" y="1892808"/>
            <a:ext cx="2194560" cy="594360"/>
          </a:xfrm>
          <a:prstGeom prst="rect">
            <a:avLst/>
          </a:prstGeom>
          <a:solidFill>
            <a:srgbClr val="FFFFFF"/>
          </a:solidFill>
          <a:ln/>
        </p:spPr>
      </p:sp>
      <p:sp>
        <p:nvSpPr>
          <p:cNvPr id="27" name="Text 25"/>
          <p:cNvSpPr/>
          <p:nvPr/>
        </p:nvSpPr>
        <p:spPr>
          <a:xfrm>
            <a:off x="6565392" y="1892808"/>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FAQ、安抚话术</a:t>
            </a:r>
            <a:endParaRPr lang="en-US" sz="1000" dirty="0"/>
          </a:p>
        </p:txBody>
      </p:sp>
      <p:sp>
        <p:nvSpPr>
          <p:cNvPr id="28" name="Shape 26"/>
          <p:cNvSpPr/>
          <p:nvPr/>
        </p:nvSpPr>
        <p:spPr>
          <a:xfrm>
            <a:off x="457200" y="2551176"/>
            <a:ext cx="1645920" cy="594360"/>
          </a:xfrm>
          <a:prstGeom prst="rect">
            <a:avLst/>
          </a:prstGeom>
          <a:solidFill>
            <a:srgbClr val="F3F4F6"/>
          </a:solidFill>
          <a:ln/>
        </p:spPr>
      </p:sp>
      <p:sp>
        <p:nvSpPr>
          <p:cNvPr id="29" name="Text 27"/>
          <p:cNvSpPr/>
          <p:nvPr/>
        </p:nvSpPr>
        <p:spPr>
          <a:xfrm>
            <a:off x="530352" y="2551176"/>
            <a:ext cx="149961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运营</a:t>
            </a:r>
            <a:endParaRPr lang="en-US" sz="1000" dirty="0"/>
          </a:p>
        </p:txBody>
      </p:sp>
      <p:sp>
        <p:nvSpPr>
          <p:cNvPr id="30" name="Shape 28"/>
          <p:cNvSpPr/>
          <p:nvPr/>
        </p:nvSpPr>
        <p:spPr>
          <a:xfrm>
            <a:off x="2103120" y="2551176"/>
            <a:ext cx="2194560" cy="594360"/>
          </a:xfrm>
          <a:prstGeom prst="rect">
            <a:avLst/>
          </a:prstGeom>
          <a:solidFill>
            <a:srgbClr val="F3F4F6"/>
          </a:solidFill>
          <a:ln/>
        </p:spPr>
      </p:sp>
      <p:sp>
        <p:nvSpPr>
          <p:cNvPr id="31" name="Text 29"/>
          <p:cNvSpPr/>
          <p:nvPr/>
        </p:nvSpPr>
        <p:spPr>
          <a:xfrm>
            <a:off x="2176272" y="2551176"/>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活动复盘、数据异常</a:t>
            </a:r>
            <a:endParaRPr lang="en-US" sz="1000" dirty="0"/>
          </a:p>
        </p:txBody>
      </p:sp>
      <p:sp>
        <p:nvSpPr>
          <p:cNvPr id="32" name="Shape 30"/>
          <p:cNvSpPr/>
          <p:nvPr/>
        </p:nvSpPr>
        <p:spPr>
          <a:xfrm>
            <a:off x="4297680" y="2551176"/>
            <a:ext cx="2194560" cy="594360"/>
          </a:xfrm>
          <a:prstGeom prst="rect">
            <a:avLst/>
          </a:prstGeom>
          <a:solidFill>
            <a:srgbClr val="F3F4F6"/>
          </a:solidFill>
          <a:ln/>
        </p:spPr>
      </p:sp>
      <p:sp>
        <p:nvSpPr>
          <p:cNvPr id="33" name="Text 31"/>
          <p:cNvSpPr/>
          <p:nvPr/>
        </p:nvSpPr>
        <p:spPr>
          <a:xfrm>
            <a:off x="4370832" y="2551176"/>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数据基准线、活动规则</a:t>
            </a:r>
            <a:endParaRPr lang="en-US" sz="1000" dirty="0"/>
          </a:p>
        </p:txBody>
      </p:sp>
      <p:sp>
        <p:nvSpPr>
          <p:cNvPr id="34" name="Shape 32"/>
          <p:cNvSpPr/>
          <p:nvPr/>
        </p:nvSpPr>
        <p:spPr>
          <a:xfrm>
            <a:off x="6492240" y="2551176"/>
            <a:ext cx="2194560" cy="594360"/>
          </a:xfrm>
          <a:prstGeom prst="rect">
            <a:avLst/>
          </a:prstGeom>
          <a:solidFill>
            <a:srgbClr val="F3F4F6"/>
          </a:solidFill>
          <a:ln/>
        </p:spPr>
      </p:sp>
      <p:sp>
        <p:nvSpPr>
          <p:cNvPr id="35" name="Text 33"/>
          <p:cNvSpPr/>
          <p:nvPr/>
        </p:nvSpPr>
        <p:spPr>
          <a:xfrm>
            <a:off x="6565392" y="2551176"/>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周报模板</a:t>
            </a:r>
            <a:endParaRPr lang="en-US" sz="1000" dirty="0"/>
          </a:p>
        </p:txBody>
      </p:sp>
      <p:sp>
        <p:nvSpPr>
          <p:cNvPr id="36" name="Shape 34"/>
          <p:cNvSpPr/>
          <p:nvPr/>
        </p:nvSpPr>
        <p:spPr>
          <a:xfrm>
            <a:off x="457200" y="3209544"/>
            <a:ext cx="1645920" cy="594360"/>
          </a:xfrm>
          <a:prstGeom prst="rect">
            <a:avLst/>
          </a:prstGeom>
          <a:solidFill>
            <a:srgbClr val="FFFFFF"/>
          </a:solidFill>
          <a:ln/>
        </p:spPr>
      </p:sp>
      <p:sp>
        <p:nvSpPr>
          <p:cNvPr id="37" name="Text 35"/>
          <p:cNvSpPr/>
          <p:nvPr/>
        </p:nvSpPr>
        <p:spPr>
          <a:xfrm>
            <a:off x="530352" y="3209544"/>
            <a:ext cx="149961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产品</a:t>
            </a:r>
            <a:endParaRPr lang="en-US" sz="1000" dirty="0"/>
          </a:p>
        </p:txBody>
      </p:sp>
      <p:sp>
        <p:nvSpPr>
          <p:cNvPr id="38" name="Shape 36"/>
          <p:cNvSpPr/>
          <p:nvPr/>
        </p:nvSpPr>
        <p:spPr>
          <a:xfrm>
            <a:off x="2103120" y="3209544"/>
            <a:ext cx="2194560" cy="594360"/>
          </a:xfrm>
          <a:prstGeom prst="rect">
            <a:avLst/>
          </a:prstGeom>
          <a:solidFill>
            <a:srgbClr val="FFFFFF"/>
          </a:solidFill>
          <a:ln/>
        </p:spPr>
      </p:sp>
      <p:sp>
        <p:nvSpPr>
          <p:cNvPr id="39" name="Text 37"/>
          <p:cNvSpPr/>
          <p:nvPr/>
        </p:nvSpPr>
        <p:spPr>
          <a:xfrm>
            <a:off x="2176272" y="3209544"/>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需求拒绝+BUG案例</a:t>
            </a:r>
            <a:endParaRPr lang="en-US" sz="1000" dirty="0"/>
          </a:p>
        </p:txBody>
      </p:sp>
      <p:sp>
        <p:nvSpPr>
          <p:cNvPr id="40" name="Shape 38"/>
          <p:cNvSpPr/>
          <p:nvPr/>
        </p:nvSpPr>
        <p:spPr>
          <a:xfrm>
            <a:off x="4297680" y="3209544"/>
            <a:ext cx="2194560" cy="594360"/>
          </a:xfrm>
          <a:prstGeom prst="rect">
            <a:avLst/>
          </a:prstGeom>
          <a:solidFill>
            <a:srgbClr val="FFFFFF"/>
          </a:solidFill>
          <a:ln/>
        </p:spPr>
      </p:sp>
      <p:sp>
        <p:nvSpPr>
          <p:cNvPr id="41" name="Text 39"/>
          <p:cNvSpPr/>
          <p:nvPr/>
        </p:nvSpPr>
        <p:spPr>
          <a:xfrm>
            <a:off x="4370832" y="3209544"/>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需求优先级框架</a:t>
            </a:r>
            <a:endParaRPr lang="en-US" sz="1000" dirty="0"/>
          </a:p>
        </p:txBody>
      </p:sp>
      <p:sp>
        <p:nvSpPr>
          <p:cNvPr id="42" name="Shape 40"/>
          <p:cNvSpPr/>
          <p:nvPr/>
        </p:nvSpPr>
        <p:spPr>
          <a:xfrm>
            <a:off x="6492240" y="3209544"/>
            <a:ext cx="2194560" cy="594360"/>
          </a:xfrm>
          <a:prstGeom prst="rect">
            <a:avLst/>
          </a:prstGeom>
          <a:solidFill>
            <a:srgbClr val="FFFFFF"/>
          </a:solidFill>
          <a:ln/>
        </p:spPr>
      </p:sp>
      <p:sp>
        <p:nvSpPr>
          <p:cNvPr id="43" name="Text 41"/>
          <p:cNvSpPr/>
          <p:nvPr/>
        </p:nvSpPr>
        <p:spPr>
          <a:xfrm>
            <a:off x="6565392" y="3209544"/>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PRD模板</a:t>
            </a:r>
            <a:endParaRPr lang="en-US" sz="1000" dirty="0"/>
          </a:p>
        </p:txBody>
      </p:sp>
      <p:sp>
        <p:nvSpPr>
          <p:cNvPr id="44" name="Shape 42"/>
          <p:cNvSpPr/>
          <p:nvPr/>
        </p:nvSpPr>
        <p:spPr>
          <a:xfrm>
            <a:off x="457200" y="3867912"/>
            <a:ext cx="1645920" cy="594360"/>
          </a:xfrm>
          <a:prstGeom prst="rect">
            <a:avLst/>
          </a:prstGeom>
          <a:solidFill>
            <a:srgbClr val="F3F4F6"/>
          </a:solidFill>
          <a:ln/>
        </p:spPr>
      </p:sp>
      <p:sp>
        <p:nvSpPr>
          <p:cNvPr id="45" name="Text 43"/>
          <p:cNvSpPr/>
          <p:nvPr/>
        </p:nvSpPr>
        <p:spPr>
          <a:xfrm>
            <a:off x="530352" y="3867912"/>
            <a:ext cx="149961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财务</a:t>
            </a:r>
            <a:endParaRPr lang="en-US" sz="1000" dirty="0"/>
          </a:p>
        </p:txBody>
      </p:sp>
      <p:sp>
        <p:nvSpPr>
          <p:cNvPr id="46" name="Shape 44"/>
          <p:cNvSpPr/>
          <p:nvPr/>
        </p:nvSpPr>
        <p:spPr>
          <a:xfrm>
            <a:off x="2103120" y="3867912"/>
            <a:ext cx="2194560" cy="594360"/>
          </a:xfrm>
          <a:prstGeom prst="rect">
            <a:avLst/>
          </a:prstGeom>
          <a:solidFill>
            <a:srgbClr val="F3F4F6"/>
          </a:solidFill>
          <a:ln/>
        </p:spPr>
      </p:sp>
      <p:sp>
        <p:nvSpPr>
          <p:cNvPr id="47" name="Text 45"/>
          <p:cNvSpPr/>
          <p:nvPr/>
        </p:nvSpPr>
        <p:spPr>
          <a:xfrm>
            <a:off x="2176272" y="3867912"/>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审核通过/拒绝案例</a:t>
            </a:r>
            <a:endParaRPr lang="en-US" sz="1000" dirty="0"/>
          </a:p>
        </p:txBody>
      </p:sp>
      <p:sp>
        <p:nvSpPr>
          <p:cNvPr id="48" name="Shape 46"/>
          <p:cNvSpPr/>
          <p:nvPr/>
        </p:nvSpPr>
        <p:spPr>
          <a:xfrm>
            <a:off x="4297680" y="3867912"/>
            <a:ext cx="2194560" cy="594360"/>
          </a:xfrm>
          <a:prstGeom prst="rect">
            <a:avLst/>
          </a:prstGeom>
          <a:solidFill>
            <a:srgbClr val="F3F4F6"/>
          </a:solidFill>
          <a:ln/>
        </p:spPr>
      </p:sp>
      <p:sp>
        <p:nvSpPr>
          <p:cNvPr id="49" name="Text 47"/>
          <p:cNvSpPr/>
          <p:nvPr/>
        </p:nvSpPr>
        <p:spPr>
          <a:xfrm>
            <a:off x="4370832" y="3867912"/>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审批权限表、合规红线</a:t>
            </a:r>
            <a:endParaRPr lang="en-US" sz="1000" dirty="0"/>
          </a:p>
        </p:txBody>
      </p:sp>
      <p:sp>
        <p:nvSpPr>
          <p:cNvPr id="50" name="Shape 48"/>
          <p:cNvSpPr/>
          <p:nvPr/>
        </p:nvSpPr>
        <p:spPr>
          <a:xfrm>
            <a:off x="6492240" y="3867912"/>
            <a:ext cx="2194560" cy="594360"/>
          </a:xfrm>
          <a:prstGeom prst="rect">
            <a:avLst/>
          </a:prstGeom>
          <a:solidFill>
            <a:srgbClr val="F3F4F6"/>
          </a:solidFill>
          <a:ln/>
        </p:spPr>
      </p:sp>
      <p:sp>
        <p:nvSpPr>
          <p:cNvPr id="51" name="Text 49"/>
          <p:cNvSpPr/>
          <p:nvPr/>
        </p:nvSpPr>
        <p:spPr>
          <a:xfrm>
            <a:off x="6565392" y="3867912"/>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审核意见格式</a:t>
            </a:r>
            <a:endParaRPr lang="en-US" sz="1000" dirty="0"/>
          </a:p>
        </p:txBody>
      </p:sp>
      <p:sp>
        <p:nvSpPr>
          <p:cNvPr id="52" name="Shape 50"/>
          <p:cNvSpPr/>
          <p:nvPr/>
        </p:nvSpPr>
        <p:spPr>
          <a:xfrm>
            <a:off x="8503920" y="4663440"/>
            <a:ext cx="365760" cy="365760"/>
          </a:xfrm>
          <a:prstGeom prst="ellipse">
            <a:avLst/>
          </a:prstGeom>
          <a:solidFill>
            <a:srgbClr val="EF4444"/>
          </a:solidFill>
          <a:ln/>
        </p:spPr>
      </p:sp>
      <p:sp>
        <p:nvSpPr>
          <p:cNvPr id="53" name="Text 51"/>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原始材料的预处理方法</a:t>
            </a:r>
            <a:endParaRPr lang="en-US" sz="2400" dirty="0"/>
          </a:p>
        </p:txBody>
      </p:sp>
      <p:sp>
        <p:nvSpPr>
          <p:cNvPr id="4" name="Text 2"/>
          <p:cNvSpPr/>
          <p:nvPr/>
        </p:nvSpPr>
        <p:spPr>
          <a:xfrm>
            <a:off x="457200" y="777240"/>
            <a:ext cx="8229600" cy="3200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四个预处理原则</a:t>
            </a:r>
            <a:endParaRPr lang="en-US" sz="1400" dirty="0"/>
          </a:p>
        </p:txBody>
      </p:sp>
      <p:sp>
        <p:nvSpPr>
          <p:cNvPr id="5" name="Shape 3"/>
          <p:cNvSpPr/>
          <p:nvPr/>
        </p:nvSpPr>
        <p:spPr>
          <a:xfrm>
            <a:off x="457200" y="1188720"/>
            <a:ext cx="548640" cy="548640"/>
          </a:xfrm>
          <a:prstGeom prst="roundRect">
            <a:avLst>
              <a:gd name="adj" fmla="val 13333"/>
            </a:avLst>
          </a:prstGeom>
          <a:solidFill>
            <a:srgbClr val="EF4444"/>
          </a:solidFill>
          <a:ln/>
        </p:spPr>
      </p:sp>
      <p:sp>
        <p:nvSpPr>
          <p:cNvPr id="6" name="Text 4"/>
          <p:cNvSpPr/>
          <p:nvPr/>
        </p:nvSpPr>
        <p:spPr>
          <a:xfrm>
            <a:off x="457200" y="118872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188720" y="118872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标题要清晰</a:t>
            </a:r>
            <a:endParaRPr lang="en-US" sz="1600" dirty="0"/>
          </a:p>
        </p:txBody>
      </p:sp>
      <p:sp>
        <p:nvSpPr>
          <p:cNvPr id="8" name="Text 6"/>
          <p:cNvSpPr/>
          <p:nvPr/>
        </p:nvSpPr>
        <p:spPr>
          <a:xfrm>
            <a:off x="1188720" y="150876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能反映内容，如"客户分层标准-2024版"</a:t>
            </a:r>
            <a:endParaRPr lang="en-US" sz="1300" dirty="0"/>
          </a:p>
        </p:txBody>
      </p:sp>
      <p:sp>
        <p:nvSpPr>
          <p:cNvPr id="9" name="Shape 7"/>
          <p:cNvSpPr/>
          <p:nvPr/>
        </p:nvSpPr>
        <p:spPr>
          <a:xfrm>
            <a:off x="457200" y="1965960"/>
            <a:ext cx="548640" cy="548640"/>
          </a:xfrm>
          <a:prstGeom prst="roundRect">
            <a:avLst>
              <a:gd name="adj" fmla="val 13333"/>
            </a:avLst>
          </a:prstGeom>
          <a:solidFill>
            <a:srgbClr val="EF4444"/>
          </a:solidFill>
          <a:ln/>
        </p:spPr>
      </p:sp>
      <p:sp>
        <p:nvSpPr>
          <p:cNvPr id="10" name="Text 8"/>
          <p:cNvSpPr/>
          <p:nvPr/>
        </p:nvSpPr>
        <p:spPr>
          <a:xfrm>
            <a:off x="457200" y="196596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1188720" y="196596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结构要分段</a:t>
            </a:r>
            <a:endParaRPr lang="en-US" sz="1600" dirty="0"/>
          </a:p>
        </p:txBody>
      </p:sp>
      <p:sp>
        <p:nvSpPr>
          <p:cNvPr id="12" name="Text 10"/>
          <p:cNvSpPr/>
          <p:nvPr/>
        </p:nvSpPr>
        <p:spPr>
          <a:xfrm>
            <a:off x="1188720" y="228600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按主题分段，每段加标题</a:t>
            </a:r>
            <a:endParaRPr lang="en-US" sz="1300" dirty="0"/>
          </a:p>
        </p:txBody>
      </p:sp>
      <p:sp>
        <p:nvSpPr>
          <p:cNvPr id="13" name="Shape 11"/>
          <p:cNvSpPr/>
          <p:nvPr/>
        </p:nvSpPr>
        <p:spPr>
          <a:xfrm>
            <a:off x="457200" y="2743200"/>
            <a:ext cx="548640" cy="548640"/>
          </a:xfrm>
          <a:prstGeom prst="roundRect">
            <a:avLst>
              <a:gd name="adj" fmla="val 13333"/>
            </a:avLst>
          </a:prstGeom>
          <a:solidFill>
            <a:srgbClr val="EF4444"/>
          </a:solidFill>
          <a:ln/>
        </p:spPr>
      </p:sp>
      <p:sp>
        <p:nvSpPr>
          <p:cNvPr id="14" name="Text 12"/>
          <p:cNvSpPr/>
          <p:nvPr/>
        </p:nvSpPr>
        <p:spPr>
          <a:xfrm>
            <a:off x="457200" y="27432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5" name="Text 13"/>
          <p:cNvSpPr/>
          <p:nvPr/>
        </p:nvSpPr>
        <p:spPr>
          <a:xfrm>
            <a:off x="1188720" y="274320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关键信息前置</a:t>
            </a:r>
            <a:endParaRPr lang="en-US" sz="1600" dirty="0"/>
          </a:p>
        </p:txBody>
      </p:sp>
      <p:sp>
        <p:nvSpPr>
          <p:cNvPr id="16" name="Text 14"/>
          <p:cNvSpPr/>
          <p:nvPr/>
        </p:nvSpPr>
        <p:spPr>
          <a:xfrm>
            <a:off x="1188720" y="306324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最重要的放每段最前面</a:t>
            </a:r>
            <a:endParaRPr lang="en-US" sz="1300" dirty="0"/>
          </a:p>
        </p:txBody>
      </p:sp>
      <p:sp>
        <p:nvSpPr>
          <p:cNvPr id="17" name="Shape 15"/>
          <p:cNvSpPr/>
          <p:nvPr/>
        </p:nvSpPr>
        <p:spPr>
          <a:xfrm>
            <a:off x="457200" y="3520440"/>
            <a:ext cx="548640" cy="548640"/>
          </a:xfrm>
          <a:prstGeom prst="roundRect">
            <a:avLst>
              <a:gd name="adj" fmla="val 13333"/>
            </a:avLst>
          </a:prstGeom>
          <a:solidFill>
            <a:srgbClr val="EF4444"/>
          </a:solidFill>
          <a:ln/>
        </p:spPr>
      </p:sp>
      <p:sp>
        <p:nvSpPr>
          <p:cNvPr id="18" name="Text 16"/>
          <p:cNvSpPr/>
          <p:nvPr/>
        </p:nvSpPr>
        <p:spPr>
          <a:xfrm>
            <a:off x="457200" y="352044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9" name="Text 17"/>
          <p:cNvSpPr/>
          <p:nvPr/>
        </p:nvSpPr>
        <p:spPr>
          <a:xfrm>
            <a:off x="1188720" y="352044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删除无关内容</a:t>
            </a:r>
            <a:endParaRPr lang="en-US" sz="1600" dirty="0"/>
          </a:p>
        </p:txBody>
      </p:sp>
      <p:sp>
        <p:nvSpPr>
          <p:cNvPr id="20" name="Text 18"/>
          <p:cNvSpPr/>
          <p:nvPr/>
        </p:nvSpPr>
        <p:spPr>
          <a:xfrm>
            <a:off x="1188720" y="384048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格式页、版权声明等</a:t>
            </a:r>
            <a:endParaRPr lang="en-US" sz="1300" dirty="0"/>
          </a:p>
        </p:txBody>
      </p:sp>
      <p:sp>
        <p:nvSpPr>
          <p:cNvPr id="21" name="Shape 19"/>
          <p:cNvSpPr/>
          <p:nvPr/>
        </p:nvSpPr>
        <p:spPr>
          <a:xfrm>
            <a:off x="8503920" y="4663440"/>
            <a:ext cx="365760" cy="365760"/>
          </a:xfrm>
          <a:prstGeom prst="ellipse">
            <a:avLst/>
          </a:prstGeom>
          <a:solidFill>
            <a:srgbClr val="EF4444"/>
          </a:solidFill>
          <a:ln/>
        </p:spPr>
      </p:sp>
      <p:sp>
        <p:nvSpPr>
          <p:cNvPr id="22" name="Text 20"/>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AI输出质量管控</a:t>
            </a:r>
            <a:endParaRPr lang="en-US" sz="2400" dirty="0"/>
          </a:p>
        </p:txBody>
      </p:sp>
      <p:sp>
        <p:nvSpPr>
          <p:cNvPr id="4" name="Text 2"/>
          <p:cNvSpPr/>
          <p:nvPr/>
        </p:nvSpPr>
        <p:spPr>
          <a:xfrm>
            <a:off x="457200" y="777240"/>
            <a:ext cx="8229600" cy="3200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防幻觉设定</a:t>
            </a:r>
            <a:endParaRPr lang="en-US" sz="1400" dirty="0"/>
          </a:p>
        </p:txBody>
      </p:sp>
      <p:sp>
        <p:nvSpPr>
          <p:cNvPr id="5" name="Shape 3"/>
          <p:cNvSpPr/>
          <p:nvPr/>
        </p:nvSpPr>
        <p:spPr>
          <a:xfrm>
            <a:off x="457200" y="1188720"/>
            <a:ext cx="8229600" cy="2743200"/>
          </a:xfrm>
          <a:prstGeom prst="roundRect">
            <a:avLst>
              <a:gd name="adj" fmla="val 3333"/>
            </a:avLst>
          </a:prstGeom>
          <a:solidFill>
            <a:srgbClr val="B91C1C"/>
          </a:solidFill>
          <a:ln/>
        </p:spPr>
      </p:sp>
      <p:sp>
        <p:nvSpPr>
          <p:cNvPr id="6" name="Text 4"/>
          <p:cNvSpPr/>
          <p:nvPr/>
        </p:nvSpPr>
        <p:spPr>
          <a:xfrm>
            <a:off x="731520" y="1371600"/>
            <a:ext cx="7680960" cy="365760"/>
          </a:xfrm>
          <a:prstGeom prst="rect">
            <a:avLst/>
          </a:prstGeom>
          <a:noFill/>
          <a:ln/>
        </p:spPr>
        <p:txBody>
          <a:bodyPr wrap="square" rtlCol="0" anchor="ctr"/>
          <a:lstStyle/>
          <a:p>
            <a:pPr indent="0" marL="0">
              <a:buNone/>
            </a:pPr>
            <a:r>
              <a:rPr lang="en-US" sz="1400" dirty="0">
                <a:solidFill>
                  <a:srgbClr val="F3F4F6"/>
                </a:solidFill>
                <a:latin typeface="Microsoft YaHei" pitchFamily="34" charset="0"/>
                <a:ea typeface="Microsoft YaHei" pitchFamily="34" charset="-122"/>
                <a:cs typeface="Microsoft YaHei" pitchFamily="34" charset="-120"/>
              </a:rPr>
              <a:t>你的所有判断必须有明确依据：</a:t>
            </a:r>
            <a:endParaRPr lang="en-US" sz="1400" dirty="0"/>
          </a:p>
        </p:txBody>
      </p:sp>
      <p:sp>
        <p:nvSpPr>
          <p:cNvPr id="7" name="Text 5"/>
          <p:cNvSpPr/>
          <p:nvPr/>
        </p:nvSpPr>
        <p:spPr>
          <a:xfrm>
            <a:off x="731520" y="1828800"/>
            <a:ext cx="7680960" cy="18288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 来自规则 → 注明"依据规则：[规则编号]"</a:t>
            </a:r>
            <a:endParaRPr lang="en-US" sz="1400" dirty="0"/>
          </a:p>
          <a:p>
            <a:pPr indent="0" marL="0">
              <a:buNone/>
            </a:pPr>
            <a:r>
              <a:rPr lang="en-US" sz="1400" dirty="0">
                <a:solidFill>
                  <a:srgbClr val="FFFFFF"/>
                </a:solidFill>
                <a:latin typeface="Microsoft YaHei" pitchFamily="34" charset="0"/>
                <a:ea typeface="Microsoft YaHei" pitchFamily="34" charset="-122"/>
                <a:cs typeface="Microsoft YaHei" pitchFamily="34" charset="-120"/>
              </a:rPr>
              <a:t>• 来自知识库 → 注明"参考案例：[案例简述]"</a:t>
            </a:r>
            <a:endParaRPr lang="en-US" sz="1400" dirty="0"/>
          </a:p>
          <a:p>
            <a:pPr indent="0" marL="0">
              <a:buNone/>
            </a:pPr>
            <a:r>
              <a:rPr lang="en-US" sz="1400" dirty="0">
                <a:solidFill>
                  <a:srgbClr val="FFFFFF"/>
                </a:solidFill>
                <a:latin typeface="Microsoft YaHei" pitchFamily="34" charset="0"/>
                <a:ea typeface="Microsoft YaHei" pitchFamily="34" charset="-122"/>
                <a:cs typeface="Microsoft YaHei" pitchFamily="34" charset="-120"/>
              </a:rPr>
              <a:t>• 无依据 → 标注"需要人工依据经验判断"</a:t>
            </a:r>
            <a:endParaRPr lang="en-US" sz="1400" dirty="0"/>
          </a:p>
        </p:txBody>
      </p:sp>
      <p:sp>
        <p:nvSpPr>
          <p:cNvPr id="8" name="Shape 6"/>
          <p:cNvSpPr/>
          <p:nvPr/>
        </p:nvSpPr>
        <p:spPr>
          <a:xfrm>
            <a:off x="8503920" y="4663440"/>
            <a:ext cx="365760" cy="365760"/>
          </a:xfrm>
          <a:prstGeom prst="ellipse">
            <a:avLst/>
          </a:prstGeom>
          <a:solidFill>
            <a:srgbClr val="EF4444"/>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高风险输出的人工复核节点</a:t>
            </a:r>
            <a:endParaRPr lang="en-US" sz="2400" dirty="0"/>
          </a:p>
        </p:txBody>
      </p:sp>
      <p:sp>
        <p:nvSpPr>
          <p:cNvPr id="4" name="Text 2"/>
          <p:cNvSpPr/>
          <p:nvPr/>
        </p:nvSpPr>
        <p:spPr>
          <a:xfrm>
            <a:off x="457200" y="822960"/>
            <a:ext cx="8229600" cy="3200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以下几类输出建议保留人工复核</a:t>
            </a:r>
            <a:endParaRPr lang="en-US" sz="1400" dirty="0"/>
          </a:p>
        </p:txBody>
      </p:sp>
      <p:sp>
        <p:nvSpPr>
          <p:cNvPr id="5" name="Shape 3"/>
          <p:cNvSpPr/>
          <p:nvPr/>
        </p:nvSpPr>
        <p:spPr>
          <a:xfrm>
            <a:off x="457200" y="1371600"/>
            <a:ext cx="8229600" cy="640080"/>
          </a:xfrm>
          <a:prstGeom prst="roundRect">
            <a:avLst>
              <a:gd name="adj" fmla="val 11429"/>
            </a:avLst>
          </a:prstGeom>
          <a:solidFill>
            <a:srgbClr val="F3F4F6"/>
          </a:solidFill>
          <a:ln/>
        </p:spPr>
      </p:sp>
      <p:sp>
        <p:nvSpPr>
          <p:cNvPr id="6" name="Shape 4"/>
          <p:cNvSpPr/>
          <p:nvPr/>
        </p:nvSpPr>
        <p:spPr>
          <a:xfrm>
            <a:off x="640080" y="1463040"/>
            <a:ext cx="457200" cy="457200"/>
          </a:xfrm>
          <a:prstGeom prst="ellipse">
            <a:avLst/>
          </a:prstGeom>
          <a:solidFill>
            <a:srgbClr val="EF4444"/>
          </a:solidFill>
          <a:ln/>
        </p:spPr>
      </p:sp>
      <p:sp>
        <p:nvSpPr>
          <p:cNvPr id="7" name="Text 5"/>
          <p:cNvSpPr/>
          <p:nvPr/>
        </p:nvSpPr>
        <p:spPr>
          <a:xfrm>
            <a:off x="640080" y="14630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280160" y="1371600"/>
            <a:ext cx="7223760" cy="640080"/>
          </a:xfrm>
          <a:prstGeom prst="rect">
            <a:avLst/>
          </a:prstGeom>
          <a:noFill/>
          <a:ln/>
        </p:spPr>
        <p:txBody>
          <a:bodyPr wrap="square" rtlCol="0" anchor="ctr"/>
          <a:lstStyle/>
          <a:p>
            <a:pPr indent="0" marL="0">
              <a:buNone/>
            </a:pPr>
            <a:r>
              <a:rPr lang="en-US" sz="1500" dirty="0">
                <a:solidFill>
                  <a:srgbClr val="B91C1C"/>
                </a:solidFill>
                <a:latin typeface="Microsoft YaHei" pitchFamily="34" charset="0"/>
                <a:ea typeface="Microsoft YaHei" pitchFamily="34" charset="-122"/>
                <a:cs typeface="Microsoft YaHei" pitchFamily="34" charset="-120"/>
              </a:rPr>
              <a:t>涉及具体金额的赔偿承诺</a:t>
            </a:r>
            <a:endParaRPr lang="en-US" sz="1500" dirty="0"/>
          </a:p>
        </p:txBody>
      </p:sp>
      <p:sp>
        <p:nvSpPr>
          <p:cNvPr id="9" name="Shape 7"/>
          <p:cNvSpPr/>
          <p:nvPr/>
        </p:nvSpPr>
        <p:spPr>
          <a:xfrm>
            <a:off x="457200" y="2148840"/>
            <a:ext cx="8229600" cy="640080"/>
          </a:xfrm>
          <a:prstGeom prst="roundRect">
            <a:avLst>
              <a:gd name="adj" fmla="val 11429"/>
            </a:avLst>
          </a:prstGeom>
          <a:solidFill>
            <a:srgbClr val="F3F4F6"/>
          </a:solidFill>
          <a:ln/>
        </p:spPr>
      </p:sp>
      <p:sp>
        <p:nvSpPr>
          <p:cNvPr id="10" name="Shape 8"/>
          <p:cNvSpPr/>
          <p:nvPr/>
        </p:nvSpPr>
        <p:spPr>
          <a:xfrm>
            <a:off x="640080" y="2240280"/>
            <a:ext cx="457200" cy="457200"/>
          </a:xfrm>
          <a:prstGeom prst="ellipse">
            <a:avLst/>
          </a:prstGeom>
          <a:solidFill>
            <a:srgbClr val="EF4444"/>
          </a:solidFill>
          <a:ln/>
        </p:spPr>
      </p:sp>
      <p:sp>
        <p:nvSpPr>
          <p:cNvPr id="11" name="Text 9"/>
          <p:cNvSpPr/>
          <p:nvPr/>
        </p:nvSpPr>
        <p:spPr>
          <a:xfrm>
            <a:off x="640080" y="22402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1280160" y="2148840"/>
            <a:ext cx="7223760" cy="640080"/>
          </a:xfrm>
          <a:prstGeom prst="rect">
            <a:avLst/>
          </a:prstGeom>
          <a:noFill/>
          <a:ln/>
        </p:spPr>
        <p:txBody>
          <a:bodyPr wrap="square" rtlCol="0" anchor="ctr"/>
          <a:lstStyle/>
          <a:p>
            <a:pPr indent="0" marL="0">
              <a:buNone/>
            </a:pPr>
            <a:r>
              <a:rPr lang="en-US" sz="1500" dirty="0">
                <a:solidFill>
                  <a:srgbClr val="B91C1C"/>
                </a:solidFill>
                <a:latin typeface="Microsoft YaHei" pitchFamily="34" charset="0"/>
                <a:ea typeface="Microsoft YaHei" pitchFamily="34" charset="-122"/>
                <a:cs typeface="Microsoft YaHei" pitchFamily="34" charset="-120"/>
              </a:rPr>
              <a:t>涉及法律责任的判断</a:t>
            </a:r>
            <a:endParaRPr lang="en-US" sz="1500" dirty="0"/>
          </a:p>
        </p:txBody>
      </p:sp>
      <p:sp>
        <p:nvSpPr>
          <p:cNvPr id="13" name="Shape 11"/>
          <p:cNvSpPr/>
          <p:nvPr/>
        </p:nvSpPr>
        <p:spPr>
          <a:xfrm>
            <a:off x="457200" y="2926080"/>
            <a:ext cx="8229600" cy="640080"/>
          </a:xfrm>
          <a:prstGeom prst="roundRect">
            <a:avLst>
              <a:gd name="adj" fmla="val 11429"/>
            </a:avLst>
          </a:prstGeom>
          <a:solidFill>
            <a:srgbClr val="F3F4F6"/>
          </a:solidFill>
          <a:ln/>
        </p:spPr>
      </p:sp>
      <p:sp>
        <p:nvSpPr>
          <p:cNvPr id="14" name="Shape 12"/>
          <p:cNvSpPr/>
          <p:nvPr/>
        </p:nvSpPr>
        <p:spPr>
          <a:xfrm>
            <a:off x="640080" y="3017520"/>
            <a:ext cx="457200" cy="457200"/>
          </a:xfrm>
          <a:prstGeom prst="ellipse">
            <a:avLst/>
          </a:prstGeom>
          <a:solidFill>
            <a:srgbClr val="EF4444"/>
          </a:solidFill>
          <a:ln/>
        </p:spPr>
      </p:sp>
      <p:sp>
        <p:nvSpPr>
          <p:cNvPr id="15" name="Text 13"/>
          <p:cNvSpPr/>
          <p:nvPr/>
        </p:nvSpPr>
        <p:spPr>
          <a:xfrm>
            <a:off x="640080" y="301752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p:nvPr/>
        </p:nvSpPr>
        <p:spPr>
          <a:xfrm>
            <a:off x="1280160" y="2926080"/>
            <a:ext cx="7223760" cy="640080"/>
          </a:xfrm>
          <a:prstGeom prst="rect">
            <a:avLst/>
          </a:prstGeom>
          <a:noFill/>
          <a:ln/>
        </p:spPr>
        <p:txBody>
          <a:bodyPr wrap="square" rtlCol="0" anchor="ctr"/>
          <a:lstStyle/>
          <a:p>
            <a:pPr indent="0" marL="0">
              <a:buNone/>
            </a:pPr>
            <a:r>
              <a:rPr lang="en-US" sz="1500" dirty="0">
                <a:solidFill>
                  <a:srgbClr val="B91C1C"/>
                </a:solidFill>
                <a:latin typeface="Microsoft YaHei" pitchFamily="34" charset="0"/>
                <a:ea typeface="Microsoft YaHei" pitchFamily="34" charset="-122"/>
                <a:cs typeface="Microsoft YaHei" pitchFamily="34" charset="-120"/>
              </a:rPr>
              <a:t>影响重要客户关系的决策</a:t>
            </a:r>
            <a:endParaRPr lang="en-US" sz="1500" dirty="0"/>
          </a:p>
        </p:txBody>
      </p:sp>
      <p:sp>
        <p:nvSpPr>
          <p:cNvPr id="17" name="Shape 15"/>
          <p:cNvSpPr/>
          <p:nvPr/>
        </p:nvSpPr>
        <p:spPr>
          <a:xfrm>
            <a:off x="457200" y="3703320"/>
            <a:ext cx="8229600" cy="640080"/>
          </a:xfrm>
          <a:prstGeom prst="roundRect">
            <a:avLst>
              <a:gd name="adj" fmla="val 11429"/>
            </a:avLst>
          </a:prstGeom>
          <a:solidFill>
            <a:srgbClr val="F3F4F6"/>
          </a:solidFill>
          <a:ln/>
        </p:spPr>
      </p:sp>
      <p:sp>
        <p:nvSpPr>
          <p:cNvPr id="18" name="Shape 16"/>
          <p:cNvSpPr/>
          <p:nvPr/>
        </p:nvSpPr>
        <p:spPr>
          <a:xfrm>
            <a:off x="640080" y="3794760"/>
            <a:ext cx="457200" cy="457200"/>
          </a:xfrm>
          <a:prstGeom prst="ellipse">
            <a:avLst/>
          </a:prstGeom>
          <a:solidFill>
            <a:srgbClr val="EF4444"/>
          </a:solidFill>
          <a:ln/>
        </p:spPr>
      </p:sp>
      <p:sp>
        <p:nvSpPr>
          <p:cNvPr id="19" name="Text 17"/>
          <p:cNvSpPr/>
          <p:nvPr/>
        </p:nvSpPr>
        <p:spPr>
          <a:xfrm>
            <a:off x="640080" y="3794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0" name="Text 18"/>
          <p:cNvSpPr/>
          <p:nvPr/>
        </p:nvSpPr>
        <p:spPr>
          <a:xfrm>
            <a:off x="1280160" y="3703320"/>
            <a:ext cx="7223760" cy="640080"/>
          </a:xfrm>
          <a:prstGeom prst="rect">
            <a:avLst/>
          </a:prstGeom>
          <a:noFill/>
          <a:ln/>
        </p:spPr>
        <p:txBody>
          <a:bodyPr wrap="square" rtlCol="0" anchor="ctr"/>
          <a:lstStyle/>
          <a:p>
            <a:pPr indent="0" marL="0">
              <a:buNone/>
            </a:pPr>
            <a:r>
              <a:rPr lang="en-US" sz="1500" dirty="0">
                <a:solidFill>
                  <a:srgbClr val="B91C1C"/>
                </a:solidFill>
                <a:latin typeface="Microsoft YaHei" pitchFamily="34" charset="0"/>
                <a:ea typeface="Microsoft YaHei" pitchFamily="34" charset="-122"/>
                <a:cs typeface="Microsoft YaHei" pitchFamily="34" charset="-120"/>
              </a:rPr>
              <a:t>首次遇到的、与历史案例差异很大的情形</a:t>
            </a:r>
            <a:endParaRPr lang="en-US" sz="1500" dirty="0"/>
          </a:p>
        </p:txBody>
      </p:sp>
      <p:sp>
        <p:nvSpPr>
          <p:cNvPr id="21" name="Shape 19"/>
          <p:cNvSpPr/>
          <p:nvPr/>
        </p:nvSpPr>
        <p:spPr>
          <a:xfrm>
            <a:off x="8503920" y="4663440"/>
            <a:ext cx="365760" cy="365760"/>
          </a:xfrm>
          <a:prstGeom prst="ellipse">
            <a:avLst/>
          </a:prstGeom>
          <a:solidFill>
            <a:srgbClr val="EF4444"/>
          </a:solidFill>
          <a:ln/>
        </p:spPr>
      </p:sp>
      <p:sp>
        <p:nvSpPr>
          <p:cNvPr id="22" name="Text 20"/>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练习六：上传知识库并完成对比测试</a:t>
            </a:r>
            <a:endParaRPr lang="en-US" sz="2200" dirty="0"/>
          </a:p>
        </p:txBody>
      </p:sp>
      <p:sp>
        <p:nvSpPr>
          <p:cNvPr id="4" name="Shape 2"/>
          <p:cNvSpPr/>
          <p:nvPr/>
        </p:nvSpPr>
        <p:spPr>
          <a:xfrm>
            <a:off x="457200" y="1097280"/>
            <a:ext cx="3931920" cy="2286000"/>
          </a:xfrm>
          <a:prstGeom prst="roundRect">
            <a:avLst>
              <a:gd name="adj" fmla="val 4000"/>
            </a:avLst>
          </a:prstGeom>
          <a:solidFill>
            <a:srgbClr val="F3F4F6"/>
          </a:solidFill>
          <a:ln/>
        </p:spPr>
      </p:sp>
      <p:sp>
        <p:nvSpPr>
          <p:cNvPr id="5" name="Shape 3"/>
          <p:cNvSpPr/>
          <p:nvPr/>
        </p:nvSpPr>
        <p:spPr>
          <a:xfrm>
            <a:off x="2103120" y="1371600"/>
            <a:ext cx="640080" cy="640080"/>
          </a:xfrm>
          <a:prstGeom prst="ellipse">
            <a:avLst/>
          </a:prstGeom>
          <a:solidFill>
            <a:srgbClr val="EF4444"/>
          </a:solidFill>
          <a:ln/>
        </p:spPr>
      </p:sp>
      <p:sp>
        <p:nvSpPr>
          <p:cNvPr id="6" name="Text 4"/>
          <p:cNvSpPr/>
          <p:nvPr/>
        </p:nvSpPr>
        <p:spPr>
          <a:xfrm>
            <a:off x="2103120" y="1371600"/>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731520" y="2194560"/>
            <a:ext cx="3383280" cy="45720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上传知识库</a:t>
            </a:r>
            <a:endParaRPr lang="en-US" sz="1600" dirty="0"/>
          </a:p>
        </p:txBody>
      </p:sp>
      <p:sp>
        <p:nvSpPr>
          <p:cNvPr id="8" name="Text 6"/>
          <p:cNvSpPr/>
          <p:nvPr/>
        </p:nvSpPr>
        <p:spPr>
          <a:xfrm>
            <a:off x="731520" y="2651760"/>
            <a:ext cx="3383280" cy="457200"/>
          </a:xfrm>
          <a:prstGeom prst="rect">
            <a:avLst/>
          </a:prstGeom>
          <a:noFill/>
          <a:ln/>
        </p:spPr>
        <p:txBody>
          <a:bodyPr wrap="square" rtlCol="0" anchor="ctr"/>
          <a:lstStyle/>
          <a:p>
            <a:pPr algn="ctr" indent="0" marL="0">
              <a:buNone/>
            </a:pPr>
            <a:r>
              <a:rPr lang="en-US" sz="1300" dirty="0">
                <a:solidFill>
                  <a:srgbClr val="374151"/>
                </a:solidFill>
                <a:latin typeface="Microsoft YaHei" pitchFamily="34" charset="0"/>
                <a:ea typeface="Microsoft YaHei" pitchFamily="34" charset="-122"/>
                <a:cs typeface="Microsoft YaHei" pitchFamily="34" charset="-120"/>
              </a:rPr>
              <a:t>把业务文档上传到知识库</a:t>
            </a:r>
            <a:endParaRPr lang="en-US" sz="1300" dirty="0"/>
          </a:p>
        </p:txBody>
      </p:sp>
      <p:sp>
        <p:nvSpPr>
          <p:cNvPr id="9" name="Shape 7"/>
          <p:cNvSpPr/>
          <p:nvPr/>
        </p:nvSpPr>
        <p:spPr>
          <a:xfrm>
            <a:off x="4754880" y="1097280"/>
            <a:ext cx="3931920" cy="2286000"/>
          </a:xfrm>
          <a:prstGeom prst="roundRect">
            <a:avLst>
              <a:gd name="adj" fmla="val 4000"/>
            </a:avLst>
          </a:prstGeom>
          <a:solidFill>
            <a:srgbClr val="F3F4F6"/>
          </a:solidFill>
          <a:ln/>
        </p:spPr>
      </p:sp>
      <p:sp>
        <p:nvSpPr>
          <p:cNvPr id="10" name="Shape 8"/>
          <p:cNvSpPr/>
          <p:nvPr/>
        </p:nvSpPr>
        <p:spPr>
          <a:xfrm>
            <a:off x="6400800" y="1371600"/>
            <a:ext cx="640080" cy="640080"/>
          </a:xfrm>
          <a:prstGeom prst="ellipse">
            <a:avLst/>
          </a:prstGeom>
          <a:solidFill>
            <a:srgbClr val="EF4444"/>
          </a:solidFill>
          <a:ln/>
        </p:spPr>
      </p:sp>
      <p:sp>
        <p:nvSpPr>
          <p:cNvPr id="11" name="Text 9"/>
          <p:cNvSpPr/>
          <p:nvPr/>
        </p:nvSpPr>
        <p:spPr>
          <a:xfrm>
            <a:off x="6400800" y="1371600"/>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2" name="Text 10"/>
          <p:cNvSpPr/>
          <p:nvPr/>
        </p:nvSpPr>
        <p:spPr>
          <a:xfrm>
            <a:off x="5029200" y="2194560"/>
            <a:ext cx="3383280" cy="45720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对比测试</a:t>
            </a:r>
            <a:endParaRPr lang="en-US" sz="1600" dirty="0"/>
          </a:p>
        </p:txBody>
      </p:sp>
      <p:sp>
        <p:nvSpPr>
          <p:cNvPr id="13" name="Text 11"/>
          <p:cNvSpPr/>
          <p:nvPr/>
        </p:nvSpPr>
        <p:spPr>
          <a:xfrm>
            <a:off x="5029200" y="2651760"/>
            <a:ext cx="3383280" cy="640080"/>
          </a:xfrm>
          <a:prstGeom prst="rect">
            <a:avLst/>
          </a:prstGeom>
          <a:noFill/>
          <a:ln/>
        </p:spPr>
        <p:txBody>
          <a:bodyPr wrap="square" rtlCol="0" anchor="ctr"/>
          <a:lstStyle/>
          <a:p>
            <a:pPr algn="ctr" indent="0" marL="0">
              <a:buNone/>
            </a:pPr>
            <a:r>
              <a:rPr lang="en-US" sz="1300" dirty="0">
                <a:solidFill>
                  <a:srgbClr val="374151"/>
                </a:solidFill>
                <a:latin typeface="Microsoft YaHei" pitchFamily="34" charset="0"/>
                <a:ea typeface="Microsoft YaHei" pitchFamily="34" charset="-122"/>
                <a:cs typeface="Microsoft YaHei" pitchFamily="34" charset="-120"/>
              </a:rPr>
              <a:t>用同一输入对比"有知识库"和"无知识库"的输出质量差异</a:t>
            </a:r>
            <a:endParaRPr lang="en-US" sz="1300" dirty="0"/>
          </a:p>
        </p:txBody>
      </p:sp>
      <p:sp>
        <p:nvSpPr>
          <p:cNvPr id="14" name="Text 12"/>
          <p:cNvSpPr/>
          <p:nvPr/>
        </p:nvSpPr>
        <p:spPr>
          <a:xfrm>
            <a:off x="4114800" y="1828800"/>
            <a:ext cx="914400" cy="731520"/>
          </a:xfrm>
          <a:prstGeom prst="rect">
            <a:avLst/>
          </a:prstGeom>
          <a:noFill/>
          <a:ln/>
        </p:spPr>
        <p:txBody>
          <a:bodyPr wrap="square" rtlCol="0" anchor="ctr"/>
          <a:lstStyle/>
          <a:p>
            <a:pPr algn="ctr" indent="0" marL="0">
              <a:buNone/>
            </a:pPr>
            <a:r>
              <a:rPr lang="en-US" sz="2800" dirty="0">
                <a:solidFill>
                  <a:srgbClr val="EF4444"/>
                </a:solidFill>
                <a:latin typeface="Arial" pitchFamily="34" charset="0"/>
                <a:ea typeface="Arial" pitchFamily="34" charset="-122"/>
                <a:cs typeface="Arial" pitchFamily="34" charset="-120"/>
              </a:rPr>
              <a:t>→</a:t>
            </a:r>
            <a:endParaRPr lang="en-US" sz="2800" dirty="0"/>
          </a:p>
        </p:txBody>
      </p:sp>
      <p:sp>
        <p:nvSpPr>
          <p:cNvPr id="15" name="Shape 13"/>
          <p:cNvSpPr/>
          <p:nvPr/>
        </p:nvSpPr>
        <p:spPr>
          <a:xfrm>
            <a:off x="8503920" y="4663440"/>
            <a:ext cx="365760" cy="365760"/>
          </a:xfrm>
          <a:prstGeom prst="ellipse">
            <a:avLst/>
          </a:prstGeom>
          <a:solidFill>
            <a:srgbClr val="EF4444"/>
          </a:solidFill>
          <a:ln/>
        </p:spPr>
      </p:sp>
      <p:sp>
        <p:nvSpPr>
          <p:cNvPr id="16" name="Text 14"/>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今晚的作业</a:t>
            </a:r>
            <a:endParaRPr lang="en-US" sz="2400" dirty="0"/>
          </a:p>
        </p:txBody>
      </p:sp>
      <p:sp>
        <p:nvSpPr>
          <p:cNvPr id="4" name="Shape 2"/>
          <p:cNvSpPr/>
          <p:nvPr/>
        </p:nvSpPr>
        <p:spPr>
          <a:xfrm>
            <a:off x="457200" y="914400"/>
            <a:ext cx="8229600" cy="1371600"/>
          </a:xfrm>
          <a:prstGeom prst="roundRect">
            <a:avLst>
              <a:gd name="adj" fmla="val 6667"/>
            </a:avLst>
          </a:prstGeom>
          <a:solidFill>
            <a:srgbClr val="B91C1C"/>
          </a:solidFill>
          <a:ln/>
        </p:spPr>
      </p:sp>
      <p:sp>
        <p:nvSpPr>
          <p:cNvPr id="5" name="Shape 3"/>
          <p:cNvSpPr/>
          <p:nvPr/>
        </p:nvSpPr>
        <p:spPr>
          <a:xfrm>
            <a:off x="731520" y="1097280"/>
            <a:ext cx="548640" cy="548640"/>
          </a:xfrm>
          <a:prstGeom prst="ellipse">
            <a:avLst/>
          </a:prstGeom>
          <a:solidFill>
            <a:srgbClr val="EF4444"/>
          </a:solidFill>
          <a:ln/>
        </p:spPr>
      </p:sp>
      <p:sp>
        <p:nvSpPr>
          <p:cNvPr id="6" name="Text 4"/>
          <p:cNvSpPr/>
          <p:nvPr/>
        </p:nvSpPr>
        <p:spPr>
          <a:xfrm>
            <a:off x="731520" y="109728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463040" y="1143000"/>
            <a:ext cx="7040880" cy="45720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完成数字员工2号的Skill搭建</a:t>
            </a:r>
            <a:endParaRPr lang="en-US" sz="1600" dirty="0"/>
          </a:p>
        </p:txBody>
      </p:sp>
      <p:sp>
        <p:nvSpPr>
          <p:cNvPr id="8" name="Shape 6"/>
          <p:cNvSpPr/>
          <p:nvPr/>
        </p:nvSpPr>
        <p:spPr>
          <a:xfrm>
            <a:off x="457200" y="2468880"/>
            <a:ext cx="8229600" cy="2011680"/>
          </a:xfrm>
          <a:prstGeom prst="roundRect">
            <a:avLst>
              <a:gd name="adj" fmla="val 4545"/>
            </a:avLst>
          </a:prstGeom>
          <a:solidFill>
            <a:srgbClr val="B91C1C"/>
          </a:solidFill>
          <a:ln/>
        </p:spPr>
      </p:sp>
      <p:sp>
        <p:nvSpPr>
          <p:cNvPr id="9" name="Shape 7"/>
          <p:cNvSpPr/>
          <p:nvPr/>
        </p:nvSpPr>
        <p:spPr>
          <a:xfrm>
            <a:off x="731520" y="2651760"/>
            <a:ext cx="548640" cy="548640"/>
          </a:xfrm>
          <a:prstGeom prst="ellipse">
            <a:avLst/>
          </a:prstGeom>
          <a:solidFill>
            <a:srgbClr val="EF4444"/>
          </a:solidFill>
          <a:ln/>
        </p:spPr>
      </p:sp>
      <p:sp>
        <p:nvSpPr>
          <p:cNvPr id="10" name="Text 8"/>
          <p:cNvSpPr/>
          <p:nvPr/>
        </p:nvSpPr>
        <p:spPr>
          <a:xfrm>
            <a:off x="731520" y="265176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463040" y="2697480"/>
            <a:ext cx="7040880" cy="45720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准备明天验收用的测试数据</a:t>
            </a:r>
            <a:endParaRPr lang="en-US" sz="1600" dirty="0"/>
          </a:p>
        </p:txBody>
      </p:sp>
      <p:sp>
        <p:nvSpPr>
          <p:cNvPr id="12" name="Text 10"/>
          <p:cNvSpPr/>
          <p:nvPr/>
        </p:nvSpPr>
        <p:spPr>
          <a:xfrm>
            <a:off x="1463040" y="3200400"/>
            <a:ext cx="7040880" cy="365760"/>
          </a:xfrm>
          <a:prstGeom prst="rect">
            <a:avLst/>
          </a:prstGeom>
          <a:noFill/>
          <a:ln/>
        </p:spPr>
        <p:txBody>
          <a:bodyPr wrap="square" rtlCol="0" anchor="ctr"/>
          <a:lstStyle/>
          <a:p>
            <a:pPr indent="0" marL="0">
              <a:buNone/>
            </a:pPr>
            <a:r>
              <a:rPr lang="en-US" sz="1400" dirty="0">
                <a:solidFill>
                  <a:srgbClr val="F3F4F6"/>
                </a:solidFill>
                <a:latin typeface="Microsoft YaHei" pitchFamily="34" charset="0"/>
                <a:ea typeface="Microsoft YaHei" pitchFamily="34" charset="-122"/>
                <a:cs typeface="Microsoft YaHei" pitchFamily="34" charset="-120"/>
              </a:rPr>
              <a:t>每个Skill 3条测试用例：</a:t>
            </a:r>
            <a:endParaRPr lang="en-US" sz="1400" dirty="0"/>
          </a:p>
        </p:txBody>
      </p:sp>
      <p:sp>
        <p:nvSpPr>
          <p:cNvPr id="13" name="Text 11"/>
          <p:cNvSpPr/>
          <p:nvPr/>
        </p:nvSpPr>
        <p:spPr>
          <a:xfrm>
            <a:off x="1463040" y="3566160"/>
            <a:ext cx="7040880" cy="731520"/>
          </a:xfrm>
          <a:prstGeom prst="rect">
            <a:avLst/>
          </a:prstGeom>
          <a:noFill/>
          <a:ln/>
        </p:spPr>
        <p:txBody>
          <a:bodyPr wrap="square" rtlCol="0" anchor="ctr"/>
          <a:lstStyle/>
          <a:p>
            <a:pPr indent="0" marL="0">
              <a:buNone/>
            </a:pPr>
            <a:r>
              <a:rPr lang="en-US" sz="1400" dirty="0">
                <a:solidFill>
                  <a:srgbClr val="F3F4F6"/>
                </a:solidFill>
                <a:latin typeface="Microsoft YaHei" pitchFamily="34" charset="0"/>
                <a:ea typeface="Microsoft YaHei" pitchFamily="34" charset="-122"/>
                <a:cs typeface="Microsoft YaHei" pitchFamily="34" charset="-120"/>
              </a:rPr>
              <a:t>• 标准情形、边界情况、意外情况各1条</a:t>
            </a:r>
            <a:endParaRPr lang="en-US" sz="1400" dirty="0"/>
          </a:p>
        </p:txBody>
      </p:sp>
      <p:sp>
        <p:nvSpPr>
          <p:cNvPr id="14" name="Shape 12"/>
          <p:cNvSpPr/>
          <p:nvPr/>
        </p:nvSpPr>
        <p:spPr>
          <a:xfrm>
            <a:off x="8503920" y="4663440"/>
            <a:ext cx="365760" cy="365760"/>
          </a:xfrm>
          <a:prstGeom prst="ellipse">
            <a:avLst/>
          </a:prstGeom>
          <a:solidFill>
            <a:srgbClr val="EF4444"/>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第一天下午知识框架总结</a:t>
            </a:r>
            <a:endParaRPr lang="en-US" sz="2400" dirty="0"/>
          </a:p>
        </p:txBody>
      </p:sp>
      <p:sp>
        <p:nvSpPr>
          <p:cNvPr id="4" name="Shape 2"/>
          <p:cNvSpPr/>
          <p:nvPr/>
        </p:nvSpPr>
        <p:spPr>
          <a:xfrm>
            <a:off x="3200400" y="914400"/>
            <a:ext cx="2743200" cy="548640"/>
          </a:xfrm>
          <a:prstGeom prst="roundRect">
            <a:avLst>
              <a:gd name="adj" fmla="val 13333"/>
            </a:avLst>
          </a:prstGeom>
          <a:solidFill>
            <a:srgbClr val="EF4444"/>
          </a:solidFill>
          <a:ln/>
        </p:spPr>
      </p:sp>
      <p:sp>
        <p:nvSpPr>
          <p:cNvPr id="5" name="Text 3"/>
          <p:cNvSpPr/>
          <p:nvPr/>
        </p:nvSpPr>
        <p:spPr>
          <a:xfrm>
            <a:off x="3200400" y="914400"/>
            <a:ext cx="2743200" cy="54864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第一天下午</a:t>
            </a:r>
            <a:endParaRPr lang="en-US" sz="1600" dirty="0"/>
          </a:p>
        </p:txBody>
      </p:sp>
      <p:sp>
        <p:nvSpPr>
          <p:cNvPr id="6" name="Shape 4"/>
          <p:cNvSpPr/>
          <p:nvPr/>
        </p:nvSpPr>
        <p:spPr>
          <a:xfrm>
            <a:off x="4572000" y="1463040"/>
            <a:ext cx="0" cy="365760"/>
          </a:xfrm>
          <a:prstGeom prst="line">
            <a:avLst/>
          </a:prstGeom>
          <a:noFill/>
          <a:ln w="25400">
            <a:solidFill>
              <a:srgbClr val="374151"/>
            </a:solidFill>
            <a:prstDash val="solid"/>
          </a:ln>
        </p:spPr>
      </p:sp>
      <p:sp>
        <p:nvSpPr>
          <p:cNvPr id="7" name="Shape 5"/>
          <p:cNvSpPr/>
          <p:nvPr/>
        </p:nvSpPr>
        <p:spPr>
          <a:xfrm>
            <a:off x="1554480" y="1828800"/>
            <a:ext cx="0" cy="274320"/>
          </a:xfrm>
          <a:prstGeom prst="line">
            <a:avLst/>
          </a:prstGeom>
          <a:noFill/>
          <a:ln w="12700">
            <a:solidFill>
              <a:srgbClr val="374151"/>
            </a:solidFill>
            <a:prstDash val="solid"/>
          </a:ln>
        </p:spPr>
      </p:sp>
      <p:sp>
        <p:nvSpPr>
          <p:cNvPr id="8" name="Shape 6"/>
          <p:cNvSpPr/>
          <p:nvPr/>
        </p:nvSpPr>
        <p:spPr>
          <a:xfrm>
            <a:off x="457200" y="2103120"/>
            <a:ext cx="2194560" cy="640080"/>
          </a:xfrm>
          <a:prstGeom prst="roundRect">
            <a:avLst>
              <a:gd name="adj" fmla="val 11429"/>
            </a:avLst>
          </a:prstGeom>
          <a:solidFill>
            <a:srgbClr val="F3F4F6"/>
          </a:solidFill>
          <a:ln/>
        </p:spPr>
      </p:sp>
      <p:sp>
        <p:nvSpPr>
          <p:cNvPr id="9" name="Text 7"/>
          <p:cNvSpPr/>
          <p:nvPr/>
        </p:nvSpPr>
        <p:spPr>
          <a:xfrm>
            <a:off x="457200" y="2103120"/>
            <a:ext cx="2194560" cy="640080"/>
          </a:xfrm>
          <a:prstGeom prst="rect">
            <a:avLst/>
          </a:prstGeom>
          <a:noFill/>
          <a:ln/>
        </p:spPr>
        <p:txBody>
          <a:bodyPr wrap="square" rtlCol="0" anchor="ctr"/>
          <a:lstStyle/>
          <a:p>
            <a:pPr algn="ctr" indent="0" marL="0">
              <a:buNone/>
            </a:pPr>
            <a:r>
              <a:rPr lang="en-US" sz="1200" dirty="0">
                <a:solidFill>
                  <a:srgbClr val="B91C1C"/>
                </a:solidFill>
                <a:latin typeface="Microsoft YaHei" pitchFamily="34" charset="0"/>
                <a:ea typeface="Microsoft YaHei" pitchFamily="34" charset="-122"/>
                <a:cs typeface="Microsoft YaHei" pitchFamily="34" charset="-120"/>
              </a:rPr>
              <a:t>经验萃取：三层经验</a:t>
            </a:r>
            <a:endParaRPr lang="en-US" sz="1200" dirty="0"/>
          </a:p>
        </p:txBody>
      </p:sp>
      <p:sp>
        <p:nvSpPr>
          <p:cNvPr id="10" name="Shape 8"/>
          <p:cNvSpPr/>
          <p:nvPr/>
        </p:nvSpPr>
        <p:spPr>
          <a:xfrm>
            <a:off x="3749040" y="1828800"/>
            <a:ext cx="0" cy="274320"/>
          </a:xfrm>
          <a:prstGeom prst="line">
            <a:avLst/>
          </a:prstGeom>
          <a:noFill/>
          <a:ln w="12700">
            <a:solidFill>
              <a:srgbClr val="374151"/>
            </a:solidFill>
            <a:prstDash val="solid"/>
          </a:ln>
        </p:spPr>
      </p:sp>
      <p:sp>
        <p:nvSpPr>
          <p:cNvPr id="11" name="Shape 9"/>
          <p:cNvSpPr/>
          <p:nvPr/>
        </p:nvSpPr>
        <p:spPr>
          <a:xfrm>
            <a:off x="2651760" y="2103120"/>
            <a:ext cx="2194560" cy="640080"/>
          </a:xfrm>
          <a:prstGeom prst="roundRect">
            <a:avLst>
              <a:gd name="adj" fmla="val 11429"/>
            </a:avLst>
          </a:prstGeom>
          <a:solidFill>
            <a:srgbClr val="F3F4F6"/>
          </a:solidFill>
          <a:ln/>
        </p:spPr>
      </p:sp>
      <p:sp>
        <p:nvSpPr>
          <p:cNvPr id="12" name="Text 10"/>
          <p:cNvSpPr/>
          <p:nvPr/>
        </p:nvSpPr>
        <p:spPr>
          <a:xfrm>
            <a:off x="2651760" y="2103120"/>
            <a:ext cx="2194560" cy="640080"/>
          </a:xfrm>
          <a:prstGeom prst="rect">
            <a:avLst/>
          </a:prstGeom>
          <a:noFill/>
          <a:ln/>
        </p:spPr>
        <p:txBody>
          <a:bodyPr wrap="square" rtlCol="0" anchor="ctr"/>
          <a:lstStyle/>
          <a:p>
            <a:pPr algn="ctr" indent="0" marL="0">
              <a:buNone/>
            </a:pPr>
            <a:r>
              <a:rPr lang="en-US" sz="1200" dirty="0">
                <a:solidFill>
                  <a:srgbClr val="B91C1C"/>
                </a:solidFill>
                <a:latin typeface="Microsoft YaHei" pitchFamily="34" charset="0"/>
                <a:ea typeface="Microsoft YaHei" pitchFamily="34" charset="-122"/>
                <a:cs typeface="Microsoft YaHei" pitchFamily="34" charset="-120"/>
              </a:rPr>
              <a:t>Skill搭建：五模块结构</a:t>
            </a:r>
            <a:endParaRPr lang="en-US" sz="1200" dirty="0"/>
          </a:p>
        </p:txBody>
      </p:sp>
      <p:sp>
        <p:nvSpPr>
          <p:cNvPr id="13" name="Shape 11"/>
          <p:cNvSpPr/>
          <p:nvPr/>
        </p:nvSpPr>
        <p:spPr>
          <a:xfrm>
            <a:off x="5943600" y="1828800"/>
            <a:ext cx="0" cy="274320"/>
          </a:xfrm>
          <a:prstGeom prst="line">
            <a:avLst/>
          </a:prstGeom>
          <a:noFill/>
          <a:ln w="12700">
            <a:solidFill>
              <a:srgbClr val="374151"/>
            </a:solidFill>
            <a:prstDash val="solid"/>
          </a:ln>
        </p:spPr>
      </p:sp>
      <p:sp>
        <p:nvSpPr>
          <p:cNvPr id="14" name="Shape 12"/>
          <p:cNvSpPr/>
          <p:nvPr/>
        </p:nvSpPr>
        <p:spPr>
          <a:xfrm>
            <a:off x="4846320" y="2103120"/>
            <a:ext cx="2194560" cy="640080"/>
          </a:xfrm>
          <a:prstGeom prst="roundRect">
            <a:avLst>
              <a:gd name="adj" fmla="val 11429"/>
            </a:avLst>
          </a:prstGeom>
          <a:solidFill>
            <a:srgbClr val="F3F4F6"/>
          </a:solidFill>
          <a:ln/>
        </p:spPr>
      </p:sp>
      <p:sp>
        <p:nvSpPr>
          <p:cNvPr id="15" name="Text 13"/>
          <p:cNvSpPr/>
          <p:nvPr/>
        </p:nvSpPr>
        <p:spPr>
          <a:xfrm>
            <a:off x="4846320" y="2103120"/>
            <a:ext cx="2194560" cy="640080"/>
          </a:xfrm>
          <a:prstGeom prst="rect">
            <a:avLst/>
          </a:prstGeom>
          <a:noFill/>
          <a:ln/>
        </p:spPr>
        <p:txBody>
          <a:bodyPr wrap="square" rtlCol="0" anchor="ctr"/>
          <a:lstStyle/>
          <a:p>
            <a:pPr algn="ctr" indent="0" marL="0">
              <a:buNone/>
            </a:pPr>
            <a:r>
              <a:rPr lang="en-US" sz="1200" dirty="0">
                <a:solidFill>
                  <a:srgbClr val="B91C1C"/>
                </a:solidFill>
                <a:latin typeface="Microsoft YaHei" pitchFamily="34" charset="0"/>
                <a:ea typeface="Microsoft YaHei" pitchFamily="34" charset="-122"/>
                <a:cs typeface="Microsoft YaHei" pitchFamily="34" charset="-120"/>
              </a:rPr>
              <a:t>初稿常见问题</a:t>
            </a:r>
            <a:endParaRPr lang="en-US" sz="1200" dirty="0"/>
          </a:p>
        </p:txBody>
      </p:sp>
      <p:sp>
        <p:nvSpPr>
          <p:cNvPr id="16" name="Shape 14"/>
          <p:cNvSpPr/>
          <p:nvPr/>
        </p:nvSpPr>
        <p:spPr>
          <a:xfrm>
            <a:off x="8138160" y="1828800"/>
            <a:ext cx="0" cy="274320"/>
          </a:xfrm>
          <a:prstGeom prst="line">
            <a:avLst/>
          </a:prstGeom>
          <a:noFill/>
          <a:ln w="12700">
            <a:solidFill>
              <a:srgbClr val="374151"/>
            </a:solidFill>
            <a:prstDash val="solid"/>
          </a:ln>
        </p:spPr>
      </p:sp>
      <p:sp>
        <p:nvSpPr>
          <p:cNvPr id="17" name="Shape 15"/>
          <p:cNvSpPr/>
          <p:nvPr/>
        </p:nvSpPr>
        <p:spPr>
          <a:xfrm>
            <a:off x="7040880" y="2103120"/>
            <a:ext cx="2194560" cy="640080"/>
          </a:xfrm>
          <a:prstGeom prst="roundRect">
            <a:avLst>
              <a:gd name="adj" fmla="val 11429"/>
            </a:avLst>
          </a:prstGeom>
          <a:solidFill>
            <a:srgbClr val="F3F4F6"/>
          </a:solidFill>
          <a:ln/>
        </p:spPr>
      </p:sp>
      <p:sp>
        <p:nvSpPr>
          <p:cNvPr id="18" name="Text 16"/>
          <p:cNvSpPr/>
          <p:nvPr/>
        </p:nvSpPr>
        <p:spPr>
          <a:xfrm>
            <a:off x="7040880" y="2103120"/>
            <a:ext cx="2194560" cy="640080"/>
          </a:xfrm>
          <a:prstGeom prst="rect">
            <a:avLst/>
          </a:prstGeom>
          <a:noFill/>
          <a:ln/>
        </p:spPr>
        <p:txBody>
          <a:bodyPr wrap="square" rtlCol="0" anchor="ctr"/>
          <a:lstStyle/>
          <a:p>
            <a:pPr algn="ctr" indent="0" marL="0">
              <a:buNone/>
            </a:pPr>
            <a:r>
              <a:rPr lang="en-US" sz="1200" dirty="0">
                <a:solidFill>
                  <a:srgbClr val="B91C1C"/>
                </a:solidFill>
                <a:latin typeface="Microsoft YaHei" pitchFamily="34" charset="0"/>
                <a:ea typeface="Microsoft YaHei" pitchFamily="34" charset="-122"/>
                <a:cs typeface="Microsoft YaHei" pitchFamily="34" charset="-120"/>
              </a:rPr>
              <a:t>知识库构建</a:t>
            </a:r>
            <a:endParaRPr lang="en-US" sz="1200" dirty="0"/>
          </a:p>
        </p:txBody>
      </p:sp>
      <p:sp>
        <p:nvSpPr>
          <p:cNvPr id="19" name="Shape 17"/>
          <p:cNvSpPr/>
          <p:nvPr/>
        </p:nvSpPr>
        <p:spPr>
          <a:xfrm>
            <a:off x="8503920" y="4663440"/>
            <a:ext cx="365760" cy="365760"/>
          </a:xfrm>
          <a:prstGeom prst="ellipse">
            <a:avLst/>
          </a:prstGeom>
          <a:solidFill>
            <a:srgbClr val="EF4444"/>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Part3 Preview</dc:title>
  <dc:subject>PptxGenJS Presentation</dc:subject>
  <dc:creator>降本增效基层实战营</dc:creator>
  <cp:lastModifiedBy>降本增效基层实战营</cp:lastModifiedBy>
  <cp:revision>1</cp:revision>
  <dcterms:created xsi:type="dcterms:W3CDTF">2026-05-19T04:55:21Z</dcterms:created>
  <dcterms:modified xsi:type="dcterms:W3CDTF">2026-05-19T04:55:21Z</dcterms:modified>
</cp:coreProperties>
</file>