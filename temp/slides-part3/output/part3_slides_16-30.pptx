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Role与背景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高净值客户服务话术设计师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我是招商证券的财富顾问，需要为以下服务场景生成一套专业的话术模板。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051560"/>
            <a:ext cx="457200" cy="457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场景描述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场景名称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94560" y="1005840"/>
            <a:ext cx="649224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0058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[填写你的场景定位表里的场景名称]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客户特征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1920240"/>
            <a:ext cx="649224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9202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资产量级、典型特征、关系阶段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触发情境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2834640"/>
            <a:ext cx="649224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28346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[描述什么事情触发了这次沟通，客户当前的情绪状态]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94560" y="3749040"/>
            <a:ext cx="649224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37490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[电话/面谈/微信]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沟通目标与阻力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这次沟通结束时，希望达到的效果：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6576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[具体描述]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客户常见阻力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365760" cy="36576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质疑你的专业判断："你当时说这个稳的"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560320"/>
            <a:ext cx="365760" cy="36576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560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要求立刻采取行动："我现在想全部赎回"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474720"/>
            <a:ext cx="365760" cy="36576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3474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沉默或冷淡应对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合规约束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94134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以下内容不能出现在话术里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3152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不承诺收益或保本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73152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不对比产品历史最高点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73152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不评价竞争对手的产品或服务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73152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不超越客户适当性评估结果的表述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经验素材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94134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把你访谈文字里，话术表达类和判断逻辑类的关键素材粘贴在这里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2377440"/>
            <a:ext cx="914400" cy="10972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23774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[粘贴访谈关键素材]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输出要求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0" cy="822960"/>
          </a:xfrm>
          <a:prstGeom prst="roundRect">
            <a:avLst>
              <a:gd name="adj" fmla="val 13333"/>
            </a:avLst>
          </a:prstGeom>
          <a:solidFill>
            <a:srgbClr val="C9413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开场话术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前3句话，情绪接住优先，体现主动性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48640" cy="822960"/>
          </a:xfrm>
          <a:prstGeom prst="roundRect">
            <a:avLst>
              <a:gd name="adj" fmla="val 13333"/>
            </a:avLst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标准流程话术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分步骤，每步含：步骤名称、目的、具体话术、判断节点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48640" cy="822960"/>
          </a:xfrm>
          <a:prstGeom prst="roundRect">
            <a:avLst>
              <a:gd name="adj" fmla="val 13333"/>
            </a:avLst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客户典型反应与应对变体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3种反应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8640" cy="822960"/>
          </a:xfrm>
          <a:prstGeom prst="roundRect">
            <a:avLst>
              <a:gd name="adj" fmla="val 13333"/>
            </a:avLst>
          </a:prstGeom>
          <a:solidFill>
            <a:srgbClr val="C9413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947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绝对雷区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2062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5-7条不能说的话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开场话术要求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情绪接住优先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先共情，后解释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体现主动性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"我今天正想联系您"而不是"您好"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开放式问题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让客户开口说话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标准流程话术格式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749040"/>
          </a:xfrm>
          <a:prstGeom prst="roundRect">
            <a:avLst>
              <a:gd name="adj" fmla="val 2439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步骤名称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09728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0972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[步骤名称]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201168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0116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（这一步的沟通目的是什么）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具体话术示例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292608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29260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（用引号标出实际可以说的话）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384048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38404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（什么信号表示这步完成了，可以进入下一步）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变体与雷区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客户典型反应与应对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客户说/做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应对思路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具体话术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36576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8600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[示例：客户表示不满]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[先认可情绪，再解释]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"我理解您的感受..."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C94134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绝对雷区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替代说法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103120"/>
            <a:ext cx="36576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28600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[示例：不能说"稳赚"]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[违规承诺]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"过往业绩不代表未来"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 · 使用提示词生成话术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320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C9413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320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把提示词模板复制到AI工具，填入你的具体信息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0" cy="365760"/>
          </a:xfrm>
          <a:prstGeom prst="line">
            <a:avLst/>
          </a:prstGeom>
          <a:noFill/>
          <a:ln w="25400">
            <a:solidFill>
              <a:srgbClr val="C9AD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运行，拿到AI生成的初稿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063240"/>
            <a:ext cx="0" cy="365760"/>
          </a:xfrm>
          <a:prstGeom prst="line">
            <a:avLst/>
          </a:prstGeom>
          <a:noFill/>
          <a:ln w="25400">
            <a:solidFill>
              <a:srgbClr val="C9AD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用验证清单逐项检查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话术初稿人工验证清单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开场话术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91440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实际打电话时能自然说出来吗（不像背稿）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41732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开场话术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57400" y="141732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体现了情绪接住吗（先共情，后解释）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92024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192024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每步的判断节点是否清晰可操作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42316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4231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242316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步骤顺序是否符合你实际的服务节奏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92608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话术表达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292608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是否符合招商证券的服务风格和用语习惯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42900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429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变体应对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57400" y="342900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3种客户反应是否覆盖了你实际遇到的主要情况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93192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931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雷区清单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57400" y="393192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是否包含了你在实战中知道不能说的话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4805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43484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434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合规检查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57400" y="443484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有没有任何内容可能违反合规要求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关于'不确定'的处理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C94134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C94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打一个问号标注，不要删掉，进入第四部分的交叉验证时，带着这个问题和有经验的同事确认。不要在不确定的时候自己拍板。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C9413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749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不要自己拍板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41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服务SOP的生成与优化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使用提示词生成SOP，人工验证和优化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什么是好的服务SOP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动词开头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说的是"做什么"，而不是"注意什么"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含判断节点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明确标出关键时刻，判断依据是什么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覆盖常见失误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告诉读者最容易犯什么错、为什么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SOP质量判断 · 场景判断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场景：高净值客户来电，情绪不稳定，顾问接到电话后的第一步处理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写法A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第一步：接电话。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注意态度要热情，要表现出关心客户...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0116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C94134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011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写法B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第一步：接住客户情绪。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做法：接通后说出主动关注客户账户的一句话...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20116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34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第一级难度 · 8分钟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招商证券高净值沟通教学 - Part 3 (Slides 16-30)</dc:title>
  <dc:subject>PptxGenJS Presentation</dc:subject>
  <dc:creator>PptxGenJS</dc:creator>
  <cp:lastModifiedBy>PptxGenJS</cp:lastModifiedBy>
  <cp:revision>1</cp:revision>
  <dcterms:created xsi:type="dcterms:W3CDTF">2026-05-14T03:55:21Z</dcterms:created>
  <dcterms:modified xsi:type="dcterms:W3CDTF">2026-05-14T03:55:21Z</dcterms:modified>
</cp:coreProperties>
</file>