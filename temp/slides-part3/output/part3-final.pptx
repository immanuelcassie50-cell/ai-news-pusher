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36576" cy="25603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AI辅助生成——话术与SOP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高净值客户服务经验萃取工作坊 · 第三部分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招商证券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C94134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80960" y="2194560"/>
            <a:ext cx="1097280" cy="1097280"/>
          </a:xfrm>
          <a:prstGeom prst="ellipse">
            <a:avLst/>
          </a:prstGeom>
          <a:solidFill>
            <a:srgbClr val="C9ADA7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本部分学习地图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AI生成的工作原理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194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理解AI在这里能做什么、不能做什么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834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服务话术模板的生成与优化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使用提示词生成话术，人工验证和优化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840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服务SOP的生成与优化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把经验固化成可执行的操作流程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3017520" y="914400"/>
            <a:ext cx="36576" cy="20116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0" y="1005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AI生成的工作原理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9184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理解AI在这里能做什么、不能做什么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0" y="3200400"/>
            <a:ext cx="2011680" cy="2011680"/>
          </a:xfrm>
          <a:prstGeom prst="ellipse">
            <a:avLst/>
          </a:prstGeom>
          <a:solidFill>
            <a:srgbClr val="C94134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3474720"/>
            <a:ext cx="1371600" cy="1371600"/>
          </a:xfrm>
          <a:prstGeom prst="ellipse">
            <a:avLst/>
          </a:prstGeom>
          <a:solidFill>
            <a:srgbClr val="C9ADA7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章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AI在这个环节能做什么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快速结构化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把散乱的访谈素材，转化成话术、SOP、案例框架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基于场景生成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根据你提供的场景信息生成初稿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84048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输出多个变体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同时输出多种方案供选择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流程转化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48640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把文字话术转化成带判断节点的操作流程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260604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48640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把原本需要3-4周的初稿工作，压缩到几个小时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371600" y="4297680"/>
            <a:ext cx="64008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Text 30"/>
          <p:cNvSpPr/>
          <p:nvPr/>
        </p:nvSpPr>
        <p:spPr>
          <a:xfrm>
            <a:off x="1645920" y="4370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0" y="4370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931920" y="4370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0" y="4370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17920" y="4370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AI在这个环节做不了什么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109728" cy="10972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1188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不能判断经验是否真实有效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16459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不了解你的具体客户和市场环境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109728" cy="10972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24231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不能确保合规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88036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涉及产品表述、收益描述、适当性的内容，必须经过顾问和合规部门审核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20440"/>
            <a:ext cx="109728" cy="10972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36576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不能代替你的判断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41148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它是工具，不是决策者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核心使用原则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7680960" cy="1828800"/>
          </a:xfrm>
          <a:prstGeom prst="roundRect">
            <a:avLst>
              <a:gd name="adj" fmla="val 6000"/>
            </a:avLst>
          </a:prstGeom>
          <a:solidFill>
            <a:srgbClr val="C94134">
              <a:alpha val="8000"/>
            </a:srgbClr>
          </a:solidFill>
          <a:ln w="38100">
            <a:solidFill>
              <a:srgbClr val="C94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97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C94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AI生成的所有内容，都当做'待验证的草稿'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7680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290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不要因为看起来很整齐就直接使用，每一条话术、每一个步骤，都需要你用真实的服务经验来验证它是否准确可用。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0" y="4114800"/>
            <a:ext cx="914400" cy="914400"/>
          </a:xfrm>
          <a:prstGeom prst="ellipse">
            <a:avLst/>
          </a:prstGeom>
          <a:solidFill>
            <a:srgbClr val="C9ADA7">
              <a:alpha val="3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提示词的作用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你给AI的内容越具体，它生成的内容越贴合你的实际场景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3931920" cy="502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模糊指令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通用输出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691640"/>
            <a:ext cx="393192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详细指令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212080" y="301752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C94134">
              <a:alpha val="12000"/>
            </a:srgbClr>
          </a:solidFill>
          <a:ln w="12700">
            <a:solidFill>
              <a:srgbClr val="C941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017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贴合实际的初稿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3776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客户特征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触发情境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672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合规边界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928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关键经验素材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3017520" y="914400"/>
            <a:ext cx="36576" cy="20116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0" y="1005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服务话术模板的生成与优化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9184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使用提示词生成话术，人工验证和优化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0" y="3200400"/>
            <a:ext cx="2011680" cy="2011680"/>
          </a:xfrm>
          <a:prstGeom prst="ellipse">
            <a:avLst/>
          </a:prstGeom>
          <a:solidFill>
            <a:srgbClr val="C94134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3474720"/>
            <a:ext cx="1371600" cy="1371600"/>
          </a:xfrm>
          <a:prstGeom prst="ellipse">
            <a:avLst/>
          </a:prstGeom>
          <a:solidFill>
            <a:srgbClr val="C9ADA7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章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什么是好的服务话术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137160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场景触发明确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读者一看就知道这套话术用在什么情况下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137160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2900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表达自然流畅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429000" y="3017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读起来像真人在说话，而不是念稿子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097280"/>
            <a:ext cx="2651760" cy="73152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6600" y="137160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6364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覆盖变体和雷区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63640" y="3017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包括客户可能的典型反应和应对方式，以及明确的'绝对不能说'清单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话术和脚本的区别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C94134">
              <a:alpha val="8000"/>
            </a:srgbClr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515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脚本是让你逐字背的，话术是让你理解逻辑、用自己的语言表达的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好的话术模板，核心价值是帮你理解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"这一步的目的是什么、要避开什么"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而不是给你一个固定的台词。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42062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4206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 - 逐字背诵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42062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4206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 - 理解逻辑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话术质量判断 · 认知自测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场景：市场单日大跌超3%，持仓有亏损的高净值客户主动打来电话，语气有些激动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011680"/>
            <a:ext cx="640080" cy="64008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王总您好，今天市场确实比较大的调整，但这是正常的市场波动...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011680"/>
            <a:ext cx="640080" cy="64008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王总您好，今天市场很不好，我也一直关注着您的账户情况...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2011680"/>
            <a:ext cx="640080" cy="64008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6364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王总您好，我今天正想联系您。看到今天的行情...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第一级难度 · 8分钟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话术版本深度解析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C9413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版本C最佳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91440" cy="77724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16916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「我今天正想联系您」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68880"/>
            <a:ext cx="91440" cy="77724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8016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情绪接住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2606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「这种感受完全理解」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83280"/>
            <a:ext cx="91440" cy="77724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20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8016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让客户先说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43200" y="3520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「您能跟我说说您最主要的顾虑是什么吗」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最差：版本A - 第一句话就开始上课，客户还没感觉到被接住，就开始听讲课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三版话术对比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0515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95160" y="10515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C94134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情绪接住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97480" y="1691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46320" y="1691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95160" y="1691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C94134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主动性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97480" y="251460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846320" y="251460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995160" y="251460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C94134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" y="3337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让客户先说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697480" y="33375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846320" y="33375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995160" y="33375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C94134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31520" y="4160520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C94134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结论：版本C明显最好——三层信息同时到位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共情和懂得的区别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2286000" cy="2286000"/>
          </a:xfrm>
          <a:prstGeom prst="ellipse">
            <a:avLst/>
          </a:prstGeom>
          <a:solidFill>
            <a:srgbClr val="C9ADA7">
              <a:alpha val="40000"/>
            </a:srgbClr>
          </a:solidFill>
          <a:ln w="25400">
            <a:solidFill>
              <a:srgbClr val="C9AD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往上看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2286000" cy="2286000"/>
          </a:xfrm>
          <a:prstGeom prst="ellipse">
            <a:avLst/>
          </a:prstGeom>
          <a:solidFill>
            <a:srgbClr val="C94134">
              <a:alpha val="20000"/>
            </a:srgbClr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懂得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C94134">
              <a:alpha val="8000"/>
            </a:srgbClr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客户不需要被同情，他需要被懂得。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「您不用太担心」这句话，是在替客户决定他该有什么情绪——这件事，只有他自己能决定。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完整的话术生成提示词模板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把以下模板复制到AI工具里，将括号里的内容替换成你的实际信息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82496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627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Role设定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你是一位[身份]，服务[客户类型]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4323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背景信息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场景：[场景描述]，客户：[客户特征]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6382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2369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场景描述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529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触发情境：[具体情境]，沟通目标：[目标]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68496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096512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041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沟通目标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334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主要：[目标]，底线：[底线]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55448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682496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1627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客户常见阻力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1208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[阻力1]、[阻力2]、[阻力3]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35915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487168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12080" y="24323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合规约束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1208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[必须遵守的合规要求]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316382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29184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12080" y="32369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关键经验素材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12080" y="3529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[你的实际服务经验或案例]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3968496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4096512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12080" y="4041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输出要求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212080" y="4334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格式：[话术/流程]，数量：[N个版本]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80060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C94134">
              <a:alpha val="1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提示：信息越具体，生成的初稿越贴合你的实际场景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Role与背景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高净值客户服务话术设计师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我是招商证券的财富顾问，需要为以下服务场景生成一套专业的话术模板。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051560"/>
            <a:ext cx="457200" cy="4572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场景描述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场景名称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94560" y="1005840"/>
            <a:ext cx="649224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0058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[填写你的场景定位表里的场景名称]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客户特征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94560" y="1920240"/>
            <a:ext cx="649224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9202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资产量级、典型特征、关系阶段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触发情境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94560" y="2834640"/>
            <a:ext cx="649224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28346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[描述什么事情触发了这次沟通，客户当前的情绪状态]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沟通方式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94560" y="3749040"/>
            <a:ext cx="649224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37490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[电话/面谈/微信]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沟通目标与阻力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这次沟通结束时，希望达到的效果：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6576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[具体描述]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客户常见阻力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46320" y="1645920"/>
            <a:ext cx="365760" cy="36576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质疑你的专业判断："你当时说这个稳的"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560320"/>
            <a:ext cx="365760" cy="36576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25603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要求立刻采取行动："我现在想全部赎回"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3474720"/>
            <a:ext cx="365760" cy="36576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3474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沉默或冷淡应对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合规约束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94134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以下内容不能出现在话术里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73152" cy="45720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不承诺收益或保本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73152" cy="45720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032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不对比产品历史最高点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73152" cy="45720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不评价竞争对手的产品或服务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73152" cy="45720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不超越客户适当性评估结果的表述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经验素材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94134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把你访谈文字里，话术表达类和判断逻辑类的关键素材粘贴在这里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2377440"/>
            <a:ext cx="914400" cy="10972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237744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[粘贴访谈关键素材]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输出要求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0" cy="822960"/>
          </a:xfrm>
          <a:prstGeom prst="roundRect">
            <a:avLst>
              <a:gd name="adj" fmla="val 13333"/>
            </a:avLst>
          </a:prstGeom>
          <a:solidFill>
            <a:srgbClr val="C9413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开场话术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前3句话，情绪接住优先，体现主动性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48640" cy="822960"/>
          </a:xfrm>
          <a:prstGeom prst="roundRect">
            <a:avLst>
              <a:gd name="adj" fmla="val 13333"/>
            </a:avLst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标准流程话术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分步骤，每步含：步骤名称、目的、具体话术、判断节点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548640" cy="822960"/>
          </a:xfrm>
          <a:prstGeom prst="roundRect">
            <a:avLst>
              <a:gd name="adj" fmla="val 13333"/>
            </a:avLst>
          </a:prstGeom>
          <a:solidFill>
            <a:srgbClr val="C9413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客户典型反应与应对变体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2461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3种反应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48640" cy="822960"/>
          </a:xfrm>
          <a:prstGeom prst="roundRect">
            <a:avLst>
              <a:gd name="adj" fmla="val 13333"/>
            </a:avLst>
          </a:prstGeom>
          <a:solidFill>
            <a:srgbClr val="C9413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947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绝对雷区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2062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5-7条不能说的话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开场话术要求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28016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情绪接住优先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先共情，后解释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28016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体现主动性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"我今天正想联系您"而不是"您好"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128016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开放式问题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让客户开口说话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标准流程话术格式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749040"/>
          </a:xfrm>
          <a:prstGeom prst="roundRect">
            <a:avLst>
              <a:gd name="adj" fmla="val 2439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步骤名称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1097280"/>
            <a:ext cx="6217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0972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[步骤名称]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2011680"/>
            <a:ext cx="6217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0116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（这一步的沟通目的是什么）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具体话术示例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2926080"/>
            <a:ext cx="6217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29260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（用引号标出实际可以说的话）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3840480"/>
            <a:ext cx="6217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38404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（什么信号表示这步完成了，可以进入下一步）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变体与雷区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客户典型反应与应对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客户说/做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应对思路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具体话术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36576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8600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[示例：客户表示不满]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[先认可情绪，再解释]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"我理解您的感受..."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C94134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绝对雷区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替代说法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103120"/>
            <a:ext cx="36576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28600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[示例：不能说"稳赚"]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[违规承诺]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"过往业绩不代表未来"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实操产出 · 使用提示词生成话术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32004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C9413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320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把提示词模板复制到AI工具，填入你的具体信息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0" cy="365760"/>
          </a:xfrm>
          <a:prstGeom prst="line">
            <a:avLst/>
          </a:prstGeom>
          <a:noFill/>
          <a:ln w="25400">
            <a:solidFill>
              <a:srgbClr val="C9AD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运行，拿到AI生成的初稿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063240"/>
            <a:ext cx="0" cy="365760"/>
          </a:xfrm>
          <a:prstGeom prst="line">
            <a:avLst/>
          </a:prstGeom>
          <a:noFill/>
          <a:ln w="25400">
            <a:solidFill>
              <a:srgbClr val="C9AD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7472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74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用验证清单逐项检查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话术初稿人工验证清单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144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开场话术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57400" y="91440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实际打电话时能自然说出来吗（不像背稿）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41732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4173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开场话术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57400" y="141732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体现了情绪接住吗（先共情，后解释）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92024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192024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每步的判断节点是否清晰可操作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242316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4231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57400" y="242316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步骤顺序是否符合你实际的服务节奏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292608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926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话术表达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57400" y="292608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是否符合招商证券的服务风格和用语习惯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342900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429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变体应对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57400" y="342900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3种客户反应是否覆盖了你实际遇到的主要情况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393192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931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雷区清单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57400" y="393192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是否包含了你在实战中知道不能说的话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4805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443484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C94134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434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合规检查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57400" y="4434840"/>
            <a:ext cx="6629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有没有任何内容可能违反合规要求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关于'不确定'的处理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C94134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C94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打一个问号标注，不要删掉，进入第四部分的交叉验证时，带着这个问题和有经验的同事确认。不要在不确定的时候自己拍板。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37490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C9413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3749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不要自己拍板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941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服务SOP的生成与优化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使用提示词生成SOP，人工验证和优化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什么是好的服务SOP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28016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动词开头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说的是"做什么"，而不是"注意什么"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28016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含判断节点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明确标出关键时刻，判断依据是什么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1280160"/>
            <a:ext cx="731520" cy="73152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覆盖常见失误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30175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告诉读者最容易犯什么错、为什么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SOP质量判断 · 场景判断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场景：高净值客户来电，情绪不稳定，顾问接到电话后的第一步处理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写法A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第一步：接电话。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注意态度要热情，要表现出关心客户...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201168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C94134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011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写法B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第一步：接住客户情绪。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做法：接通后说出主动关注客户账户的一句话...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3840" y="201168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34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第一级难度 · 8分钟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写法A vs 写法B 深度解析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写法B明显更好。好在三个地方：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6400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动词开头，行为清晰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54864" cy="6400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给了可执行的判断节点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54864" cy="6400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017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把"为什么不能这样做"说出来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97280"/>
            <a:ext cx="402336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写法A（问题版）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60020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注意事项：</a:t>
            </a:r>
            <a:pPr indent="0" marL="0">
              <a:buNone/>
            </a:pPr>
            <a:r>
              <a:rPr lang="en-US" sz="13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客户情绪激动时要冷静，不要急于解释，耐心倾听，了解客户诉求后再说。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6118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611880"/>
            <a:ext cx="4023360" cy="41148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6118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写法B（推荐版）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40690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第一步：接住客户情绪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做法：保持安静，用开放式问题邀请客户说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判断节点：客户语速放慢，从质问转向倾诉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3840480" cy="640080"/>
          </a:xfrm>
          <a:prstGeom prst="rect">
            <a:avLst/>
          </a:prstGeom>
          <a:solidFill>
            <a:srgbClr val="C9ADA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343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核心问题：把SOP写成了"注意事项"，而不是"操作步骤"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完整的SOP生成提示词模板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把以下模板复制到AI工具里，将括号里的内容替换成你的实际信息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SOP生成提示词模板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场景信息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场景名称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适用情境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服务方式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预计处理时长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经验素材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操作步骤和判断逻辑类素材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输出要求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5349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流程名称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5669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适用条件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5989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前置准备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6309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分步操作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6629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完成标志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6949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注意事项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场景信息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01168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场景名称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51760" y="12801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[填写场景定位表里的场景名称]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201168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适用情境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21945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[什么时候、面对什么状态的客户，使用这个流程]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201168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服务方式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31089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[电话 / 面谈 / 线上]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023360"/>
            <a:ext cx="201168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023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预计处理时长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51760" y="40233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[这个服务场景通常需要多长时间]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 · 经验素材与完成标志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经验素材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以下是从访谈中提炼的操作步骤和判断逻辑类素材，请基于这些素材生成SOP：
</a:t>
            </a:r>
            <a:pPr indent="0" marL="0">
              <a:buNone/>
            </a:pPr>
            <a:r>
              <a:rPr lang="en-US" sz="13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客户的典型诉求有哪些
</a:t>
            </a:r>
            <a:pPr indent="0" marL="0">
              <a:buNone/>
            </a:pPr>
            <a:r>
              <a:rPr lang="en-US" sz="13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处理这个场景的标准步骤
</a:t>
            </a:r>
            <a:pPr indent="0" marL="0">
              <a:buNone/>
            </a:pPr>
            <a:r>
              <a:rPr lang="en-US" sz="13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每一步的判断节点
</a:t>
            </a:r>
            <a:pPr indent="0" marL="0">
              <a:buNone/>
            </a:pPr>
            <a:r>
              <a:rPr lang="en-US" sz="13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容易犯什么错
</a:t>
            </a:r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遇到突发情况的处理方式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34440"/>
            <a:ext cx="3931920" cy="5029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34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服务完成的标志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描述：如何判断这个服务场景被成功处理了，客户的反应或行为是什么
</a:t>
            </a:r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
</a:t>
            </a:r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"客户表示理解，愿意继续持有或明确选择下一步操作，电话结束时语气平稳"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SOP输出要求（上）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流程名称（6-10字，以动词开头）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示例："接待市场波动客户来电流程"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6060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适用条件（2-3句，说清楚什么时候启动）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6576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前置准备（开始前需要确认或准备的事项）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148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示例："在接通电话前，快速查看客户最近3个月的沟通记录和当前持仓概况"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SOP输出要求（下）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分步操作格式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[步骤编号] [动词开头的步骤名称]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14884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具体可执行的动作描述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65176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什么信号说明这步完成，或出现什么情况需要暂停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常见失误：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315468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这步最容易犯什么错，为什么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39319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526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描述如何判断服务被成功处理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4069080"/>
            <a:ext cx="39319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注意事项（3-5条）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4526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关键提醒，含合规相关内容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SOP示例 · 接待市场大跌客户来电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流程名称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接待市场大跌时存量高净值客户来电流程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市场单日跌幅超2%，且客户持仓出现明显浮亏，客户主动来电，语气中有情绪波动的迹象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7863840" cy="1645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预览：四步完整流程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520440"/>
            <a:ext cx="320040" cy="32004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474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第一步：接住客户情绪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3520440"/>
            <a:ext cx="320040" cy="32004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3474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第二步：重建问题框架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520440"/>
            <a:ext cx="320040" cy="32004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74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第三步：提供有限可选路径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3520440"/>
            <a:ext cx="320040" cy="32004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3474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第四步：确认下一步行动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SOP示例 · 前置准备与第一步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371600" cy="10058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前置准备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18872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在接通电话前，快速查看客户最近3个月的沟通记录和当前持仓概况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第一步：接住客户情绪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主动关注 + 开放式问题邀请客户表达顾虑 + 保持安静不打断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客户语速放慢，语气从质问转向倾诉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常见失误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客户话还没说完就开始解释市场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SOP示例 · 第二步与第三步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第二步：重建问题框架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
</a:t>
            </a:r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概括客户核心顾虑，确认理解无误后，将话题从"今天涨跌了多少"转移到"我们当时讨论的配置逻辑是什么"
</a:t>
            </a:r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判断节点：
</a:t>
            </a:r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客户确认你的理解是对的，并且愿意听你继续说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第三步：提供有限可选路径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
</a:t>
            </a:r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提供2-3个明确的行动选项，每个选项说清楚前提和后果，让客户自己做选择
</a:t>
            </a:r>
            <a:pPr indent="0" marL="0">
              <a:buNone/>
            </a:pPr>
            <a:r>
              <a:rPr lang="en-US" sz="13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判断节点：
</a:t>
            </a:r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客户表示需要时间考虑，或明确选择了某个方向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SOP示例 · 第四步与完成标志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第四步：确认下一步行动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
</a:t>
            </a:r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确认一件具体的事（约好下次沟通时间，或约好面谈），不要让电话在模糊的"我再想想"里结束
</a:t>
            </a:r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判断节点：
</a:t>
            </a:r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客户明确说了下次时间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电话结束时客户语气平稳，且约好了一件具体的后续事项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通话注意事项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不承诺收益走势或账户回本的时间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标准回应："市场走势我无法预判，但我可以帮您分析当前配置的逻辑是否依然适合您的情况"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5603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如果客户明确要求赎回，不要立刻反对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先了解背后的原因（需要流动性/对市场失去信心/对我失去信任——三种情况处理方式完全不同）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7947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通话结束后24小时内，发一条简短的服务跟进消息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实操产出 · 使用提示词生成SOP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498080" y="41148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C94134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4114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697480" cy="5486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63040" y="2103120"/>
            <a:ext cx="640080" cy="64008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复制提示词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把SOP提示词模板复制到AI工具，填入你的具体信息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2834640"/>
            <a:ext cx="182880" cy="457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3716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371600"/>
            <a:ext cx="2697480" cy="5486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3716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43400" y="2103120"/>
            <a:ext cx="640080" cy="64008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7472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运行生成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3429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运行，拿到AI生成的初稿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2834640"/>
            <a:ext cx="182880" cy="457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13716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371600"/>
            <a:ext cx="2697480" cy="5486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3716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第3步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23760" y="2103120"/>
            <a:ext cx="640080" cy="64008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35508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人工验证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3429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用下方验证清单逐项检查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SOP初稿人工验证清单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62456"/>
            <a:ext cx="274320" cy="27432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3444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每步是否以动词开头，说的是具体做什么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984248"/>
            <a:ext cx="274320" cy="27432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56232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每步的判断节点是否清晰（知道什么时候进下一步）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78024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06040"/>
            <a:ext cx="274320" cy="27432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478024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步骤顺序是否和你实际的服务节奏一致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27832"/>
            <a:ext cx="274320" cy="27432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099816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每步的常见失误描述是否和你实际观察到的一致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21608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49624"/>
            <a:ext cx="274320" cy="27432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721608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整个SOP拿给一个新同事，他能照着执行吗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471416"/>
            <a:ext cx="274320" cy="27432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34340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注意事项里是否包含了必要的合规提醒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关于步骤颗粒度的判断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如果一个步骤的"做法"部分超过了5句话，考虑把它拆成两步。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如果一个步骤描述得很短但你实际上需要做很多不同的判断，考虑把它展开。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06040"/>
            <a:ext cx="73152" cy="82296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SOP step: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"一个步骤，一件事，一个判断"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657600"/>
            <a:ext cx="393192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步骤做法 &gt; 5句话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拆成两步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657600"/>
            <a:ext cx="393192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短但多判断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114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展开描述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本部分知识框架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AI辅助生成话术与SOP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697480" cy="5029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AI的正确角色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效率整理，快速生成初稿，输出变体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不能做：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判断准确性，确保合规，替代经验验证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服务话术模板的生成要点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场景明确 + 表达自然 + 覆盖变体和雷区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926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提示词核心：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2461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场景背景 + 合规约束 + 你的经验素材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840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验证重点：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4160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能不能自然说出来 + 合规检查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41732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417320"/>
            <a:ext cx="2697480" cy="502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4173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服务SOP的生成要点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动词开头 + 判断节点清晰 + 覆盖常见失误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926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提示词核心：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2461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步骤素材 + 判断逻辑 + 完成标志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840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验证重点：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4160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步骤顺序是否符合实际 + 新人能否照着执行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进入第四部分前确认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move on to Part 4: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话术模板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28600" cy="22860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话术模板初稿已经生成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28600" cy="22860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完成了第一轮验证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228600" cy="22860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需要修改的地方已经标注出来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37760" y="2011680"/>
            <a:ext cx="228600" cy="228600"/>
          </a:xfrm>
          <a:prstGeom prst="rect">
            <a:avLst/>
          </a:prstGeom>
          <a:solidFill>
            <a:srgbClr val="FAFAFA"/>
          </a:solidFill>
          <a:ln w="19050">
            <a:solidFill>
              <a:srgbClr val="222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SOP初稿已经生成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2651760"/>
            <a:ext cx="228600" cy="228600"/>
          </a:xfrm>
          <a:prstGeom prst="rect">
            <a:avLst/>
          </a:prstGeom>
          <a:solidFill>
            <a:srgbClr val="FAFAFA"/>
          </a:solidFill>
          <a:ln w="19050">
            <a:solidFill>
              <a:srgbClr val="222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完成了第一轮验证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进入第四部分后，会有交叉验证环节帮你进一步打磨这两份工具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本部分核心收获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9446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944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AI是"高效整理员"——负责效率，你负责准确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0886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088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好的话术 = 场景触发明确 + 表达自然 + 覆盖变体和雷区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2326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232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0632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好的SOP = 动词开头 + 判断节点 + 覆盖常见失误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13766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37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9776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所有AI生成内容 = 待验证的草稿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进入第四部分：案例表单验证与落地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8288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94560"/>
            <a:ext cx="80467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77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在那里，你将：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228600" cy="2286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926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与有经验的同事交叉验证你的话术和SOP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228600" cy="2286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4290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用案例检验工具的实战效果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023360"/>
            <a:ext cx="228600" cy="2286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931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完善并定稿你的服务工具包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第三部分学习地图回顾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AI生成的工作原理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14173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理解AI在这里能做什么、不能做什么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" y="2011680"/>
            <a:ext cx="36576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服务话术模板的生成与优化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77440" y="26060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服务话术模板初稿（经验证）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" y="3200400"/>
            <a:ext cx="36576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794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0690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服务SOP的生成与优化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377440" y="37947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服务SOP初稿（经验证）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AI辅助生成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——话术与SOP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17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学习完成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招商证券 · 高净值客户服务经验萃取工作坊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AI辅助生成——话术与SOP</dc:title>
  <dc:subject>PptxGenJS Presentation</dc:subject>
  <dc:creator>招商证券</dc:creator>
  <cp:lastModifiedBy>招商证券</cp:lastModifiedBy>
  <cp:revision>1</cp:revision>
  <dcterms:created xsi:type="dcterms:W3CDTF">2026-05-14T03:56:50Z</dcterms:created>
  <dcterms:modified xsi:type="dcterms:W3CDTF">2026-05-14T03:56:50Z</dcterms:modified>
</cp:coreProperties>
</file>