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109728" cy="51435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0"/>
            <a:ext cx="3730752" cy="51435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跨境生活法律指南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留学、移民与跨境资产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3716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从国内思维到全球视野的法律必修课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731520"/>
            <a:ext cx="1371600" cy="1371600"/>
          </a:xfrm>
          <a:prstGeom prst="ellipse">
            <a:avLst/>
          </a:prstGeom>
          <a:solidFill>
            <a:srgbClr val="9A8C98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1463040"/>
            <a:ext cx="731520" cy="731520"/>
          </a:xfrm>
          <a:prstGeom prst="ellipse">
            <a:avLst/>
          </a:prstGeom>
          <a:solidFill>
            <a:srgbClr val="22223B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法律知识课程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这门课解决什么问题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97280"/>
            <a:ext cx="2651760" cy="109728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463040"/>
            <a:ext cx="731520" cy="7315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留学纠纷求助无门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在异国他乡遭遇房东扣押金、合同陷阱，却不知道该找谁帮忙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0972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097280"/>
            <a:ext cx="2651760" cy="109728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463040"/>
            <a:ext cx="731520" cy="7315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1188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移民身份税务陷阱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移民后才发现税务居民身份认定复杂，CRS合规让人头疼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10972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097280"/>
            <a:ext cx="2651760" cy="109728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1463040"/>
            <a:ext cx="731520" cy="7315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跨境资产合规风险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海外账户、资产转移、反洗钱法规，一不小心就踩红线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10972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731520" cy="25603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417320" y="1645920"/>
            <a:ext cx="137160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4个场景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留学法律应急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租房纠纷 | 签证身份 | 校园安全 | 打工合规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3716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371600"/>
            <a:ext cx="731520" cy="25603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389120" y="1645920"/>
            <a:ext cx="137160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4个场景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移民身份与税务规划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4340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签证类型 | 税务居民 | CRS合规 | 资产配置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13716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1371600"/>
            <a:ext cx="731520" cy="25603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360920" y="1645920"/>
            <a:ext cx="137160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4个场景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跨境资产合规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海外账户 | 资金流动 | 反洗钱 | 遗产规划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学完这门课你能做到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识别留学/移民/跨境资产的法律风险点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645920"/>
            <a:ext cx="3657600" cy="13716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56232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8105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掌握境内外求助渠道和应急流程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2359152"/>
            <a:ext cx="3657600" cy="13716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69464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9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5237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理解CRS和税务居民身份的核心逻辑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3072384"/>
            <a:ext cx="3657600" cy="13716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14300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1097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独立完成主要合规自查表的填写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49240" y="1645920"/>
            <a:ext cx="3657600" cy="13716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856232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8105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为家庭跨境生活制定行动规划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49240" y="2359152"/>
            <a:ext cx="3657600" cy="13716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留学法律应急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在异国他乡，你不是一个人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82880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4A4E69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9A8C98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各国租客权利对比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1051560"/>
            <a:ext cx="164592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051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押金限制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146304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051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提前通知期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8288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核心权利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051560"/>
            <a:ext cx="164592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051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纠纷解决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1097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54480" y="169164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1-3个月租金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69164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6916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30天书面通知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承租人优先购买权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69164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协商/诉讼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109728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31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54480" y="2331720"/>
            <a:ext cx="164592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1-2个月租金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331720"/>
            <a:ext cx="146304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30/60天通知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331720"/>
            <a:ext cx="18288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331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安静享用权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2331720"/>
            <a:ext cx="164592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小额诉讼法庭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971800"/>
            <a:ext cx="1097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971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554480" y="297180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54480" y="2971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5周租金上限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297180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2971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2个月书面通知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297180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房屋适居性保证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297180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2971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仲裁/法院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611880"/>
            <a:ext cx="109728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11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554480" y="3611880"/>
            <a:ext cx="164592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54480" y="3611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4周租金上限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3611880"/>
            <a:ext cx="146304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3611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30/90天通知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3611880"/>
            <a:ext cx="18288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611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隐私权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92240" y="3611880"/>
            <a:ext cx="164592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3611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仲裁庭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4008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关键差异：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37360" y="4114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英美国家押金有法定上限且必须存入政府监管账户；中国目前尚无统一押金上限规定。澳大利亚对租客隐私保护最为严格，未经允许房东不得随意进入。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租房合同自检表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1371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37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确认房东身份与房产证明一致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06070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53312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53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租金金额、支付方式、支付日期明确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40817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700784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700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押金金额不超过法定上限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1755648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048256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048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0482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押金退还条件和时间节点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2103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95728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395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提前解约的违约金条款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2450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005840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005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005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维修责任归属（日常维修 vs 大修）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95360" y="106070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353312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353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1353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转租或续租条款是否合理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95360" y="140817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700784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1700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1700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屋内设施清单及状态记录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95360" y="1755648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048256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048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2048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能否养宠物及相关规定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95360" y="2103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395728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2395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2395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争议解决方式和适用法律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595360" y="2450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008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使用提示：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55448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签约前逐项核对，有疑问务必书面确认。保留合同副本及所有沟通记录。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0" name="Shape 4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租房合同扫描练习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1371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37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实践练习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97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租赁合同（节选）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第三条 租金及支付方式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租金为每月人民币伍仟元整（¥5,000），押二付三。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租金应于每季度首月5日前支付至甲方指定账户。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第五条 押金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乙方需支付押金人民币壹万元整（¥10,000）。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合同到期且房屋验收合格后无息退还。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第八条 提前解约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任何一方提前解约，需提前60日书面通知对方，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并支付一个月租金作为违约金。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2926080" cy="30175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Q1: 押金是否合规？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2个月≈合理，但需确认当地上限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Q2: 支付周期是否常见？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押二付三在市场较普遍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Q3: 提前解约条款？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60天通知较长，可协商缩短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Q4: 违约金是否过高？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1个月租金属合理范围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练习任务：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使用上一页的自检表，扫描这份合同，并用红笔标出需要关注的风险点。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签证身份：留学生的命脉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1371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37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案例回顾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王某，25岁，留美研究生（F-1签证）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2019年秋季学期开始后，王某因经济压力在校园外的中餐厅从事送餐工作，每周约15小时。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2021年3月，学校国际学生办公室例行检查时发现其工作情况。经核实，王某每周打工时长累计超过20小时（持F-1签证每周打工上限为20小时）。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2021年5月，美国国土安全部（DHS）以"违反非移民签证工作限制"为由，启动遣返程序。王某的学生签证被取消，学业被迫中断。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1005840"/>
            <a:ext cx="3657600" cy="301752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1600200"/>
            <a:ext cx="73152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600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违规行为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856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持F-1签证在校外打工，且超过每周20小时上限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313432"/>
            <a:ext cx="73152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313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法律后果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5694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签证被取消，进入遣返程序，5年内禁止入境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3026664"/>
            <a:ext cx="73152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3026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深层原因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2826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对签证条款了解不足，轻信雇主"不查"的承诺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3739896"/>
            <a:ext cx="73152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739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教训警示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995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签证身份是留学生在海外合法停留的根本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97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37360" y="42976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签证身份一旦出问题，学业、生活、甚至未来入境都会受到严重影响。了解签证限制是留学生的必修课。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主要留学国家签证类型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9144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164592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51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签证类型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051560"/>
            <a:ext cx="13716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校内打工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051560"/>
            <a:ext cx="13716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校外打工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051560"/>
            <a:ext cx="237744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051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毕业后停留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914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91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169164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F-1（学生签）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169164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每周≤20小时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169164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需CPT/OPT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169164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毕业后可申请OPT（12个月）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9144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31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2331720"/>
            <a:ext cx="164592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Student Visa（学生签）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2331720"/>
            <a:ext cx="13716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331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学期内无限时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0" y="2331720"/>
            <a:ext cx="13716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2331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每周≤20小时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2331720"/>
            <a:ext cx="237744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毕业后可申请Graduate Route（2年）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971800"/>
            <a:ext cx="914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971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71600" y="297180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2971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500签证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17520" y="297180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2971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每两周≤48小时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297180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2971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同左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60720" y="297180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971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毕业后可申请485签证（2-4年）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611880"/>
            <a:ext cx="9144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11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0" y="3611880"/>
            <a:ext cx="164592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3611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 Permit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17520" y="3611880"/>
            <a:ext cx="13716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6118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每周≤20小时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89120" y="3611880"/>
            <a:ext cx="13716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36118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每周≤20小时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60720" y="3611880"/>
            <a:ext cx="237744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3611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毕业后可申请PGWP（8个月-3年）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4008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注意事项：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37360" y="4114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各国签证政策时有调整，以上信息仅供参考。具体申请时请务必查阅官方最新规定或咨询专业移民律师。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签证五大红线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1371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37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务必避免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20040" cy="50292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红线一：超时打工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持学生签证在校外打工超过法定时限，屡次违规将导致签证被取消并遣返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320040" cy="50292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0992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红线二：非法工作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未取得工作许可前不得从事任何有偿工作，包括自由职业和无偿实习（除非法律允许）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320040" cy="50292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68296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红线三：失联失踪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596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离开居住地或换校未及时通知移民局，超过居留期限未更新身份信息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20040" cy="50292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51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红线四：违法犯罪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任何刑事犯罪记录，即使是轻罪（如酒驾、商店盗窃）也可能导致签证被撤销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64208"/>
            <a:ext cx="320040" cy="50292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70992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1208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红线五：材料造假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1938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提供虚假文件、篡改成绩单、伪造资金证明等，一经发现永久拒签并可能影响未来入境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切记：签证身份是留学合法性的基础，一旦失去极难挽回。遇到问题第一时间咨询学校国际学生办公室或专业律师。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签证状态自检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78992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I-20/COE表格是否有效且未过期？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0058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4023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182880" cy="18288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89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SEVIS费用是否按时缴纳？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3898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4023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847088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7739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当前学期学分是否满足全日制要求？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7739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57984"/>
            <a:ext cx="4023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231136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1579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是否有校外打工的合法授权（CPT/OPT）？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21579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023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78992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005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护照有效期是否超过6个月？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10058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389888"/>
            <a:ext cx="4023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46304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389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居住地址是否在30天内更新至学校？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13898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已更新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773936"/>
            <a:ext cx="4023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847088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7739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是否有任何违反校规的行为记录？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17739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157984"/>
            <a:ext cx="4023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231136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1579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保险是否按时续费且覆盖当前学期？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21579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2788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图例：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234440" y="288036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9" name="Text 37"/>
          <p:cNvSpPr/>
          <p:nvPr/>
        </p:nvSpPr>
        <p:spPr>
          <a:xfrm>
            <a:off x="141732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0" y="2880360"/>
            <a:ext cx="137160" cy="13716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41" name="Text 39"/>
          <p:cNvSpPr/>
          <p:nvPr/>
        </p:nvSpPr>
        <p:spPr>
          <a:xfrm>
            <a:off x="246888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需确认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建议：每月定期自检，发现问题立即联系学校国际学生办公室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297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自检频率：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737360" y="42976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每学期开学前、期末考试前、暑假前各进行一次全面自检，确保签证状态始终合规。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签证状态自检表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1371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37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 Name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78992"/>
            <a:ext cx="22860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护照号码 Passport No.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463040"/>
            <a:ext cx="22860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73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签证类型 Visa 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1847088"/>
            <a:ext cx="22860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签证有效期 Valid Until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2231136"/>
            <a:ext cx="22860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I-20/COE 号码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078992"/>
            <a:ext cx="22860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898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SEVIS 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22860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773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学校名称 School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847088"/>
            <a:ext cx="22860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紧急联系人 Emergency Contact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231136"/>
            <a:ext cx="22860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自检项目 Checklist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00837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I-20/COE有效且签名完整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6440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SEVIS费用已缴纳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护照有效期≥6个月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7647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739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当前学期学分为全日制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00837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居住地址已更新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26440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医疗保险有效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52044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未从事未授权工作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77647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739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无违法犯罪记录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206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本人确认以上信息真实准确，已了解签证相关法律法规，如有变更将及时更新。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签名：___________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校园安全：不可忽视的风险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1371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37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案例回顾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李某，22岁，中国留学生，英国某大学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2019年11月某晚，李某在校园图书馆自习结束后，步行返回宿舍途中，在校园偏僻角落遭遇袭击。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袭击者人数不详，李某背部被钝器击中，受伤倒地。路人发现后报警，李某被送往医院救治，头部伤口缝合12针。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校方事后发表声明，对事件表示遗憾，但强调"校园内犯罪非校方责任"。李某家长赴英处理善后，要求校方承担安全责任时，遭到校方拒绝。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1005840"/>
            <a:ext cx="3657600" cy="301752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1600200"/>
            <a:ext cx="73152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600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法律困境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856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英国法律中，校园安全的责任边界存在争议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313432"/>
            <a:ext cx="73152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313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校方立场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5694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认为犯罪行为系第三方所为，校方非直接加害人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3026664"/>
            <a:ext cx="73152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3026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受害者处境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2826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国际学生面临举证困难、诉讼成本高昂、语言障碍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3739896"/>
            <a:ext cx="73152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739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995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校方是否尽到了合理的安全保障义务？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97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37360" y="42976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校园安全事件中，责任认定涉及多方因素。了解校方法律责任边界，有助于在必要时依法维权。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校方的法律责任边界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场景一：校内交通事故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学生在校内被车辆撞伤，停车场管理不当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校方有责任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停车场属于校方管理区域，安全设施不完善导致事故，校方需承担管理责任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场景二：宿舍火灾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155448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学生宿舍因电路老化起火，学生受伤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242316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校方有责任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校方有义务定期检查宿舍设施，电路老化属于维护不当，校方需承担设施管理责任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场景三：校外被害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学生在校园外遭受犯罪袭击受伤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242316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校方可能无责任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若校方已尽到安全提醒义务且事件发生在校外非管理区域，责任认定较困难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关键原则：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37360" y="4251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校方对校园内区域承担管理责任，但对校外非管理区域及第三方犯罪行为责任有限。保留证据、及时报案、咨询律师是维权关键。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校园安全事件应对流程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28016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立即报警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09728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346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拨打当地紧急电话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保存报警记录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240280" y="109728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28016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3172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联系学校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14600" y="2697480"/>
            <a:ext cx="109728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28346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报告国际学生办公室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要求心理辅导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023360" y="109728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128016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11480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就医检查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2697480"/>
            <a:ext cx="109728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4160520" y="28346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前往医院取证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保存医疗记录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806440" y="109728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128016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89788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收集证据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80760" y="2697480"/>
            <a:ext cx="109728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28346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保存录音录像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记录证人信息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589520" y="109728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92440" y="128016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68096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寻求法律援助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863840" y="2697480"/>
            <a:ext cx="109728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7" name="Text 35"/>
          <p:cNvSpPr/>
          <p:nvPr/>
        </p:nvSpPr>
        <p:spPr>
          <a:xfrm>
            <a:off x="7726680" y="28346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联系当地律师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咨询中国领事馆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校园安全自检表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自检工具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109728" cy="16916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居住安全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入住前检查门锁、窗户是否完好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了解公寓紧急出口位置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保存好宿舍/公寓钥匙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109728" cy="16916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校园安全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38328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记录校园报警电话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了解校园护送服务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11480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加入同乡会或互助群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51560"/>
            <a:ext cx="109728" cy="16916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个人信息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155448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不向陌生人透露签证状态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92024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妥善保管护照、I-20等证件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228600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定期检查银行账户异常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880360"/>
            <a:ext cx="109728" cy="16916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应急准备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0" y="338328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保存中国领事馆联系方式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374904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了解当地报警电话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0" y="4114800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准备紧急联系人清单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各国打工规定对比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9144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13716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签证类型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051560"/>
            <a:ext cx="201168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允许工作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18288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离校/毕业后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051560"/>
            <a:ext cx="155448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051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主要要求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914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91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169164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F1学生签证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169164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691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校内工作每周≤20小时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CPT(在校)/OPT(毕业后)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691640"/>
            <a:ext cx="1554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691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需获校方批准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9144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31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2331720"/>
            <a:ext cx="13716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2331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4学生签证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2331720"/>
            <a:ext cx="201168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学期内每周≤20小时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331720"/>
            <a:ext cx="18288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331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毕业后2年PSW签证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331720"/>
            <a:ext cx="155448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331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不可从事永久工作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971800"/>
            <a:ext cx="914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971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71600" y="297180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2971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学生签证(500)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0" y="297180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2971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每两周≤48小时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97180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无限制(课程期间)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2971800"/>
            <a:ext cx="1554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971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须年满18周岁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611880"/>
            <a:ext cx="9144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11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0" y="3611880"/>
            <a:ext cx="13716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36118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学习许可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0" y="3611880"/>
            <a:ext cx="201168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3611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校内无限制/校外每周≤20小时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611880"/>
            <a:ext cx="18288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611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毕业后PGWP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83680" y="3611880"/>
            <a:ext cx="155448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3611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须全日制学生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40080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重要提示：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011680" y="40690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各国规定差异很大，且经常变动。打工前务必确认当前规定，最可靠的信息来源是学校国际学生办公室和移民局官网。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实习签证类型全解析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265176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Curricular Practical Training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课程实习训练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2103120" cy="3200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适用：在读学生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必须与课程相关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需学校批准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有时间限制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377440" cy="411480"/>
          </a:xfrm>
          <a:prstGeom prst="rect">
            <a:avLst/>
          </a:prstGeom>
          <a:solidFill>
            <a:srgbClr val="F2E9E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完成学位前使用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100584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0" y="1005840"/>
            <a:ext cx="265176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Practical Training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1188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选择性实习训练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0" y="2194560"/>
            <a:ext cx="2103120" cy="3200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适用：毕业生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与专业相关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12个月(STEM可延期)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毕业后可用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3840480"/>
            <a:ext cx="2377440" cy="411480"/>
          </a:xfrm>
          <a:prstGeom prst="rect">
            <a:avLst/>
          </a:prstGeom>
          <a:solidFill>
            <a:srgbClr val="F2E9E4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F1学生专属权利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46520" y="100584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1005840"/>
            <a:ext cx="265176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无薪实习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4652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 Internship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不支付工资的实习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20840" y="2194560"/>
            <a:ext cx="2103120" cy="3200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适用：所有学生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294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无需工作许可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294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但仍需合规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294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需确认公司资质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3840480"/>
            <a:ext cx="2377440" cy="411480"/>
          </a:xfrm>
          <a:prstGeom prst="rect">
            <a:avLst/>
          </a:prstGeom>
          <a:solidFill>
            <a:srgbClr val="F2E9E4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不等于可以打黑工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留学法律应急手册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256032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23444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证件丢失怎么办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立即报警并获取报警证明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联系中国驻当地使领馆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申请旅行证或补办护照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保存所有沟通记录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51560"/>
            <a:ext cx="256032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23444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遇到纠纷找谁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校园法律援助中心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当地华人律师协会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中国驻外使领馆领事保护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学生事务国际部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0515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051560"/>
            <a:ext cx="256032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0" y="123444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紧急情况热线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当地报警电话：记牢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医疗急救：了解当地号码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中国外交部全球热线：+86-10-12308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校方应急联系方式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使用提示：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37360" y="41605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出发前将使领馆联系方式备份至手机和纸质笔记本。遇到问题优先联系校方国际部，他们有处理类似事件的丰富经验。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境内外求助渠道一览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91440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228600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51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051560"/>
            <a:ext cx="201168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051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051560"/>
            <a:ext cx="301752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0515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服务内容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459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164592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645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国家移民管理局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164592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12367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1645920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645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出入境证件办理咨询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240280"/>
            <a:ext cx="9144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402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2240280"/>
            <a:ext cx="22860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22402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教育部留学服务中心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2240280"/>
            <a:ext cx="201168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240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010-62677800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2240280"/>
            <a:ext cx="30175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240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留学事务咨询与投诉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834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0" y="283464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中国驻外使领馆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28346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28346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+86-10-12308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2834640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28346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领事保护与紧急求助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429000"/>
            <a:ext cx="9144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4290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371600" y="3429000"/>
            <a:ext cx="22860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当地华人协会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0" y="3429000"/>
            <a:ext cx="201168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3429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视当地情况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0" y="3429000"/>
            <a:ext cx="30175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社群支持与本地指引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02336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0233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71600" y="402336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4023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校方国际学生办公室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0" y="40233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23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校内热线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0" y="4023360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4023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学业与生活问题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617720"/>
            <a:ext cx="9144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6177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371600" y="4617720"/>
            <a:ext cx="22860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0" y="4617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当地法律援助中心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0" y="4617720"/>
            <a:ext cx="201168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0" y="4617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视当地法律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69280" y="4617720"/>
            <a:ext cx="30175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46177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法律咨询与代理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40080" y="4526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重要提示：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737360" y="4526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12308是外交部全球领事保护与服务应急热线，24小时畅通。出发前务必将使领馆联系方式告知家人。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4" name="Shape 6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5" name="Text 6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4A4E6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657600"/>
            <a:ext cx="1828800" cy="1828800"/>
          </a:xfrm>
          <a:prstGeom prst="ellipse">
            <a:avLst/>
          </a:prstGeom>
          <a:solidFill>
            <a:srgbClr val="9A8C98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移民身份与税务规划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身份决定你的税务义务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8288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移民类型  |  税务居民  |  资产配置  |  合规申报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移民类型大盘点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65960" cy="5486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1965960" cy="137160"/>
          </a:xfrm>
          <a:prstGeom prst="roundRect">
            <a:avLst>
              <a:gd name="adj" fmla="val 53333"/>
            </a:avLst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投资移民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通过在目标国进行大额投资获取居留权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41732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购房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3444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国债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企业投资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6040" y="105156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1051560"/>
            <a:ext cx="1965960" cy="5486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9" name="Shape 17"/>
          <p:cNvSpPr/>
          <p:nvPr/>
        </p:nvSpPr>
        <p:spPr>
          <a:xfrm>
            <a:off x="2606040" y="1051560"/>
            <a:ext cx="1965960" cy="137160"/>
          </a:xfrm>
          <a:prstGeom prst="roundRect">
            <a:avLst>
              <a:gd name="adj" fmla="val 53333"/>
            </a:avLst>
          </a:prstGeom>
          <a:solidFill>
            <a:srgbClr val="4A4E69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69748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技术移民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9748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凭专业技能和工作经验申请居留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0360" y="2788920"/>
            <a:ext cx="141732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4" name="Shape 22"/>
          <p:cNvSpPr/>
          <p:nvPr/>
        </p:nvSpPr>
        <p:spPr>
          <a:xfrm>
            <a:off x="278892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25" name="Text 23"/>
          <p:cNvSpPr/>
          <p:nvPr/>
        </p:nvSpPr>
        <p:spPr>
          <a:xfrm>
            <a:off x="278892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8328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职业清单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7764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语言要求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105156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051560"/>
            <a:ext cx="1965960" cy="5486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1051560"/>
            <a:ext cx="1965960" cy="137160"/>
          </a:xfrm>
          <a:prstGeom prst="roundRect">
            <a:avLst>
              <a:gd name="adj" fmla="val 53333"/>
            </a:avLst>
          </a:prstGeom>
          <a:solidFill>
            <a:srgbClr val="9A8C98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84632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家庭团聚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已有移民身份的亲属担保申请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2788920"/>
            <a:ext cx="141732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7" name="Shape 35"/>
          <p:cNvSpPr/>
          <p:nvPr/>
        </p:nvSpPr>
        <p:spPr>
          <a:xfrm>
            <a:off x="493776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配偶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3212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父母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2648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子女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03720" y="105156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903720" y="1051560"/>
            <a:ext cx="1965960" cy="5486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45" name="Shape 43"/>
          <p:cNvSpPr/>
          <p:nvPr/>
        </p:nvSpPr>
        <p:spPr>
          <a:xfrm>
            <a:off x="6903720" y="1051560"/>
            <a:ext cx="1965960" cy="137160"/>
          </a:xfrm>
          <a:prstGeom prst="roundRect">
            <a:avLst>
              <a:gd name="adj" fmla="val 53333"/>
            </a:avLst>
          </a:prstGeom>
          <a:solidFill>
            <a:srgbClr val="22223B"/>
          </a:solidFill>
          <a:ln/>
        </p:spPr>
      </p:sp>
      <p:sp>
        <p:nvSpPr>
          <p:cNvPr id="46" name="Text 44"/>
          <p:cNvSpPr/>
          <p:nvPr/>
        </p:nvSpPr>
        <p:spPr>
          <a:xfrm>
            <a:off x="69951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99516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留学转移民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9516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完成学业后申请转为永久居民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78040" y="2788920"/>
            <a:ext cx="141732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50" name="Shape 48"/>
          <p:cNvSpPr/>
          <p:nvPr/>
        </p:nvSpPr>
        <p:spPr>
          <a:xfrm>
            <a:off x="708660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51" name="Text 49"/>
          <p:cNvSpPr/>
          <p:nvPr/>
        </p:nvSpPr>
        <p:spPr>
          <a:xfrm>
            <a:off x="708660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留学签证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68096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53" name="Text 51"/>
          <p:cNvSpPr/>
          <p:nvPr/>
        </p:nvSpPr>
        <p:spPr>
          <a:xfrm>
            <a:off x="768096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毕业工签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275320" y="297180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2E9E4"/>
          </a:solidFill>
          <a:ln/>
        </p:spPr>
      </p:sp>
      <p:sp>
        <p:nvSpPr>
          <p:cNvPr id="55" name="Text 53"/>
          <p:cNvSpPr/>
          <p:nvPr/>
        </p:nvSpPr>
        <p:spPr>
          <a:xfrm>
            <a:off x="827532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省提名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40080" y="4315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选哪种？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554480" y="43159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没有最好，只有最适合。投资移民门槛高但速度快，技术移民成本低但周期长，留学转移民适合年轻申请人。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0" name="Shape 5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1" name="Text 5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投资移民：门槛与权利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914400" cy="6858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914400" cy="6858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515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051560"/>
            <a:ext cx="1371600" cy="6858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051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051560"/>
            <a:ext cx="1463040" cy="6858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051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核心门槛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1051560"/>
            <a:ext cx="1645920" cy="6858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0515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获得权利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005840" cy="6858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05156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737360"/>
            <a:ext cx="914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373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1737360"/>
            <a:ext cx="914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7373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EB-5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173736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17373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80-105万美元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1737360"/>
            <a:ext cx="1463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737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创造10个就业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1737360"/>
            <a:ext cx="1645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373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绿卡+可入籍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737360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73736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91440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4231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2423160"/>
            <a:ext cx="91440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24231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SUV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0" y="2423160"/>
            <a:ext cx="137160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24231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20万加币起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2423160"/>
            <a:ext cx="146304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2423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获政府支持信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2423160"/>
            <a:ext cx="164592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24231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全家永居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2423160"/>
            <a:ext cx="100584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242316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12-18个月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108960"/>
            <a:ext cx="914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1089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葡萄牙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371600" y="3108960"/>
            <a:ext cx="914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0" y="31089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黄金签证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0" y="310896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0" y="3108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50万欧元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0" y="3108960"/>
            <a:ext cx="1463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31089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房产/基金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20640" y="3108960"/>
            <a:ext cx="1645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31089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居留+申根通行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3108960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310896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6-12个月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3794760"/>
            <a:ext cx="91440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7947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希腊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371600" y="3794760"/>
            <a:ext cx="91440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0" y="37947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购房移民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86000" y="3794760"/>
            <a:ext cx="137160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0" y="37947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25万欧元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0" y="3794760"/>
            <a:ext cx="146304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0" y="37947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房产所有权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120640" y="3794760"/>
            <a:ext cx="164592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37947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居留+希腊绿卡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766560" y="3794760"/>
            <a:ext cx="1005840" cy="68580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0" y="379476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3-6个月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57200" y="4206240"/>
            <a:ext cx="73152" cy="7772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6" name="Text 64"/>
          <p:cNvSpPr/>
          <p:nvPr/>
        </p:nvSpPr>
        <p:spPr>
          <a:xfrm>
            <a:off x="685800" y="4279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关键差异：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8580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美国EB-5需要证明资金合法来源且有排期风险；葡萄牙黄金签证政策已多次调整门槛；希腊是欧洲最便宜的购房移民选项，但权利范围相对有限。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9" name="Shape 6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70" name="Text 6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技术移民：评分与路径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评分因素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88720" cy="411480"/>
          </a:xfrm>
          <a:prstGeom prst="roundRect">
            <a:avLst>
              <a:gd name="adj" fmla="val 8889"/>
            </a:avLst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18-35岁最高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25分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188720" cy="411480"/>
          </a:xfrm>
          <a:prstGeom prst="roundRect">
            <a:avLst>
              <a:gd name="adj" fmla="val 8889"/>
            </a:avLst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博士/硕士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96596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30分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1188720" cy="411480"/>
          </a:xfrm>
          <a:prstGeom prst="roundRect">
            <a:avLst>
              <a:gd name="adj" fmla="val 8889"/>
            </a:avLst>
          </a:prstGeom>
          <a:solidFill>
            <a:srgbClr val="22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23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雅思7分以上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46888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188720" cy="411480"/>
          </a:xfrm>
          <a:prstGeom prst="roundRect">
            <a:avLst>
              <a:gd name="adj" fmla="val 8889"/>
            </a:avLst>
          </a:prstGeom>
          <a:solidFill>
            <a:srgbClr val="22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26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工作经验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3-5年最优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97180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25分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1188720" cy="411480"/>
          </a:xfrm>
          <a:prstGeom prst="roundRect">
            <a:avLst>
              <a:gd name="adj" fmla="val 8889"/>
            </a:avLst>
          </a:prstGeom>
          <a:solidFill>
            <a:srgbClr val="22223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配偶加分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学历/语言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47472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10分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0" y="1005840"/>
            <a:ext cx="27432" cy="32004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各国评分制度对比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114800" y="1417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1417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加拿大EE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67分入池，470+分获邀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每两周抽签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0" y="219456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65分通过，职业清单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189/190/491签证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297180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0" y="2971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新西兰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160分EOI入池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技术移民为主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C9ADA7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370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88720" y="43708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学历和语言成绩是硬指标，越早准备越好。加拿大EE系统每两周抽签，分数波动大，建议同步准备省提名通道作为保底。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移民类型决策矩阵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051560"/>
            <a:ext cx="9144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051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你有多少钱？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1508760"/>
            <a:ext cx="0" cy="274320"/>
          </a:xfrm>
          <a:prstGeom prst="line">
            <a:avLst/>
          </a:prstGeom>
          <a:noFill/>
          <a:ln w="25400">
            <a:solidFill>
              <a:srgbClr val="4A4E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82880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&lt;50万人民币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182880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&gt;100万人民币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828800"/>
            <a:ext cx="2194560" cy="0"/>
          </a:xfrm>
          <a:prstGeom prst="line">
            <a:avLst/>
          </a:prstGeom>
          <a:noFill/>
          <a:ln w="25400">
            <a:solidFill>
              <a:srgbClr val="4A4E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83080"/>
            <a:ext cx="1188720" cy="0"/>
          </a:xfrm>
          <a:prstGeom prst="line">
            <a:avLst/>
          </a:prstGeom>
          <a:noFill/>
          <a:ln w="25400">
            <a:solidFill>
              <a:srgbClr val="4A4E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828800"/>
            <a:ext cx="0" cy="228600"/>
          </a:xfrm>
          <a:prstGeom prst="line">
            <a:avLst/>
          </a:prstGeom>
          <a:noFill/>
          <a:ln w="25400">
            <a:solidFill>
              <a:srgbClr val="4A4E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240280"/>
            <a:ext cx="0" cy="137160"/>
          </a:xfrm>
          <a:prstGeom prst="line">
            <a:avLst/>
          </a:prstGeom>
          <a:noFill/>
          <a:ln w="19050">
            <a:solidFill>
              <a:srgbClr val="4A4E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377440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技术移民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加拿大/澳大利亚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2880360"/>
            <a:ext cx="0" cy="137160"/>
          </a:xfrm>
          <a:prstGeom prst="line">
            <a:avLst/>
          </a:prstGeom>
          <a:noFill/>
          <a:ln w="19050">
            <a:solidFill>
              <a:srgbClr val="4A4E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017520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留学移民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273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日本/韩国/欧洲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2240280"/>
            <a:ext cx="0" cy="137160"/>
          </a:xfrm>
          <a:prstGeom prst="line">
            <a:avLst/>
          </a:prstGeom>
          <a:noFill/>
          <a:ln w="19050">
            <a:solidFill>
              <a:srgbClr val="4A4E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2377440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投资移民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EB-5/希腊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880360"/>
            <a:ext cx="0" cy="137160"/>
          </a:xfrm>
          <a:prstGeom prst="line">
            <a:avLst/>
          </a:prstGeom>
          <a:noFill/>
          <a:ln w="19050">
            <a:solidFill>
              <a:srgbClr val="4A4E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3017520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创业移民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3273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加拿大SUV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011680"/>
            <a:ext cx="0" cy="274320"/>
          </a:xfrm>
          <a:prstGeom prst="line">
            <a:avLst/>
          </a:prstGeom>
          <a:noFill/>
          <a:ln w="25400">
            <a:solidFill>
              <a:srgbClr val="4A4E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23317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C9ADA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家庭团聚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决策原则：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462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移民路径没有绝对优劣，只有适合与否。建议同时准备2-3条路径，注意各国政策窗口期，及时锁定机会。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移民规划自查表 - 身份维度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216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目标国家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8288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你想去哪个国家？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该国的移民政策稳定性如何？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是否有亲属或社群基础？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05156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0" y="1188720"/>
            <a:ext cx="365760" cy="36576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1216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身份类型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64592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0" y="18288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要永居还是入籍？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2423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是否需要放弃中国国籍？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0175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税务居民身份如何认定？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05156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1188720"/>
            <a:ext cx="365760" cy="36576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1216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时间规划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164592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18288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希望在多久内完成移民？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2423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每个阶段的时间节点？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30175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政策窗口期是否有利？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C9ADA7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使用方法：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737360" y="3886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每个维度至少想清楚2个问题。如果某个维度完全答不上来，说明规划还不到位，需要进一步研究。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中国税务居民认定标准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依据：《个人所得税法》第一条、《个人所得税法实施条例》第四条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标准一：住所标准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在中国境内有住所的个人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"有住所"是指：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因户籍、家庭、经济利益关系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而在中国境内习惯性居住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典型情形：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中国户籍持有人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家庭主要生活地在境内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标准二：居住时间标准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在中国境内无住所但居住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满一个纳税年度的个人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纳税年度：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指公历1月1日起至12月31日止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关键时点：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单次离境不超30日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累计离境不超90日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C9ADA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重要提示：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42062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满足任一标准即为中国税务居民，需就全球所得在中国缴纳个人所得税。移民前需充分评估税务居民身份变更的时点和影响。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CRS：全球税务信息交换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CRS（Common Reporting Standard）是由OECD制定的税务信息交换标准，目前已有100余个国家和地区参与。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金融机构识别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税务居民身份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697480"/>
            <a:ext cx="18288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34640" y="20116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金融机构收集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账户信息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18288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46304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20116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两国税务部门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信息交换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2697480"/>
            <a:ext cx="18288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146304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0880" y="20116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本国税务部门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比对核实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中国CRS实施进展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2017年1月1日：首次对外交换金融账户信息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已与百慕大、英属维尔京等避税地完成信息交换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覆盖存款、股票、基金、保险、信托等金融账户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税务居民身份自检表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- 快速判断您的税务居民身份状态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55448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您是否拥有中国户籍（身份证、户口本）？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210312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可能符合住所标准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进入下一题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55448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您的家庭主要生活地是否在中国境内？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11880" y="2880360"/>
            <a:ext cx="210312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可能符合住所标准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进入下一题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69480" y="155448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您在公历年度内在中国境内居住累计超过183天？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880360"/>
            <a:ext cx="210312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符合居住时间标准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可能为非居民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结论判定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满足以下任一条件即为中国税务居民：① 有中国户籍/在境内习惯性居住；② 一个纳税年度内在境内居住累计满183天。税务居民需就全球所得申报纳税。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海外账户：申报还是不申报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隐瞒海外账户，被追缴税款并处罚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某中国居民在境外银行持有账户，因未申报被税务机关通过CRS信息交换发现。检查期间，该居民主动补缴税款及滞纳金共计人民币86万元，并被处以0.5倍罚款。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9319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393192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申报（合规）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法律后果：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账户信息透明，不被追责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合法收入正常使用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外汇额度内自由汇出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申报渠道：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所得税汇算清缴时申报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外汇局大额申报系统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39319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不申报（违规）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法律后果：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补缴应纳税款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按日加收万分之五滞纳金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处0.5-5倍罚款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特殊情节：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情节严重可追究刑事责任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账户资金可能被冻结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中国外汇管理基本规则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5万美元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年度便利化额度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0972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依据：《个人外汇管理办法》及《经常项目外汇业务指引》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个人每年等值5万美元以内的外汇收支，可直接在银行办理，享受便利化政策。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额度内（合规）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可办理：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出国留学、旅游、探亲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境外就医、咨询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货物贸易及服务贸易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投资理财（需提供证明）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办理方式：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凭有效身份证件直接在银行办理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超额或特殊情形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需提供证明材料：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留学：学校录取通知书、学费证明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境外就医：费用清单、医院证明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移民：居留证明、资产证明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违规后果：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警告、罚款、没收违法所得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海外账户合规申报三步走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280160"/>
            <a:ext cx="731520" cy="7315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192024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确认税务居民身份（中国/所在国）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盘点境外所有金融账户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估算账户资金规模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0972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280160"/>
            <a:ext cx="731520" cy="73152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合规申报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03320" y="2560320"/>
            <a:ext cx="192024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年度所得税汇算清缴时申报海外所得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外汇局大额交易报告（如适用）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保存完税证明和资金来源证明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78040" y="1280160"/>
            <a:ext cx="731520" cy="7315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1792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持续管理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2560320"/>
            <a:ext cx="192024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关注两国税收协定变化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及时更新账户信息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聘请专业税务顾问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提示：不同国家的申报要求和时间节点可能不同，建议在目标国家聘请当地税务师，中文沟通更顺畅。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海外账户申报五大误区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676656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误区一：钱汇出去了就不用申报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资金跨境和税务申报是两回事。只要你是中国税务居民，海外金融账户信息都可通过CRS被交换回国。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09928"/>
            <a:ext cx="109728" cy="676656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误区二：小额账户不会被查到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075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CRS信息交换无金额门槛。实践中，金融机构会对所有账户进行识别，大额账户会被重点关注。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59736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59736"/>
            <a:ext cx="109728" cy="676656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32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误区三：买了保险不用申报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8254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具有现金价值的保险（如终身寿险、储蓄型保险）属于金融账户，需申报。部分保险返利可能涉及纳税义务。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9544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9544"/>
            <a:ext cx="109728" cy="676656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82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误区四：移民了就不用管中国税务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5753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移民不等于税务居民身份立即消失。离境前需进行税务清算，5年内回国定居仍可能被认定为中国税务居民。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59352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59352"/>
            <a:ext cx="109728" cy="676656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32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误区五：申报就要交很多税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3251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申报不等于交税。合规申报是法定义务，合法收入的税务问题取决于具体情形，主动申报可避免高额罚款。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海外账户申报检查表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- 勾选确认您的海外账户申报状态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基础信息确认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5623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已确认当前税务居民身份（中国/所在国/双重）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35915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已盘点所有境外金融账户（银行、保险、证券、信托）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86207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已了解账户所在国的申报要求和截止日期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28016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中国税务申报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185623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已在年度所得税汇算清缴中申报海外所得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235915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已申报境外特殊目的公司（如有）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286207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已保存境外收入的完税证明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336499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如有双居民身份，已申请税收协定优惠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280160"/>
            <a:ext cx="265176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外汇合规确认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185623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已了解5万美元便利化额度政策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55080" y="235915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超额外汇已提供真实性证明材料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2862072"/>
            <a:ext cx="201168" cy="201168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资金汇出渠道符合外汇管理规定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如全部勾选完成，您的海外账户申报已合规就绪。如有疑问，请咨询专业税务顾问。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跨境资产税务：被忽视的风险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中国买家在美购房被追缴资本利得税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先生持美国绿卡，在中国和美国都有房产。出售中国房产后，被美国国税局追缴资本利得税，理由是其作为美国税务居民，全球收入均需在美国申报。张先生从未意识到自己在中国的房产交易也需要在美国纳税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3749040" cy="5486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启示：税务居民身份决定纳税义务，跨境资产配置必须考虑双重税务居民问题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80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超过80%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的跨境家庭存在税务风险敞口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本节将帮助你：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611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了解各国资本利得税差异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掌握跨境所得税申报要点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规划跨境遗产税传承方案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各国资本利得税对比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28016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国家/地区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051560"/>
            <a:ext cx="128016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051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051560"/>
            <a:ext cx="182880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051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优惠条件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164592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可扣除项目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051560"/>
            <a:ext cx="164592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051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4592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37360" y="164592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16459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164592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出售房产免征（自住房）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64592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645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原价扣除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164592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645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增值税+个人所得税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240280"/>
            <a:ext cx="128016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402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37360" y="2240280"/>
            <a:ext cx="128016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22402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0-23.8%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2240280"/>
            <a:ext cx="18288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240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长期持有1年以上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240280"/>
            <a:ext cx="16459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2402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成本+费用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2240280"/>
            <a:ext cx="16459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2402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分级税率按收入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83464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346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37360" y="283464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28346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50%计入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17520" y="283464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2834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按个人边际税率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8346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成本+合理费用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28346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主要省份适用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429000"/>
            <a:ext cx="128016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4290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37360" y="3429000"/>
            <a:ext cx="128016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4290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18-28%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17520" y="3429000"/>
            <a:ext cx="18288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按个人所得税税率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3429000"/>
            <a:ext cx="16459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429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成本+改善费用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92240" y="3429000"/>
            <a:ext cx="16459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3429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年度免税额£12300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02336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0233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737360" y="402336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37360" y="40233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50%计入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017520" y="402336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4023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按个人税率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846320" y="40233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成本+经纪费用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92240" y="40233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9224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12个月以上为长期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4008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关键差异：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737360" y="42519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美国对公民和税务居民的全球资本利得征税，中国仅对境内房产收益征税。加拿大和澳大利亚将资本利得50%计入应税收入，实际税率约为边际税率的一半。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8" name="Shape 6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9" name="Text 6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跨境收入的所得税申报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192024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劳动所得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工资薪金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劳务报酬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特许权使用费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05156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051560"/>
            <a:ext cx="192024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资本所得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0116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股息红利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利息收入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租金收益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05156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051560"/>
            <a:ext cx="1920240" cy="4572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经营所得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个体工商户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承包经营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合伙企业所得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105156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051560"/>
            <a:ext cx="1920240" cy="457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其他所得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20116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偶然所得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遗产继承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不动产收益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46120"/>
            <a:ext cx="137160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46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申报要点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749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双重税务居民需在两国同时申报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境外所得应在次年汇算清缴时合并计算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已缴境外税款可申请税收抵免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749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年度申报截止日期因国家而异（美国4月15日）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海外账户超过1万美元需申报FBAR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CRS信息交换自动涵盖利息、股息等收入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跨境遗产税：你的财产如何传承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8872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国家/地区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051560"/>
            <a:ext cx="128016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051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税率/方式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051560"/>
            <a:ext cx="164592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051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免税额/门槛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82880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051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051560"/>
            <a:ext cx="1737360" cy="594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0515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规划策略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645920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0" y="164592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16459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164592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645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暂未开征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64592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遗产税草案多年未落地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164592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645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暂无影响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240280"/>
            <a:ext cx="11887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402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0" y="2240280"/>
            <a:ext cx="128016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22402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18-40%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26080" y="2240280"/>
            <a:ext cx="16459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22402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豁免额约1200万美元/人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240280"/>
            <a:ext cx="18288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240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全球遗产税，公民和税务居民适用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2240280"/>
            <a:ext cx="173736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2402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生前赠与+信托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2834640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346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645920" y="283464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0" y="28346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20-40%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26080" y="28346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豁免额约32.5万英镑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283464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2834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住所型信托征税，海外资产视情况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0" y="283464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834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离岸信托+慈善捐赠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3429000"/>
            <a:ext cx="11887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4290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645920" y="3429000"/>
            <a:ext cx="128016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0" y="34290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双重课税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926080" y="3429000"/>
            <a:ext cx="164592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0" y="3429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去世时视为出售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3429000"/>
            <a:ext cx="182880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资本利得税+遗产认证费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0" y="3429000"/>
            <a:ext cx="1737360" cy="59436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34290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指定受益人+保险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4023360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0233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645920" y="402336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45920" y="40233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926080" y="40233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2608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无遗产税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0" y="402336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4023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仅对养老金等有特殊规定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400800" y="402336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4023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无遗产税规划需求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4008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重要提醒：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737360" y="42519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美国公民和税务居民的全球遗产均需申报，不在美国的财产也不例外。移民前进行遗产规划可以显著降低未来的税务负担。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8" name="Shape 6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9" name="Text 6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跨境税务规划决策树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005840"/>
            <a:ext cx="2194560" cy="457200"/>
          </a:xfrm>
          <a:prstGeom prst="rect">
            <a:avLst/>
          </a:prstGeom>
          <a:solidFill>
            <a:srgbClr val="2222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005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你是哪类身份？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0" cy="18288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691640"/>
            <a:ext cx="1463040" cy="411480"/>
          </a:xfrm>
          <a:prstGeom prst="rect">
            <a:avLst/>
          </a:prstGeom>
          <a:solidFill>
            <a:srgbClr val="C9ADA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中国税务居民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691640"/>
            <a:ext cx="1463040" cy="411480"/>
          </a:xfrm>
          <a:prstGeom prst="rect">
            <a:avLst/>
          </a:prstGeom>
          <a:solidFill>
            <a:srgbClr val="C9ADA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美国税务居民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0" cy="18288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331720"/>
            <a:ext cx="1463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在中国有房产？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0" cy="18288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331720"/>
            <a:ext cx="1463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有中国房产？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743200"/>
            <a:ext cx="0" cy="18288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2971800"/>
            <a:ext cx="1371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出售中国房产 → 中国纳税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2971800"/>
            <a:ext cx="1371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出租收入 → 中国纳税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2743200"/>
            <a:ext cx="0" cy="18288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971800"/>
            <a:ext cx="1463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2971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全球收入美国纳税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1463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2971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海外税额抵免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2103120"/>
            <a:ext cx="0" cy="18288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331720"/>
            <a:ext cx="1463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资产在何处？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2743200"/>
            <a:ext cx="0" cy="18288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2971800"/>
            <a:ext cx="1463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2971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美国资产→美国纳税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80960" y="2971800"/>
            <a:ext cx="1463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0" y="2971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海外资产→看情况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规划原则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4023360"/>
            <a:ext cx="274320" cy="2743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584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先确认税务居民身份，再确定纳税义务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023360"/>
            <a:ext cx="274320" cy="2743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利用双边税收协定避免双重征税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4389120"/>
            <a:ext cx="274320" cy="2743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584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生前赠与和信托可以降低遗产税负担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4389120"/>
            <a:ext cx="274320" cy="2743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2064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海外账户申报（FBAR/FATCA）不可忽视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4A4E69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5486400" cy="2560320"/>
          </a:xfrm>
          <a:prstGeom prst="rect">
            <a:avLst/>
          </a:prstGeom>
          <a:solidFill>
            <a:srgbClr val="F2E9E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0" y="1371600"/>
            <a:ext cx="137160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920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跨境资产合规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383280" y="2651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CRS、申报与资产保护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3246120"/>
            <a:ext cx="18288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CRS信息交换 | 海外账户申报 | 反洗钱合规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CRS是如何运作的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CRS（共同申报准则）是OECD制定的自动信息交换标准，已有100+国家参与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60020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金融机构识别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银行、保险公司、券商等金融机构识别客户的税务居民身份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2560320"/>
            <a:ext cx="22860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4173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60020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3464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账户信息收集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收集包括账户余额、利息、股息、赎回收益等金融信息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560320"/>
            <a:ext cx="22860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4173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60020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7492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报送给税务机关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金融机构将信息报送给本国税务机关（通常是税务局）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2560320"/>
            <a:ext cx="22860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14173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09560" y="160020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双边信息交换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60920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各国税务局之间通过CRS框架自动交换对方税务居民的信息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CRS信息交换频率：年度交换（通常在每年9月前完成上年度数据交换）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CRS交换哪些信息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192024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账户信息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账户余额或净值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账户编号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账户类型（存款/托管/投资）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0515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1051560"/>
            <a:ext cx="192024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金融收入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155448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利息收入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股息收入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赎回收益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其他投资收益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0515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051560"/>
            <a:ext cx="192024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资产处置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55448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出售金融资产的收益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赎回金额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提取金额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10515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1051560"/>
            <a:ext cx="1920240" cy="4114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身份识别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155448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出生日期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税务居民国家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TIN（税号）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63240"/>
            <a:ext cx="182880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CRS不交换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不动产实物（房产、土地）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艺术品、珠宝等实物资产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加密货币（需单独申报）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重要提示：CRS是自动交换，税务部门无需调查就能知道你海外账户的情况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CRS下的合规策略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005840"/>
            <a:ext cx="164592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05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005840"/>
            <a:ext cx="64008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645920"/>
            <a:ext cx="493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164592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164592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如实申报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1645920"/>
            <a:ext cx="6400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645920"/>
            <a:ext cx="6254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主动申报海外账户和收入，比被动曝光后果轻得多。申报不必然意味着补税，但隐瞒被查出后果严重。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86000"/>
            <a:ext cx="493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2286000"/>
            <a:ext cx="164592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228600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税收居民身份规划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2286000"/>
            <a:ext cx="64008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2286000"/>
            <a:ext cx="6254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明确自己在哪个国家是税务居民，善用双边税收协定中183天规则等降低双重纳税风险。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926080"/>
            <a:ext cx="493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7280" y="292608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292608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合理资产配置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2926080"/>
            <a:ext cx="6400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2926080"/>
            <a:ext cx="6254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考虑将部分资产配置在非CRS参与国（如美国虽参与但信息交换范围有限），或配置于不在申报范围的资产类别。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566160"/>
            <a:ext cx="493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97280" y="3566160"/>
            <a:ext cx="164592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356616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合规架构设计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0" y="3566160"/>
            <a:ext cx="6400800" cy="640080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3566160"/>
            <a:ext cx="6254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通过设立信托、离岸公司等合规架构持有资产，注意这些架构本身也需要申报，不是避风港。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206240"/>
            <a:ext cx="493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97280" y="420624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0432" y="420624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专业税务顾问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0" y="4206240"/>
            <a:ext cx="6400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4206240"/>
            <a:ext cx="6254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跨境税务复杂且不断变化，专业顾问能帮你识别风险、选择最优方案，避免踩坑。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警示：任何声称能帮你"规避CRS"的方案，都需要仔细甄别，合规才是真正的安全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CRS影响自检表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共同申报准则（CRS）自检清单 - 快速评估您的金融账户信息被交换风险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账户持有情况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在境外持有银行账户或理财产品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在境外拥有人寿保险或年金保险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8620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在境外设立信托或基金会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3192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配偶或子女在境外持有金融账户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37160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税务居民身份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持有境外国家或地区的永久居留权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4048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在一个课税年度内在境外居住超过183天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8620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在境外国家进行了税务登记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3192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在境外拥有房产或其他不动产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金融资产信息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金融账户余额超过一定门槛（100万美元）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4048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拥有跨境企业的股权或债权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8620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收到境外来源的大额转账或分红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3192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拥有境外上市公司的股票期权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提示：CRS信息交换基于金融账户余额和类型，非收入高低。建议高净值人士定期进行CRS合规评估，必要时咨询专业税务顾问。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主要国家房产税法对比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914400" cy="5303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1280160" cy="5303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0584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购房税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005840"/>
            <a:ext cx="1280160" cy="5303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00584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物业税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005840"/>
            <a:ext cx="1188720" cy="5303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00584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005840"/>
            <a:ext cx="914400" cy="5303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00584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空置税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194560" cy="5303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0058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特殊规定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536192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53619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1536192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5361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0" y="1536192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15361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0.5-1.2%（试点）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0" y="153619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153619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1536192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53619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536192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53619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限购限贷政策严格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066544"/>
            <a:ext cx="91440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06654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2066544"/>
            <a:ext cx="128016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206654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51760" y="2066544"/>
            <a:ext cx="128016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206654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1-3%（地方）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31920" y="2066544"/>
            <a:ext cx="118872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206654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10-37%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2066544"/>
            <a:ext cx="91440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206654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2066544"/>
            <a:ext cx="219456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0665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各州税率差异大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2596896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596896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371600" y="2596896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0" y="259689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2-12%（阶梯）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51760" y="2596896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259689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0.3-1.5%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931920" y="2596896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259689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20-45%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20640" y="2596896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2596896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35040" y="2596896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259689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海外买家加2%附加税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3127248"/>
            <a:ext cx="91440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127248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371600" y="3127248"/>
            <a:ext cx="128016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0" y="312724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4-5.5%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651760" y="3127248"/>
            <a:ext cx="128016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0" y="312724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0.2-0.4%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931920" y="3127248"/>
            <a:ext cx="118872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1920" y="312724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32.5-45%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120640" y="3127248"/>
            <a:ext cx="91440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3127248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035040" y="3127248"/>
            <a:ext cx="2194560" cy="530352"/>
          </a:xfrm>
          <a:prstGeom prst="rect">
            <a:avLst/>
          </a:prstGeom>
          <a:solidFill>
            <a:srgbClr val="C9ADA7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35040" y="312724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海外人士禁购二手房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3657600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365760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371600" y="3657600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71600" y="365760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651760" y="3657600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51760" y="365760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931920" y="3657600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0" y="365760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5-45%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120640" y="3657600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0" y="365760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035040" y="3657600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35040" y="36576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有固定资产税优惠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40080" y="4133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税型说明：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554480" y="41330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购房税在交易时一次性缴纳；物业税按年征收；租金税并入个人所得；空置税目前仅少数国家征收。实际税负需结合当地税收优惠与双边税收协定综合计算。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80" name="Shape 7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81" name="Text 7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海外房产租金收入申报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中国税务居民申报要求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申报渠道：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个人所得税APP / 税务大厅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申报时间：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938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年度汇算清缴（每年3-6月）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22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适用税型：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个人所得税（租金收入按20%计）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066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减免政策：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706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每月800元免税额度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90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境外抵扣：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可在境内应税所得中扣除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双边上协定：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474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可申请境外已纳税额抵免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233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主流国家租金税率对比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5544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10-37%（联邦）+ 州税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9385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1938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20-45%（个人所得税）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3225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23225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32.5-45%（个人所得）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7066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7066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5-45%（个人所得）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0906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15-33%（联邦+省）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474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3474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0-22%（ residential）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未按规定申报海外租金收入可能面临：补缴税款、每日万分之五滞纳金、0.5-5倍罚款，情节严重可追究刑事责任。建议年度汇算前整理好境外租金收入凭证及完税证明。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境外房产合规检查表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7432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743200" cy="43891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交易合规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81912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9047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确认目的国家允许外国人购房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057400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659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了解当地购房限制（地区/数量/用途）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532888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4414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通过合格机构完成交易资金汇出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008376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169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保存完整的产权文件和交易凭证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960120"/>
            <a:ext cx="27432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960120"/>
            <a:ext cx="2743200" cy="43891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税务合规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47288" y="1581912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149047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购房时缴纳相关税费并获取完税证明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47288" y="2057400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19659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了解当地物业税征收规定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47288" y="2532888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24414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租金收入按规定申报当地所得税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47288" y="3008376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29169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年度汇算时如实申报境外租金所得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960120"/>
            <a:ext cx="27432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960120"/>
            <a:ext cx="2743200" cy="43891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身份合规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27648" y="1581912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149047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确认自身税务居民身份归属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27648" y="2057400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19659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了解是否需要向中国使馆登记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27648" y="2532888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24414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房产持有人信息变更及时更新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7648" y="3008376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29169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多人持有时明确法律关系和税务责任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703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8872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购房前建议聘请当地律师或专业顾问进行尽职调查，持有期间保持完整的财务档案，便于应对任何合规检查或未来的资产处置。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遗嘱的跨境效力：哪里有效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遗嘱效力认定原则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行为地主义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遗嘱方式依遗嘱完成地法律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58568"/>
            <a:ext cx="3474720" cy="0"/>
          </a:xfrm>
          <a:prstGeom prst="line">
            <a:avLst/>
          </a:prstGeom>
          <a:noFill/>
          <a:ln w="6350">
            <a:solidFill>
              <a:srgbClr val="C9AD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13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住所地主义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遗嘱效力依立遗嘱人住所地法律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474720" cy="0"/>
          </a:xfrm>
          <a:prstGeom prst="line">
            <a:avLst/>
          </a:prstGeom>
          <a:noFill/>
          <a:ln w="6350">
            <a:solidFill>
              <a:srgbClr val="C9AD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不动产所在地主义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不动产继承适用不动产所在地法律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685032"/>
            <a:ext cx="3474720" cy="0"/>
          </a:xfrm>
          <a:prstGeom prst="line">
            <a:avLst/>
          </a:prstGeom>
          <a:noFill/>
          <a:ln w="6350">
            <a:solidFill>
              <a:srgbClr val="C9AD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398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动产所在地主义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325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动产继承适用被继承人最后住所地法律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跨国遗嘱效力认定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1645920"/>
            <a:ext cx="822960" cy="8229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立遗嘱人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2057400"/>
            <a:ext cx="731520" cy="0"/>
          </a:xfrm>
          <a:prstGeom prst="line">
            <a:avLst/>
          </a:prstGeom>
          <a:noFill/>
          <a:ln w="19050">
            <a:solidFill>
              <a:srgbClr val="9A8C9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846320" y="2606040"/>
            <a:ext cx="1371600" cy="6400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中国订立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907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遗嘱方式有效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32320" y="2057400"/>
            <a:ext cx="365760" cy="0"/>
          </a:xfrm>
          <a:prstGeom prst="line">
            <a:avLst/>
          </a:prstGeom>
          <a:noFill/>
          <a:ln w="19050">
            <a:solidFill>
              <a:srgbClr val="9A8C9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315200" y="2606040"/>
            <a:ext cx="1371600" cy="6400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美国房产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2907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继承适用美国法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429000"/>
            <a:ext cx="3657600" cy="105156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一份遗嘱可能在 A 国有效、B 国无效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建议在主要资产所在国分别制定遗嘱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或采用国际公认的最后遗嘱形式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跨境遗产继承程序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继承程序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典型时长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必备文件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005840" cy="6400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继承权公证 → 遗产分割协议 → 产权过户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920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6-12个月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亲属关系证明、死亡证明、遗嘱等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2E9E4"/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60320"/>
            <a:ext cx="1005840" cy="6400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60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Probate Court → 遗产清算 → 分配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560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9-24个月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560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Will、Death Certificate、Tax Returns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00400"/>
            <a:ext cx="1005840" cy="6400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004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3200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遗嘱认证 → 遗产管理 → 分配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6-12个月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200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Grant of Representation、Will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2E9E4"/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40480"/>
            <a:ext cx="1005840" cy="6400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40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遗嘱验证 → 遗产清算 → 分配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3840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6-18个月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840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Death Certificate、Will、Tax Clearances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480560"/>
            <a:ext cx="1005840" cy="6400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4805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5448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遗嘱认证 → 遗产管理 → 分配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0" y="4480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6-12个月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480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Grant of Probate、Will、Tax File Number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4663440"/>
            <a:ext cx="7772400" cy="50292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736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跨境提示：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54480" y="47365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多国资产需分别向各国主管机关申请继承，涉及公证认证、翻译、税务清算等，建议提前3-5年规划。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跨境信托：资产传承利器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2004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信托核心优势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资产保护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837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信托资产与委托人债务隔离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税务优化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4323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合法规划跨境税务负担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传承灵活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0266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按委托人意愿分配资产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621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信托信息不对外公开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永续存在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4215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不因委托人离世而终止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94760" y="1005840"/>
            <a:ext cx="25603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005840"/>
            <a:ext cx="25603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热门信托设立地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77640" y="1600200"/>
            <a:ext cx="73152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1" name="Text 29"/>
          <p:cNvSpPr/>
          <p:nvPr/>
        </p:nvSpPr>
        <p:spPr>
          <a:xfrm>
            <a:off x="3977640" y="16002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600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英属维尔京群岛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77640" y="19842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0%所得税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77640" y="2194560"/>
            <a:ext cx="73152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5" name="Text 33"/>
          <p:cNvSpPr/>
          <p:nvPr/>
        </p:nvSpPr>
        <p:spPr>
          <a:xfrm>
            <a:off x="3977640" y="2194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Cayman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开曼群岛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77640" y="2578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0%所得税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77640" y="2788920"/>
            <a:ext cx="73152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9" name="Text 37"/>
          <p:cNvSpPr/>
          <p:nvPr/>
        </p:nvSpPr>
        <p:spPr>
          <a:xfrm>
            <a:off x="3977640" y="2788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2788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77640" y="31729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17%所得税（信托豁免）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77640" y="3383280"/>
            <a:ext cx="73152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Text 41"/>
          <p:cNvSpPr/>
          <p:nvPr/>
        </p:nvSpPr>
        <p:spPr>
          <a:xfrm>
            <a:off x="3977640" y="33832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977640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16.5%所得税（信托豁免）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977640" y="3977640"/>
            <a:ext cx="73152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7" name="Text 45"/>
          <p:cNvSpPr/>
          <p:nvPr/>
        </p:nvSpPr>
        <p:spPr>
          <a:xfrm>
            <a:off x="3977640" y="3977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Zealand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新西兰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4361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28%所得税（信托需申报）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1005840"/>
            <a:ext cx="21945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92240" y="1005840"/>
            <a:ext cx="2194560" cy="4572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0" y="1005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信托基本结构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995160" y="1645920"/>
            <a:ext cx="118872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1645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委托人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589520" y="2148840"/>
            <a:ext cx="0" cy="274320"/>
          </a:xfrm>
          <a:prstGeom prst="line">
            <a:avLst/>
          </a:prstGeom>
          <a:noFill/>
          <a:ln w="19050">
            <a:solidFill>
              <a:srgbClr val="4A4E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95160" y="2468880"/>
            <a:ext cx="11887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57" name="Text 55"/>
          <p:cNvSpPr/>
          <p:nvPr/>
        </p:nvSpPr>
        <p:spPr>
          <a:xfrm>
            <a:off x="699516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受托人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589520" y="2971800"/>
            <a:ext cx="0" cy="274320"/>
          </a:xfrm>
          <a:prstGeom prst="line">
            <a:avLst/>
          </a:prstGeom>
          <a:noFill/>
          <a:ln w="19050">
            <a:solidFill>
              <a:srgbClr val="4A4E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95160" y="3291840"/>
            <a:ext cx="1188720" cy="4572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0" name="Text 58"/>
          <p:cNvSpPr/>
          <p:nvPr/>
        </p:nvSpPr>
        <p:spPr>
          <a:xfrm>
            <a:off x="6995160" y="3291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受益人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583680" y="3886200"/>
            <a:ext cx="2011680" cy="64008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67512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资产放入信托后，由受托人按信托协议管理并分配给受益人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4" name="Shape 6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5" name="Text 6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案例：跨境遗产继承的五年长征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91440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828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78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张先生（中国籍）在加拿大设立公司，2015年在温哥华购置两处房产，同时在香港持有上市公司股票。2020年张先生意外离世，其独子小张（加拿大籍）需要继承父亲在三个司法管辖区的资产。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94560"/>
            <a:ext cx="274320" cy="2743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张先生离世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27706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中国大使馆公证死亡证明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8880" y="2194560"/>
            <a:ext cx="274320" cy="2743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加拿大继承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27706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BC省高等法院遗嘱认证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34840" y="2194560"/>
            <a:ext cx="274320" cy="2743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香港股票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27706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香港遗嘱认证及资产清查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2194560"/>
            <a:ext cx="274320" cy="2743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中国房产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97880" y="27706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继承权公证及过户申请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366760" y="2194560"/>
            <a:ext cx="274320" cy="2743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全部完成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27706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历时4年，耗资120万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246120"/>
            <a:ext cx="40233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246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主要挑战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3730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三地法律体系不同，程序各异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3959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中国承认加拿大遗嘱认证文书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187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香港要求重新进行遗嘱检验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416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资产价值波动影响税务计算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246120"/>
            <a:ext cx="402336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3246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3730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聘请三地联合律师团队协同处理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959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建立资产清单，按紧急程度排序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4187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利用双边税收协定优化税务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4416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提前做好遗产规划避免纠纷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跨境资产传承规划表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7432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743200" cy="43891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资产梳理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81912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9047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列出所有境外银行账户及账户信息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057400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659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统计境外房产、股票、保险等资产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532888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4414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整理境内关联资产与境外资产关系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008376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169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核算资产总价值及分布国家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960120"/>
            <a:ext cx="27432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960120"/>
            <a:ext cx="2743200" cy="43891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传承文件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47288" y="1581912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149047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立订境外有效遗嘱并进行公证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47288" y="2057400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19659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委托境外律师作为遗产执行人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47288" y="2532888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24414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准备资产所在地语言版本文件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47288" y="3008376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29169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建立资产清单与存放位置档案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960120"/>
            <a:ext cx="27432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960120"/>
            <a:ext cx="2743200" cy="43891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税务规划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27648" y="1581912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149047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了解遗产税征收国家与税率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27648" y="2057400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19659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利用双边税收协定优化传承税负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27648" y="2532888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24414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配置人寿保险作为传承工具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7648" y="3008376"/>
            <a:ext cx="201168" cy="201168"/>
          </a:xfrm>
          <a:prstGeom prst="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29169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设立信托结构进行税务筹划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703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8872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跨境资产传承涉及多国法律，建议提前5-10年规划，聘请跨境遗产规划律师，确保文件符合各资产所在地法律要求。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资金汇出：合法路径有哪些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地下钱庄被查封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2024年，浙江某地下钱庄案告破，涉案金额超过50亿元。主犯通过虚假贸易、虚构汇款用途等方式，帮助他人非法转移资产至境外，最终以非法经营罪被判处有期徒刑。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参与地下钱庄汇款，资金可能被冻结、账户被封禁，个人也将面临法律追责。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合法汇款渠道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32004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银行国际汇款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通过正规银行进行电汇，额度受外汇管制限制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103120"/>
            <a:ext cx="32004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持牌汇款公司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如西联汇款、速汇金等，需选择持牌机构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743200"/>
            <a:ext cx="32004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贸易结算渠道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凭真实贸易合同进行资金划转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383280"/>
            <a:ext cx="32004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境外直接投资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经审批的境外投资备案渠道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合规提醒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根据《个人外汇管理办法》，境内个人每年购汇额度为5万美元等值。超过额度需提供真实证明材料，并通过银行逐笔申报。切勿贪图便捷选择非法渠道。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合规汇款渠道全解析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01168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银行电汇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中行、工行、建行等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安全性最高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有正式汇款凭证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可追踪资金流向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手续费较高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到账时间1-3工作日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需要较多材料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828800" cy="502920"/>
          </a:xfrm>
          <a:prstGeom prst="rect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适用：大额正规汇款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87752" y="96012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87752" y="960120"/>
            <a:ext cx="201168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0" name="Text 18"/>
          <p:cNvSpPr/>
          <p:nvPr/>
        </p:nvSpPr>
        <p:spPr>
          <a:xfrm>
            <a:off x="2587752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西联汇款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79192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西联 Western Union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9192" y="1764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79192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全球覆盖广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79192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到账速度快(分钟级)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79192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无需银行账户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79192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79192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手续费按笔收取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79192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额度限制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79192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汇率较差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79192" y="3566160"/>
            <a:ext cx="1828800" cy="502920"/>
          </a:xfrm>
          <a:prstGeom prst="rect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724912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适用：紧急小额汇款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18304" y="96012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18304" y="960120"/>
            <a:ext cx="201168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4" name="Text 32"/>
          <p:cNvSpPr/>
          <p:nvPr/>
        </p:nvSpPr>
        <p:spPr>
          <a:xfrm>
            <a:off x="4718304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速汇金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9744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MoneyGram 速汇金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9744" y="1764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9744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操作便捷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09744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速度快速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9744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网点覆盖广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9744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9744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额度限制严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09744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汇率不透明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9744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服务费较高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09744" y="3566160"/>
            <a:ext cx="1828800" cy="502920"/>
          </a:xfrm>
          <a:prstGeom prst="rect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55464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适用：海外亲友间汇款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48856" y="96012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48856" y="960120"/>
            <a:ext cx="201168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48" name="Text 46"/>
          <p:cNvSpPr/>
          <p:nvPr/>
        </p:nvSpPr>
        <p:spPr>
          <a:xfrm>
            <a:off x="6848856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第三方支付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40296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PayPal、Wise、Payoneer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40296" y="1764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40296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线上操作便捷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40296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费率相对透明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940296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支持多币种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40296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40296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额度限制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940296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提现需要银行账户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40296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监管政策不确定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940296" y="3566160"/>
            <a:ext cx="1828800" cy="502920"/>
          </a:xfrm>
          <a:prstGeom prst="rect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986016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适用：跨境电商、在线服务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选择建议：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554480" y="43708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大额正规汇款首选银行电汇，小额紧急汇款可选西联/速汇金，跨境电商建议比较第三方支付平台费率后选择。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4" name="Shape 6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5" name="Text 6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资金汇出五大风险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85216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1170432"/>
            <a:ext cx="548640" cy="292608"/>
          </a:xfrm>
          <a:prstGeom prst="rect">
            <a:avLst/>
          </a:prstGeom>
          <a:solidFill>
            <a:srgbClr val="22223B">
              <a:alpha val="80000"/>
            </a:srgbClr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170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005840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违反外汇管理规定，可能被罚款、冻结账户甚至追究刑事责任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64208"/>
            <a:ext cx="109728" cy="585216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64208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监管风险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1828800"/>
            <a:ext cx="548640" cy="292608"/>
          </a:xfrm>
          <a:prstGeom prst="rect">
            <a:avLst/>
          </a:prstGeom>
          <a:solidFill>
            <a:srgbClr val="22223B">
              <a:alpha val="80000"/>
            </a:srgbClr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828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664208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跨境资金流动受严格监管，大额汇款可能触发反洗钱调查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22576"/>
            <a:ext cx="822960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22576"/>
            <a:ext cx="109728" cy="585216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2257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汇率风险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20240" y="2487168"/>
            <a:ext cx="548640" cy="292608"/>
          </a:xfrm>
          <a:prstGeom prst="rect">
            <a:avLst/>
          </a:prstGeom>
          <a:solidFill>
            <a:srgbClr val="4A4E69">
              <a:alpha val="80000"/>
            </a:srgbClr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2487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2322576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汇率波动可能导致实际收到的金额与预期不符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80944"/>
            <a:ext cx="822960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80944"/>
            <a:ext cx="109728" cy="585216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80944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欺诈风险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20240" y="3145536"/>
            <a:ext cx="548640" cy="292608"/>
          </a:xfrm>
          <a:prstGeom prst="rect">
            <a:avLst/>
          </a:prstGeom>
          <a:solidFill>
            <a:srgbClr val="22223B">
              <a:alpha val="80000"/>
            </a:srgbClr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314553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2980944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虚假汇款平台、钓鱼网站、冒充银行工作人员诈骗频发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822960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39312"/>
            <a:ext cx="109728" cy="585216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639312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税务风险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920240" y="3803904"/>
            <a:ext cx="548640" cy="292608"/>
          </a:xfrm>
          <a:prstGeom prst="rect">
            <a:avLst/>
          </a:prstGeom>
          <a:solidFill>
            <a:srgbClr val="4A4E69">
              <a:alpha val="80000"/>
            </a:srgbClr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380390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06040" y="3639312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未合规申报海外资产可能被中国及目的地国税务追缴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407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54480" y="4453128"/>
            <a:ext cx="457200" cy="228600"/>
          </a:xfrm>
          <a:prstGeom prst="rect">
            <a:avLst/>
          </a:prstGeom>
          <a:solidFill>
            <a:srgbClr val="22223B">
              <a:alpha val="80000"/>
            </a:srgbClr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54480" y="44531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574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需重点防范，可能导致重大损失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4453128"/>
            <a:ext cx="457200" cy="228600"/>
          </a:xfrm>
          <a:prstGeom prst="rect">
            <a:avLst/>
          </a:prstGeom>
          <a:solidFill>
            <a:srgbClr val="4A4E69">
              <a:alpha val="80000"/>
            </a:srgbClr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44531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7492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需关注，合理规划可降低影响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反洗钱合规：每个人都需了解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什么是反洗钱（AML）？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反洗钱（Anti-Money Laundering）是指防止犯罪分子利用金融系统进行洗钱活动的法律、法规和措施的总称。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洗钱三阶段：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0584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Placement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置入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74520" y="2377440"/>
            <a:ext cx="100584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2377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Layering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层化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08960" y="2377440"/>
            <a:ext cx="100584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2377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整合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FATF国际标准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金融行动特别工作组（FATF）是制定反洗钱国际标准的机构，中国于2007年成为正式成员。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40项建议涵盖：客户尽职调查、可疑交易报告、资产冻结、国际合作等领域。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个人反洗钱义务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身份核实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开户、汇款时提供真实身份信息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352044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6324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大额申报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人民币5万/外币1万以上需说明来源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52044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可疑举报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发现可疑交易立即向金融机构报告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75120" y="352044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8660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资料保存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7512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交易记录至少保存5年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资金汇出合规自检表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跨境汇款前的合规检查清单 - 确保资金来源合法、汇出渠道正规、用途说明清晰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资金来源合规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购汇资金来源清晰（工资、存款、投资收益等）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377440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0428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持有完整的收入证明和税务记录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807208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34056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大额资金已按规定进行申报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236976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6382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不存在涉及反洗钱的可疑情况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3716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37160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汇款渠道合规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87452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通过银行或正规外汇机构办理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377440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30428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单人年度购汇额度在5万美元以内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807208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734056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超过额度已获得主管部门批准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236976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16382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填写真实购汇用途（留学、旅游等）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3716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资料准备齐全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87452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境内银行账户信息完整准确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377440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30428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境外收款账户信息核实无误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807208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734056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保留完整的汇款凭证和记录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236976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16382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境外收款人身份信息已确认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8587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温馨提示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根据《个人外汇管理办法》，境内个人外汇汇出境外用于经常项目支出，单笔或当年累计等值1万美元以上需提供相关证明材料。建议大额汇款前咨询银行外汇专员，准备完整的支持文件。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4A4E6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657600"/>
            <a:ext cx="1828800" cy="1828800"/>
          </a:xfrm>
          <a:prstGeom prst="ellipse">
            <a:avLst/>
          </a:prstGeom>
          <a:solidFill>
            <a:srgbClr val="9A8C98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跨境争议解决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纠纷不可避免，路径选择是关键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8288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争议类型  |  司法管辖  |  法律适用  |  争议解决方式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跨境争议有哪些类型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96596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Shape 4"/>
          <p:cNvSpPr/>
          <p:nvPr/>
        </p:nvSpPr>
        <p:spPr>
          <a:xfrm>
            <a:off x="1120140" y="118872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1201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合同争议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41732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跨境贸易合同纠纷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898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服务合同违约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2826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投资协议争议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6667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租赁合同纠纷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00584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005840"/>
            <a:ext cx="1965960" cy="7315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6" name="Shape 14"/>
          <p:cNvSpPr/>
          <p:nvPr/>
        </p:nvSpPr>
        <p:spPr>
          <a:xfrm>
            <a:off x="3268980" y="1188720"/>
            <a:ext cx="640080" cy="64008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32689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侵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97480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侵权争议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80360" y="2377440"/>
            <a:ext cx="141732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人身伤害赔偿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2898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产品质量责任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2826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知识产权侵权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6667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网络侵权纠纷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196596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6" name="Shape 24"/>
          <p:cNvSpPr/>
          <p:nvPr/>
        </p:nvSpPr>
        <p:spPr>
          <a:xfrm>
            <a:off x="5417820" y="1188720"/>
            <a:ext cx="640080" cy="6400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7" name="Text 25"/>
          <p:cNvSpPr/>
          <p:nvPr/>
        </p:nvSpPr>
        <p:spPr>
          <a:xfrm>
            <a:off x="54178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0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财产争议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0" y="2377440"/>
            <a:ext cx="141732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不动产产权纠纷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898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遗产继承争议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2826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共有财产分割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6667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财产损害赔偿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100584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1005840"/>
            <a:ext cx="196596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6" name="Shape 34"/>
          <p:cNvSpPr/>
          <p:nvPr/>
        </p:nvSpPr>
        <p:spPr>
          <a:xfrm>
            <a:off x="7566660" y="1188720"/>
            <a:ext cx="640080" cy="6400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7" name="Text 35"/>
          <p:cNvSpPr/>
          <p:nvPr/>
        </p:nvSpPr>
        <p:spPr>
          <a:xfrm>
            <a:off x="75666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995160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家事争议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178040" y="2377440"/>
            <a:ext cx="141732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离婚财产分配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2898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子女抚养权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40880" y="32826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跨国婚姻纠纷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0" y="36667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收养法律关系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407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跨境争议的特点：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103120" y="4407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涉及多个法律体系、管辖权冲突、送达困难、执行难度大等问题。解决方式包括协商、调解、仲裁和诉讼等。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四种跨境争议解决路径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Shape 4"/>
          <p:cNvSpPr/>
          <p:nvPr/>
        </p:nvSpPr>
        <p:spPr>
          <a:xfrm>
            <a:off x="1211580" y="1188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115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双方直接沟通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417320" cy="18288"/>
          </a:xfrm>
          <a:prstGeom prst="rect">
            <a:avLst/>
          </a:prstGeom>
          <a:solidFill>
            <a:srgbClr val="9A8C98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成本最低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速度快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无第三方介入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109728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1097280"/>
            <a:ext cx="1965960" cy="8229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497580" y="1188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975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0" y="20116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第三方协助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2788920"/>
            <a:ext cx="1417320" cy="18288"/>
          </a:xfrm>
          <a:prstGeom prst="rect">
            <a:avLst/>
          </a:prstGeom>
          <a:solidFill>
            <a:srgbClr val="9A8C98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中立调解人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灵活性高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非强制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09728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1097280"/>
            <a:ext cx="196596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8" name="Shape 26"/>
          <p:cNvSpPr/>
          <p:nvPr/>
        </p:nvSpPr>
        <p:spPr>
          <a:xfrm>
            <a:off x="5783580" y="1188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7835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29200" y="20116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私法裁判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0" y="2788920"/>
            <a:ext cx="1417320" cy="18288"/>
          </a:xfrm>
          <a:prstGeom prst="rect">
            <a:avLst/>
          </a:prstGeom>
          <a:solidFill>
            <a:srgbClr val="9A8C98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一裁终局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专业性强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全球执行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109728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0" y="1097280"/>
            <a:ext cx="1965960" cy="8229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9" name="Shape 37"/>
          <p:cNvSpPr/>
          <p:nvPr/>
        </p:nvSpPr>
        <p:spPr>
          <a:xfrm>
            <a:off x="8069580" y="1188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0695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1520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315200" y="20116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5236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法院裁判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89520" y="2788920"/>
            <a:ext cx="1417320" cy="18288"/>
          </a:xfrm>
          <a:prstGeom prst="rect">
            <a:avLst/>
          </a:prstGeom>
          <a:solidFill>
            <a:srgbClr val="9A8C98">
              <a:alpha val="5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公信力强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9808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程序严格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9808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可上诉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46020" y="4434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4732020" y="4434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7018020" y="4434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2" name="Shape 5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法律选择与管辖权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法律选择 (Choice of Law)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当事人合意选择准据法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865376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55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最密切联系原则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157984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482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特征性履行方法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450592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40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国际惯例补充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管辖权 (Jurisdiction)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1572768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协议管辖优先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865376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755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专属管辖例外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157984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0482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不方便法院原则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450592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340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平行诉讼处理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60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法律适用基本原则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3566160"/>
            <a:ext cx="2560320" cy="10058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当事人自治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合同当事人可明示或默示选择适用法律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3566160"/>
            <a:ext cx="2560320" cy="10058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最密切联系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选择与合同或关系有最密切联系的国家法律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566160"/>
            <a:ext cx="2560320" cy="10058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国际惯例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当事人未选择时，适用国际商业惯例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跨境争议解决路径图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1371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37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86200" y="10058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0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争议发生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1463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合同有仲裁条款？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7830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25603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4A4E69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金额大/复杂？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25603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5603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1783080"/>
            <a:ext cx="1737360" cy="320040"/>
          </a:xfrm>
          <a:prstGeom prst="roundRect">
            <a:avLst/>
          </a:prstGeom>
          <a:solidFill>
            <a:srgbClr val="F2E9E4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达成协议？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11887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3736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3017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0800" y="33375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4A4E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一审判决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5760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路径选择提示：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34340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小额简单争议优先协商或调解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5079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复杂商业争议考虑仲裁（国际执行力强）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4672584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需要强制执行时选择诉讼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3977640"/>
            <a:ext cx="2286000" cy="8686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4023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37960" y="4297680"/>
            <a:ext cx="137160" cy="1371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4279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仲裁/诉讼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37960" y="4480560"/>
            <a:ext cx="137160" cy="1371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调解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37960" y="4663440"/>
            <a:ext cx="137160" cy="1371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4645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案例分析专题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从真实案例中学习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82880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4A4E69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9A8C98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案例一分析：关键转折点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395728"/>
            <a:ext cx="411480" cy="411480"/>
          </a:xfrm>
          <a:prstGeom prst="ellipse">
            <a:avLst/>
          </a:prstGeom>
          <a:solidFill>
            <a:srgbClr val="4A4E69"/>
          </a:solidFill>
          <a:ln w="38100">
            <a:solidFill>
              <a:srgbClr val="F2E9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051560"/>
            <a:ext cx="1051560" cy="3200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515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被动受害期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017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小红收到房东扣押金通知后，非常慌张。担心影响签证、担心被告上法庭，选择默默忍受。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沉默只会助长侵权行为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2395728"/>
            <a:ext cx="411480" cy="411480"/>
          </a:xfrm>
          <a:prstGeom prst="ellipse">
            <a:avLst/>
          </a:prstGeom>
          <a:solidFill>
            <a:srgbClr val="9A8C98"/>
          </a:solidFill>
          <a:ln w="38100">
            <a:solidFill>
              <a:srgbClr val="F2E9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051560"/>
            <a:ext cx="1051560" cy="3200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10515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证据收集期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34640" y="29260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26080" y="3017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在学姐建议下，小红开始整理入住时的房屋照片、租赁合同、押金收据等证据材料。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证据是维权的基础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2395728"/>
            <a:ext cx="411480" cy="411480"/>
          </a:xfrm>
          <a:prstGeom prst="ellipse">
            <a:avLst/>
          </a:prstGeom>
          <a:solidFill>
            <a:srgbClr val="9A8C98"/>
          </a:solidFill>
          <a:ln w="38100">
            <a:solidFill>
              <a:srgbClr val="F2E9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051560"/>
            <a:ext cx="1051560" cy="3200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0515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法律觉醒期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9260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017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小红查询英国押金保护法律，发现房东必须将押金存入TDP。向房东书面询问押金去向。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了解当地法律是第一步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52360" y="2395728"/>
            <a:ext cx="411480" cy="411480"/>
          </a:xfrm>
          <a:prstGeom prst="ellipse">
            <a:avLst/>
          </a:prstGeom>
          <a:solidFill>
            <a:srgbClr val="22223B"/>
          </a:solidFill>
          <a:ln w="38100">
            <a:solidFill>
              <a:srgbClr val="F2E9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051560"/>
            <a:ext cx="1051560" cy="3200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10515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成功维权期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0" y="29260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49440" y="3017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发现房东未存入TDP后，发送律师函警告。房东意识到违法，主动和解并全额退款加赔偿。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法律武器保护了自己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核心启示：留学生租房务必在入住时拍照留存证据，并确认押金已存入政府保护计划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案例二：移民后被中国税务追缴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加拿大移民十年的王先生被追缴个税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王先生2014年移民加拿大，2024年突然收到中国税务部门通知，要求补缴2014-2019年期间的个人所得税及滞纳金共计186万元。税务部门认定其在移民前取得的收入未完成申报纳税义务。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问题焦点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840480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中国税务居民身份的认定标准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离境前收入的纳税义务履行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4297680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33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CRS信息交换下的资产透明化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526280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62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滞纳金和罚款的计算依据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3840480" cy="18288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法律依据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164592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《个人所得税法》规定：中国税务居民对境内外所得均有纳税义务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中国采用"税收居民"标准（居住满183天）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2019年后新个税法增加反避税条款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CRS下海外账户信息自动交换至中国税务局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01752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应对策略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36118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确认是否有未完结的境内收入申报义务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移民前进行资产梳理和税务筹划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咨询专业国际税务律师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了解中加税收协定避免双重征税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案例二分析：CRS应对策略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C9ADA7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CRS（Common Reporting Standard）—— 共同申报准则：全球100多个国家/地区参与的金融账户信息自动交换系统，覆盖90%以上世界经济体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651760" cy="109728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合规策略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228600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06040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移民前完成境内税务清算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44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所有收入依法申报，不隐瞒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429000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55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保留完税证明原件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67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聘请专业税务顾问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78308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783080"/>
            <a:ext cx="2651760" cy="109728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规划策略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0" y="2423160"/>
            <a:ext cx="228600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440" y="260604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合理利用税收协定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20440" y="301752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5" name="Text 23"/>
          <p:cNvSpPr/>
          <p:nvPr/>
        </p:nvSpPr>
        <p:spPr>
          <a:xfrm>
            <a:off x="3703320" y="2944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了解双边免税条款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342900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3355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资产配置多元化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20440" y="384048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3767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关注税收抵免政策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78308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783080"/>
            <a:ext cx="2651760" cy="109728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法律策略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2423160"/>
            <a:ext cx="228600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2606040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咨询国际税务律师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3017520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2944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申诉不当税务认定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3429000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355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申请税务行政复议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3840480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3767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必要时提起行政诉讼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切记：合法合规是跨境资产管理的核心，任何"避税安排"需确保符合中西方两国法律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案例三分析：合规的重要性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280160" cy="3657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常见违规行为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73152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分拆购汇（蚂蚁搬家）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多人拆分额度凑金额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73152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借用他人购汇额度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使用亲友额度购汇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514600"/>
            <a:ext cx="73152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地下钱庄汇款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非法跨境资金流动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73152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虚假贸易背景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200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虚构进出口交易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05840"/>
            <a:ext cx="128016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05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合规汇款方式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73152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年度额度内直接购汇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每人每年5万美元额度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011680"/>
            <a:ext cx="73152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正当学费、生活费证明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提供学校通知书、录取信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514600"/>
            <a:ext cx="73152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留学贷款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银行提供的教育专项贷款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017520"/>
            <a:ext cx="73152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移民财产转移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200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提供移民局批准文件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合规核心要点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" y="3977640"/>
            <a:ext cx="73152" cy="73152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3913632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了解个人年度购汇额度（5万美元），合理规划资金需求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4096512"/>
            <a:ext cx="73152" cy="73152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4032504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保留完整的交易凭证，以备监管部门查验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4215384"/>
            <a:ext cx="73152" cy="73152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4151376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跨境汇款务必选择正规金融机构，切勿贪图便利触犯法律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" y="4334256"/>
            <a:ext cx="73152" cy="73152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427024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如有大额资金需求，提前咨询银行或外汇合规部门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案例四：跨境遗产继承的五年长征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张先生香港房产继承的漫漫之路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先生的父亲在香港留有一处房产，2019年父亲去世后，张先生需办理跨境遗产继承。由于未提前规划，加上香港与内地的法律体系差异，整个继承过程历时5年，奔波于香港高等法院、内地公证处、各类行政部门之间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继承难点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749040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85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香港遗嘱在内地法律效力认定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4005072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41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内地公证处需要香港死亡证明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4261104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97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遗产分配需香港法院裁定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517136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53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房产处置需双重过户登记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五年时间线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1645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2019年：父亲去世，开始办理继承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2020年：香港法院遗嘱认证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2021年：内地公证处亲属关系证明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2022年：房产价值评估与税费缴纳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2023年：完成香港房产过户登记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2024年：内地房产出售并汇入内地账户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38404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2880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成本与损耗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4920" y="333756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246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香港律师费：约25万港币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4920" y="365760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3566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法院认证费：约8万港币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397764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3886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往返香港差旅费：约6万人民币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429768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4206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房产价值下跌损失：约15%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4617720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4526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五年时间成本：难以估量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案例四分析：传承规划前置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28016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为何要提前规划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73152" cy="34747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法律体系差异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内地与香港遗嘱效力认定标准不同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73152" cy="34747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证明材料繁多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167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亲属关系、死亡证明等需多重公证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73152" cy="34747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时间成本巨大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6426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跨境手续通常需要数月到数年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935224"/>
            <a:ext cx="73152" cy="34747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889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费用累积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118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律师费、公证费、差旅费持续支出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05840"/>
            <a:ext cx="1280160" cy="3657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05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前置规划方案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73152" cy="34747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设立跨境遗嘱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分别在香港和内地设立遗嘱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984248"/>
            <a:ext cx="73152" cy="34747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资产清单整理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167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详细记录境内外所有资产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459736"/>
            <a:ext cx="73152" cy="34747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指定执行人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26426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选择熟悉两地法律的执行人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935224"/>
            <a:ext cx="73152" cy="34747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889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定期更新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118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重大变化后及时修订遗嘱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246120"/>
            <a:ext cx="8229600" cy="12344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核心启示：跨境传承规划越早越好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先生的案例警示我们：跨境遗产继承涉及多个法律体系，证明材料繁琐，行政程序漫长。如果张先生父亲在世时提前做好传承规划，比如分别在香港和内地设立遗嘱、指定了解两地法律的执行人，整个继承过程可以缩短至1-2年，节省数十万的费用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案例五分析：签证合规要点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案例反思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90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46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留学生往往不了解签证条款细节，雇主未必主动告知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侥幸心理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23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认为移民局不会抽查到自己，殊不知抽查是随机且普遍的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44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经济压力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300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打工赚取生活费可以理解，但必须在法律框架内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签证合规要点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490472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490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4173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工作时长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417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学生签证通常限每周20小时，假期可全职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3931920" cy="9144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148840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48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075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签证类型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0756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确认自己的签证类型是否允许工作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624328"/>
            <a:ext cx="3931920" cy="9144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2807208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807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7340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雇主资质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73405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只在合法注册的雇主处工作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282696"/>
            <a:ext cx="3931920" cy="9144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465576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465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339242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文件保存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3924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保留工资单、工作合同等证明材料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941064"/>
            <a:ext cx="3931920" cy="9144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4123944"/>
            <a:ext cx="292608" cy="29260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40507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主动申报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40507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如有变化及时向移民局申报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实用建议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建议留学生在入学时就向国际部索要详细的签证工作权益说明，了解自己签证的准确工作限制。如有疑问，优先咨询学校国际学生办公室，而非仅依赖同学或网络信息。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案例带来的核心启示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600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合规是底线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任何时候，法律法规的底线不可突破。违规带来的代价往往远超预期。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73152" cy="1600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信息要准确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政策解读应以官方渠道为准，避免因错误信息导致不可挽回的后果。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73152" cy="16002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预防胜于补救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事前了解、提前规划，远比事后补救成本低、效果好。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51660" y="27432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51660" y="2743200"/>
            <a:ext cx="73152" cy="1600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1" name="Text 19"/>
          <p:cNvSpPr/>
          <p:nvPr/>
        </p:nvSpPr>
        <p:spPr>
          <a:xfrm>
            <a:off x="203454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3454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善用专业资源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3454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学校国际部、律师、领事保护，都是可以利用的专业支持渠道。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40580" y="27432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0580" y="2743200"/>
            <a:ext cx="73152" cy="1600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6" name="Text 24"/>
          <p:cNvSpPr/>
          <p:nvPr/>
        </p:nvSpPr>
        <p:spPr>
          <a:xfrm>
            <a:off x="482346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2346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长期视角决策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346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短期利益与长期代价需要权衡，留学移民是影响人生轨迹的重大决策。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跨境生活的法律风险可防可控，关键在于主动学习、合规行事、善用资源。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工具与自查清单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把知识转化为行动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82880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4A4E69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9A8C98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3474720"/>
            <a:ext cx="731520" cy="731520"/>
          </a:xfrm>
          <a:prstGeom prst="rect">
            <a:avLst/>
          </a:prstGeom>
          <a:solidFill>
            <a:srgbClr val="C9ADA7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课程工具箱：五大核心工具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实用工具，快速自查，降低跨境法律风险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109728" cy="13716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留学法律应急手册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留学期间常见法律问题应对指南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109728" cy="13716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🛫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6928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移民规划三维自查表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资格、资金、风险三维评估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91440" cy="12344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跨境资产合规检查表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资产配置与合规性全面核查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32004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200400"/>
            <a:ext cx="91440" cy="12344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0233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CRS影响自检表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2336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税务信息交换影响评估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2004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200400"/>
            <a:ext cx="91440" cy="12344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90372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资金汇出合规自检表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外汇管制与汇款合规指南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22223B">
              <a:alpha val="9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使用方法：每个工具均为可打印的PDF格式，可直接用于实际自查。建议按课程顺序依次使用。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工具一：留学法律应急手册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自查工具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工具简介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专为留学生设计的法律问题应对指南，涵盖签证、学业、租房、工作、纠纷五大场景，提供快速判断标准和应对步骤。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22223B">
              <a:alpha val="10000"/>
            </a:srgbClr>
          </a:solidFill>
          <a:ln w="6350">
            <a:solidFill>
              <a:srgbClr val="222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146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签证问题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1640" y="2514600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22223B">
              <a:alpha val="10000"/>
            </a:srgbClr>
          </a:solidFill>
          <a:ln w="6350">
            <a:solidFill>
              <a:srgbClr val="222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25146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学业纠纷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2514600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22223B">
              <a:alpha val="10000"/>
            </a:srgbClr>
          </a:solidFill>
          <a:ln w="6350">
            <a:solidFill>
              <a:srgbClr val="222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5146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租房争议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22223B">
              <a:alpha val="10000"/>
            </a:srgbClr>
          </a:solidFill>
          <a:ln w="6350">
            <a:solidFill>
              <a:srgbClr val="2222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03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打工违规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91640" y="2880360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22223B">
              <a:alpha val="10000"/>
            </a:srgbClr>
          </a:solidFill>
          <a:ln w="6350">
            <a:solidFill>
              <a:srgbClr val="222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8803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人身安全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2222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手册目录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签证身份问题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逾期滞留、身份变更、非法打工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19933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学业权益纠纷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学分认定、学术处分、退学申诉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3408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3408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租房合同争议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23408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押金纠纷、提前解约、房屋损坏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2688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6883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紧急情况处理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26883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报警流程、领事保护、大使馆联系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2461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对照目录找到对应场景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51760" y="3703320"/>
            <a:ext cx="274320" cy="2743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1" name="Text 39"/>
          <p:cNvSpPr/>
          <p:nvPr/>
        </p:nvSpPr>
        <p:spPr>
          <a:xfrm>
            <a:off x="265176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01752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按流程图步骤逐步排查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703320"/>
            <a:ext cx="274320" cy="2743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红笔标注自身情况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58000" y="3703320"/>
            <a:ext cx="274320" cy="2743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2376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咨询专业人士确认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0" name="Shape 4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工具二：移民规划三维自查表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自查工具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从资格资质、资金证明、风险评估三个维度，系统评估移民规划的可行性与潜在问题。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54480"/>
            <a:ext cx="269748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55448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2222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920240"/>
            <a:ext cx="2697480" cy="1828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645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维度一：资格资质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94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年龄与学历背景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语言能力证明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职业资格证书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29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移民国需求清单匹配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554480"/>
            <a:ext cx="269748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155448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4A4E69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6120" y="1920240"/>
            <a:ext cx="2697480" cy="1828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1645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维度二：资金证明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22402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194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资金来源合法性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2651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资产总额达标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30632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资金转移路径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34747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429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税务居民身份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1554480"/>
            <a:ext cx="2697480" cy="4572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155448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9A8C98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6480" y="1920240"/>
            <a:ext cx="2697480" cy="1828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1645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维度三：风险评估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22402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194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政策变化风险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2651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排期与周期评估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30632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家庭适应性分析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09360" y="34747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429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退出机制完备性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02336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22223B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114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使用建议：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645920" y="41148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每个维度均需达到60分以上方可推进。建议逐项打分，低于60分的维度需先专项补充后再评估整体可行性。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2" name="Shape 5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工具三：跨境资产合规检查表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自查工具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覆盖境外账户、资产配置、税务申报、汇款合规四大领域的全面合规检查清单。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08760"/>
            <a:ext cx="91440" cy="13258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1618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境外账户申报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205740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是否已在银行完成CRS信息填报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242316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账户信息是否在规定时间内申报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05740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2072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是否保存账户开立证明文件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42316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年度账户总结报告是否归档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50876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508760"/>
            <a:ext cx="91440" cy="13258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57800" y="1618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资产配置合规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205740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境外房产购置资金来源证明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242316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股票、基金等金融资产持有证明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205740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05472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保险产品合规性审查（CRS覆盖）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49440" y="242316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艺术品、珠宝等实物资产登记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97180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2971800"/>
            <a:ext cx="91440" cy="13258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1440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税务居民身份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94360" y="352044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中国税务居民身份认定标准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388620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" y="3840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海外收入年度申报完整性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6040" y="352044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62072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双边税收协定适用性分析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6040" y="388620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62072" y="3840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转让定价合规文档准备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297180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2971800"/>
            <a:ext cx="91440" cy="13258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47" name="Text 45"/>
          <p:cNvSpPr/>
          <p:nvPr/>
        </p:nvSpPr>
        <p:spPr>
          <a:xfrm>
            <a:off x="48920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25780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跨境汇款合规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937760" y="352044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93792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每人每年5万美元购汇额度使用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37760" y="388620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93792" y="3840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大额汇款预审申请合规性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49440" y="352044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第三方支付平台使用规范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49440" y="3886200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F2E9E4"/>
          </a:solidFill>
          <a:ln w="9525">
            <a:solidFill>
              <a:srgbClr val="9A8C9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05472" y="3840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虚拟资产跨境流转申报要求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22223B"/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合规提示：以上检查项仅为基本自查，最终合规判断请咨询专业税务顾问或律师。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0" name="Shape 5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1" name="Text 5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工具四：CRS影响自检表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共同申报准则（CRS）自检清单 - 快速评估您的金融账户信息被交换风险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账户持有情况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在境外持有银行账户或理财产品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在境外拥有人寿保险或年金保险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8620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在境外设立信托或基金会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3192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配偶或子女在境外持有金融账户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37160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税务居民身份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持有境外国家或地区的永久居留权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4048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在一个课税年度内在境外居住超过183天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8620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在境外国家进行了税务登记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3192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在境外拥有房产或其他不动产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金融资产信息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金融账户余额超过一定门槛（100万美元）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4048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拥有跨境企业的股权或债权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8620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收到境外来源的大额转账或分红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3192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拥有境外上市公司的股票期权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提示：CRS信息交换基于金融账户余额和类型，非收入高低。建议高净值人士定期进行CRS合规评估，必要时咨询专业税务顾问。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工具五：资金汇出合规自检表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跨境汇款合规检查清单 - 确保您的资金流动符合国内外监管要求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汇款资质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持有有效的境外银行账户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已完成年度个人购汇额度确认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8620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提供了真实的汇款用途证明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3192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单笔汇款金额在5万美元以内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371600"/>
            <a:ext cx="265176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合规材料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境外学校出具的学费收据/录取通知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4048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境外租房合同或房产证明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8620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移民申请相关的费用通知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3192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完整的资金来源证明文件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反洗钱核查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9476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资金来源清晰、可追溯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4048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汇款路径符合常规商业逻辑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8620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未涉及可疑交易特征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319272"/>
            <a:ext cx="182880" cy="182880"/>
          </a:xfrm>
          <a:prstGeom prst="rect">
            <a:avLst/>
          </a:prstGeom>
          <a:solidFill>
            <a:srgbClr val="F2E9E4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已了解反洗钱调查配合义务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提示：根据《个人外汇管理办法》，每人每年购汇额度为5万美元。超出限额或用于投资、购房等用途，需提供相应证明材料并经外汇局审批。建议大额汇款提前咨询银行。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工具使用时机指南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不同场景下选择合适的自检工具，准确评估风险与合规状态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371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使用时机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148840"/>
            <a:ext cx="365760" cy="36576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留学身份自检表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留学准备期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择校前、申请签证前、入学注册时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788920"/>
            <a:ext cx="365760" cy="36576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651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留学法规自检表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651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留学生活中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651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兼职打工、租房签合同、日常消费时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校园安全自检表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291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紧急事件发生时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291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人身安全事件、财产损失、纠纷冲突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069080"/>
            <a:ext cx="365760" cy="36576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CRS影响自检表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3931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跨境资产配置前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开设海外账户、购买海外保险、设立信托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709160"/>
            <a:ext cx="365760" cy="36576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63040" y="4572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资金汇出合规自检表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4572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汇款前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4572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支付学费、汇生活费、购房汇款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建议按需使用，交叉验证，确保跨境生活合法合规、安心无忧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4A4E6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657600"/>
            <a:ext cx="1828800" cy="1828800"/>
          </a:xfrm>
          <a:prstGeom prst="ellipse">
            <a:avLst/>
          </a:prstGeom>
          <a:solidFill>
            <a:srgbClr val="9A8C98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情境模拟与行动规划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8288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场景分析  |  风险评估  |  行动方案  |  实战演练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情境演练一：任务卡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你的任务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7647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分析合同条款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07568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仔细阅读以下租房合同摘录，识别出3处对小明不利的条款，并说明为什么这些条款可能不合法或不公平。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24912"/>
            <a:ext cx="411480" cy="4114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24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6151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计算维权金额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根据英国Tenant Fees Act 2019和押金保护法规，房东有哪些费用实际上不应收取？计算小明最多可能追回的金额。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75304"/>
            <a:ext cx="411480" cy="4114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46557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制定维权方案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7764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请列出小明维权的步骤，包括他需要联系哪些机构、准备哪些材料、以及重要的时间节点。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242816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425696"/>
            <a:ext cx="411480" cy="4114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25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3159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46268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分析小明维权过程中可能面临的风险和挑战，并提出应对策略。如果房东威胁起诉怎么办？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C9ADA7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建议完成时间：15分钟  |  小组讨论形式效果更佳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情境演练二：移民税务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情境演练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通过模拟新移民税务申报场景，学习理解中美税务居民身份差异、境外所得申报规则、以及合法节税的基本策略。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场景背景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女士2023年取得美国绿卡，但仍在上海工作生活。她在中国有一套出租房产，年租金收入约30万人民币。此外，她持有的某科技公司股票期权在2024年成熟，预计行权收益约50万美元。李女士应该如何申报海外收入？中美两国的税务协定如何适用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240280"/>
            <a:ext cx="4114800" cy="22860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你需要解决的问题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2834640"/>
            <a:ext cx="137160" cy="1371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李女士是否需要在中国申报租金收入所得税？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3246120"/>
            <a:ext cx="137160" cy="1371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美国对海外股票期权收益如何征税？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657600"/>
            <a:ext cx="137160" cy="1371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如何利用中美税务协定避免双重征税？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4069080"/>
            <a:ext cx="137160" cy="1371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有哪些合法节税工具可以使用？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solidFill>
            <a:srgbClr val="C9ADA7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634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下一页查看任务卡 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情境演练二：任务卡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1371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37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情境演练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场景：跨境遗产继承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情境设定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李先生在美国工作20年，太太是美国人，两个孩子在美国出生。李先生父母均已去世，在上海留有一套房产和一笔银行存款。李先生突发心脏病去世，没有留下遗嘱。现在太太和孩子想继承上海的遗产。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78638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你的任务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292608" cy="29260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分析李太太和孩子能否继承中国遗产的法律依据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85032"/>
            <a:ext cx="292608" cy="29260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85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68503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梳理跨境继承需要办理哪些公证和认证手续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23944"/>
            <a:ext cx="292608" cy="29260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123944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列出中国和美国分别需要缴纳的遗产税（如果有）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562856"/>
            <a:ext cx="292608" cy="29260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62856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制定一份跨境遗产继承的办理时间表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01768"/>
            <a:ext cx="292608" cy="29260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001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5001768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识别本案中最容易出问题的3个风险点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情境演练二：参考思路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0" y="137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参考思路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109728" cy="18288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法律依据分析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《继承法》第36条：外国人继承在华遗产需按对等原则办理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太太是美国籍，可通过领事认证程序继承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孩子在美国出生，需提供出生证明及翻译公证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109728" cy="18288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公证认证手续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美国公证人公证死亡证明、亲属关系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州政府认证 + 中国驻美领事馆认证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中国公证处办理继承权公证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71800"/>
            <a:ext cx="109728" cy="18288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税务考量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中国：目前无遗产税，但需缴纳契税等税费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美国：联邦遗产税免税额约1200万美元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建议聘请两国税务顾问协调方案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71800"/>
            <a:ext cx="109728" cy="18288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429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材料准备不全导致往返中美多次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公证认证手续超时延误办理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房产继承中其他继承人主张权利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行动规划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82880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4A4E69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9A8C98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你的跨境生活风险画像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965960" cy="109728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141732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高发风险: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63347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签证身份问题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980944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98094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兼职打工违规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3328416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32841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租房纠纷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67588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学术诚信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3886200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862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中等风险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100584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06040" y="1005840"/>
            <a:ext cx="1965960" cy="109728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2" name="Text 20"/>
          <p:cNvSpPr/>
          <p:nvPr/>
        </p:nvSpPr>
        <p:spPr>
          <a:xfrm>
            <a:off x="260604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69748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新移民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880360" y="2240280"/>
            <a:ext cx="141732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高发风险: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15768" y="2633472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27" name="Text 25"/>
          <p:cNvSpPr/>
          <p:nvPr/>
        </p:nvSpPr>
        <p:spPr>
          <a:xfrm>
            <a:off x="2715768" y="263347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首次报税误区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15768" y="2980944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29" name="Text 27"/>
          <p:cNvSpPr/>
          <p:nvPr/>
        </p:nvSpPr>
        <p:spPr>
          <a:xfrm>
            <a:off x="2715768" y="298094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房产购置法律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15768" y="3328416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31" name="Text 29"/>
          <p:cNvSpPr/>
          <p:nvPr/>
        </p:nvSpPr>
        <p:spPr>
          <a:xfrm>
            <a:off x="2715768" y="332841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银行开户限制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15768" y="3675888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33" name="Text 31"/>
          <p:cNvSpPr/>
          <p:nvPr/>
        </p:nvSpPr>
        <p:spPr>
          <a:xfrm>
            <a:off x="2715768" y="367588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社保转移接续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34640" y="3886200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35" name="Text 33"/>
          <p:cNvSpPr/>
          <p:nvPr/>
        </p:nvSpPr>
        <p:spPr>
          <a:xfrm>
            <a:off x="2834640" y="38862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较高风险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00584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005840"/>
            <a:ext cx="1965960" cy="109728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84632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跨境商务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029200" y="2240280"/>
            <a:ext cx="141732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高发风险: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64608" y="2633472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43" name="Text 41"/>
          <p:cNvSpPr/>
          <p:nvPr/>
        </p:nvSpPr>
        <p:spPr>
          <a:xfrm>
            <a:off x="4864608" y="263347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外汇管制合规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64608" y="2980944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45" name="Text 43"/>
          <p:cNvSpPr/>
          <p:nvPr/>
        </p:nvSpPr>
        <p:spPr>
          <a:xfrm>
            <a:off x="4864608" y="298094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合同法律差异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64608" y="3328416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47" name="Text 45"/>
          <p:cNvSpPr/>
          <p:nvPr/>
        </p:nvSpPr>
        <p:spPr>
          <a:xfrm>
            <a:off x="4864608" y="332841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知识产权保护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64608" y="3675888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49" name="Text 47"/>
          <p:cNvSpPr/>
          <p:nvPr/>
        </p:nvSpPr>
        <p:spPr>
          <a:xfrm>
            <a:off x="4864608" y="367588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员工劳动法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83480" y="3886200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4A4E69"/>
          </a:solidFill>
          <a:ln/>
        </p:spPr>
      </p:sp>
      <p:sp>
        <p:nvSpPr>
          <p:cNvPr id="51" name="Text 49"/>
          <p:cNvSpPr/>
          <p:nvPr/>
        </p:nvSpPr>
        <p:spPr>
          <a:xfrm>
            <a:off x="4983480" y="38862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03720" y="100584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03720" y="1005840"/>
            <a:ext cx="1965960" cy="10972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54" name="Text 52"/>
          <p:cNvSpPr/>
          <p:nvPr/>
        </p:nvSpPr>
        <p:spPr>
          <a:xfrm>
            <a:off x="690372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3200" dirty="0"/>
          </a:p>
        </p:txBody>
      </p:sp>
      <p:sp>
        <p:nvSpPr>
          <p:cNvPr id="55" name="Text 53"/>
          <p:cNvSpPr/>
          <p:nvPr/>
        </p:nvSpPr>
        <p:spPr>
          <a:xfrm>
            <a:off x="699516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投资移民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7178040" y="2240280"/>
            <a:ext cx="141732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57" name="Text 55"/>
          <p:cNvSpPr/>
          <p:nvPr/>
        </p:nvSpPr>
        <p:spPr>
          <a:xfrm>
            <a:off x="704088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高发风险: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013448" y="2633472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59" name="Text 57"/>
          <p:cNvSpPr/>
          <p:nvPr/>
        </p:nvSpPr>
        <p:spPr>
          <a:xfrm>
            <a:off x="7013448" y="263347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资金来源证明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13448" y="2980944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61" name="Text 59"/>
          <p:cNvSpPr/>
          <p:nvPr/>
        </p:nvSpPr>
        <p:spPr>
          <a:xfrm>
            <a:off x="7013448" y="298094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投资合规审查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013448" y="3328416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63" name="Text 61"/>
          <p:cNvSpPr/>
          <p:nvPr/>
        </p:nvSpPr>
        <p:spPr>
          <a:xfrm>
            <a:off x="7013448" y="332841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税务居民身份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013448" y="3675888"/>
            <a:ext cx="1746504" cy="274320"/>
          </a:xfrm>
          <a:prstGeom prst="roundRect">
            <a:avLst>
              <a:gd name="adj" fmla="val 13333"/>
            </a:avLst>
          </a:prstGeom>
          <a:solidFill>
            <a:srgbClr val="F2E9E4"/>
          </a:solidFill>
          <a:ln/>
        </p:spPr>
      </p:sp>
      <p:sp>
        <p:nvSpPr>
          <p:cNvPr id="65" name="Text 63"/>
          <p:cNvSpPr/>
          <p:nvPr/>
        </p:nvSpPr>
        <p:spPr>
          <a:xfrm>
            <a:off x="7013448" y="367588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退出机制设计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32320" y="3886200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2223B"/>
          </a:solidFill>
          <a:ln/>
        </p:spPr>
      </p:sp>
      <p:sp>
        <p:nvSpPr>
          <p:cNvPr id="67" name="Text 65"/>
          <p:cNvSpPr/>
          <p:nvPr/>
        </p:nvSpPr>
        <p:spPr>
          <a:xfrm>
            <a:off x="7132320" y="38862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极高风险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9" name="Text 67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提示：点击你对应的类型，了解针对性的风险防范建议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71" name="Shape 6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72" name="Text 7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从学习到实践：四周循序渐进行动方案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68096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2505456"/>
            <a:ext cx="365760" cy="365760"/>
          </a:xfrm>
          <a:prstGeom prst="ellipse">
            <a:avLst/>
          </a:prstGeom>
          <a:solidFill>
            <a:srgbClr val="22223B"/>
          </a:solidFill>
          <a:ln w="38100">
            <a:solidFill>
              <a:srgbClr val="F2E9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417320"/>
            <a:ext cx="192024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法律框架构建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364992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273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完成课程1-15的学习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3712464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6210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整理留学法律要点笔记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4059936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968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建立个人法律知识库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03320" y="2505456"/>
            <a:ext cx="365760" cy="365760"/>
          </a:xfrm>
          <a:prstGeom prst="ellipse">
            <a:avLst/>
          </a:prstGeom>
          <a:solidFill>
            <a:srgbClr val="4A4E69"/>
          </a:solidFill>
          <a:ln w="38100">
            <a:solidFill>
              <a:srgbClr val="F2E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0" y="14173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0" y="1417320"/>
            <a:ext cx="1920240" cy="7315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移民路径规划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0" y="29718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6324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63240" y="3364992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1" name="Text 29"/>
          <p:cNvSpPr/>
          <p:nvPr/>
        </p:nvSpPr>
        <p:spPr>
          <a:xfrm>
            <a:off x="3246120" y="3273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完成课程16-30的学习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63240" y="3712464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36210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使用移民三维自查表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63240" y="4059936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5" name="Text 33"/>
          <p:cNvSpPr/>
          <p:nvPr/>
        </p:nvSpPr>
        <p:spPr>
          <a:xfrm>
            <a:off x="3246120" y="3968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制定个人移民时间表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97880" y="2505456"/>
            <a:ext cx="365760" cy="365760"/>
          </a:xfrm>
          <a:prstGeom prst="ellipse">
            <a:avLst/>
          </a:prstGeom>
          <a:solidFill>
            <a:srgbClr val="9A8C98"/>
          </a:solidFill>
          <a:ln w="38100">
            <a:solidFill>
              <a:srgbClr val="F2E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20640" y="14173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20640" y="1417320"/>
            <a:ext cx="192024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资产合规审计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20640" y="29718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25780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7800" y="3364992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5" name="Text 43"/>
          <p:cNvSpPr/>
          <p:nvPr/>
        </p:nvSpPr>
        <p:spPr>
          <a:xfrm>
            <a:off x="5440680" y="3273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完成课程31-50的学习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57800" y="3712464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7" name="Text 45"/>
          <p:cNvSpPr/>
          <p:nvPr/>
        </p:nvSpPr>
        <p:spPr>
          <a:xfrm>
            <a:off x="5440680" y="36210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使用跨境资产合规表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57800" y="4059936"/>
            <a:ext cx="109728" cy="10972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9" name="Text 47"/>
          <p:cNvSpPr/>
          <p:nvPr/>
        </p:nvSpPr>
        <p:spPr>
          <a:xfrm>
            <a:off x="5440680" y="3968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梳理个人海外资产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92440" y="2505456"/>
            <a:ext cx="365760" cy="365760"/>
          </a:xfrm>
          <a:prstGeom prst="ellipse">
            <a:avLst/>
          </a:prstGeom>
          <a:solidFill>
            <a:srgbClr val="C9ADA7"/>
          </a:solidFill>
          <a:ln w="38100">
            <a:solidFill>
              <a:srgbClr val="F2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244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315200" y="14173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315200" y="1417320"/>
            <a:ext cx="192024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54" name="Text 52"/>
          <p:cNvSpPr/>
          <p:nvPr/>
        </p:nvSpPr>
        <p:spPr>
          <a:xfrm>
            <a:off x="740664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40664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实战与优化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315200" y="29718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45236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52360" y="3364992"/>
            <a:ext cx="109728" cy="109728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59" name="Text 57"/>
          <p:cNvSpPr/>
          <p:nvPr/>
        </p:nvSpPr>
        <p:spPr>
          <a:xfrm>
            <a:off x="7635240" y="3273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完成全部课程学习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52360" y="3712464"/>
            <a:ext cx="109728" cy="109728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61" name="Text 59"/>
          <p:cNvSpPr/>
          <p:nvPr/>
        </p:nvSpPr>
        <p:spPr>
          <a:xfrm>
            <a:off x="7635240" y="36210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使用CRS自检表自审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52360" y="4059936"/>
            <a:ext cx="109728" cy="109728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63" name="Text 61"/>
          <p:cNvSpPr/>
          <p:nvPr/>
        </p:nvSpPr>
        <p:spPr>
          <a:xfrm>
            <a:off x="7635240" y="3968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制定个人行动计划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22223B">
              <a:alpha val="92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提示：每周结束后，使用课程配套工具表进行自我评估，持续优化行动计划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7" name="Text 6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资源库：继续学习的路径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推荐资源，助你在跨境法律领域持续深耕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2222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官方机构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国家外汇管理局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外汇政策与法规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35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公安部出入境管理局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护照、签证政策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86200"/>
            <a:ext cx="73152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95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国家税务总局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个人所得税、CRS信息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14630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A4E69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专业平台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51760" y="196596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51760" y="1965960"/>
            <a:ext cx="73152" cy="8229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2075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中国法律服务网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公共法律服务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29260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51760" y="2926080"/>
            <a:ext cx="73152" cy="8229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3035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无讼案例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3464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跨境案例检索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51760" y="388620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51760" y="3886200"/>
            <a:ext cx="73152" cy="8229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3" name="Text 31"/>
          <p:cNvSpPr/>
          <p:nvPr/>
        </p:nvSpPr>
        <p:spPr>
          <a:xfrm>
            <a:off x="2834640" y="3995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OpenLaw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3464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法律文书检索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4630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9A8C98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国际资源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196596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1965960"/>
            <a:ext cx="73152" cy="8229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075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OECD CRS Portal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全球税务信息交换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9260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2926080"/>
            <a:ext cx="73152" cy="8229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035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USCIS官网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美国移民局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88620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886200"/>
            <a:ext cx="73152" cy="8229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995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UKVI官网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英国签证移民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40880" y="14630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C9ADA7"/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进阶学习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040880" y="196596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040880" y="1965960"/>
            <a:ext cx="73152" cy="8229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53" name="Text 51"/>
          <p:cNvSpPr/>
          <p:nvPr/>
        </p:nvSpPr>
        <p:spPr>
          <a:xfrm>
            <a:off x="7223760" y="2075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跨境投资法律实务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22376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专业书籍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40880" y="29260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040880" y="2926080"/>
            <a:ext cx="73152" cy="8229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57" name="Text 55"/>
          <p:cNvSpPr/>
          <p:nvPr/>
        </p:nvSpPr>
        <p:spPr>
          <a:xfrm>
            <a:off x="7223760" y="3035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国际商法系列课程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22376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在线学习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40880" y="388620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040880" y="3886200"/>
            <a:ext cx="73152" cy="8229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1" name="Text 59"/>
          <p:cNvSpPr/>
          <p:nvPr/>
        </p:nvSpPr>
        <p:spPr>
          <a:xfrm>
            <a:off x="7223760" y="3995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跨境法律案例集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22376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实务参考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22223B">
              <a:alpha val="9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建议：关注官方机构最新政策，专业平台定期更新，国际资源用于拓展全球视野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6" name="Text 6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课程核心框架回顾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框架总览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86200" y="2194560"/>
            <a:ext cx="1371600" cy="1371600"/>
          </a:xfrm>
          <a:prstGeom prst="ellipse">
            <a:avLst/>
          </a:prstGeom>
          <a:solidFill>
            <a:srgbClr val="22223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86200" y="21945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跨境生活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法律指南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371600"/>
            <a:ext cx="219456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371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留学法律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3200400"/>
            <a:ext cx="2560320" cy="-320040"/>
          </a:xfrm>
          <a:prstGeom prst="line">
            <a:avLst/>
          </a:prstGeom>
          <a:noFill/>
          <a:ln w="19050">
            <a:solidFill>
              <a:srgbClr val="22223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97280" y="1920240"/>
            <a:ext cx="91440" cy="914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签证与身份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2176272"/>
            <a:ext cx="91440" cy="914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2130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租房合同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2432304"/>
            <a:ext cx="91440" cy="914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386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打工规定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2688336"/>
            <a:ext cx="91440" cy="914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26426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医疗权益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" y="2944368"/>
            <a:ext cx="91440" cy="914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2898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学业纠纷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137160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1371600"/>
            <a:ext cx="219456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1371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移民法律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200400"/>
            <a:ext cx="-182880" cy="-320040"/>
          </a:xfrm>
          <a:prstGeom prst="line">
            <a:avLst/>
          </a:prstGeom>
          <a:noFill/>
          <a:ln w="19050">
            <a:solidFill>
              <a:srgbClr val="4A4E69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840480" y="1920240"/>
            <a:ext cx="91440" cy="914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移民签证类型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2176272"/>
            <a:ext cx="91440" cy="914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2130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申请流程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432304"/>
            <a:ext cx="91440" cy="914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2386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居住权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0" y="2688336"/>
            <a:ext cx="91440" cy="914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0" y="26426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入籍规划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2944368"/>
            <a:ext cx="91440" cy="914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0" y="2898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家庭团聚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137160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1371600"/>
            <a:ext cx="219456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1371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98080" y="3200400"/>
            <a:ext cx="-2926080" cy="-320040"/>
          </a:xfrm>
          <a:prstGeom prst="line">
            <a:avLst/>
          </a:prstGeom>
          <a:noFill/>
          <a:ln w="19050">
            <a:solidFill>
              <a:srgbClr val="9A8C9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583680" y="1920240"/>
            <a:ext cx="91440" cy="914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外汇管制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2176272"/>
            <a:ext cx="91440" cy="914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2130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海外账户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2432304"/>
            <a:ext cx="91440" cy="914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2386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CRS合规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0" y="2688336"/>
            <a:ext cx="91440" cy="914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7" name="Text 45"/>
          <p:cNvSpPr/>
          <p:nvPr/>
        </p:nvSpPr>
        <p:spPr>
          <a:xfrm>
            <a:off x="6766560" y="26426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资产转移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83680" y="2944368"/>
            <a:ext cx="91440" cy="914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2898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税务规划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011680" y="3337560"/>
            <a:ext cx="5120640" cy="0"/>
          </a:xfrm>
          <a:prstGeom prst="line">
            <a:avLst/>
          </a:prstGeom>
          <a:noFill/>
          <a:ln w="12700">
            <a:solidFill>
              <a:srgbClr val="9A8C98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0080" y="36576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配套工具：留学法律应急手册 | 移民规划三维自查表 | 跨境资产合规检查表 | CRS影响自检表 | 资金汇出合规自检表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学完这门课的五个收获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核心收获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146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法律风险识别能力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8308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能够识别留学、移民、跨境资产中的常见法律风险点，提前规避陷阱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4340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合规操作知识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178308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掌握跨境生活中的合规操作方法，知道什么该做、什么不能碰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458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🆘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1520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自救与求助路径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178308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遇到法律问题时知道找谁、用什么工具、走什么流程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88820" y="27432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2598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0005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85750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全球视野思维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125980" y="338328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9" name="Text 27"/>
          <p:cNvSpPr/>
          <p:nvPr/>
        </p:nvSpPr>
        <p:spPr>
          <a:xfrm>
            <a:off x="21259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从国内思维切换到全球视野，理解不同法域的差异与关联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60620" y="27432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9778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723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🧰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82930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实用工具箱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97780" y="3383280"/>
            <a:ext cx="23774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5" name="Text 33"/>
          <p:cNvSpPr/>
          <p:nvPr/>
        </p:nvSpPr>
        <p:spPr>
          <a:xfrm>
            <a:off x="50977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获得5套可打印使用的自查工具表，持续自我管理与风险防控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这不仅是一门法律课，更是一套跨境生活的行动指南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反思总结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学习完本课程，请认真思考以下三个问题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31620" y="178308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15316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我的跨境需求是什么？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留学、移民还是资产配置？不同的需求对应不同的法律框架和合规要求。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57700" y="178308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4" name="Text 12"/>
          <p:cNvSpPr/>
          <p:nvPr/>
        </p:nvSpPr>
        <p:spPr>
          <a:xfrm>
            <a:off x="44577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我面临哪些法律风险？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从签证合规到税务居民身份，从资金汇出到资产保护，识别风险是风险管理的第一步。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83780" y="178308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837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我需要哪些专业支持？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跨境法律问题复杂多变，专业律师、税务师的协助往往能规避重大损失。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22223B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将答案写下来，这些思考将成为你跨境决策的重要依据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4A4E6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9A8C9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感谢学习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跨境生活，法律先行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跨境生活法律指南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讲师介绍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讲师信息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讲师头像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张明律师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34640" y="1920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跨境法律事务资深律师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2377440"/>
            <a:ext cx="457200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514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834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毕业于中国政法大学，拥有15年跨境法律服务经验。曾为数千名留学生、海外华人及跨境企业家提供法律咨询和纠纷解决方案。专注于留学法律风险防范、移民规划合规、跨境资产配置等领域。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6118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专业背景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3931920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美国律师执照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3931920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英国仲裁协会会员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931920"/>
            <a:ext cx="109728" cy="10972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国际法律协会成员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后续学习推荐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06640" y="2743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延伸学习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91440" cy="12344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801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22223B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80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热门推荐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海外房产法律实务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了解购房合同、产权保护、税务规划等核心法律问题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43000"/>
            <a:ext cx="91440" cy="12344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2801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4A4E69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80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进阶课程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国际商事仲裁指南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跨境商业纠纷解决途径与仲裁程序详解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60320"/>
            <a:ext cx="91440" cy="12344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6974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9A8C98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974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高端专题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017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海外财富传承规划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离岸信托、家族办公室与跨境遗产规划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5603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560320"/>
            <a:ext cx="91440" cy="12344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26974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C9ADA7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6974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实务技能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017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跨境电商合规运营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进出口法规、海关监管与知识产权保护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22223B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扫描下方二维码，获取完整课程目录与学员专属优惠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86200" y="45262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C9ADA7"/>
          </a:solidFill>
          <a:ln/>
        </p:spPr>
      </p:sp>
      <p:sp>
        <p:nvSpPr>
          <p:cNvPr id="33" name="Text 31"/>
          <p:cNvSpPr/>
          <p:nvPr/>
        </p:nvSpPr>
        <p:spPr>
          <a:xfrm>
            <a:off x="388620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继续深入学习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for Deeper Learning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推荐书籍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《国际法导论》- 了解国际法基本原则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《留学生存指南》- 实用留学法律手册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《跨境资产管理》- 海外资产配置策略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51560"/>
            <a:ext cx="4114800" cy="4114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权威网站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中国领事服务网 (cs.mfa.gov.cn)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各国移民局官方网站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教育部留学服务中心 (cscse.edu.cn)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3931920" cy="4114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相关法规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《中华人民共和国出境入境管理法》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《外国人在中国永久居留享有相关待遇的办法》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06324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063240"/>
            <a:ext cx="4114800" cy="4114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专业机构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566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中国国际移民研究体系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各国外籍律师协会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跨境法律咨询服务中心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问答环节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743200" cy="2743200"/>
          </a:xfrm>
          <a:prstGeom prst="ellipse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737360"/>
            <a:ext cx="1828800" cy="1828800"/>
          </a:xfrm>
          <a:prstGeom prst="ellipse">
            <a:avLst/>
          </a:prstGeom>
          <a:solidFill>
            <a:srgbClr val="9A8C98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3716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2223B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关于签证有什么问题？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移民政策可以提问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跨境资产怎么规划？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9260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还有其他问题吗？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欢迎提出任何问题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097280"/>
            <a:ext cx="109728" cy="34747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371600"/>
            <a:ext cx="502920" cy="5029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电子邮箱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contact@example.com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2057400"/>
            <a:ext cx="5303520" cy="13716"/>
          </a:xfrm>
          <a:prstGeom prst="rect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2148840"/>
            <a:ext cx="502920" cy="5029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咨询电话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400-888-8888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2834640"/>
            <a:ext cx="5303520" cy="13716"/>
          </a:xfrm>
          <a:prstGeom prst="rect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2926080"/>
            <a:ext cx="502920" cy="5029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官方网站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www.example.com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28800" y="3611880"/>
            <a:ext cx="5303520" cy="13716"/>
          </a:xfrm>
          <a:prstGeom prst="rect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3703320"/>
            <a:ext cx="502920" cy="50292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146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办公地址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1460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北京市朝阳区建国门外大街1号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463040"/>
            <a:ext cx="1097280" cy="1097280"/>
          </a:xfrm>
          <a:prstGeom prst="rect">
            <a:avLst/>
          </a:prstGeom>
          <a:solidFill>
            <a:srgbClr val="F2E9E4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10896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C9ADA7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108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关注我们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2026-08-28T01:05:45Z</dcterms:created>
  <dcterms:modified xsi:type="dcterms:W3CDTF">2026-08-28T01:05:45Z</dcterms:modified>
</cp:coreProperties>
</file>