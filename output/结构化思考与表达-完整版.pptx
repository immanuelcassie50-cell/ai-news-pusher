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E8D4D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657600"/>
            <a:ext cx="2286000" cy="2286000"/>
          </a:xfrm>
          <a:prstGeom prst="ellipse">
            <a:avLst/>
          </a:prstGeom>
          <a:solidFill>
            <a:srgbClr val="C45C5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474720"/>
            <a:ext cx="731520" cy="7315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结构化思考与表达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想清楚、说清楚、写清楚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职业素养与职场效能 | 2天课程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课程介绍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737360"/>
            <a:ext cx="822960" cy="82296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874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课程定位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系统提升职场核心素养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培养结构化思维能力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737360"/>
            <a:ext cx="822960" cy="82296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74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课程时长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200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2天密集培训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共16学时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1737360"/>
            <a:ext cx="822960" cy="82296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874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目标学员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3200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职场新人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中层管理者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D4D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掌握结构化思考的核心理念与方法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075688"/>
            <a:ext cx="685800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240280"/>
            <a:ext cx="594360" cy="5943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运用金字塔原理组织表达逻辑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2944368"/>
            <a:ext cx="685800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154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提升口头表达的结构性与说服力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3813048"/>
            <a:ext cx="685800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690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23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规范书面表达，提升专业形象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1645920"/>
            <a:ext cx="109728" cy="109728"/>
          </a:xfrm>
          <a:prstGeom prst="ellipse">
            <a:avLst/>
          </a:prstGeom>
          <a:solidFill>
            <a:srgbClr val="C45C5C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2377440"/>
            <a:ext cx="109728" cy="109728"/>
          </a:xfrm>
          <a:prstGeom prst="ellipse">
            <a:avLst/>
          </a:prstGeom>
          <a:solidFill>
            <a:srgbClr val="C45C5C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108960"/>
            <a:ext cx="109728" cy="109728"/>
          </a:xfrm>
          <a:prstGeom prst="ellipse">
            <a:avLst/>
          </a:prstGeom>
          <a:solidFill>
            <a:srgbClr val="C45C5C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3840480"/>
            <a:ext cx="109728" cy="109728"/>
          </a:xfrm>
          <a:prstGeom prst="ellipse">
            <a:avLst/>
          </a:prstGeom>
          <a:solidFill>
            <a:srgbClr val="C45C5C">
              <a:alpha val="6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2651760"/>
            <a:ext cx="8229600" cy="5486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1120140" y="2542032"/>
            <a:ext cx="320040" cy="3200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5" name="Shape 3"/>
          <p:cNvSpPr/>
          <p:nvPr/>
        </p:nvSpPr>
        <p:spPr>
          <a:xfrm>
            <a:off x="1266444" y="2194560"/>
            <a:ext cx="27432" cy="5486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97280"/>
            <a:ext cx="12801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1280160" cy="3200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155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0028" y="2542032"/>
            <a:ext cx="320040" cy="3200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6332" y="2880360"/>
            <a:ext cx="27432" cy="5486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2029968" y="3108960"/>
            <a:ext cx="12801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9968" y="3108960"/>
            <a:ext cx="1280160" cy="3200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5" name="Text 13"/>
          <p:cNvSpPr/>
          <p:nvPr/>
        </p:nvSpPr>
        <p:spPr>
          <a:xfrm>
            <a:off x="2029968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75688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思考的逻辑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75688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金字塔原理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99916" y="2542032"/>
            <a:ext cx="320040" cy="3200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9" name="Shape 17"/>
          <p:cNvSpPr/>
          <p:nvPr/>
        </p:nvSpPr>
        <p:spPr>
          <a:xfrm>
            <a:off x="4046220" y="2194560"/>
            <a:ext cx="27432" cy="5486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3419856" y="1097280"/>
            <a:ext cx="12801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19856" y="1097280"/>
            <a:ext cx="1280160" cy="3200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22" name="Text 20"/>
          <p:cNvSpPr/>
          <p:nvPr/>
        </p:nvSpPr>
        <p:spPr>
          <a:xfrm>
            <a:off x="3419856" y="11155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65576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口头表达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65576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汇报与演讲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89804" y="2542032"/>
            <a:ext cx="320040" cy="3200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6" name="Shape 24"/>
          <p:cNvSpPr/>
          <p:nvPr/>
        </p:nvSpPr>
        <p:spPr>
          <a:xfrm>
            <a:off x="5436108" y="2880360"/>
            <a:ext cx="27432" cy="5486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9744" y="3108960"/>
            <a:ext cx="12801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9744" y="3108960"/>
            <a:ext cx="1280160" cy="3200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29" name="Text 27"/>
          <p:cNvSpPr/>
          <p:nvPr/>
        </p:nvSpPr>
        <p:spPr>
          <a:xfrm>
            <a:off x="4809744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55464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书面表达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55464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邮件与文档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9692" y="2542032"/>
            <a:ext cx="320040" cy="3200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33" name="Shape 31"/>
          <p:cNvSpPr/>
          <p:nvPr/>
        </p:nvSpPr>
        <p:spPr>
          <a:xfrm>
            <a:off x="6825996" y="2194560"/>
            <a:ext cx="27432" cy="5486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34" name="Shape 32"/>
          <p:cNvSpPr/>
          <p:nvPr/>
        </p:nvSpPr>
        <p:spPr>
          <a:xfrm>
            <a:off x="6199632" y="1097280"/>
            <a:ext cx="12801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9632" y="1097280"/>
            <a:ext cx="1280160" cy="3200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11155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45352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结构化汇报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69580" y="2542032"/>
            <a:ext cx="320040" cy="3200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40" name="Shape 38"/>
          <p:cNvSpPr/>
          <p:nvPr/>
        </p:nvSpPr>
        <p:spPr>
          <a:xfrm>
            <a:off x="8215884" y="2880360"/>
            <a:ext cx="27432" cy="5486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41" name="Shape 39"/>
          <p:cNvSpPr/>
          <p:nvPr/>
        </p:nvSpPr>
        <p:spPr>
          <a:xfrm>
            <a:off x="7589520" y="3108960"/>
            <a:ext cx="12801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89520" y="3108960"/>
            <a:ext cx="1280160" cy="3200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43" name="Text 41"/>
          <p:cNvSpPr/>
          <p:nvPr/>
        </p:nvSpPr>
        <p:spPr>
          <a:xfrm>
            <a:off x="758952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63524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635240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8B2323">
              <a:alpha val="9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53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课程导入与概述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057400"/>
            <a:ext cx="256032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96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思考的逻辑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金字塔原理与应用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200400"/>
            <a:ext cx="256032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39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口头表达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结构化汇报与演讲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4343400"/>
            <a:ext cx="256032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0" y="1280160"/>
            <a:ext cx="502920" cy="50292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1353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书面表达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专业邮件与文档写作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256032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0" y="2423160"/>
            <a:ext cx="502920" cy="50292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2496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高效汇报的技巧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200400"/>
            <a:ext cx="256032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114800" y="3566160"/>
            <a:ext cx="502920" cy="50292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0" y="3639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5488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案例分析与实战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4343400"/>
            <a:ext cx="256032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6720" y="4114800"/>
            <a:ext cx="731520" cy="731520"/>
          </a:xfrm>
          <a:prstGeom prst="ellipse">
            <a:avLst/>
          </a:prstGeom>
          <a:solidFill>
            <a:srgbClr val="C45C5C">
              <a:alpha val="5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743200" cy="10972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表达混乱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0" y="2743200"/>
            <a:ext cx="4023360" cy="7315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2880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思路不清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0" y="3474720"/>
            <a:ext cx="5120640" cy="9144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36576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思考混乱（根本原因）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冰山模型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表象问题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深层原因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根本症结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1828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职场中 90% 的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表达问题，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源于思考混乱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解决问题要先从思考方式入手，而不是表面的话术技巧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学习路径与产出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234440"/>
            <a:ext cx="548640" cy="5486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思维构建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金字塔原理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结构化思维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246120"/>
            <a:ext cx="914400" cy="27432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0604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234440"/>
            <a:ext cx="548640" cy="5486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06040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表达训练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汇报技巧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会议发言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246120"/>
            <a:ext cx="914400" cy="27432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45分钟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94960" y="1234440"/>
            <a:ext cx="548640" cy="5486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09160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文档撰写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邮件技巧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方案写作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3246120"/>
            <a:ext cx="914400" cy="27432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40分钟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1228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0" y="1234440"/>
            <a:ext cx="548640" cy="5486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12280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实战应用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案例演练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场景练习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3246120"/>
            <a:ext cx="914400" cy="27432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35分钟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学习产出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" y="4343400"/>
            <a:ext cx="192024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1套思维框架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4343400"/>
            <a:ext cx="192024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0" name="Text 38"/>
          <p:cNvSpPr/>
          <p:nvPr/>
        </p:nvSpPr>
        <p:spPr>
          <a:xfrm>
            <a:off x="2697480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5个表达模板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343400"/>
            <a:ext cx="192024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3个实战案例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12280" y="4343400"/>
            <a:ext cx="192024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4" name="Text 42"/>
          <p:cNvSpPr/>
          <p:nvPr/>
        </p:nvSpPr>
        <p:spPr>
          <a:xfrm>
            <a:off x="6812280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可落地的行动方案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1280160" cy="12801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03120" y="1463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金字塔原理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10312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模块1：思考的逻辑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03120" y="3017520"/>
            <a:ext cx="22860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D4D4">
              <a:alpha val="5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MECE案例分析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相互独立，完全穷尽——案例实操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E8D4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057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按购买力分为：高净值客户、中产客户、普通客户、工薪客户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E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2356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23560" y="2057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按阶段分为：启动→规划→执行→监控→收尾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E8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市场分析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按地域分为：一线城市、二线城市、三四线城市、乡镇农村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E8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2356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2356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按原因分为：人、流程、技术、资源、管理五大维度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8D4D4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练习提示：拿到一个问题，先问自己"分类后是否重叠？遗漏了什么？"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常见MECE错误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错误做法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正确做法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员工分为：男性、女性、管理层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员工分为：管理层、技术岗、营销岗、支持岗（按职能）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产品分为：高端产品、中端产品、低端产品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60604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产品分为：核心产品、延伸产品、增值服务（按价值链）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客户分为：大客户、小客户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客户分为：战略客户、重点客户、普通客户、潜在客户（按价值+潜力）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617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时间分为：上午、下午、晚上、加班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452628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617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时间分为：正常工作时段、加班时段（按是否超出工时）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核心问题：重叠（重复分类）或遗漏（未完整覆盖）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练习：MECE分类训练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E8D4D4">
              <a:alpha val="70000"/>
            </a:srgbClr>
          </a:solidFill>
          <a:ln w="25400">
            <a:solidFill>
              <a:srgbClr val="8B23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练习题目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请将"企业会议类型"进行MECE分类，并说明你的分类维度是什么？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思考维度提示：参与人数 | 会议目的 | 决策层级 | 时间长短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分类维度：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46888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4688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例如：按参与范围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分类结果：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310896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31089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列出所有会议类型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自查结论：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374904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3749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是否相互独立？是否完全穷尽？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4434840"/>
            <a:ext cx="82296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434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情境演练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0" y="228600"/>
            <a:ext cx="1828800" cy="3657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228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工作场景应用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23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43000"/>
            <a:ext cx="731520" cy="73152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情境模拟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你是部门负责人，需要向领导汇报上半年工作成果。请用结构化方式组织汇报内容，要求体现MECE原则。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23317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00200" y="2468880"/>
            <a:ext cx="548640" cy="5486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定框架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确定汇报结构：成果→问题→计划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23317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2468880"/>
            <a:ext cx="548640" cy="5486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290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填内容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按MECE原则填充各模块内容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23317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69480" y="2468880"/>
            <a:ext cx="548640" cy="54864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6364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做检查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自查：是否重叠？是否遗漏？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8D4D4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69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🎤 小组讨论：你的汇报框架与同事有何不同？哪种更符合MECE原则？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结构化思考工作表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四步完成结构化思考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明确问题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783080" cy="18288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核心问题是什么？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期望结果是什么？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分解问题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97480" y="2194560"/>
            <a:ext cx="1783080" cy="18288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用MECE分类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按维度拆分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归纳总结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1783080" cy="18288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找出规律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形成结论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137160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95160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验证检查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95160" y="2194560"/>
            <a:ext cx="1783080" cy="18288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2286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是否相互独立？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是否完全穷尽？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3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结构化表达模板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3657600"/>
            <a:ext cx="2651760" cy="3200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91840" y="3657600"/>
            <a:ext cx="2651760" cy="3200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以上统下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35040" y="3657600"/>
            <a:ext cx="2651760" cy="3200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归类分组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先说结论，再给支撑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9184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上级结论统摄下级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3504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同组信息聚合表达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逻辑递进 + MECE分类 = 清晰表达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小组练习：结构化重组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阅读材料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828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每人阅读一份杂乱无章的会议纪要初稿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结构化重组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560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运用金字塔原理，重新组织信息结构（结论先行、分类清晰、逻辑递进）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对比原稿与重组稿，讨论结构化表达的价值与难点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457200" cy="45720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代表分享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每组分享1个最有价值的重构发现，全班学习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D4D4">
              <a:alpha val="50000"/>
            </a:srgbClr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模块1核心要点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先给结论，再给论据。领导想知道的第一个问题是"所以呢"——你的结论就是答案。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分类清晰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信息分类不超过7类，最好3-5类。MECE原则：相互独立，完全穷尽。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63240"/>
            <a:ext cx="39319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逻辑递进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按时间/空间/程度排序。递进关系让说服力倍增，让对方跟着你的思路走。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63240"/>
            <a:ext cx="39319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291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标题即结论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每一级的标题都是下一级的结论。标题即概括，让读者扫读就能抓住重点。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金字塔检核卡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使用说明：汇报或写作前，用此检核卡自查结构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结论先行：开篇第一句是否陈述了核心结论？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分类完整：分类是否覆盖了全部要点？有无遗漏重要分类？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逻辑递进：各分类之间的排序是否合理？（时间/空间/程度）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MECE检查：各分类是否相互独立？是否有交叉重叠？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论据充分：每个结论是否有足够的支撑证据？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标题即结论：每一级标题是否能独立说明该部分的核心意思？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8D4D4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提示：6项全部通过后再进行正式汇报或写作，效果会更好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实践作业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64592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00" cy="5486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作业任务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选择一个真实工作场景，运用金字塔原理完成：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结构化汇报文档（邮件/报告）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或3分钟结构化口头汇报提纲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附上使用金字塔原理的简要说明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建议场景：周报、项目汇报、会议发言、问题分析、客户沟通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2286000" cy="10058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提交截止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377440"/>
            <a:ext cx="2286000" cy="10058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提交方式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邮件/微信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3566160"/>
            <a:ext cx="2286000" cy="10058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反馈方式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个性化点评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45C5C">
              <a:alpha val="70000"/>
            </a:srgbClr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B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4572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C45C5C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30秒说清一件事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模块2：口头表达的逻辑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45C5C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4D4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 · 逻辑清晰 · 时间可控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结论先行的力量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0" cy="3474720"/>
          </a:xfrm>
          <a:prstGeom prst="rect">
            <a:avLst/>
          </a:prstGeom>
          <a:solidFill>
            <a:srgbClr val="E8D4D4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的听众在开头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就会判断值不值得听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31920" y="118872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节省时间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30秒内抓住核心，避免冗长铺垫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20116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明确预期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让听众知道你要说什么，有预期感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31920" y="283464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符合认知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先给框架再给细节，符合大脑处理顺序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31920" y="365760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262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强化记忆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结论在前，细节在后，更容易被记住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31920" y="4297680"/>
            <a:ext cx="4754880" cy="640080"/>
          </a:xfrm>
          <a:prstGeom prst="rect">
            <a:avLst/>
          </a:prstGeom>
          <a:solidFill>
            <a:srgbClr val="8B2323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"先说结论，再给原因——这是职场表达的第一法则"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为什么结论先行有效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97280"/>
            <a:ext cx="25603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371600"/>
            <a:ext cx="731520" cy="731520"/>
          </a:xfrm>
          <a:prstGeom prst="ellipse">
            <a:avLst/>
          </a:prstGeom>
          <a:solidFill>
            <a:srgbClr val="E8D4D4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大脑习惯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大脑喜欢先找结论再找证据，结论先行让听众快速建立预期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09728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097280"/>
            <a:ext cx="25603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371600"/>
            <a:ext cx="731520" cy="731520"/>
          </a:xfrm>
          <a:prstGeom prst="ellipse">
            <a:avLst/>
          </a:prstGeom>
          <a:solidFill>
            <a:srgbClr val="E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118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注意力曲线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188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开头最珍贵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沟通开头30秒注意力最集中，结论先行充分利用黄金时间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09728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097280"/>
            <a:ext cx="25603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371600"/>
            <a:ext cx="731520" cy="731520"/>
          </a:xfrm>
          <a:prstGeom prst="ellipse">
            <a:avLst/>
          </a:prstGeom>
          <a:solidFill>
            <a:srgbClr val="E8D4D4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922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效率优先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快速筛选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结论先行让听众快速判断内容价值，决定是否继续投入注意力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结论先行不是简单粗暴，而是尊重听众的时间和认知习惯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3分钟版本模板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3分钟版本 = 30秒版本 + 背景介绍 + 案例佐证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" y="2103120"/>
            <a:ext cx="36576" cy="73152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371600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问候 + 自我介绍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30秒内建立信任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1600200"/>
            <a:ext cx="502920" cy="3657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00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8952" y="3017520"/>
            <a:ext cx="36576" cy="73152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0160" y="2286000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问题陈述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 + 背景说明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为什么这个问题重要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514600"/>
            <a:ext cx="502920" cy="3657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2514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8952" y="3931920"/>
            <a:ext cx="36576" cy="73152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280160" y="3200400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核心方案 + 独特价值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如何解决该问题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3429000"/>
            <a:ext cx="502920" cy="3657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3429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640080" cy="6400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80160" y="4114800"/>
            <a:ext cx="6858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总结呼吁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6304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核心观点复述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明确的下一步行动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0" y="4343400"/>
            <a:ext cx="502920" cy="3657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4343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8D4D4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公式：30秒版本 + 背景（1分钟）+ 案例（1分钟）= 3分钟完整表达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案例：工作汇报中的表达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53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情境描述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小李向领导汇报季度工作成果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准备内容：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完成了5个项目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客户满意度提升15%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团队协作效率提高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问题：信息堆砌，没有逻辑主线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6517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280160"/>
            <a:ext cx="2651760" cy="50292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353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汇报中的常见问题：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信息罗列杂乱无章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重点不突出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缺乏数据和支撑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时间把控不当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结果：领导听完后印象模糊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6517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280160"/>
            <a:ext cx="2651760" cy="502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353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80760" y="192024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运用结构化表达：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先说核心结论和成果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逻辑支撑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用数据和方法论支撑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总结强化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结尾再次强调重点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案例：跨部门沟通中的表达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对话式沟通场景分析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1005840"/>
          </a:xfrm>
          <a:prstGeom prst="rect">
            <a:avLst>
              <a:gd name="adj" fmla="val 7273"/>
            </a:avLst>
          </a:prstGeom>
          <a:solidFill>
            <a:srgbClr val="8B23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小张 | 产品经理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"我们需要技术支持来完成这个功能"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1005840"/>
          </a:xfrm>
          <a:prstGeom prst="rect">
            <a:avLst>
              <a:gd name="adj" fmla="val 7273"/>
            </a:avLst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小王 | 开发工程师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"我很忙，这个需求不明确"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模块2小结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结构化思考三层次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结论先行、理由充分、事实支撑，让思考更清晰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804672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表达的黄金结构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背景-冲突-答案，激活听众注意力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8046720" cy="9144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57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566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书面表达四原则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主题明确、逻辑清晰、内容充实、语言规范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掌握结构化思考方法，提升书面与口头表达能力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8B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840480" y="731520"/>
            <a:ext cx="36576" cy="365760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1371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专业书写四原则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20624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模块3：书面表达的逻辑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06240" y="3017520"/>
            <a:ext cx="18288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45C5C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书面表达 vs 口头表达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0" y="2377440"/>
            <a:ext cx="914400" cy="9144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3657600" cy="64008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书面表达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时间充裕，可反复推敲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可修改，内容更精准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结构要求更高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逻辑严密性更重要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读者可反复阅读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109728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097280"/>
            <a:ext cx="3657600" cy="6400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188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口头表达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0352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即时性强，无修改机会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依赖临场反应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听众当场理解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表达力感染力重要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3749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可借助肢体语言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一页纸一个核心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0"/>
          </a:xfrm>
          <a:prstGeom prst="line">
            <a:avLst/>
          </a:prstGeom>
          <a:noFill/>
          <a:ln w="38100">
            <a:solidFill>
              <a:srgbClr val="C45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1280160"/>
            <a:ext cx="3291840" cy="3291840"/>
          </a:xfrm>
          <a:prstGeom prst="ellipse">
            <a:avLst/>
          </a:prstGeom>
          <a:solidFill>
            <a:srgbClr val="E8D4D4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2286000"/>
            <a:ext cx="1280160" cy="128016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24231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6459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645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一个主题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8404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清晰结构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38404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0" y="1965960"/>
            <a:ext cx="640080" cy="411480"/>
          </a:xfrm>
          <a:prstGeom prst="line">
            <a:avLst/>
          </a:prstGeom>
          <a:noFill/>
          <a:ln w="19050">
            <a:solidFill>
              <a:srgbClr val="C45C5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583680" y="1965960"/>
            <a:ext cx="-640080" cy="411480"/>
          </a:xfrm>
          <a:prstGeom prst="line">
            <a:avLst/>
          </a:prstGeom>
          <a:noFill/>
          <a:ln w="19050">
            <a:solidFill>
              <a:srgbClr val="C45C5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560320" y="4160520"/>
            <a:ext cx="640080" cy="-685800"/>
          </a:xfrm>
          <a:prstGeom prst="line">
            <a:avLst/>
          </a:prstGeom>
          <a:noFill/>
          <a:ln w="19050">
            <a:solidFill>
              <a:srgbClr val="C45C5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83680" y="4160520"/>
            <a:ext cx="-640080" cy="-685800"/>
          </a:xfrm>
          <a:prstGeom prst="line">
            <a:avLst/>
          </a:prstGeom>
          <a:noFill/>
          <a:ln w="19050">
            <a:solidFill>
              <a:srgbClr val="C45C5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286000" y="457200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E8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每页聚焦一个核心观点，避免信息过载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练习：主题提炼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0"/>
          </a:xfrm>
          <a:prstGeom prst="line">
            <a:avLst/>
          </a:prstGeom>
          <a:noFill/>
          <a:ln w="38100">
            <a:solidFill>
              <a:srgbClr val="C45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219456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今天早上9点，在公司会议室召开了项目进度会议，会上讨论了三个议题：一是上周工作的完成情况，二是本周工作的安排，三是遇到的困难和需要的支持。最后决定每周一上午9点定期召开此类会议。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提炼主题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3566160" cy="320040"/>
          </a:xfrm>
          <a:prstGeom prst="roundRect">
            <a:avLst>
              <a:gd name="adj" fmla="val 22857"/>
            </a:avLst>
          </a:prstGeom>
          <a:solidFill>
            <a:srgbClr val="E8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建立每周例会制度，提升沟通效率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8B2323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9319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828800"/>
            <a:ext cx="73152" cy="21945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请提炼以下内容的核心主题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天拜访了三位重要客户。第一位是国企的王总，他们对产品很感兴趣，但预算审批需要等到下个月。第二位是民企的李总，需求明确，但担心我们的交付能力。第三位是外企的Michael，他希望尽快试用，预算充足但需要走招标流程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您的提炼：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3657600"/>
            <a:ext cx="356616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C45C5C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提示：聚焦核心结论，忽略细节描述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原则二：逻辑连贯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0"/>
          </a:xfrm>
          <a:prstGeom prst="line">
            <a:avLst/>
          </a:prstGeom>
          <a:noFill/>
          <a:ln w="38100">
            <a:solidFill>
              <a:srgbClr val="C45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逻辑连贯让读者顺畅地从开头走到结尾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182880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开门见山，先说结论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108960" y="228600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286000"/>
            <a:ext cx="18288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10896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分层展开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按重要程度分层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0" y="228600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286000"/>
            <a:ext cx="182880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因果串联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环环相扣，逻辑递进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863840" y="228600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2286000"/>
            <a:ext cx="18288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86384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总结强化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呼应开头，强化记忆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93192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E8D4D4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关键技巧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4434840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使用过渡句连接各部分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4434840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3" name="Text 31"/>
          <p:cNvSpPr/>
          <p:nvPr/>
        </p:nvSpPr>
        <p:spPr>
          <a:xfrm>
            <a:off x="370332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确保前后观点一致不矛盾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4434840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每个段落都服务于核心结论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原则三：重点突出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3: Emphasize Key Points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E8D4D4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开门见山说重点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数据支撑观点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示例：重点突出写法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749040" cy="457200"/>
          </a:xfrm>
          <a:prstGeom prst="rect">
            <a:avLst/>
          </a:prstGeom>
          <a:solidFill>
            <a:srgbClr val="C45C5C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结论：本周业绩增长15%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743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支撑数据：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新客户获取增长20%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复购率提升10%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建议行动：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复制成功经验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加大投入获客渠道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8B2323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让读者第一时间看到最重要的信息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数据+结论+建议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Conclusion + Recommendation Structure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536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客观事实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具体数字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量化指标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463040"/>
            <a:ext cx="2651760" cy="502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08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94760" y="1536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观点提炼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判断定性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核心发现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这意味着什么？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B23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63040"/>
            <a:ext cx="2651760" cy="50292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08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1536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21031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行动方案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具体步骤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资源需求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应该怎么做？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2743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897880" y="2743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结构化表达的黄金公式：结论先行 → 数据支撑 → 行动建议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练习：重点突出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Emphasis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977640" cy="4572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改写前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各位领导早上好，今天想跟大家汇报一下上个月的工作情况。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上个月我们团队做了很多工作，包括拜访客户、整理资料、跟进订单等。另外还有几件事也值得说一下，比如参加了行业展会，以及完成了内部培训。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总之工作比较繁忙，业绩方面也有一定进展，具体数据还在统计中，后续会进一步汇报。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45C5C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重点缺失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4160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45C5C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逻辑混乱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4160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45C5C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数据模糊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25603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39776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280160"/>
            <a:ext cx="397764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改写后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上月业绩增长15%，超额完成目标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新签合同：23份（+20%）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复购率：38%（+8%）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客户满意度：92分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复制成功经验至华东区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41605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重点突出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4114800"/>
            <a:ext cx="2194560" cy="32004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 + 数据支撑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10058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邮件写作专项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31520" cy="502920"/>
          </a:xfrm>
          <a:prstGeom prst="rect">
            <a:avLst/>
          </a:prstGeom>
          <a:solidFill>
            <a:srgbClr val="E8D4D4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邮件结构模板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1645920"/>
          </a:xfrm>
          <a:prstGeom prst="rect">
            <a:avLst/>
          </a:prstGeom>
          <a:solidFill>
            <a:srgbClr val="8B2323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Who What Why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简明扼要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5-10个词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40280" y="1371600"/>
            <a:ext cx="1463040" cy="1645920"/>
          </a:xfrm>
          <a:prstGeom prst="rect">
            <a:avLst/>
          </a:prstGeom>
          <a:solidFill>
            <a:srgbClr val="C45C5C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Dear XX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您好/你好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问候语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0332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023360" y="1371600"/>
            <a:ext cx="1737360" cy="1645920"/>
          </a:xfrm>
          <a:prstGeom prst="rect">
            <a:avLst/>
          </a:prstGeom>
          <a:solidFill>
            <a:srgbClr val="4A4A4A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背景说明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行动请求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1463040" cy="1645920"/>
          </a:xfrm>
          <a:prstGeom prst="rect">
            <a:avLst/>
          </a:prstGeom>
          <a:solidFill>
            <a:srgbClr val="E8D4D4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如有附件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请在正文提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及附件内容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863840" y="1371600"/>
            <a:ext cx="1463040" cy="1645920"/>
          </a:xfrm>
          <a:prstGeom prst="rect">
            <a:avLst/>
          </a:prstGeom>
          <a:solidFill>
            <a:srgbClr val="8B2323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5528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姓名/职位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公司信息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83280"/>
            <a:ext cx="91440" cy="13716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黄金写作公式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SCQA框架：Situation（情境）→ Conflict（冲突）→ Question（问题）→ Answer（答案）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3W原则：What（什么事）→ Why（为什么重要）→ What I need（我需要你做什么）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09728" cy="41148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方案提案写作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+ 问题 + 方案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金字塔结构：结论先行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方案优势 + 实施路径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资源需求 + 预期效果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 + 备选方案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097280"/>
            <a:ext cx="2011680" cy="2743200"/>
          </a:xfrm>
          <a:prstGeom prst="rect">
            <a:avLst/>
          </a:prstGeom>
          <a:solidFill>
            <a:srgbClr val="E8D4D4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097280"/>
            <a:ext cx="2011680" cy="4572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737360"/>
            <a:ext cx="1463040" cy="137160"/>
          </a:xfrm>
          <a:prstGeom prst="rect">
            <a:avLst/>
          </a:prstGeom>
          <a:solidFill>
            <a:srgbClr val="4A4A4A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1965960"/>
            <a:ext cx="1280160" cy="137160"/>
          </a:xfrm>
          <a:prstGeom prst="rect">
            <a:avLst/>
          </a:prstGeom>
          <a:solidFill>
            <a:srgbClr val="4A4A4A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2194560"/>
            <a:ext cx="1463040" cy="137160"/>
          </a:xfrm>
          <a:prstGeom prst="rect">
            <a:avLst/>
          </a:prstGeom>
          <a:solidFill>
            <a:srgbClr val="4A4A4A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0" y="2423160"/>
            <a:ext cx="1097280" cy="137160"/>
          </a:xfrm>
          <a:prstGeom prst="rect">
            <a:avLst/>
          </a:prstGeom>
          <a:solidFill>
            <a:srgbClr val="4A4A4A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2743200"/>
            <a:ext cx="1463040" cy="137160"/>
          </a:xfrm>
          <a:prstGeom prst="rect">
            <a:avLst/>
          </a:prstGeom>
          <a:solidFill>
            <a:srgbClr val="4A4A4A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71800"/>
            <a:ext cx="1280160" cy="137160"/>
          </a:xfrm>
          <a:prstGeom prst="rect">
            <a:avLst/>
          </a:prstGeom>
          <a:solidFill>
            <a:srgbClr val="4A4A4A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94360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结构化表达的实际应用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模块3核心要点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0" y="868680"/>
            <a:ext cx="18288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155448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SCQA结构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情境→冲突→问题→答案，金字塔表达的底层逻辑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91440" cy="155448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结构化写作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先结论后分析，小标题引领，每段一句话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91440" cy="155448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用具体数字和案例代替模糊描述，增强说服力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306324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063240"/>
            <a:ext cx="91440" cy="155448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40680" y="3246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换位思考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站在读者角度组织信息，确保逻辑流畅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掌握结构化表达，让你的文字更具影响力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实践作业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0" y="1188720"/>
            <a:ext cx="91440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E8D4D4">
              <a:alpha val="60000"/>
            </a:srgbClr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选择一个你最近需要撰写的工作文档（如邮件、报告、方案等），运用本模块学到的SCQA结构和结构化写作方法，重写该文档。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完成步骤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411480" cy="4114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04164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原文档分析与问题识别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4023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0" y="4023360"/>
            <a:ext cx="411480" cy="4114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404164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8880" y="4480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应用SCQA结构重新组织内容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4023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4023360"/>
            <a:ext cx="411480" cy="4114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404164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4480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使用结构化写作方法重写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4023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66560" y="4023360"/>
            <a:ext cx="411480" cy="4114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04164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4480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对照自检表检查并修改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74320" y="2743200"/>
            <a:ext cx="13716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3大工具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SCQA · 自检表 · 结构化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731520"/>
            <a:ext cx="4572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731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金字塔原理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20" y="1188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结论先行，以上统下，归类分组，逻辑递进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4572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SCQA结构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情境-冲突-问题-答案，让表达更有冲击力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4572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结构化写作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931920" y="3291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小标题、段落首句、数据支撑，让文档易读易懂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3886200"/>
            <a:ext cx="4572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书面自检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93192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冷却后再检查，确保逻辑清晰、表达精准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结构化表达 = 想清楚 + 说明白 + 写清楚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STAR-R完整案例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Situation → Task → Action → Result → Request 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55448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78308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公司Q3季度销售额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同比下降15%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94560" y="15544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94560" y="1554480"/>
            <a:ext cx="155448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7480" y="178308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2926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需要找出原因并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提出解决方案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931920" y="15544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31920" y="1554480"/>
            <a:ext cx="155448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319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2926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调研发现：竞品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推出新产品线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669280" y="15544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0" y="1554480"/>
            <a:ext cx="155448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28" name="Shape 26"/>
          <p:cNvSpPr/>
          <p:nvPr/>
        </p:nvSpPr>
        <p:spPr>
          <a:xfrm>
            <a:off x="6172200" y="178308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66928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760720" y="2926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提出差异化竞争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策略建议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406640" y="155448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06640" y="1554480"/>
            <a:ext cx="155448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5" name="Shape 33"/>
          <p:cNvSpPr/>
          <p:nvPr/>
        </p:nvSpPr>
        <p:spPr>
          <a:xfrm>
            <a:off x="7909560" y="178308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6" name="Text 34"/>
          <p:cNvSpPr/>
          <p:nvPr/>
        </p:nvSpPr>
        <p:spPr>
          <a:xfrm>
            <a:off x="790956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0664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98080" y="2926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申请预算200万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用于产品研发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8D4D4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关键点：R（结果）要量化，R（请求）要具体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练习：STAR-R应用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运用STAR-R法则，准备一次工作汇报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E8D4D4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练习情境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假设你需要向领导申请一项资源支持（人员、预算或设备），请用STAR-R法则准备你的汇报内容。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79192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609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Situation 情境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66090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描述当前面临的情况或问题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191256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172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任务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你需要完成或解决的问题是什么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30168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703320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685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行动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368503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你计划采取或已经采取了哪些行动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42232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4215384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1970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结果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419709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预期或已经取得了哪些成果（要量化）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654296"/>
            <a:ext cx="82296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727448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4709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 请求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0" y="47091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具体需要什么资源支持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建议准备时间：5分钟 | 汇报时间：2分钟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数据呈现技巧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对比优先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展示数据时，先找对比维度：同比、环比、竞品对比、目标对比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051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051560"/>
            <a:ext cx="54864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聚焦关键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每页只讲一个核心数据，不要超过3个关键数字，让信息一目了然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051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051560"/>
            <a:ext cx="54864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9516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趋势为王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变化趋势比绝对值更有说服力，用折线图展示时间序列数据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54864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合理换算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3520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大数字换算：比如"节约1000万"比"节省12.5%"更直观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28803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2880360"/>
            <a:ext cx="54864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0233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精确适度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66160" y="3520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小数点后位数根据场景决定，汇报用整数，分析用精确数据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8803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2880360"/>
            <a:ext cx="54864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951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颜色引导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37960" y="3520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用颜色区分好坏：绿色代表达标/增长，红色代表问题/下降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E8D4D4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原则：数据是为观点服务的，不要为了展示数据而展示数据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图表选择原则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根据你想要表达的关系类型，选择合适的图表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65960" cy="4572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对比关系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推荐图表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 / 条形图 / 饼图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展示不同类别的大小、高低、多少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各区域销售额对比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371600"/>
            <a:ext cx="1965960" cy="4572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趋势关系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推荐图表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 / 面积图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97480" y="2606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展示随时间变化的数据走向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月度业绩变化趋势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371600"/>
            <a:ext cx="1965960" cy="4572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构成关系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推荐图表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饼图 / 堆叠柱状图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2606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展示整体与部分的关系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市场份额占比分析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137160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1371600"/>
            <a:ext cx="1965960" cy="45720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14447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分布关系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推荐图表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95160" y="2194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散点图 / 直方图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2606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2834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展示数据的分布规律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95160" y="3749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用户年龄分布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E8D4D4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避免：同一图表中堆叠太多数据系列，保持简洁易懂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常见追问处理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应对追问的四种经典场景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474720" cy="7772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Q1: 这个方案有什么风险？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77640" y="14630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554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预设风险预案，用"即使...我们也..."结构回应，展示全局思维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474720" cy="7772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Q2: 为什么一定要这样做？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23774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480560" y="23774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4688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回归决策依据：数据+逻辑+价值，说明"不做的代价"更有效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474720" cy="7772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Q3: 还有其他方案吗？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3291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480560" y="3291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3832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展示备选方案矩阵，说明当前方案的比较优势，占据主动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3474720" cy="7772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43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Q4: 具体怎么执行？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77640" y="4206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480560" y="42062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4297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给出3步行动计划，明确责任人和时间节点，增强可信度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E8D4D4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应对追问的核心：预设预案 + 结构化回应 + 主动引导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汇报结构设计卡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工作汇报的万能模板 — 5步结构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D4D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81912"/>
            <a:ext cx="411480" cy="4114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用一句话概括核心观点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512064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D4D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38328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本周工作核心结论：__________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21992"/>
            <a:ext cx="411480" cy="4114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背景说明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441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交代任务来源和目标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286000"/>
            <a:ext cx="512064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D4D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383280" y="22860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任务背景：__________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862072"/>
            <a:ext cx="411480" cy="4114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关键进展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081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3个要点说明当前状态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926080"/>
            <a:ext cx="512064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D4D4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383280" y="2926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进展1：__________ | 进展2：__________ | 进展3：__________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问题与方案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3721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识别卡点并提供解法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566160"/>
            <a:ext cx="512064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D4D4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383280" y="35661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问题：__________ | 方案：__________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142232"/>
            <a:ext cx="411480" cy="4114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4361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明确行动和时间节点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206240"/>
            <a:ext cx="512064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E8D4D4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3383280" y="42062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下一步：__________ | 截止：__________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提示：汇报前用这张卡片过一遍，确保结构完整、重点突出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模块4小结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5486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表达结构化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结论先行、以上统下、归类分组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280160"/>
            <a:ext cx="1920240" cy="5486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素材组织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逻辑递进、清晰有条理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80160"/>
            <a:ext cx="1920240" cy="5486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可视化呈现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让听众快速抓住重点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28016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280160"/>
            <a:ext cx="1920240" cy="54864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实战应用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工作场景中的真实演练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8D4D4">
              <a:alpha val="50000"/>
            </a:srgbClr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核心收获：掌握金字塔结构、MECE原则、汇报话术设计的表达框架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8B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4572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E8D4D4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0" y="1097280"/>
            <a:ext cx="54864" cy="29260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3776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真实场景应用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93776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模块5：综合演练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45C5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"/>
            <a:ext cx="731520" cy="731520"/>
          </a:xfrm>
          <a:prstGeom prst="ellipse">
            <a:avLst/>
          </a:prstGeom>
          <a:solidFill>
            <a:srgbClr val="C45C5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1005840"/>
            <a:ext cx="457200" cy="457200"/>
          </a:xfrm>
          <a:prstGeom prst="ellipse">
            <a:avLst/>
          </a:prstGeom>
          <a:solidFill>
            <a:srgbClr val="E8D4D4">
              <a:alpha val="50000"/>
            </a:srgbClr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真实工作场景演练说明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演练设计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4个真实工作场景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小组分组演练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角色扮演与呈现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66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即时反馈与点评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演练流程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11480" cy="4114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373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阅读场景材料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46904" y="2103120"/>
            <a:ext cx="27432" cy="1371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2240280"/>
            <a:ext cx="411480" cy="4114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2860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小组讨论方案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46904" y="2651760"/>
            <a:ext cx="27432" cy="1371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788920"/>
            <a:ext cx="411480" cy="4114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角色分工准备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46904" y="3200400"/>
            <a:ext cx="27432" cy="1371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337560"/>
            <a:ext cx="411480" cy="4114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3337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现场呈现演绎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46904" y="3749040"/>
            <a:ext cx="27432" cy="13716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886200"/>
            <a:ext cx="411480" cy="411480"/>
          </a:xfrm>
          <a:prstGeom prst="ellipse">
            <a:avLst/>
          </a:prstGeom>
          <a:solidFill>
            <a:srgbClr val="8B2323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9319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互评与反馈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4572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场景二：方案呈现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E8D4D4">
              <a:alpha val="60000"/>
            </a:srgbClr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场景背景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向客户或领导呈现新年度工作方案，需要在10分钟内说服对方认可方案价值并获得支持。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方案呈现结构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743200"/>
            <a:ext cx="2286000" cy="640080"/>
          </a:xfrm>
          <a:prstGeom prst="rect">
            <a:avLst/>
          </a:prstGeom>
          <a:solidFill>
            <a:srgbClr val="8B2323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核心主张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429000"/>
            <a:ext cx="3200400" cy="6400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三大支撑理由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4114800" cy="640080"/>
          </a:xfrm>
          <a:prstGeom prst="rect">
            <a:avLst/>
          </a:prstGeom>
          <a:solidFill>
            <a:srgbClr val="E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51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数据案例支撑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2743200"/>
            <a:ext cx="73152" cy="411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SCQA框架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情境-冲突-问题-答案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291840"/>
            <a:ext cx="73152" cy="411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明确各方收益点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3840480"/>
            <a:ext cx="73152" cy="411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3840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可视化呈现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图表替代文字说明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4389120"/>
            <a:ext cx="73152" cy="411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预设Q&amp;A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预判反对意见并准备应答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结构化思考与表达：想清楚、说清楚、写清楚</dc:title>
  <dc:subject>PptxGenJS Presentation</dc:subject>
  <dc:creator>Professional Development Team</dc:creator>
  <cp:lastModifiedBy>Professional Development Team</cp:lastModifiedBy>
  <cp:revision>1</cp:revision>
  <dcterms:created xsi:type="dcterms:W3CDTF">2026-07-21T16:26:40Z</dcterms:created>
  <dcterms:modified xsi:type="dcterms:W3CDTF">2026-07-21T16:26:40Z</dcterms:modified>
</cp:coreProperties>
</file>