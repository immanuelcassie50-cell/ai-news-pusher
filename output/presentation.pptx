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</p:sldIdLst>
  <p:notesMasterIdLst>
    <p:notesMasterId r:id="rId1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notesMaster" Target="notesMasters/notesMaster1.xml"/><Relationship Id="rId133" Type="http://schemas.openxmlformats.org/officeDocument/2006/relationships/presProps" Target="presProps.xml"/><Relationship Id="rId134" Type="http://schemas.openxmlformats.org/officeDocument/2006/relationships/viewProps" Target="viewProps.xml"/><Relationship Id="rId135" Type="http://schemas.openxmlformats.org/officeDocument/2006/relationships/theme" Target="theme/theme1.xml"/><Relationship Id="rId1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EF233C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文化基建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薪酬自动化推进中不能松手的信任基石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薪酬管理系列课程 · 第11讲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B2D4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课程学习地图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为什么自动化可能动摇信任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从手动到自动的信任风险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37160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2356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信任的三个来源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2356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透明度、可控性、公平感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78892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从「宣布」到「对话」的沟通策略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单向发布vs双向互动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78892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235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薪酬团队的转型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2356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从计算者到解释者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20624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206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制度保障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4526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申诉机制与纠偏流程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88620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420624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4206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2356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综合实战与行动计划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23560" y="4526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三步走落地框架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三个工资条引发的信任危机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某公司上线薪酬自动化系统后，员工满意度不升反降。调查发现三个核心问题：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965960"/>
            <a:ext cx="822960" cy="8229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黑盒感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员工不知道系统怎么给自己做决定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6459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64592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965960"/>
            <a:ext cx="822960" cy="8229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61188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透明度不足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部门之间缺乏共同语言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64592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64592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1965960"/>
            <a:ext cx="822960" cy="8229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9224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申诉无门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没有「说人话」的通道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572000"/>
            <a:ext cx="9144000" cy="73152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信任崩塌的三个维度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05840"/>
            <a:ext cx="2651760" cy="1097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透明度缺失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23774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员工不知道系统是怎么给自己做决定的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377440" cy="10972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系统输入、权重、算法逻辑对员工完全不透明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0058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005840"/>
            <a:ext cx="2651760" cy="1097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Shape 13"/>
          <p:cNvSpPr/>
          <p:nvPr/>
        </p:nvSpPr>
        <p:spPr>
          <a:xfrm>
            <a:off x="3611880" y="1325880"/>
            <a:ext cx="4572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605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可控性缺失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11880" y="1920240"/>
            <a:ext cx="23774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2103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员工对「输入端」有异议却申诉无门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11880" y="3291840"/>
            <a:ext cx="2377440" cy="10972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绩效打分、岗位系数等输入有争议，却找不到反馈入口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10058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1005840"/>
            <a:ext cx="2651760" cy="1097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1325880"/>
            <a:ext cx="4572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323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公平感缺失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83680" y="1920240"/>
            <a:ext cx="23774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103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绩效排名中下的员工打了低分，前20%的员工分数也不高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0" y="3291840"/>
            <a:ext cx="2377440" cy="10972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缺乏统一标准，跨部门对比困难，员工感到评价不公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12" name="Text 10"/>
          <p:cNvSpPr/>
          <p:nvPr/>
        </p:nvSpPr>
        <p:spPr>
          <a:xfrm>
            <a:off x="365760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把'算法决策'当成'信任的替代品'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657600" y="2743200"/>
            <a:ext cx="5029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29260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信任不是由结果的客观性单独决定的。信任是由透明度、可控性、公平感三个维度共同支撑的。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spc="800" kern="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57600" cy="365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为什么薪酬自动化可能动摇信任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信任动摇的根源分析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0" y="73152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9144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54864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128016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0" y="13716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109728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18288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192024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164592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AI决策的黑盒感 vs 人类的解释能力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当员工问「为什么我的工资是这个数字？」时，谁的回答更容易被接受？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63040" y="1828800"/>
            <a:ext cx="548640" cy="5486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AI系统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5603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175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根据算法模型和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数据计算得出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HR专员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2926080"/>
            <a:ext cx="25603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0175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公司薪酬体系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有明确规定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18288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直接主管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2926080"/>
            <a:ext cx="25603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0175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我理解你，我知道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你这一年经历了什么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solidFill>
            <a:srgbClr val="EF233C">
              <a:alpha val="90000"/>
            </a:srgbClr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</a:t>
            </a:r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不是AI，也不是HR，而是</a:t>
            </a:r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直接主管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主管的回应包含了「我理解你，我知道你这一年经历了什么」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AI黑盒感的核心困境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算法能给出结果，但不能给出「为什么是这个结果」的可理解的解释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0" cy="914400"/>
          </a:xfrm>
          <a:prstGeom prst="rect">
            <a:avLst/>
          </a:prstGeom>
          <a:solidFill>
            <a:srgbClr val="8D99AE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绩效·考勤·行为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288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926080" y="1828800"/>
            <a:ext cx="182880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212080" y="1828800"/>
            <a:ext cx="2011680" cy="914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薪酬结果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$XX,XXX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类比：医院场景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医生说：</a:t>
            </a:r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「AI系统分析了你的检查数据，这是结果」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你不知道哪个指标异常，不知道为什么得这个病，不知道需要注意什么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患者对结果存疑，对医生失去信任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员工的两个隐性杀手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被监控感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当绩效、考勤、行为等数据被实时采集并与薪酬联动时的感受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338328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743200"/>
            <a:ext cx="1097280" cy="320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目标置换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从：</a:t>
            </a:r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「把工作做好」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变成：</a:t>
            </a:r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「把指标刷好看」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被替代感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39319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828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当AI接手薪酬工作时，员工会产生的深层疑虑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338328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560320"/>
            <a:ext cx="1371600" cy="3200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核心疑问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017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「我在这个组织里的价值到底是什么？」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3749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存在价值受到质疑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对组织的归属感降低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工作动力被侵蚀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薪酬数据动态化后的心理契约变化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传统薪酬（静态契约）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岗位定了，工资基本定了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员工可以接受「涨得慢」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只要「大家差不多」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926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动态薪酬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我不知道下个月工资会变多少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不知道隔壁为什么涨得比我快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每次发薪都是一次「惊喜」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926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Contract Breach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心理契约破坏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当员工感知到组织未能履行对其的隐性承诺时，会产生强烈的被背叛感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完整案例：某科技公司AI调薪系统上线后的员工反馈危机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54864" cy="23774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0312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45920" y="2011680"/>
            <a:ext cx="6858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第一批反馈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上线后第一周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系统说绩效B+，但去年有两个A级别成绩为什么没体现？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45920" y="3474720"/>
            <a:ext cx="6858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第二批反馈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上线后第三周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4023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核心技术人员提出离职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内部论坛发帖，部门经理被架空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4343400"/>
            <a:ext cx="274320" cy="274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案例复盘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案例复盘：四个根本错误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965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可解释性缺失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系统输出只有结论，没有推演过程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7373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9659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965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沟通时机错位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25603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所有说明都在结果发布之后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794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申诉通道虚设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提交后平均等待两周没有任何反馈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3566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7947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794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部门经理被架空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00600" y="4389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完全变成「传话筒」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核心问题：员工感受到的是「黑箱操作」，而不是「智能助手」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731520" y="2606040"/>
            <a:ext cx="2286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信任的三个来源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透明度、可控性、公平感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914400"/>
            <a:ext cx="365760" cy="365760"/>
          </a:xfrm>
          <a:prstGeom prst="rect">
            <a:avLst/>
          </a:prstGeom>
          <a:solidFill>
            <a:srgbClr val="D90429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1371600"/>
            <a:ext cx="274320" cy="274320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信任来源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透明度：决策依据是否可见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2B2D42">
              <a:alpha val="10000"/>
            </a:srgbClr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透明度不是「把所有薪酬数据都公开」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两个关键要求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108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员工需要知道影响薪酬的因素有哪些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320040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3108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员工需要能够把这些因素和自己的结果联系起来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透明度的核心不是「信息量」，而是「可理解的因果链」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信任来源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透明度的三个层次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71800" y="17373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2011680"/>
            <a:ext cx="457200" cy="45720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0332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结果透明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员工知道自己的薪酬数字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57400" y="288036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D90429"/>
          </a:solidFill>
          <a:ln/>
        </p:spPr>
      </p:sp>
      <p:sp>
        <p:nvSpPr>
          <p:cNvPr id="11" name="Shape 9"/>
          <p:cNvSpPr/>
          <p:nvPr/>
        </p:nvSpPr>
        <p:spPr>
          <a:xfrm>
            <a:off x="2194560" y="3154680"/>
            <a:ext cx="457200" cy="45720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因素透明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员工知道影响自己薪酬的因素有哪些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43000" y="4023360"/>
            <a:ext cx="6858000" cy="1005840"/>
          </a:xfrm>
          <a:prstGeom prst="roundRect">
            <a:avLst>
              <a:gd name="adj" fmla="val 7273"/>
            </a:avLst>
          </a:prstGeom>
          <a:solidFill>
            <a:srgbClr val="EF23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0160" y="4297680"/>
            <a:ext cx="457200" cy="45720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因果链透明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74520" y="4526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员工能把因素和自己的结果联系起来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41605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「我拿到了这个数字」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389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44805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「原来是这些因素在起作用」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709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4800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「我理解了——因为我的X指标是Y，所以系统给了我这个结果」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可控性：员工是否有渠道表达意见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可控性不是「员工可以讨价还价工资」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三个关键要素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1508760" y="28346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员工知道「如果对薪酬有疑问，应该找谁、怎么走流程」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65176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65176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28346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2900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表达意见的门槛足够低，不担心「被穿小鞋」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65176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65176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8346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6364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被认真对待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6364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提出意见会被认真对待、得到及时反馈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可控性的四个检查点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员工在看到薪酬结果之前，是否已经知道申诉渠道？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54864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员工的申诉从提交到得到初步回应，平均等待时间是多久？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0" y="251460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08960"/>
            <a:ext cx="54864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089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员工提出异议时，是否有「被秋后算账」的担忧？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46720" y="333756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31920"/>
            <a:ext cx="54864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31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8872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申诉的处理结果，是否有清晰的理由说明？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46720" y="4160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提示：每个检查点都是建立可控性信任的机会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公平感：结果是否符合程序公平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188720"/>
            <a:ext cx="237744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5120640" y="1188720"/>
            <a:ext cx="347472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公平类型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1188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188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员工在问什么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78638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91640"/>
            <a:ext cx="201168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结果公平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我的结果和付出是否匹配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16916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我干的活比他多，为什么工资差不多？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7863840" cy="91440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97480"/>
            <a:ext cx="201168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97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程序公平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51760" y="2697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决策的过程是否透明、一致、无偏见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系统是怎么算的？对我和对别人用的是同一个标准吗？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78638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03320"/>
            <a:ext cx="201168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7033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人际公平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51760" y="3703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我在决策过程中是否被尊重、是否有发言权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3703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我有没有被当成一个人来对待？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三种公平感缺一不可，共同构建对薪酬系统的信任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为什么程序公平比结果公平更重要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程序公平对信任的长期影响，比结果公平更大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结果不可能永远对你有利。但如果程序是公平的，你就会接受「这一次结果对我不利，但这是因为程序在运行时对我不利的因素客观存在」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4114800" cy="22860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关键转变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4960" y="2743200"/>
            <a:ext cx="137160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信任结果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0" y="2788920"/>
            <a:ext cx="365760" cy="365760"/>
          </a:xfrm>
          <a:prstGeom prst="rightArrow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3383280"/>
            <a:ext cx="13716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信任程序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931920"/>
            <a:ext cx="3749040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这是薪酬自动化的终极目标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AI系统程序公平性的挑战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AI算法的「偏见」往往是隐性的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114800" cy="1645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如果过去十年低绩效员工的调薪申请经常被降格批准，系统可能学会「绩效评分低的人不应该大幅调薪」——这个规则看起来客观，但是历史偏见的产物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2461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程序公平需要被「证明」，而不仅仅是「声明」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关键：建立可审计、可解释的AI薪酬决策机制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信任三角的优先级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9144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第一优先：程序公平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因为程序公平是「根」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840480" cy="91440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第二优先：透明度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因为程序公平需要被「看见」才能建立信任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840480" cy="91440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第三优先：可控性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因为可控性是「最后的安全阀」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关键隐喻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74920" y="2011680"/>
            <a:ext cx="3291840" cy="45720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屋顶 = 可控性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4920" y="2606040"/>
            <a:ext cx="3291840" cy="45720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柱子 = 透明度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3200400"/>
            <a:ext cx="3291840" cy="4572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地基 = 程序公平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程序公平是地基，透明度是柱子，可控性是屋顶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完整示例：三种公平在一个调薪案例中的呈现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场景：员工年度调薪幅度为5%，低于同部门同岗位另一位同事的10%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2651760" cy="50292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73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结果公平视角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(低效)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240280"/>
            <a:ext cx="2377440" cy="1371600"/>
          </a:xfrm>
          <a:prstGeom prst="rect">
            <a:avLst/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31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「你的调薪幅度是5%，同事是10%，这是因为你们的绩效评分和市场数据不同。」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2103120" cy="82296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问题：只告诉结果，不解释过程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60020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600200"/>
            <a:ext cx="2651760" cy="50292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673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程序公平视角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(更好)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240280"/>
            <a:ext cx="2377440" cy="1371600"/>
          </a:xfrm>
          <a:prstGeom prst="rect">
            <a:avLst/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「我们来看一下你和同事的调薪计算过程...」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20440" y="3749040"/>
            <a:ext cx="2103120" cy="82296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优势：展示计算过程和标准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60020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600200"/>
            <a:ext cx="2651760" cy="50292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673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人际公平视角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240280"/>
            <a:ext cx="2377440" cy="1371600"/>
          </a:xfrm>
          <a:prstGeom prst="rect">
            <a:avLst/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「我理解你看到这个结果可能会有疑问，这很正常...」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3749040"/>
            <a:ext cx="2103120" cy="82296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最佳：承认感受 + 展示过程 + 开放对话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3200400" y="1280160"/>
            <a:ext cx="36576" cy="256032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沟通策略设计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56616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从「宣布」到「对话」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66160" y="3108960"/>
            <a:ext cx="1828800" cy="54864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为什么「公告式」沟通会破坏信任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公告式邮件示例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主题：关于2024年度调薪结果的通知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尊敬的员工：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经公司综合评估，结合您本季度的绩效表现以及市场薪酬水平，您本年度的调薪幅度为5%。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如有疑问，请联系HR部门。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HR部门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1097280" cy="3200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3657600"/>
            <a:ext cx="1097280" cy="3200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绩效表现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3657600"/>
            <a:ext cx="1280160" cy="3200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3703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市场薪酬水平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问题在哪里？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09160" y="1463040"/>
            <a:ext cx="40233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「综合评估」是什么评估？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783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标准是什么？谁来评估？依据在哪？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240280"/>
            <a:ext cx="40233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「绩效表现」我这一年到底是什么表现？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560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好在哪里？差在哪里？没有具体数据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0233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「市场薪酬水平」我现在在市场的哪个位置？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什么岗位？什么地区？什么行业？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840480"/>
            <a:ext cx="4023360" cy="10058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4206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把「通知」当成「沟通」的替代品，以为把结果送达就完成了任务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公告式沟通在薪酬领域的特殊性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薪酬对员工来说是零容错的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一个坏结果 + 一个敷衍的回应，会同时触发三种感受：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5603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程序不公平感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我不知道标准是什么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「为什么是这个标准？」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286000"/>
            <a:ext cx="25603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不可控感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我没办法改变什么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「我还能做什么？」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286000"/>
            <a:ext cx="25603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结果不公平感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我受到了不公正对待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「为什么我比同事少？」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4114800"/>
            <a:ext cx="6400800" cy="7772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886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三感齐发，信任全面崩溃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利益相关方地图：谁需要被提前沟通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228600" y="292608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受影响程度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37160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371600"/>
            <a:ext cx="384048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187452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绩效边缘地带员工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历史薪酬争议员工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37160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371600"/>
            <a:ext cx="3840480" cy="4114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187452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高潜人才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关键岗位员工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15468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154680"/>
            <a:ext cx="3840480" cy="4114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154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65760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部门经理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团队负责人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315468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154680"/>
            <a:ext cx="3840480" cy="4114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154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观望层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365760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大多数普通员工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四类对象的沟通策略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92024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192024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13716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前置对话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在结果确定之前就充分沟通，解释逻辑，听取意见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137160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371600"/>
            <a:ext cx="192024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1463040"/>
            <a:ext cx="192024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34640" y="2148840"/>
            <a:ext cx="13716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赋能沟通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278892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让他们掌握足够的薪酬知识和解释能力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371600"/>
            <a:ext cx="192024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1463040"/>
            <a:ext cx="192024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观望层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7760" y="2148840"/>
            <a:ext cx="13716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透明沟通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278892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清晰的书面材料+定期答疑渠道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137160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1371600"/>
            <a:ext cx="192024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9" name="Shape 27"/>
          <p:cNvSpPr/>
          <p:nvPr/>
        </p:nvSpPr>
        <p:spPr>
          <a:xfrm>
            <a:off x="6766560" y="1463040"/>
            <a:ext cx="192024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40880" y="2148840"/>
            <a:ext cx="13716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定制沟通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278892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针对个人情况进行定制化合理解释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对话设计：不同层级员工的沟通重点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265176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25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高层管理者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CFO / CHRO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21945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战略合规性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系统的顶层设计逻辑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12801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325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部门经理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11880" y="2148840"/>
            <a:ext cx="21945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 + 边界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7432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解释话术和常见Q&amp;A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明确「解释权边界」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2801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280160"/>
            <a:ext cx="265176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325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普通员工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21945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程序透明 + 可控渠道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27432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公平的程序是怎么运作的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异议的渠道在哪里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关键场景：调薪结果沟通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50876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192024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结果发布前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部门经理与每个下属进行15分钟「调薪预告对话」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72968" y="2880360"/>
            <a:ext cx="192024" cy="274320"/>
          </a:xfrm>
          <a:prstGeom prst="rightArrow">
            <a:avLst/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2801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50876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8328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49040" y="2743200"/>
            <a:ext cx="192024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结果发布当日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2918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系统通知+个人调薪说明书(标准化+个性化结合)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53328" y="2880360"/>
            <a:ext cx="192024" cy="274320"/>
          </a:xfrm>
          <a:prstGeom prst="rightArrow">
            <a:avLst/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2801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150876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6364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29400" y="2743200"/>
            <a:ext cx="192024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结果发布后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32918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HRBP轮流约谈核心层员工，开放「薪酬开放日」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关键场景：年度薪酬回顾与新系统上线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场景二：年度薪酬回顾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356616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不是「发数据」，而是「帮助员工理解他的整体薪酬价值」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30分钟一对一面谈框架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回顾年度表现与成长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解读整体薪酬包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讨论发展机会与期望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3931920" cy="548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80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场景三：新系统上线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2011680"/>
            <a:ext cx="356616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011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最关键的时刻 - 第一印象几乎决定了后续的信任基线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788920"/>
            <a:ext cx="118872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788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上线前4-8周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分层沟通、系统开放日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3383280"/>
            <a:ext cx="118872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上线当周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CEO/CHRO全员信、部门经理准备就绪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977640"/>
            <a:ext cx="118872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上线后1-3个月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快速迭代、透明化进展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spc="800" kern="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57600" cy="365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薪酬团队的转型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从核算者到信任守护者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0" y="73152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9144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54864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128016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0" y="13716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109728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18288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192024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164592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被AI替代的核算工作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EF233C">
              <a:alpha val="10000"/>
            </a:srgbClr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如果AI能够完美地完成这项工作，我还会保留这个岗位上的人类吗？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926080"/>
          </a:xfrm>
          <a:prstGeom prst="rect">
            <a:avLst/>
          </a:prstGeom>
          <a:solidFill>
            <a:srgbClr val="2B2D42">
              <a:alpha val="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828800"/>
            <a:ext cx="3931920" cy="2926080"/>
          </a:xfrm>
          <a:prstGeom prst="rect">
            <a:avLst/>
          </a:prstGeom>
          <a:solidFill>
            <a:srgbClr val="2B2D42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116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每月薪资核算与发放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679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考勤数据汇总与薪资扣减计算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364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社保公积金基数调整与申报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0507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薪酬月报/季报/年报的数据整理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20116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调薪数据的录入与校验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37760" y="26974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679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市场薪酬数据的收集与整理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37760" y="33832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3364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员工入职离职的薪酬参数设置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必须保留的人类判断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新员工起薪谈判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需要综合考虑候选人的期望、团队现状、整体预算，临场发挥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核心人才的保留方案设计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需要理解"这个人为什么想走"、"他的核心诉求是什么"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部门间的薪酬平衡与冲突处理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背后是政治和关系，需要人来协调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员工对薪酬结果的申诉处理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需要倾听、理解、共情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3657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薪酬体系设计本身的决策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12080" y="1325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市场变化、业务战略、员工期望不断涌现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3657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与监管机构的沟通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1208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薪酬合规审计中的解释和应对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3657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1208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跨部门的薪酬文化沟通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12080" y="3246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把薪酬战略转化为"业务语言"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转型的第一性问题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把"我一直这么做"和"这真的有价值"区分开来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solidFill>
            <a:srgbClr val="EF233C">
              <a:alpha val="10000"/>
            </a:srgbClr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AI替代"核算工作"的速度，会远快于替代"判断工作"的速度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D90429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3566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薪酬团队最大的风险不是"被替代"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4023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而是"发现自己这十年只学会了做核算"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薪酬BP的角色：业务伙伴还是信任中介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8D99AE">
              <a:alpha val="10000"/>
            </a:srgbClr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传统定位：数据报表为核心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本质还是核算者，换了一个部门做核算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被动响应业务需求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产出以报表为主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核心能力是系统操作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与业务对话有限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价值难以被感知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EF233C">
              <a:alpha val="10000"/>
            </a:srgbClr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理想定位：解决方案为核心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真正成为业务伙伴，帮助业务负责人理解和运用薪酬工具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主动嵌入业务对话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产出是解决方案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核心能力是业务理解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749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与业务深度合作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价值清晰可见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两种定位的能力对比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能力维度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005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核算者定位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0058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信任守护者定位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2286000" cy="868680"/>
          </a:xfrm>
          <a:prstGeom prst="rect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087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数据准确性、系统操作熟练度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15087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业务理解力、人际影响力、薪酬战略思维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2286000" cy="868680"/>
          </a:xfrm>
          <a:prstGeom prst="rect">
            <a:avLst/>
          </a:prstGeom>
          <a:solidFill>
            <a:srgbClr val="8D99AE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774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主要产出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3774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报表、核算结果、合规检查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23774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业务部门的薪酬解决方案、人才保留策略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46120"/>
            <a:ext cx="2286000" cy="868680"/>
          </a:xfrm>
          <a:prstGeom prst="rect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46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与业务的关系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2461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被动响应需求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32461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主动嵌入业务对话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0"/>
            <a:ext cx="2286000" cy="868680"/>
          </a:xfrm>
          <a:prstGeom prst="rect">
            <a:avLst/>
          </a:prstGeom>
          <a:solidFill>
            <a:srgbClr val="8D99AE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148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衡量价值的方式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41148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"完成了多少数据处理"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41148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"帮助业务解决了什么问题，留住了哪些人"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时间释放后的四个高价值方向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薪酬公平治理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主动诊断薪酬体系中的不公平问题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417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员工薪酬体验优化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从"被薪酬结果通知"到"理解并接受自己的薪酬价值"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337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薪酬战略与业务对齐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用薪酬工具引导组织行为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3931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2918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337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薪酬团队的知识更新与传承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886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建立薪酬知识的"活文档"体系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方向一：薪酬公平治理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主动诊断薪酬体系中的不公平问题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同等绩效不同酬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性别薪酬差距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历史遗留的"薪酬欠账"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4754880" cy="640080"/>
          </a:xfrm>
          <a:prstGeom prst="rect">
            <a:avLst/>
          </a:prstGeom>
          <a:solidFill>
            <a:srgbClr val="EF233C">
              <a:alpha val="1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不仅是数据层面的问题，更是"为什么会这样"和"怎么系统性解决"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463040"/>
            <a:ext cx="2743200" cy="2560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为什么有价值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1945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AI能识别"数据上的差距"，但不能判断"这个差距是否合理"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方向二：员工薪酬体验优化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从"员工被薪酬结果通知"到"员工理解并接受自己的薪酬价值"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重新设计薪酬沟通的方式和时机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建立"薪酬对话"文化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把薪酬数据转化为"员工能理解的个人财务规划建议"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为什么有价值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员工对薪酬的不满意，有一半来自"结果不如预期"，另一半来自"没有被尊重和理解"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spc="800" kern="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57600" cy="365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制度保障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让信任可持续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0" y="73152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9144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54864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128016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0" y="13716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109728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18288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192024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164592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薪酬申诉机制的三个致命缺陷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申诉通道"隐蔽"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员工不知道"我的这个情况，算不算可以申诉"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申诉处理"黑箱"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提交后没有反馈，不知道谁在审、审什么、多久审完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794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申诉结果和薪酬决策系统"脱节"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2062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申诉处理完了，但系统没有任何改变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有效申诉机制的设计原则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前置告知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在看到薪酬结果之前，就知道申诉通道在哪里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325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标准透明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知道"什么情况可以申诉，审核标准是什么"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246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过程可见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知道"谁在审、审什么、多久审完"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931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2004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246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结果关联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840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把申诉中发现的问题，反馈到系统改进中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算法审计与员工知情权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2B2D42">
              <a:alpha val="10000"/>
            </a:srgbClr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算法审计(Algorithmic Audit)是一种系统性的检查机制，验证AI系统的决策是否存在偏见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审计维度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审计内容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发现问题时的处理方式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数据质量审计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输入AI系统的数据是否准确、完整、及时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数据纠错机制 + 数据负责人问责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51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模型公平性审计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算法对不同群体是否存在不成比例的差异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调整模型权重或引入公平性约束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可解释性审计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算法的决策逻辑能否被非技术人员理解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优化输出解释界面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49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一致性审计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算法对相似案例的处理是否保持一致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3212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建立测试案例机制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97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合规性审计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4297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算法的运作是否符合当地劳动法规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32120" y="4297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法律团队介入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欧盟薪酬透明指令的要求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2344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员工有权了解"算法在薪酬决策中扮演了什么角色"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6916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要求：系统需要输出"算法贡献度说明"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514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雇主需要对"算法决策导致的薪酬差异"提供合理解释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29718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要求：算法需要具备可解释性输出能力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37947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员工有权拒绝"完全基于自动化决策的直接影响"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42519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要求：需要有人类决策者参与最终环节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员工知情权的操作化保障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调薪结果通知中增加"算法说明"一栏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"你的调薪结果中，绩效贡献占X%，市场数据贡献占Y%，内部公平性贡献占Z%"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54864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3172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员工有权申请"算法决策复核"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9260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由人类薪酬专家进行人工复核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6616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3749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年度薪酬透明度报告中增加"算法运作说明"专节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定期"薪酬健康度"诊断机制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信任需要定期"体检"，而不是等"生病了"才去看医生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459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薪酬竞争力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我的薪酬在市场上处于什么位置？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889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内部公平性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同等绩效、同等岗位的员工，薪酬差距是否在合理范围内？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薪酬沟通满意度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160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员工是否理解自己的薪酬构成和决策依据？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申诉处理有效性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1874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申诉数量、处理时效、员工满意度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514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27889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2651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薪酬与绩效的关联度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高绩效员工的薪酬是否显著高于低绩效员工？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9319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8640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AI/算法信任度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4160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员工是否信任AI薪酬系统的公平性？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薪酬健康度诊断频率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诊断频率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薪酬竞争力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每半年一次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内部公平性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每季度一次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88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薪酬沟通满意度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788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每季度一次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832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申诉处理有效性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3832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每月一次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薪酬与绩效的关联度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977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每半年一次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720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AI/算法信任度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45720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每半年一次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颜色提示：红色=最高频率（每月），灰色=较低频率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信任建设的长期投入 vs 短期成本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"没时间/没预算"背后的真实原因：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4630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信任建设的价值没有被量化，永远输给能被量化衡量的项目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应对：建立信任指标的"代理指标"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651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信任建设被视为"一次性项目"而不是"持续运营"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108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应对：把信任建设机制内嵌入日常运营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840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信任被破坏后的修复成本没有被纳入决策视野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297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应对：算一笔账——"如果信任崩溃，替换成本是XX万"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spc="800" kern="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57600" cy="365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综合实战与行动计划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从知识到行动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0" y="73152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9144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54864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128016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0" y="13716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109728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18288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192024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164592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真实案例研讨：一次失败的AI薪酬上线复盘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4592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某零售企业AI排班与薪酬联动系统上线风波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员工反映"AI排的班和我提的可用时间对不上"，不知道"该找谁"来调整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D90429">
              <a:alpha val="8000"/>
            </a:srgbClr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员工不知道该找谁——是找排班系统？还是找HR？还是找店长？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信任的真空地带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案例中的三个层面问题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员工层面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AI忽略了自己在系统里登记的健康状况，给排了体力消耗最大的班次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经理层面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员工来质问为什么不给我排我请求的班次，回答只能是"这是系统排的"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097280"/>
            <a:ext cx="2651760" cy="548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信任层面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"我们的工资被一个不知道我们叫什么、不知道我们家里什么情况、不知道我们身体怎么样的机器控制了"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案例最终结果与教训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系统上线第四个月，宣布"暂停AI排班的强制执行"，改为"AI建议+经理审批"的混合模式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EF233C">
              <a:alpha val="10000"/>
            </a:srgbClr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核心教训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"我们当时觉得系统上线就是终点，没想到上线才是起点。"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讨论问题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信任崩塌的起点在哪里？如果你是HR，会在哪个环节介入？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案例里同时出现了哪些信任问题？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信任守护行动计划框架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现状诊断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3619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基于课程学到的框架，描述当前最需要解决的信任问题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核心行动项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963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具体的行动项、责任人和时间节点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信任指标追踪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45643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建立持续的信任指标追踪机制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最需要突破的改变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4165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对我来说最难做到、但也最需要做到的一件事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现状诊断要素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问题1（最紧急）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23160"/>
            <a:ext cx="32004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问题2（重要）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问题3（基础性，需要长期投入）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核心行动项模板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具体做法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时间节点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914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预期产出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914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资源需求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1371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1371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116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011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0116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2011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2651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2651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2651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2651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26517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291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291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6032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0" y="3291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3291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32918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06640" y="32918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319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56032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389120" y="3931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03520" y="3931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17920" y="3931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06640" y="39319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信任指标追踪表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914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目标值（3个月后）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914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目标值（6个月后）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914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测量方式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薪酬沟通满意度评分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417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417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417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1417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薪酬相关申诉数量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057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057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057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2057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97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申诉处理满意度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697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2697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2697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2697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37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薪酬团队"信任守护者"能力自评分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3337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337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3337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3337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77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部门经理薪酬对话能力评分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0" y="3977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3977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3977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3977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课程核心框架图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文化基建：薪酬自动化推进中不能松手的信任基石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为什么自动化可能动摇信任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信任的三个来源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沟通策略设计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薪酬团队的转型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337560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429000" y="3977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制度保障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337560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63640" y="3977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信任不是薪酬自动化的「附属品」，而是薪酬自动化能否成功的「胜负手」。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EF233C">
              <a:alpha val="1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算法可以把薪酬核算的效率提升十倍，但算法不能替代人类来建立和维护信任。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带走三样东西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2801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一个分析框架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"透明度×可控性×公平感"三角模型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2514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一套沟通机制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2971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从"公告式"到"对话式"的升级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7490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一种角色意识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206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薪酬团队的"信任守护者"定位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附录：薪酬信任度自检问卷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questions (1-5分)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我理解影响我薪酬的因素有哪些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---- (2) ---- (3) ---- (4) ---- (5)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我能够理解"我的薪酬结果是如何计算出来的"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---- (2) ---- (3) ---- (4) ---- (5)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我相信薪酬决策的标准对每个人是一致的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---- (2) ---- (3) ---- (4) ---- (5)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我相信薪酬结果是公平的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---- (2) ---- (3) ---- (4) ---- (5)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如果我对薪酬结果有疑问，我知道该找谁、怎么表达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---- (2) ---- (3) ---- (4) ---- (5)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234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我相信我的意见会被认真对待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---- (2) ---- (3) ---- (4) ---- (5)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我相信AI/算法在薪酬决策中是客观的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---- (2) ---- (3) ---- (4) ---- (5)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我相信薪酬团队是在为员工的利益工作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154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---- (2) ---- (3) ---- (4) ---- (5)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429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我相信公司会用薪酬工具来公平对待每一位员工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886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---- (2) ---- (3) ---- (4) ---- (5)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我愿意在该公司长期发展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4617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---- (2) ---- (3) ---- (4) ---- (5)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附录：调薪结果通知单模板（对话式版本）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0700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你的调薪结果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展示具体的调薪金额和比例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这次调薪是怎么算出来的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（可视化因果链）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1868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如果你有疑问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5204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（清晰的申诉渠道）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2452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你的权利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附录：部门经理薪酬对话Checklist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74320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沟通前（提前准备）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复习员工绩效表现 → 准备调薪方案说明 → 预判员工可能的反应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开场（3分钟）：建立信任氛围 → 解读结果（8分钟）：清晰解释调薪逻辑 → 处理异议（3-5分钟）：倾听并回应 → 收尾（2分钟）：确认理解、感谢参与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274320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记录对话要点 → 跟进承诺事项 → 如有需要，向HR反馈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参考文献与延伸阅读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Colquitt, J. A., et al. (2001). "Justice at the Millennium: A Meta-Analytic Review of 25 Years of Organizational Justice Research." Journal of Applied Psychology.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European Commission. (2023). "Directive (EU) 2023/970 on Pay Transparency."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6517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Lee, M. K. (2018). "Understanding Perception of Algorithmic Decisions." Big Data &amp; Society.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4290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Deloitte. (2023). "The Future of Pay: How AI is Reshaping Compensation."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2062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Economic Forum. (2024). "The Global Risks Report: AI and the Future of Work."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课程收尾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从"知识"到"行动"的跨越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恭喜你完成了这门课程。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课程的结束，恰恰是行动的起点。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EF233C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薪酬管理系列课程 · 第11讲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文化基建——薪酬自动化推进中不能松手的信任基石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B2D42"/>
          </a:solidFill>
          <a:ln/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AI可解释性的实践路径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make AI decisions explainable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让AI决策可被理解的三个层次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决策因子可视化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which factors contributed to the decision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88720" y="2103120"/>
            <a:ext cx="7315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1031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让员工知道「我的薪酬由哪些因素决定」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因果链呈现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3192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how factors led to the result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3200400"/>
            <a:ext cx="7315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200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让员工理解「这些因素如何推导出我的结果」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对比分析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93192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how similar cases were handled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88720" y="4297680"/>
            <a:ext cx="7315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让员工看到「类似情况的人，结果如何」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核心洞察：可解释性不是「解释完了」，而是「解释后对方理解了」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员工焦虑的深层来源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analysis of employee anxiety sources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心理基础的三个维度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54480"/>
            <a:ext cx="26517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178308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存在主义焦虑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「我的价值是什么？」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当AI开始做薪酬决策，员工会问：我的不可替代性在哪里？我对组织还有价值吗？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554480"/>
            <a:ext cx="26517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4251960" y="178308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8328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失控感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8328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「我无法影响与己相关的结果」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当决策权转移到算法，员工感到自己被排斥在「影响自己命运的对话」之外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55448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554480"/>
            <a:ext cx="26517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178308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「我是否被公正对待？」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当看不到决策过程，员工无法确认自己是否获得了应有的对待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关键认知：这些焦虑不是「员工不讲道理」，而是人类面对失去控制时的本能反应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心理契约破坏的后果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 of psychological contract breach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心理契约被破坏后，员工会做出什么反应？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457200" cy="3383280"/>
          </a:xfrm>
          <a:prstGeom prst="downArrow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降低组织承诺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organizational commitment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1691640"/>
            <a:ext cx="274320" cy="274320"/>
          </a:xfrm>
          <a:prstGeom prst="rightArrow">
            <a:avLst/>
          </a:prstGeom>
          <a:solidFill>
            <a:srgbClr val="D90429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50876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08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员工对组织的情感依附和认同度下降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增加离职意向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turnover intention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2514600"/>
            <a:ext cx="274320" cy="274320"/>
          </a:xfrm>
          <a:prstGeom prst="rightArrow">
            <a:avLst/>
          </a:prstGeom>
          <a:solidFill>
            <a:srgbClr val="D90429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33172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员工开始主动寻找外部机会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154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减少组织公民行为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OCB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31920" y="3337560"/>
            <a:ext cx="274320" cy="274320"/>
          </a:xfrm>
          <a:prstGeom prst="rightArrow">
            <a:avLst/>
          </a:prstGeom>
          <a:solidFill>
            <a:srgbClr val="D90429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15468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154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员工不再主动做「分外之事」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9728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增加反工作行为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CWB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931920" y="4160520"/>
            <a:ext cx="274320" cy="274320"/>
          </a:xfrm>
          <a:prstGeom prst="rightArrow">
            <a:avLst/>
          </a:prstGeom>
          <a:solidFill>
            <a:srgbClr val="D90429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397764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977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员工可能出现消极怠工、破坏公物等行为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注意：这些后果往往是累积的，且具有隐蔽性——等发现时已造成严重损害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案例深挖：系统设计者的视角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designers thought vs what actually happened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他们的假设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「只要算法足够客观，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员工就应该信任这个结果」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现实结果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 requires MORE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 objective results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系统设计者的思维模式是「技术理性」——认为只要技术足够好，人们就应该接受。但信任的建立需要的不仅是技术准确性，还包括：参与感、被尊重感、被倾听感。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案例深挖：HR团队的困境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HR team's position in this crisis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问题所在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他们准备了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功能介绍PPT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Q&amp;A文档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solidFill>
            <a:srgbClr val="EF233C">
              <a:alpha val="90000"/>
            </a:srgbClr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他们没有准备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员工的情绪反应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信任受损后的应对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他们准备了「技术说明」，但没有准备「信任建设」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启示：HR的专业能力不仅包括「专业内容」，更包括「信任建设能力」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案例深挖：部门经理的处境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department manager's predicament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他们变成了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1554480"/>
            <a:ext cx="365760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「传话筒」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4320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 without message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困境描述：经理们夹在员工和系统之间，他们不知道系统为什么做出某个决定，无法回答员工的质疑，也无法影响系统的决策结果。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核心问题：如何赋能部门经理成为「有效的沟通者」，而不是「夹心饼干」？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这需要：系统透明化 + 经理培训 + 授权机制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讨论练习 —— 信任影响机制分析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5029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Discussion: Trust Impact Mechanism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回想一下你所在的组织，是否也经历过或正在经历类似的「薪酬自动化信任危机」？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最严重的断裂点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员工感受最深、破坏力最大的那一点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150876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508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在哪里？具体表现是什么？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第二个断裂点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机制层面的问题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256032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5603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是什么机制导致了这个问题？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第三个断裂点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沟通或流程上的问题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361188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611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哪个环节的沟通出了问题？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小组讨论时间：15分钟 | 每组分享：5分钟 | 产出：一份「信任断裂点地图」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透明度vs保密性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transparency with confidentiality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核心张力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「透明」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员工有权知道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影响自己薪酬的因素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54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「保护商业机密」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不能公开具体算法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和竞争对手的薪酬数据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解题思路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透明的是「原则和因素」，不一定要透明「具体数据」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实操示例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透明：绩效权重、薪酬区间、晋升路径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不透明：具体算法公式、某人具体工资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透明：决策标准、评估流程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不透明：竞争对手薪酬数据库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透明：个人结果的形成过程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800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不透明：其他员工的个别数据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可控性的边界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controllability end?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关键认知：可控性不是「员工可以讨价还价任何结果」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真正的可控性在于：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931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「影响决策的过程」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员工有权参与讨论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有机会表达意见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被认真倾听和考虑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「直接改变决策结果」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926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不是说员工想要多少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公司就得给多少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这不叫可控性，叫任性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可控性的本质：Having a voice in the process, not controlling the outcome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建立可控感的关键：让员工「被包含在对话中」，而不是「控制结果」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程序公平的法律保障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frameworks supporting procedural fairness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Pay Transparency Directive 2023/970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算法决策的关键条款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雇主必须告知员工其薪酬决策中使用的因素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员工有权要求对薪酬决策进行人工审查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禁止基于性别等因素的算法歧视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雇主必须建立申诉机制处理薪酬争议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对中国企业的启示：即使不在欧盟运营，如果企业有跨国员工或追求国际标准合规，也需要关注此趋势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三种公平的关系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between the three types of fairness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097280"/>
            <a:ext cx="2560320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程序公平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决策过程是否公正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097280"/>
            <a:ext cx="2560320" cy="11887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互动公平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是否被尊重对待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097280"/>
            <a:ext cx="2560320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结果公平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最终结果是否合理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1371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52160" y="1371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971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结果公平 但 程序不公平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0" y="2971800"/>
            <a:ext cx="301752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信任仍然会流失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49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结果不公平 但 程序公平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0" y="3749040"/>
            <a:ext cx="301752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信任可以维持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结论：程序公平是信任的基石——它比结果公平更重要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自我诊断练习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5029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Self-diagnosis exercise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对照检查表，评估你所在组织的薪酬体系</a:t>
            </a:r>
            <a:endParaRPr lang="en-US" sz="15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  <a:gridCol w="128016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我的评价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(好/中/差)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具体表现/事例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5029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透明度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员工能说清楚「影响自己薪酬的因素有哪些」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调薪结果发布时，有清晰的「结果说明书」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可控性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员工在薪酬结果发布前，已经知道申诉渠道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申诉从提交到初步回应的平均时间不超过1周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程序公平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薪酬决策使用的是同一套标准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注：在「具体表现/事例」栏，请写下实际案例或具体表现，以便后续改进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对话vs宣布的本质区别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 difference between dialogue and announcement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宣布型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「通知型」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decided,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accept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特征：单向传播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员工没有机会提问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信息接收后即结束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「参与型」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understand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perspective first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特征：双向互动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员工可以提问和表达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信息交换后达成理解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关键转变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361188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「result delivery」 to 「information exchange」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薪酬沟通不是「传达结果」，而是「交换信息、达成理解」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利益相关方分析工具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analysis framework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受影响程度 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 rot="16200000">
            <a:off x="274320" y="2011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影响力大小 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8288" cy="29260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2468880"/>
            <a:ext cx="658368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5920" y="1097280"/>
            <a:ext cx="3200400" cy="1371600"/>
          </a:xfrm>
          <a:prstGeom prst="rect">
            <a:avLst/>
          </a:prstGeom>
          <a:solidFill>
            <a:srgbClr val="8D99AE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Q1: 观察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1554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普通员工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保持信息同步即可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097280"/>
            <a:ext cx="3200400" cy="1371600"/>
          </a:xfrm>
          <a:prstGeom prst="rect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Q2: 保持满意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1554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高管层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确保支持和资源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0" y="2560320"/>
            <a:ext cx="3200400" cy="1280160"/>
          </a:xfrm>
          <a:prstGeom prst="rect">
            <a:avLst/>
          </a:prstGeom>
          <a:solidFill>
            <a:srgbClr val="8D99AE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Q3: 随时告知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3017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HR团队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充分沟通，获取支持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560320"/>
            <a:ext cx="3200400" cy="1280160"/>
          </a:xfrm>
          <a:prstGeom prst="rect">
            <a:avLst/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Q4: 重点管理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017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部门经理、员工代表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深度参与，双向沟通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示例：AI薪酬系统上线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高管层(Q2) | 部门经理、员工代表(Q4) | HR团队(Q3) | 普通员工(Q1)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沟通时机的重要性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timing matters in compensation communication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1188720"/>
            <a:ext cx="731520" cy="7315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06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Builds trust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Prevents surprises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2651760" cy="4114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防御姿态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66160" y="246888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606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Provides context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Manages expectations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4160520"/>
            <a:ext cx="265176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接受心态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1188720"/>
            <a:ext cx="731520" cy="7315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246888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606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 late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4160520"/>
            <a:ext cx="2651760" cy="4114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质问姿态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03504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核心原则：沟通越早，员工越能以开放心态接受结果</a:t>
            </a:r>
            <a:endParaRPr lang="en-US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调薪预告对话详解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breakdown of the 「调薪预告对话」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目的：让员工有心理准备，也给员工一个「发声」的机会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「我希望帮助你们理解这次调薪结果」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15分钟对话结构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34290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开场与目的说明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2分钟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说明对话目的，营造开放氛围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3375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4290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结果呈现与解释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8分钟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4434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展示调薪结果，解释关键因素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3375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34290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1792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听取反馈与答疑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4206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4434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让员工提问，回应疑虑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年度薪酬回顾对话框架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compensation review dialogue framework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30分钟一对一面谈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64008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80160" y="1600200"/>
            <a:ext cx="5943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6002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「这一年里，你的整体薪酬包包含哪些部分？」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1600200"/>
            <a:ext cx="1280160" cy="6400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6002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帮助员工建立完整的薪酬认知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64008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80160" y="2423160"/>
            <a:ext cx="5943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24231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「对比市场，你的位置在哪里？」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2423160"/>
            <a:ext cx="1280160" cy="6400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提供市场对标视角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0160" y="3246120"/>
            <a:ext cx="5943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32461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「如果明年要实现薪酬增长，我们一起看看有哪些路径？」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06640" y="3246120"/>
            <a:ext cx="1280160" cy="6400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3246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共同制定发展计划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64008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80160" y="4069080"/>
            <a:ext cx="5943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3040" y="40690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「你对我这一年给你的薪酬支持，有什么想说的？」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06640" y="4069080"/>
            <a:ext cx="1280160" cy="6400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4069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获取反馈，改进工作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关键心法：用「我们一起看看」而不是「公司决定」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新系统上线沟通时间线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timeline for new system launch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377440"/>
            <a:ext cx="768096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14884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上线前4-8周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18288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分层沟通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Townhall全员大会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部门分组讨论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系统开放日体验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148840"/>
            <a:ext cx="502920" cy="50292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上线前2周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834640"/>
            <a:ext cx="18288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全员预告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3337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功能说明邮件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操作指南发布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常见问题解答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21488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上线当周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18288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启动支持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337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CEO/CHRO全员信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现场支持团队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实时答疑渠道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2148840"/>
            <a:ext cx="502920" cy="5029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上线后1-3个月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2834640"/>
            <a:ext cx="18288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3337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快速迭代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反馈收集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一对一沟通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原则：沟通不是一次性事件，而是贯穿始终的持续过程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沟通方案设计练习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5029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plan design exercise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选择一个你所在组织即将面临或最近已经经历的薪酬自动化场景，设计一份完整的沟通方案</a:t>
            </a:r>
            <a:endParaRPr lang="en-US" sz="14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你的方案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上线前/上线中/上线后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这次沟通想要达成什么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沟通对象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谁需要被沟通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沟通方式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邮件/会议/一对一/公告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核心信息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最想传递的关键信息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谁来执行这次沟通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时间节点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提示：参考前面学习的利益相关方分析和沟通时机原则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薪酬工作价值地图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for mapping compensation work value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27432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judgment required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1371600"/>
            <a:ext cx="676656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1371600"/>
            <a:ext cx="18288" cy="2743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5920" y="1371600"/>
            <a:ext cx="3383280" cy="1371600"/>
          </a:xfrm>
          <a:prstGeom prst="rect">
            <a:avLst/>
          </a:prstGeom>
          <a:solidFill>
            <a:srgbClr val="EF233C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AI自动化区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例：月薪计算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常规调薪操作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371600"/>
            <a:ext cx="3383280" cy="1371600"/>
          </a:xfrm>
          <a:prstGeom prst="rect">
            <a:avLst/>
          </a:prstGeom>
          <a:solidFill>
            <a:srgbClr val="2B2D42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例：薪酬策略制定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市场对标分析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0" y="2834640"/>
            <a:ext cx="3383280" cy="1371600"/>
          </a:xfrm>
          <a:prstGeom prst="rect">
            <a:avLst/>
          </a:prstGeom>
          <a:solidFill>
            <a:srgbClr val="8D99AE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例：入职薪酬核算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常规福利操作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834640"/>
            <a:ext cx="3383280" cy="1371600"/>
          </a:xfrm>
          <a:prstGeom prst="rect">
            <a:avLst/>
          </a:prstGeom>
          <a:solidFill>
            <a:srgbClr val="D90429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战略咨询区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例：高管薪酬谈判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组织变革咨询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启示：将人力资源投入到「高价值区」和「战略咨询区」，让AI处理「自动化区」和「规则执行区」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薪酬团队的时间分配转型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compensation teams should reallocate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011680"/>
            <a:ext cx="210312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核算工作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971800"/>
            <a:ext cx="73152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971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判断工作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669280" y="2011680"/>
            <a:ext cx="100584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20116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核算（AI处理）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2651760"/>
            <a:ext cx="210312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判断与咨询工作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那20%-30%的「核算」工作，就是AI可以接管的部分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人的价值在于：判断力、同理心、信任建设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薪酬BP的能力模型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Compensation BP competency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2286000"/>
            <a:ext cx="1828800" cy="18288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薪酬BP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能力模型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43771" y="3799913"/>
            <a:ext cx="2194560" cy="1645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5543771" y="3982793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业务理解力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43771" y="4394273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Acumen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35211" y="4714313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理解商业模式、业务流程、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组织架构和战略目标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05669" y="3799913"/>
            <a:ext cx="2194560" cy="1645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1405669" y="3982793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人际影响力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05669" y="4394273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97109" y="4714313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与业务部门建立信任、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有效沟通、化解冲突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05669" y="954967"/>
            <a:ext cx="2194560" cy="164592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1405669" y="113784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薪酬专业力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05669" y="1549327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Expertise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97109" y="1869367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掌握薪酬体系设计原理、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市场对标、合规要求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43771" y="954967"/>
            <a:ext cx="2194560" cy="16459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5543771" y="113784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数据分析力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43771" y="1549327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Literacy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35211" y="1869367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利用数据和AI工具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提升工作效率和决策质量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四个能力缺一不可，共同构成薪酬BP的核心竞争力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薪酬团队转型的常见障碍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obstacles to compensation team transformation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1430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crisis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身份认同危机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1051560"/>
            <a:ext cx="2103120" cy="68580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「I've always been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person」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过去的价值建立在「计算能力」上，转型后不知道自己的核心价值是什么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技能缺口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1965960"/>
            <a:ext cx="2103120" cy="68580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1965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developed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skills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96596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965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长期专注于数据处理，没有发展与业务对话、咨询服务的能力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pressure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时间压力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0" y="2880360"/>
            <a:ext cx="2103120" cy="68580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880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busy doing current work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transform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88036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880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日常事务繁忙，没有精力思考和实践转型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8016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support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8016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组织支持不足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0" y="3794760"/>
            <a:ext cx="2103120" cy="68580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74904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mandate or resources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79476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3794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没有明确授权、资源支持或转型的紧迫性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克服这些障碍需要：认知重塑 + 技能培训 + 时间投入 + 组织支持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能力升级路径设计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upgrade path design template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280160"/>
                <a:gridCol w="1645920"/>
                <a:gridCol w="164592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能力方向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(1-5分)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关键里程碑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学习方式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业务理解力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薪酬战略思维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员工沟通与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信任建设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AI工具的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深度理解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F233C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使用说明：先自评当前状态，再设定目标，制定里程碑和截止日期，让学习有计划、可追踪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提示：建议每个能力方向选择1-2种学习方式，避免贪多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从「传话筒」到「信任中介」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from messenger to trust mediator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转型路径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7315200" cy="457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23317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知道系统在做什么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system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828800" cy="77724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深入了解AI薪酬系统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的逻辑和规则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23317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65176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能解释系统为什么这样做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logic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886200"/>
            <a:ext cx="1828800" cy="77724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能够用通俗语言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向员工解释决策依据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23560" y="23317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4632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能处理员工的情绪和疑虑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emotions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3886200"/>
            <a:ext cx="1828800" cy="77724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倾听、共情、引导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而非防御或回避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818120" y="23317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7818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4088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能收集反馈推动系统改进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improvement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0" y="3886200"/>
            <a:ext cx="1828800" cy="777240"/>
          </a:xfrm>
          <a:prstGeom prst="rect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17804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成为员工与系统之间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的桥梁和纽带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部门经理和HRBP是薪酬自动化时代最重要的「信任建设者」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有效申诉机制的自检问题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 questions for appeal mechanisms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在审视你所在组织的申诉机制时，问自己这四个关键问题：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1463040"/>
            <a:ext cx="6675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463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员工是否在看到结果之前，就知道可以向哪里申诉？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463040"/>
            <a:ext cx="1188720" cy="7315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申诉渠道的前置性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572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31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97280" y="2331720"/>
            <a:ext cx="6675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2331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申诉流程是否清晰、低门槛，员工知道如何操作？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2331720"/>
            <a:ext cx="1188720" cy="7315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331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流程的可及性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4572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004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97280" y="3200400"/>
            <a:ext cx="6675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200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申诉提交后，是否有明确的时间节点和响应承诺？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3200400"/>
            <a:ext cx="1188720" cy="7315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200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响应的及时性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4572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690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97280" y="4069080"/>
            <a:ext cx="6675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4069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员工申诉时是否会担心被「穿小鞋」？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92240" y="4069080"/>
            <a:ext cx="1188720" cy="7315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0690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solidFill>
            <a:srgbClr val="2B2D42"/>
          </a:solidFill>
          <a:ln/>
        </p:spPr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申诉处理的最佳实践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for handling appeals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1005840"/>
            <a:ext cx="7498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24-48小时内确认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within 24-48 hours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097280"/>
            <a:ext cx="4663440" cy="502920"/>
          </a:xfrm>
          <a:prstGeom prst="rect">
            <a:avLst/>
          </a:prstGeom>
          <a:solidFill>
            <a:srgbClr val="2B2D42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097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让员工知道「我收到了你的申诉，正在处理」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8720" y="1783080"/>
            <a:ext cx="7498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指定处理人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a named handler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1874520"/>
            <a:ext cx="4663440" cy="502920"/>
          </a:xfrm>
          <a:prstGeom prst="rect">
            <a:avLst/>
          </a:prstGeom>
          <a:solidFill>
            <a:srgbClr val="2B2D42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1874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给员工一个「联系人」，而非一个部门邮箱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8720" y="2560320"/>
            <a:ext cx="7498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提供进度更新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progress updates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0" y="2651760"/>
            <a:ext cx="4663440" cy="502920"/>
          </a:xfrm>
          <a:prstGeom prst="rect">
            <a:avLst/>
          </a:prstGeom>
          <a:solidFill>
            <a:srgbClr val="2B2D42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2651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主动告知进展，不要让员工反复追问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88720" y="3337560"/>
            <a:ext cx="7498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给出清晰的理由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3685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clear reasoning in response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3429000"/>
            <a:ext cx="4663440" cy="502920"/>
          </a:xfrm>
          <a:prstGeom prst="rect">
            <a:avLst/>
          </a:prstGeom>
          <a:solidFill>
            <a:srgbClr val="2B2D42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0" y="3429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解释「为什么」，而不只是「是什么结果」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88720" y="4114800"/>
            <a:ext cx="7498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跟进确认满意度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71600" y="4462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 to ensure satisfaction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4206240"/>
            <a:ext cx="4663440" cy="502920"/>
          </a:xfrm>
          <a:prstGeom prst="rect">
            <a:avLst/>
          </a:prstGeom>
          <a:solidFill>
            <a:srgbClr val="2B2D42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023360" y="4206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处理完结后，主动确认员工是否接受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solidFill>
            <a:srgbClr val="2B2D42"/>
          </a:solidFill>
          <a:ln/>
        </p:spPr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算法审计的操作框架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framework for algorithm auditing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0972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12344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定义审计范围和标准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audit scope and criteria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10972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2344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收集决策数据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decision 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0972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12344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分析偏见和一致性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for bias and consistency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283464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297180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记录发现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findings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0" y="283464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297180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56616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提出改进建议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improvements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283464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69480" y="297180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0080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跟踪改进实施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implementation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0" y="1600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35040" y="1600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200400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035040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建议：算法审计每季度或每半年进行一次，重大系统变更后应额外审计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算法透明度的四个层次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levels of algorithm transparency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0" y="1097280"/>
            <a:ext cx="2286000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9" name="Text 7"/>
          <p:cNvSpPr/>
          <p:nvPr/>
        </p:nvSpPr>
        <p:spPr>
          <a:xfrm>
            <a:off x="580644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5508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声明透明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「We use AI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decisions」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011680"/>
            <a:ext cx="3840480" cy="7772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148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7784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因素透明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「These are the factors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considers」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2926080"/>
            <a:ext cx="5394960" cy="7772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0060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个体透明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「Here's how the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you」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3840480"/>
            <a:ext cx="6949440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977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023360" y="39319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过程透明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0" y="42519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「Here's how the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this decision」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透明度递增 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1: 最低透明度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468880"/>
            <a:ext cx="274320" cy="2743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2: 中等透明度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3: 较高透明度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274320" cy="274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4: 最高透明度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目标：逐步从Level 1向Level 4提升，实现真正的算法透明度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薪酬健康度报告模板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health report template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1556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Competitiveness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市场竞争力分析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Equity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内部公平性分析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Effectiveness Metrics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沟通有效性指标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00584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11556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4068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Appeal Handling Statistics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申诉处理统计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178308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89280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406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AI/Algorithm Trust Indicators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AI/算法信任指标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256032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67004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4068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4068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建议频率：每季度一次，包含数据更新时间节点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信任建设的投入产出分析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analysis for trust building investments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329184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投入方向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典型投入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（参考量级）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可能的产出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薪酬沟通机制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设计与落地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1名HRBP投入约20%时间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约6个月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薪酬相关申诉减少50%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申诉机制重新设计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一次性项目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约3个月+系统改造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申诉处理满意度从30%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提升至70%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薪酬健康度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诊断机制建立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每季度2-3天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数据分析+报告撰写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提前发现3-5个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潜在信任风险点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投入产出比参考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0" y="4434840"/>
            <a:ext cx="5943600" cy="274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信任建设的回报往往是滞后的，但影响是长期的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计算ROI时，不仅要看直接成本节约，还要看员工留存率、敬业度的提升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制度体检练习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5029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health check exercise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对照以下「信任制度体检表」，评估你所在组织的现状</a:t>
            </a:r>
            <a:endParaRPr lang="en-US" sz="14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97280"/>
                <a:gridCol w="18288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制度/机制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执行情况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(好/中/差)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需要优先升级？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薪酬申诉机制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申诉结果反馈到系统改进的机制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算法决策的可解释性输出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算法/AI决策的定期审计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薪酬健康度的定期诊断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薪酬沟通的经理赋能培训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员工对薪酬体系提出建议的渠道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注：在「是否有」栏打「✓」或「✗」，「执行情况」和「是否需要升级」根据实际填写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目标：找出制度短板，优先升级最影响信任的环节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案例研讨问题详解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discussion questions for the case study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822960" cy="10515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3040" y="1005840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143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信任崩塌的起点在哪里？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1554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如果你是这家公司的HR，你会在哪个环节介入？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" cy="10515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463040" y="2240280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2377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案例里同时出现了哪些问题？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2788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「透明度问题」「可控性问题」「公平感问题」——请分别指出具体表现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" cy="10515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7472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463040" y="3474720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3611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部门经理在这个案例里扮演了什么角色？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023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他们的困境是什么？应该如何赋能？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小组讨论时间：20分钟 | 每组分享：5分钟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案例研讨问题详解（续）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discussion questions for the case study (continued)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822960" cy="2011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822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3040" y="1005840"/>
            <a:ext cx="7223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097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员工发帖说「我们的工资被一个不知道我们叫什么、不知道我们家里什么情况、不知道我们身体怎么样的机器控制了」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分析角度：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148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事实层面：这个说法准确吗？AI实际上知道什么？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情感层面：为什么这句话有这么大的杀伤力？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" cy="1508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822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463040" y="3200400"/>
            <a:ext cx="7223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3291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如果重新来过，这套系统的上线可以怎样设计，才能避免这次信任危机？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提示：从「信任建设」角度思考，而不是从「技术改进」角度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小组讨论时间：25分钟 | 重点关注Q5的解决方案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行动计划制定指南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5029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 for creating your action plan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0584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80160" y="960120"/>
            <a:ext cx="7406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033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从诊断开始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diagnosis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1033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biggest trust issue?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13258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找出最大的信任问题在哪里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1755648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755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280160" y="1709928"/>
            <a:ext cx="7406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聚焦速赢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075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quick wins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momentum early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207568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优先解决容易看到成效的问题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505456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5054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280160" y="2459736"/>
            <a:ext cx="7406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2532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系统性思考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28254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systemic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532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just fix symptoms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82549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不要只治标，要治本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255264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255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280160" y="3209544"/>
            <a:ext cx="7406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3282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设定可衡量目标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63040" y="3575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measurable targets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3282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progress objectively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357530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用数据说话，跟踪进展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05072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005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80160" y="3959352"/>
            <a:ext cx="7406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040" y="4032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让利益相关方参与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6304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Involve stakeholders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840480" y="4032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buy-in from key parties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0" y="43251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让相关方参与，获得支持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行动要点：从今天开始，从小事开始，从能做的事情开始</a:t>
            </a:r>
            <a:endParaRPr 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信任守护行动计划的结构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of a trust guardian action plan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制定你的信任守护行动计划，需要包含以下四个部分：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现状诊断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基于本课程学到的框架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63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识别当前薪酬自动化中存在的信任风险点和薄弱环节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核心行动项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具体的行动项、责任人和时间节点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331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明确要做什么、谁来做、什么时候完成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信任指标追踪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建立持续的信任指标追踪机制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20040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004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建立定期评估和反馈机制，持续监测信任水平变化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3444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最需要突破的一个改变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444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聚焦最关键的单点突破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406908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69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在众多行动项中，找出最重要、最需要优先突破的一项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B2D42">
              <a:alpha val="9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行动计划的目的是将信任建设从「理念」转化为「可执行的步骤」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行动计划模板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template format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60120"/>
            <a:ext cx="8229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组织名称/部门：_____________________________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5087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计划周期：____年____月 至 ____年____月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制定人：_____________________________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768096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423160"/>
            <a:ext cx="13716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一、现状诊断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问题1（最紧急）：___________________________________________________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问题2（重要）：___________________________________________________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703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问题3（基础性，需要长期投入）：___________________________________________________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提示：请根据本课程学到的框架进行现状诊断，聚焦信任相关的核心问题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核心行动项表示例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template for core action items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1828800"/>
                <a:gridCol w="822960"/>
                <a:gridCol w="914400"/>
                <a:gridCol w="137160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行动项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具体做法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时间节点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预期产出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资源需求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EF233C">
              <a:alpha val="1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提示：行动项应该具体、可衡量、可实现、相关性强、有明确截止日期（SMART原则）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最需要突破的改变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 for the most critical change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60120"/>
            <a:ext cx="8229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在这份行动计划中，对我来说最难做到、但也最需要做到的一件事是：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768096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00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我打算怎么突破它：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我需要谁的支持：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960120"/>
            <a:ext cx="109728" cy="3794760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零售企业AI排班案例：员工层面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AI Scheduling Case: Employee Perspective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员工的具体抱怨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109728" cy="914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325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05840" y="1554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「AI给排了3点到9点的班，但我的孩子放学时间是下午3点半」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109728" cy="914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05840" y="2606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「AI忽略了自己在系统里登记的健康状况」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20440"/>
            <a:ext cx="109728" cy="914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05840" y="3657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「我不知道该找谁」——主管说「这是系统排的，我改不了」，HR说「流程要走两周」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核心问题：AI决策与个人实际情况脱节，且缺乏人性化的纠错通道</a:t>
            </a:r>
            <a:endParaRPr lang="en-US" sz="13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零售企业AI排班案例：经理层面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AI Scheduling Case: Manager Perspective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经理人的困境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员工来质问他「为什么不给我排我请求的班次」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回答只能是「这是系统排的」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夹在员工和系统之间两头受气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一方面觉得自己的管理权威被架空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另一方面也确实不知道系统是怎么运作的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进退两难，无所适从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2286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关键发现：经理人是信任传导的关键节点——如果连经理都不理解系统，员工就更不可能信任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F233C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启示：AI系统上线前的经理培训和沟通，可能比员工培训更重要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零售企业AI排班案例：信任层面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AI Scheduling Case: Trust Breakdown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60120"/>
            <a:ext cx="8229600" cy="2011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员工在内部论坛的发帖（引发广泛共鸣）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「我们的工资现在被一个不知道我们叫什么、不知道我们家里什么情况、不知道我们身体怎么样的机器控制了」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为什么这句话引发强烈共鸣？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事实层面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不完全准确——AI确实处理了大量个人信息，但这些信息对AI来说是「数据」而非「人的情况」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611880"/>
            <a:ext cx="3931920" cy="9144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情感层面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极具杀伤力——精准描述了员工「被控制」的存在主义焦虑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可解释性教训：技术上的「有数据」不等于情感上的「被理解」</a:t>
            </a:r>
            <a:endParaRPr lang="en-US" sz="13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零售企业AI排班案例：解决路径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AI Scheduling Case: Resolution Path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核心改变：从「AI强制执行」到「AI建议+经理审批」的混合模式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「系统上线才是起点，不是终点」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他们原本应该怎么做：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先让经理理解和接受，再让员工接触系统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建立清晰的问题反馈和解决通道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114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保持人在关键决策中的角色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信任建设需要持续投入——系统上线后的优化和沟通，与上线前一样重要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信任三角模型回顾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Triangle Model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1051560"/>
            <a:ext cx="2743200" cy="1005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决策依据是否可见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2743200" cy="10058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结果是否符合程序公平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834640"/>
            <a:ext cx="2743200" cy="10058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员工是否有渠道表达意见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-2100000">
            <a:off x="2103120" y="2057400"/>
            <a:ext cx="201168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 rot="2100000">
            <a:off x="5029200" y="2057400"/>
            <a:ext cx="201168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3840480"/>
            <a:ext cx="219456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4114800"/>
            <a:ext cx="45720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4160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核心关系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4480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程序公平是地基，透明度是柱子，可控性是屋顶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沟通策略演进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Communication Strategy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公告式沟通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把「通知」当成「沟通」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单向信息发布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员工被动接收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缺乏反馈机制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1031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5029200" y="128016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280160"/>
            <a:ext cx="365760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280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对话式沟通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双向的信息交换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880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主动倾听员工关切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及时回应疑问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共同参与决策过程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核心区别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「结果送达」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vs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「信息交换」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公告式沟通关注的是「信息发出了没有」，对话式沟通关注的是「对方理解了没有」</a:t>
            </a:r>
            <a:endParaRPr lang="en-US" sz="1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薪酬团队转型路径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team transformation journey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657600" cy="5029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From: 核算者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忙着处理数据报表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应付调薪请求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充当传话筒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1031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36576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463040"/>
            <a:ext cx="365760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63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To: 信任守护者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帮助业务负责人理解和运用薪酬工具来达成团队目标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Shift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从「做了多少数据工作」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160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到「解决了多少人的薪酬问题」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衡量标准的变化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制度保障体系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guarantee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有效申诉机制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前置告知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标准透明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过程可见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结果关联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算法审计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931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薪酬健康度诊断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六维定期诊断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3931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383280"/>
            <a:ext cx="457200" cy="4572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信任指标追踪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3931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持续监测信任状态</a:t>
            </a:r>
            <a:endParaRPr lang="en-US" sz="14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关键认知：AI薪酬工具的本质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AI薪酬工具的大规模应用，某种意义上是一次「信任外包」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73152" cy="6400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8001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把原本由薪酬团队凭借经验和人际判断完成的工作，交给系统自动完成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73152" cy="6400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91840"/>
            <a:ext cx="8001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但信任这种东西，一旦外包出去，就不会自动回来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4206240"/>
            <a:ext cx="457200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2062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它需要被主动建设</a:t>
            </a:r>
            <a:endParaRPr lang="en-US" sz="2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关键认知：信任与自动化的关系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当组织把薪酬决策外包给AI的时候，它也同时把信任建设的责任揽到了自己身上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24688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员工会问：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「谁在背后操控这个系统？」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703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「谁对这个系统的结果负责？」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29768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「如果系统出了问题，谁来听我说？」</a:t>
            </a:r>
            <a:endParaRPr lang="en-US" sz="16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关键认知：沟通的时机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新系统上线最危险的时间窗口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是「员工有了第一次体验，但系统还没来得及展示它会持续改进」的那个空档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很多组织的系统在上线初期遭遇信任危机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3375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不一定是因为系统本身有多差，而是因为员工的第一组问题没有被及时、认真地回答</a:t>
            </a:r>
            <a:endParaRPr lang="en-US" sz="1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关键认知：申诉机制的作用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有效的申诉机制，需要同时实现三个目标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8745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给员工一个「发声」的通道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8745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26060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让员工知道「我的声音被认真对待了」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8745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26060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把个案申诉中发现的系统性问题，反馈到薪酬体系的改进中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三个目标缺一个，申诉机制就只完成了一半</a:t>
            </a:r>
            <a:endParaRPr lang="en-US" sz="18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关键认知：程序公平的证明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「我们的薪酬决策是客观公正的」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不会建立信任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371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你需要告诉员工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「我们用什么数据、用什么标准、谁来审核、结果不满意可以找谁」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8229600" cy="23774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这套机制本身，就是程序公平的证明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94360" y="3566160"/>
            <a:ext cx="192024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5661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用什么数据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51760" y="3566160"/>
            <a:ext cx="192024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35661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用什么标准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566160"/>
            <a:ext cx="192024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5661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谁来审核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66560" y="3566160"/>
            <a:ext cx="192024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5661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结果不满意找谁</a:t>
            </a:r>
            <a:endParaRPr lang="en-US" sz="1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Tool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实用工具：利益相关方沟通地图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Communication Map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高层管理者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109728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91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典型对象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09728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86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1691640"/>
            <a:ext cx="2651760" cy="457200"/>
          </a:xfrm>
          <a:prstGeom prst="rect">
            <a:avLst/>
          </a:prstGeom>
          <a:solidFill>
            <a:srgbClr val="EDF2F4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737360" y="2286000"/>
            <a:ext cx="2651760" cy="457200"/>
          </a:xfrm>
          <a:prstGeom prst="rect">
            <a:avLst/>
          </a:prstGeom>
          <a:solidFill>
            <a:srgbClr val="EDF2F4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中层管理者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691640"/>
            <a:ext cx="109728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691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典型对象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286000"/>
            <a:ext cx="109728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286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691640"/>
            <a:ext cx="2651760" cy="457200"/>
          </a:xfrm>
          <a:prstGeom prst="rect">
            <a:avLst/>
          </a:prstGeom>
          <a:solidFill>
            <a:srgbClr val="EDF2F4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35040" y="2286000"/>
            <a:ext cx="2651760" cy="457200"/>
          </a:xfrm>
          <a:prstGeom prst="rect">
            <a:avLst/>
          </a:prstGeom>
          <a:solidFill>
            <a:srgbClr val="EDF2F4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" y="3108960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一线员工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109728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典型对象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109728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37360" y="3703320"/>
            <a:ext cx="2651760" cy="457200"/>
          </a:xfrm>
          <a:prstGeom prst="rect">
            <a:avLst/>
          </a:prstGeom>
          <a:solidFill>
            <a:srgbClr val="EDF2F4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737360" y="4297680"/>
            <a:ext cx="2651760" cy="457200"/>
          </a:xfrm>
          <a:prstGeom prst="rect">
            <a:avLst/>
          </a:prstGeom>
          <a:solidFill>
            <a:srgbClr val="EDF2F4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754880" y="3108960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108960"/>
            <a:ext cx="41148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HR团队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46320" y="3703320"/>
            <a:ext cx="109728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典型对象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297680"/>
            <a:ext cx="109728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3703320"/>
            <a:ext cx="2651760" cy="457200"/>
          </a:xfrm>
          <a:prstGeom prst="rect">
            <a:avLst/>
          </a:prstGeom>
          <a:solidFill>
            <a:srgbClr val="EDF2F4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035040" y="4297680"/>
            <a:ext cx="2651760" cy="457200"/>
          </a:xfrm>
          <a:prstGeom prst="rect">
            <a:avLst/>
          </a:prstGeom>
          <a:solidFill>
            <a:srgbClr val="EDF2F4"/>
          </a:solidFill>
          <a:ln w="12700">
            <a:solidFill>
              <a:srgbClr val="8D99AE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空白模板 - 请参与者填写</a:t>
            </a:r>
            <a:endParaRPr lang="en-US" sz="11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Tool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实用工具：薪酬对话准备清单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0" y="365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Dialogue Preparation Checklist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沟通前（提前准备）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1892808"/>
            <a:ext cx="320040" cy="320040"/>
          </a:xfrm>
          <a:prstGeom prst="rect">
            <a:avLst/>
          </a:prstGeom>
          <a:solidFill>
            <a:srgbClr val="EDF2F4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92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复习团队每个成员的调薪结果和关键数据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7863840" cy="9144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578608"/>
            <a:ext cx="320040" cy="320040"/>
          </a:xfrm>
          <a:prstGeom prst="rect">
            <a:avLst/>
          </a:prstGeom>
          <a:solidFill>
            <a:srgbClr val="EDF2F4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78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468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确认每个人的绩效亮点和不足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7863840" cy="9144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264408"/>
            <a:ext cx="320040" cy="320040"/>
          </a:xfrm>
          <a:prstGeom prst="rect">
            <a:avLst/>
          </a:prstGeom>
          <a:solidFill>
            <a:srgbClr val="EDF2F4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64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154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准备回答「我的为什么比他/她低」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7863840" cy="9144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950208"/>
            <a:ext cx="320040" cy="320040"/>
          </a:xfrm>
          <a:prstGeom prst="rect">
            <a:avLst/>
          </a:prstGeom>
          <a:solidFill>
            <a:srgbClr val="EDF2F4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50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8404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确认申诉渠道和流程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Tip: 准备越充分，对话越有底气</a:t>
            </a:r>
            <a:endParaRPr lang="en-US" sz="13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Tool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实用工具：薪酬健康度自检表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0" y="365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Health Self-Check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097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54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薪酬竞争力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Competitiveness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0" y="171907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719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71907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719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171907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719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185416"/>
            <a:ext cx="914400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194560"/>
            <a:ext cx="914400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194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内部公平性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25603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Equity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915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359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235915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359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55280" y="235915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359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2825496"/>
            <a:ext cx="914400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83464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8346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薪酬沟通满意度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2004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Satisfaction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0" y="299923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999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35040" y="299923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999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955280" y="299923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2999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3465576"/>
            <a:ext cx="914400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3474720"/>
            <a:ext cx="914400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3474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申诉处理有效性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" y="38404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Appeal Effectiveness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0" y="363931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3639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035040" y="363931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639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955280" y="363931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75320" y="3639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4105656"/>
            <a:ext cx="914400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57200" y="411480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4114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薪酬与绩效的关联度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40080" y="4480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Linkage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114800" y="427939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34840" y="4279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035040" y="427939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4279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955280" y="427939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75320" y="4279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57200" y="4745736"/>
            <a:ext cx="914400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57200" y="4754880"/>
            <a:ext cx="914400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47548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AI/算法信任度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40080" y="51206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Trust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114800" y="491947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34840" y="4919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035040" y="491947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4919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955280" y="4919472"/>
            <a:ext cx="274320" cy="274320"/>
          </a:xfrm>
          <a:prstGeom prst="rect">
            <a:avLst/>
          </a:prstGeom>
          <a:solidFill>
            <a:srgbClr val="EDF2F4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75320" y="4919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57200" y="5385816"/>
            <a:ext cx="9144000" cy="9144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57200" y="1097280"/>
            <a:ext cx="9144000" cy="429768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六维定期诊断 - 建议每季度进行自检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实用工具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算法透明度核查清单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transparency checklist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在推进薪酬自动化前，确认以下五个维度是否具备：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1508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薪酬数据的准确性、完整性和时效性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1508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□有 □无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50292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模型公平性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26080" y="2194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算法是否存在偏见，是否对特定群体不公平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□有 □无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50292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可解释性输出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926080" y="2880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能否向员工清晰解释其薪酬结果如何得出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2880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□有 □无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一致性验证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926080" y="3566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相同情况是否得到相同处理，结果是否稳定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□有 □无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50292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9728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合规性保障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926080" y="4251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是否符合劳动法、数据保护法等相关规定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□有 □无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B2D42">
              <a:alpha val="9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提示：所有维度都需要「有」，才能真正建立员工对算法的信任</a:t>
            </a:r>
            <a:endParaRPr lang="en-US" sz="14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实用工具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信任守护者角色转型画布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guardian role transformation canvas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帮助薪酬从业者思考AI时代的角色升级：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40233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08760"/>
            <a:ext cx="4023360" cy="10972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783080"/>
            <a:ext cx="548640" cy="5486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我过去的核心工作是什么？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2468880"/>
            <a:ext cx="3749040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40233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508760"/>
            <a:ext cx="4023360" cy="10972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178308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这些工作中，哪些是AI可以替代的？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92040" y="2468880"/>
            <a:ext cx="3749040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40233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00400"/>
            <a:ext cx="4023360" cy="1097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4747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我未来应该投入时间的方向？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4160520"/>
            <a:ext cx="3749040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200400"/>
            <a:ext cx="40233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200400"/>
            <a:ext cx="4023360" cy="10972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2" name="Shape 30"/>
          <p:cNvSpPr/>
          <p:nvPr/>
        </p:nvSpPr>
        <p:spPr>
          <a:xfrm>
            <a:off x="4892040" y="347472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577840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我需要提升什么能力？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892040" y="4160520"/>
            <a:ext cx="3749040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提示：认真思考这四个问题，帮助你完成从「核算者」到「信任守护者」的转型</a:t>
            </a:r>
            <a:endParaRPr lang="en-US" sz="13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课程回顾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模块1-2要点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from Modules 1-2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1: 信任动摇的根源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AI黑盒感 — 员工无法理解决策逻辑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被监控感 — 觉得被算法监视和控制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被替代感 — 担心被AI取代工作价值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心理契约破坏 — 感到组织背弃了承诺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2: 透明度与可控性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169164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 — 展示因果链而非黑盒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19456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 — 清晰/可及/被认真对待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69748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程序公平 &gt; 结果公平 — 过程正义更重要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信任的破坏来自「不透明」和「失控」，而非来自「AI」本身。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解决方案不是不用AI，而是让AI变得可理解、可参与、可申诉。</a:t>
            </a:r>
            <a:endParaRPr lang="en-US" sz="14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课程回顾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模块3-4要点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from Modules 3-4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3: 沟通策略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公告式 → 对话式 — 从单向通知到双向沟通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利益相关方地图 — 识别关键影响对象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关键场景沟通方案 — 针对性应对策略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4: 团队转型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69164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核算工作 vs 判断工作 — 区分AI与人的分工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薪酬BP转型 — 从执行者到战略伙伴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69748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四个高价值投入方向 — 信任建设的关键领域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AI时代薪酬团队的核心价值不在于「算得准」，而在于「说得清」和「管得好」。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沟通能力和信任建设能力将成为薪酬BP的核心竞争力。</a:t>
            </a:r>
            <a:endParaRPr lang="en-US" sz="14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课程回顾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模块5-6要点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from Modules 5-6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5: 持续信任建设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有效申诉机制四原则 — 可及/及时/公正/有效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算法审计五维度 — 公平/透明/安全/问责/合规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薪酬健康度六维诊断 — 信任度的系统性评估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6: 行动与追踪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69164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真实案例研讨 — 情境化学习与思考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信任守护行动计划 — 制定具体改进计划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69748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信任指标追踪 — 建立持续监测体系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信任建设不是一次性项目，而是需要机制化、持续化的系统工程。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从今天开始，建立你的信任指标追踪体系，让信任可衡量、可改进。</a:t>
            </a:r>
            <a:endParaRPr lang="en-US" sz="14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行动承诺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commitment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09728" cy="3200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80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我承诺在这门课程结束后，开始做的第一件事是：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7680960" cy="7315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828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我希望在下述时间之前看到具体成果：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108960"/>
            <a:ext cx="228600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____（时间）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之前看到：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84048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____（具体成果）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我需要____的支持或资源：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768096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14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____（谁的支持或资源）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承诺越具体，行动越有力。请认真填写并保存这份承诺。</a:t>
            </a:r>
            <a:endParaRPr lang="en-US" sz="14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EF233C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问题与讨论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欢迎提问，共同探讨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B2D42"/>
          </a:solidFill>
          <a:ln/>
        </p:spPr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B2D4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EF233C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薪酬管理系列课程 · 第11讲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文化基建——薪酬自动化推进中不能松手的信任基石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B2D42"/>
          </a:solidFill>
          <a:ln/>
        </p:spPr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371600"/>
            <a:ext cx="6400800" cy="1097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6916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以下事项可联系我们：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0" y="233172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课程反馈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278892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2697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定制内训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28800" y="324612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3154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更多资源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45920" y="3566160"/>
            <a:ext cx="5852160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3566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具体联系方式根据实际情况填写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0" y="438912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45720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20624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93776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0" y="502920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4754880"/>
            <a:ext cx="109728" cy="109728"/>
          </a:xfrm>
          <a:prstGeom prst="ellipse">
            <a:avLst/>
          </a:prstGeom>
          <a:solidFill>
            <a:srgbClr val="EF233C">
              <a:alpha val="40000"/>
            </a:srgbClr>
          </a:solidFill>
          <a:ln/>
        </p:spPr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EF233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D90429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再次感谢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信任建设是一场持续的旅程，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而不是一次性的项目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祝各位在薪酬自动化推进中，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都能成为值得员工信任的「信任守护者」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薪酬管理系列课程 · 第11讲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130</Slides>
  <Notes>130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文化基建——薪酬自动化推进中不能松手的信任基石</dc:title>
  <dc:subject>薪酬管理系列课程 · 第11讲</dc:subject>
  <dc:creator>HR Compensation Series</dc:creator>
  <cp:lastModifiedBy>HR Compensation Series</cp:lastModifiedBy>
  <cp:revision>1</cp:revision>
  <dcterms:created xsi:type="dcterms:W3CDTF">2026-08-10T14:54:27Z</dcterms:created>
  <dcterms:modified xsi:type="dcterms:W3CDTF">2026-08-10T14:54:27Z</dcterms:modified>
</cp:coreProperties>
</file>