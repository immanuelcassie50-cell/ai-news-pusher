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slideMasters/slideMaster69.xml" ContentType="application/vnd.openxmlformats-officedocument.presentationml.slideMaster+xml"/>
  <Override PartName="/ppt/slides/slide69.xml" ContentType="application/vnd.openxmlformats-officedocument.presentationml.slide+xml"/>
  <Override PartName="/ppt/slideMasters/slideMaster70.xml" ContentType="application/vnd.openxmlformats-officedocument.presentationml.slideMaster+xml"/>
  <Override PartName="/ppt/slides/slide70.xml" ContentType="application/vnd.openxmlformats-officedocument.presentationml.slide+xml"/>
  <Override PartName="/ppt/slideMasters/slideMaster71.xml" ContentType="application/vnd.openxmlformats-officedocument.presentationml.slideMaster+xml"/>
  <Override PartName="/ppt/slides/slide71.xml" ContentType="application/vnd.openxmlformats-officedocument.presentationml.slide+xml"/>
  <Override PartName="/ppt/slideMasters/slideMaster72.xml" ContentType="application/vnd.openxmlformats-officedocument.presentationml.slideMaster+xml"/>
  <Override PartName="/ppt/slides/slide72.xml" ContentType="application/vnd.openxmlformats-officedocument.presentationml.slide+xml"/>
  <Override PartName="/ppt/slideMasters/slideMaster73.xml" ContentType="application/vnd.openxmlformats-officedocument.presentationml.slideMaster+xml"/>
  <Override PartName="/ppt/slides/slide73.xml" ContentType="application/vnd.openxmlformats-officedocument.presentationml.slide+xml"/>
  <Override PartName="/ppt/slideMasters/slideMaster74.xml" ContentType="application/vnd.openxmlformats-officedocument.presentationml.slideMaster+xml"/>
  <Override PartName="/ppt/slides/slide74.xml" ContentType="application/vnd.openxmlformats-officedocument.presentationml.slide+xml"/>
  <Override PartName="/ppt/slideMasters/slideMaster75.xml" ContentType="application/vnd.openxmlformats-officedocument.presentationml.slideMaster+xml"/>
  <Override PartName="/ppt/slides/slide75.xml" ContentType="application/vnd.openxmlformats-officedocument.presentationml.slide+xml"/>
  <Override PartName="/ppt/slideMasters/slideMaster76.xml" ContentType="application/vnd.openxmlformats-officedocument.presentationml.slideMaster+xml"/>
  <Override PartName="/ppt/slides/slide76.xml" ContentType="application/vnd.openxmlformats-officedocument.presentationml.slide+xml"/>
  <Override PartName="/ppt/slideMasters/slideMaster77.xml" ContentType="application/vnd.openxmlformats-officedocument.presentationml.slideMaster+xml"/>
  <Override PartName="/ppt/slides/slide77.xml" ContentType="application/vnd.openxmlformats-officedocument.presentationml.slide+xml"/>
  <Override PartName="/ppt/slideMasters/slideMaster78.xml" ContentType="application/vnd.openxmlformats-officedocument.presentationml.slideMaster+xml"/>
  <Override PartName="/ppt/slides/slide78.xml" ContentType="application/vnd.openxmlformats-officedocument.presentationml.slide+xml"/>
  <Override PartName="/ppt/slideMasters/slideMaster79.xml" ContentType="application/vnd.openxmlformats-officedocument.presentationml.slideMaster+xml"/>
  <Override PartName="/ppt/slides/slide79.xml" ContentType="application/vnd.openxmlformats-officedocument.presentationml.slide+xml"/>
  <Override PartName="/ppt/slideMasters/slideMaster80.xml" ContentType="application/vnd.openxmlformats-officedocument.presentationml.slideMaster+xml"/>
  <Override PartName="/ppt/slides/slide80.xml" ContentType="application/vnd.openxmlformats-officedocument.presentationml.slide+xml"/>
  <Override PartName="/ppt/slideMasters/slideMaster81.xml" ContentType="application/vnd.openxmlformats-officedocument.presentationml.slideMaster+xml"/>
  <Override PartName="/ppt/slides/slide81.xml" ContentType="application/vnd.openxmlformats-officedocument.presentationml.slide+xml"/>
  <Override PartName="/ppt/slideMasters/slideMaster82.xml" ContentType="application/vnd.openxmlformats-officedocument.presentationml.slideMaster+xml"/>
  <Override PartName="/ppt/slides/slide82.xml" ContentType="application/vnd.openxmlformats-officedocument.presentationml.slide+xml"/>
  <Override PartName="/ppt/slideMasters/slideMaster83.xml" ContentType="application/vnd.openxmlformats-officedocument.presentationml.slideMaster+xml"/>
  <Override PartName="/ppt/slides/slide83.xml" ContentType="application/vnd.openxmlformats-officedocument.presentationml.slide+xml"/>
  <Override PartName="/ppt/slideMasters/slideMaster84.xml" ContentType="application/vnd.openxmlformats-officedocument.presentationml.slideMaster+xml"/>
  <Override PartName="/ppt/slides/slide84.xml" ContentType="application/vnd.openxmlformats-officedocument.presentationml.slide+xml"/>
  <Override PartName="/ppt/slideMasters/slideMaster85.xml" ContentType="application/vnd.openxmlformats-officedocument.presentationml.slideMaster+xml"/>
  <Override PartName="/ppt/slides/slide85.xml" ContentType="application/vnd.openxmlformats-officedocument.presentationml.slide+xml"/>
  <Override PartName="/ppt/slideMasters/slideMaster86.xml" ContentType="application/vnd.openxmlformats-officedocument.presentationml.slideMaster+xml"/>
  <Override PartName="/ppt/slides/slide86.xml" ContentType="application/vnd.openxmlformats-officedocument.presentationml.slide+xml"/>
  <Override PartName="/ppt/slideMasters/slideMaster87.xml" ContentType="application/vnd.openxmlformats-officedocument.presentationml.slideMaster+xml"/>
  <Override PartName="/ppt/slides/slide87.xml" ContentType="application/vnd.openxmlformats-officedocument.presentationml.slide+xml"/>
  <Override PartName="/ppt/slideMasters/slideMaster88.xml" ContentType="application/vnd.openxmlformats-officedocument.presentationml.slideMaster+xml"/>
  <Override PartName="/ppt/slides/slide88.xml" ContentType="application/vnd.openxmlformats-officedocument.presentationml.slide+xml"/>
  <Override PartName="/ppt/slideMasters/slideMaster89.xml" ContentType="application/vnd.openxmlformats-officedocument.presentationml.slideMaster+xml"/>
  <Override PartName="/ppt/slides/slide89.xml" ContentType="application/vnd.openxmlformats-officedocument.presentationml.slide+xml"/>
  <Override PartName="/ppt/slideMasters/slideMaster90.xml" ContentType="application/vnd.openxmlformats-officedocument.presentationml.slideMaster+xml"/>
  <Override PartName="/ppt/slides/slide90.xml" ContentType="application/vnd.openxmlformats-officedocument.presentationml.slide+xml"/>
  <Override PartName="/ppt/slideMasters/slideMaster91.xml" ContentType="application/vnd.openxmlformats-officedocument.presentationml.slideMaster+xml"/>
  <Override PartName="/ppt/slides/slide91.xml" ContentType="application/vnd.openxmlformats-officedocument.presentationml.slide+xml"/>
  <Override PartName="/ppt/slideMasters/slideMaster92.xml" ContentType="application/vnd.openxmlformats-officedocument.presentationml.slideMaster+xml"/>
  <Override PartName="/ppt/slides/slide92.xml" ContentType="application/vnd.openxmlformats-officedocument.presentationml.slide+xml"/>
  <Override PartName="/ppt/slideMasters/slideMaster93.xml" ContentType="application/vnd.openxmlformats-officedocument.presentationml.slideMaster+xml"/>
  <Override PartName="/ppt/slides/slide93.xml" ContentType="application/vnd.openxmlformats-officedocument.presentationml.slide+xml"/>
  <Override PartName="/ppt/slideMasters/slideMaster94.xml" ContentType="application/vnd.openxmlformats-officedocument.presentationml.slideMaster+xml"/>
  <Override PartName="/ppt/slides/slide94.xml" ContentType="application/vnd.openxmlformats-officedocument.presentationml.slide+xml"/>
  <Override PartName="/ppt/slideMasters/slideMaster95.xml" ContentType="application/vnd.openxmlformats-officedocument.presentationml.slideMaster+xml"/>
  <Override PartName="/ppt/slides/slide95.xml" ContentType="application/vnd.openxmlformats-officedocument.presentationml.slide+xml"/>
  <Override PartName="/ppt/slideMasters/slideMaster96.xml" ContentType="application/vnd.openxmlformats-officedocument.presentationml.slideMaster+xml"/>
  <Override PartName="/ppt/slides/slide96.xml" ContentType="application/vnd.openxmlformats-officedocument.presentationml.slide+xml"/>
  <Override PartName="/ppt/slideMasters/slideMaster97.xml" ContentType="application/vnd.openxmlformats-officedocument.presentationml.slideMaster+xml"/>
  <Override PartName="/ppt/slides/slide97.xml" ContentType="application/vnd.openxmlformats-officedocument.presentationml.slide+xml"/>
  <Override PartName="/ppt/slideMasters/slideMaster98.xml" ContentType="application/vnd.openxmlformats-officedocument.presentationml.slideMaster+xml"/>
  <Override PartName="/ppt/slides/slide98.xml" ContentType="application/vnd.openxmlformats-officedocument.presentationml.slide+xml"/>
  <Override PartName="/ppt/slideMasters/slideMaster99.xml" ContentType="application/vnd.openxmlformats-officedocument.presentationml.slideMaster+xml"/>
  <Override PartName="/ppt/slides/slide99.xml" ContentType="application/vnd.openxmlformats-officedocument.presentationml.slide+xml"/>
  <Override PartName="/ppt/slideMasters/slideMaster100.xml" ContentType="application/vnd.openxmlformats-officedocument.presentationml.slideMaster+xml"/>
  <Override PartName="/ppt/slides/slide100.xml" ContentType="application/vnd.openxmlformats-officedocument.presentationml.slide+xml"/>
  <Override PartName="/ppt/slideMasters/slideMaster101.xml" ContentType="application/vnd.openxmlformats-officedocument.presentationml.slideMaster+xml"/>
  <Override PartName="/ppt/slides/slide10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  <p:sldId id="339" r:id="rId85"/>
    <p:sldId id="340" r:id="rId86"/>
    <p:sldId id="341" r:id="rId87"/>
    <p:sldId id="342" r:id="rId88"/>
    <p:sldId id="343" r:id="rId89"/>
    <p:sldId id="344" r:id="rId90"/>
    <p:sldId id="345" r:id="rId91"/>
    <p:sldId id="346" r:id="rId92"/>
    <p:sldId id="347" r:id="rId93"/>
    <p:sldId id="348" r:id="rId94"/>
    <p:sldId id="349" r:id="rId95"/>
    <p:sldId id="350" r:id="rId96"/>
    <p:sldId id="351" r:id="rId97"/>
    <p:sldId id="352" r:id="rId98"/>
    <p:sldId id="353" r:id="rId99"/>
    <p:sldId id="354" r:id="rId100"/>
    <p:sldId id="355" r:id="rId101"/>
    <p:sldId id="356" r:id="rId102"/>
  </p:sldIdLst>
  <p:notesMasterIdLst>
    <p:notesMasterId r:id="rId10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slide" Target="slides/slide72.xml"/><Relationship Id="rId74" Type="http://schemas.openxmlformats.org/officeDocument/2006/relationships/slide" Target="slides/slide73.xml"/><Relationship Id="rId75" Type="http://schemas.openxmlformats.org/officeDocument/2006/relationships/slide" Target="slides/slide74.xml"/><Relationship Id="rId76" Type="http://schemas.openxmlformats.org/officeDocument/2006/relationships/slide" Target="slides/slide75.xml"/><Relationship Id="rId77" Type="http://schemas.openxmlformats.org/officeDocument/2006/relationships/slide" Target="slides/slide76.xml"/><Relationship Id="rId78" Type="http://schemas.openxmlformats.org/officeDocument/2006/relationships/slide" Target="slides/slide77.xml"/><Relationship Id="rId79" Type="http://schemas.openxmlformats.org/officeDocument/2006/relationships/slide" Target="slides/slide78.xml"/><Relationship Id="rId80" Type="http://schemas.openxmlformats.org/officeDocument/2006/relationships/slide" Target="slides/slide79.xml"/><Relationship Id="rId81" Type="http://schemas.openxmlformats.org/officeDocument/2006/relationships/slide" Target="slides/slide80.xml"/><Relationship Id="rId82" Type="http://schemas.openxmlformats.org/officeDocument/2006/relationships/slide" Target="slides/slide81.xml"/><Relationship Id="rId83" Type="http://schemas.openxmlformats.org/officeDocument/2006/relationships/slide" Target="slides/slide82.xml"/><Relationship Id="rId84" Type="http://schemas.openxmlformats.org/officeDocument/2006/relationships/slide" Target="slides/slide83.xml"/><Relationship Id="rId85" Type="http://schemas.openxmlformats.org/officeDocument/2006/relationships/slide" Target="slides/slide84.xml"/><Relationship Id="rId86" Type="http://schemas.openxmlformats.org/officeDocument/2006/relationships/slide" Target="slides/slide85.xml"/><Relationship Id="rId87" Type="http://schemas.openxmlformats.org/officeDocument/2006/relationships/slide" Target="slides/slide86.xml"/><Relationship Id="rId88" Type="http://schemas.openxmlformats.org/officeDocument/2006/relationships/slide" Target="slides/slide87.xml"/><Relationship Id="rId89" Type="http://schemas.openxmlformats.org/officeDocument/2006/relationships/slide" Target="slides/slide88.xml"/><Relationship Id="rId90" Type="http://schemas.openxmlformats.org/officeDocument/2006/relationships/slide" Target="slides/slide89.xml"/><Relationship Id="rId91" Type="http://schemas.openxmlformats.org/officeDocument/2006/relationships/slide" Target="slides/slide90.xml"/><Relationship Id="rId92" Type="http://schemas.openxmlformats.org/officeDocument/2006/relationships/slide" Target="slides/slide91.xml"/><Relationship Id="rId93" Type="http://schemas.openxmlformats.org/officeDocument/2006/relationships/slide" Target="slides/slide92.xml"/><Relationship Id="rId94" Type="http://schemas.openxmlformats.org/officeDocument/2006/relationships/slide" Target="slides/slide93.xml"/><Relationship Id="rId95" Type="http://schemas.openxmlformats.org/officeDocument/2006/relationships/slide" Target="slides/slide94.xml"/><Relationship Id="rId96" Type="http://schemas.openxmlformats.org/officeDocument/2006/relationships/slide" Target="slides/slide95.xml"/><Relationship Id="rId97" Type="http://schemas.openxmlformats.org/officeDocument/2006/relationships/slide" Target="slides/slide96.xml"/><Relationship Id="rId98" Type="http://schemas.openxmlformats.org/officeDocument/2006/relationships/slide" Target="slides/slide97.xml"/><Relationship Id="rId99" Type="http://schemas.openxmlformats.org/officeDocument/2006/relationships/slide" Target="slides/slide98.xml"/><Relationship Id="rId100" Type="http://schemas.openxmlformats.org/officeDocument/2006/relationships/slide" Target="slides/slide99.xml"/><Relationship Id="rId101" Type="http://schemas.openxmlformats.org/officeDocument/2006/relationships/slide" Target="slides/slide100.xml"/><Relationship Id="rId102" Type="http://schemas.openxmlformats.org/officeDocument/2006/relationships/slide" Target="slides/slide101.xml"/><Relationship Id="rId103" Type="http://schemas.openxmlformats.org/officeDocument/2006/relationships/notesMaster" Target="notesMasters/notesMaster1.xml"/><Relationship Id="rId104" Type="http://schemas.openxmlformats.org/officeDocument/2006/relationships/presProps" Target="presProps.xml"/><Relationship Id="rId105" Type="http://schemas.openxmlformats.org/officeDocument/2006/relationships/viewProps" Target="viewProps.xml"/><Relationship Id="rId106" Type="http://schemas.openxmlformats.org/officeDocument/2006/relationships/theme" Target="theme/theme1.xml"/><Relationship Id="rId10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_rels/notesSlide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9.xml"/>
		</Relationships>
</file>

<file path=ppt/notesSlides/_rels/notesSlide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0.xml"/>
		</Relationships>
</file>

<file path=ppt/notesSlides/_rels/notesSlide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1.xml"/>
		</Relationships>
</file>

<file path=ppt/notesSlides/_rels/notesSlide7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2.xml"/>
		</Relationships>
</file>

<file path=ppt/notesSlides/_rels/notesSlide7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3.xml"/>
		</Relationships>
</file>

<file path=ppt/notesSlides/_rels/notesSlide7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4.xml"/>
		</Relationships>
</file>

<file path=ppt/notesSlides/_rels/notesSlide7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5.xml"/>
		</Relationships>
</file>

<file path=ppt/notesSlides/_rels/notesSlide7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6.xml"/>
		</Relationships>
</file>

<file path=ppt/notesSlides/_rels/notesSlide7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7.xml"/>
		</Relationships>
</file>

<file path=ppt/notesSlides/_rels/notesSlide7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8.xml"/>
		</Relationships>
</file>

<file path=ppt/notesSlides/_rels/notesSlide7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9.xml"/>
		</Relationships>
</file>

<file path=ppt/notesSlides/_rels/notesSlide8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0.xml"/>
		</Relationships>
</file>

<file path=ppt/notesSlides/_rels/notesSlide8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1.xml"/>
		</Relationships>
</file>

<file path=ppt/notesSlides/_rels/notesSlide8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2.xml"/>
		</Relationships>
</file>

<file path=ppt/notesSlides/_rels/notesSlide8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3.xml"/>
		</Relationships>
</file>

<file path=ppt/notesSlides/_rels/notesSlide8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4.xml"/>
		</Relationships>
</file>

<file path=ppt/notesSlides/_rels/notesSlide8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5.xml"/>
		</Relationships>
</file>

<file path=ppt/notesSlides/_rels/notesSlide8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6.xml"/>
		</Relationships>
</file>

<file path=ppt/notesSlides/_rels/notesSlide8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7.xml"/>
		</Relationships>
</file>

<file path=ppt/notesSlides/_rels/notesSlide8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8.xml"/>
		</Relationships>
</file>

<file path=ppt/notesSlides/_rels/notesSlide8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9.xml"/>
		</Relationships>
</file>

<file path=ppt/notesSlides/_rels/notesSlide9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0.xml"/>
		</Relationships>
</file>

<file path=ppt/notesSlides/_rels/notesSlide9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1.xml"/>
		</Relationships>
</file>

<file path=ppt/notesSlides/_rels/notesSlide9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2.xml"/>
		</Relationships>
</file>

<file path=ppt/notesSlides/_rels/notesSlide9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3.xml"/>
		</Relationships>
</file>

<file path=ppt/notesSlides/_rels/notesSlide9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4.xml"/>
		</Relationships>
</file>

<file path=ppt/notesSlides/_rels/notesSlide9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5.xml"/>
		</Relationships>
</file>

<file path=ppt/notesSlides/_rels/notesSlide9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6.xml"/>
		</Relationships>
</file>

<file path=ppt/notesSlides/_rels/notesSlide9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7.xml"/>
		</Relationships>
</file>

<file path=ppt/notesSlides/_rels/notesSlide9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8.xml"/>
		</Relationships>
</file>

<file path=ppt/notesSlides/_rels/notesSlide9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9.xml"/>
		</Relationships>
</file>

<file path=ppt/notesSlides/_rels/notesSlide10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0.xml"/>
		</Relationships>
</file>

<file path=ppt/notesSlides/_rels/notesSlide10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5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6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7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8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9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0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1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3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4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5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6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7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8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9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0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1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3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4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5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6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7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8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9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0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1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2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3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4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5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6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7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8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9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0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EFA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C1121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C112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内训师的故事影响力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457200" y="28346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让故事成为教学工具，而不是装饰品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200400" y="3520440"/>
            <a:ext cx="2743200" cy="36576"/>
          </a:xfrm>
          <a:prstGeom prst="rect">
            <a:avLst/>
          </a:prstGeom>
          <a:solidFill>
            <a:srgbClr val="E29578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42062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企业内训师技能提升工作坊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0" y="4983480"/>
            <a:ext cx="9144000" cy="137160"/>
          </a:xfrm>
          <a:prstGeom prst="rect">
            <a:avLst/>
          </a:prstGeom>
          <a:solidFill>
            <a:srgbClr val="C1121F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EFA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C112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目录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1371600" cy="45720"/>
          </a:xfrm>
          <a:prstGeom prst="rect">
            <a:avLst/>
          </a:prstGeom>
          <a:solidFill>
            <a:srgbClr val="E29578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1463040"/>
            <a:ext cx="548640" cy="548640"/>
          </a:xfrm>
          <a:prstGeom prst="ellipse">
            <a:avLst/>
          </a:prstGeom>
          <a:solidFill>
            <a:srgbClr val="C1121F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4630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463040" y="146304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故事是工具不是点缀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731520" y="2286000"/>
            <a:ext cx="548640" cy="548640"/>
          </a:xfrm>
          <a:prstGeom prst="ellipse">
            <a:avLst/>
          </a:prstGeom>
          <a:solidFill>
            <a:srgbClr val="C1121F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22860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463040" y="228600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最简故事结构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731520" y="3108960"/>
            <a:ext cx="548640" cy="548640"/>
          </a:xfrm>
          <a:prstGeom prst="ellipse">
            <a:avLst/>
          </a:prstGeom>
          <a:solidFill>
            <a:srgbClr val="C1121F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31089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463040" y="310896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从课程倒推故事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731520" y="3931920"/>
            <a:ext cx="548640" cy="548640"/>
          </a:xfrm>
          <a:prstGeom prst="ellipse">
            <a:avLst/>
          </a:prstGeom>
          <a:solidFill>
            <a:srgbClr val="C1121F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39319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463040" y="393192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讲出来才算数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8503920" y="4663440"/>
            <a:ext cx="457200" cy="320040"/>
          </a:xfrm>
          <a:prstGeom prst="ellipse">
            <a:avLst/>
          </a:prstGeom>
          <a:solidFill>
            <a:srgbClr val="4A4E69"/>
          </a:solidFill>
          <a:ln/>
        </p:spPr>
      </p:sp>
      <p:sp>
        <p:nvSpPr>
          <p:cNvPr id="17" name="Text 15"/>
          <p:cNvSpPr/>
          <p:nvPr/>
        </p:nvSpPr>
        <p:spPr>
          <a:xfrm>
            <a:off x="8503920" y="466344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EFA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C1121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28016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FDF0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C112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故事是工具不是点缀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457200" y="32004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为什么故事是教学工具，不是点缀？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3200400" y="3931920"/>
            <a:ext cx="2743200" cy="45720"/>
          </a:xfrm>
          <a:prstGeom prst="rect">
            <a:avLst/>
          </a:prstGeom>
          <a:solidFill>
            <a:srgbClr val="E29578"/>
          </a:solidFill>
          <a:ln/>
        </p:spPr>
      </p:sp>
      <p:sp>
        <p:nvSpPr>
          <p:cNvPr id="7" name="Shape 5"/>
          <p:cNvSpPr/>
          <p:nvPr/>
        </p:nvSpPr>
        <p:spPr>
          <a:xfrm>
            <a:off x="8503920" y="4663440"/>
            <a:ext cx="457200" cy="320040"/>
          </a:xfrm>
          <a:prstGeom prst="ellipse">
            <a:avLst/>
          </a:prstGeom>
          <a:solidFill>
            <a:srgbClr val="4A4E69"/>
          </a:solidFill>
          <a:ln/>
        </p:spPr>
      </p:sp>
      <p:sp>
        <p:nvSpPr>
          <p:cNvPr id="8" name="Text 6"/>
          <p:cNvSpPr/>
          <p:nvPr/>
        </p:nvSpPr>
        <p:spPr>
          <a:xfrm>
            <a:off x="8503920" y="466344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EFA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C112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先看一组对比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同一个知识点的两种表达方式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365760" y="1371600"/>
            <a:ext cx="4023360" cy="3200400"/>
          </a:xfrm>
          <a:prstGeom prst="roundRect">
            <a:avLst>
              <a:gd name="adj" fmla="val 2857"/>
            </a:avLst>
          </a:prstGeom>
          <a:solidFill>
            <a:srgbClr val="FDF0D5"/>
          </a:solidFill>
          <a:ln/>
        </p:spPr>
      </p:sp>
      <p:sp>
        <p:nvSpPr>
          <p:cNvPr id="5" name="Shape 3"/>
          <p:cNvSpPr/>
          <p:nvPr/>
        </p:nvSpPr>
        <p:spPr>
          <a:xfrm>
            <a:off x="365760" y="1371600"/>
            <a:ext cx="4023360" cy="457200"/>
          </a:xfrm>
          <a:prstGeom prst="rect">
            <a:avLst/>
          </a:prstGeom>
          <a:solidFill>
            <a:srgbClr val="4A4E69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137160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Version A  纯知识陈述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2011680"/>
            <a:ext cx="365760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"绩效反馈应针对具体行为，而非人格特质。反馈时先说事实，再谈影响，最后请对方提出改进方案。"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754880" y="1371600"/>
            <a:ext cx="4023360" cy="3200400"/>
          </a:xfrm>
          <a:prstGeom prst="roundRect">
            <a:avLst>
              <a:gd name="adj" fmla="val 2857"/>
            </a:avLst>
          </a:prstGeom>
          <a:solidFill>
            <a:srgbClr val="FDF0D5"/>
          </a:solidFill>
          <a:ln/>
        </p:spPr>
      </p:sp>
      <p:sp>
        <p:nvSpPr>
          <p:cNvPr id="9" name="Shape 7"/>
          <p:cNvSpPr/>
          <p:nvPr/>
        </p:nvSpPr>
        <p:spPr>
          <a:xfrm>
            <a:off x="4754880" y="1371600"/>
            <a:ext cx="4023360" cy="457200"/>
          </a:xfrm>
          <a:prstGeom prst="rect">
            <a:avLst/>
          </a:prstGeom>
          <a:solidFill>
            <a:srgbClr val="C1121F"/>
          </a:solidFill>
          <a:ln/>
        </p:spPr>
      </p:sp>
      <p:sp>
        <p:nvSpPr>
          <p:cNvPr id="10" name="Text 8"/>
          <p:cNvSpPr/>
          <p:nvPr/>
        </p:nvSpPr>
        <p:spPr>
          <a:xfrm>
            <a:off x="4754880" y="137160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Version B  故事版本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937760" y="2011680"/>
            <a:ext cx="365760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主管说："你这个人总是不够主动。"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小王感觉很委屈，明明加班到很晚...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503920" y="4663440"/>
            <a:ext cx="457200" cy="320040"/>
          </a:xfrm>
          <a:prstGeom prst="ellipse">
            <a:avLst/>
          </a:prstGeom>
          <a:solidFill>
            <a:srgbClr val="4A4E69"/>
          </a:solidFill>
          <a:ln/>
        </p:spPr>
      </p:sp>
      <p:sp>
        <p:nvSpPr>
          <p:cNvPr id="13" name="Text 11"/>
          <p:cNvSpPr/>
          <p:nvPr/>
        </p:nvSpPr>
        <p:spPr>
          <a:xfrm>
            <a:off x="8503920" y="466344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EFA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C112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思考这些问题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1828800" cy="36576"/>
          </a:xfrm>
          <a:prstGeom prst="rect">
            <a:avLst/>
          </a:prstGeom>
          <a:solidFill>
            <a:srgbClr val="E29578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280160"/>
            <a:ext cx="411480" cy="411480"/>
          </a:xfrm>
          <a:prstGeom prst="roundRect">
            <a:avLst>
              <a:gd name="adj" fmla="val 17778"/>
            </a:avLst>
          </a:prstGeom>
          <a:solidFill>
            <a:srgbClr val="E29578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2801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05840" y="1280160"/>
            <a:ext cx="7498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一周之后，你更可能记起哪个版本的内容？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57200" y="2057400"/>
            <a:ext cx="411480" cy="411480"/>
          </a:xfrm>
          <a:prstGeom prst="roundRect">
            <a:avLst>
              <a:gd name="adj" fmla="val 17778"/>
            </a:avLst>
          </a:prstGeom>
          <a:solidFill>
            <a:srgbClr val="E29578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205740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05840" y="2057400"/>
            <a:ext cx="7498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哪种做法让你感觉"这件事跟我有关"？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57200" y="2834640"/>
            <a:ext cx="411480" cy="411480"/>
          </a:xfrm>
          <a:prstGeom prst="roundRect">
            <a:avLst>
              <a:gd name="adj" fmla="val 17778"/>
            </a:avLst>
          </a:prstGeom>
          <a:solidFill>
            <a:srgbClr val="E29578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283464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005840" y="2834640"/>
            <a:ext cx="7498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B里面，是什么让你进入了那个场景？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57200" y="3611880"/>
            <a:ext cx="411480" cy="411480"/>
          </a:xfrm>
          <a:prstGeom prst="roundRect">
            <a:avLst>
              <a:gd name="adj" fmla="val 17778"/>
            </a:avLst>
          </a:prstGeom>
          <a:solidFill>
            <a:srgbClr val="E29578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361188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005840" y="3611880"/>
            <a:ext cx="7498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B在讲知识点之前先讲故事，那三秒停顿起了什么作用？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8503920" y="4663440"/>
            <a:ext cx="457200" cy="320040"/>
          </a:xfrm>
          <a:prstGeom prst="ellipse">
            <a:avLst/>
          </a:prstGeom>
          <a:solidFill>
            <a:srgbClr val="4A4E69"/>
          </a:solidFill>
          <a:ln/>
        </p:spPr>
      </p:sp>
      <p:sp>
        <p:nvSpPr>
          <p:cNvPr id="17" name="Text 15"/>
          <p:cNvSpPr/>
          <p:nvPr/>
        </p:nvSpPr>
        <p:spPr>
          <a:xfrm>
            <a:off x="8503920" y="466344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EFA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C112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故事为什么能做到这些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295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三个机制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2651760" cy="2926080"/>
          </a:xfrm>
          <a:prstGeom prst="roundRect">
            <a:avLst>
              <a:gd name="adj" fmla="val 3448"/>
            </a:avLst>
          </a:prstGeom>
          <a:solidFill>
            <a:srgbClr val="FDF0D5"/>
          </a:solidFill>
          <a:ln/>
        </p:spPr>
      </p:sp>
      <p:sp>
        <p:nvSpPr>
          <p:cNvPr id="5" name="Shape 3"/>
          <p:cNvSpPr/>
          <p:nvPr/>
        </p:nvSpPr>
        <p:spPr>
          <a:xfrm>
            <a:off x="1463040" y="1691640"/>
            <a:ext cx="640080" cy="640080"/>
          </a:xfrm>
          <a:prstGeom prst="ellipse">
            <a:avLst/>
          </a:prstGeom>
          <a:solidFill>
            <a:srgbClr val="C1121F"/>
          </a:solidFill>
          <a:ln/>
        </p:spPr>
      </p:sp>
      <p:sp>
        <p:nvSpPr>
          <p:cNvPr id="6" name="Text 4"/>
          <p:cNvSpPr/>
          <p:nvPr/>
        </p:nvSpPr>
        <p:spPr>
          <a:xfrm>
            <a:off x="1463040" y="16916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94360" y="2468880"/>
            <a:ext cx="23774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给记忆一个可以挂住的钩子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1143000" y="3931920"/>
            <a:ext cx="1280160" cy="320040"/>
          </a:xfrm>
          <a:prstGeom prst="roundRect">
            <a:avLst>
              <a:gd name="adj" fmla="val 14286"/>
            </a:avLst>
          </a:prstGeom>
          <a:solidFill>
            <a:srgbClr val="E29578"/>
          </a:solidFill>
          <a:ln/>
        </p:spPr>
      </p:sp>
      <p:sp>
        <p:nvSpPr>
          <p:cNvPr id="9" name="Text 7"/>
          <p:cNvSpPr/>
          <p:nvPr/>
        </p:nvSpPr>
        <p:spPr>
          <a:xfrm>
            <a:off x="1143000" y="393192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具象化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91840" y="1463040"/>
            <a:ext cx="2651760" cy="2926080"/>
          </a:xfrm>
          <a:prstGeom prst="roundRect">
            <a:avLst>
              <a:gd name="adj" fmla="val 3448"/>
            </a:avLst>
          </a:prstGeom>
          <a:solidFill>
            <a:srgbClr val="FDF0D5"/>
          </a:solidFill>
          <a:ln/>
        </p:spPr>
      </p:sp>
      <p:sp>
        <p:nvSpPr>
          <p:cNvPr id="11" name="Shape 9"/>
          <p:cNvSpPr/>
          <p:nvPr/>
        </p:nvSpPr>
        <p:spPr>
          <a:xfrm>
            <a:off x="4297680" y="1691640"/>
            <a:ext cx="640080" cy="640080"/>
          </a:xfrm>
          <a:prstGeom prst="ellipse">
            <a:avLst/>
          </a:prstGeom>
          <a:solidFill>
            <a:srgbClr val="C1121F"/>
          </a:solidFill>
          <a:ln/>
        </p:spPr>
      </p:sp>
      <p:sp>
        <p:nvSpPr>
          <p:cNvPr id="12" name="Text 10"/>
          <p:cNvSpPr/>
          <p:nvPr/>
        </p:nvSpPr>
        <p:spPr>
          <a:xfrm>
            <a:off x="4297680" y="16916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3429000" y="2468880"/>
            <a:ext cx="23774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激活情绪，让记忆固化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3977640" y="3931920"/>
            <a:ext cx="1280160" cy="320040"/>
          </a:xfrm>
          <a:prstGeom prst="roundRect">
            <a:avLst>
              <a:gd name="adj" fmla="val 14286"/>
            </a:avLst>
          </a:prstGeom>
          <a:solidFill>
            <a:srgbClr val="E29578"/>
          </a:solidFill>
          <a:ln/>
        </p:spPr>
      </p:sp>
      <p:sp>
        <p:nvSpPr>
          <p:cNvPr id="15" name="Text 13"/>
          <p:cNvSpPr/>
          <p:nvPr/>
        </p:nvSpPr>
        <p:spPr>
          <a:xfrm>
            <a:off x="3977640" y="393192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情绪记忆效应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126480" y="1463040"/>
            <a:ext cx="2651760" cy="2926080"/>
          </a:xfrm>
          <a:prstGeom prst="roundRect">
            <a:avLst>
              <a:gd name="adj" fmla="val 3448"/>
            </a:avLst>
          </a:prstGeom>
          <a:solidFill>
            <a:srgbClr val="FDF0D5"/>
          </a:solidFill>
          <a:ln/>
        </p:spPr>
      </p:sp>
      <p:sp>
        <p:nvSpPr>
          <p:cNvPr id="17" name="Shape 15"/>
          <p:cNvSpPr/>
          <p:nvPr/>
        </p:nvSpPr>
        <p:spPr>
          <a:xfrm>
            <a:off x="7132320" y="1691640"/>
            <a:ext cx="640080" cy="640080"/>
          </a:xfrm>
          <a:prstGeom prst="ellipse">
            <a:avLst/>
          </a:prstGeom>
          <a:solidFill>
            <a:srgbClr val="C1121F"/>
          </a:solidFill>
          <a:ln/>
        </p:spPr>
      </p:sp>
      <p:sp>
        <p:nvSpPr>
          <p:cNvPr id="18" name="Text 16"/>
          <p:cNvSpPr/>
          <p:nvPr/>
        </p:nvSpPr>
        <p:spPr>
          <a:xfrm>
            <a:off x="7132320" y="16916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6263640" y="2468880"/>
            <a:ext cx="23774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提供可以迁移的行为模式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812280" y="3931920"/>
            <a:ext cx="1280160" cy="320040"/>
          </a:xfrm>
          <a:prstGeom prst="roundRect">
            <a:avLst>
              <a:gd name="adj" fmla="val 14286"/>
            </a:avLst>
          </a:prstGeom>
          <a:solidFill>
            <a:srgbClr val="E29578"/>
          </a:solidFill>
          <a:ln/>
        </p:spPr>
      </p:sp>
      <p:sp>
        <p:nvSpPr>
          <p:cNvPr id="21" name="Text 19"/>
          <p:cNvSpPr/>
          <p:nvPr/>
        </p:nvSpPr>
        <p:spPr>
          <a:xfrm>
            <a:off x="6812280" y="393192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模式识别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503920" y="4663440"/>
            <a:ext cx="457200" cy="320040"/>
          </a:xfrm>
          <a:prstGeom prst="ellipse">
            <a:avLst/>
          </a:prstGeom>
          <a:solidFill>
            <a:srgbClr val="4A4E69"/>
          </a:solidFill>
          <a:ln/>
        </p:spPr>
      </p:sp>
      <p:sp>
        <p:nvSpPr>
          <p:cNvPr id="23" name="Text 21"/>
          <p:cNvSpPr/>
          <p:nvPr/>
        </p:nvSpPr>
        <p:spPr>
          <a:xfrm>
            <a:off x="8503920" y="466344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EFA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C112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第一个机制：给记忆一个钩子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8229600" cy="1280160"/>
          </a:xfrm>
          <a:prstGeom prst="roundRect">
            <a:avLst>
              <a:gd name="adj" fmla="val 7143"/>
            </a:avLst>
          </a:prstGeom>
          <a:solidFill>
            <a:srgbClr val="FDF0D5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234440"/>
            <a:ext cx="7863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人脑存储信息的方式，不是把规则打包归档，而是把"可以想象的场景"存起来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260604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295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例子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2926080"/>
            <a:ext cx="822960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5400">
            <a:solidFill>
              <a:srgbClr val="E2957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2926080"/>
            <a:ext cx="7863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三周会议</a:t>
            </a:r>
            <a:pPr algn="ctr" indent="0" marL="0">
              <a:buNone/>
            </a:pPr>
            <a:r>
              <a:rPr lang="en-US" sz="16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+ </a:t>
            </a:r>
            <a:pPr algn="ctr" indent="0" marL="0">
              <a:buNone/>
            </a:pPr>
            <a:r>
              <a:rPr lang="en-US" sz="1600" b="1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两个月的误差</a:t>
            </a:r>
            <a:pPr algn="ctr" indent="0" marL="0">
              <a:buNone/>
            </a:pPr>
            <a:r>
              <a:rPr lang="en-US" sz="16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+ </a:t>
            </a:r>
            <a:pPr algn="ctr" indent="0" marL="0">
              <a:buNone/>
            </a:pPr>
            <a:r>
              <a:rPr lang="en-US" sz="1600" b="1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签合同前一天才发现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589520" y="4114800"/>
            <a:ext cx="731520" cy="731520"/>
          </a:xfrm>
          <a:prstGeom prst="ellipse">
            <a:avLst/>
          </a:prstGeom>
          <a:solidFill>
            <a:srgbClr val="C1121F">
              <a:alpha val="8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7772400" y="4297680"/>
            <a:ext cx="365760" cy="365760"/>
          </a:xfrm>
          <a:prstGeom prst="ellipse">
            <a:avLst/>
          </a:prstGeom>
          <a:solidFill>
            <a:srgbClr val="C1121F"/>
          </a:solidFill>
          <a:ln/>
        </p:spPr>
      </p:sp>
      <p:sp>
        <p:nvSpPr>
          <p:cNvPr id="10" name="Shape 8"/>
          <p:cNvSpPr/>
          <p:nvPr/>
        </p:nvSpPr>
        <p:spPr>
          <a:xfrm>
            <a:off x="8503920" y="4663440"/>
            <a:ext cx="457200" cy="320040"/>
          </a:xfrm>
          <a:prstGeom prst="ellipse">
            <a:avLst/>
          </a:prstGeom>
          <a:solidFill>
            <a:srgbClr val="4A4E69"/>
          </a:solidFill>
          <a:ln/>
        </p:spPr>
      </p:sp>
      <p:sp>
        <p:nvSpPr>
          <p:cNvPr id="11" name="Text 9"/>
          <p:cNvSpPr/>
          <p:nvPr/>
        </p:nvSpPr>
        <p:spPr>
          <a:xfrm>
            <a:off x="8503920" y="466344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EFA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C112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第二个机制：激活情绪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8229600" cy="1280160"/>
          </a:xfrm>
          <a:prstGeom prst="roundRect">
            <a:avLst>
              <a:gd name="adj" fmla="val 7143"/>
            </a:avLst>
          </a:prstGeom>
          <a:solidFill>
            <a:srgbClr val="FDF0D5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234440"/>
            <a:ext cx="7863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携带情绪的信息，在大脑里的留存深度远高于中性信息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260604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295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关键词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286000" y="2880360"/>
            <a:ext cx="4572000" cy="822960"/>
          </a:xfrm>
          <a:prstGeom prst="roundRect">
            <a:avLst>
              <a:gd name="adj" fmla="val 8889"/>
            </a:avLst>
          </a:prstGeom>
          <a:solidFill>
            <a:srgbClr val="C1121F"/>
          </a:solidFill>
          <a:ln/>
        </p:spPr>
      </p:sp>
      <p:sp>
        <p:nvSpPr>
          <p:cNvPr id="7" name="Text 5"/>
          <p:cNvSpPr/>
          <p:nvPr/>
        </p:nvSpPr>
        <p:spPr>
          <a:xfrm>
            <a:off x="2286000" y="2880360"/>
            <a:ext cx="4572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情绪是记忆的固化剂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640080" y="3017520"/>
            <a:ext cx="548640" cy="548640"/>
          </a:xfrm>
          <a:prstGeom prst="ellipse">
            <a:avLst/>
          </a:prstGeom>
          <a:solidFill>
            <a:srgbClr val="E29578"/>
          </a:solidFill>
          <a:ln/>
        </p:spPr>
      </p:sp>
      <p:sp>
        <p:nvSpPr>
          <p:cNvPr id="9" name="Shape 7"/>
          <p:cNvSpPr/>
          <p:nvPr/>
        </p:nvSpPr>
        <p:spPr>
          <a:xfrm>
            <a:off x="1005840" y="3017520"/>
            <a:ext cx="548640" cy="548640"/>
          </a:xfrm>
          <a:prstGeom prst="ellipse">
            <a:avLst/>
          </a:prstGeom>
          <a:solidFill>
            <a:srgbClr val="E29578"/>
          </a:solidFill>
          <a:ln/>
        </p:spPr>
      </p:sp>
      <p:sp>
        <p:nvSpPr>
          <p:cNvPr id="10" name="Shape 8"/>
          <p:cNvSpPr/>
          <p:nvPr/>
        </p:nvSpPr>
        <p:spPr>
          <a:xfrm rot="2700000">
            <a:off x="640080" y="3246120"/>
            <a:ext cx="914400" cy="457200"/>
          </a:xfrm>
          <a:prstGeom prst="rect">
            <a:avLst/>
          </a:prstGeom>
          <a:solidFill>
            <a:srgbClr val="E29578"/>
          </a:solidFill>
          <a:ln/>
        </p:spPr>
      </p:sp>
      <p:sp>
        <p:nvSpPr>
          <p:cNvPr id="11" name="Shape 9"/>
          <p:cNvSpPr/>
          <p:nvPr/>
        </p:nvSpPr>
        <p:spPr>
          <a:xfrm>
            <a:off x="7315200" y="3017520"/>
            <a:ext cx="640080" cy="640080"/>
          </a:xfrm>
          <a:prstGeom prst="ellipse">
            <a:avLst/>
          </a:prstGeom>
          <a:solidFill>
            <a:srgbClr val="4A4E69">
              <a:alpha val="70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7589520" y="3200400"/>
            <a:ext cx="457200" cy="457200"/>
          </a:xfrm>
          <a:prstGeom prst="ellipse">
            <a:avLst/>
          </a:prstGeom>
          <a:solidFill>
            <a:srgbClr val="4A4E69"/>
          </a:solidFill>
          <a:ln/>
        </p:spPr>
      </p:sp>
      <p:sp>
        <p:nvSpPr>
          <p:cNvPr id="13" name="Shape 11"/>
          <p:cNvSpPr/>
          <p:nvPr/>
        </p:nvSpPr>
        <p:spPr>
          <a:xfrm>
            <a:off x="8503920" y="4663440"/>
            <a:ext cx="457200" cy="320040"/>
          </a:xfrm>
          <a:prstGeom prst="ellipse">
            <a:avLst/>
          </a:prstGeom>
          <a:solidFill>
            <a:srgbClr val="4A4E69"/>
          </a:solidFill>
          <a:ln/>
        </p:spPr>
      </p:sp>
      <p:sp>
        <p:nvSpPr>
          <p:cNvPr id="14" name="Text 12"/>
          <p:cNvSpPr/>
          <p:nvPr/>
        </p:nvSpPr>
        <p:spPr>
          <a:xfrm>
            <a:off x="8503920" y="466344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EFA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C112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第三个机制：模式迁移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8229600" cy="1280160"/>
          </a:xfrm>
          <a:prstGeom prst="roundRect">
            <a:avLst>
              <a:gd name="adj" fmla="val 7143"/>
            </a:avLst>
          </a:prstGeom>
          <a:solidFill>
            <a:srgbClr val="FDF0D5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234440"/>
            <a:ext cx="7863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比直接告诉一个人"下次要确认理解"更有效的，是让他在脑子里走一遍完整路径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260604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295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关键词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1828800" y="2880360"/>
            <a:ext cx="5486400" cy="822960"/>
          </a:xfrm>
          <a:prstGeom prst="roundRect">
            <a:avLst>
              <a:gd name="adj" fmla="val 8889"/>
            </a:avLst>
          </a:prstGeom>
          <a:solidFill>
            <a:srgbClr val="C1121F"/>
          </a:solidFill>
          <a:ln/>
        </p:spPr>
      </p:sp>
      <p:sp>
        <p:nvSpPr>
          <p:cNvPr id="7" name="Text 5"/>
          <p:cNvSpPr/>
          <p:nvPr/>
        </p:nvSpPr>
        <p:spPr>
          <a:xfrm>
            <a:off x="1828800" y="2880360"/>
            <a:ext cx="5486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预演比指令更容易转化为行动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548640" y="3154680"/>
            <a:ext cx="731520" cy="274320"/>
          </a:xfrm>
          <a:prstGeom prst="rect">
            <a:avLst/>
          </a:prstGeom>
          <a:solidFill>
            <a:srgbClr val="E29578"/>
          </a:solidFill>
          <a:ln/>
        </p:spPr>
      </p:sp>
      <p:sp>
        <p:nvSpPr>
          <p:cNvPr id="9" name="Shape 7"/>
          <p:cNvSpPr/>
          <p:nvPr/>
        </p:nvSpPr>
        <p:spPr>
          <a:xfrm>
            <a:off x="1005840" y="3246120"/>
            <a:ext cx="457200" cy="91440"/>
          </a:xfrm>
          <a:prstGeom prst="rect">
            <a:avLst/>
          </a:prstGeom>
          <a:solidFill>
            <a:srgbClr val="E29578"/>
          </a:solidFill>
          <a:ln/>
        </p:spPr>
      </p:sp>
      <p:sp>
        <p:nvSpPr>
          <p:cNvPr id="10" name="Shape 8"/>
          <p:cNvSpPr/>
          <p:nvPr/>
        </p:nvSpPr>
        <p:spPr>
          <a:xfrm>
            <a:off x="7132320" y="3017520"/>
            <a:ext cx="320040" cy="320040"/>
          </a:xfrm>
          <a:prstGeom prst="ellipse">
            <a:avLst/>
          </a:prstGeom>
          <a:solidFill>
            <a:srgbClr val="4A4E69"/>
          </a:solidFill>
          <a:ln/>
        </p:spPr>
      </p:sp>
      <p:sp>
        <p:nvSpPr>
          <p:cNvPr id="11" name="Shape 9"/>
          <p:cNvSpPr/>
          <p:nvPr/>
        </p:nvSpPr>
        <p:spPr>
          <a:xfrm>
            <a:off x="7498080" y="3200400"/>
            <a:ext cx="320040" cy="320040"/>
          </a:xfrm>
          <a:prstGeom prst="ellipse">
            <a:avLst/>
          </a:prstGeom>
          <a:solidFill>
            <a:srgbClr val="4A4E69"/>
          </a:solidFill>
          <a:ln/>
        </p:spPr>
      </p:sp>
      <p:sp>
        <p:nvSpPr>
          <p:cNvPr id="12" name="Shape 10"/>
          <p:cNvSpPr/>
          <p:nvPr/>
        </p:nvSpPr>
        <p:spPr>
          <a:xfrm>
            <a:off x="7863840" y="3383280"/>
            <a:ext cx="320040" cy="320040"/>
          </a:xfrm>
          <a:prstGeom prst="ellipse">
            <a:avLst/>
          </a:prstGeom>
          <a:solidFill>
            <a:srgbClr val="4A4E69"/>
          </a:solidFill>
          <a:ln/>
        </p:spPr>
      </p:sp>
      <p:sp>
        <p:nvSpPr>
          <p:cNvPr id="13" name="Shape 11"/>
          <p:cNvSpPr/>
          <p:nvPr/>
        </p:nvSpPr>
        <p:spPr>
          <a:xfrm>
            <a:off x="8503920" y="4663440"/>
            <a:ext cx="457200" cy="320040"/>
          </a:xfrm>
          <a:prstGeom prst="ellipse">
            <a:avLst/>
          </a:prstGeom>
          <a:solidFill>
            <a:srgbClr val="4A4E69"/>
          </a:solidFill>
          <a:ln/>
        </p:spPr>
      </p:sp>
      <p:sp>
        <p:nvSpPr>
          <p:cNvPr id="14" name="Text 12"/>
          <p:cNvSpPr/>
          <p:nvPr/>
        </p:nvSpPr>
        <p:spPr>
          <a:xfrm>
            <a:off x="8503920" y="466344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EFA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C112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关键认知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1371600" cy="36576"/>
          </a:xfrm>
          <a:prstGeom prst="rect">
            <a:avLst/>
          </a:prstGeom>
          <a:solidFill>
            <a:srgbClr val="E29578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1371600"/>
            <a:ext cx="7680960" cy="2743200"/>
          </a:xfrm>
          <a:prstGeom prst="roundRect">
            <a:avLst>
              <a:gd name="adj" fmla="val 5000"/>
            </a:avLst>
          </a:prstGeom>
          <a:solidFill>
            <a:srgbClr val="FDF0D5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1371600"/>
            <a:ext cx="137160" cy="2743200"/>
          </a:xfrm>
          <a:prstGeom prst="rect">
            <a:avLst/>
          </a:prstGeom>
          <a:solidFill>
            <a:srgbClr val="C1121F"/>
          </a:solidFill>
          <a:ln/>
        </p:spPr>
      </p:sp>
      <p:sp>
        <p:nvSpPr>
          <p:cNvPr id="6" name="Text 4"/>
          <p:cNvSpPr/>
          <p:nvPr/>
        </p:nvSpPr>
        <p:spPr>
          <a:xfrm>
            <a:off x="1188720" y="1645920"/>
            <a:ext cx="685800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C112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故事不是调料，是传输介质——知识要被记住、要被用到，需要一个具体的场景来承载它。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3657600" y="4297680"/>
            <a:ext cx="1828800" cy="45720"/>
          </a:xfrm>
          <a:prstGeom prst="rect">
            <a:avLst/>
          </a:prstGeom>
          <a:solidFill>
            <a:srgbClr val="E29578"/>
          </a:solidFill>
          <a:ln/>
        </p:spPr>
      </p:sp>
      <p:sp>
        <p:nvSpPr>
          <p:cNvPr id="8" name="Shape 6"/>
          <p:cNvSpPr/>
          <p:nvPr/>
        </p:nvSpPr>
        <p:spPr>
          <a:xfrm>
            <a:off x="8503920" y="4663440"/>
            <a:ext cx="457200" cy="320040"/>
          </a:xfrm>
          <a:prstGeom prst="ellipse">
            <a:avLst/>
          </a:prstGeom>
          <a:solidFill>
            <a:srgbClr val="4A4E69"/>
          </a:solidFill>
          <a:ln/>
        </p:spPr>
      </p:sp>
      <p:sp>
        <p:nvSpPr>
          <p:cNvPr id="9" name="Text 7"/>
          <p:cNvSpPr/>
          <p:nvPr/>
        </p:nvSpPr>
        <p:spPr>
          <a:xfrm>
            <a:off x="8503920" y="466344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EFA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EFA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EFA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EFA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EFA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EFA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EFA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EFA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EFA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EFA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EFA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C112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见闻型故事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1828800" cy="45720"/>
          </a:xfrm>
          <a:prstGeom prst="rect">
            <a:avLst/>
          </a:prstGeom>
          <a:solidFill>
            <a:srgbClr val="E29578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371600"/>
            <a:ext cx="5029200" cy="2560320"/>
          </a:xfrm>
          <a:prstGeom prst="rect">
            <a:avLst/>
          </a:prstGeom>
          <a:solidFill>
            <a:srgbClr val="FDF0D5"/>
          </a:solidFill>
          <a:ln w="12700">
            <a:solidFill>
              <a:srgbClr val="FDF0D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55448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295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描述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40080" y="1920240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不是亲身经历，但来自真实见闻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246888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295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适用场景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" y="2834640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亲历素材不够用时补充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57200" y="4114800"/>
            <a:ext cx="7772400" cy="731520"/>
          </a:xfrm>
          <a:prstGeom prst="rect">
            <a:avLst/>
          </a:prstGeom>
          <a:solidFill>
            <a:srgbClr val="C1121F">
              <a:alpha val="90000"/>
            </a:srgbClr>
          </a:solidFill>
          <a:ln w="12700">
            <a:solidFill>
              <a:srgbClr val="C1121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4206240"/>
            <a:ext cx="7406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112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使用提示：要交代来源，不要假装是自己的经历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400800" y="1828800"/>
            <a:ext cx="1828800" cy="1828800"/>
          </a:xfrm>
          <a:prstGeom prst="ellipse">
            <a:avLst/>
          </a:prstGeom>
          <a:solidFill>
            <a:srgbClr val="E29578">
              <a:alpha val="80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0" y="2194560"/>
            <a:ext cx="1828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dirty="0">
                <a:solidFill>
                  <a:srgbClr val="000000"/>
                </a:solidFill>
              </a:rPr>
              <a:t>👁</a:t>
            </a:r>
            <a:endParaRPr lang="en-US" sz="4800" dirty="0"/>
          </a:p>
        </p:txBody>
      </p:sp>
      <p:sp>
        <p:nvSpPr>
          <p:cNvPr id="13" name="Shape 11"/>
          <p:cNvSpPr/>
          <p:nvPr/>
        </p:nvSpPr>
        <p:spPr>
          <a:xfrm>
            <a:off x="8503920" y="4663440"/>
            <a:ext cx="457200" cy="457200"/>
          </a:xfrm>
          <a:prstGeom prst="ellipse">
            <a:avLst/>
          </a:prstGeom>
          <a:solidFill>
            <a:srgbClr val="C1121F"/>
          </a:solidFill>
          <a:ln/>
        </p:spPr>
      </p:sp>
      <p:sp>
        <p:nvSpPr>
          <p:cNvPr id="14" name="Text 12"/>
          <p:cNvSpPr/>
          <p:nvPr/>
        </p:nvSpPr>
        <p:spPr>
          <a:xfrm>
            <a:off x="8503920" y="46634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</a:t>
            </a:r>
            <a:endParaRPr lang="en-US" sz="1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EFA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C112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案例型故事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1828800" cy="45720"/>
          </a:xfrm>
          <a:prstGeom prst="rect">
            <a:avLst/>
          </a:prstGeom>
          <a:solidFill>
            <a:srgbClr val="E29578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371600"/>
            <a:ext cx="5029200" cy="2560320"/>
          </a:xfrm>
          <a:prstGeom prst="rect">
            <a:avLst/>
          </a:prstGeom>
          <a:solidFill>
            <a:srgbClr val="FDF0D5"/>
          </a:solidFill>
          <a:ln w="12700">
            <a:solidFill>
              <a:srgbClr val="FDF0D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55448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295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描述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40080" y="1920240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来自工作场景的真实案例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246888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295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适用场景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" y="2834640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展示知识点的实际应用场景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57200" y="4114800"/>
            <a:ext cx="7772400" cy="731520"/>
          </a:xfrm>
          <a:prstGeom prst="rect">
            <a:avLst/>
          </a:prstGeom>
          <a:solidFill>
            <a:srgbClr val="C1121F">
              <a:alpha val="90000"/>
            </a:srgbClr>
          </a:solidFill>
          <a:ln w="12700">
            <a:solidFill>
              <a:srgbClr val="C1121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4206240"/>
            <a:ext cx="7406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112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使用提示：做好脱敏，保护当事人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400800" y="1828800"/>
            <a:ext cx="1828800" cy="1828800"/>
          </a:xfrm>
          <a:prstGeom prst="ellipse">
            <a:avLst/>
          </a:prstGeom>
          <a:solidFill>
            <a:srgbClr val="E29578">
              <a:alpha val="80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0" y="2194560"/>
            <a:ext cx="1828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dirty="0">
                <a:solidFill>
                  <a:srgbClr val="000000"/>
                </a:solidFill>
              </a:rPr>
              <a:t>💼</a:t>
            </a:r>
            <a:endParaRPr lang="en-US" sz="4800" dirty="0"/>
          </a:p>
        </p:txBody>
      </p:sp>
      <p:sp>
        <p:nvSpPr>
          <p:cNvPr id="13" name="Shape 11"/>
          <p:cNvSpPr/>
          <p:nvPr/>
        </p:nvSpPr>
        <p:spPr>
          <a:xfrm>
            <a:off x="8503920" y="4663440"/>
            <a:ext cx="457200" cy="457200"/>
          </a:xfrm>
          <a:prstGeom prst="ellipse">
            <a:avLst/>
          </a:prstGeom>
          <a:solidFill>
            <a:srgbClr val="C1121F"/>
          </a:solidFill>
          <a:ln/>
        </p:spPr>
      </p:sp>
      <p:sp>
        <p:nvSpPr>
          <p:cNvPr id="14" name="Text 12"/>
          <p:cNvSpPr/>
          <p:nvPr/>
        </p:nvSpPr>
        <p:spPr>
          <a:xfrm>
            <a:off x="8503920" y="46634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</a:t>
            </a:r>
            <a:endParaRPr lang="en-US" sz="12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EFA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C112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反例型故事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1828800" cy="45720"/>
          </a:xfrm>
          <a:prstGeom prst="rect">
            <a:avLst/>
          </a:prstGeom>
          <a:solidFill>
            <a:srgbClr val="E29578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371600"/>
            <a:ext cx="5029200" cy="2560320"/>
          </a:xfrm>
          <a:prstGeom prst="rect">
            <a:avLst/>
          </a:prstGeom>
          <a:solidFill>
            <a:srgbClr val="FDF0D5"/>
          </a:solidFill>
          <a:ln w="12700">
            <a:solidFill>
              <a:srgbClr val="FDF0D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55448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295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描述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40080" y="1920240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专门展示「不这样做会怎样」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246888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295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适用场景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" y="2834640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学员容易忽视某个关键注意点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57200" y="4114800"/>
            <a:ext cx="7772400" cy="731520"/>
          </a:xfrm>
          <a:prstGeom prst="rect">
            <a:avLst/>
          </a:prstGeom>
          <a:solidFill>
            <a:srgbClr val="C1121F">
              <a:alpha val="90000"/>
            </a:srgbClr>
          </a:solidFill>
          <a:ln w="12700">
            <a:solidFill>
              <a:srgbClr val="C1121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4206240"/>
            <a:ext cx="7406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112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使用提示：避免让某人显得愚蠢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400800" y="1828800"/>
            <a:ext cx="1828800" cy="1828800"/>
          </a:xfrm>
          <a:prstGeom prst="ellipse">
            <a:avLst/>
          </a:prstGeom>
          <a:solidFill>
            <a:srgbClr val="E29578">
              <a:alpha val="80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0" y="2194560"/>
            <a:ext cx="1828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dirty="0">
                <a:solidFill>
                  <a:srgbClr val="000000"/>
                </a:solidFill>
              </a:rPr>
              <a:t>⚠</a:t>
            </a:r>
            <a:endParaRPr lang="en-US" sz="4800" dirty="0"/>
          </a:p>
        </p:txBody>
      </p:sp>
      <p:sp>
        <p:nvSpPr>
          <p:cNvPr id="13" name="Shape 11"/>
          <p:cNvSpPr/>
          <p:nvPr/>
        </p:nvSpPr>
        <p:spPr>
          <a:xfrm>
            <a:off x="8503920" y="4663440"/>
            <a:ext cx="457200" cy="457200"/>
          </a:xfrm>
          <a:prstGeom prst="ellipse">
            <a:avLst/>
          </a:prstGeom>
          <a:solidFill>
            <a:srgbClr val="C1121F"/>
          </a:solidFill>
          <a:ln/>
        </p:spPr>
      </p:sp>
      <p:sp>
        <p:nvSpPr>
          <p:cNvPr id="14" name="Text 12"/>
          <p:cNvSpPr/>
          <p:nvPr/>
        </p:nvSpPr>
        <p:spPr>
          <a:xfrm>
            <a:off x="8503920" y="46634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</a:t>
            </a:r>
            <a:endParaRPr lang="en-US" sz="12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EFA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C112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类比隐喻型故事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1828800" cy="45720"/>
          </a:xfrm>
          <a:prstGeom prst="rect">
            <a:avLst/>
          </a:prstGeom>
          <a:solidFill>
            <a:srgbClr val="E29578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371600"/>
            <a:ext cx="5029200" cy="2560320"/>
          </a:xfrm>
          <a:prstGeom prst="rect">
            <a:avLst/>
          </a:prstGeom>
          <a:solidFill>
            <a:srgbClr val="FDF0D5"/>
          </a:solidFill>
          <a:ln w="12700">
            <a:solidFill>
              <a:srgbClr val="FDF0D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55448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295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描述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40080" y="1920240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用一个熟悉的事物比拟一个陌生概念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246888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295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适用场景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" y="2834640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讲抽象、复杂的概念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57200" y="4114800"/>
            <a:ext cx="7772400" cy="731520"/>
          </a:xfrm>
          <a:prstGeom prst="rect">
            <a:avLst/>
          </a:prstGeom>
          <a:solidFill>
            <a:srgbClr val="C1121F">
              <a:alpha val="90000"/>
            </a:srgbClr>
          </a:solidFill>
          <a:ln w="12700">
            <a:solidFill>
              <a:srgbClr val="C1121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4206240"/>
            <a:ext cx="7406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112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使用提示：类比要与学员生活经验高度重叠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400800" y="1828800"/>
            <a:ext cx="1828800" cy="1828800"/>
          </a:xfrm>
          <a:prstGeom prst="ellipse">
            <a:avLst/>
          </a:prstGeom>
          <a:solidFill>
            <a:srgbClr val="E29578">
              <a:alpha val="80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0" y="2194560"/>
            <a:ext cx="1828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dirty="0">
                <a:solidFill>
                  <a:srgbClr val="000000"/>
                </a:solidFill>
              </a:rPr>
              <a:t>💡</a:t>
            </a:r>
            <a:endParaRPr lang="en-US" sz="4800" dirty="0"/>
          </a:p>
        </p:txBody>
      </p:sp>
      <p:sp>
        <p:nvSpPr>
          <p:cNvPr id="13" name="Shape 11"/>
          <p:cNvSpPr/>
          <p:nvPr/>
        </p:nvSpPr>
        <p:spPr>
          <a:xfrm>
            <a:off x="8503920" y="4663440"/>
            <a:ext cx="457200" cy="457200"/>
          </a:xfrm>
          <a:prstGeom prst="ellipse">
            <a:avLst/>
          </a:prstGeom>
          <a:solidFill>
            <a:srgbClr val="C1121F"/>
          </a:solidFill>
          <a:ln/>
        </p:spPr>
      </p:sp>
      <p:sp>
        <p:nvSpPr>
          <p:cNvPr id="14" name="Text 12"/>
          <p:cNvSpPr/>
          <p:nvPr/>
        </p:nvSpPr>
        <p:spPr>
          <a:xfrm>
            <a:off x="8503920" y="46634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</a:t>
            </a:r>
            <a:endParaRPr lang="en-US" sz="12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EFA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C112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未来投射型故事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1828800" cy="45720"/>
          </a:xfrm>
          <a:prstGeom prst="rect">
            <a:avLst/>
          </a:prstGeom>
          <a:solidFill>
            <a:srgbClr val="E29578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371600"/>
            <a:ext cx="5029200" cy="2560320"/>
          </a:xfrm>
          <a:prstGeom prst="rect">
            <a:avLst/>
          </a:prstGeom>
          <a:solidFill>
            <a:srgbClr val="FDF0D5"/>
          </a:solidFill>
          <a:ln w="12700">
            <a:solidFill>
              <a:srgbClr val="FDF0D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55448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295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描述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40080" y="1920240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描绘「如果做到了，会是什么样」的场景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246888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295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适用场景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" y="2834640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课程结尾，激活行动意愿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57200" y="4114800"/>
            <a:ext cx="7772400" cy="731520"/>
          </a:xfrm>
          <a:prstGeom prst="rect">
            <a:avLst/>
          </a:prstGeom>
          <a:solidFill>
            <a:srgbClr val="C1121F">
              <a:alpha val="90000"/>
            </a:srgbClr>
          </a:solidFill>
          <a:ln w="12700">
            <a:solidFill>
              <a:srgbClr val="C1121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4206240"/>
            <a:ext cx="7406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112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使用提示：必须足够具体，才有说服力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400800" y="1828800"/>
            <a:ext cx="1828800" cy="1828800"/>
          </a:xfrm>
          <a:prstGeom prst="ellipse">
            <a:avLst/>
          </a:prstGeom>
          <a:solidFill>
            <a:srgbClr val="E29578">
              <a:alpha val="80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0" y="2194560"/>
            <a:ext cx="1828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dirty="0">
                <a:solidFill>
                  <a:srgbClr val="000000"/>
                </a:solidFill>
              </a:rPr>
              <a:t>🚀</a:t>
            </a:r>
            <a:endParaRPr lang="en-US" sz="4800" dirty="0"/>
          </a:p>
        </p:txBody>
      </p:sp>
      <p:sp>
        <p:nvSpPr>
          <p:cNvPr id="13" name="Shape 11"/>
          <p:cNvSpPr/>
          <p:nvPr/>
        </p:nvSpPr>
        <p:spPr>
          <a:xfrm>
            <a:off x="8503920" y="4663440"/>
            <a:ext cx="457200" cy="457200"/>
          </a:xfrm>
          <a:prstGeom prst="ellipse">
            <a:avLst/>
          </a:prstGeom>
          <a:solidFill>
            <a:srgbClr val="C1121F"/>
          </a:solidFill>
          <a:ln/>
        </p:spPr>
      </p:sp>
      <p:sp>
        <p:nvSpPr>
          <p:cNvPr id="14" name="Text 12"/>
          <p:cNvSpPr/>
          <p:nvPr/>
        </p:nvSpPr>
        <p:spPr>
          <a:xfrm>
            <a:off x="8503920" y="46634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</a:t>
            </a:r>
            <a:endParaRPr lang="en-US" sz="12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EFA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C112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素材从哪里来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1828800" cy="45720"/>
          </a:xfrm>
          <a:prstGeom prst="rect">
            <a:avLst/>
          </a:prstGeom>
          <a:solidFill>
            <a:srgbClr val="E29578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411480" cy="411480"/>
          </a:xfrm>
          <a:prstGeom prst="ellipse">
            <a:avLst/>
          </a:prstGeom>
          <a:solidFill>
            <a:srgbClr val="E2957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37160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097280" y="137160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自身经历（最优先）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1965960"/>
            <a:ext cx="411480" cy="411480"/>
          </a:xfrm>
          <a:prstGeom prst="ellipse">
            <a:avLst/>
          </a:prstGeom>
          <a:solidFill>
            <a:srgbClr val="E29578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9659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97280" y="196596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学员案例（脱敏处理）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48640" y="2560320"/>
            <a:ext cx="411480" cy="411480"/>
          </a:xfrm>
          <a:prstGeom prst="ellipse">
            <a:avLst/>
          </a:prstGeom>
          <a:solidFill>
            <a:srgbClr val="E29578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256032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097280" y="256032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同行交流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48640" y="3154680"/>
            <a:ext cx="411480" cy="411480"/>
          </a:xfrm>
          <a:prstGeom prst="ellipse">
            <a:avLst/>
          </a:prstGeom>
          <a:solidFill>
            <a:srgbClr val="E29578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315468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097280" y="315468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内部文档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0" y="3749040"/>
            <a:ext cx="411480" cy="411480"/>
          </a:xfrm>
          <a:prstGeom prst="ellipse">
            <a:avLst/>
          </a:prstGeom>
          <a:solidFill>
            <a:srgbClr val="E29578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374904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097280" y="374904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公开资料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5029200" y="1371600"/>
            <a:ext cx="3657600" cy="2286000"/>
          </a:xfrm>
          <a:prstGeom prst="rect">
            <a:avLst/>
          </a:prstGeom>
          <a:solidFill>
            <a:srgbClr val="FDF0D5"/>
          </a:solidFill>
          <a:ln w="12700">
            <a:solidFill>
              <a:srgbClr val="4A4E69"/>
            </a:solidFill>
            <a:prstDash val="dash"/>
          </a:ln>
        </p:spPr>
      </p:sp>
      <p:sp>
        <p:nvSpPr>
          <p:cNvPr id="20" name="Text 18"/>
          <p:cNvSpPr/>
          <p:nvPr/>
        </p:nvSpPr>
        <p:spPr>
          <a:xfrm>
            <a:off x="5212080" y="155448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不推荐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212080" y="201168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影视剧、名人故事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212080" y="246888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95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缺乏代入感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217920" y="2926080"/>
            <a:ext cx="1371600" cy="1371600"/>
          </a:xfrm>
          <a:prstGeom prst="ellipse">
            <a:avLst/>
          </a:prstGeom>
          <a:solidFill>
            <a:srgbClr val="E29578">
              <a:alpha val="70000"/>
            </a:srgbClr>
          </a:solidFill>
          <a:ln/>
        </p:spPr>
      </p:sp>
      <p:sp>
        <p:nvSpPr>
          <p:cNvPr id="24" name="Text 22"/>
          <p:cNvSpPr/>
          <p:nvPr/>
        </p:nvSpPr>
        <p:spPr>
          <a:xfrm>
            <a:off x="6217920" y="3108960"/>
            <a:ext cx="1371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📂</a:t>
            </a:r>
            <a:endParaRPr lang="en-US" sz="3600" dirty="0"/>
          </a:p>
        </p:txBody>
      </p:sp>
      <p:sp>
        <p:nvSpPr>
          <p:cNvPr id="25" name="Shape 23"/>
          <p:cNvSpPr/>
          <p:nvPr/>
        </p:nvSpPr>
        <p:spPr>
          <a:xfrm>
            <a:off x="8503920" y="4663440"/>
            <a:ext cx="457200" cy="457200"/>
          </a:xfrm>
          <a:prstGeom prst="ellipse">
            <a:avLst/>
          </a:prstGeom>
          <a:solidFill>
            <a:srgbClr val="C1121F"/>
          </a:solidFill>
          <a:ln/>
        </p:spPr>
      </p:sp>
      <p:sp>
        <p:nvSpPr>
          <p:cNvPr id="26" name="Text 24"/>
          <p:cNvSpPr/>
          <p:nvPr/>
        </p:nvSpPr>
        <p:spPr>
          <a:xfrm>
            <a:off x="8503920" y="46634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</a:t>
            </a:r>
            <a:endParaRPr lang="en-US" sz="12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EFA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C112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什么故事不适合用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1828800" cy="45720"/>
          </a:xfrm>
          <a:prstGeom prst="rect">
            <a:avLst/>
          </a:prstGeom>
          <a:solidFill>
            <a:srgbClr val="E29578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365760" cy="365760"/>
          </a:xfrm>
          <a:prstGeom prst="ellipse">
            <a:avLst/>
          </a:prstGeom>
          <a:solidFill>
            <a:srgbClr val="C1121F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3716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051560" y="13716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与组织文化或价值观明显冲突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2011680"/>
            <a:ext cx="365760" cy="365760"/>
          </a:xfrm>
          <a:prstGeom prst="ellipse">
            <a:avLst/>
          </a:prstGeom>
          <a:solidFill>
            <a:srgbClr val="C1121F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20116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51560" y="201168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无法被学员在工作场景中代入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" y="2651760"/>
            <a:ext cx="365760" cy="365760"/>
          </a:xfrm>
          <a:prstGeom prst="ellipse">
            <a:avLst/>
          </a:prstGeom>
          <a:solidFill>
            <a:srgbClr val="C1121F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26517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051560" y="26517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涉及仍在职人员且可能有风险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48640" y="3291840"/>
            <a:ext cx="365760" cy="365760"/>
          </a:xfrm>
          <a:prstGeom prst="ellipse">
            <a:avLst/>
          </a:prstGeom>
          <a:solidFill>
            <a:srgbClr val="C1121F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32918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051560" y="32918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讲师明显「赢了」或「比学员厉害」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48640" y="3931920"/>
            <a:ext cx="365760" cy="365760"/>
          </a:xfrm>
          <a:prstGeom prst="ellipse">
            <a:avLst/>
          </a:prstGeom>
          <a:solidFill>
            <a:srgbClr val="C1121F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39319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051560" y="39319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结论需要很长解释才能挂上课程内容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858000" y="3200400"/>
            <a:ext cx="1828800" cy="1828800"/>
          </a:xfrm>
          <a:prstGeom prst="ellipse">
            <a:avLst/>
          </a:prstGeom>
          <a:solidFill>
            <a:srgbClr val="C1121F">
              <a:alpha val="85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6858000" y="3474720"/>
            <a:ext cx="18288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dirty="0">
                <a:solidFill>
                  <a:srgbClr val="000000"/>
                </a:solidFill>
              </a:rPr>
              <a:t>🛑</a:t>
            </a:r>
            <a:endParaRPr lang="en-US" sz="4800" dirty="0"/>
          </a:p>
        </p:txBody>
      </p:sp>
      <p:sp>
        <p:nvSpPr>
          <p:cNvPr id="21" name="Shape 19"/>
          <p:cNvSpPr/>
          <p:nvPr/>
        </p:nvSpPr>
        <p:spPr>
          <a:xfrm>
            <a:off x="8503920" y="4663440"/>
            <a:ext cx="457200" cy="457200"/>
          </a:xfrm>
          <a:prstGeom prst="ellipse">
            <a:avLst/>
          </a:prstGeom>
          <a:solidFill>
            <a:srgbClr val="C1121F"/>
          </a:solidFill>
          <a:ln/>
        </p:spPr>
      </p:sp>
      <p:sp>
        <p:nvSpPr>
          <p:cNvPr id="22" name="Text 20"/>
          <p:cNvSpPr/>
          <p:nvPr/>
        </p:nvSpPr>
        <p:spPr>
          <a:xfrm>
            <a:off x="8503920" y="46634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</a:t>
            </a:r>
            <a:endParaRPr lang="en-US" sz="12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EFA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C112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怎么判断一个素材值不值得用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295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三个问题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457200" y="1645920"/>
            <a:ext cx="8229600" cy="822960"/>
          </a:xfrm>
          <a:prstGeom prst="rect">
            <a:avLst/>
          </a:prstGeom>
          <a:solidFill>
            <a:srgbClr val="FDF0D5"/>
          </a:solidFill>
          <a:ln w="12700">
            <a:solidFill>
              <a:srgbClr val="FDF0D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828800"/>
            <a:ext cx="457200" cy="457200"/>
          </a:xfrm>
          <a:prstGeom prst="ellipse">
            <a:avLst/>
          </a:prstGeom>
          <a:solidFill>
            <a:srgbClr val="E29578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8288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280160" y="1737360"/>
            <a:ext cx="5029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学员能「认出来」吗？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858000" y="1874520"/>
            <a:ext cx="1645920" cy="365760"/>
          </a:xfrm>
          <a:prstGeom prst="rect">
            <a:avLst/>
          </a:prstGeom>
          <a:solidFill>
            <a:srgbClr val="C1121F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0" y="187452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相关性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2651760"/>
            <a:ext cx="8229600" cy="822960"/>
          </a:xfrm>
          <a:prstGeom prst="rect">
            <a:avLst/>
          </a:prstGeom>
          <a:solidFill>
            <a:srgbClr val="FDF0D5"/>
          </a:solidFill>
          <a:ln w="12700">
            <a:solidFill>
              <a:srgbClr val="FDF0D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0080" y="2834640"/>
            <a:ext cx="457200" cy="457200"/>
          </a:xfrm>
          <a:prstGeom prst="ellipse">
            <a:avLst/>
          </a:prstGeom>
          <a:solidFill>
            <a:srgbClr val="E29578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28346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280160" y="2743200"/>
            <a:ext cx="5029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学员会相信「这是真的」吗？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858000" y="2880360"/>
            <a:ext cx="1645920" cy="365760"/>
          </a:xfrm>
          <a:prstGeom prst="rect">
            <a:avLst/>
          </a:prstGeom>
          <a:solidFill>
            <a:srgbClr val="C1121F"/>
          </a:solidFill>
          <a:ln/>
        </p:spPr>
      </p:sp>
      <p:sp>
        <p:nvSpPr>
          <p:cNvPr id="15" name="Text 13"/>
          <p:cNvSpPr/>
          <p:nvPr/>
        </p:nvSpPr>
        <p:spPr>
          <a:xfrm>
            <a:off x="6858000" y="288036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可信度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3657600"/>
            <a:ext cx="8229600" cy="822960"/>
          </a:xfrm>
          <a:prstGeom prst="rect">
            <a:avLst/>
          </a:prstGeom>
          <a:solidFill>
            <a:srgbClr val="FDF0D5"/>
          </a:solidFill>
          <a:ln w="12700">
            <a:solidFill>
              <a:srgbClr val="FDF0D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0080" y="3840480"/>
            <a:ext cx="457200" cy="457200"/>
          </a:xfrm>
          <a:prstGeom prst="ellipse">
            <a:avLst/>
          </a:prstGeom>
          <a:solidFill>
            <a:srgbClr val="E29578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38404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280160" y="3749040"/>
            <a:ext cx="5029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能用一句话说清和知识点的关系吗？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858000" y="3886200"/>
            <a:ext cx="1645920" cy="365760"/>
          </a:xfrm>
          <a:prstGeom prst="rect">
            <a:avLst/>
          </a:prstGeom>
          <a:solidFill>
            <a:srgbClr val="C1121F"/>
          </a:solidFill>
          <a:ln/>
        </p:spPr>
      </p:sp>
      <p:sp>
        <p:nvSpPr>
          <p:cNvPr id="21" name="Text 19"/>
          <p:cNvSpPr/>
          <p:nvPr/>
        </p:nvSpPr>
        <p:spPr>
          <a:xfrm>
            <a:off x="6858000" y="388620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落点清晰度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7315200" y="274320"/>
            <a:ext cx="1097280" cy="1097280"/>
          </a:xfrm>
          <a:prstGeom prst="ellipse">
            <a:avLst/>
          </a:prstGeom>
          <a:solidFill>
            <a:srgbClr val="E29578">
              <a:alpha val="70000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7315200" y="365760"/>
            <a:ext cx="1097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❓</a:t>
            </a:r>
            <a:endParaRPr lang="en-US" sz="3600" dirty="0"/>
          </a:p>
        </p:txBody>
      </p:sp>
      <p:sp>
        <p:nvSpPr>
          <p:cNvPr id="24" name="Shape 22"/>
          <p:cNvSpPr/>
          <p:nvPr/>
        </p:nvSpPr>
        <p:spPr>
          <a:xfrm>
            <a:off x="8503920" y="4663440"/>
            <a:ext cx="457200" cy="457200"/>
          </a:xfrm>
          <a:prstGeom prst="ellipse">
            <a:avLst/>
          </a:prstGeom>
          <a:solidFill>
            <a:srgbClr val="C1121F"/>
          </a:solidFill>
          <a:ln/>
        </p:spPr>
      </p:sp>
      <p:sp>
        <p:nvSpPr>
          <p:cNvPr id="25" name="Text 23"/>
          <p:cNvSpPr/>
          <p:nvPr/>
        </p:nvSpPr>
        <p:spPr>
          <a:xfrm>
            <a:off x="8503920" y="46634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</a:t>
            </a:r>
            <a:endParaRPr lang="en-US" sz="12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EFA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C112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三问详解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1828800" cy="45720"/>
          </a:xfrm>
          <a:prstGeom prst="rect">
            <a:avLst/>
          </a:prstGeom>
          <a:solidFill>
            <a:srgbClr val="E29578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371600"/>
            <a:ext cx="5486400" cy="731520"/>
          </a:xfrm>
          <a:prstGeom prst="rect">
            <a:avLst/>
          </a:prstGeom>
          <a:solidFill>
            <a:srgbClr val="FDF0D5"/>
          </a:solidFill>
          <a:ln w="12700">
            <a:solidFill>
              <a:srgbClr val="FDF0D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371600"/>
            <a:ext cx="1645920" cy="731520"/>
          </a:xfrm>
          <a:prstGeom prst="rect">
            <a:avLst/>
          </a:prstGeom>
          <a:solidFill>
            <a:srgbClr val="E29578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371600"/>
            <a:ext cx="1645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相关性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286000" y="1371600"/>
            <a:ext cx="3474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学员能在自己工作场景中识别这个情境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2240280"/>
            <a:ext cx="5486400" cy="731520"/>
          </a:xfrm>
          <a:prstGeom prst="rect">
            <a:avLst/>
          </a:prstGeom>
          <a:solidFill>
            <a:srgbClr val="FDF0D5"/>
          </a:solidFill>
          <a:ln w="12700">
            <a:solidFill>
              <a:srgbClr val="FDF0D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2240280"/>
            <a:ext cx="1645920" cy="731520"/>
          </a:xfrm>
          <a:prstGeom prst="rect">
            <a:avLst/>
          </a:prstGeom>
          <a:solidFill>
            <a:srgbClr val="E29578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2240280"/>
            <a:ext cx="1645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可信度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286000" y="2240280"/>
            <a:ext cx="3474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案例真实，细节经得起追问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7200" y="3108960"/>
            <a:ext cx="5486400" cy="731520"/>
          </a:xfrm>
          <a:prstGeom prst="rect">
            <a:avLst/>
          </a:prstGeom>
          <a:solidFill>
            <a:srgbClr val="FDF0D5"/>
          </a:solidFill>
          <a:ln w="12700">
            <a:solidFill>
              <a:srgbClr val="FDF0D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3108960"/>
            <a:ext cx="1645920" cy="731520"/>
          </a:xfrm>
          <a:prstGeom prst="rect">
            <a:avLst/>
          </a:prstGeom>
          <a:solidFill>
            <a:srgbClr val="E29578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3108960"/>
            <a:ext cx="1645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落点清晰度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2286000" y="3108960"/>
            <a:ext cx="3474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一个故事只服务一个知识点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57200" y="4114800"/>
            <a:ext cx="7772400" cy="731520"/>
          </a:xfrm>
          <a:prstGeom prst="rect">
            <a:avLst/>
          </a:prstGeom>
          <a:solidFill>
            <a:srgbClr val="C1121F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4114800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三个问题都能答「是」，才值得用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583680" y="1371600"/>
            <a:ext cx="2103120" cy="2103120"/>
          </a:xfrm>
          <a:prstGeom prst="ellipse">
            <a:avLst/>
          </a:prstGeom>
          <a:solidFill>
            <a:srgbClr val="E29578">
              <a:alpha val="80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6583680" y="1645920"/>
            <a:ext cx="21031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dirty="0">
                <a:solidFill>
                  <a:srgbClr val="000000"/>
                </a:solidFill>
              </a:rPr>
              <a:t>✅</a:t>
            </a:r>
            <a:endParaRPr lang="en-US" sz="4800" dirty="0"/>
          </a:p>
        </p:txBody>
      </p:sp>
      <p:sp>
        <p:nvSpPr>
          <p:cNvPr id="20" name="Shape 18"/>
          <p:cNvSpPr/>
          <p:nvPr/>
        </p:nvSpPr>
        <p:spPr>
          <a:xfrm>
            <a:off x="8503920" y="4663440"/>
            <a:ext cx="457200" cy="457200"/>
          </a:xfrm>
          <a:prstGeom prst="ellipse">
            <a:avLst/>
          </a:prstGeom>
          <a:solidFill>
            <a:srgbClr val="C1121F"/>
          </a:solidFill>
          <a:ln/>
        </p:spPr>
      </p:sp>
      <p:sp>
        <p:nvSpPr>
          <p:cNvPr id="21" name="Text 19"/>
          <p:cNvSpPr/>
          <p:nvPr/>
        </p:nvSpPr>
        <p:spPr>
          <a:xfrm>
            <a:off x="8503920" y="46634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</a:t>
            </a:r>
            <a:endParaRPr lang="en-US" sz="12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EFA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C112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关键认知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1828800" cy="45720"/>
          </a:xfrm>
          <a:prstGeom prst="rect">
            <a:avLst/>
          </a:prstGeom>
          <a:solidFill>
            <a:srgbClr val="E29578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1645920"/>
            <a:ext cx="7680960" cy="2560320"/>
          </a:xfrm>
          <a:prstGeom prst="rect">
            <a:avLst/>
          </a:prstGeom>
          <a:solidFill>
            <a:srgbClr val="FDF0D5"/>
          </a:solidFill>
          <a:ln w="12700">
            <a:solidFill>
              <a:srgbClr val="FDF0D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46304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dirty="0">
                <a:solidFill>
                  <a:srgbClr val="E2957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</a:t>
            </a:r>
            <a:endParaRPr lang="en-US" sz="7200" dirty="0"/>
          </a:p>
        </p:txBody>
      </p:sp>
      <p:sp>
        <p:nvSpPr>
          <p:cNvPr id="6" name="Text 4"/>
          <p:cNvSpPr/>
          <p:nvPr/>
        </p:nvSpPr>
        <p:spPr>
          <a:xfrm>
            <a:off x="1371600" y="2011680"/>
            <a:ext cx="6400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112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故事不是「找到的」，而是「选出来的」。所谓「没有好故事」，大多数时候是「还没有找到连接方式」。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0" y="347472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dirty="0">
                <a:solidFill>
                  <a:srgbClr val="E2957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”</a:t>
            </a:r>
            <a:endParaRPr lang="en-US" sz="7200" dirty="0"/>
          </a:p>
        </p:txBody>
      </p:sp>
      <p:sp>
        <p:nvSpPr>
          <p:cNvPr id="8" name="Shape 6"/>
          <p:cNvSpPr/>
          <p:nvPr/>
        </p:nvSpPr>
        <p:spPr>
          <a:xfrm>
            <a:off x="3200400" y="4389120"/>
            <a:ext cx="2743200" cy="73152"/>
          </a:xfrm>
          <a:prstGeom prst="rect">
            <a:avLst/>
          </a:prstGeom>
          <a:solidFill>
            <a:srgbClr val="E29578"/>
          </a:solidFill>
          <a:ln/>
        </p:spPr>
      </p:sp>
      <p:sp>
        <p:nvSpPr>
          <p:cNvPr id="9" name="Shape 7"/>
          <p:cNvSpPr/>
          <p:nvPr/>
        </p:nvSpPr>
        <p:spPr>
          <a:xfrm>
            <a:off x="3886200" y="4526280"/>
            <a:ext cx="1371600" cy="1371600"/>
          </a:xfrm>
          <a:prstGeom prst="ellipse">
            <a:avLst/>
          </a:prstGeom>
          <a:solidFill>
            <a:srgbClr val="E29578">
              <a:alpha val="75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3886200" y="4663440"/>
            <a:ext cx="1371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💬</a:t>
            </a:r>
            <a:endParaRPr lang="en-US" sz="3600" dirty="0"/>
          </a:p>
        </p:txBody>
      </p:sp>
      <p:sp>
        <p:nvSpPr>
          <p:cNvPr id="11" name="Shape 9"/>
          <p:cNvSpPr/>
          <p:nvPr/>
        </p:nvSpPr>
        <p:spPr>
          <a:xfrm>
            <a:off x="8503920" y="4663440"/>
            <a:ext cx="457200" cy="457200"/>
          </a:xfrm>
          <a:prstGeom prst="ellipse">
            <a:avLst/>
          </a:prstGeom>
          <a:solidFill>
            <a:srgbClr val="C1121F"/>
          </a:solidFill>
          <a:ln/>
        </p:spPr>
      </p:sp>
      <p:sp>
        <p:nvSpPr>
          <p:cNvPr id="12" name="Text 10"/>
          <p:cNvSpPr/>
          <p:nvPr/>
        </p:nvSpPr>
        <p:spPr>
          <a:xfrm>
            <a:off x="8503920" y="46634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</a:t>
            </a:r>
            <a:endParaRPr lang="en-US" sz="12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EFA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C112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✋ 练习B：为你的「待改造区域」找到3个素材线索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2377440" cy="411480"/>
          </a:xfrm>
          <a:prstGeom prst="rect">
            <a:avLst/>
          </a:prstGeom>
          <a:solidFill>
            <a:srgbClr val="E29578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28016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素材生成型 | 用时：8-10分钟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920240"/>
            <a:ext cx="5486400" cy="1097280"/>
          </a:xfrm>
          <a:prstGeom prst="rect">
            <a:avLst/>
          </a:prstGeom>
          <a:solidFill>
            <a:srgbClr val="FDF0D5"/>
          </a:solidFill>
          <a:ln w="12700">
            <a:solidFill>
              <a:srgbClr val="FDF0D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201168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295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任务描述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377440"/>
            <a:ext cx="5120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针对练习A标记的区域，列出3个可能的故事素材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57200" y="3200400"/>
            <a:ext cx="5486400" cy="731520"/>
          </a:xfrm>
          <a:prstGeom prst="rect">
            <a:avLst/>
          </a:prstGeom>
          <a:solidFill>
            <a:srgbClr val="C1121F">
              <a:alpha val="90000"/>
            </a:srgbClr>
          </a:solidFill>
          <a:ln w="12700">
            <a:solidFill>
              <a:srgbClr val="C1121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3291840"/>
            <a:ext cx="5120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112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💡 不需要写完整故事，只需素材线索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583680" y="1645920"/>
            <a:ext cx="2103120" cy="2103120"/>
          </a:xfrm>
          <a:prstGeom prst="ellipse">
            <a:avLst/>
          </a:prstGeom>
          <a:solidFill>
            <a:srgbClr val="E29578">
              <a:alpha val="80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6583680" y="1920240"/>
            <a:ext cx="21031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dirty="0">
                <a:solidFill>
                  <a:srgbClr val="000000"/>
                </a:solidFill>
              </a:rPr>
              <a:t>✍</a:t>
            </a:r>
            <a:endParaRPr lang="en-US" sz="5600" dirty="0"/>
          </a:p>
        </p:txBody>
      </p:sp>
      <p:sp>
        <p:nvSpPr>
          <p:cNvPr id="12" name="Shape 10"/>
          <p:cNvSpPr/>
          <p:nvPr/>
        </p:nvSpPr>
        <p:spPr>
          <a:xfrm>
            <a:off x="457200" y="4114800"/>
            <a:ext cx="548640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4A4E69"/>
            </a:solidFill>
            <a:prstDash val="dash"/>
          </a:ln>
        </p:spPr>
      </p:sp>
      <p:sp>
        <p:nvSpPr>
          <p:cNvPr id="13" name="Text 11"/>
          <p:cNvSpPr/>
          <p:nvPr/>
        </p:nvSpPr>
        <p:spPr>
          <a:xfrm>
            <a:off x="548640" y="411480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素材 1: 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4572000"/>
            <a:ext cx="548640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4A4E69"/>
            </a:solidFill>
            <a:prstDash val="dash"/>
          </a:ln>
        </p:spPr>
      </p:sp>
      <p:sp>
        <p:nvSpPr>
          <p:cNvPr id="15" name="Text 13"/>
          <p:cNvSpPr/>
          <p:nvPr/>
        </p:nvSpPr>
        <p:spPr>
          <a:xfrm>
            <a:off x="548640" y="457200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素材 2: 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5029200"/>
            <a:ext cx="548640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4A4E69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548640" y="502920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素材 3: 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503920" y="4663440"/>
            <a:ext cx="457200" cy="457200"/>
          </a:xfrm>
          <a:prstGeom prst="ellipse">
            <a:avLst/>
          </a:prstGeom>
          <a:solidFill>
            <a:srgbClr val="C1121F"/>
          </a:solidFill>
          <a:ln/>
        </p:spPr>
      </p:sp>
      <p:sp>
        <p:nvSpPr>
          <p:cNvPr id="19" name="Text 17"/>
          <p:cNvSpPr/>
          <p:nvPr/>
        </p:nvSpPr>
        <p:spPr>
          <a:xfrm>
            <a:off x="8503920" y="46634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</a:t>
            </a:r>
            <a:endParaRPr lang="en-US" sz="12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EFA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C112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第一章小结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1828800" cy="45720"/>
          </a:xfrm>
          <a:prstGeom prst="rect">
            <a:avLst/>
          </a:prstGeom>
          <a:solidFill>
            <a:srgbClr val="E29578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371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现在手上有了两样东西：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57200" y="1920240"/>
            <a:ext cx="3931920" cy="1188720"/>
          </a:xfrm>
          <a:prstGeom prst="rect">
            <a:avLst/>
          </a:prstGeom>
          <a:solidFill>
            <a:srgbClr val="FDF0D5"/>
          </a:solidFill>
          <a:ln w="12700">
            <a:solidFill>
              <a:srgbClr val="FDF0D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2103120"/>
            <a:ext cx="457200" cy="457200"/>
          </a:xfrm>
          <a:prstGeom prst="ellipse">
            <a:avLst/>
          </a:prstGeom>
          <a:solidFill>
            <a:srgbClr val="E29578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21031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280160" y="2057400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你课程里的「待改造区域」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280160" y="260604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95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知道哪些地方缺故事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754880" y="1920240"/>
            <a:ext cx="3931920" cy="1188720"/>
          </a:xfrm>
          <a:prstGeom prst="rect">
            <a:avLst/>
          </a:prstGeom>
          <a:solidFill>
            <a:srgbClr val="FDF0D5"/>
          </a:solidFill>
          <a:ln w="12700">
            <a:solidFill>
              <a:srgbClr val="FDF0D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937760" y="2103120"/>
            <a:ext cx="457200" cy="457200"/>
          </a:xfrm>
          <a:prstGeom prst="ellipse">
            <a:avLst/>
          </a:prstGeom>
          <a:solidFill>
            <a:srgbClr val="E29578"/>
          </a:solidFill>
          <a:ln/>
        </p:spPr>
      </p:sp>
      <p:sp>
        <p:nvSpPr>
          <p:cNvPr id="12" name="Text 10"/>
          <p:cNvSpPr/>
          <p:nvPr/>
        </p:nvSpPr>
        <p:spPr>
          <a:xfrm>
            <a:off x="4937760" y="21031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577840" y="2057400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3个素材线索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5577840" y="260604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95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知道去哪里找故事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3474720"/>
            <a:ext cx="8229600" cy="1280160"/>
          </a:xfrm>
          <a:prstGeom prst="rect">
            <a:avLst/>
          </a:prstGeom>
          <a:solidFill>
            <a:srgbClr val="C1121F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361188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95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下一章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40080" y="397764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用四步结构把素材建成完整故事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7772400" y="3977640"/>
            <a:ext cx="731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E295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800" dirty="0"/>
          </a:p>
        </p:txBody>
      </p:sp>
      <p:sp>
        <p:nvSpPr>
          <p:cNvPr id="19" name="Shape 17"/>
          <p:cNvSpPr/>
          <p:nvPr/>
        </p:nvSpPr>
        <p:spPr>
          <a:xfrm>
            <a:off x="7132320" y="274320"/>
            <a:ext cx="1371600" cy="1371600"/>
          </a:xfrm>
          <a:prstGeom prst="ellipse">
            <a:avLst/>
          </a:prstGeom>
          <a:solidFill>
            <a:srgbClr val="E29578">
              <a:alpha val="70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7132320" y="411480"/>
            <a:ext cx="1371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📖</a:t>
            </a:r>
            <a:endParaRPr lang="en-US" sz="3600" dirty="0"/>
          </a:p>
        </p:txBody>
      </p:sp>
      <p:sp>
        <p:nvSpPr>
          <p:cNvPr id="21" name="Shape 19"/>
          <p:cNvSpPr/>
          <p:nvPr/>
        </p:nvSpPr>
        <p:spPr>
          <a:xfrm>
            <a:off x="8503920" y="4663440"/>
            <a:ext cx="457200" cy="457200"/>
          </a:xfrm>
          <a:prstGeom prst="ellipse">
            <a:avLst/>
          </a:prstGeom>
          <a:solidFill>
            <a:srgbClr val="C1121F"/>
          </a:solidFill>
          <a:ln/>
        </p:spPr>
      </p:sp>
      <p:sp>
        <p:nvSpPr>
          <p:cNvPr id="22" name="Text 20"/>
          <p:cNvSpPr/>
          <p:nvPr/>
        </p:nvSpPr>
        <p:spPr>
          <a:xfrm>
            <a:off x="8503920" y="46634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</a:t>
            </a:r>
            <a:endParaRPr lang="en-US" sz="12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C112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0" cy="5143500"/>
          </a:xfrm>
          <a:prstGeom prst="rect">
            <a:avLst/>
          </a:prstGeom>
          <a:solidFill>
            <a:srgbClr val="4A4E69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1828800"/>
            <a:ext cx="25603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FDF0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8000" dirty="0"/>
          </a:p>
        </p:txBody>
      </p:sp>
      <p:sp>
        <p:nvSpPr>
          <p:cNvPr id="4" name="Text 2"/>
          <p:cNvSpPr/>
          <p:nvPr/>
        </p:nvSpPr>
        <p:spPr>
          <a:xfrm>
            <a:off x="0" y="137160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spc="400" kern="0" dirty="0">
                <a:solidFill>
                  <a:srgbClr val="FDF0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CHAPTER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2926080" y="1645920"/>
            <a:ext cx="5760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DF0D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最简故事结构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2926080" y="2651760"/>
            <a:ext cx="5760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FEFAE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一个故事至少要有什么才算完整？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2926080" y="3383280"/>
            <a:ext cx="2743200" cy="45720"/>
          </a:xfrm>
          <a:prstGeom prst="rect">
            <a:avLst/>
          </a:prstGeom>
          <a:solidFill>
            <a:srgbClr val="E29578"/>
          </a:solidFill>
          <a:ln/>
        </p:spPr>
      </p:sp>
      <p:sp>
        <p:nvSpPr>
          <p:cNvPr id="8" name="Shape 6"/>
          <p:cNvSpPr/>
          <p:nvPr/>
        </p:nvSpPr>
        <p:spPr>
          <a:xfrm>
            <a:off x="8503920" y="4663440"/>
            <a:ext cx="457200" cy="320040"/>
          </a:xfrm>
          <a:prstGeom prst="ellipse">
            <a:avLst/>
          </a:prstGeom>
          <a:solidFill>
            <a:srgbClr val="FEFAE0"/>
          </a:solidFill>
          <a:ln/>
        </p:spPr>
      </p:sp>
      <p:sp>
        <p:nvSpPr>
          <p:cNvPr id="9" name="Text 7"/>
          <p:cNvSpPr/>
          <p:nvPr/>
        </p:nvSpPr>
        <p:spPr>
          <a:xfrm>
            <a:off x="8503920" y="466344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112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</a:t>
            </a:r>
            <a:endParaRPr lang="en-US" sz="12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EFA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C112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基础四步结构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最小可用单元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3931920" cy="1463040"/>
          </a:xfrm>
          <a:prstGeom prst="roundRect">
            <a:avLst>
              <a:gd name="adj" fmla="val 6250"/>
            </a:avLst>
          </a:prstGeom>
          <a:solidFill>
            <a:srgbClr val="FDF0D5"/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1554480"/>
            <a:ext cx="548640" cy="548640"/>
          </a:xfrm>
          <a:prstGeom prst="ellipse">
            <a:avLst/>
          </a:prstGeom>
          <a:solidFill>
            <a:srgbClr val="C1121F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5544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371600" y="160020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112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时空锚定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640080" y="2194560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给故事一个可以想象的起点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0" y="1371600"/>
            <a:ext cx="3931920" cy="1463040"/>
          </a:xfrm>
          <a:prstGeom prst="roundRect">
            <a:avLst>
              <a:gd name="adj" fmla="val 6250"/>
            </a:avLst>
          </a:prstGeom>
          <a:solidFill>
            <a:srgbClr val="FDF0D5"/>
          </a:solidFill>
          <a:ln/>
        </p:spPr>
      </p:sp>
      <p:sp>
        <p:nvSpPr>
          <p:cNvPr id="10" name="Shape 8"/>
          <p:cNvSpPr/>
          <p:nvPr/>
        </p:nvSpPr>
        <p:spPr>
          <a:xfrm>
            <a:off x="4754880" y="1554480"/>
            <a:ext cx="548640" cy="548640"/>
          </a:xfrm>
          <a:prstGeom prst="ellipse">
            <a:avLst/>
          </a:prstGeom>
          <a:solidFill>
            <a:srgbClr val="C1121F"/>
          </a:solidFill>
          <a:ln/>
        </p:spPr>
      </p:sp>
      <p:sp>
        <p:nvSpPr>
          <p:cNvPr id="11" name="Text 9"/>
          <p:cNvSpPr/>
          <p:nvPr/>
        </p:nvSpPr>
        <p:spPr>
          <a:xfrm>
            <a:off x="4754880" y="15544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5486400" y="160020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112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张力触发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4754880" y="2194560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引入冲突、困境或意外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57200" y="3108960"/>
            <a:ext cx="3931920" cy="1463040"/>
          </a:xfrm>
          <a:prstGeom prst="roundRect">
            <a:avLst>
              <a:gd name="adj" fmla="val 6250"/>
            </a:avLst>
          </a:prstGeom>
          <a:solidFill>
            <a:srgbClr val="FDF0D5"/>
          </a:solidFill>
          <a:ln/>
        </p:spPr>
      </p:sp>
      <p:sp>
        <p:nvSpPr>
          <p:cNvPr id="15" name="Shape 13"/>
          <p:cNvSpPr/>
          <p:nvPr/>
        </p:nvSpPr>
        <p:spPr>
          <a:xfrm>
            <a:off x="640080" y="3291840"/>
            <a:ext cx="548640" cy="548640"/>
          </a:xfrm>
          <a:prstGeom prst="ellipse">
            <a:avLst/>
          </a:prstGeom>
          <a:solidFill>
            <a:srgbClr val="C1121F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32918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371600" y="333756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112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行动转化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640080" y="3931920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有人做了什么，发生了什么变化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572000" y="3108960"/>
            <a:ext cx="3931920" cy="1463040"/>
          </a:xfrm>
          <a:prstGeom prst="roundRect">
            <a:avLst>
              <a:gd name="adj" fmla="val 6250"/>
            </a:avLst>
          </a:prstGeom>
          <a:solidFill>
            <a:srgbClr val="FDF0D5"/>
          </a:solidFill>
          <a:ln/>
        </p:spPr>
      </p:sp>
      <p:sp>
        <p:nvSpPr>
          <p:cNvPr id="20" name="Shape 18"/>
          <p:cNvSpPr/>
          <p:nvPr/>
        </p:nvSpPr>
        <p:spPr>
          <a:xfrm>
            <a:off x="4754880" y="3291840"/>
            <a:ext cx="548640" cy="548640"/>
          </a:xfrm>
          <a:prstGeom prst="ellipse">
            <a:avLst/>
          </a:prstGeom>
          <a:solidFill>
            <a:srgbClr val="C1121F"/>
          </a:solidFill>
          <a:ln/>
        </p:spPr>
      </p:sp>
      <p:sp>
        <p:nvSpPr>
          <p:cNvPr id="21" name="Text 19"/>
          <p:cNvSpPr/>
          <p:nvPr/>
        </p:nvSpPr>
        <p:spPr>
          <a:xfrm>
            <a:off x="4754880" y="32918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5486400" y="333756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112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意义落点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4754880" y="3931920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把故事和知识点的连接说清楚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8503920" y="4663440"/>
            <a:ext cx="457200" cy="320040"/>
          </a:xfrm>
          <a:prstGeom prst="ellipse">
            <a:avLst/>
          </a:prstGeom>
          <a:solidFill>
            <a:srgbClr val="C1121F"/>
          </a:solidFill>
          <a:ln/>
        </p:spPr>
      </p:sp>
      <p:sp>
        <p:nvSpPr>
          <p:cNvPr id="25" name="Text 23"/>
          <p:cNvSpPr/>
          <p:nvPr/>
        </p:nvSpPr>
        <p:spPr>
          <a:xfrm>
            <a:off x="8503920" y="466344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</a:t>
            </a:r>
            <a:endParaRPr lang="en-US" sz="12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EFA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C112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在四步基础上：扩展两步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2286000" cy="45720"/>
          </a:xfrm>
          <a:prstGeom prst="rect">
            <a:avLst/>
          </a:prstGeom>
          <a:solidFill>
            <a:srgbClr val="E29578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280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基础四步是最小可用单元，有时间可以加入：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1920240"/>
            <a:ext cx="1143000" cy="914400"/>
          </a:xfrm>
          <a:prstGeom prst="rect">
            <a:avLst/>
          </a:prstGeom>
          <a:solidFill>
            <a:srgbClr val="FDF0D5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2057400"/>
            <a:ext cx="1143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295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第1步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2377440"/>
            <a:ext cx="1143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时空锚定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1691640" y="1920240"/>
            <a:ext cx="1143000" cy="914400"/>
          </a:xfrm>
          <a:prstGeom prst="rect">
            <a:avLst/>
          </a:prstGeom>
          <a:solidFill>
            <a:srgbClr val="FDF0D5"/>
          </a:solidFill>
          <a:ln/>
        </p:spPr>
      </p:sp>
      <p:sp>
        <p:nvSpPr>
          <p:cNvPr id="9" name="Text 7"/>
          <p:cNvSpPr/>
          <p:nvPr/>
        </p:nvSpPr>
        <p:spPr>
          <a:xfrm>
            <a:off x="1691640" y="2057400"/>
            <a:ext cx="1143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295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第2步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691640" y="2377440"/>
            <a:ext cx="1143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张力触发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926080" y="1920240"/>
            <a:ext cx="1143000" cy="914400"/>
          </a:xfrm>
          <a:prstGeom prst="rect">
            <a:avLst/>
          </a:prstGeom>
          <a:solidFill>
            <a:srgbClr val="FDF0D5"/>
          </a:solidFill>
          <a:ln/>
        </p:spPr>
      </p:sp>
      <p:sp>
        <p:nvSpPr>
          <p:cNvPr id="12" name="Text 10"/>
          <p:cNvSpPr/>
          <p:nvPr/>
        </p:nvSpPr>
        <p:spPr>
          <a:xfrm>
            <a:off x="2926080" y="2057400"/>
            <a:ext cx="1143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295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第3步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926080" y="2377440"/>
            <a:ext cx="1143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行动转化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160520" y="1920240"/>
            <a:ext cx="1143000" cy="914400"/>
          </a:xfrm>
          <a:prstGeom prst="rect">
            <a:avLst/>
          </a:prstGeom>
          <a:solidFill>
            <a:srgbClr val="FDF0D5"/>
          </a:solidFill>
          <a:ln/>
        </p:spPr>
      </p:sp>
      <p:sp>
        <p:nvSpPr>
          <p:cNvPr id="15" name="Text 13"/>
          <p:cNvSpPr/>
          <p:nvPr/>
        </p:nvSpPr>
        <p:spPr>
          <a:xfrm>
            <a:off x="4160520" y="2057400"/>
            <a:ext cx="1143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295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第4步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160520" y="2377440"/>
            <a:ext cx="1143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意义落点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212080" y="2103120"/>
            <a:ext cx="365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C112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2800" dirty="0"/>
          </a:p>
        </p:txBody>
      </p:sp>
      <p:sp>
        <p:nvSpPr>
          <p:cNvPr id="18" name="Shape 16"/>
          <p:cNvSpPr/>
          <p:nvPr/>
        </p:nvSpPr>
        <p:spPr>
          <a:xfrm>
            <a:off x="5577840" y="1920240"/>
            <a:ext cx="1143000" cy="914400"/>
          </a:xfrm>
          <a:prstGeom prst="rect">
            <a:avLst/>
          </a:prstGeom>
          <a:solidFill>
            <a:srgbClr val="C1121F"/>
          </a:solidFill>
          <a:ln/>
        </p:spPr>
      </p:sp>
      <p:sp>
        <p:nvSpPr>
          <p:cNvPr id="19" name="Text 17"/>
          <p:cNvSpPr/>
          <p:nvPr/>
        </p:nvSpPr>
        <p:spPr>
          <a:xfrm>
            <a:off x="5577840" y="2057400"/>
            <a:ext cx="1143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295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第5步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577840" y="2377440"/>
            <a:ext cx="1143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感官细节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812280" y="1920240"/>
            <a:ext cx="1143000" cy="914400"/>
          </a:xfrm>
          <a:prstGeom prst="rect">
            <a:avLst/>
          </a:prstGeom>
          <a:solidFill>
            <a:srgbClr val="C1121F"/>
          </a:solidFill>
          <a:ln/>
        </p:spPr>
      </p:sp>
      <p:sp>
        <p:nvSpPr>
          <p:cNvPr id="22" name="Text 20"/>
          <p:cNvSpPr/>
          <p:nvPr/>
        </p:nvSpPr>
        <p:spPr>
          <a:xfrm>
            <a:off x="6812280" y="2057400"/>
            <a:ext cx="1143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295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第6步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812280" y="2377440"/>
            <a:ext cx="1143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情绪内心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577840" y="297180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295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↗ 有时间时增强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57200" y="3383280"/>
            <a:ext cx="8229600" cy="1097280"/>
          </a:xfrm>
          <a:prstGeom prst="rect">
            <a:avLst/>
          </a:prstGeom>
          <a:solidFill>
            <a:srgbClr val="FDF0D5"/>
          </a:solidFill>
          <a:ln/>
        </p:spPr>
      </p:sp>
      <p:sp>
        <p:nvSpPr>
          <p:cNvPr id="26" name="Text 24"/>
          <p:cNvSpPr/>
          <p:nvPr/>
        </p:nvSpPr>
        <p:spPr>
          <a:xfrm>
            <a:off x="640080" y="352044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112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💡 完整六步结构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40080" y="388620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时空锚定 → 感官细节 → 张力触发 → 情绪内心 → 行动转化 → 意义落点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8503920" y="4663440"/>
            <a:ext cx="457200" cy="457200"/>
          </a:xfrm>
          <a:prstGeom prst="ellipse">
            <a:avLst/>
          </a:prstGeom>
          <a:solidFill>
            <a:srgbClr val="C1121F"/>
          </a:solidFill>
          <a:ln/>
        </p:spPr>
      </p:sp>
      <p:sp>
        <p:nvSpPr>
          <p:cNvPr id="29" name="Text 27"/>
          <p:cNvSpPr/>
          <p:nvPr/>
        </p:nvSpPr>
        <p:spPr>
          <a:xfrm>
            <a:off x="8503920" y="46634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42</a:t>
            </a:r>
            <a:endParaRPr lang="en-US" sz="12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EFA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C112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完整故事示范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95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版本二故事 · 讲师示范素材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8229600" cy="3108960"/>
          </a:xfrm>
          <a:prstGeom prst="rect">
            <a:avLst/>
          </a:prstGeom>
          <a:solidFill>
            <a:srgbClr val="FDF0D5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371600"/>
            <a:ext cx="91440" cy="3108960"/>
          </a:xfrm>
          <a:prstGeom prst="rect">
            <a:avLst/>
          </a:prstGeom>
          <a:solidFill>
            <a:srgbClr val="C1121F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508760"/>
            <a:ext cx="768096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那是一个客服技能培训班，第二天下午。班里有个学员，坐在最后排靠窗的位置。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下午的组内练习开始了，其他人都在讨论，他的工作表放在面前，一个字没动过。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我走过去，在他旁边蹲下来，说了一句话……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他停了大概一秒钟，然后低头，开始写字。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我从那次之后开始想：参与感，很少是靠要求换来的——更多的时候，是靠找到那个只有他能回答的问题来的。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8503920" y="4663440"/>
            <a:ext cx="457200" cy="457200"/>
          </a:xfrm>
          <a:prstGeom prst="ellipse">
            <a:avLst/>
          </a:prstGeom>
          <a:solidFill>
            <a:srgbClr val="C1121F"/>
          </a:solidFill>
          <a:ln/>
        </p:spPr>
      </p:sp>
      <p:sp>
        <p:nvSpPr>
          <p:cNvPr id="8" name="Text 6"/>
          <p:cNvSpPr/>
          <p:nvPr/>
        </p:nvSpPr>
        <p:spPr>
          <a:xfrm>
            <a:off x="8503920" y="46634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46</a:t>
            </a:r>
            <a:endParaRPr lang="en-US" sz="12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EFA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C112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不同位置的故事，长度不一样</a:t>
            </a:r>
            <a:endParaRPr lang="en-US" sz="38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2286000" cy="45720"/>
          </a:xfrm>
          <a:prstGeom prst="rect">
            <a:avLst/>
          </a:prstGeom>
          <a:solidFill>
            <a:srgbClr val="E29578"/>
          </a:solidFill>
          <a:ln/>
        </p:spPr>
      </p:sp>
      <p:graphicFrame>
        <p:nvGraphicFramePr>
          <p:cNvPr id="3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8229600" cy="3200400"/>
        </p:xfrm>
        <a:graphic>
          <a:graphicData uri="http://schemas.openxmlformats.org/drawingml/2006/table">
            <a:tbl>
              <a:tblPr/>
              <a:tblGrid>
                <a:gridCol w="2926080"/>
                <a:gridCol w="2926080"/>
                <a:gridCol w="2377440"/>
              </a:tblGrid>
              <a:tr h="5334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故事位置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95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95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95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95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121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建议步骤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95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95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95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95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121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参考时长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95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95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95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95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121F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4A4E6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开场故事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95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95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95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95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0D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4A4E6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完整四步+感官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95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95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95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95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0D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C1121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2-4分钟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95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95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95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95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0D5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4A4E6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知识点引入前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95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95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95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95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4A4E6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前两步即可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95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95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95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95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C1121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1-2分钟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95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95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95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95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4A4E6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知识点强化后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95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95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95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95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0D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4A4E6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直接第三步到落点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95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95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95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95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0D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C1121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30秒-1分钟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95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95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95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95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0D5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4A4E6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章节过渡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95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95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95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95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4A4E6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第一步+简短第二步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95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95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95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95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C1121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30-60秒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95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95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95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95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4A4E6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收尾故事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95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95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95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95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0D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4A4E6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完整四步+感官+情绪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95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95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95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95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0D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C1121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2-3分钟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95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95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95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95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0D5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8503920" y="4663440"/>
            <a:ext cx="457200" cy="457200"/>
          </a:xfrm>
          <a:prstGeom prst="ellipse">
            <a:avLst/>
          </a:prstGeom>
          <a:solidFill>
            <a:srgbClr val="C1121F"/>
          </a:solidFill>
          <a:ln/>
        </p:spPr>
      </p:sp>
      <p:sp>
        <p:nvSpPr>
          <p:cNvPr id="6" name="Text 3"/>
          <p:cNvSpPr/>
          <p:nvPr/>
        </p:nvSpPr>
        <p:spPr>
          <a:xfrm>
            <a:off x="8503920" y="46634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47</a:t>
            </a:r>
            <a:endParaRPr lang="en-US" sz="12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EFA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C112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快速自检：三句话测试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2286000" cy="45720"/>
          </a:xfrm>
          <a:prstGeom prst="rect">
            <a:avLst/>
          </a:prstGeom>
          <a:solidFill>
            <a:srgbClr val="E29578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2344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在把故事写进课程之前，先试着用三句话说完它：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57200" y="1828800"/>
            <a:ext cx="2651760" cy="1188720"/>
          </a:xfrm>
          <a:prstGeom prst="rect">
            <a:avLst/>
          </a:prstGeom>
          <a:solidFill>
            <a:srgbClr val="FDF0D5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828800"/>
            <a:ext cx="457200" cy="457200"/>
          </a:xfrm>
          <a:prstGeom prst="ellipse">
            <a:avLst/>
          </a:prstGeom>
          <a:solidFill>
            <a:srgbClr val="C1121F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8288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05840" y="192024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112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第一句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94360" y="233172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发生了什么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（时空背景 + 张力）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91840" y="1828800"/>
            <a:ext cx="2651760" cy="1188720"/>
          </a:xfrm>
          <a:prstGeom prst="rect">
            <a:avLst/>
          </a:prstGeom>
          <a:solidFill>
            <a:srgbClr val="FDF0D5"/>
          </a:solidFill>
          <a:ln/>
        </p:spPr>
      </p:sp>
      <p:sp>
        <p:nvSpPr>
          <p:cNvPr id="11" name="Shape 9"/>
          <p:cNvSpPr/>
          <p:nvPr/>
        </p:nvSpPr>
        <p:spPr>
          <a:xfrm>
            <a:off x="3291840" y="1828800"/>
            <a:ext cx="457200" cy="457200"/>
          </a:xfrm>
          <a:prstGeom prst="ellipse">
            <a:avLst/>
          </a:prstGeom>
          <a:solidFill>
            <a:srgbClr val="C1121F"/>
          </a:solidFill>
          <a:ln/>
        </p:spPr>
      </p:sp>
      <p:sp>
        <p:nvSpPr>
          <p:cNvPr id="12" name="Text 10"/>
          <p:cNvSpPr/>
          <p:nvPr/>
        </p:nvSpPr>
        <p:spPr>
          <a:xfrm>
            <a:off x="3291840" y="18288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840480" y="192024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112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第二句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429000" y="233172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怎么应对的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（行动 + 转化）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126480" y="1828800"/>
            <a:ext cx="2651760" cy="1188720"/>
          </a:xfrm>
          <a:prstGeom prst="rect">
            <a:avLst/>
          </a:prstGeom>
          <a:solidFill>
            <a:srgbClr val="FDF0D5"/>
          </a:solidFill>
          <a:ln/>
        </p:spPr>
      </p:sp>
      <p:sp>
        <p:nvSpPr>
          <p:cNvPr id="16" name="Shape 14"/>
          <p:cNvSpPr/>
          <p:nvPr/>
        </p:nvSpPr>
        <p:spPr>
          <a:xfrm>
            <a:off x="6126480" y="1828800"/>
            <a:ext cx="457200" cy="457200"/>
          </a:xfrm>
          <a:prstGeom prst="ellipse">
            <a:avLst/>
          </a:prstGeom>
          <a:solidFill>
            <a:srgbClr val="C1121F"/>
          </a:solidFill>
          <a:ln/>
        </p:spPr>
      </p:sp>
      <p:sp>
        <p:nvSpPr>
          <p:cNvPr id="17" name="Text 15"/>
          <p:cNvSpPr/>
          <p:nvPr/>
        </p:nvSpPr>
        <p:spPr>
          <a:xfrm>
            <a:off x="6126480" y="18288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675120" y="192024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112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第三句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263640" y="233172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这说明什么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（落点）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57200" y="3291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95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📝 边讲边对照，看是否能完整呈现故事核心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8503920" y="4663440"/>
            <a:ext cx="457200" cy="457200"/>
          </a:xfrm>
          <a:prstGeom prst="ellipse">
            <a:avLst/>
          </a:prstGeom>
          <a:solidFill>
            <a:srgbClr val="C1121F"/>
          </a:solidFill>
          <a:ln/>
        </p:spPr>
      </p:sp>
      <p:sp>
        <p:nvSpPr>
          <p:cNvPr id="22" name="Text 20"/>
          <p:cNvSpPr/>
          <p:nvPr/>
        </p:nvSpPr>
        <p:spPr>
          <a:xfrm>
            <a:off x="8503920" y="46634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48</a:t>
            </a:r>
            <a:endParaRPr lang="en-US" sz="12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EFA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03920" y="4663440"/>
            <a:ext cx="457200" cy="320040"/>
          </a:xfrm>
          <a:prstGeom prst="ellipse">
            <a:avLst/>
          </a:prstGeom>
          <a:solidFill>
            <a:srgbClr val="C1121F"/>
          </a:solidFill>
          <a:ln/>
        </p:spPr>
      </p:sp>
      <p:sp>
        <p:nvSpPr>
          <p:cNvPr id="3" name="Text 1"/>
          <p:cNvSpPr/>
          <p:nvPr/>
        </p:nvSpPr>
        <p:spPr>
          <a:xfrm>
            <a:off x="8503920" y="466344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53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C112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练习C记录页 - 第三步：行动转化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有人做了什么？发生了什么变化？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8229600" cy="457200"/>
          </a:xfrm>
          <a:prstGeom prst="roundRect">
            <a:avLst>
              <a:gd name="adj" fmla="val 10000"/>
            </a:avLst>
          </a:prstGeom>
          <a:solidFill>
            <a:srgbClr val="FDF0D5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37160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填写区域：有人做了什么 / 发生了什么变化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201168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112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有人做了什么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2377440" y="2011680"/>
            <a:ext cx="585216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4A4E6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32004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112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发生了什么变化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2377440" y="3200400"/>
            <a:ext cx="585216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4A4E6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443484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95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提示：变化要可观察——别人能看到或听到的具体行为或结果</a:t>
            </a:r>
            <a:endParaRPr lang="en-US" sz="11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EFA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03920" y="4663440"/>
            <a:ext cx="457200" cy="320040"/>
          </a:xfrm>
          <a:prstGeom prst="ellipse">
            <a:avLst/>
          </a:prstGeom>
          <a:solidFill>
            <a:srgbClr val="C1121F"/>
          </a:solidFill>
          <a:ln/>
        </p:spPr>
      </p:sp>
      <p:sp>
        <p:nvSpPr>
          <p:cNvPr id="3" name="Text 1"/>
          <p:cNvSpPr/>
          <p:nvPr/>
        </p:nvSpPr>
        <p:spPr>
          <a:xfrm>
            <a:off x="8503920" y="466344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54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C112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练习C记录页 - 第四步：意义落点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这说明了什么？和知识点的关系是什么？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8229600" cy="457200"/>
          </a:xfrm>
          <a:prstGeom prst="roundRect">
            <a:avLst>
              <a:gd name="adj" fmla="val 10000"/>
            </a:avLst>
          </a:prstGeom>
          <a:solidFill>
            <a:srgbClr val="FDF0D5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37160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填写区域：这说明了什么 / 和知识点的关系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201168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112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这说明了什么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2377440" y="2011680"/>
            <a:ext cx="585216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4A4E6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32004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112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和知识点的关系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2377440" y="3200400"/>
            <a:ext cx="585216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4A4E6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443484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95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提示：落点要能一句话说清楚，让人听完知道你想讲什么道理</a:t>
            </a:r>
            <a:endParaRPr lang="en-US" sz="11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EFA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03920" y="4663440"/>
            <a:ext cx="457200" cy="320040"/>
          </a:xfrm>
          <a:prstGeom prst="ellipse">
            <a:avLst/>
          </a:prstGeom>
          <a:solidFill>
            <a:srgbClr val="C1121F"/>
          </a:solidFill>
          <a:ln/>
        </p:spPr>
      </p:sp>
      <p:sp>
        <p:nvSpPr>
          <p:cNvPr id="3" name="Text 1"/>
          <p:cNvSpPr/>
          <p:nvPr/>
        </p:nvSpPr>
        <p:spPr>
          <a:xfrm>
            <a:off x="8503920" y="466344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56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C112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练习C：三句话测试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用三句话概括故事核心，测试结构是否完整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463040"/>
            <a:ext cx="457200" cy="457200"/>
          </a:xfrm>
          <a:prstGeom prst="ellipse">
            <a:avLst/>
          </a:prstGeom>
          <a:solidFill>
            <a:srgbClr val="C1121F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4630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51560" y="146304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一句话完成时空+张力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297680" y="1463040"/>
            <a:ext cx="438912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4A4E6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297680" y="192024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95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时间、地点、那个'不对劲'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" y="2377440"/>
            <a:ext cx="457200" cy="457200"/>
          </a:xfrm>
          <a:prstGeom prst="ellipse">
            <a:avLst/>
          </a:prstGeom>
          <a:solidFill>
            <a:srgbClr val="C1121F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23774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051560" y="237744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一句话完成行动+转化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4297680" y="2377440"/>
            <a:ext cx="438912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4A4E6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297680" y="283464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95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有人做了什么、发生了什么变化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3291840"/>
            <a:ext cx="457200" cy="457200"/>
          </a:xfrm>
          <a:prstGeom prst="ellipse">
            <a:avLst/>
          </a:prstGeom>
          <a:solidFill>
            <a:srgbClr val="C1121F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32918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051560" y="329184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一句话完成落点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4297680" y="3291840"/>
            <a:ext cx="438912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4A4E6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297680" y="374904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95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这说明了什么道理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57200" y="4206240"/>
            <a:ext cx="3657600" cy="411480"/>
          </a:xfrm>
          <a:prstGeom prst="roundRect">
            <a:avLst>
              <a:gd name="adj" fmla="val 11111"/>
            </a:avLst>
          </a:prstGeom>
          <a:solidFill>
            <a:srgbClr val="FDF0D5"/>
          </a:solidFill>
          <a:ln/>
        </p:spPr>
      </p:sp>
      <p:sp>
        <p:nvSpPr>
          <p:cNvPr id="22" name="Text 20"/>
          <p:cNvSpPr/>
          <p:nvPr/>
        </p:nvSpPr>
        <p:spPr>
          <a:xfrm>
            <a:off x="640080" y="420624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□ 清楚    □ 需要调整</a:t>
            </a:r>
            <a:endParaRPr lang="en-US" sz="14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EFA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03920" y="4663440"/>
            <a:ext cx="457200" cy="320040"/>
          </a:xfrm>
          <a:prstGeom prst="ellipse">
            <a:avLst/>
          </a:prstGeom>
          <a:solidFill>
            <a:srgbClr val="C1121F"/>
          </a:solidFill>
          <a:ln/>
        </p:spPr>
      </p:sp>
      <p:sp>
        <p:nvSpPr>
          <p:cNvPr id="3" name="Text 1"/>
          <p:cNvSpPr/>
          <p:nvPr/>
        </p:nvSpPr>
        <p:spPr>
          <a:xfrm>
            <a:off x="8503920" y="466344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57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365760"/>
            <a:ext cx="640080" cy="640080"/>
          </a:xfrm>
          <a:prstGeom prst="ellipse">
            <a:avLst/>
          </a:prstGeom>
          <a:solidFill>
            <a:srgbClr val="E29578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3657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✋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1280160" y="41148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C112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练习D：两人互讲，互给反馈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457200" y="1188720"/>
            <a:ext cx="2286000" cy="411480"/>
          </a:xfrm>
          <a:prstGeom prst="roundRect">
            <a:avLst>
              <a:gd name="adj" fmla="val 22222"/>
            </a:avLst>
          </a:prstGeom>
          <a:solidFill>
            <a:srgbClr val="FDF0D5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18872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类型：交叉测试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200400" y="1188720"/>
            <a:ext cx="2286000" cy="411480"/>
          </a:xfrm>
          <a:prstGeom prst="roundRect">
            <a:avLst>
              <a:gd name="adj" fmla="val 22222"/>
            </a:avLst>
          </a:prstGeom>
          <a:solidFill>
            <a:srgbClr val="FDF0D5"/>
          </a:solidFill>
          <a:ln/>
        </p:spPr>
      </p:sp>
      <p:sp>
        <p:nvSpPr>
          <p:cNvPr id="10" name="Text 8"/>
          <p:cNvSpPr/>
          <p:nvPr/>
        </p:nvSpPr>
        <p:spPr>
          <a:xfrm>
            <a:off x="3200400" y="118872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用时：10分钟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1828800"/>
            <a:ext cx="8229600" cy="1097280"/>
          </a:xfrm>
          <a:prstGeom prst="roundRect">
            <a:avLst>
              <a:gd name="adj" fmla="val 8333"/>
            </a:avLst>
          </a:prstGeom>
          <a:solidFill>
            <a:srgbClr val="C1121F">
              <a:alpha val="90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192024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112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说明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40080" y="228600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两人一组，互讲故事草稿，用四个问题给反馈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57200" y="3200400"/>
            <a:ext cx="192024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4A4E6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188720" y="3337560"/>
            <a:ext cx="457200" cy="457200"/>
          </a:xfrm>
          <a:prstGeom prst="ellipse">
            <a:avLst/>
          </a:prstGeom>
          <a:solidFill>
            <a:srgbClr val="E29578"/>
          </a:solidFill>
          <a:ln/>
        </p:spPr>
      </p:sp>
      <p:sp>
        <p:nvSpPr>
          <p:cNvPr id="16" name="Text 14"/>
          <p:cNvSpPr/>
          <p:nvPr/>
        </p:nvSpPr>
        <p:spPr>
          <a:xfrm>
            <a:off x="1188720" y="33375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48640" y="388620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A讲，B听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2514600" y="3200400"/>
            <a:ext cx="192024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4A4E69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246120" y="3337560"/>
            <a:ext cx="457200" cy="457200"/>
          </a:xfrm>
          <a:prstGeom prst="ellipse">
            <a:avLst/>
          </a:prstGeom>
          <a:solidFill>
            <a:srgbClr val="E29578"/>
          </a:solidFill>
          <a:ln/>
        </p:spPr>
      </p:sp>
      <p:sp>
        <p:nvSpPr>
          <p:cNvPr id="20" name="Text 18"/>
          <p:cNvSpPr/>
          <p:nvPr/>
        </p:nvSpPr>
        <p:spPr>
          <a:xfrm>
            <a:off x="3246120" y="33375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2606040" y="388620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B给反馈（用四个问题）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572000" y="3200400"/>
            <a:ext cx="192024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4A4E69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303520" y="3337560"/>
            <a:ext cx="457200" cy="457200"/>
          </a:xfrm>
          <a:prstGeom prst="ellipse">
            <a:avLst/>
          </a:prstGeom>
          <a:solidFill>
            <a:srgbClr val="E29578"/>
          </a:solidFill>
          <a:ln/>
        </p:spPr>
      </p:sp>
      <p:sp>
        <p:nvSpPr>
          <p:cNvPr id="24" name="Text 22"/>
          <p:cNvSpPr/>
          <p:nvPr/>
        </p:nvSpPr>
        <p:spPr>
          <a:xfrm>
            <a:off x="5303520" y="33375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4663440" y="388620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B讲，A听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629400" y="3200400"/>
            <a:ext cx="192024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4A4E69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360920" y="3337560"/>
            <a:ext cx="457200" cy="457200"/>
          </a:xfrm>
          <a:prstGeom prst="ellipse">
            <a:avLst/>
          </a:prstGeom>
          <a:solidFill>
            <a:srgbClr val="E29578"/>
          </a:solidFill>
          <a:ln/>
        </p:spPr>
      </p:sp>
      <p:sp>
        <p:nvSpPr>
          <p:cNvPr id="28" name="Text 26"/>
          <p:cNvSpPr/>
          <p:nvPr/>
        </p:nvSpPr>
        <p:spPr>
          <a:xfrm>
            <a:off x="7360920" y="33375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6720840" y="388620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A给反馈（用四个问题）</a:t>
            </a:r>
            <a:endParaRPr lang="en-US" sz="12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EFA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03920" y="4663440"/>
            <a:ext cx="457200" cy="320040"/>
          </a:xfrm>
          <a:prstGeom prst="ellipse">
            <a:avLst/>
          </a:prstGeom>
          <a:solidFill>
            <a:srgbClr val="C1121F"/>
          </a:solidFill>
          <a:ln/>
        </p:spPr>
      </p:sp>
      <p:sp>
        <p:nvSpPr>
          <p:cNvPr id="3" name="Text 1"/>
          <p:cNvSpPr/>
          <p:nvPr/>
        </p:nvSpPr>
        <p:spPr>
          <a:xfrm>
            <a:off x="8503920" y="466344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59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C112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听完反馈之后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记录你要调整的地方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8229600" cy="457200"/>
          </a:xfrm>
          <a:prstGeom prst="roundRect">
            <a:avLst>
              <a:gd name="adj" fmla="val 10000"/>
            </a:avLst>
          </a:prstGeom>
          <a:solidFill>
            <a:srgbClr val="FDF0D5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37160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说明：听完同伴的反馈后，记录你想修改的地方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210312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我要修改第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1828800" y="2103120"/>
            <a:ext cx="73152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4A4E6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651760" y="210312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步，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200400" y="210312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调整方向是：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457200" y="2743200"/>
            <a:ext cx="822960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4A4E6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448056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95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提示：专注于1-2个最重要的调整，不必面面俱到</a:t>
            </a:r>
            <a:endParaRPr lang="en-US" sz="11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EFA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03920" y="4663440"/>
            <a:ext cx="457200" cy="320040"/>
          </a:xfrm>
          <a:prstGeom prst="ellipse">
            <a:avLst/>
          </a:prstGeom>
          <a:solidFill>
            <a:srgbClr val="C1121F"/>
          </a:solidFill>
          <a:ln/>
        </p:spPr>
      </p:sp>
      <p:sp>
        <p:nvSpPr>
          <p:cNvPr id="3" name="Text 1"/>
          <p:cNvSpPr/>
          <p:nvPr/>
        </p:nvSpPr>
        <p:spPr>
          <a:xfrm>
            <a:off x="8503920" y="466344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C112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第二章小结</a:t>
            </a:r>
            <a:endParaRPr lang="en-US" sz="44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2286000" cy="45720"/>
          </a:xfrm>
          <a:prstGeom prst="rect">
            <a:avLst/>
          </a:prstGeom>
          <a:solidFill>
            <a:srgbClr val="E29578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371600"/>
            <a:ext cx="8229600" cy="1828800"/>
          </a:xfrm>
          <a:prstGeom prst="roundRect">
            <a:avLst>
              <a:gd name="adj" fmla="val 5000"/>
            </a:avLst>
          </a:prstGeom>
          <a:solidFill>
            <a:srgbClr val="FDF0D5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55448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现在手上有了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196596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112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一个基本成型的故事草稿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4114800" y="2651760"/>
            <a:ext cx="365760" cy="365760"/>
          </a:xfrm>
          <a:prstGeom prst="ellipse">
            <a:avLst/>
          </a:prstGeom>
          <a:solidFill>
            <a:srgbClr val="E29578"/>
          </a:solidFill>
          <a:ln/>
        </p:spPr>
      </p:sp>
      <p:sp>
        <p:nvSpPr>
          <p:cNvPr id="10" name="Text 8"/>
          <p:cNvSpPr/>
          <p:nvPr/>
        </p:nvSpPr>
        <p:spPr>
          <a:xfrm>
            <a:off x="4114800" y="26517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457200" y="3474720"/>
            <a:ext cx="8229600" cy="914400"/>
          </a:xfrm>
          <a:prstGeom prst="roundRect">
            <a:avLst>
              <a:gd name="adj" fmla="val 10000"/>
            </a:avLst>
          </a:prstGeom>
          <a:solidFill>
            <a:srgbClr val="C1121F">
              <a:alpha val="90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361188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95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下一章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31520" y="3931920"/>
            <a:ext cx="7680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112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把这个故事放回到课程里去</a:t>
            </a:r>
            <a:endParaRPr lang="en-US" sz="20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C112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0" cy="5143500"/>
          </a:xfrm>
          <a:prstGeom prst="rect">
            <a:avLst/>
          </a:prstGeom>
          <a:solidFill>
            <a:srgbClr val="4A4E69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1645920"/>
            <a:ext cx="22860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600" b="1" dirty="0">
                <a:solidFill>
                  <a:srgbClr val="FDF0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9600" dirty="0"/>
          </a:p>
        </p:txBody>
      </p:sp>
      <p:sp>
        <p:nvSpPr>
          <p:cNvPr id="4" name="Text 2"/>
          <p:cNvSpPr/>
          <p:nvPr/>
        </p:nvSpPr>
        <p:spPr>
          <a:xfrm>
            <a:off x="0" y="301752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spc="400" kern="0" dirty="0">
                <a:solidFill>
                  <a:srgbClr val="FDF0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CHAPTER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2743200" y="1645920"/>
            <a:ext cx="5943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从课程倒推故事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2743200" y="2651760"/>
            <a:ext cx="5943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FDF0D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核心设计方法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2743200" y="3383280"/>
            <a:ext cx="2743200" cy="54864"/>
          </a:xfrm>
          <a:prstGeom prst="rect">
            <a:avLst/>
          </a:prstGeom>
          <a:solidFill>
            <a:srgbClr val="E29578"/>
          </a:solidFill>
          <a:ln/>
        </p:spPr>
      </p:sp>
      <p:sp>
        <p:nvSpPr>
          <p:cNvPr id="8" name="Shape 6"/>
          <p:cNvSpPr/>
          <p:nvPr/>
        </p:nvSpPr>
        <p:spPr>
          <a:xfrm>
            <a:off x="8503920" y="4663440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9" name="Text 7"/>
          <p:cNvSpPr/>
          <p:nvPr/>
        </p:nvSpPr>
        <p:spPr>
          <a:xfrm>
            <a:off x="8503920" y="46634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112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61</a:t>
            </a:r>
            <a:endParaRPr lang="en-US" sz="12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EFA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C112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一个思维方式的转变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1828800" cy="45720"/>
          </a:xfrm>
          <a:prstGeom prst="rect">
            <a:avLst/>
          </a:prstGeom>
          <a:solidFill>
            <a:srgbClr val="E29578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463040"/>
            <a:ext cx="3840480" cy="2377440"/>
          </a:xfrm>
          <a:prstGeom prst="rect">
            <a:avLst/>
          </a:prstGeom>
          <a:solidFill>
            <a:srgbClr val="FDF0D5"/>
          </a:solidFill>
          <a:ln w="12700">
            <a:solidFill>
              <a:srgbClr val="FDF0D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474720" y="16459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C112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640080" y="164592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295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大多数人走的路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219456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先有内容，再去找故事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40080" y="283464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112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（方向反了）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114800" y="228600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E295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3600" dirty="0"/>
          </a:p>
        </p:txBody>
      </p:sp>
      <p:sp>
        <p:nvSpPr>
          <p:cNvPr id="10" name="Shape 8"/>
          <p:cNvSpPr/>
          <p:nvPr/>
        </p:nvSpPr>
        <p:spPr>
          <a:xfrm>
            <a:off x="4846320" y="1463040"/>
            <a:ext cx="3840480" cy="2377440"/>
          </a:xfrm>
          <a:prstGeom prst="rect">
            <a:avLst/>
          </a:prstGeom>
          <a:solidFill>
            <a:srgbClr val="FDF0D5"/>
          </a:solidFill>
          <a:ln w="12700">
            <a:solidFill>
              <a:srgbClr val="FDF0D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863840" y="16459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5029200" y="164592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295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正确方向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029200" y="2194560"/>
            <a:ext cx="34747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先从课程内容出发，弄清楚这里需要一个什么功能的故事，再去找或建出这个故事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57200" y="4114800"/>
            <a:ext cx="8229600" cy="731520"/>
          </a:xfrm>
          <a:prstGeom prst="rect">
            <a:avLst/>
          </a:prstGeom>
          <a:solidFill>
            <a:srgbClr val="C1121F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41148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核心：从已有内容倒推，而非从故事出发凑内容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8503920" y="4663440"/>
            <a:ext cx="457200" cy="457200"/>
          </a:xfrm>
          <a:prstGeom prst="ellipse">
            <a:avLst/>
          </a:prstGeom>
          <a:solidFill>
            <a:srgbClr val="C1121F"/>
          </a:solidFill>
          <a:ln/>
        </p:spPr>
      </p:sp>
      <p:sp>
        <p:nvSpPr>
          <p:cNvPr id="17" name="Text 15"/>
          <p:cNvSpPr/>
          <p:nvPr/>
        </p:nvSpPr>
        <p:spPr>
          <a:xfrm>
            <a:off x="8503920" y="46634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62</a:t>
            </a:r>
            <a:endParaRPr lang="en-US" sz="12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EFA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C112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建筑师的逻辑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1828800" cy="45720"/>
          </a:xfrm>
          <a:prstGeom prst="rect">
            <a:avLst/>
          </a:prstGeom>
          <a:solidFill>
            <a:srgbClr val="E29578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371600"/>
            <a:ext cx="8229600" cy="2011680"/>
          </a:xfrm>
          <a:prstGeom prst="rect">
            <a:avLst/>
          </a:prstGeom>
          <a:solidFill>
            <a:srgbClr val="FDF0D5"/>
          </a:solidFill>
          <a:ln w="12700">
            <a:solidFill>
              <a:srgbClr val="FDF0D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645920"/>
            <a:ext cx="1645920" cy="1645920"/>
          </a:xfrm>
          <a:prstGeom prst="ellipse">
            <a:avLst/>
          </a:prstGeom>
          <a:solidFill>
            <a:srgbClr val="E29578">
              <a:alpha val="75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920240"/>
            <a:ext cx="16459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dirty="0">
                <a:solidFill>
                  <a:srgbClr val="000000"/>
                </a:solidFill>
              </a:rPr>
              <a:t>🏗️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2651760" y="155448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295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比喻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651760" y="1920240"/>
            <a:ext cx="5760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建筑师不是先造了房间，再出去找砖头来填——他先知道这个房间需要什么，然后选择最合适的材料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57200" y="3657600"/>
            <a:ext cx="8229600" cy="1097280"/>
          </a:xfrm>
          <a:prstGeom prst="rect">
            <a:avLst/>
          </a:prstGeom>
          <a:solidFill>
            <a:srgbClr val="C1121F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379476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DF0D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0080" y="416052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设计故事的正确方向是从已有内容倒推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8503920" y="4663440"/>
            <a:ext cx="457200" cy="457200"/>
          </a:xfrm>
          <a:prstGeom prst="ellipse">
            <a:avLst/>
          </a:prstGeom>
          <a:solidFill>
            <a:srgbClr val="C1121F"/>
          </a:solidFill>
          <a:ln/>
        </p:spPr>
      </p:sp>
      <p:sp>
        <p:nvSpPr>
          <p:cNvPr id="13" name="Text 11"/>
          <p:cNvSpPr/>
          <p:nvPr/>
        </p:nvSpPr>
        <p:spPr>
          <a:xfrm>
            <a:off x="8503920" y="46634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63</a:t>
            </a:r>
            <a:endParaRPr lang="en-US" sz="12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EFA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C112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信号一：概念过于抽象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1828800" cy="45720"/>
          </a:xfrm>
          <a:prstGeom prst="rect">
            <a:avLst/>
          </a:prstGeom>
          <a:solidFill>
            <a:srgbClr val="E29578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371600"/>
            <a:ext cx="640080" cy="640080"/>
          </a:xfrm>
          <a:prstGeom prst="ellipse">
            <a:avLst/>
          </a:prstGeom>
          <a:solidFill>
            <a:srgbClr val="E29578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3716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457200" y="2194560"/>
            <a:ext cx="2560320" cy="2286000"/>
          </a:xfrm>
          <a:prstGeom prst="rect">
            <a:avLst/>
          </a:prstGeom>
          <a:solidFill>
            <a:srgbClr val="FDF0D5"/>
          </a:solidFill>
          <a:ln w="12700">
            <a:solidFill>
              <a:srgbClr val="FDF0D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2194560"/>
            <a:ext cx="2560320" cy="457200"/>
          </a:xfrm>
          <a:prstGeom prst="rect">
            <a:avLst/>
          </a:prstGeom>
          <a:solidFill>
            <a:srgbClr val="4A4E69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219456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表现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94360" y="2743200"/>
            <a:ext cx="228600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这段内容全是定义、原则、框架，没有一个可以想象的场景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291840" y="2194560"/>
            <a:ext cx="2560320" cy="2286000"/>
          </a:xfrm>
          <a:prstGeom prst="rect">
            <a:avLst/>
          </a:prstGeom>
          <a:solidFill>
            <a:srgbClr val="FDF0D5"/>
          </a:solidFill>
          <a:ln w="12700">
            <a:solidFill>
              <a:srgbClr val="FDF0D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91840" y="2194560"/>
            <a:ext cx="2560320" cy="457200"/>
          </a:xfrm>
          <a:prstGeom prst="rect">
            <a:avLst/>
          </a:prstGeom>
          <a:solidFill>
            <a:srgbClr val="E29578"/>
          </a:solidFill>
          <a:ln/>
        </p:spPr>
      </p:sp>
      <p:sp>
        <p:nvSpPr>
          <p:cNvPr id="12" name="Text 10"/>
          <p:cNvSpPr/>
          <p:nvPr/>
        </p:nvSpPr>
        <p:spPr>
          <a:xfrm>
            <a:off x="3291840" y="219456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需要什么故事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429000" y="2743200"/>
            <a:ext cx="22860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类比隐喻型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或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案例型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126480" y="2194560"/>
            <a:ext cx="2560320" cy="2286000"/>
          </a:xfrm>
          <a:prstGeom prst="rect">
            <a:avLst/>
          </a:prstGeom>
          <a:solidFill>
            <a:srgbClr val="FDF0D5"/>
          </a:solidFill>
          <a:ln w="12700">
            <a:solidFill>
              <a:srgbClr val="FDF0D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126480" y="2194560"/>
            <a:ext cx="2560320" cy="457200"/>
          </a:xfrm>
          <a:prstGeom prst="rect">
            <a:avLst/>
          </a:prstGeom>
          <a:solidFill>
            <a:srgbClr val="C1121F"/>
          </a:solidFill>
          <a:ln/>
        </p:spPr>
      </p:sp>
      <p:sp>
        <p:nvSpPr>
          <p:cNvPr id="16" name="Text 14"/>
          <p:cNvSpPr/>
          <p:nvPr/>
        </p:nvSpPr>
        <p:spPr>
          <a:xfrm>
            <a:off x="6126480" y="219456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示例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263640" y="2743200"/>
            <a:ext cx="22860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心理安全感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8503920" y="4663440"/>
            <a:ext cx="457200" cy="457200"/>
          </a:xfrm>
          <a:prstGeom prst="ellipse">
            <a:avLst/>
          </a:prstGeom>
          <a:solidFill>
            <a:srgbClr val="C1121F"/>
          </a:solidFill>
          <a:ln/>
        </p:spPr>
      </p:sp>
      <p:sp>
        <p:nvSpPr>
          <p:cNvPr id="19" name="Text 17"/>
          <p:cNvSpPr/>
          <p:nvPr/>
        </p:nvSpPr>
        <p:spPr>
          <a:xfrm>
            <a:off x="8503920" y="46634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65</a:t>
            </a:r>
            <a:endParaRPr lang="en-US" sz="12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EFA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C112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信号二：错误高发区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1828800" cy="45720"/>
          </a:xfrm>
          <a:prstGeom prst="rect">
            <a:avLst/>
          </a:prstGeom>
          <a:solidFill>
            <a:srgbClr val="E29578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371600"/>
            <a:ext cx="640080" cy="640080"/>
          </a:xfrm>
          <a:prstGeom prst="ellipse">
            <a:avLst/>
          </a:prstGeom>
          <a:solidFill>
            <a:srgbClr val="E29578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3716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457200" y="2194560"/>
            <a:ext cx="2560320" cy="2286000"/>
          </a:xfrm>
          <a:prstGeom prst="rect">
            <a:avLst/>
          </a:prstGeom>
          <a:solidFill>
            <a:srgbClr val="FDF0D5"/>
          </a:solidFill>
          <a:ln w="12700">
            <a:solidFill>
              <a:srgbClr val="FDF0D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2194560"/>
            <a:ext cx="2560320" cy="457200"/>
          </a:xfrm>
          <a:prstGeom prst="rect">
            <a:avLst/>
          </a:prstGeom>
          <a:solidFill>
            <a:srgbClr val="4A4E69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219456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表现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94360" y="2743200"/>
            <a:ext cx="228600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学员在实际工作中反复犯的错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291840" y="2194560"/>
            <a:ext cx="2560320" cy="2286000"/>
          </a:xfrm>
          <a:prstGeom prst="rect">
            <a:avLst/>
          </a:prstGeom>
          <a:solidFill>
            <a:srgbClr val="FDF0D5"/>
          </a:solidFill>
          <a:ln w="12700">
            <a:solidFill>
              <a:srgbClr val="FDF0D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91840" y="2194560"/>
            <a:ext cx="2560320" cy="457200"/>
          </a:xfrm>
          <a:prstGeom prst="rect">
            <a:avLst/>
          </a:prstGeom>
          <a:solidFill>
            <a:srgbClr val="E29578"/>
          </a:solidFill>
          <a:ln/>
        </p:spPr>
      </p:sp>
      <p:sp>
        <p:nvSpPr>
          <p:cNvPr id="12" name="Text 10"/>
          <p:cNvSpPr/>
          <p:nvPr/>
        </p:nvSpPr>
        <p:spPr>
          <a:xfrm>
            <a:off x="3291840" y="219456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需要什么故事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429000" y="2743200"/>
            <a:ext cx="22860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反例型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126480" y="2194560"/>
            <a:ext cx="2560320" cy="2286000"/>
          </a:xfrm>
          <a:prstGeom prst="rect">
            <a:avLst/>
          </a:prstGeom>
          <a:solidFill>
            <a:srgbClr val="FDF0D5"/>
          </a:solidFill>
          <a:ln w="12700">
            <a:solidFill>
              <a:srgbClr val="FDF0D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126480" y="2194560"/>
            <a:ext cx="2560320" cy="457200"/>
          </a:xfrm>
          <a:prstGeom prst="rect">
            <a:avLst/>
          </a:prstGeom>
          <a:solidFill>
            <a:srgbClr val="C1121F"/>
          </a:solidFill>
          <a:ln/>
        </p:spPr>
      </p:sp>
      <p:sp>
        <p:nvSpPr>
          <p:cNvPr id="16" name="Text 14"/>
          <p:cNvSpPr/>
          <p:nvPr/>
        </p:nvSpPr>
        <p:spPr>
          <a:xfrm>
            <a:off x="6126480" y="219456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示例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263640" y="2743200"/>
            <a:ext cx="22860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布置任务时说清验收标准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7132320" y="1280160"/>
            <a:ext cx="1371600" cy="1371600"/>
          </a:xfrm>
          <a:prstGeom prst="ellipse">
            <a:avLst/>
          </a:prstGeom>
          <a:solidFill>
            <a:srgbClr val="E29578">
              <a:alpha val="75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7132320" y="1463040"/>
            <a:ext cx="1371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⚠️</a:t>
            </a:r>
            <a:endParaRPr lang="en-US" sz="3600" dirty="0"/>
          </a:p>
        </p:txBody>
      </p:sp>
      <p:sp>
        <p:nvSpPr>
          <p:cNvPr id="20" name="Shape 18"/>
          <p:cNvSpPr/>
          <p:nvPr/>
        </p:nvSpPr>
        <p:spPr>
          <a:xfrm>
            <a:off x="8503920" y="4663440"/>
            <a:ext cx="457200" cy="457200"/>
          </a:xfrm>
          <a:prstGeom prst="ellipse">
            <a:avLst/>
          </a:prstGeom>
          <a:solidFill>
            <a:srgbClr val="C1121F"/>
          </a:solidFill>
          <a:ln/>
        </p:spPr>
      </p:sp>
      <p:sp>
        <p:nvSpPr>
          <p:cNvPr id="21" name="Text 19"/>
          <p:cNvSpPr/>
          <p:nvPr/>
        </p:nvSpPr>
        <p:spPr>
          <a:xfrm>
            <a:off x="8503920" y="46634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66</a:t>
            </a:r>
            <a:endParaRPr lang="en-US" sz="12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EFA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C112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信号三：动机薄弱区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1828800" cy="45720"/>
          </a:xfrm>
          <a:prstGeom prst="rect">
            <a:avLst/>
          </a:prstGeom>
          <a:solidFill>
            <a:srgbClr val="E29578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371600"/>
            <a:ext cx="640080" cy="640080"/>
          </a:xfrm>
          <a:prstGeom prst="ellipse">
            <a:avLst/>
          </a:prstGeom>
          <a:solidFill>
            <a:srgbClr val="E29578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3716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457200" y="2194560"/>
            <a:ext cx="2560320" cy="2286000"/>
          </a:xfrm>
          <a:prstGeom prst="rect">
            <a:avLst/>
          </a:prstGeom>
          <a:solidFill>
            <a:srgbClr val="FDF0D5"/>
          </a:solidFill>
          <a:ln w="12700">
            <a:solidFill>
              <a:srgbClr val="FDF0D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2194560"/>
            <a:ext cx="2560320" cy="457200"/>
          </a:xfrm>
          <a:prstGeom prst="rect">
            <a:avLst/>
          </a:prstGeom>
          <a:solidFill>
            <a:srgbClr val="4A4E69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219456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表现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94360" y="2743200"/>
            <a:ext cx="228600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学员知道但不做，通常不是能力问题，是动机问题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291840" y="2194560"/>
            <a:ext cx="2560320" cy="2286000"/>
          </a:xfrm>
          <a:prstGeom prst="rect">
            <a:avLst/>
          </a:prstGeom>
          <a:solidFill>
            <a:srgbClr val="FDF0D5"/>
          </a:solidFill>
          <a:ln w="12700">
            <a:solidFill>
              <a:srgbClr val="FDF0D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91840" y="2194560"/>
            <a:ext cx="2560320" cy="457200"/>
          </a:xfrm>
          <a:prstGeom prst="rect">
            <a:avLst/>
          </a:prstGeom>
          <a:solidFill>
            <a:srgbClr val="E29578"/>
          </a:solidFill>
          <a:ln/>
        </p:spPr>
      </p:sp>
      <p:sp>
        <p:nvSpPr>
          <p:cNvPr id="12" name="Text 10"/>
          <p:cNvSpPr/>
          <p:nvPr/>
        </p:nvSpPr>
        <p:spPr>
          <a:xfrm>
            <a:off x="3291840" y="219456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需要什么故事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429000" y="2743200"/>
            <a:ext cx="22860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正例型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或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未来投射型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126480" y="2194560"/>
            <a:ext cx="2560320" cy="2286000"/>
          </a:xfrm>
          <a:prstGeom prst="rect">
            <a:avLst/>
          </a:prstGeom>
          <a:solidFill>
            <a:srgbClr val="FDF0D5"/>
          </a:solidFill>
          <a:ln w="12700">
            <a:solidFill>
              <a:srgbClr val="FDF0D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126480" y="2194560"/>
            <a:ext cx="2560320" cy="457200"/>
          </a:xfrm>
          <a:prstGeom prst="rect">
            <a:avLst/>
          </a:prstGeom>
          <a:solidFill>
            <a:srgbClr val="C1121F"/>
          </a:solidFill>
          <a:ln/>
        </p:spPr>
      </p:sp>
      <p:sp>
        <p:nvSpPr>
          <p:cNvPr id="16" name="Text 14"/>
          <p:cNvSpPr/>
          <p:nvPr/>
        </p:nvSpPr>
        <p:spPr>
          <a:xfrm>
            <a:off x="6126480" y="219456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示例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263640" y="2743200"/>
            <a:ext cx="22860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每周一对一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7132320" y="1280160"/>
            <a:ext cx="1371600" cy="1371600"/>
          </a:xfrm>
          <a:prstGeom prst="ellipse">
            <a:avLst/>
          </a:prstGeom>
          <a:solidFill>
            <a:srgbClr val="E29578">
              <a:alpha val="75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7132320" y="1463040"/>
            <a:ext cx="1371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💪</a:t>
            </a:r>
            <a:endParaRPr lang="en-US" sz="3600" dirty="0"/>
          </a:p>
        </p:txBody>
      </p:sp>
      <p:sp>
        <p:nvSpPr>
          <p:cNvPr id="20" name="Shape 18"/>
          <p:cNvSpPr/>
          <p:nvPr/>
        </p:nvSpPr>
        <p:spPr>
          <a:xfrm>
            <a:off x="8503920" y="4663440"/>
            <a:ext cx="457200" cy="457200"/>
          </a:xfrm>
          <a:prstGeom prst="ellipse">
            <a:avLst/>
          </a:prstGeom>
          <a:solidFill>
            <a:srgbClr val="C1121F"/>
          </a:solidFill>
          <a:ln/>
        </p:spPr>
      </p:sp>
      <p:sp>
        <p:nvSpPr>
          <p:cNvPr id="21" name="Text 19"/>
          <p:cNvSpPr/>
          <p:nvPr/>
        </p:nvSpPr>
        <p:spPr>
          <a:xfrm>
            <a:off x="8503920" y="46634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67</a:t>
            </a:r>
            <a:endParaRPr lang="en-US" sz="12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FEFA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C112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信号五：开场或收尾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1828800" cy="45720"/>
          </a:xfrm>
          <a:prstGeom prst="rect">
            <a:avLst/>
          </a:prstGeom>
          <a:solidFill>
            <a:srgbClr val="E29578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371600"/>
            <a:ext cx="640080" cy="640080"/>
          </a:xfrm>
          <a:prstGeom prst="ellipse">
            <a:avLst/>
          </a:prstGeom>
          <a:solidFill>
            <a:srgbClr val="E29578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3716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457200" y="2194560"/>
            <a:ext cx="3840480" cy="2560320"/>
          </a:xfrm>
          <a:prstGeom prst="rect">
            <a:avLst/>
          </a:prstGeom>
          <a:solidFill>
            <a:srgbClr val="FDF0D5"/>
          </a:solidFill>
          <a:ln w="12700">
            <a:solidFill>
              <a:srgbClr val="FDF0D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2194560"/>
            <a:ext cx="3840480" cy="548640"/>
          </a:xfrm>
          <a:prstGeom prst="rect">
            <a:avLst/>
          </a:prstGeom>
          <a:solidFill>
            <a:srgbClr val="C1121F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2194560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开场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31520" y="292608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295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用途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31520" y="329184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整体课程节奏的需求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31520" y="37490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295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推荐类型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31520" y="4114800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悬念型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或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痛点共鸣型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846320" y="2194560"/>
            <a:ext cx="3840480" cy="2560320"/>
          </a:xfrm>
          <a:prstGeom prst="rect">
            <a:avLst/>
          </a:prstGeom>
          <a:solidFill>
            <a:srgbClr val="FDF0D5"/>
          </a:solidFill>
          <a:ln w="12700">
            <a:solidFill>
              <a:srgbClr val="FDF0D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846320" y="2194560"/>
            <a:ext cx="3840480" cy="548640"/>
          </a:xfrm>
          <a:prstGeom prst="rect">
            <a:avLst/>
          </a:prstGeom>
          <a:solidFill>
            <a:srgbClr val="E29578"/>
          </a:solidFill>
          <a:ln/>
        </p:spPr>
      </p:sp>
      <p:sp>
        <p:nvSpPr>
          <p:cNvPr id="15" name="Text 13"/>
          <p:cNvSpPr/>
          <p:nvPr/>
        </p:nvSpPr>
        <p:spPr>
          <a:xfrm>
            <a:off x="4846320" y="2194560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收尾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5120640" y="292608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295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用途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120640" y="329184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整体课程节奏的需求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120640" y="37490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295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推荐类型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120640" y="4114800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情感型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或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未来投射型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8503920" y="4663440"/>
            <a:ext cx="457200" cy="457200"/>
          </a:xfrm>
          <a:prstGeom prst="ellipse">
            <a:avLst/>
          </a:prstGeom>
          <a:solidFill>
            <a:srgbClr val="C1121F"/>
          </a:solidFill>
          <a:ln/>
        </p:spPr>
      </p:sp>
      <p:sp>
        <p:nvSpPr>
          <p:cNvPr id="21" name="Text 19"/>
          <p:cNvSpPr/>
          <p:nvPr/>
        </p:nvSpPr>
        <p:spPr>
          <a:xfrm>
            <a:off x="8503920" y="46634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69</a:t>
            </a:r>
            <a:endParaRPr lang="en-US" sz="12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FEFA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C112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✋ 练习E：识别你课程模块里的故事点位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1828800" cy="45720"/>
          </a:xfrm>
          <a:prstGeom prst="rect">
            <a:avLst/>
          </a:prstGeom>
          <a:solidFill>
            <a:srgbClr val="E29578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371600"/>
            <a:ext cx="2011680" cy="457200"/>
          </a:xfrm>
          <a:prstGeom prst="rect">
            <a:avLst/>
          </a:prstGeom>
          <a:solidFill>
            <a:srgbClr val="4A4E69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37160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类型：识别型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651760" y="1371600"/>
            <a:ext cx="1645920" cy="457200"/>
          </a:xfrm>
          <a:prstGeom prst="rect">
            <a:avLst/>
          </a:prstGeom>
          <a:solidFill>
            <a:srgbClr val="4A4E69"/>
          </a:solidFill>
          <a:ln/>
        </p:spPr>
      </p:sp>
      <p:sp>
        <p:nvSpPr>
          <p:cNvPr id="7" name="Text 5"/>
          <p:cNvSpPr/>
          <p:nvPr/>
        </p:nvSpPr>
        <p:spPr>
          <a:xfrm>
            <a:off x="2651760" y="137160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用时：8分钟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2103120"/>
            <a:ext cx="8229600" cy="2377440"/>
          </a:xfrm>
          <a:prstGeom prst="rect">
            <a:avLst/>
          </a:prstGeom>
          <a:solidFill>
            <a:srgbClr val="FDF0D5"/>
          </a:solidFill>
          <a:ln w="12700">
            <a:solidFill>
              <a:srgbClr val="FDF0D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228600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112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用五问表评估故事需求信号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914400" y="283464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☐  信号一：概念过于抽象？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914400" y="3182112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☐  信号二：错误高发区？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914400" y="3529584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☐  信号三：动机薄弱区？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914400" y="3877056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☐  信号四：章节转折点？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914400" y="4224528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☐  信号五：开场或收尾？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029200" y="2834640"/>
            <a:ext cx="34747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95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提示：每个模块都问自己这五个问题，标记需要故事的位置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8503920" y="4663440"/>
            <a:ext cx="457200" cy="457200"/>
          </a:xfrm>
          <a:prstGeom prst="ellipse">
            <a:avLst/>
          </a:prstGeom>
          <a:solidFill>
            <a:srgbClr val="C1121F"/>
          </a:solidFill>
          <a:ln/>
        </p:spPr>
      </p:sp>
      <p:sp>
        <p:nvSpPr>
          <p:cNvPr id="17" name="Text 15"/>
          <p:cNvSpPr/>
          <p:nvPr/>
        </p:nvSpPr>
        <p:spPr>
          <a:xfrm>
            <a:off x="8503920" y="46634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70</a:t>
            </a:r>
            <a:endParaRPr lang="en-US" sz="120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FEFA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C112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练习E：记录你的故事点位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1828800" cy="45720"/>
          </a:xfrm>
          <a:prstGeom prst="rect">
            <a:avLst/>
          </a:prstGeom>
          <a:solidFill>
            <a:srgbClr val="E29578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295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五信号检查表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5087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☐  信号一：概念过于抽象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18288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☐  信号二：错误高发区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21488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☐  信号三：动机薄弱区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24688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☐  信号四：章节转折点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27889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☐  信号五：开场或收尾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3200400"/>
            <a:ext cx="3931920" cy="1554480"/>
          </a:xfrm>
          <a:prstGeom prst="rect">
            <a:avLst/>
          </a:prstGeom>
          <a:solidFill>
            <a:srgbClr val="FDF0D5"/>
          </a:solidFill>
          <a:ln w="12700">
            <a:solidFill>
              <a:srgbClr val="FDF0D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329184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112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最想处理的故事点位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40080" y="3749040"/>
            <a:ext cx="3566160" cy="18288"/>
          </a:xfrm>
          <a:prstGeom prst="rect">
            <a:avLst/>
          </a:prstGeom>
          <a:solidFill>
            <a:srgbClr val="4A4E69">
              <a:alpha val="40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640080" y="4069080"/>
            <a:ext cx="3566160" cy="18288"/>
          </a:xfrm>
          <a:prstGeom prst="rect">
            <a:avLst/>
          </a:prstGeom>
          <a:solidFill>
            <a:srgbClr val="4A4E69">
              <a:alpha val="40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640080" y="4389120"/>
            <a:ext cx="3566160" cy="18288"/>
          </a:xfrm>
          <a:prstGeom prst="rect">
            <a:avLst/>
          </a:prstGeom>
          <a:solidFill>
            <a:srgbClr val="4A4E69">
              <a:alpha val="40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4663440" y="3200400"/>
            <a:ext cx="4023360" cy="1554480"/>
          </a:xfrm>
          <a:prstGeom prst="rect">
            <a:avLst/>
          </a:prstGeom>
          <a:solidFill>
            <a:srgbClr val="FDF0D5"/>
          </a:solidFill>
          <a:ln w="12700">
            <a:solidFill>
              <a:srgbClr val="FDF0D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46320" y="32918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112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原因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846320" y="3749040"/>
            <a:ext cx="3657600" cy="18288"/>
          </a:xfrm>
          <a:prstGeom prst="rect">
            <a:avLst/>
          </a:prstGeom>
          <a:solidFill>
            <a:srgbClr val="4A4E69">
              <a:alpha val="40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4846320" y="4069080"/>
            <a:ext cx="3657600" cy="18288"/>
          </a:xfrm>
          <a:prstGeom prst="rect">
            <a:avLst/>
          </a:prstGeom>
          <a:solidFill>
            <a:srgbClr val="4A4E69">
              <a:alpha val="40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4846320" y="4389120"/>
            <a:ext cx="3657600" cy="18288"/>
          </a:xfrm>
          <a:prstGeom prst="rect">
            <a:avLst/>
          </a:prstGeom>
          <a:solidFill>
            <a:srgbClr val="4A4E69">
              <a:alpha val="40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457200" y="1097280"/>
            <a:ext cx="91440" cy="1828800"/>
          </a:xfrm>
          <a:prstGeom prst="rect">
            <a:avLst/>
          </a:prstGeom>
          <a:solidFill>
            <a:srgbClr val="E29578"/>
          </a:solidFill>
          <a:ln/>
        </p:spPr>
      </p:sp>
      <p:sp>
        <p:nvSpPr>
          <p:cNvPr id="21" name="Shape 19"/>
          <p:cNvSpPr/>
          <p:nvPr/>
        </p:nvSpPr>
        <p:spPr>
          <a:xfrm>
            <a:off x="8503920" y="4663440"/>
            <a:ext cx="457200" cy="457200"/>
          </a:xfrm>
          <a:prstGeom prst="ellipse">
            <a:avLst/>
          </a:prstGeom>
          <a:solidFill>
            <a:srgbClr val="C1121F"/>
          </a:solidFill>
          <a:ln/>
        </p:spPr>
      </p:sp>
      <p:sp>
        <p:nvSpPr>
          <p:cNvPr id="22" name="Text 20"/>
          <p:cNvSpPr/>
          <p:nvPr/>
        </p:nvSpPr>
        <p:spPr>
          <a:xfrm>
            <a:off x="8503920" y="46634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71</a:t>
            </a:r>
            <a:endParaRPr lang="en-US" sz="120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FEFA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C112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五步倒推法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从知识点反向设计故事的完整流程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1828800" cy="45720"/>
          </a:xfrm>
          <a:prstGeom prst="rect">
            <a:avLst/>
          </a:prstGeom>
          <a:solidFill>
            <a:srgbClr val="E29578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828800"/>
            <a:ext cx="1554480" cy="2377440"/>
          </a:xfrm>
          <a:prstGeom prst="rect">
            <a:avLst/>
          </a:prstGeom>
          <a:solidFill>
            <a:srgbClr val="FDF0D5"/>
          </a:solidFill>
          <a:ln w="12700">
            <a:solidFill>
              <a:srgbClr val="FDF0D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60120" y="2011680"/>
            <a:ext cx="548640" cy="548640"/>
          </a:xfrm>
          <a:prstGeom prst="ellipse">
            <a:avLst/>
          </a:prstGeom>
          <a:solidFill>
            <a:srgbClr val="E29578"/>
          </a:solidFill>
          <a:ln/>
        </p:spPr>
      </p:sp>
      <p:sp>
        <p:nvSpPr>
          <p:cNvPr id="7" name="Text 5"/>
          <p:cNvSpPr/>
          <p:nvPr/>
        </p:nvSpPr>
        <p:spPr>
          <a:xfrm>
            <a:off x="960120" y="20116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548640" y="2743200"/>
            <a:ext cx="1371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找到知识点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的核心行为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2011680" y="2743200"/>
            <a:ext cx="228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E295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2148840" y="1828800"/>
            <a:ext cx="1554480" cy="2377440"/>
          </a:xfrm>
          <a:prstGeom prst="rect">
            <a:avLst/>
          </a:prstGeom>
          <a:solidFill>
            <a:srgbClr val="FDF0D5"/>
          </a:solidFill>
          <a:ln w="12700">
            <a:solidFill>
              <a:srgbClr val="FDF0D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651760" y="2011680"/>
            <a:ext cx="548640" cy="548640"/>
          </a:xfrm>
          <a:prstGeom prst="ellipse">
            <a:avLst/>
          </a:prstGeom>
          <a:solidFill>
            <a:srgbClr val="E29578"/>
          </a:solidFill>
          <a:ln/>
        </p:spPr>
      </p:sp>
      <p:sp>
        <p:nvSpPr>
          <p:cNvPr id="12" name="Text 10"/>
          <p:cNvSpPr/>
          <p:nvPr/>
        </p:nvSpPr>
        <p:spPr>
          <a:xfrm>
            <a:off x="2651760" y="20116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2240280" y="2743200"/>
            <a:ext cx="1371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找到典型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失败场景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703320" y="2743200"/>
            <a:ext cx="228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E295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3840480" y="1828800"/>
            <a:ext cx="1554480" cy="2377440"/>
          </a:xfrm>
          <a:prstGeom prst="rect">
            <a:avLst/>
          </a:prstGeom>
          <a:solidFill>
            <a:srgbClr val="FDF0D5"/>
          </a:solidFill>
          <a:ln w="12700">
            <a:solidFill>
              <a:srgbClr val="FDF0D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343400" y="2011680"/>
            <a:ext cx="548640" cy="548640"/>
          </a:xfrm>
          <a:prstGeom prst="ellipse">
            <a:avLst/>
          </a:prstGeom>
          <a:solidFill>
            <a:srgbClr val="E29578"/>
          </a:solidFill>
          <a:ln/>
        </p:spPr>
      </p:sp>
      <p:sp>
        <p:nvSpPr>
          <p:cNvPr id="17" name="Text 15"/>
          <p:cNvSpPr/>
          <p:nvPr/>
        </p:nvSpPr>
        <p:spPr>
          <a:xfrm>
            <a:off x="4343400" y="20116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3931920" y="2743200"/>
            <a:ext cx="1371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找到典型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成功场景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394960" y="2743200"/>
            <a:ext cx="228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E295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5532120" y="1828800"/>
            <a:ext cx="1554480" cy="2377440"/>
          </a:xfrm>
          <a:prstGeom prst="rect">
            <a:avLst/>
          </a:prstGeom>
          <a:solidFill>
            <a:srgbClr val="FDF0D5"/>
          </a:solidFill>
          <a:ln w="12700">
            <a:solidFill>
              <a:srgbClr val="FDF0D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035040" y="2011680"/>
            <a:ext cx="548640" cy="548640"/>
          </a:xfrm>
          <a:prstGeom prst="ellipse">
            <a:avLst/>
          </a:prstGeom>
          <a:solidFill>
            <a:srgbClr val="E29578"/>
          </a:solidFill>
          <a:ln/>
        </p:spPr>
      </p:sp>
      <p:sp>
        <p:nvSpPr>
          <p:cNvPr id="22" name="Text 20"/>
          <p:cNvSpPr/>
          <p:nvPr/>
        </p:nvSpPr>
        <p:spPr>
          <a:xfrm>
            <a:off x="6035040" y="20116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5623560" y="2743200"/>
            <a:ext cx="1371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决定用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哪个场景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7086600" y="2743200"/>
            <a:ext cx="228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E295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25" name="Shape 23"/>
          <p:cNvSpPr/>
          <p:nvPr/>
        </p:nvSpPr>
        <p:spPr>
          <a:xfrm>
            <a:off x="7223760" y="1828800"/>
            <a:ext cx="1554480" cy="2377440"/>
          </a:xfrm>
          <a:prstGeom prst="rect">
            <a:avLst/>
          </a:prstGeom>
          <a:solidFill>
            <a:srgbClr val="FDF0D5"/>
          </a:solidFill>
          <a:ln w="12700">
            <a:solidFill>
              <a:srgbClr val="FDF0D5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726680" y="2011680"/>
            <a:ext cx="548640" cy="548640"/>
          </a:xfrm>
          <a:prstGeom prst="ellipse">
            <a:avLst/>
          </a:prstGeom>
          <a:solidFill>
            <a:srgbClr val="E29578"/>
          </a:solidFill>
          <a:ln/>
        </p:spPr>
      </p:sp>
      <p:sp>
        <p:nvSpPr>
          <p:cNvPr id="27" name="Text 25"/>
          <p:cNvSpPr/>
          <p:nvPr/>
        </p:nvSpPr>
        <p:spPr>
          <a:xfrm>
            <a:off x="7726680" y="20116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7315200" y="2743200"/>
            <a:ext cx="1371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套入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四步结构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457200" y="4434840"/>
            <a:ext cx="8229600" cy="457200"/>
          </a:xfrm>
          <a:prstGeom prst="rect">
            <a:avLst/>
          </a:prstGeom>
          <a:solidFill>
            <a:srgbClr val="C1121F"/>
          </a:solidFill>
          <a:ln/>
        </p:spPr>
      </p:sp>
      <p:sp>
        <p:nvSpPr>
          <p:cNvPr id="30" name="Text 28"/>
          <p:cNvSpPr/>
          <p:nvPr/>
        </p:nvSpPr>
        <p:spPr>
          <a:xfrm>
            <a:off x="457200" y="44348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四步结构：起、承、转、合（故事弧线）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8503920" y="4663440"/>
            <a:ext cx="457200" cy="457200"/>
          </a:xfrm>
          <a:prstGeom prst="ellipse">
            <a:avLst/>
          </a:prstGeom>
          <a:solidFill>
            <a:srgbClr val="C1121F"/>
          </a:solidFill>
          <a:ln/>
        </p:spPr>
      </p:sp>
      <p:sp>
        <p:nvSpPr>
          <p:cNvPr id="32" name="Text 30"/>
          <p:cNvSpPr/>
          <p:nvPr/>
        </p:nvSpPr>
        <p:spPr>
          <a:xfrm>
            <a:off x="8503920" y="46634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72</a:t>
            </a:r>
            <a:endParaRPr lang="en-US" sz="120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FEFA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C112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第五步：把选定场景套入四步结构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1371600" cy="36576"/>
          </a:xfrm>
          <a:prstGeom prst="rect">
            <a:avLst/>
          </a:prstGeom>
          <a:solidFill>
            <a:srgbClr val="E29578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1280160"/>
            <a:ext cx="7680960" cy="1463040"/>
          </a:xfrm>
          <a:prstGeom prst="roundRect">
            <a:avLst>
              <a:gd name="adj" fmla="val 9375"/>
            </a:avLst>
          </a:prstGeom>
          <a:solidFill>
            <a:srgbClr val="FDF0D5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46304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112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回到四步结构，把选定场景按四步写成故事草稿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914400" y="2194560"/>
            <a:ext cx="1828800" cy="411480"/>
          </a:xfrm>
          <a:prstGeom prst="roundRect">
            <a:avLst>
              <a:gd name="adj" fmla="val 17778"/>
            </a:avLst>
          </a:prstGeom>
          <a:solidFill>
            <a:srgbClr val="C1121F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19456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第一步：时空锚定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834640" y="2194560"/>
            <a:ext cx="1828800" cy="411480"/>
          </a:xfrm>
          <a:prstGeom prst="roundRect">
            <a:avLst>
              <a:gd name="adj" fmla="val 17778"/>
            </a:avLst>
          </a:prstGeom>
          <a:solidFill>
            <a:srgbClr val="C1121F"/>
          </a:solidFill>
          <a:ln/>
        </p:spPr>
      </p:sp>
      <p:sp>
        <p:nvSpPr>
          <p:cNvPr id="9" name="Text 7"/>
          <p:cNvSpPr/>
          <p:nvPr/>
        </p:nvSpPr>
        <p:spPr>
          <a:xfrm>
            <a:off x="2834640" y="219456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第二步：张力触发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754880" y="2194560"/>
            <a:ext cx="1828800" cy="411480"/>
          </a:xfrm>
          <a:prstGeom prst="roundRect">
            <a:avLst>
              <a:gd name="adj" fmla="val 17778"/>
            </a:avLst>
          </a:prstGeom>
          <a:solidFill>
            <a:srgbClr val="C1121F"/>
          </a:solidFill>
          <a:ln/>
        </p:spPr>
      </p:sp>
      <p:sp>
        <p:nvSpPr>
          <p:cNvPr id="11" name="Text 9"/>
          <p:cNvSpPr/>
          <p:nvPr/>
        </p:nvSpPr>
        <p:spPr>
          <a:xfrm>
            <a:off x="4754880" y="219456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第三步：行动转化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675120" y="2194560"/>
            <a:ext cx="1828800" cy="411480"/>
          </a:xfrm>
          <a:prstGeom prst="roundRect">
            <a:avLst>
              <a:gd name="adj" fmla="val 17778"/>
            </a:avLst>
          </a:prstGeom>
          <a:solidFill>
            <a:srgbClr val="C1121F"/>
          </a:solidFill>
          <a:ln/>
        </p:spPr>
      </p:sp>
      <p:sp>
        <p:nvSpPr>
          <p:cNvPr id="13" name="Text 11"/>
          <p:cNvSpPr/>
          <p:nvPr/>
        </p:nvSpPr>
        <p:spPr>
          <a:xfrm>
            <a:off x="6675120" y="219456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第四步：意义落点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31520" y="3017520"/>
            <a:ext cx="768096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25400">
            <a:solidFill>
              <a:srgbClr val="E2957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14400" y="3246120"/>
            <a:ext cx="457200" cy="457200"/>
          </a:xfrm>
          <a:prstGeom prst="ellipse">
            <a:avLst/>
          </a:prstGeom>
          <a:solidFill>
            <a:srgbClr val="E29578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32461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?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554480" y="3017520"/>
            <a:ext cx="6583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112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你的草稿是否呈现了选定场景？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8503920" y="4663440"/>
            <a:ext cx="457200" cy="320040"/>
          </a:xfrm>
          <a:prstGeom prst="ellipse">
            <a:avLst/>
          </a:prstGeom>
          <a:solidFill>
            <a:srgbClr val="4A4E69"/>
          </a:solidFill>
          <a:ln/>
        </p:spPr>
      </p:sp>
      <p:sp>
        <p:nvSpPr>
          <p:cNvPr id="19" name="Text 17"/>
          <p:cNvSpPr/>
          <p:nvPr/>
        </p:nvSpPr>
        <p:spPr>
          <a:xfrm>
            <a:off x="8503920" y="466344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77</a:t>
            </a:r>
            <a:endParaRPr lang="en-US" sz="120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FEFA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C112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✋ 练习F：完整故事植入方案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1371600" cy="36576"/>
          </a:xfrm>
          <a:prstGeom prst="rect">
            <a:avLst/>
          </a:prstGeom>
          <a:solidFill>
            <a:srgbClr val="E29578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1280160"/>
            <a:ext cx="2011680" cy="365760"/>
          </a:xfrm>
          <a:prstGeom prst="roundRect">
            <a:avLst>
              <a:gd name="adj" fmla="val 20000"/>
            </a:avLst>
          </a:prstGeom>
          <a:solidFill>
            <a:srgbClr val="C1121F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28016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综合产出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834640" y="1280160"/>
            <a:ext cx="1645920" cy="365760"/>
          </a:xfrm>
          <a:prstGeom prst="roundRect">
            <a:avLst>
              <a:gd name="adj" fmla="val 20000"/>
            </a:avLst>
          </a:prstGeom>
          <a:solidFill>
            <a:srgbClr val="E29578"/>
          </a:solidFill>
          <a:ln/>
        </p:spPr>
      </p:sp>
      <p:sp>
        <p:nvSpPr>
          <p:cNvPr id="7" name="Text 5"/>
          <p:cNvSpPr/>
          <p:nvPr/>
        </p:nvSpPr>
        <p:spPr>
          <a:xfrm>
            <a:off x="2834640" y="128016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用时：20分钟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31520" y="1920240"/>
            <a:ext cx="7680960" cy="2560320"/>
          </a:xfrm>
          <a:prstGeom prst="roundRect">
            <a:avLst>
              <a:gd name="adj" fmla="val 5357"/>
            </a:avLst>
          </a:prstGeom>
          <a:solidFill>
            <a:srgbClr val="FDF0D5"/>
          </a:solidFill>
          <a:ln/>
        </p:spPr>
      </p:sp>
      <p:sp>
        <p:nvSpPr>
          <p:cNvPr id="9" name="Shape 7"/>
          <p:cNvSpPr/>
          <p:nvPr/>
        </p:nvSpPr>
        <p:spPr>
          <a:xfrm>
            <a:off x="731520" y="1920240"/>
            <a:ext cx="137160" cy="2560320"/>
          </a:xfrm>
          <a:prstGeom prst="rect">
            <a:avLst/>
          </a:prstGeom>
          <a:solidFill>
            <a:srgbClr val="C1121F"/>
          </a:solidFill>
          <a:ln/>
        </p:spPr>
      </p:sp>
      <p:sp>
        <p:nvSpPr>
          <p:cNvPr id="10" name="Text 8"/>
          <p:cNvSpPr/>
          <p:nvPr/>
        </p:nvSpPr>
        <p:spPr>
          <a:xfrm>
            <a:off x="1097280" y="2103120"/>
            <a:ext cx="7132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112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这是本工作坊最重要的练习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097280" y="265176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所有前面练习的内容在这里汇集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097280" y="3200400"/>
            <a:ext cx="71323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练习A - 知识点提取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练习B/C - 行为信号识别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练习D/E - 场景选择与结构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练习F - 完整故事植入方案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503920" y="4663440"/>
            <a:ext cx="457200" cy="320040"/>
          </a:xfrm>
          <a:prstGeom prst="ellipse">
            <a:avLst/>
          </a:prstGeom>
          <a:solidFill>
            <a:srgbClr val="4A4E69"/>
          </a:solidFill>
          <a:ln/>
        </p:spPr>
      </p:sp>
      <p:sp>
        <p:nvSpPr>
          <p:cNvPr id="14" name="Text 12"/>
          <p:cNvSpPr/>
          <p:nvPr/>
        </p:nvSpPr>
        <p:spPr>
          <a:xfrm>
            <a:off x="8503920" y="466344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78</a:t>
            </a:r>
            <a:endParaRPr lang="en-US" sz="120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FEFA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C112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练习F记录 - 基本信息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1371600" cy="36576"/>
          </a:xfrm>
          <a:prstGeom prst="rect">
            <a:avLst/>
          </a:prstGeom>
          <a:solidFill>
            <a:srgbClr val="E29578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3716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112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课程名称/模块名称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31520" y="1783080"/>
            <a:ext cx="768096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4A4E6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27432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112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核心知识点（一句话）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31520" y="3154680"/>
            <a:ext cx="768096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4A4E6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503920" y="4663440"/>
            <a:ext cx="457200" cy="320040"/>
          </a:xfrm>
          <a:prstGeom prst="ellipse">
            <a:avLst/>
          </a:prstGeom>
          <a:solidFill>
            <a:srgbClr val="4A4E69"/>
          </a:solidFill>
          <a:ln/>
        </p:spPr>
      </p:sp>
      <p:sp>
        <p:nvSpPr>
          <p:cNvPr id="9" name="Text 7"/>
          <p:cNvSpPr/>
          <p:nvPr/>
        </p:nvSpPr>
        <p:spPr>
          <a:xfrm>
            <a:off x="8503920" y="466344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79</a:t>
            </a:r>
            <a:endParaRPr lang="en-US" sz="1200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FEFA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C112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练习F记录 - 故事点位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1371600" cy="36576"/>
          </a:xfrm>
          <a:prstGeom prst="rect">
            <a:avLst/>
          </a:prstGeom>
          <a:solidFill>
            <a:srgbClr val="E29578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2801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112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这个故事对应的点位信号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31520" y="1691640"/>
            <a:ext cx="768096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4A4E6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26060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112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故事放置位置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31520" y="3017520"/>
            <a:ext cx="228600" cy="228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4A4E6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51560" y="297180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前面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2103120" y="3017520"/>
            <a:ext cx="228600" cy="228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4A4E6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423160" y="297180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后面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474720" y="3017520"/>
            <a:ext cx="228600" cy="228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4A4E6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794760" y="297180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夹心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31520" y="34747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112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放在这个位置的原因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731520" y="3886200"/>
            <a:ext cx="768096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4A4E6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503920" y="4663440"/>
            <a:ext cx="457200" cy="320040"/>
          </a:xfrm>
          <a:prstGeom prst="ellipse">
            <a:avLst/>
          </a:prstGeom>
          <a:solidFill>
            <a:srgbClr val="4A4E69"/>
          </a:solidFill>
          <a:ln/>
        </p:spPr>
      </p:sp>
      <p:sp>
        <p:nvSpPr>
          <p:cNvPr id="16" name="Text 14"/>
          <p:cNvSpPr/>
          <p:nvPr/>
        </p:nvSpPr>
        <p:spPr>
          <a:xfrm>
            <a:off x="8503920" y="466344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</a:t>
            </a:r>
            <a:endParaRPr lang="en-US" sz="1200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FEFA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C112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练习F记录 - 故事草稿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1371600" cy="36576"/>
          </a:xfrm>
          <a:prstGeom prst="rect">
            <a:avLst/>
          </a:prstGeom>
          <a:solidFill>
            <a:srgbClr val="E29578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051560"/>
            <a:ext cx="1188720" cy="411480"/>
          </a:xfrm>
          <a:prstGeom prst="roundRect">
            <a:avLst>
              <a:gd name="adj" fmla="val 17778"/>
            </a:avLst>
          </a:prstGeom>
          <a:solidFill>
            <a:srgbClr val="C1121F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051560"/>
            <a:ext cx="1188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第一步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737360" y="105156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112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时空锚定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383280" y="1051560"/>
            <a:ext cx="502920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4A4E6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520440" y="114300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95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当时是什么情境...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1965960"/>
            <a:ext cx="1188720" cy="411480"/>
          </a:xfrm>
          <a:prstGeom prst="roundRect">
            <a:avLst>
              <a:gd name="adj" fmla="val 17778"/>
            </a:avLst>
          </a:prstGeom>
          <a:solidFill>
            <a:srgbClr val="C1121F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1965960"/>
            <a:ext cx="1188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第二步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737360" y="196596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112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张力触发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3383280" y="1965960"/>
            <a:ext cx="502920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4A4E6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520440" y="205740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95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遇到了什么困难...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2880360"/>
            <a:ext cx="1188720" cy="411480"/>
          </a:xfrm>
          <a:prstGeom prst="roundRect">
            <a:avLst>
              <a:gd name="adj" fmla="val 17778"/>
            </a:avLst>
          </a:prstGeom>
          <a:solidFill>
            <a:srgbClr val="C1121F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2880360"/>
            <a:ext cx="1188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第三步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737360" y="288036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112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行动转化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3383280" y="2880360"/>
            <a:ext cx="502920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4A4E6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520440" y="297180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95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我是怎么做的...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3794760"/>
            <a:ext cx="1188720" cy="411480"/>
          </a:xfrm>
          <a:prstGeom prst="roundRect">
            <a:avLst>
              <a:gd name="adj" fmla="val 17778"/>
            </a:avLst>
          </a:prstGeom>
          <a:solidFill>
            <a:srgbClr val="C1121F"/>
          </a:solidFill>
          <a:ln/>
        </p:spPr>
      </p:sp>
      <p:sp>
        <p:nvSpPr>
          <p:cNvPr id="20" name="Text 18"/>
          <p:cNvSpPr/>
          <p:nvPr/>
        </p:nvSpPr>
        <p:spPr>
          <a:xfrm>
            <a:off x="457200" y="3794760"/>
            <a:ext cx="1188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第四步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737360" y="379476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112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意义落点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3383280" y="3794760"/>
            <a:ext cx="502920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4A4E6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520440" y="388620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95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最终带来了什么改变...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8503920" y="4663440"/>
            <a:ext cx="457200" cy="320040"/>
          </a:xfrm>
          <a:prstGeom prst="ellipse">
            <a:avLst/>
          </a:prstGeom>
          <a:solidFill>
            <a:srgbClr val="4A4E69"/>
          </a:solidFill>
          <a:ln/>
        </p:spPr>
      </p:sp>
      <p:sp>
        <p:nvSpPr>
          <p:cNvPr id="25" name="Text 23"/>
          <p:cNvSpPr/>
          <p:nvPr/>
        </p:nvSpPr>
        <p:spPr>
          <a:xfrm>
            <a:off x="8503920" y="466344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81</a:t>
            </a:r>
            <a:endParaRPr lang="en-US" sz="1200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FEFA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C112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练习F记录 - 衔接方式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1371600" cy="36576"/>
          </a:xfrm>
          <a:prstGeom prst="rect">
            <a:avLst/>
          </a:prstGeom>
          <a:solidFill>
            <a:srgbClr val="E29578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2801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112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从故事进入知识点的转接语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31520" y="1691640"/>
            <a:ext cx="768096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4A4E6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0" y="141732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E295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故事 → 知识点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31520" y="28346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112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从知识点回到故事的转接语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31520" y="3246120"/>
            <a:ext cx="768096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4A4E6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0" y="29718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E295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知识点 → 故事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8503920" y="4663440"/>
            <a:ext cx="457200" cy="320040"/>
          </a:xfrm>
          <a:prstGeom prst="ellipse">
            <a:avLst/>
          </a:prstGeom>
          <a:solidFill>
            <a:srgbClr val="4A4E69"/>
          </a:solidFill>
          <a:ln/>
        </p:spPr>
      </p:sp>
      <p:sp>
        <p:nvSpPr>
          <p:cNvPr id="11" name="Text 9"/>
          <p:cNvSpPr/>
          <p:nvPr/>
        </p:nvSpPr>
        <p:spPr>
          <a:xfrm>
            <a:off x="8503920" y="466344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82</a:t>
            </a:r>
            <a:endParaRPr lang="en-US" sz="1200" dirty="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FEFA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C112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练习F记录 - 避免说教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1371600" cy="36576"/>
          </a:xfrm>
          <a:prstGeom prst="rect">
            <a:avLst/>
          </a:prstGeom>
          <a:solidFill>
            <a:srgbClr val="E29578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1887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选择你计划使用的技巧（可多选）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31520" y="1737360"/>
            <a:ext cx="32004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4A4E6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17373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用第一人称的反思句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31520" y="2286000"/>
            <a:ext cx="32004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4A4E6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88720" y="22860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抛一个问题给学员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31520" y="2834640"/>
            <a:ext cx="32004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4A4E6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88720" y="28346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让故事本身说话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731520" y="3383280"/>
            <a:ext cx="32004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4A4E6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88720" y="33832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其他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029200" y="1737360"/>
            <a:ext cx="3383280" cy="2560320"/>
          </a:xfrm>
          <a:prstGeom prst="roundRect">
            <a:avLst>
              <a:gd name="adj" fmla="val 5357"/>
            </a:avLst>
          </a:prstGeom>
          <a:solidFill>
            <a:srgbClr val="FDF0D5"/>
          </a:solidFill>
          <a:ln/>
        </p:spPr>
      </p:sp>
      <p:sp>
        <p:nvSpPr>
          <p:cNvPr id="14" name="Text 12"/>
          <p:cNvSpPr/>
          <p:nvPr/>
        </p:nvSpPr>
        <p:spPr>
          <a:xfrm>
            <a:off x="5212080" y="192024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112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小贴士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212080" y="2286000"/>
            <a:ext cx="30175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说教让人抵触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故事让人自省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让学员自己得出结论，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而不是直接告诉他们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应该怎么做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8503920" y="4663440"/>
            <a:ext cx="457200" cy="320040"/>
          </a:xfrm>
          <a:prstGeom prst="ellipse">
            <a:avLst/>
          </a:prstGeom>
          <a:solidFill>
            <a:srgbClr val="4A4E69"/>
          </a:solidFill>
          <a:ln/>
        </p:spPr>
      </p:sp>
      <p:sp>
        <p:nvSpPr>
          <p:cNvPr id="17" name="Text 15"/>
          <p:cNvSpPr/>
          <p:nvPr/>
        </p:nvSpPr>
        <p:spPr>
          <a:xfrm>
            <a:off x="8503920" y="466344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83</a:t>
            </a:r>
            <a:endParaRPr lang="en-US" sz="1200" dirty="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FEFA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C112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故事怎么和知识点衔接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295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三种放置方式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2926080" y="1078992"/>
            <a:ext cx="1371600" cy="36576"/>
          </a:xfrm>
          <a:prstGeom prst="rect">
            <a:avLst/>
          </a:prstGeom>
          <a:solidFill>
            <a:srgbClr val="E29578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1554480"/>
            <a:ext cx="7680960" cy="1005840"/>
          </a:xfrm>
          <a:prstGeom prst="roundRect">
            <a:avLst>
              <a:gd name="adj" fmla="val 9091"/>
            </a:avLst>
          </a:prstGeom>
          <a:solidFill>
            <a:srgbClr val="FDF0D5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1828800"/>
            <a:ext cx="457200" cy="457200"/>
          </a:xfrm>
          <a:prstGeom prst="ellipse">
            <a:avLst/>
          </a:prstGeom>
          <a:solidFill>
            <a:srgbClr val="C1121F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18288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554480" y="16916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112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前置引入型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554480" y="205740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先用故事引入话题，激发兴趣，再讲知识点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675120" y="187452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295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故事 → 知识点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31520" y="2697480"/>
            <a:ext cx="7680960" cy="1005840"/>
          </a:xfrm>
          <a:prstGeom prst="roundRect">
            <a:avLst>
              <a:gd name="adj" fmla="val 9091"/>
            </a:avLst>
          </a:prstGeom>
          <a:solidFill>
            <a:srgbClr val="FDF0D5"/>
          </a:solidFill>
          <a:ln/>
        </p:spPr>
      </p:sp>
      <p:sp>
        <p:nvSpPr>
          <p:cNvPr id="12" name="Shape 10"/>
          <p:cNvSpPr/>
          <p:nvPr/>
        </p:nvSpPr>
        <p:spPr>
          <a:xfrm>
            <a:off x="914400" y="2971800"/>
            <a:ext cx="457200" cy="457200"/>
          </a:xfrm>
          <a:prstGeom prst="ellipse">
            <a:avLst/>
          </a:prstGeom>
          <a:solidFill>
            <a:srgbClr val="C1121F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29718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554480" y="28346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112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后置强化型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554480" y="320040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先讲知识点，用故事来验证和强化理解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675120" y="301752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295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知识点 → 故事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31520" y="3840480"/>
            <a:ext cx="7680960" cy="1005840"/>
          </a:xfrm>
          <a:prstGeom prst="roundRect">
            <a:avLst>
              <a:gd name="adj" fmla="val 9091"/>
            </a:avLst>
          </a:prstGeom>
          <a:solidFill>
            <a:srgbClr val="FDF0D5"/>
          </a:solidFill>
          <a:ln/>
        </p:spPr>
      </p:sp>
      <p:sp>
        <p:nvSpPr>
          <p:cNvPr id="18" name="Shape 16"/>
          <p:cNvSpPr/>
          <p:nvPr/>
        </p:nvSpPr>
        <p:spPr>
          <a:xfrm>
            <a:off x="914400" y="4114800"/>
            <a:ext cx="457200" cy="457200"/>
          </a:xfrm>
          <a:prstGeom prst="ellipse">
            <a:avLst/>
          </a:prstGeom>
          <a:solidFill>
            <a:srgbClr val="C1121F"/>
          </a:solidFill>
          <a:ln/>
        </p:spPr>
      </p:sp>
      <p:sp>
        <p:nvSpPr>
          <p:cNvPr id="19" name="Text 17"/>
          <p:cNvSpPr/>
          <p:nvPr/>
        </p:nvSpPr>
        <p:spPr>
          <a:xfrm>
            <a:off x="914400" y="41148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554480" y="39776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112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夹心结构型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554480" y="434340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故事开头引起共鸣 → 知识点讲解 → 故事收尾强化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675120" y="416052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295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故事 → 知识点 → 故事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8503920" y="4663440"/>
            <a:ext cx="457200" cy="320040"/>
          </a:xfrm>
          <a:prstGeom prst="ellipse">
            <a:avLst/>
          </a:prstGeom>
          <a:solidFill>
            <a:srgbClr val="4A4E69"/>
          </a:solidFill>
          <a:ln/>
        </p:spPr>
      </p:sp>
      <p:sp>
        <p:nvSpPr>
          <p:cNvPr id="24" name="Text 22"/>
          <p:cNvSpPr/>
          <p:nvPr/>
        </p:nvSpPr>
        <p:spPr>
          <a:xfrm>
            <a:off x="8503920" y="466344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84</a:t>
            </a:r>
            <a:endParaRPr lang="en-US" sz="1200" dirty="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C1121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C112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前置引入型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8229600" cy="640080"/>
          </a:xfrm>
          <a:prstGeom prst="roundRect">
            <a:avLst/>
          </a:prstGeom>
          <a:solidFill>
            <a:srgbClr val="FDF0D5"/>
          </a:solidFill>
          <a:ln w="25400">
            <a:solidFill>
              <a:srgbClr val="E2957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37160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定义：先讲故事，再讲知识点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21031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112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典型节奏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57200" y="2560320"/>
            <a:ext cx="1920240" cy="731520"/>
          </a:xfrm>
          <a:prstGeom prst="roundRect">
            <a:avLst>
              <a:gd name="adj" fmla="val 12500"/>
            </a:avLst>
          </a:prstGeom>
          <a:solidFill>
            <a:srgbClr val="C1121F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260604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274320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故事（制造问题感）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377440" y="2697480"/>
            <a:ext cx="182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295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2560320" y="2560320"/>
            <a:ext cx="1920240" cy="731520"/>
          </a:xfrm>
          <a:prstGeom prst="roundRect">
            <a:avLst>
              <a:gd name="adj" fmla="val 12500"/>
            </a:avLst>
          </a:prstGeom>
          <a:solidFill>
            <a:srgbClr val="C1121F"/>
          </a:solidFill>
          <a:ln/>
        </p:spPr>
      </p:sp>
      <p:sp>
        <p:nvSpPr>
          <p:cNvPr id="12" name="Text 10"/>
          <p:cNvSpPr/>
          <p:nvPr/>
        </p:nvSpPr>
        <p:spPr>
          <a:xfrm>
            <a:off x="2606040" y="260604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560320" y="274320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悬挂问题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480560" y="2697480"/>
            <a:ext cx="182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295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4663440" y="2560320"/>
            <a:ext cx="1920240" cy="731520"/>
          </a:xfrm>
          <a:prstGeom prst="roundRect">
            <a:avLst>
              <a:gd name="adj" fmla="val 12500"/>
            </a:avLst>
          </a:prstGeom>
          <a:solidFill>
            <a:srgbClr val="C1121F"/>
          </a:solidFill>
          <a:ln/>
        </p:spPr>
      </p:sp>
      <p:sp>
        <p:nvSpPr>
          <p:cNvPr id="16" name="Text 14"/>
          <p:cNvSpPr/>
          <p:nvPr/>
        </p:nvSpPr>
        <p:spPr>
          <a:xfrm>
            <a:off x="4709160" y="260604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663440" y="274320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知识点讲解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583680" y="2697480"/>
            <a:ext cx="182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295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6766560" y="2560320"/>
            <a:ext cx="1920240" cy="731520"/>
          </a:xfrm>
          <a:prstGeom prst="roundRect">
            <a:avLst>
              <a:gd name="adj" fmla="val 12500"/>
            </a:avLst>
          </a:prstGeom>
          <a:solidFill>
            <a:srgbClr val="C1121F"/>
          </a:solidFill>
          <a:ln/>
        </p:spPr>
      </p:sp>
      <p:sp>
        <p:nvSpPr>
          <p:cNvPr id="20" name="Text 18"/>
          <p:cNvSpPr/>
          <p:nvPr/>
        </p:nvSpPr>
        <p:spPr>
          <a:xfrm>
            <a:off x="6812280" y="260604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766560" y="274320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收尾回应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57200" y="36576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112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适用场景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457200" y="4023360"/>
            <a:ext cx="8229600" cy="548640"/>
          </a:xfrm>
          <a:prstGeom prst="roundRect">
            <a:avLst>
              <a:gd name="adj" fmla="val 16667"/>
            </a:avLst>
          </a:prstGeom>
          <a:solidFill>
            <a:srgbClr val="E29578">
              <a:alpha val="80000"/>
            </a:srgbClr>
          </a:solidFill>
          <a:ln/>
        </p:spPr>
      </p:sp>
      <p:sp>
        <p:nvSpPr>
          <p:cNvPr id="24" name="Text 22"/>
          <p:cNvSpPr/>
          <p:nvPr/>
        </p:nvSpPr>
        <p:spPr>
          <a:xfrm>
            <a:off x="640080" y="411480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学员对方法还没有感受到必要性时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8503920" y="46634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4E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85</a:t>
            </a:r>
            <a:endParaRPr lang="en-US" sz="1200" dirty="0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C1121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C112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后置强化型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8229600" cy="640080"/>
          </a:xfrm>
          <a:prstGeom prst="roundRect">
            <a:avLst/>
          </a:prstGeom>
          <a:solidFill>
            <a:srgbClr val="FDF0D5"/>
          </a:solidFill>
          <a:ln w="25400">
            <a:solidFill>
              <a:srgbClr val="E2957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37160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定义：先讲知识点，再用故事来固化记忆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21031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112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典型节奏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57200" y="2560320"/>
            <a:ext cx="2651760" cy="731520"/>
          </a:xfrm>
          <a:prstGeom prst="roundRect">
            <a:avLst>
              <a:gd name="adj" fmla="val 12500"/>
            </a:avLst>
          </a:prstGeom>
          <a:solidFill>
            <a:srgbClr val="C1121F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260604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274320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知识点讲解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108960" y="2697480"/>
            <a:ext cx="182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295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3291840" y="2560320"/>
            <a:ext cx="2651760" cy="731520"/>
          </a:xfrm>
          <a:prstGeom prst="roundRect">
            <a:avLst>
              <a:gd name="adj" fmla="val 12500"/>
            </a:avLst>
          </a:prstGeom>
          <a:solidFill>
            <a:srgbClr val="C1121F"/>
          </a:solidFill>
          <a:ln/>
        </p:spPr>
      </p:sp>
      <p:sp>
        <p:nvSpPr>
          <p:cNvPr id="12" name="Text 10"/>
          <p:cNvSpPr/>
          <p:nvPr/>
        </p:nvSpPr>
        <p:spPr>
          <a:xfrm>
            <a:off x="3337560" y="260604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291840" y="274320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故事（把原则还原成场景）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943600" y="2697480"/>
            <a:ext cx="182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295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6126480" y="2560320"/>
            <a:ext cx="2651760" cy="731520"/>
          </a:xfrm>
          <a:prstGeom prst="roundRect">
            <a:avLst>
              <a:gd name="adj" fmla="val 12500"/>
            </a:avLst>
          </a:prstGeom>
          <a:solidFill>
            <a:srgbClr val="C1121F"/>
          </a:solidFill>
          <a:ln/>
        </p:spPr>
      </p:sp>
      <p:sp>
        <p:nvSpPr>
          <p:cNvPr id="16" name="Text 14"/>
          <p:cNvSpPr/>
          <p:nvPr/>
        </p:nvSpPr>
        <p:spPr>
          <a:xfrm>
            <a:off x="6172200" y="260604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126480" y="274320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确认理解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57200" y="36576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112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适用场景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457200" y="4023360"/>
            <a:ext cx="8229600" cy="548640"/>
          </a:xfrm>
          <a:prstGeom prst="roundRect">
            <a:avLst>
              <a:gd name="adj" fmla="val 16667"/>
            </a:avLst>
          </a:prstGeom>
          <a:solidFill>
            <a:srgbClr val="E29578">
              <a:alpha val="80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411480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知识点逻辑清晰但缺乏画面感时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503920" y="46634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4E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86</a:t>
            </a:r>
            <a:endParaRPr lang="en-US" sz="1200" dirty="0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C1121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C112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夹心结构型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8229600" cy="822960"/>
          </a:xfrm>
          <a:prstGeom prst="roundRect">
            <a:avLst/>
          </a:prstGeom>
          <a:solidFill>
            <a:srgbClr val="FDF0D5"/>
          </a:solidFill>
          <a:ln w="25400">
            <a:solidFill>
              <a:srgbClr val="E2957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37160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定义：先讲故事前半段（只到张力触发），知识点讲完后再回到故事后半段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112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典型节奏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57200" y="2743200"/>
            <a:ext cx="2103120" cy="640080"/>
          </a:xfrm>
          <a:prstGeom prst="roundRect">
            <a:avLst>
              <a:gd name="adj" fmla="val 14286"/>
            </a:avLst>
          </a:prstGeom>
          <a:solidFill>
            <a:srgbClr val="C1121F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283464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故事前两步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2560320" y="278892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295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2834640" y="2743200"/>
            <a:ext cx="2103120" cy="640080"/>
          </a:xfrm>
          <a:prstGeom prst="roundRect">
            <a:avLst>
              <a:gd name="adj" fmla="val 14286"/>
            </a:avLst>
          </a:prstGeom>
          <a:solidFill>
            <a:srgbClr val="E29578"/>
          </a:solidFill>
          <a:ln/>
        </p:spPr>
      </p:sp>
      <p:sp>
        <p:nvSpPr>
          <p:cNvPr id="11" name="Text 9"/>
          <p:cNvSpPr/>
          <p:nvPr/>
        </p:nvSpPr>
        <p:spPr>
          <a:xfrm>
            <a:off x="2834640" y="283464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知识点讲解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937760" y="278892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295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5212080" y="2743200"/>
            <a:ext cx="2103120" cy="640080"/>
          </a:xfrm>
          <a:prstGeom prst="roundRect">
            <a:avLst>
              <a:gd name="adj" fmla="val 14286"/>
            </a:avLst>
          </a:prstGeom>
          <a:solidFill>
            <a:srgbClr val="C1121F"/>
          </a:solidFill>
          <a:ln/>
        </p:spPr>
      </p:sp>
      <p:sp>
        <p:nvSpPr>
          <p:cNvPr id="14" name="Text 12"/>
          <p:cNvSpPr/>
          <p:nvPr/>
        </p:nvSpPr>
        <p:spPr>
          <a:xfrm>
            <a:off x="5212080" y="283464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故事后两步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57200" y="342900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故事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834640" y="342900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知识点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212080" y="342900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故事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7200" y="38404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112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适用场景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457200" y="4206240"/>
            <a:ext cx="8229600" cy="548640"/>
          </a:xfrm>
          <a:prstGeom prst="roundRect">
            <a:avLst>
              <a:gd name="adj" fmla="val 16667"/>
            </a:avLst>
          </a:prstGeom>
          <a:solidFill>
            <a:srgbClr val="E29578">
              <a:alpha val="80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429768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需要学员先理解框架才能欣赏故事价值时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503920" y="46634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4E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87</a:t>
            </a:r>
            <a:endParaRPr lang="en-US" sz="1200" dirty="0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C1121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C112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三种方式对比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8229600" cy="548640"/>
          </a:xfrm>
          <a:prstGeom prst="rect">
            <a:avLst/>
          </a:prstGeom>
          <a:solidFill>
            <a:srgbClr val="C1121F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37160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方式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2468880" y="137160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核心作用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577840" y="13716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适合场景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57200" y="1828800"/>
            <a:ext cx="8229600" cy="822960"/>
          </a:xfrm>
          <a:prstGeom prst="rect">
            <a:avLst/>
          </a:prstGeom>
          <a:solidFill>
            <a:srgbClr val="FDF0D5"/>
          </a:solidFill>
          <a:ln w="6350">
            <a:solidFill>
              <a:srgbClr val="4A4E69">
                <a:alpha val="3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828800"/>
            <a:ext cx="2011680" cy="822960"/>
          </a:xfrm>
          <a:prstGeom prst="rect">
            <a:avLst/>
          </a:prstGeom>
          <a:solidFill>
            <a:srgbClr val="C1121F">
              <a:alpha val="15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205740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112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前置引入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2468880" y="205740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制造需求感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577840" y="20574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学员还不认可必要性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57200" y="2651760"/>
            <a:ext cx="822960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4A4E69">
                <a:alpha val="3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" y="2651760"/>
            <a:ext cx="2011680" cy="822960"/>
          </a:xfrm>
          <a:prstGeom prst="rect">
            <a:avLst/>
          </a:prstGeom>
          <a:solidFill>
            <a:srgbClr val="C1121F">
              <a:alpha val="15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288036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112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后置强化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2468880" y="288036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固化记忆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577840" y="28803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听懂但担心记不住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57200" y="3474720"/>
            <a:ext cx="8229600" cy="822960"/>
          </a:xfrm>
          <a:prstGeom prst="rect">
            <a:avLst/>
          </a:prstGeom>
          <a:solidFill>
            <a:srgbClr val="FDF0D5"/>
          </a:solidFill>
          <a:ln w="6350">
            <a:solidFill>
              <a:srgbClr val="4A4E69">
                <a:alpha val="3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7200" y="3474720"/>
            <a:ext cx="2011680" cy="822960"/>
          </a:xfrm>
          <a:prstGeom prst="rect">
            <a:avLst/>
          </a:prstGeom>
          <a:solidFill>
            <a:srgbClr val="C1121F">
              <a:alpha val="15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457200" y="370332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112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夹心结构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2468880" y="370332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贯穿注意力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577840" y="37033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需要理解框架才能看懂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457200" y="4297680"/>
            <a:ext cx="8229600" cy="27432"/>
          </a:xfrm>
          <a:prstGeom prst="rect">
            <a:avLst/>
          </a:prstGeom>
          <a:solidFill>
            <a:srgbClr val="C1121F"/>
          </a:solidFill>
          <a:ln/>
        </p:spPr>
      </p:sp>
      <p:sp>
        <p:nvSpPr>
          <p:cNvPr id="24" name="Text 22"/>
          <p:cNvSpPr/>
          <p:nvPr/>
        </p:nvSpPr>
        <p:spPr>
          <a:xfrm>
            <a:off x="8503920" y="46634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4E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88</a:t>
            </a:r>
            <a:endParaRPr lang="en-US" sz="1200" dirty="0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C1121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C112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如何避免说教感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8229600" cy="1097280"/>
          </a:xfrm>
          <a:prstGeom prst="roundRect">
            <a:avLst>
              <a:gd name="adj" fmla="val 8333"/>
            </a:avLst>
          </a:prstGeom>
          <a:solidFill>
            <a:srgbClr val="C1121F">
              <a:alpha val="10000"/>
            </a:srgbClr>
          </a:solidFill>
          <a:ln w="25400">
            <a:solidFill>
              <a:srgbClr val="C1121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37160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112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常见错误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40080" y="173736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C112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"所以，大家以后要……"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57200" y="26517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112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更好的方式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114800" y="29260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E295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2286000" y="3383280"/>
            <a:ext cx="4572000" cy="914400"/>
          </a:xfrm>
          <a:prstGeom prst="roundRect">
            <a:avLst>
              <a:gd name="adj" fmla="val 10000"/>
            </a:avLst>
          </a:prstGeom>
          <a:solidFill>
            <a:srgbClr val="E29578"/>
          </a:solidFill>
          <a:ln/>
        </p:spPr>
      </p:sp>
      <p:sp>
        <p:nvSpPr>
          <p:cNvPr id="10" name="Text 8"/>
          <p:cNvSpPr/>
          <p:nvPr/>
        </p:nvSpPr>
        <p:spPr>
          <a:xfrm>
            <a:off x="2286000" y="35204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把结论"还给"学员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286000" y="38862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不宣告，而是分享发现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7200" y="4572000"/>
            <a:ext cx="73152" cy="365760"/>
          </a:xfrm>
          <a:prstGeom prst="rect">
            <a:avLst/>
          </a:prstGeom>
          <a:solidFill>
            <a:srgbClr val="E29578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45720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核心：学员自己得出的结论，记忆更深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503920" y="46634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4E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89</a:t>
            </a:r>
            <a:endParaRPr lang="en-US" sz="1200" dirty="0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C1121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C112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避免说教的表达方式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8229600" cy="1371600"/>
          </a:xfrm>
          <a:prstGeom prst="roundRect">
            <a:avLst>
              <a:gd name="adj" fmla="val 6667"/>
            </a:avLst>
          </a:prstGeom>
          <a:solidFill>
            <a:srgbClr val="C1121F">
              <a:alpha val="8000"/>
            </a:srgbClr>
          </a:solidFill>
          <a:ln w="12700">
            <a:solidFill>
              <a:srgbClr val="C1121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417320"/>
            <a:ext cx="731520" cy="320040"/>
          </a:xfrm>
          <a:prstGeom prst="roundRect">
            <a:avLst>
              <a:gd name="adj" fmla="val 14286"/>
            </a:avLst>
          </a:prstGeom>
          <a:solidFill>
            <a:srgbClr val="C1121F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41732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463040" y="138988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112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828800" y="1737360"/>
            <a:ext cx="6675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strike="sngStrike" dirty="0">
                <a:solidFill>
                  <a:srgbClr val="C112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"所以你们在布置任务的时候，</a:t>
            </a:r>
            <a:endParaRPr lang="en-US" sz="1600" dirty="0"/>
          </a:p>
          <a:p>
            <a:pPr indent="0" marL="0">
              <a:buNone/>
            </a:pPr>
            <a:r>
              <a:rPr lang="en-US" sz="1600" strike="sngStrike" dirty="0">
                <a:solidFill>
                  <a:srgbClr val="C112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一定要说清楚验收标准"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57200" y="2834640"/>
            <a:ext cx="8229600" cy="1737360"/>
          </a:xfrm>
          <a:prstGeom prst="roundRect">
            <a:avLst>
              <a:gd name="adj" fmla="val 5263"/>
            </a:avLst>
          </a:prstGeom>
          <a:solidFill>
            <a:srgbClr val="E29578">
              <a:alpha val="20000"/>
            </a:srgbClr>
          </a:solidFill>
          <a:ln w="25400">
            <a:solidFill>
              <a:srgbClr val="E2957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0080" y="2971800"/>
            <a:ext cx="731520" cy="320040"/>
          </a:xfrm>
          <a:prstGeom prst="roundRect">
            <a:avLst>
              <a:gd name="adj" fmla="val 14286"/>
            </a:avLst>
          </a:prstGeom>
          <a:solidFill>
            <a:srgbClr val="E29578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297180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463040" y="294436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295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828800" y="3291840"/>
            <a:ext cx="66751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"他后来跟我说了一句话——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我以前以为说清楚'做什么'就够了，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但那次之后我发现..."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57200" y="4709160"/>
            <a:ext cx="73152" cy="320040"/>
          </a:xfrm>
          <a:prstGeom prst="rect">
            <a:avLst/>
          </a:prstGeom>
          <a:solidFill>
            <a:srgbClr val="E29578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47091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用亲身经历代替命令句，学员感受完全不同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503920" y="46634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4E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</a:t>
            </a:r>
            <a:endParaRPr lang="en-US" sz="1200" dirty="0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C1121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C112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把结论还给学员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3931920" cy="2011680"/>
          </a:xfrm>
          <a:prstGeom prst="roundRect">
            <a:avLst>
              <a:gd name="adj" fmla="val 4545"/>
            </a:avLst>
          </a:prstGeom>
          <a:solidFill>
            <a:srgbClr val="FDF0D5"/>
          </a:solidFill>
          <a:ln w="19050">
            <a:solidFill>
              <a:srgbClr val="C1121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417320"/>
            <a:ext cx="1371600" cy="320040"/>
          </a:xfrm>
          <a:prstGeom prst="roundRect">
            <a:avLst>
              <a:gd name="adj" fmla="val 14286"/>
            </a:avLst>
          </a:prstGeom>
          <a:solidFill>
            <a:srgbClr val="C1121F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41732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方式一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194560" y="141732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112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提问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1920240"/>
            <a:ext cx="35661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"你们觉得，那个下属做了三天的报告，最后需要重做——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谁的责任更大一点？"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754880" y="1280160"/>
            <a:ext cx="3931920" cy="2011680"/>
          </a:xfrm>
          <a:prstGeom prst="roundRect">
            <a:avLst>
              <a:gd name="adj" fmla="val 4545"/>
            </a:avLst>
          </a:prstGeom>
          <a:solidFill>
            <a:srgbClr val="FDF0D5"/>
          </a:solidFill>
          <a:ln w="19050">
            <a:solidFill>
              <a:srgbClr val="E2957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937760" y="1417320"/>
            <a:ext cx="1371600" cy="320040"/>
          </a:xfrm>
          <a:prstGeom prst="roundRect">
            <a:avLst>
              <a:gd name="adj" fmla="val 14286"/>
            </a:avLst>
          </a:prstGeom>
          <a:solidFill>
            <a:srgbClr val="E29578"/>
          </a:solidFill>
          <a:ln/>
        </p:spPr>
      </p:sp>
      <p:sp>
        <p:nvSpPr>
          <p:cNvPr id="11" name="Text 9"/>
          <p:cNvSpPr/>
          <p:nvPr/>
        </p:nvSpPr>
        <p:spPr>
          <a:xfrm>
            <a:off x="4937760" y="141732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方式二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492240" y="141732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295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第一人称反思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937760" y="1920240"/>
            <a:ext cx="35661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"这件事让我一直在想……"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" y="3566160"/>
            <a:ext cx="8229600" cy="914400"/>
          </a:xfrm>
          <a:prstGeom prst="roundRect">
            <a:avLst>
              <a:gd name="adj" fmla="val 10000"/>
            </a:avLst>
          </a:prstGeom>
          <a:solidFill>
            <a:srgbClr val="C1121F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36576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>
                    <a:alpha val="7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核心洞察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40080" y="393192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学员自己得出的结论，记忆更深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8503920" y="46634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4E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91</a:t>
            </a:r>
            <a:endParaRPr lang="en-US" sz="1200" dirty="0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C1121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C112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✋ 练习G：小组互评故事植入方案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2560320" cy="457200"/>
          </a:xfrm>
          <a:prstGeom prst="roundRect">
            <a:avLst>
              <a:gd name="adj" fmla="val 20000"/>
            </a:avLst>
          </a:prstGeom>
          <a:solidFill>
            <a:srgbClr val="E29578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32588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小组互评  |  用时：10分钟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20116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112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活动说明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57200" y="2468880"/>
            <a:ext cx="8229600" cy="1188720"/>
          </a:xfrm>
          <a:prstGeom prst="roundRect">
            <a:avLst>
              <a:gd name="adj" fmla="val 7692"/>
            </a:avLst>
          </a:prstGeom>
          <a:solidFill>
            <a:srgbClr val="FDF0D5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260604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三人一组</a:t>
            </a:r>
            <a:pPr indent="0" marL="0">
              <a:buNone/>
            </a:pPr>
            <a:r>
              <a:rPr lang="en-US" sz="15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，每人展示自己的故事植入方案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40080" y="301752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其他两人用以下三个问题给反馈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40080" y="338328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95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（下一页展示三个反馈问题）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720840" y="3931920"/>
            <a:ext cx="274320" cy="274320"/>
          </a:xfrm>
          <a:prstGeom prst="ellipse">
            <a:avLst/>
          </a:prstGeom>
          <a:solidFill>
            <a:srgbClr val="C1121F"/>
          </a:solidFill>
          <a:ln/>
        </p:spPr>
      </p:sp>
      <p:sp>
        <p:nvSpPr>
          <p:cNvPr id="12" name="Shape 10"/>
          <p:cNvSpPr/>
          <p:nvPr/>
        </p:nvSpPr>
        <p:spPr>
          <a:xfrm>
            <a:off x="6675120" y="4206240"/>
            <a:ext cx="365760" cy="457200"/>
          </a:xfrm>
          <a:prstGeom prst="rect">
            <a:avLst>
              <a:gd name="adj" fmla="val 25000"/>
            </a:avLst>
          </a:prstGeom>
          <a:solidFill>
            <a:srgbClr val="C1121F"/>
          </a:solidFill>
          <a:ln/>
        </p:spPr>
      </p:sp>
      <p:sp>
        <p:nvSpPr>
          <p:cNvPr id="13" name="Shape 11"/>
          <p:cNvSpPr/>
          <p:nvPr/>
        </p:nvSpPr>
        <p:spPr>
          <a:xfrm>
            <a:off x="7360920" y="3931920"/>
            <a:ext cx="274320" cy="274320"/>
          </a:xfrm>
          <a:prstGeom prst="ellipse">
            <a:avLst/>
          </a:prstGeom>
          <a:solidFill>
            <a:srgbClr val="E29578"/>
          </a:solidFill>
          <a:ln/>
        </p:spPr>
      </p:sp>
      <p:sp>
        <p:nvSpPr>
          <p:cNvPr id="14" name="Shape 12"/>
          <p:cNvSpPr/>
          <p:nvPr/>
        </p:nvSpPr>
        <p:spPr>
          <a:xfrm>
            <a:off x="7315200" y="4206240"/>
            <a:ext cx="365760" cy="457200"/>
          </a:xfrm>
          <a:prstGeom prst="rect">
            <a:avLst>
              <a:gd name="adj" fmla="val 25000"/>
            </a:avLst>
          </a:prstGeom>
          <a:solidFill>
            <a:srgbClr val="E29578"/>
          </a:solidFill>
          <a:ln/>
        </p:spPr>
      </p:sp>
      <p:sp>
        <p:nvSpPr>
          <p:cNvPr id="15" name="Shape 13"/>
          <p:cNvSpPr/>
          <p:nvPr/>
        </p:nvSpPr>
        <p:spPr>
          <a:xfrm>
            <a:off x="8001000" y="3931920"/>
            <a:ext cx="274320" cy="274320"/>
          </a:xfrm>
          <a:prstGeom prst="ellipse">
            <a:avLst/>
          </a:prstGeom>
          <a:solidFill>
            <a:srgbClr val="4A4E69"/>
          </a:solidFill>
          <a:ln/>
        </p:spPr>
      </p:sp>
      <p:sp>
        <p:nvSpPr>
          <p:cNvPr id="16" name="Shape 14"/>
          <p:cNvSpPr/>
          <p:nvPr/>
        </p:nvSpPr>
        <p:spPr>
          <a:xfrm>
            <a:off x="7955280" y="4206240"/>
            <a:ext cx="365760" cy="457200"/>
          </a:xfrm>
          <a:prstGeom prst="rect">
            <a:avLst>
              <a:gd name="adj" fmla="val 25000"/>
            </a:avLst>
          </a:prstGeom>
          <a:solidFill>
            <a:srgbClr val="4A4E69"/>
          </a:solidFill>
          <a:ln/>
        </p:spPr>
      </p:sp>
      <p:sp>
        <p:nvSpPr>
          <p:cNvPr id="17" name="Text 15"/>
          <p:cNvSpPr/>
          <p:nvPr/>
        </p:nvSpPr>
        <p:spPr>
          <a:xfrm>
            <a:off x="8503920" y="46634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4E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92</a:t>
            </a:r>
            <a:endParaRPr lang="en-US" sz="1200" dirty="0"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C1121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C112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三个反馈问题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640080" cy="640080"/>
          </a:xfrm>
          <a:prstGeom prst="ellipse">
            <a:avLst/>
          </a:prstGeom>
          <a:solidFill>
            <a:srgbClr val="C1121F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50876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Q1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280160" y="1371600"/>
            <a:ext cx="7406640" cy="640080"/>
          </a:xfrm>
          <a:prstGeom prst="roundRect">
            <a:avLst>
              <a:gd name="adj" fmla="val 14286"/>
            </a:avLst>
          </a:prstGeom>
          <a:solidFill>
            <a:srgbClr val="FDF0D5"/>
          </a:solidFill>
          <a:ln w="6350">
            <a:solidFill>
              <a:srgbClr val="4A4E69">
                <a:alpha val="5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463040" y="1508760"/>
            <a:ext cx="7040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这个故事的意义落点清晰吗？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57200" y="2423160"/>
            <a:ext cx="640080" cy="640080"/>
          </a:xfrm>
          <a:prstGeom prst="ellipse">
            <a:avLst/>
          </a:prstGeom>
          <a:solidFill>
            <a:srgbClr val="C1121F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256032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Q2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1280160" y="2423160"/>
            <a:ext cx="7406640" cy="640080"/>
          </a:xfrm>
          <a:prstGeom prst="roundRect">
            <a:avLst>
              <a:gd name="adj" fmla="val 14286"/>
            </a:avLst>
          </a:prstGeom>
          <a:solidFill>
            <a:srgbClr val="FDF0D5"/>
          </a:solidFill>
          <a:ln w="6350">
            <a:solidFill>
              <a:srgbClr val="4A4E69">
                <a:alpha val="5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463040" y="2560320"/>
            <a:ext cx="7040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这个故事的场景，对目标学员来说，感觉有关联吗？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57200" y="3474720"/>
            <a:ext cx="640080" cy="640080"/>
          </a:xfrm>
          <a:prstGeom prst="ellipse">
            <a:avLst/>
          </a:prstGeom>
          <a:solidFill>
            <a:srgbClr val="C1121F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361188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Q3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1280160" y="3474720"/>
            <a:ext cx="7406640" cy="640080"/>
          </a:xfrm>
          <a:prstGeom prst="roundRect">
            <a:avLst>
              <a:gd name="adj" fmla="val 14286"/>
            </a:avLst>
          </a:prstGeom>
          <a:solidFill>
            <a:srgbClr val="FDF0D5"/>
          </a:solidFill>
          <a:ln w="6350">
            <a:solidFill>
              <a:srgbClr val="4A4E69">
                <a:alpha val="5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463040" y="3611880"/>
            <a:ext cx="7040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这个故事放在这个位置的目的是什么？目的合理吗？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57200" y="4434840"/>
            <a:ext cx="73152" cy="320040"/>
          </a:xfrm>
          <a:prstGeom prst="rect">
            <a:avLst/>
          </a:prstGeom>
          <a:solidFill>
            <a:srgbClr val="E29578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44348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提示：反馈时先说"我觉得……"而不是"你应该……"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503920" y="46634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4E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93</a:t>
            </a:r>
            <a:endParaRPr lang="en-US" sz="1200" dirty="0"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82880"/>
          </a:xfrm>
          <a:prstGeom prst="rect">
            <a:avLst/>
          </a:prstGeom>
          <a:solidFill>
            <a:srgbClr val="C1121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C112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关键认知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8229600" cy="2560320"/>
          </a:xfrm>
          <a:prstGeom prst="roundRect">
            <a:avLst>
              <a:gd name="adj" fmla="val 5357"/>
            </a:avLst>
          </a:prstGeom>
          <a:solidFill>
            <a:srgbClr val="FDF0D5"/>
          </a:solidFill>
          <a:ln w="38100">
            <a:solidFill>
              <a:srgbClr val="E2957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37160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E2957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</a:t>
            </a:r>
            <a:endParaRPr lang="en-US" sz="7200" dirty="0"/>
          </a:p>
        </p:txBody>
      </p:sp>
      <p:sp>
        <p:nvSpPr>
          <p:cNvPr id="6" name="Text 4"/>
          <p:cNvSpPr/>
          <p:nvPr/>
        </p:nvSpPr>
        <p:spPr>
          <a:xfrm>
            <a:off x="914400" y="1828800"/>
            <a:ext cx="73152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C112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找故事点位，不是问</a:t>
            </a:r>
            <a:endParaRPr lang="en-US" sz="2400" dirty="0"/>
          </a:p>
          <a:p>
            <a:pPr algn="ctr" indent="0" marL="0">
              <a:buNone/>
            </a:pPr>
            <a:r>
              <a:rPr lang="en-US" sz="2400" dirty="0">
                <a:solidFill>
                  <a:srgbClr val="C112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"我可以在哪里用故事"，</a:t>
            </a:r>
            <a:endParaRPr lang="en-US" sz="2400" dirty="0"/>
          </a:p>
          <a:p>
            <a:pPr algn="ctr" indent="0" marL="0">
              <a:buNone/>
            </a:pPr>
            <a:r>
              <a:rPr lang="en-US" sz="2400" dirty="0">
                <a:solidFill>
                  <a:srgbClr val="C112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而是问</a:t>
            </a:r>
            <a:endParaRPr lang="en-US" sz="2400" dirty="0"/>
          </a:p>
          <a:p>
            <a:pPr algn="ctr" indent="0" marL="0">
              <a:buNone/>
            </a:pPr>
            <a:r>
              <a:rPr lang="en-US" sz="2400" dirty="0">
                <a:solidFill>
                  <a:srgbClr val="C112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"这里，学员缺少什么？"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7772400" y="301752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E2957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</a:t>
            </a:r>
            <a:endParaRPr lang="en-US" sz="7200" dirty="0"/>
          </a:p>
        </p:txBody>
      </p:sp>
      <p:sp>
        <p:nvSpPr>
          <p:cNvPr id="8" name="Shape 6"/>
          <p:cNvSpPr/>
          <p:nvPr/>
        </p:nvSpPr>
        <p:spPr>
          <a:xfrm>
            <a:off x="3200400" y="4206240"/>
            <a:ext cx="2743200" cy="457200"/>
          </a:xfrm>
          <a:prstGeom prst="roundRect">
            <a:avLst>
              <a:gd name="adj" fmla="val 20000"/>
            </a:avLst>
          </a:prstGeom>
          <a:solidFill>
            <a:srgbClr val="C1121F"/>
          </a:solidFill>
          <a:ln/>
        </p:spPr>
      </p:sp>
      <p:sp>
        <p:nvSpPr>
          <p:cNvPr id="9" name="Text 7"/>
          <p:cNvSpPr/>
          <p:nvPr/>
        </p:nvSpPr>
        <p:spPr>
          <a:xfrm>
            <a:off x="3200400" y="42519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学员视角 &gt; 讲师视角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503920" y="46634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4E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94</a:t>
            </a:r>
            <a:endParaRPr lang="en-US" sz="1200" dirty="0"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C1121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C112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第三章知识框架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1828800" cy="365760"/>
          </a:xfrm>
          <a:prstGeom prst="roundRect">
            <a:avLst>
              <a:gd name="adj" fmla="val 25000"/>
            </a:avLst>
          </a:prstGeom>
          <a:solidFill>
            <a:srgbClr val="E29578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216152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故事影响力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828800"/>
            <a:ext cx="384048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25400">
            <a:solidFill>
              <a:srgbClr val="C1121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2148840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C112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1371600" y="219456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五个故事点位信号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4846320" y="1828800"/>
            <a:ext cx="384048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25400">
            <a:solidFill>
              <a:srgbClr val="C1121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0" y="2148840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C112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5760720" y="219456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五步倒推法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457200" y="3383280"/>
            <a:ext cx="384048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25400">
            <a:solidFill>
              <a:srgbClr val="C1121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3703320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C112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1371600" y="374904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三种放置方式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4846320" y="3383280"/>
            <a:ext cx="384048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25400">
            <a:solidFill>
              <a:srgbClr val="C1121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0" y="3703320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C112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3200" dirty="0"/>
          </a:p>
        </p:txBody>
      </p:sp>
      <p:sp>
        <p:nvSpPr>
          <p:cNvPr id="17" name="Text 15"/>
          <p:cNvSpPr/>
          <p:nvPr/>
        </p:nvSpPr>
        <p:spPr>
          <a:xfrm>
            <a:off x="5760720" y="374904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避免说教感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457200" y="4526280"/>
            <a:ext cx="73152" cy="320040"/>
          </a:xfrm>
          <a:prstGeom prst="rect">
            <a:avLst/>
          </a:prstGeom>
          <a:solidFill>
            <a:srgbClr val="E29578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" y="45262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掌握这四个模块，构建故事影响力完整方法论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503920" y="46634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4E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95</a:t>
            </a:r>
            <a:endParaRPr lang="en-US" sz="1200" dirty="0"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4">
    <p:bg>
      <p:bgPr>
        <a:solidFill>
          <a:srgbClr val="C112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0" cy="5143500"/>
          </a:xfrm>
          <a:prstGeom prst="rect">
            <a:avLst/>
          </a:prstGeom>
          <a:solidFill>
            <a:srgbClr val="4A4E69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1645920"/>
            <a:ext cx="22860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600" b="1" dirty="0">
                <a:solidFill>
                  <a:srgbClr val="FDF0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9600" dirty="0"/>
          </a:p>
        </p:txBody>
      </p:sp>
      <p:sp>
        <p:nvSpPr>
          <p:cNvPr id="4" name="Text 2"/>
          <p:cNvSpPr/>
          <p:nvPr/>
        </p:nvSpPr>
        <p:spPr>
          <a:xfrm>
            <a:off x="0" y="301752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spc="400" kern="0" dirty="0">
                <a:solidFill>
                  <a:srgbClr val="FDF0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CHAPTER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2743200" y="1645920"/>
            <a:ext cx="5943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讲出来才算数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2743200" y="2651760"/>
            <a:ext cx="5943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FDF0D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交付习惯与定制化保障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2743200" y="3383280"/>
            <a:ext cx="2743200" cy="54864"/>
          </a:xfrm>
          <a:prstGeom prst="rect">
            <a:avLst/>
          </a:prstGeom>
          <a:solidFill>
            <a:srgbClr val="E29578"/>
          </a:solidFill>
          <a:ln/>
        </p:spPr>
      </p:sp>
      <p:sp>
        <p:nvSpPr>
          <p:cNvPr id="8" name="Shape 6"/>
          <p:cNvSpPr/>
          <p:nvPr/>
        </p:nvSpPr>
        <p:spPr>
          <a:xfrm>
            <a:off x="8503920" y="4663440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9" name="Text 7"/>
          <p:cNvSpPr/>
          <p:nvPr/>
        </p:nvSpPr>
        <p:spPr>
          <a:xfrm>
            <a:off x="8503920" y="46634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112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96</a:t>
            </a:r>
            <a:endParaRPr lang="en-US" sz="1200" dirty="0"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5">
    <p:bg>
      <p:bgPr>
        <a:solidFill>
          <a:srgbClr val="FEFA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C112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先读两种讲法的描述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1828800" cy="45720"/>
          </a:xfrm>
          <a:prstGeom prst="rect">
            <a:avLst/>
          </a:prstGeom>
          <a:solidFill>
            <a:srgbClr val="E29578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371600"/>
            <a:ext cx="3931920" cy="2286000"/>
          </a:xfrm>
          <a:prstGeom prst="rect">
            <a:avLst/>
          </a:prstGeom>
          <a:solidFill>
            <a:srgbClr val="FDF0D5"/>
          </a:solidFill>
          <a:ln w="12700">
            <a:solidFill>
              <a:srgbClr val="FDF0D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50876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295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讲法 A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2011680"/>
            <a:ext cx="356616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语速平稳，匀速叙述，讲完立刻总结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754880" y="1371600"/>
            <a:ext cx="3931920" cy="2286000"/>
          </a:xfrm>
          <a:prstGeom prst="rect">
            <a:avLst/>
          </a:prstGeom>
          <a:solidFill>
            <a:srgbClr val="C1121F">
              <a:alpha val="90000"/>
            </a:srgbClr>
          </a:solidFill>
          <a:ln w="12700">
            <a:solidFill>
              <a:srgbClr val="C1121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937760" y="150876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112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讲法 B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937760" y="2011680"/>
            <a:ext cx="356616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停顿、现在时、细节聚焦、落点不宣告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4114800" y="2194560"/>
            <a:ext cx="640080" cy="640080"/>
          </a:xfrm>
          <a:prstGeom prst="ellipse">
            <a:avLst/>
          </a:prstGeom>
          <a:solidFill>
            <a:srgbClr val="E29578"/>
          </a:solidFill>
          <a:ln/>
        </p:spPr>
      </p:sp>
      <p:sp>
        <p:nvSpPr>
          <p:cNvPr id="11" name="Text 9"/>
          <p:cNvSpPr/>
          <p:nvPr/>
        </p:nvSpPr>
        <p:spPr>
          <a:xfrm>
            <a:off x="4114800" y="21945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503920" y="4663440"/>
            <a:ext cx="457200" cy="457200"/>
          </a:xfrm>
          <a:prstGeom prst="ellipse">
            <a:avLst/>
          </a:prstGeom>
          <a:solidFill>
            <a:srgbClr val="C1121F"/>
          </a:solidFill>
          <a:ln/>
        </p:spPr>
      </p:sp>
      <p:sp>
        <p:nvSpPr>
          <p:cNvPr id="13" name="Text 11"/>
          <p:cNvSpPr/>
          <p:nvPr/>
        </p:nvSpPr>
        <p:spPr>
          <a:xfrm>
            <a:off x="8503920" y="46634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97</a:t>
            </a:r>
            <a:endParaRPr lang="en-US" sz="1200" dirty="0"/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6">
    <p:bg>
      <p:bgPr>
        <a:solidFill>
          <a:srgbClr val="FEFA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C112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对比读完之后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1828800" cy="45720"/>
          </a:xfrm>
          <a:prstGeom prst="rect">
            <a:avLst/>
          </a:prstGeom>
          <a:solidFill>
            <a:srgbClr val="E29578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371600"/>
            <a:ext cx="457200" cy="457200"/>
          </a:xfrm>
          <a:prstGeom prst="ellipse">
            <a:avLst/>
          </a:prstGeom>
          <a:solidFill>
            <a:srgbClr val="E29578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3716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1097280" y="1371600"/>
            <a:ext cx="7589520" cy="548640"/>
          </a:xfrm>
          <a:prstGeom prst="rect">
            <a:avLst/>
          </a:prstGeom>
          <a:solidFill>
            <a:srgbClr val="FDF0D5"/>
          </a:solidFill>
          <a:ln w="12700">
            <a:solidFill>
              <a:srgbClr val="FDF0D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280160" y="1371600"/>
            <a:ext cx="7223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哪种更可能让你记住这个故事？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457200" y="2194560"/>
            <a:ext cx="457200" cy="457200"/>
          </a:xfrm>
          <a:prstGeom prst="ellipse">
            <a:avLst/>
          </a:prstGeom>
          <a:solidFill>
            <a:srgbClr val="E29578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21945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1097280" y="2194560"/>
            <a:ext cx="7589520" cy="548640"/>
          </a:xfrm>
          <a:prstGeom prst="rect">
            <a:avLst/>
          </a:prstGeom>
          <a:solidFill>
            <a:srgbClr val="FDF0D5"/>
          </a:solidFill>
          <a:ln w="12700">
            <a:solidFill>
              <a:srgbClr val="FDF0D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280160" y="2194560"/>
            <a:ext cx="7223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讲法B做了哪些讲法A没做的事？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457200" y="3017520"/>
            <a:ext cx="457200" cy="457200"/>
          </a:xfrm>
          <a:prstGeom prst="ellipse">
            <a:avLst/>
          </a:prstGeom>
          <a:solidFill>
            <a:srgbClr val="E29578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30175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1097280" y="3017520"/>
            <a:ext cx="7589520" cy="548640"/>
          </a:xfrm>
          <a:prstGeom prst="rect">
            <a:avLst/>
          </a:prstGeom>
          <a:solidFill>
            <a:srgbClr val="FDF0D5"/>
          </a:solidFill>
          <a:ln w="12700">
            <a:solidFill>
              <a:srgbClr val="FDF0D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280160" y="3017520"/>
            <a:ext cx="7223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那三秒的停顿起了什么作用？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457200" y="3840480"/>
            <a:ext cx="457200" cy="457200"/>
          </a:xfrm>
          <a:prstGeom prst="ellipse">
            <a:avLst/>
          </a:prstGeom>
          <a:solidFill>
            <a:srgbClr val="E29578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38404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1097280" y="3840480"/>
            <a:ext cx="7589520" cy="548640"/>
          </a:xfrm>
          <a:prstGeom prst="rect">
            <a:avLst/>
          </a:prstGeom>
          <a:solidFill>
            <a:srgbClr val="FDF0D5"/>
          </a:solidFill>
          <a:ln w="12700">
            <a:solidFill>
              <a:srgbClr val="FDF0D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280160" y="3840480"/>
            <a:ext cx="7223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B最后那句话的语气是什么感觉？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8503920" y="4663440"/>
            <a:ext cx="457200" cy="457200"/>
          </a:xfrm>
          <a:prstGeom prst="ellipse">
            <a:avLst/>
          </a:prstGeom>
          <a:solidFill>
            <a:srgbClr val="C1121F"/>
          </a:solidFill>
          <a:ln/>
        </p:spPr>
      </p:sp>
      <p:sp>
        <p:nvSpPr>
          <p:cNvPr id="21" name="Text 19"/>
          <p:cNvSpPr/>
          <p:nvPr/>
        </p:nvSpPr>
        <p:spPr>
          <a:xfrm>
            <a:off x="8503920" y="46634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98</a:t>
            </a:r>
            <a:endParaRPr lang="en-US" sz="1200" dirty="0"/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7">
    <p:bg>
      <p:bgPr>
        <a:solidFill>
          <a:srgbClr val="FEFA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097280" cy="411480"/>
          </a:xfrm>
          <a:prstGeom prst="rect">
            <a:avLst/>
          </a:prstGeom>
          <a:solidFill>
            <a:srgbClr val="E2957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维度一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691640" y="320040"/>
            <a:ext cx="6400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C112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行业与职能相关性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8229600" cy="1188720"/>
          </a:xfrm>
          <a:prstGeom prst="rect">
            <a:avLst/>
          </a:prstGeom>
          <a:solidFill>
            <a:srgbClr val="FDF0D5"/>
          </a:solidFill>
          <a:ln w="12700">
            <a:solidFill>
              <a:srgbClr val="FDF0D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18872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295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调整方式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160020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改变故事中人物的职位描述、工作场景、行业背景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457200" y="2560320"/>
            <a:ext cx="8229600" cy="1371600"/>
          </a:xfrm>
          <a:prstGeom prst="rect">
            <a:avLst/>
          </a:prstGeom>
          <a:solidFill>
            <a:srgbClr val="C1121F">
              <a:alpha val="90000"/>
            </a:srgbClr>
          </a:solidFill>
          <a:ln w="12700">
            <a:solidFill>
              <a:srgbClr val="C1121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269748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112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核心原则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0080" y="315468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核心情节不变，背景换了，相关性就提升了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8503920" y="4663440"/>
            <a:ext cx="457200" cy="457200"/>
          </a:xfrm>
          <a:prstGeom prst="ellipse">
            <a:avLst/>
          </a:prstGeom>
          <a:solidFill>
            <a:srgbClr val="C1121F"/>
          </a:solidFill>
          <a:ln/>
        </p:spPr>
      </p:sp>
      <p:sp>
        <p:nvSpPr>
          <p:cNvPr id="12" name="Text 10"/>
          <p:cNvSpPr/>
          <p:nvPr/>
        </p:nvSpPr>
        <p:spPr>
          <a:xfrm>
            <a:off x="8503920" y="46634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110</a:t>
            </a:r>
            <a:endParaRPr lang="en-US" sz="1200" dirty="0"/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8">
    <p:bg>
      <p:bgPr>
        <a:solidFill>
          <a:srgbClr val="FEFA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097280" cy="411480"/>
          </a:xfrm>
          <a:prstGeom prst="rect">
            <a:avLst/>
          </a:prstGeom>
          <a:solidFill>
            <a:srgbClr val="E2957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维度二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691640" y="320040"/>
            <a:ext cx="6400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C112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年资与经验层次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8229600" cy="1188720"/>
          </a:xfrm>
          <a:prstGeom prst="rect">
            <a:avLst/>
          </a:prstGeom>
          <a:solidFill>
            <a:srgbClr val="FDF0D5"/>
          </a:solidFill>
          <a:ln w="12700">
            <a:solidFill>
              <a:srgbClr val="FDF0D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18872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295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调整方式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160020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改变故事主角的经验程度，让困境的复杂度和学员匹配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457200" y="2560320"/>
            <a:ext cx="8229600" cy="1371600"/>
          </a:xfrm>
          <a:prstGeom prst="rect">
            <a:avLst/>
          </a:prstGeom>
          <a:solidFill>
            <a:srgbClr val="C1121F">
              <a:alpha val="90000"/>
            </a:srgbClr>
          </a:solidFill>
          <a:ln w="12700">
            <a:solidFill>
              <a:srgbClr val="C1121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269748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112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示例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40080" y="3108960"/>
            <a:ext cx="347472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4A4E6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3108960"/>
            <a:ext cx="3474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新晋管理者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114800" y="31546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295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663440" y="3108960"/>
            <a:ext cx="347472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4A4E6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63440" y="3108960"/>
            <a:ext cx="3474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资深管理者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8503920" y="4663440"/>
            <a:ext cx="457200" cy="457200"/>
          </a:xfrm>
          <a:prstGeom prst="ellipse">
            <a:avLst/>
          </a:prstGeom>
          <a:solidFill>
            <a:srgbClr val="C1121F"/>
          </a:solidFill>
          <a:ln/>
        </p:spPr>
      </p:sp>
      <p:sp>
        <p:nvSpPr>
          <p:cNvPr id="16" name="Text 14"/>
          <p:cNvSpPr/>
          <p:nvPr/>
        </p:nvSpPr>
        <p:spPr>
          <a:xfrm>
            <a:off x="8503920" y="46634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111</a:t>
            </a:r>
            <a:endParaRPr lang="en-US" sz="1200" dirty="0"/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9">
    <p:bg>
      <p:bgPr>
        <a:solidFill>
          <a:srgbClr val="FEFA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0">
    <p:bg>
      <p:bgPr>
        <a:solidFill>
          <a:srgbClr val="FEFA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1">
    <p:bg>
      <p:bgPr>
        <a:solidFill>
          <a:srgbClr val="FEFA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2">
    <p:bg>
      <p:bgPr>
        <a:solidFill>
          <a:srgbClr val="FEFA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3">
    <p:bg>
      <p:bgPr>
        <a:solidFill>
          <a:srgbClr val="FEFA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4">
    <p:bg>
      <p:bgPr>
        <a:solidFill>
          <a:srgbClr val="FEFA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5">
    <p:bg>
      <p:bgPr>
        <a:solidFill>
          <a:srgbClr val="FEFA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6">
    <p:bg>
      <p:bgPr>
        <a:solidFill>
          <a:srgbClr val="FEFA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7">
    <p:bg>
      <p:bgPr>
        <a:solidFill>
          <a:srgbClr val="FEFA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8">
    <p:bg>
      <p:bgPr>
        <a:solidFill>
          <a:srgbClr val="FEFA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9">
    <p:bg>
      <p:bgPr>
        <a:solidFill>
          <a:srgbClr val="FEFA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0">
    <p:bg>
      <p:bgPr>
        <a:solidFill>
          <a:srgbClr val="FEFA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1">
    <p:bg>
      <p:bgPr>
        <a:solidFill>
          <a:srgbClr val="FEFA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2">
    <p:bg>
      <p:bgPr>
        <a:solidFill>
          <a:srgbClr val="FEFA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3">
    <p:bg>
      <p:bgPr>
        <a:solidFill>
          <a:srgbClr val="FEFA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4">
    <p:bg>
      <p:bgPr>
        <a:solidFill>
          <a:srgbClr val="FEFA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5">
    <p:bg>
      <p:bgPr>
        <a:solidFill>
          <a:srgbClr val="FEFA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6">
    <p:bg>
      <p:bgPr>
        <a:solidFill>
          <a:srgbClr val="FEFA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7">
    <p:bg>
      <p:bgPr>
        <a:solidFill>
          <a:srgbClr val="FEFA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8">
    <p:bg>
      <p:bgPr>
        <a:solidFill>
          <a:srgbClr val="FEFA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9">
    <p:bg>
      <p:bgPr>
        <a:solidFill>
          <a:srgbClr val="FEFA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0">
    <p:bg>
      <p:bgPr>
        <a:solidFill>
          <a:srgbClr val="FEFA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1">
    <p:bg>
      <p:bgPr>
        <a:solidFill>
          <a:srgbClr val="FEFA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101</Slides>
  <Notes>101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101</vt:i4>
      </vt:variant>
    </vt:vector>
  </HeadingPairs>
  <TitlesOfParts>
    <vt:vector size="10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  <vt:lpstr>Slide 74</vt:lpstr>
      <vt:lpstr>Slide 75</vt:lpstr>
      <vt:lpstr>Slide 76</vt:lpstr>
      <vt:lpstr>Slide 77</vt:lpstr>
      <vt:lpstr>Slide 78</vt:lpstr>
      <vt:lpstr>Slide 79</vt:lpstr>
      <vt:lpstr>Slide 80</vt:lpstr>
      <vt:lpstr>Slide 81</vt:lpstr>
      <vt:lpstr>Slide 82</vt:lpstr>
      <vt:lpstr>Slide 83</vt:lpstr>
      <vt:lpstr>Slide 84</vt:lpstr>
      <vt:lpstr>Slide 85</vt:lpstr>
      <vt:lpstr>Slide 86</vt:lpstr>
      <vt:lpstr>Slide 87</vt:lpstr>
      <vt:lpstr>Slide 88</vt:lpstr>
      <vt:lpstr>Slide 89</vt:lpstr>
      <vt:lpstr>Slide 90</vt:lpstr>
      <vt:lpstr>Slide 91</vt:lpstr>
      <vt:lpstr>Slide 92</vt:lpstr>
      <vt:lpstr>Slide 93</vt:lpstr>
      <vt:lpstr>Slide 94</vt:lpstr>
      <vt:lpstr>Slide 95</vt:lpstr>
      <vt:lpstr>Slide 96</vt:lpstr>
      <vt:lpstr>Slide 97</vt:lpstr>
      <vt:lpstr>Slide 98</vt:lpstr>
      <vt:lpstr>Slide 99</vt:lpstr>
      <vt:lpstr>Slide 100</vt:lpstr>
      <vt:lpstr>Slide 101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内训师的故事影响力</dc:title>
  <dc:subject>PptxGenJS Presentation</dc:subject>
  <dc:creator>课程开发团队</dc:creator>
  <cp:lastModifiedBy>课程开发团队</cp:lastModifiedBy>
  <cp:revision>1</cp:revision>
  <dcterms:created xsi:type="dcterms:W3CDTF">2026-06-23T16:39:22Z</dcterms:created>
  <dcterms:modified xsi:type="dcterms:W3CDTF">2026-06-23T16:39:22Z</dcterms:modified>
</cp:coreProperties>
</file>