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780000"/>
          </a:solidFill>
          <a:ln/>
        </p:spPr>
      </p:sp>
      <p:sp>
        <p:nvSpPr>
          <p:cNvPr id="3" name="Shape 1"/>
          <p:cNvSpPr/>
          <p:nvPr/>
        </p:nvSpPr>
        <p:spPr>
          <a:xfrm>
            <a:off x="0" y="137160"/>
            <a:ext cx="365760" cy="5006340"/>
          </a:xfrm>
          <a:prstGeom prst="rect">
            <a:avLst/>
          </a:prstGeom>
          <a:solidFill>
            <a:srgbClr val="003049"/>
          </a:solidFill>
          <a:ln/>
        </p:spPr>
      </p:sp>
      <p:sp>
        <p:nvSpPr>
          <p:cNvPr id="4" name="Text 2"/>
          <p:cNvSpPr/>
          <p:nvPr/>
        </p:nvSpPr>
        <p:spPr>
          <a:xfrm>
            <a:off x="731520" y="1463040"/>
            <a:ext cx="7772400" cy="1097280"/>
          </a:xfrm>
          <a:prstGeom prst="rect">
            <a:avLst/>
          </a:prstGeom>
          <a:noFill/>
          <a:ln/>
        </p:spPr>
        <p:txBody>
          <a:bodyPr wrap="square" rtlCol="0" anchor="ctr"/>
          <a:lstStyle/>
          <a:p>
            <a:pPr algn="l" indent="0" marL="0">
              <a:buNone/>
            </a:pPr>
            <a:r>
              <a:rPr lang="en-US" sz="5400" b="1" dirty="0">
                <a:solidFill>
                  <a:srgbClr val="780000"/>
                </a:solidFill>
                <a:latin typeface="Microsoft YaHei" pitchFamily="34" charset="0"/>
                <a:ea typeface="Microsoft YaHei" pitchFamily="34" charset="-122"/>
                <a:cs typeface="Microsoft YaHei" pitchFamily="34" charset="-120"/>
              </a:rPr>
              <a:t>斯密思想的现代回响</a:t>
            </a:r>
            <a:endParaRPr lang="en-US" sz="5400" dirty="0"/>
          </a:p>
        </p:txBody>
      </p:sp>
      <p:sp>
        <p:nvSpPr>
          <p:cNvPr id="5" name="Text 3"/>
          <p:cNvSpPr/>
          <p:nvPr/>
        </p:nvSpPr>
        <p:spPr>
          <a:xfrm>
            <a:off x="731520" y="2560320"/>
            <a:ext cx="7772400" cy="548640"/>
          </a:xfrm>
          <a:prstGeom prst="rect">
            <a:avLst/>
          </a:prstGeom>
          <a:noFill/>
          <a:ln/>
        </p:spPr>
        <p:txBody>
          <a:bodyPr wrap="square" rtlCol="0" anchor="ctr"/>
          <a:lstStyle/>
          <a:p>
            <a:pPr algn="l" indent="0" marL="0">
              <a:buNone/>
            </a:pPr>
            <a:r>
              <a:rPr lang="en-US" sz="2800" dirty="0">
                <a:solidFill>
                  <a:srgbClr val="003049"/>
                </a:solidFill>
                <a:latin typeface="Microsoft YaHei" pitchFamily="34" charset="0"/>
                <a:ea typeface="Microsoft YaHei" pitchFamily="34" charset="-122"/>
                <a:cs typeface="Microsoft YaHei" pitchFamily="34" charset="-120"/>
              </a:rPr>
              <a:t>从他到哈耶克、弗里德曼</a:t>
            </a:r>
            <a:endParaRPr lang="en-US" sz="2800" dirty="0"/>
          </a:p>
        </p:txBody>
      </p:sp>
      <p:sp>
        <p:nvSpPr>
          <p:cNvPr id="6" name="Shape 4"/>
          <p:cNvSpPr/>
          <p:nvPr/>
        </p:nvSpPr>
        <p:spPr>
          <a:xfrm>
            <a:off x="731520" y="3291840"/>
            <a:ext cx="3657600" cy="36576"/>
          </a:xfrm>
          <a:prstGeom prst="rect">
            <a:avLst/>
          </a:prstGeom>
          <a:solidFill>
            <a:srgbClr val="C1121F"/>
          </a:solidFill>
          <a:ln/>
        </p:spPr>
      </p:sp>
      <p:sp>
        <p:nvSpPr>
          <p:cNvPr id="7" name="Text 5"/>
          <p:cNvSpPr/>
          <p:nvPr/>
        </p:nvSpPr>
        <p:spPr>
          <a:xfrm>
            <a:off x="731520" y="3566160"/>
            <a:ext cx="3657600" cy="457200"/>
          </a:xfrm>
          <a:prstGeom prst="rect">
            <a:avLst/>
          </a:prstGeom>
          <a:noFill/>
          <a:ln/>
        </p:spPr>
        <p:txBody>
          <a:bodyPr wrap="square" rtlCol="0" anchor="ctr"/>
          <a:lstStyle/>
          <a:p>
            <a:pPr algn="l" indent="0" marL="0">
              <a:buNone/>
            </a:pPr>
            <a:r>
              <a:rPr lang="en-US" sz="1600" dirty="0">
                <a:solidFill>
                  <a:srgbClr val="669BBC"/>
                </a:solidFill>
                <a:latin typeface="Microsoft YaHei" pitchFamily="34" charset="0"/>
                <a:ea typeface="Microsoft YaHei" pitchFamily="34" charset="-122"/>
                <a:cs typeface="Microsoft YaHei" pitchFamily="34" charset="-120"/>
              </a:rPr>
              <a:t>课程编号 24</a:t>
            </a:r>
            <a:endParaRPr lang="en-US" sz="1600" dirty="0"/>
          </a:p>
        </p:txBody>
      </p:sp>
      <p:sp>
        <p:nvSpPr>
          <p:cNvPr id="8" name="Shape 6"/>
          <p:cNvSpPr/>
          <p:nvPr/>
        </p:nvSpPr>
        <p:spPr>
          <a:xfrm>
            <a:off x="0" y="4960620"/>
            <a:ext cx="9144000" cy="182880"/>
          </a:xfrm>
          <a:prstGeom prst="rect">
            <a:avLst/>
          </a:prstGeom>
          <a:solidFill>
            <a:srgbClr val="780000"/>
          </a:solidFill>
          <a:ln/>
        </p:spPr>
      </p:sp>
      <p:sp>
        <p:nvSpPr>
          <p:cNvPr id="9" name="Shape 7"/>
          <p:cNvSpPr/>
          <p:nvPr/>
        </p:nvSpPr>
        <p:spPr>
          <a:xfrm>
            <a:off x="7498080" y="1097280"/>
            <a:ext cx="1097280" cy="1097280"/>
          </a:xfrm>
          <a:prstGeom prst="ellipse">
            <a:avLst/>
          </a:prstGeom>
          <a:solidFill>
            <a:srgbClr val="669BBC">
              <a:alpha val="70000"/>
            </a:srgbClr>
          </a:solidFill>
          <a:ln/>
        </p:spPr>
      </p:sp>
      <p:sp>
        <p:nvSpPr>
          <p:cNvPr id="10" name="Shape 8"/>
          <p:cNvSpPr/>
          <p:nvPr/>
        </p:nvSpPr>
        <p:spPr>
          <a:xfrm>
            <a:off x="7863840" y="1463040"/>
            <a:ext cx="731520" cy="731520"/>
          </a:xfrm>
          <a:prstGeom prst="ellipse">
            <a:avLst/>
          </a:prstGeom>
          <a:solidFill>
            <a:srgbClr val="C1121F">
              <a:alpha val="6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73152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课程全景图</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algn="l" indent="0" marL="0">
              <a:buNone/>
            </a:pPr>
            <a:r>
              <a:rPr lang="en-US" sz="1600" dirty="0">
                <a:solidFill>
                  <a:srgbClr val="669BBC"/>
                </a:solidFill>
                <a:latin typeface="Microsoft YaHei" pitchFamily="34" charset="0"/>
                <a:ea typeface="Microsoft YaHei" pitchFamily="34" charset="-122"/>
                <a:cs typeface="Microsoft YaHei" pitchFamily="34" charset="-120"/>
              </a:rPr>
              <a:t>5个模块 · 90页精讲</a:t>
            </a:r>
            <a:endParaRPr lang="en-US" sz="1600" dirty="0"/>
          </a:p>
        </p:txBody>
      </p:sp>
      <p:sp>
        <p:nvSpPr>
          <p:cNvPr id="5" name="Shape 3"/>
          <p:cNvSpPr/>
          <p:nvPr/>
        </p:nvSpPr>
        <p:spPr>
          <a:xfrm>
            <a:off x="457200" y="1371600"/>
            <a:ext cx="1828800" cy="27432"/>
          </a:xfrm>
          <a:prstGeom prst="rect">
            <a:avLst/>
          </a:prstGeom>
          <a:solidFill>
            <a:srgbClr val="C1121F"/>
          </a:solidFill>
          <a:ln/>
        </p:spPr>
      </p:sp>
      <p:sp>
        <p:nvSpPr>
          <p:cNvPr id="6" name="Shape 4"/>
          <p:cNvSpPr/>
          <p:nvPr/>
        </p:nvSpPr>
        <p:spPr>
          <a:xfrm>
            <a:off x="457200" y="1645920"/>
            <a:ext cx="457200" cy="457200"/>
          </a:xfrm>
          <a:prstGeom prst="ellipse">
            <a:avLst/>
          </a:prstGeom>
          <a:solidFill>
            <a:srgbClr val="780000"/>
          </a:solidFill>
          <a:ln/>
        </p:spPr>
      </p:sp>
      <p:sp>
        <p:nvSpPr>
          <p:cNvPr id="7" name="Text 5"/>
          <p:cNvSpPr/>
          <p:nvPr/>
        </p:nvSpPr>
        <p:spPr>
          <a:xfrm>
            <a:off x="457200" y="16459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1097280" y="1645920"/>
            <a:ext cx="2286000" cy="457200"/>
          </a:xfrm>
          <a:prstGeom prst="rect">
            <a:avLst/>
          </a:prstGeom>
          <a:noFill/>
          <a:ln/>
        </p:spPr>
        <p:txBody>
          <a:bodyPr wrap="square" rtlCol="0" anchor="ctr"/>
          <a:lstStyle/>
          <a:p>
            <a:pPr algn="l" indent="0" marL="0">
              <a:buNone/>
            </a:pPr>
            <a:r>
              <a:rPr lang="en-US" sz="2000" b="1" dirty="0">
                <a:solidFill>
                  <a:srgbClr val="003049"/>
                </a:solidFill>
                <a:latin typeface="Microsoft YaHei" pitchFamily="34" charset="0"/>
                <a:ea typeface="Microsoft YaHei" pitchFamily="34" charset="-122"/>
                <a:cs typeface="Microsoft YaHei" pitchFamily="34" charset="-120"/>
              </a:rPr>
              <a:t>先导部分</a:t>
            </a:r>
            <a:endParaRPr lang="en-US" sz="2000" dirty="0"/>
          </a:p>
        </p:txBody>
      </p:sp>
      <p:sp>
        <p:nvSpPr>
          <p:cNvPr id="9" name="Text 7"/>
          <p:cNvSpPr/>
          <p:nvPr/>
        </p:nvSpPr>
        <p:spPr>
          <a:xfrm>
            <a:off x="3383280" y="1645920"/>
            <a:ext cx="4572000" cy="45720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斯密是谁，为何重要</a:t>
            </a:r>
            <a:endParaRPr lang="en-US" sz="1400" dirty="0"/>
          </a:p>
        </p:txBody>
      </p:sp>
      <p:sp>
        <p:nvSpPr>
          <p:cNvPr id="10" name="Shape 8"/>
          <p:cNvSpPr/>
          <p:nvPr/>
        </p:nvSpPr>
        <p:spPr>
          <a:xfrm>
            <a:off x="667512" y="2103120"/>
            <a:ext cx="36576" cy="182880"/>
          </a:xfrm>
          <a:prstGeom prst="rect">
            <a:avLst/>
          </a:prstGeom>
          <a:solidFill>
            <a:srgbClr val="669BBC">
              <a:alpha val="50000"/>
            </a:srgbClr>
          </a:solidFill>
          <a:ln/>
        </p:spPr>
      </p:sp>
      <p:sp>
        <p:nvSpPr>
          <p:cNvPr id="11" name="Shape 9"/>
          <p:cNvSpPr/>
          <p:nvPr/>
        </p:nvSpPr>
        <p:spPr>
          <a:xfrm>
            <a:off x="457200" y="2286000"/>
            <a:ext cx="457200" cy="457200"/>
          </a:xfrm>
          <a:prstGeom prst="ellipse">
            <a:avLst/>
          </a:prstGeom>
          <a:solidFill>
            <a:srgbClr val="780000"/>
          </a:solidFill>
          <a:ln/>
        </p:spPr>
      </p:sp>
      <p:sp>
        <p:nvSpPr>
          <p:cNvPr id="12" name="Text 10"/>
          <p:cNvSpPr/>
          <p:nvPr/>
        </p:nvSpPr>
        <p:spPr>
          <a:xfrm>
            <a:off x="457200" y="22860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3" name="Text 11"/>
          <p:cNvSpPr/>
          <p:nvPr/>
        </p:nvSpPr>
        <p:spPr>
          <a:xfrm>
            <a:off x="1097280" y="2286000"/>
            <a:ext cx="2286000" cy="457200"/>
          </a:xfrm>
          <a:prstGeom prst="rect">
            <a:avLst/>
          </a:prstGeom>
          <a:noFill/>
          <a:ln/>
        </p:spPr>
        <p:txBody>
          <a:bodyPr wrap="square" rtlCol="0" anchor="ctr"/>
          <a:lstStyle/>
          <a:p>
            <a:pPr algn="l" indent="0" marL="0">
              <a:buNone/>
            </a:pPr>
            <a:r>
              <a:rPr lang="en-US" sz="2000" b="1" dirty="0">
                <a:solidFill>
                  <a:srgbClr val="003049"/>
                </a:solidFill>
                <a:latin typeface="Microsoft YaHei" pitchFamily="34" charset="0"/>
                <a:ea typeface="Microsoft YaHei" pitchFamily="34" charset="-122"/>
                <a:cs typeface="Microsoft YaHei" pitchFamily="34" charset="-120"/>
              </a:rPr>
              <a:t>时代背景</a:t>
            </a:r>
            <a:endParaRPr lang="en-US" sz="2000" dirty="0"/>
          </a:p>
        </p:txBody>
      </p:sp>
      <p:sp>
        <p:nvSpPr>
          <p:cNvPr id="14" name="Text 12"/>
          <p:cNvSpPr/>
          <p:nvPr/>
        </p:nvSpPr>
        <p:spPr>
          <a:xfrm>
            <a:off x="3383280" y="2286000"/>
            <a:ext cx="4572000" cy="45720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18世纪苏格兰的启蒙运动</a:t>
            </a:r>
            <a:endParaRPr lang="en-US" sz="1400" dirty="0"/>
          </a:p>
        </p:txBody>
      </p:sp>
      <p:sp>
        <p:nvSpPr>
          <p:cNvPr id="15" name="Shape 13"/>
          <p:cNvSpPr/>
          <p:nvPr/>
        </p:nvSpPr>
        <p:spPr>
          <a:xfrm>
            <a:off x="667512" y="2743200"/>
            <a:ext cx="36576" cy="182880"/>
          </a:xfrm>
          <a:prstGeom prst="rect">
            <a:avLst/>
          </a:prstGeom>
          <a:solidFill>
            <a:srgbClr val="669BBC">
              <a:alpha val="50000"/>
            </a:srgbClr>
          </a:solidFill>
          <a:ln/>
        </p:spPr>
      </p:sp>
      <p:sp>
        <p:nvSpPr>
          <p:cNvPr id="16" name="Shape 14"/>
          <p:cNvSpPr/>
          <p:nvPr/>
        </p:nvSpPr>
        <p:spPr>
          <a:xfrm>
            <a:off x="457200" y="2926080"/>
            <a:ext cx="457200" cy="457200"/>
          </a:xfrm>
          <a:prstGeom prst="ellipse">
            <a:avLst/>
          </a:prstGeom>
          <a:solidFill>
            <a:srgbClr val="780000"/>
          </a:solidFill>
          <a:ln/>
        </p:spPr>
      </p:sp>
      <p:sp>
        <p:nvSpPr>
          <p:cNvPr id="17" name="Text 15"/>
          <p:cNvSpPr/>
          <p:nvPr/>
        </p:nvSpPr>
        <p:spPr>
          <a:xfrm>
            <a:off x="457200" y="292608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8" name="Text 16"/>
          <p:cNvSpPr/>
          <p:nvPr/>
        </p:nvSpPr>
        <p:spPr>
          <a:xfrm>
            <a:off x="1097280" y="2926080"/>
            <a:ext cx="2286000" cy="457200"/>
          </a:xfrm>
          <a:prstGeom prst="rect">
            <a:avLst/>
          </a:prstGeom>
          <a:noFill/>
          <a:ln/>
        </p:spPr>
        <p:txBody>
          <a:bodyPr wrap="square" rtlCol="0" anchor="ctr"/>
          <a:lstStyle/>
          <a:p>
            <a:pPr algn="l" indent="0" marL="0">
              <a:buNone/>
            </a:pPr>
            <a:r>
              <a:rPr lang="en-US" sz="2000" b="1" dirty="0">
                <a:solidFill>
                  <a:srgbClr val="003049"/>
                </a:solidFill>
                <a:latin typeface="Microsoft YaHei" pitchFamily="34" charset="0"/>
                <a:ea typeface="Microsoft YaHei" pitchFamily="34" charset="-122"/>
                <a:cs typeface="Microsoft YaHei" pitchFamily="34" charset="-120"/>
              </a:rPr>
              <a:t>核心思想</a:t>
            </a:r>
            <a:endParaRPr lang="en-US" sz="2000" dirty="0"/>
          </a:p>
        </p:txBody>
      </p:sp>
      <p:sp>
        <p:nvSpPr>
          <p:cNvPr id="19" name="Text 17"/>
          <p:cNvSpPr/>
          <p:nvPr/>
        </p:nvSpPr>
        <p:spPr>
          <a:xfrm>
            <a:off x="3383280" y="2926080"/>
            <a:ext cx="4572000" cy="45720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看不见的手与道德哲学</a:t>
            </a:r>
            <a:endParaRPr lang="en-US" sz="1400" dirty="0"/>
          </a:p>
        </p:txBody>
      </p:sp>
      <p:sp>
        <p:nvSpPr>
          <p:cNvPr id="20" name="Shape 18"/>
          <p:cNvSpPr/>
          <p:nvPr/>
        </p:nvSpPr>
        <p:spPr>
          <a:xfrm>
            <a:off x="667512" y="3383280"/>
            <a:ext cx="36576" cy="182880"/>
          </a:xfrm>
          <a:prstGeom prst="rect">
            <a:avLst/>
          </a:prstGeom>
          <a:solidFill>
            <a:srgbClr val="669BBC">
              <a:alpha val="50000"/>
            </a:srgbClr>
          </a:solidFill>
          <a:ln/>
        </p:spPr>
      </p:sp>
      <p:sp>
        <p:nvSpPr>
          <p:cNvPr id="21" name="Shape 19"/>
          <p:cNvSpPr/>
          <p:nvPr/>
        </p:nvSpPr>
        <p:spPr>
          <a:xfrm>
            <a:off x="457200" y="3566160"/>
            <a:ext cx="457200" cy="457200"/>
          </a:xfrm>
          <a:prstGeom prst="ellipse">
            <a:avLst/>
          </a:prstGeom>
          <a:solidFill>
            <a:srgbClr val="780000"/>
          </a:solidFill>
          <a:ln/>
        </p:spPr>
      </p:sp>
      <p:sp>
        <p:nvSpPr>
          <p:cNvPr id="22" name="Text 20"/>
          <p:cNvSpPr/>
          <p:nvPr/>
        </p:nvSpPr>
        <p:spPr>
          <a:xfrm>
            <a:off x="457200" y="35661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3" name="Text 21"/>
          <p:cNvSpPr/>
          <p:nvPr/>
        </p:nvSpPr>
        <p:spPr>
          <a:xfrm>
            <a:off x="1097280" y="3566160"/>
            <a:ext cx="2286000" cy="457200"/>
          </a:xfrm>
          <a:prstGeom prst="rect">
            <a:avLst/>
          </a:prstGeom>
          <a:noFill/>
          <a:ln/>
        </p:spPr>
        <p:txBody>
          <a:bodyPr wrap="square" rtlCol="0" anchor="ctr"/>
          <a:lstStyle/>
          <a:p>
            <a:pPr algn="l" indent="0" marL="0">
              <a:buNone/>
            </a:pPr>
            <a:r>
              <a:rPr lang="en-US" sz="2000" b="1" dirty="0">
                <a:solidFill>
                  <a:srgbClr val="003049"/>
                </a:solidFill>
                <a:latin typeface="Microsoft YaHei" pitchFamily="34" charset="0"/>
                <a:ea typeface="Microsoft YaHei" pitchFamily="34" charset="-122"/>
                <a:cs typeface="Microsoft YaHei" pitchFamily="34" charset="-120"/>
              </a:rPr>
              <a:t>现代回响</a:t>
            </a:r>
            <a:endParaRPr lang="en-US" sz="2000" dirty="0"/>
          </a:p>
        </p:txBody>
      </p:sp>
      <p:sp>
        <p:nvSpPr>
          <p:cNvPr id="24" name="Text 22"/>
          <p:cNvSpPr/>
          <p:nvPr/>
        </p:nvSpPr>
        <p:spPr>
          <a:xfrm>
            <a:off x="3383280" y="3566160"/>
            <a:ext cx="4572000" cy="45720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从哈耶克到弗里德曼</a:t>
            </a:r>
            <a:endParaRPr lang="en-US" sz="1400" dirty="0"/>
          </a:p>
        </p:txBody>
      </p:sp>
      <p:sp>
        <p:nvSpPr>
          <p:cNvPr id="25" name="Shape 23"/>
          <p:cNvSpPr/>
          <p:nvPr/>
        </p:nvSpPr>
        <p:spPr>
          <a:xfrm>
            <a:off x="667512" y="4023360"/>
            <a:ext cx="36576" cy="182880"/>
          </a:xfrm>
          <a:prstGeom prst="rect">
            <a:avLst/>
          </a:prstGeom>
          <a:solidFill>
            <a:srgbClr val="669BBC">
              <a:alpha val="50000"/>
            </a:srgbClr>
          </a:solidFill>
          <a:ln/>
        </p:spPr>
      </p:sp>
      <p:sp>
        <p:nvSpPr>
          <p:cNvPr id="26" name="Shape 24"/>
          <p:cNvSpPr/>
          <p:nvPr/>
        </p:nvSpPr>
        <p:spPr>
          <a:xfrm>
            <a:off x="457200" y="4206240"/>
            <a:ext cx="457200" cy="457200"/>
          </a:xfrm>
          <a:prstGeom prst="ellipse">
            <a:avLst/>
          </a:prstGeom>
          <a:solidFill>
            <a:srgbClr val="780000"/>
          </a:solidFill>
          <a:ln/>
        </p:spPr>
      </p:sp>
      <p:sp>
        <p:nvSpPr>
          <p:cNvPr id="27" name="Text 25"/>
          <p:cNvSpPr/>
          <p:nvPr/>
        </p:nvSpPr>
        <p:spPr>
          <a:xfrm>
            <a:off x="457200" y="42062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8" name="Text 26"/>
          <p:cNvSpPr/>
          <p:nvPr/>
        </p:nvSpPr>
        <p:spPr>
          <a:xfrm>
            <a:off x="1097280" y="4206240"/>
            <a:ext cx="2286000" cy="457200"/>
          </a:xfrm>
          <a:prstGeom prst="rect">
            <a:avLst/>
          </a:prstGeom>
          <a:noFill/>
          <a:ln/>
        </p:spPr>
        <p:txBody>
          <a:bodyPr wrap="square" rtlCol="0" anchor="ctr"/>
          <a:lstStyle/>
          <a:p>
            <a:pPr algn="l" indent="0" marL="0">
              <a:buNone/>
            </a:pPr>
            <a:r>
              <a:rPr lang="en-US" sz="2000" b="1" dirty="0">
                <a:solidFill>
                  <a:srgbClr val="003049"/>
                </a:solidFill>
                <a:latin typeface="Microsoft YaHei" pitchFamily="34" charset="0"/>
                <a:ea typeface="Microsoft YaHei" pitchFamily="34" charset="-122"/>
                <a:cs typeface="Microsoft YaHei" pitchFamily="34" charset="-120"/>
              </a:rPr>
              <a:t>批判性反思</a:t>
            </a:r>
            <a:endParaRPr lang="en-US" sz="2000" dirty="0"/>
          </a:p>
        </p:txBody>
      </p:sp>
      <p:sp>
        <p:nvSpPr>
          <p:cNvPr id="29" name="Text 27"/>
          <p:cNvSpPr/>
          <p:nvPr/>
        </p:nvSpPr>
        <p:spPr>
          <a:xfrm>
            <a:off x="3383280" y="4206240"/>
            <a:ext cx="4572000" cy="45720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全球化时代的斯密</a:t>
            </a:r>
            <a:endParaRPr lang="en-US" sz="1400" dirty="0"/>
          </a:p>
        </p:txBody>
      </p:sp>
      <p:sp>
        <p:nvSpPr>
          <p:cNvPr id="30" name="Shape 28"/>
          <p:cNvSpPr/>
          <p:nvPr/>
        </p:nvSpPr>
        <p:spPr>
          <a:xfrm>
            <a:off x="8229600" y="1645920"/>
            <a:ext cx="731520" cy="2926080"/>
          </a:xfrm>
          <a:prstGeom prst="rect">
            <a:avLst/>
          </a:prstGeom>
          <a:solidFill>
            <a:srgbClr val="669BBC">
              <a:alpha val="20000"/>
            </a:srgbClr>
          </a:solidFill>
          <a:ln/>
        </p:spPr>
      </p:sp>
      <p:sp>
        <p:nvSpPr>
          <p:cNvPr id="31" name="Shape 29"/>
          <p:cNvSpPr/>
          <p:nvPr/>
        </p:nvSpPr>
        <p:spPr>
          <a:xfrm>
            <a:off x="8503920" y="4663440"/>
            <a:ext cx="365760" cy="365760"/>
          </a:xfrm>
          <a:prstGeom prst="ellipse">
            <a:avLst/>
          </a:prstGeom>
          <a:solidFill>
            <a:srgbClr val="C1121F"/>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73152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为什么学习斯密？</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algn="l" indent="0" marL="0">
              <a:buNone/>
            </a:pPr>
            <a:r>
              <a:rPr lang="en-US" sz="1600" i="1" dirty="0">
                <a:solidFill>
                  <a:srgbClr val="669BBC"/>
                </a:solidFill>
                <a:latin typeface="Georgia" pitchFamily="34" charset="0"/>
                <a:ea typeface="Georgia" pitchFamily="34" charset="-122"/>
                <a:cs typeface="Georgia" pitchFamily="34" charset="-120"/>
              </a:rPr>
              <a:t>The Living Legacy of Adam Smith</a:t>
            </a:r>
            <a:endParaRPr lang="en-US" sz="1600" dirty="0"/>
          </a:p>
        </p:txBody>
      </p:sp>
      <p:sp>
        <p:nvSpPr>
          <p:cNvPr id="5" name="Shape 3"/>
          <p:cNvSpPr/>
          <p:nvPr/>
        </p:nvSpPr>
        <p:spPr>
          <a:xfrm>
            <a:off x="457200" y="1600200"/>
            <a:ext cx="182880" cy="182880"/>
          </a:xfrm>
          <a:prstGeom prst="ellipse">
            <a:avLst/>
          </a:prstGeom>
          <a:solidFill>
            <a:srgbClr val="C1121F"/>
          </a:solidFill>
          <a:ln/>
        </p:spPr>
      </p:sp>
      <p:sp>
        <p:nvSpPr>
          <p:cNvPr id="6" name="Text 4"/>
          <p:cNvSpPr/>
          <p:nvPr/>
        </p:nvSpPr>
        <p:spPr>
          <a:xfrm>
            <a:off x="822960" y="1463040"/>
            <a:ext cx="3657600" cy="365760"/>
          </a:xfrm>
          <a:prstGeom prst="rect">
            <a:avLst/>
          </a:prstGeom>
          <a:noFill/>
          <a:ln/>
        </p:spPr>
        <p:txBody>
          <a:bodyPr wrap="square" rtlCol="0" anchor="ctr"/>
          <a:lstStyle/>
          <a:p>
            <a:pPr algn="l" indent="0" marL="0">
              <a:buNone/>
            </a:pPr>
            <a:r>
              <a:rPr lang="en-US" sz="1800" b="1" dirty="0">
                <a:solidFill>
                  <a:srgbClr val="003049"/>
                </a:solidFill>
                <a:latin typeface="Microsoft YaHei" pitchFamily="34" charset="0"/>
                <a:ea typeface="Microsoft YaHei" pitchFamily="34" charset="-122"/>
                <a:cs typeface="Microsoft YaHei" pitchFamily="34" charset="-120"/>
              </a:rPr>
              <a:t>经济学之父</a:t>
            </a:r>
            <a:endParaRPr lang="en-US" sz="1800" dirty="0"/>
          </a:p>
        </p:txBody>
      </p:sp>
      <p:sp>
        <p:nvSpPr>
          <p:cNvPr id="7" name="Text 5"/>
          <p:cNvSpPr/>
          <p:nvPr/>
        </p:nvSpPr>
        <p:spPr>
          <a:xfrm>
            <a:off x="822960" y="1828800"/>
            <a:ext cx="3840480" cy="548640"/>
          </a:xfrm>
          <a:prstGeom prst="rect">
            <a:avLst/>
          </a:prstGeom>
          <a:noFill/>
          <a:ln/>
        </p:spPr>
        <p:txBody>
          <a:bodyPr wrap="square" rtlCol="0" anchor="t"/>
          <a:lstStyle/>
          <a:p>
            <a:pPr algn="l" indent="0" marL="0">
              <a:buNone/>
            </a:pPr>
            <a:r>
              <a:rPr lang="en-US" sz="1300" dirty="0">
                <a:solidFill>
                  <a:srgbClr val="003049"/>
                </a:solidFill>
                <a:latin typeface="Microsoft YaHei" pitchFamily="34" charset="0"/>
                <a:ea typeface="Microsoft YaHei" pitchFamily="34" charset="-122"/>
                <a:cs typeface="Microsoft YaHei" pitchFamily="34" charset="-120"/>
              </a:rPr>
              <a:t>现代经济学的奠基人，《国富论》开创了自由市场理论</a:t>
            </a:r>
            <a:endParaRPr lang="en-US" sz="1300" dirty="0"/>
          </a:p>
        </p:txBody>
      </p:sp>
      <p:sp>
        <p:nvSpPr>
          <p:cNvPr id="8" name="Shape 6"/>
          <p:cNvSpPr/>
          <p:nvPr/>
        </p:nvSpPr>
        <p:spPr>
          <a:xfrm>
            <a:off x="457200" y="2606040"/>
            <a:ext cx="182880" cy="182880"/>
          </a:xfrm>
          <a:prstGeom prst="ellipse">
            <a:avLst/>
          </a:prstGeom>
          <a:solidFill>
            <a:srgbClr val="C1121F"/>
          </a:solidFill>
          <a:ln/>
        </p:spPr>
      </p:sp>
      <p:sp>
        <p:nvSpPr>
          <p:cNvPr id="9" name="Text 7"/>
          <p:cNvSpPr/>
          <p:nvPr/>
        </p:nvSpPr>
        <p:spPr>
          <a:xfrm>
            <a:off x="822960" y="2468880"/>
            <a:ext cx="3657600" cy="365760"/>
          </a:xfrm>
          <a:prstGeom prst="rect">
            <a:avLst/>
          </a:prstGeom>
          <a:noFill/>
          <a:ln/>
        </p:spPr>
        <p:txBody>
          <a:bodyPr wrap="square" rtlCol="0" anchor="ctr"/>
          <a:lstStyle/>
          <a:p>
            <a:pPr algn="l" indent="0" marL="0">
              <a:buNone/>
            </a:pPr>
            <a:r>
              <a:rPr lang="en-US" sz="1800" b="1" dirty="0">
                <a:solidFill>
                  <a:srgbClr val="003049"/>
                </a:solidFill>
                <a:latin typeface="Microsoft YaHei" pitchFamily="34" charset="0"/>
                <a:ea typeface="Microsoft YaHei" pitchFamily="34" charset="-122"/>
                <a:cs typeface="Microsoft YaHei" pitchFamily="34" charset="-120"/>
              </a:rPr>
              <a:t>道德哲学先驱</a:t>
            </a:r>
            <a:endParaRPr lang="en-US" sz="1800" dirty="0"/>
          </a:p>
        </p:txBody>
      </p:sp>
      <p:sp>
        <p:nvSpPr>
          <p:cNvPr id="10" name="Text 8"/>
          <p:cNvSpPr/>
          <p:nvPr/>
        </p:nvSpPr>
        <p:spPr>
          <a:xfrm>
            <a:off x="822960" y="2834640"/>
            <a:ext cx="3840480" cy="548640"/>
          </a:xfrm>
          <a:prstGeom prst="rect">
            <a:avLst/>
          </a:prstGeom>
          <a:noFill/>
          <a:ln/>
        </p:spPr>
        <p:txBody>
          <a:bodyPr wrap="square" rtlCol="0" anchor="t"/>
          <a:lstStyle/>
          <a:p>
            <a:pPr algn="l" indent="0" marL="0">
              <a:buNone/>
            </a:pPr>
            <a:r>
              <a:rPr lang="en-US" sz="1300" dirty="0">
                <a:solidFill>
                  <a:srgbClr val="003049"/>
                </a:solidFill>
                <a:latin typeface="Microsoft YaHei" pitchFamily="34" charset="0"/>
                <a:ea typeface="Microsoft YaHei" pitchFamily="34" charset="-122"/>
                <a:cs typeface="Microsoft YaHei" pitchFamily="34" charset="-120"/>
              </a:rPr>
              <a:t>《道德情操论》探讨同理心、正义与美德</a:t>
            </a:r>
            <a:endParaRPr lang="en-US" sz="1300" dirty="0"/>
          </a:p>
        </p:txBody>
      </p:sp>
      <p:sp>
        <p:nvSpPr>
          <p:cNvPr id="11" name="Shape 9"/>
          <p:cNvSpPr/>
          <p:nvPr/>
        </p:nvSpPr>
        <p:spPr>
          <a:xfrm>
            <a:off x="457200" y="3611880"/>
            <a:ext cx="182880" cy="182880"/>
          </a:xfrm>
          <a:prstGeom prst="ellipse">
            <a:avLst/>
          </a:prstGeom>
          <a:solidFill>
            <a:srgbClr val="C1121F"/>
          </a:solidFill>
          <a:ln/>
        </p:spPr>
      </p:sp>
      <p:sp>
        <p:nvSpPr>
          <p:cNvPr id="12" name="Text 10"/>
          <p:cNvSpPr/>
          <p:nvPr/>
        </p:nvSpPr>
        <p:spPr>
          <a:xfrm>
            <a:off x="822960" y="3474720"/>
            <a:ext cx="3657600" cy="365760"/>
          </a:xfrm>
          <a:prstGeom prst="rect">
            <a:avLst/>
          </a:prstGeom>
          <a:noFill/>
          <a:ln/>
        </p:spPr>
        <p:txBody>
          <a:bodyPr wrap="square" rtlCol="0" anchor="ctr"/>
          <a:lstStyle/>
          <a:p>
            <a:pPr algn="l" indent="0" marL="0">
              <a:buNone/>
            </a:pPr>
            <a:r>
              <a:rPr lang="en-US" sz="1800" b="1" dirty="0">
                <a:solidFill>
                  <a:srgbClr val="003049"/>
                </a:solidFill>
                <a:latin typeface="Microsoft YaHei" pitchFamily="34" charset="0"/>
                <a:ea typeface="Microsoft YaHei" pitchFamily="34" charset="-122"/>
                <a:cs typeface="Microsoft YaHei" pitchFamily="34" charset="-120"/>
              </a:rPr>
              <a:t>思想史坐标</a:t>
            </a:r>
            <a:endParaRPr lang="en-US" sz="1800" dirty="0"/>
          </a:p>
        </p:txBody>
      </p:sp>
      <p:sp>
        <p:nvSpPr>
          <p:cNvPr id="13" name="Text 11"/>
          <p:cNvSpPr/>
          <p:nvPr/>
        </p:nvSpPr>
        <p:spPr>
          <a:xfrm>
            <a:off x="822960" y="3840480"/>
            <a:ext cx="3840480" cy="548640"/>
          </a:xfrm>
          <a:prstGeom prst="rect">
            <a:avLst/>
          </a:prstGeom>
          <a:noFill/>
          <a:ln/>
        </p:spPr>
        <p:txBody>
          <a:bodyPr wrap="square" rtlCol="0" anchor="t"/>
          <a:lstStyle/>
          <a:p>
            <a:pPr algn="l" indent="0" marL="0">
              <a:buNone/>
            </a:pPr>
            <a:r>
              <a:rPr lang="en-US" sz="1300" dirty="0">
                <a:solidFill>
                  <a:srgbClr val="003049"/>
                </a:solidFill>
                <a:latin typeface="Microsoft YaHei" pitchFamily="34" charset="0"/>
                <a:ea typeface="Microsoft YaHei" pitchFamily="34" charset="-122"/>
                <a:cs typeface="Microsoft YaHei" pitchFamily="34" charset="-120"/>
              </a:rPr>
              <a:t>理解自由主义、资本主义、全球化的思想源头</a:t>
            </a:r>
            <a:endParaRPr lang="en-US" sz="1300" dirty="0"/>
          </a:p>
        </p:txBody>
      </p:sp>
      <p:sp>
        <p:nvSpPr>
          <p:cNvPr id="14" name="Shape 12"/>
          <p:cNvSpPr/>
          <p:nvPr/>
        </p:nvSpPr>
        <p:spPr>
          <a:xfrm>
            <a:off x="4754880" y="1463040"/>
            <a:ext cx="3931920" cy="2560320"/>
          </a:xfrm>
          <a:prstGeom prst="rect">
            <a:avLst/>
          </a:prstGeom>
          <a:solidFill>
            <a:srgbClr val="003049"/>
          </a:solidFill>
          <a:ln/>
        </p:spPr>
      </p:sp>
      <p:sp>
        <p:nvSpPr>
          <p:cNvPr id="15" name="Text 13"/>
          <p:cNvSpPr/>
          <p:nvPr/>
        </p:nvSpPr>
        <p:spPr>
          <a:xfrm>
            <a:off x="4937760" y="1554480"/>
            <a:ext cx="548640" cy="731520"/>
          </a:xfrm>
          <a:prstGeom prst="rect">
            <a:avLst/>
          </a:prstGeom>
          <a:noFill/>
          <a:ln/>
        </p:spPr>
        <p:txBody>
          <a:bodyPr wrap="square" rtlCol="0" anchor="t"/>
          <a:lstStyle/>
          <a:p>
            <a:pPr algn="l" indent="0" marL="0">
              <a:buNone/>
            </a:pPr>
            <a:r>
              <a:rPr lang="en-US" sz="6000" b="1" dirty="0">
                <a:solidFill>
                  <a:srgbClr val="669BBC"/>
                </a:solidFill>
                <a:latin typeface="Georgia" pitchFamily="34" charset="0"/>
                <a:ea typeface="Georgia" pitchFamily="34" charset="-122"/>
                <a:cs typeface="Georgia" pitchFamily="34" charset="-120"/>
              </a:rPr>
              <a:t>"</a:t>
            </a:r>
            <a:endParaRPr lang="en-US" sz="6000" dirty="0"/>
          </a:p>
        </p:txBody>
      </p:sp>
      <p:sp>
        <p:nvSpPr>
          <p:cNvPr id="16" name="Text 14"/>
          <p:cNvSpPr/>
          <p:nvPr/>
        </p:nvSpPr>
        <p:spPr>
          <a:xfrm>
            <a:off x="5029200" y="2194560"/>
            <a:ext cx="3383280" cy="1280160"/>
          </a:xfrm>
          <a:prstGeom prst="rect">
            <a:avLst/>
          </a:prstGeom>
          <a:noFill/>
          <a:ln/>
        </p:spPr>
        <p:txBody>
          <a:bodyPr wrap="square" rtlCol="0" anchor="t"/>
          <a:lstStyle/>
          <a:p>
            <a:pPr algn="l" indent="0" marL="0">
              <a:buNone/>
            </a:pPr>
            <a:r>
              <a:rPr lang="en-US" sz="1600" dirty="0">
                <a:solidFill>
                  <a:srgbClr val="FFFFFF"/>
                </a:solidFill>
                <a:latin typeface="Microsoft YaHei" pitchFamily="34" charset="0"/>
                <a:ea typeface="Microsoft YaHei" pitchFamily="34" charset="-122"/>
                <a:cs typeface="Microsoft YaHei" pitchFamily="34" charset="-120"/>
              </a:rPr>
              <a:t>斯密教我们理解市场的力量，也提醒我们市场的道德边界。</a:t>
            </a:r>
            <a:endParaRPr lang="en-US" sz="1600" dirty="0"/>
          </a:p>
        </p:txBody>
      </p:sp>
      <p:sp>
        <p:nvSpPr>
          <p:cNvPr id="17" name="Text 15"/>
          <p:cNvSpPr/>
          <p:nvPr/>
        </p:nvSpPr>
        <p:spPr>
          <a:xfrm>
            <a:off x="5029200" y="3474720"/>
            <a:ext cx="3383280" cy="365760"/>
          </a:xfrm>
          <a:prstGeom prst="rect">
            <a:avLst/>
          </a:prstGeom>
          <a:noFill/>
          <a:ln/>
        </p:spPr>
        <p:txBody>
          <a:bodyPr wrap="square" rtlCol="0" anchor="ctr"/>
          <a:lstStyle/>
          <a:p>
            <a:pPr algn="r" indent="0" marL="0">
              <a:buNone/>
            </a:pPr>
            <a:r>
              <a:rPr lang="en-US" sz="1200" dirty="0">
                <a:solidFill>
                  <a:srgbClr val="669BBC"/>
                </a:solidFill>
                <a:latin typeface="Microsoft YaHei" pitchFamily="34" charset="0"/>
                <a:ea typeface="Microsoft YaHei" pitchFamily="34" charset="-122"/>
                <a:cs typeface="Microsoft YaHei" pitchFamily="34" charset="-120"/>
              </a:rPr>
              <a:t>——理解斯密的现代意义</a:t>
            </a:r>
            <a:endParaRPr lang="en-US" sz="1200" dirty="0"/>
          </a:p>
        </p:txBody>
      </p:sp>
      <p:sp>
        <p:nvSpPr>
          <p:cNvPr id="18" name="Shape 16"/>
          <p:cNvSpPr/>
          <p:nvPr/>
        </p:nvSpPr>
        <p:spPr>
          <a:xfrm>
            <a:off x="457200" y="4297680"/>
            <a:ext cx="8229600" cy="640080"/>
          </a:xfrm>
          <a:prstGeom prst="rect">
            <a:avLst/>
          </a:prstGeom>
          <a:solidFill>
            <a:srgbClr val="780000">
              <a:alpha val="90000"/>
            </a:srgbClr>
          </a:solidFill>
          <a:ln/>
        </p:spPr>
      </p:sp>
      <p:sp>
        <p:nvSpPr>
          <p:cNvPr id="19" name="Text 17"/>
          <p:cNvSpPr/>
          <p:nvPr/>
        </p:nvSpPr>
        <p:spPr>
          <a:xfrm>
            <a:off x="640080" y="4297680"/>
            <a:ext cx="7863840" cy="640080"/>
          </a:xfrm>
          <a:prstGeom prst="rect">
            <a:avLst/>
          </a:prstGeom>
          <a:noFill/>
          <a:ln/>
        </p:spPr>
        <p:txBody>
          <a:bodyPr wrap="square" rtlCol="0" anchor="ctr"/>
          <a:lstStyle/>
          <a:p>
            <a:pPr algn="ctr" indent="0" marL="0">
              <a:buNone/>
            </a:pPr>
            <a:r>
              <a:rPr lang="en-US" sz="1400" dirty="0">
                <a:solidFill>
                  <a:srgbClr val="780000"/>
                </a:solidFill>
                <a:latin typeface="Microsoft YaHei" pitchFamily="34" charset="0"/>
                <a:ea typeface="Microsoft YaHei" pitchFamily="34" charset="-122"/>
                <a:cs typeface="Microsoft YaHei" pitchFamily="34" charset="-120"/>
              </a:rPr>
              <a:t>斯密不是简单的"市场原教旨主义者"，他的思想远比流行标签复杂。</a:t>
            </a:r>
            <a:endParaRPr lang="en-US" sz="1400" dirty="0"/>
          </a:p>
        </p:txBody>
      </p:sp>
      <p:sp>
        <p:nvSpPr>
          <p:cNvPr id="20" name="Shape 18"/>
          <p:cNvSpPr/>
          <p:nvPr/>
        </p:nvSpPr>
        <p:spPr>
          <a:xfrm>
            <a:off x="8503920" y="4663440"/>
            <a:ext cx="365760" cy="365760"/>
          </a:xfrm>
          <a:prstGeom prst="ellipse">
            <a:avLst/>
          </a:prstGeom>
          <a:solidFill>
            <a:srgbClr val="C1121F"/>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73152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斯密面临的时代问题</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algn="l" indent="0" marL="0">
              <a:buNone/>
            </a:pPr>
            <a:r>
              <a:rPr lang="en-US" sz="1600" dirty="0">
                <a:solidFill>
                  <a:srgbClr val="669BBC"/>
                </a:solidFill>
                <a:latin typeface="Microsoft YaHei" pitchFamily="34" charset="0"/>
                <a:ea typeface="Microsoft YaHei" pitchFamily="34" charset="-122"/>
                <a:cs typeface="Microsoft YaHei" pitchFamily="34" charset="-120"/>
              </a:rPr>
              <a:t>18世纪中叶：商业革命与启蒙运动</a:t>
            </a:r>
            <a:endParaRPr lang="en-US" sz="1600" dirty="0"/>
          </a:p>
        </p:txBody>
      </p:sp>
      <p:sp>
        <p:nvSpPr>
          <p:cNvPr id="5" name="Shape 3"/>
          <p:cNvSpPr/>
          <p:nvPr/>
        </p:nvSpPr>
        <p:spPr>
          <a:xfrm>
            <a:off x="457200" y="1874520"/>
            <a:ext cx="8229600" cy="54864"/>
          </a:xfrm>
          <a:prstGeom prst="rect">
            <a:avLst/>
          </a:prstGeom>
          <a:solidFill>
            <a:srgbClr val="669BBC"/>
          </a:solidFill>
          <a:ln/>
        </p:spPr>
      </p:sp>
      <p:sp>
        <p:nvSpPr>
          <p:cNvPr id="6" name="Shape 4"/>
          <p:cNvSpPr/>
          <p:nvPr/>
        </p:nvSpPr>
        <p:spPr>
          <a:xfrm>
            <a:off x="731520" y="1691640"/>
            <a:ext cx="411480" cy="411480"/>
          </a:xfrm>
          <a:prstGeom prst="ellipse">
            <a:avLst/>
          </a:prstGeom>
          <a:solidFill>
            <a:srgbClr val="780000"/>
          </a:solidFill>
          <a:ln/>
        </p:spPr>
      </p:sp>
      <p:sp>
        <p:nvSpPr>
          <p:cNvPr id="7" name="Text 5"/>
          <p:cNvSpPr/>
          <p:nvPr/>
        </p:nvSpPr>
        <p:spPr>
          <a:xfrm>
            <a:off x="548640" y="2148840"/>
            <a:ext cx="777240" cy="320040"/>
          </a:xfrm>
          <a:prstGeom prst="rect">
            <a:avLst/>
          </a:prstGeom>
          <a:noFill/>
          <a:ln/>
        </p:spPr>
        <p:txBody>
          <a:bodyPr wrap="square" rtlCol="0" anchor="ctr"/>
          <a:lstStyle/>
          <a:p>
            <a:pPr algn="ctr" indent="0" marL="0">
              <a:buNone/>
            </a:pPr>
            <a:r>
              <a:rPr lang="en-US" sz="1400" b="1" dirty="0">
                <a:solidFill>
                  <a:srgbClr val="780000"/>
                </a:solidFill>
                <a:latin typeface="Georgia" pitchFamily="34" charset="0"/>
                <a:ea typeface="Georgia" pitchFamily="34" charset="-122"/>
                <a:cs typeface="Georgia" pitchFamily="34" charset="-120"/>
              </a:rPr>
              <a:t>1723</a:t>
            </a:r>
            <a:endParaRPr lang="en-US" sz="1400" dirty="0"/>
          </a:p>
        </p:txBody>
      </p:sp>
      <p:sp>
        <p:nvSpPr>
          <p:cNvPr id="8" name="Text 6"/>
          <p:cNvSpPr/>
          <p:nvPr/>
        </p:nvSpPr>
        <p:spPr>
          <a:xfrm>
            <a:off x="365760" y="2468880"/>
            <a:ext cx="1143000" cy="320040"/>
          </a:xfrm>
          <a:prstGeom prst="rect">
            <a:avLst/>
          </a:prstGeom>
          <a:noFill/>
          <a:ln/>
        </p:spPr>
        <p:txBody>
          <a:bodyPr wrap="square" rtlCol="0" anchor="ctr"/>
          <a:lstStyle/>
          <a:p>
            <a:pPr algn="ctr" indent="0" marL="0">
              <a:buNone/>
            </a:pPr>
            <a:r>
              <a:rPr lang="en-US" sz="1200" b="1" dirty="0">
                <a:solidFill>
                  <a:srgbClr val="003049"/>
                </a:solidFill>
                <a:latin typeface="Microsoft YaHei" pitchFamily="34" charset="0"/>
                <a:ea typeface="Microsoft YaHei" pitchFamily="34" charset="-122"/>
                <a:cs typeface="Microsoft YaHei" pitchFamily="34" charset="-120"/>
              </a:rPr>
              <a:t>斯密出生</a:t>
            </a:r>
            <a:endParaRPr lang="en-US" sz="1200" dirty="0"/>
          </a:p>
        </p:txBody>
      </p:sp>
      <p:sp>
        <p:nvSpPr>
          <p:cNvPr id="9" name="Text 7"/>
          <p:cNvSpPr/>
          <p:nvPr/>
        </p:nvSpPr>
        <p:spPr>
          <a:xfrm>
            <a:off x="365760" y="2743200"/>
            <a:ext cx="1143000" cy="274320"/>
          </a:xfrm>
          <a:prstGeom prst="rect">
            <a:avLst/>
          </a:prstGeom>
          <a:noFill/>
          <a:ln/>
        </p:spPr>
        <p:txBody>
          <a:bodyPr wrap="square" rtlCol="0" anchor="ctr"/>
          <a:lstStyle/>
          <a:p>
            <a:pPr algn="ctr" indent="0" marL="0">
              <a:buNone/>
            </a:pPr>
            <a:r>
              <a:rPr lang="en-US" sz="1000" dirty="0">
                <a:solidFill>
                  <a:srgbClr val="669BBC"/>
                </a:solidFill>
                <a:latin typeface="Microsoft YaHei" pitchFamily="34" charset="0"/>
                <a:ea typeface="Microsoft YaHei" pitchFamily="34" charset="-122"/>
                <a:cs typeface="Microsoft YaHei" pitchFamily="34" charset="-120"/>
              </a:rPr>
              <a:t>苏格兰格拉斯哥</a:t>
            </a:r>
            <a:endParaRPr lang="en-US" sz="1000" dirty="0"/>
          </a:p>
        </p:txBody>
      </p:sp>
      <p:sp>
        <p:nvSpPr>
          <p:cNvPr id="10" name="Shape 8"/>
          <p:cNvSpPr/>
          <p:nvPr/>
        </p:nvSpPr>
        <p:spPr>
          <a:xfrm>
            <a:off x="2926080" y="1691640"/>
            <a:ext cx="411480" cy="411480"/>
          </a:xfrm>
          <a:prstGeom prst="ellipse">
            <a:avLst/>
          </a:prstGeom>
          <a:solidFill>
            <a:srgbClr val="780000"/>
          </a:solidFill>
          <a:ln/>
        </p:spPr>
      </p:sp>
      <p:sp>
        <p:nvSpPr>
          <p:cNvPr id="11" name="Text 9"/>
          <p:cNvSpPr/>
          <p:nvPr/>
        </p:nvSpPr>
        <p:spPr>
          <a:xfrm>
            <a:off x="2743200" y="2148840"/>
            <a:ext cx="777240" cy="320040"/>
          </a:xfrm>
          <a:prstGeom prst="rect">
            <a:avLst/>
          </a:prstGeom>
          <a:noFill/>
          <a:ln/>
        </p:spPr>
        <p:txBody>
          <a:bodyPr wrap="square" rtlCol="0" anchor="ctr"/>
          <a:lstStyle/>
          <a:p>
            <a:pPr algn="ctr" indent="0" marL="0">
              <a:buNone/>
            </a:pPr>
            <a:r>
              <a:rPr lang="en-US" sz="1400" b="1" dirty="0">
                <a:solidFill>
                  <a:srgbClr val="780000"/>
                </a:solidFill>
                <a:latin typeface="Georgia" pitchFamily="34" charset="0"/>
                <a:ea typeface="Georgia" pitchFamily="34" charset="-122"/>
                <a:cs typeface="Georgia" pitchFamily="34" charset="-120"/>
              </a:rPr>
              <a:t>1751</a:t>
            </a:r>
            <a:endParaRPr lang="en-US" sz="1400" dirty="0"/>
          </a:p>
        </p:txBody>
      </p:sp>
      <p:sp>
        <p:nvSpPr>
          <p:cNvPr id="12" name="Text 10"/>
          <p:cNvSpPr/>
          <p:nvPr/>
        </p:nvSpPr>
        <p:spPr>
          <a:xfrm>
            <a:off x="2560320" y="2468880"/>
            <a:ext cx="1143000" cy="320040"/>
          </a:xfrm>
          <a:prstGeom prst="rect">
            <a:avLst/>
          </a:prstGeom>
          <a:noFill/>
          <a:ln/>
        </p:spPr>
        <p:txBody>
          <a:bodyPr wrap="square" rtlCol="0" anchor="ctr"/>
          <a:lstStyle/>
          <a:p>
            <a:pPr algn="ctr" indent="0" marL="0">
              <a:buNone/>
            </a:pPr>
            <a:r>
              <a:rPr lang="en-US" sz="1200" b="1" dirty="0">
                <a:solidFill>
                  <a:srgbClr val="003049"/>
                </a:solidFill>
                <a:latin typeface="Microsoft YaHei" pitchFamily="34" charset="0"/>
                <a:ea typeface="Microsoft YaHei" pitchFamily="34" charset="-122"/>
                <a:cs typeface="Microsoft YaHei" pitchFamily="34" charset="-120"/>
              </a:rPr>
              <a:t>格拉斯哥大学教授</a:t>
            </a:r>
            <a:endParaRPr lang="en-US" sz="1200" dirty="0"/>
          </a:p>
        </p:txBody>
      </p:sp>
      <p:sp>
        <p:nvSpPr>
          <p:cNvPr id="13" name="Text 11"/>
          <p:cNvSpPr/>
          <p:nvPr/>
        </p:nvSpPr>
        <p:spPr>
          <a:xfrm>
            <a:off x="2560320" y="2743200"/>
            <a:ext cx="1143000" cy="274320"/>
          </a:xfrm>
          <a:prstGeom prst="rect">
            <a:avLst/>
          </a:prstGeom>
          <a:noFill/>
          <a:ln/>
        </p:spPr>
        <p:txBody>
          <a:bodyPr wrap="square" rtlCol="0" anchor="ctr"/>
          <a:lstStyle/>
          <a:p>
            <a:pPr algn="ctr" indent="0" marL="0">
              <a:buNone/>
            </a:pPr>
            <a:r>
              <a:rPr lang="en-US" sz="1000" dirty="0">
                <a:solidFill>
                  <a:srgbClr val="669BBC"/>
                </a:solidFill>
                <a:latin typeface="Microsoft YaHei" pitchFamily="34" charset="0"/>
                <a:ea typeface="Microsoft YaHei" pitchFamily="34" charset="-122"/>
                <a:cs typeface="Microsoft YaHei" pitchFamily="34" charset="-120"/>
              </a:rPr>
              <a:t>逻辑学、道德哲学</a:t>
            </a:r>
            <a:endParaRPr lang="en-US" sz="1000" dirty="0"/>
          </a:p>
        </p:txBody>
      </p:sp>
      <p:sp>
        <p:nvSpPr>
          <p:cNvPr id="14" name="Shape 12"/>
          <p:cNvSpPr/>
          <p:nvPr/>
        </p:nvSpPr>
        <p:spPr>
          <a:xfrm>
            <a:off x="5120640" y="1691640"/>
            <a:ext cx="411480" cy="411480"/>
          </a:xfrm>
          <a:prstGeom prst="ellipse">
            <a:avLst/>
          </a:prstGeom>
          <a:solidFill>
            <a:srgbClr val="780000"/>
          </a:solidFill>
          <a:ln/>
        </p:spPr>
      </p:sp>
      <p:sp>
        <p:nvSpPr>
          <p:cNvPr id="15" name="Text 13"/>
          <p:cNvSpPr/>
          <p:nvPr/>
        </p:nvSpPr>
        <p:spPr>
          <a:xfrm>
            <a:off x="4937760" y="2148840"/>
            <a:ext cx="777240" cy="320040"/>
          </a:xfrm>
          <a:prstGeom prst="rect">
            <a:avLst/>
          </a:prstGeom>
          <a:noFill/>
          <a:ln/>
        </p:spPr>
        <p:txBody>
          <a:bodyPr wrap="square" rtlCol="0" anchor="ctr"/>
          <a:lstStyle/>
          <a:p>
            <a:pPr algn="ctr" indent="0" marL="0">
              <a:buNone/>
            </a:pPr>
            <a:r>
              <a:rPr lang="en-US" sz="1400" b="1" dirty="0">
                <a:solidFill>
                  <a:srgbClr val="780000"/>
                </a:solidFill>
                <a:latin typeface="Georgia" pitchFamily="34" charset="0"/>
                <a:ea typeface="Georgia" pitchFamily="34" charset="-122"/>
                <a:cs typeface="Georgia" pitchFamily="34" charset="-120"/>
              </a:rPr>
              <a:t>1776</a:t>
            </a:r>
            <a:endParaRPr lang="en-US" sz="1400" dirty="0"/>
          </a:p>
        </p:txBody>
      </p:sp>
      <p:sp>
        <p:nvSpPr>
          <p:cNvPr id="16" name="Text 14"/>
          <p:cNvSpPr/>
          <p:nvPr/>
        </p:nvSpPr>
        <p:spPr>
          <a:xfrm>
            <a:off x="4754880" y="2468880"/>
            <a:ext cx="1143000" cy="320040"/>
          </a:xfrm>
          <a:prstGeom prst="rect">
            <a:avLst/>
          </a:prstGeom>
          <a:noFill/>
          <a:ln/>
        </p:spPr>
        <p:txBody>
          <a:bodyPr wrap="square" rtlCol="0" anchor="ctr"/>
          <a:lstStyle/>
          <a:p>
            <a:pPr algn="ctr" indent="0" marL="0">
              <a:buNone/>
            </a:pPr>
            <a:r>
              <a:rPr lang="en-US" sz="1200" b="1" dirty="0">
                <a:solidFill>
                  <a:srgbClr val="003049"/>
                </a:solidFill>
                <a:latin typeface="Microsoft YaHei" pitchFamily="34" charset="0"/>
                <a:ea typeface="Microsoft YaHei" pitchFamily="34" charset="-122"/>
                <a:cs typeface="Microsoft YaHei" pitchFamily="34" charset="-120"/>
              </a:rPr>
              <a:t>《国富论》出版</a:t>
            </a:r>
            <a:endParaRPr lang="en-US" sz="1200" dirty="0"/>
          </a:p>
        </p:txBody>
      </p:sp>
      <p:sp>
        <p:nvSpPr>
          <p:cNvPr id="17" name="Text 15"/>
          <p:cNvSpPr/>
          <p:nvPr/>
        </p:nvSpPr>
        <p:spPr>
          <a:xfrm>
            <a:off x="4754880" y="2743200"/>
            <a:ext cx="1143000" cy="274320"/>
          </a:xfrm>
          <a:prstGeom prst="rect">
            <a:avLst/>
          </a:prstGeom>
          <a:noFill/>
          <a:ln/>
        </p:spPr>
        <p:txBody>
          <a:bodyPr wrap="square" rtlCol="0" anchor="ctr"/>
          <a:lstStyle/>
          <a:p>
            <a:pPr algn="ctr" indent="0" marL="0">
              <a:buNone/>
            </a:pPr>
            <a:r>
              <a:rPr lang="en-US" sz="1000" dirty="0">
                <a:solidFill>
                  <a:srgbClr val="669BBC"/>
                </a:solidFill>
                <a:latin typeface="Microsoft YaHei" pitchFamily="34" charset="0"/>
                <a:ea typeface="Microsoft YaHei" pitchFamily="34" charset="-122"/>
                <a:cs typeface="Microsoft YaHei" pitchFamily="34" charset="-120"/>
              </a:rPr>
              <a:t>划时代的经济学著作</a:t>
            </a:r>
            <a:endParaRPr lang="en-US" sz="1000" dirty="0"/>
          </a:p>
        </p:txBody>
      </p:sp>
      <p:sp>
        <p:nvSpPr>
          <p:cNvPr id="18" name="Shape 16"/>
          <p:cNvSpPr/>
          <p:nvPr/>
        </p:nvSpPr>
        <p:spPr>
          <a:xfrm>
            <a:off x="7315200" y="1691640"/>
            <a:ext cx="411480" cy="411480"/>
          </a:xfrm>
          <a:prstGeom prst="ellipse">
            <a:avLst/>
          </a:prstGeom>
          <a:solidFill>
            <a:srgbClr val="780000"/>
          </a:solidFill>
          <a:ln/>
        </p:spPr>
      </p:sp>
      <p:sp>
        <p:nvSpPr>
          <p:cNvPr id="19" name="Text 17"/>
          <p:cNvSpPr/>
          <p:nvPr/>
        </p:nvSpPr>
        <p:spPr>
          <a:xfrm>
            <a:off x="7132320" y="2148840"/>
            <a:ext cx="777240" cy="320040"/>
          </a:xfrm>
          <a:prstGeom prst="rect">
            <a:avLst/>
          </a:prstGeom>
          <a:noFill/>
          <a:ln/>
        </p:spPr>
        <p:txBody>
          <a:bodyPr wrap="square" rtlCol="0" anchor="ctr"/>
          <a:lstStyle/>
          <a:p>
            <a:pPr algn="ctr" indent="0" marL="0">
              <a:buNone/>
            </a:pPr>
            <a:r>
              <a:rPr lang="en-US" sz="1400" b="1" dirty="0">
                <a:solidFill>
                  <a:srgbClr val="780000"/>
                </a:solidFill>
                <a:latin typeface="Georgia" pitchFamily="34" charset="0"/>
                <a:ea typeface="Georgia" pitchFamily="34" charset="-122"/>
                <a:cs typeface="Georgia" pitchFamily="34" charset="-120"/>
              </a:rPr>
              <a:t>1790</a:t>
            </a:r>
            <a:endParaRPr lang="en-US" sz="1400" dirty="0"/>
          </a:p>
        </p:txBody>
      </p:sp>
      <p:sp>
        <p:nvSpPr>
          <p:cNvPr id="20" name="Text 18"/>
          <p:cNvSpPr/>
          <p:nvPr/>
        </p:nvSpPr>
        <p:spPr>
          <a:xfrm>
            <a:off x="6949440" y="2468880"/>
            <a:ext cx="1143000" cy="320040"/>
          </a:xfrm>
          <a:prstGeom prst="rect">
            <a:avLst/>
          </a:prstGeom>
          <a:noFill/>
          <a:ln/>
        </p:spPr>
        <p:txBody>
          <a:bodyPr wrap="square" rtlCol="0" anchor="ctr"/>
          <a:lstStyle/>
          <a:p>
            <a:pPr algn="ctr" indent="0" marL="0">
              <a:buNone/>
            </a:pPr>
            <a:r>
              <a:rPr lang="en-US" sz="1200" b="1" dirty="0">
                <a:solidFill>
                  <a:srgbClr val="003049"/>
                </a:solidFill>
                <a:latin typeface="Microsoft YaHei" pitchFamily="34" charset="0"/>
                <a:ea typeface="Microsoft YaHei" pitchFamily="34" charset="-122"/>
                <a:cs typeface="Microsoft YaHei" pitchFamily="34" charset="-120"/>
              </a:rPr>
              <a:t>斯密去世</a:t>
            </a:r>
            <a:endParaRPr lang="en-US" sz="1200" dirty="0"/>
          </a:p>
        </p:txBody>
      </p:sp>
      <p:sp>
        <p:nvSpPr>
          <p:cNvPr id="21" name="Text 19"/>
          <p:cNvSpPr/>
          <p:nvPr/>
        </p:nvSpPr>
        <p:spPr>
          <a:xfrm>
            <a:off x="6949440" y="2743200"/>
            <a:ext cx="1143000" cy="274320"/>
          </a:xfrm>
          <a:prstGeom prst="rect">
            <a:avLst/>
          </a:prstGeom>
          <a:noFill/>
          <a:ln/>
        </p:spPr>
        <p:txBody>
          <a:bodyPr wrap="square" rtlCol="0" anchor="ctr"/>
          <a:lstStyle/>
          <a:p>
            <a:pPr algn="ctr" indent="0" marL="0">
              <a:buNone/>
            </a:pPr>
            <a:r>
              <a:rPr lang="en-US" sz="1000" dirty="0">
                <a:solidFill>
                  <a:srgbClr val="669BBC"/>
                </a:solidFill>
                <a:latin typeface="Microsoft YaHei" pitchFamily="34" charset="0"/>
                <a:ea typeface="Microsoft YaHei" pitchFamily="34" charset="-122"/>
                <a:cs typeface="Microsoft YaHei" pitchFamily="34" charset="-120"/>
              </a:rPr>
              <a:t>留下思想遗产</a:t>
            </a:r>
            <a:endParaRPr lang="en-US" sz="1000" dirty="0"/>
          </a:p>
        </p:txBody>
      </p:sp>
      <p:sp>
        <p:nvSpPr>
          <p:cNvPr id="22" name="Shape 20"/>
          <p:cNvSpPr/>
          <p:nvPr/>
        </p:nvSpPr>
        <p:spPr>
          <a:xfrm>
            <a:off x="457200" y="3291840"/>
            <a:ext cx="2651760" cy="15544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457200" y="3291840"/>
            <a:ext cx="2651760" cy="73152"/>
          </a:xfrm>
          <a:prstGeom prst="rect">
            <a:avLst/>
          </a:prstGeom>
          <a:solidFill>
            <a:srgbClr val="C1121F"/>
          </a:solidFill>
          <a:ln/>
        </p:spPr>
      </p:sp>
      <p:sp>
        <p:nvSpPr>
          <p:cNvPr id="24" name="Text 22"/>
          <p:cNvSpPr/>
          <p:nvPr/>
        </p:nvSpPr>
        <p:spPr>
          <a:xfrm>
            <a:off x="594360" y="3474720"/>
            <a:ext cx="237744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商业革命</a:t>
            </a:r>
            <a:endParaRPr lang="en-US" sz="1600" dirty="0"/>
          </a:p>
        </p:txBody>
      </p:sp>
      <p:sp>
        <p:nvSpPr>
          <p:cNvPr id="25" name="Text 23"/>
          <p:cNvSpPr/>
          <p:nvPr/>
        </p:nvSpPr>
        <p:spPr>
          <a:xfrm>
            <a:off x="594360" y="3886200"/>
            <a:ext cx="2377440" cy="822960"/>
          </a:xfrm>
          <a:prstGeom prst="rect">
            <a:avLst/>
          </a:prstGeom>
          <a:noFill/>
          <a:ln/>
        </p:spPr>
        <p:txBody>
          <a:bodyPr wrap="square" rtlCol="0" anchor="t"/>
          <a:lstStyle/>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东印度公司扩张</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大西洋贸易兴起</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重商主义盛行</a:t>
            </a:r>
            <a:endParaRPr lang="en-US" sz="1200" dirty="0"/>
          </a:p>
        </p:txBody>
      </p:sp>
      <p:sp>
        <p:nvSpPr>
          <p:cNvPr id="26" name="Shape 24"/>
          <p:cNvSpPr/>
          <p:nvPr/>
        </p:nvSpPr>
        <p:spPr>
          <a:xfrm>
            <a:off x="3291840" y="3291840"/>
            <a:ext cx="2651760" cy="15544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3291840" y="3291840"/>
            <a:ext cx="2651760" cy="73152"/>
          </a:xfrm>
          <a:prstGeom prst="rect">
            <a:avLst/>
          </a:prstGeom>
          <a:solidFill>
            <a:srgbClr val="C1121F"/>
          </a:solidFill>
          <a:ln/>
        </p:spPr>
      </p:sp>
      <p:sp>
        <p:nvSpPr>
          <p:cNvPr id="28" name="Text 26"/>
          <p:cNvSpPr/>
          <p:nvPr/>
        </p:nvSpPr>
        <p:spPr>
          <a:xfrm>
            <a:off x="3429000" y="3474720"/>
            <a:ext cx="237744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启蒙运动</a:t>
            </a:r>
            <a:endParaRPr lang="en-US" sz="1600" dirty="0"/>
          </a:p>
        </p:txBody>
      </p:sp>
      <p:sp>
        <p:nvSpPr>
          <p:cNvPr id="29" name="Text 27"/>
          <p:cNvSpPr/>
          <p:nvPr/>
        </p:nvSpPr>
        <p:spPr>
          <a:xfrm>
            <a:off x="3429000" y="3886200"/>
            <a:ext cx="2377440" cy="822960"/>
          </a:xfrm>
          <a:prstGeom prst="rect">
            <a:avLst/>
          </a:prstGeom>
          <a:noFill/>
          <a:ln/>
        </p:spPr>
        <p:txBody>
          <a:bodyPr wrap="square" rtlCol="0" anchor="t"/>
          <a:lstStyle/>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理性主义兴起</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苏格兰启蒙</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自然科学进步</a:t>
            </a:r>
            <a:endParaRPr lang="en-US" sz="1200" dirty="0"/>
          </a:p>
        </p:txBody>
      </p:sp>
      <p:sp>
        <p:nvSpPr>
          <p:cNvPr id="30" name="Shape 28"/>
          <p:cNvSpPr/>
          <p:nvPr/>
        </p:nvSpPr>
        <p:spPr>
          <a:xfrm>
            <a:off x="6126480" y="3291840"/>
            <a:ext cx="2651760" cy="15544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1" name="Shape 29"/>
          <p:cNvSpPr/>
          <p:nvPr/>
        </p:nvSpPr>
        <p:spPr>
          <a:xfrm>
            <a:off x="6126480" y="3291840"/>
            <a:ext cx="2651760" cy="73152"/>
          </a:xfrm>
          <a:prstGeom prst="rect">
            <a:avLst/>
          </a:prstGeom>
          <a:solidFill>
            <a:srgbClr val="C1121F"/>
          </a:solidFill>
          <a:ln/>
        </p:spPr>
      </p:sp>
      <p:sp>
        <p:nvSpPr>
          <p:cNvPr id="32" name="Text 30"/>
          <p:cNvSpPr/>
          <p:nvPr/>
        </p:nvSpPr>
        <p:spPr>
          <a:xfrm>
            <a:off x="6263640" y="3474720"/>
            <a:ext cx="237744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时代问题</a:t>
            </a:r>
            <a:endParaRPr lang="en-US" sz="1600" dirty="0"/>
          </a:p>
        </p:txBody>
      </p:sp>
      <p:sp>
        <p:nvSpPr>
          <p:cNvPr id="33" name="Text 31"/>
          <p:cNvSpPr/>
          <p:nvPr/>
        </p:nvSpPr>
        <p:spPr>
          <a:xfrm>
            <a:off x="6263640" y="3886200"/>
            <a:ext cx="2377440" cy="822960"/>
          </a:xfrm>
          <a:prstGeom prst="rect">
            <a:avLst/>
          </a:prstGeom>
          <a:noFill/>
          <a:ln/>
        </p:spPr>
        <p:txBody>
          <a:bodyPr wrap="square" rtlCol="0" anchor="t"/>
          <a:lstStyle/>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财富如何产生？</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市场如何运行？</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道德与利益？</a:t>
            </a:r>
            <a:endParaRPr lang="en-US" sz="1200" dirty="0"/>
          </a:p>
        </p:txBody>
      </p:sp>
      <p:sp>
        <p:nvSpPr>
          <p:cNvPr id="34" name="Shape 32"/>
          <p:cNvSpPr/>
          <p:nvPr/>
        </p:nvSpPr>
        <p:spPr>
          <a:xfrm>
            <a:off x="8503920" y="4663440"/>
            <a:ext cx="365760" cy="365760"/>
          </a:xfrm>
          <a:prstGeom prst="ellipse">
            <a:avLst/>
          </a:prstGeom>
          <a:solidFill>
            <a:srgbClr val="C1121F"/>
          </a:solidFill>
          <a:ln/>
        </p:spPr>
      </p:sp>
      <p:sp>
        <p:nvSpPr>
          <p:cNvPr id="35" name="Text 3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200" b="1" dirty="0">
                <a:solidFill>
                  <a:srgbClr val="780000"/>
                </a:solidFill>
                <a:latin typeface="Microsoft YaHei" pitchFamily="34" charset="0"/>
                <a:ea typeface="Microsoft YaHei" pitchFamily="34" charset="-122"/>
                <a:cs typeface="Microsoft YaHei" pitchFamily="34" charset="-120"/>
              </a:rPr>
              <a:t>《国富论》与《道德情操论》对比</a:t>
            </a:r>
            <a:endParaRPr lang="en-US" sz="3200" dirty="0"/>
          </a:p>
        </p:txBody>
      </p:sp>
      <p:sp>
        <p:nvSpPr>
          <p:cNvPr id="4" name="Text 2"/>
          <p:cNvSpPr/>
          <p:nvPr/>
        </p:nvSpPr>
        <p:spPr>
          <a:xfrm>
            <a:off x="457200" y="868680"/>
            <a:ext cx="8229600" cy="320040"/>
          </a:xfrm>
          <a:prstGeom prst="rect">
            <a:avLst/>
          </a:prstGeom>
          <a:noFill/>
          <a:ln/>
        </p:spPr>
        <p:txBody>
          <a:bodyPr wrap="square" rtlCol="0" anchor="ctr"/>
          <a:lstStyle/>
          <a:p>
            <a:pPr algn="l" indent="0" marL="0">
              <a:buNone/>
            </a:pPr>
            <a:r>
              <a:rPr lang="en-US" sz="1300" i="1" dirty="0">
                <a:solidFill>
                  <a:srgbClr val="669BBC"/>
                </a:solidFill>
                <a:latin typeface="Georgia" pitchFamily="34" charset="0"/>
                <a:ea typeface="Georgia" pitchFamily="34" charset="-122"/>
                <a:cs typeface="Georgia" pitchFamily="34" charset="-120"/>
              </a:rPr>
              <a:t>The Wealth of Nations vs. The Theory of Moral Sentiments</a:t>
            </a:r>
            <a:endParaRPr lang="en-US" sz="1300" dirty="0"/>
          </a:p>
        </p:txBody>
      </p:sp>
      <p:sp>
        <p:nvSpPr>
          <p:cNvPr id="5" name="Shape 3"/>
          <p:cNvSpPr/>
          <p:nvPr/>
        </p:nvSpPr>
        <p:spPr>
          <a:xfrm>
            <a:off x="457200" y="1371600"/>
            <a:ext cx="3931920" cy="3200400"/>
          </a:xfrm>
          <a:prstGeom prst="rect">
            <a:avLst/>
          </a:prstGeom>
          <a:solidFill>
            <a:srgbClr val="FFFFFF"/>
          </a:solidFill>
          <a:ln/>
          <a:effectLst>
            <a:outerShdw sx="100000" sy="100000" kx="0" ky="0" algn="bl" rotWithShape="0" blurRad="76200" dist="38100" dir="8100000">
              <a:srgbClr val="000000">
                <a:alpha val="12000"/>
              </a:srgbClr>
            </a:outerShdw>
          </a:effectLst>
        </p:spPr>
      </p:sp>
      <p:sp>
        <p:nvSpPr>
          <p:cNvPr id="6" name="Shape 4"/>
          <p:cNvSpPr/>
          <p:nvPr/>
        </p:nvSpPr>
        <p:spPr>
          <a:xfrm>
            <a:off x="457200" y="1371600"/>
            <a:ext cx="3931920" cy="109728"/>
          </a:xfrm>
          <a:prstGeom prst="rect">
            <a:avLst/>
          </a:prstGeom>
          <a:solidFill>
            <a:srgbClr val="780000"/>
          </a:solidFill>
          <a:ln/>
        </p:spPr>
      </p:sp>
      <p:sp>
        <p:nvSpPr>
          <p:cNvPr id="7" name="Shape 5"/>
          <p:cNvSpPr/>
          <p:nvPr/>
        </p:nvSpPr>
        <p:spPr>
          <a:xfrm>
            <a:off x="731520" y="1737360"/>
            <a:ext cx="731520" cy="914400"/>
          </a:xfrm>
          <a:prstGeom prst="rect">
            <a:avLst/>
          </a:prstGeom>
          <a:solidFill>
            <a:srgbClr val="780000"/>
          </a:solidFill>
          <a:ln/>
        </p:spPr>
      </p:sp>
      <p:sp>
        <p:nvSpPr>
          <p:cNvPr id="8" name="Text 6"/>
          <p:cNvSpPr/>
          <p:nvPr/>
        </p:nvSpPr>
        <p:spPr>
          <a:xfrm>
            <a:off x="1645920" y="1828800"/>
            <a:ext cx="2560320" cy="457200"/>
          </a:xfrm>
          <a:prstGeom prst="rect">
            <a:avLst/>
          </a:prstGeom>
          <a:noFill/>
          <a:ln/>
        </p:spPr>
        <p:txBody>
          <a:bodyPr wrap="square" rtlCol="0" anchor="ctr"/>
          <a:lstStyle/>
          <a:p>
            <a:pPr algn="l" indent="0" marL="0">
              <a:buNone/>
            </a:pPr>
            <a:r>
              <a:rPr lang="en-US" sz="2000" b="1" dirty="0">
                <a:solidFill>
                  <a:srgbClr val="780000"/>
                </a:solidFill>
                <a:latin typeface="Microsoft YaHei" pitchFamily="34" charset="0"/>
                <a:ea typeface="Microsoft YaHei" pitchFamily="34" charset="-122"/>
                <a:cs typeface="Microsoft YaHei" pitchFamily="34" charset="-120"/>
              </a:rPr>
              <a:t>国富论</a:t>
            </a:r>
            <a:endParaRPr lang="en-US" sz="2000" dirty="0"/>
          </a:p>
        </p:txBody>
      </p:sp>
      <p:sp>
        <p:nvSpPr>
          <p:cNvPr id="9" name="Text 7"/>
          <p:cNvSpPr/>
          <p:nvPr/>
        </p:nvSpPr>
        <p:spPr>
          <a:xfrm>
            <a:off x="1645920" y="2240280"/>
            <a:ext cx="2560320" cy="320040"/>
          </a:xfrm>
          <a:prstGeom prst="rect">
            <a:avLst/>
          </a:prstGeom>
          <a:noFill/>
          <a:ln/>
        </p:spPr>
        <p:txBody>
          <a:bodyPr wrap="square" rtlCol="0" anchor="ctr"/>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1776年出版</a:t>
            </a:r>
            <a:endParaRPr lang="en-US" sz="1200" dirty="0"/>
          </a:p>
        </p:txBody>
      </p:sp>
      <p:sp>
        <p:nvSpPr>
          <p:cNvPr id="10" name="Text 8"/>
          <p:cNvSpPr/>
          <p:nvPr/>
        </p:nvSpPr>
        <p:spPr>
          <a:xfrm>
            <a:off x="731520" y="2743200"/>
            <a:ext cx="3474720" cy="1737360"/>
          </a:xfrm>
          <a:prstGeom prst="rect">
            <a:avLst/>
          </a:prstGeom>
          <a:noFill/>
          <a:ln/>
        </p:spPr>
        <p:txBody>
          <a:bodyPr wrap="square" rtlCol="0" anchor="t"/>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核心主题</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财富的性质与原因</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核心概念</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分工与专业化</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看不见的手</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自由市场</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资本积累</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核心问题</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如何致富？国家如何富强？</a:t>
            </a:r>
            <a:endParaRPr lang="en-US" sz="1200" dirty="0"/>
          </a:p>
        </p:txBody>
      </p:sp>
      <p:sp>
        <p:nvSpPr>
          <p:cNvPr id="11" name="Shape 9"/>
          <p:cNvSpPr/>
          <p:nvPr/>
        </p:nvSpPr>
        <p:spPr>
          <a:xfrm>
            <a:off x="4754880" y="1371600"/>
            <a:ext cx="3931920" cy="3200400"/>
          </a:xfrm>
          <a:prstGeom prst="rect">
            <a:avLst/>
          </a:prstGeom>
          <a:solidFill>
            <a:srgbClr val="FFFFFF"/>
          </a:solidFill>
          <a:ln/>
          <a:effectLst>
            <a:outerShdw sx="100000" sy="100000" kx="0" ky="0" algn="bl" rotWithShape="0" blurRad="76200" dist="38100" dir="8100000">
              <a:srgbClr val="000000">
                <a:alpha val="12000"/>
              </a:srgbClr>
            </a:outerShdw>
          </a:effectLst>
        </p:spPr>
      </p:sp>
      <p:sp>
        <p:nvSpPr>
          <p:cNvPr id="12" name="Shape 10"/>
          <p:cNvSpPr/>
          <p:nvPr/>
        </p:nvSpPr>
        <p:spPr>
          <a:xfrm>
            <a:off x="4754880" y="1371600"/>
            <a:ext cx="3931920" cy="109728"/>
          </a:xfrm>
          <a:prstGeom prst="rect">
            <a:avLst/>
          </a:prstGeom>
          <a:solidFill>
            <a:srgbClr val="C1121F"/>
          </a:solidFill>
          <a:ln/>
        </p:spPr>
      </p:sp>
      <p:sp>
        <p:nvSpPr>
          <p:cNvPr id="13" name="Shape 11"/>
          <p:cNvSpPr/>
          <p:nvPr/>
        </p:nvSpPr>
        <p:spPr>
          <a:xfrm>
            <a:off x="5029200" y="1737360"/>
            <a:ext cx="731520" cy="914400"/>
          </a:xfrm>
          <a:prstGeom prst="rect">
            <a:avLst/>
          </a:prstGeom>
          <a:solidFill>
            <a:srgbClr val="C1121F"/>
          </a:solidFill>
          <a:ln/>
        </p:spPr>
      </p:sp>
      <p:sp>
        <p:nvSpPr>
          <p:cNvPr id="14" name="Text 12"/>
          <p:cNvSpPr/>
          <p:nvPr/>
        </p:nvSpPr>
        <p:spPr>
          <a:xfrm>
            <a:off x="5943600" y="1828800"/>
            <a:ext cx="2560320" cy="457200"/>
          </a:xfrm>
          <a:prstGeom prst="rect">
            <a:avLst/>
          </a:prstGeom>
          <a:noFill/>
          <a:ln/>
        </p:spPr>
        <p:txBody>
          <a:bodyPr wrap="square" rtlCol="0" anchor="ctr"/>
          <a:lstStyle/>
          <a:p>
            <a:pPr algn="l" indent="0" marL="0">
              <a:buNone/>
            </a:pPr>
            <a:r>
              <a:rPr lang="en-US" sz="2000" b="1" dirty="0">
                <a:solidFill>
                  <a:srgbClr val="C1121F"/>
                </a:solidFill>
                <a:latin typeface="Microsoft YaHei" pitchFamily="34" charset="0"/>
                <a:ea typeface="Microsoft YaHei" pitchFamily="34" charset="-122"/>
                <a:cs typeface="Microsoft YaHei" pitchFamily="34" charset="-120"/>
              </a:rPr>
              <a:t>道德情操论</a:t>
            </a:r>
            <a:endParaRPr lang="en-US" sz="2000" dirty="0"/>
          </a:p>
        </p:txBody>
      </p:sp>
      <p:sp>
        <p:nvSpPr>
          <p:cNvPr id="15" name="Text 13"/>
          <p:cNvSpPr/>
          <p:nvPr/>
        </p:nvSpPr>
        <p:spPr>
          <a:xfrm>
            <a:off x="5943600" y="2240280"/>
            <a:ext cx="2560320" cy="320040"/>
          </a:xfrm>
          <a:prstGeom prst="rect">
            <a:avLst/>
          </a:prstGeom>
          <a:noFill/>
          <a:ln/>
        </p:spPr>
        <p:txBody>
          <a:bodyPr wrap="square" rtlCol="0" anchor="ctr"/>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1759年出版</a:t>
            </a:r>
            <a:endParaRPr lang="en-US" sz="1200" dirty="0"/>
          </a:p>
        </p:txBody>
      </p:sp>
      <p:sp>
        <p:nvSpPr>
          <p:cNvPr id="16" name="Text 14"/>
          <p:cNvSpPr/>
          <p:nvPr/>
        </p:nvSpPr>
        <p:spPr>
          <a:xfrm>
            <a:off x="5029200" y="2743200"/>
            <a:ext cx="3474720" cy="1737360"/>
          </a:xfrm>
          <a:prstGeom prst="rect">
            <a:avLst/>
          </a:prstGeom>
          <a:noFill/>
          <a:ln/>
        </p:spPr>
        <p:txBody>
          <a:bodyPr wrap="square" rtlCol="0" anchor="t"/>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核心主题</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道德行为的根源</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核心概念</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同理心</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公正的旁观者</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美德与自控</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正义与仁慈</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核心问题</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道德从何而来？何为正义？</a:t>
            </a:r>
            <a:endParaRPr lang="en-US" sz="1200" dirty="0"/>
          </a:p>
        </p:txBody>
      </p:sp>
      <p:sp>
        <p:nvSpPr>
          <p:cNvPr id="17" name="Shape 15"/>
          <p:cNvSpPr/>
          <p:nvPr/>
        </p:nvSpPr>
        <p:spPr>
          <a:xfrm>
            <a:off x="2286000" y="4709160"/>
            <a:ext cx="4572000" cy="320040"/>
          </a:xfrm>
          <a:prstGeom prst="rect">
            <a:avLst/>
          </a:prstGeom>
          <a:solidFill>
            <a:srgbClr val="003049">
              <a:alpha val="10000"/>
            </a:srgbClr>
          </a:solidFill>
          <a:ln/>
        </p:spPr>
      </p:sp>
      <p:sp>
        <p:nvSpPr>
          <p:cNvPr id="18" name="Text 16"/>
          <p:cNvSpPr/>
          <p:nvPr/>
        </p:nvSpPr>
        <p:spPr>
          <a:xfrm>
            <a:off x="2286000" y="4709160"/>
            <a:ext cx="4572000" cy="32004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两本书共同构成斯密思想体系：市场智慧 + 道德哲学</a:t>
            </a:r>
            <a:endParaRPr lang="en-US" sz="1100" dirty="0"/>
          </a:p>
        </p:txBody>
      </p:sp>
      <p:sp>
        <p:nvSpPr>
          <p:cNvPr id="19" name="Shape 17"/>
          <p:cNvSpPr/>
          <p:nvPr/>
        </p:nvSpPr>
        <p:spPr>
          <a:xfrm>
            <a:off x="8503920" y="4663440"/>
            <a:ext cx="365760" cy="365760"/>
          </a:xfrm>
          <a:prstGeom prst="ellipse">
            <a:avLst/>
          </a:prstGeom>
          <a:solidFill>
            <a:srgbClr val="C1121F"/>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斯密思想的三个核心</a:t>
            </a:r>
            <a:endParaRPr lang="en-US" sz="3600" dirty="0"/>
          </a:p>
        </p:txBody>
      </p:sp>
      <p:sp>
        <p:nvSpPr>
          <p:cNvPr id="4" name="Shape 2"/>
          <p:cNvSpPr/>
          <p:nvPr/>
        </p:nvSpPr>
        <p:spPr>
          <a:xfrm>
            <a:off x="457200" y="1188720"/>
            <a:ext cx="2651760" cy="34747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5" name="Shape 3"/>
          <p:cNvSpPr/>
          <p:nvPr/>
        </p:nvSpPr>
        <p:spPr>
          <a:xfrm>
            <a:off x="457200" y="1188720"/>
            <a:ext cx="2651760" cy="548640"/>
          </a:xfrm>
          <a:prstGeom prst="rect">
            <a:avLst/>
          </a:prstGeom>
          <a:solidFill>
            <a:srgbClr val="780000"/>
          </a:solidFill>
          <a:ln/>
        </p:spPr>
      </p:sp>
      <p:sp>
        <p:nvSpPr>
          <p:cNvPr id="6" name="Text 4"/>
          <p:cNvSpPr/>
          <p:nvPr/>
        </p:nvSpPr>
        <p:spPr>
          <a:xfrm>
            <a:off x="457200" y="1188720"/>
            <a:ext cx="2651760" cy="54864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01</a:t>
            </a:r>
            <a:endParaRPr lang="en-US" sz="2400" dirty="0"/>
          </a:p>
        </p:txBody>
      </p:sp>
      <p:sp>
        <p:nvSpPr>
          <p:cNvPr id="7" name="Text 5"/>
          <p:cNvSpPr/>
          <p:nvPr/>
        </p:nvSpPr>
        <p:spPr>
          <a:xfrm>
            <a:off x="594360" y="1874520"/>
            <a:ext cx="2377440" cy="457200"/>
          </a:xfrm>
          <a:prstGeom prst="rect">
            <a:avLst/>
          </a:prstGeom>
          <a:noFill/>
          <a:ln/>
        </p:spPr>
        <p:txBody>
          <a:bodyPr wrap="square" rtlCol="0" anchor="ctr"/>
          <a:lstStyle/>
          <a:p>
            <a:pPr algn="ctr" indent="0" marL="0">
              <a:buNone/>
            </a:pPr>
            <a:r>
              <a:rPr lang="en-US" sz="1800" b="1" dirty="0">
                <a:solidFill>
                  <a:srgbClr val="780000"/>
                </a:solidFill>
                <a:latin typeface="Microsoft YaHei" pitchFamily="34" charset="0"/>
                <a:ea typeface="Microsoft YaHei" pitchFamily="34" charset="-122"/>
                <a:cs typeface="Microsoft YaHei" pitchFamily="34" charset="-120"/>
              </a:rPr>
              <a:t>看不见的手</a:t>
            </a:r>
            <a:endParaRPr lang="en-US" sz="1800" dirty="0"/>
          </a:p>
        </p:txBody>
      </p:sp>
      <p:sp>
        <p:nvSpPr>
          <p:cNvPr id="8" name="Text 6"/>
          <p:cNvSpPr/>
          <p:nvPr/>
        </p:nvSpPr>
        <p:spPr>
          <a:xfrm>
            <a:off x="594360" y="2286000"/>
            <a:ext cx="2377440" cy="320040"/>
          </a:xfrm>
          <a:prstGeom prst="rect">
            <a:avLst/>
          </a:prstGeom>
          <a:noFill/>
          <a:ln/>
        </p:spPr>
        <p:txBody>
          <a:bodyPr wrap="square" rtlCol="0" anchor="ctr"/>
          <a:lstStyle/>
          <a:p>
            <a:pPr algn="ctr" indent="0" marL="0">
              <a:buNone/>
            </a:pPr>
            <a:r>
              <a:rPr lang="en-US" sz="1100" i="1" dirty="0">
                <a:solidFill>
                  <a:srgbClr val="669BBC"/>
                </a:solidFill>
                <a:latin typeface="Georgia" pitchFamily="34" charset="0"/>
                <a:ea typeface="Georgia" pitchFamily="34" charset="-122"/>
                <a:cs typeface="Georgia" pitchFamily="34" charset="-120"/>
              </a:rPr>
              <a:t>The Invisible Hand</a:t>
            </a:r>
            <a:endParaRPr lang="en-US" sz="1100" dirty="0"/>
          </a:p>
        </p:txBody>
      </p:sp>
      <p:sp>
        <p:nvSpPr>
          <p:cNvPr id="9" name="Shape 7"/>
          <p:cNvSpPr/>
          <p:nvPr/>
        </p:nvSpPr>
        <p:spPr>
          <a:xfrm>
            <a:off x="822960" y="2651760"/>
            <a:ext cx="1920240" cy="18288"/>
          </a:xfrm>
          <a:prstGeom prst="rect">
            <a:avLst/>
          </a:prstGeom>
          <a:solidFill>
            <a:srgbClr val="669BBC">
              <a:alpha val="50000"/>
            </a:srgbClr>
          </a:solidFill>
          <a:ln/>
        </p:spPr>
      </p:sp>
      <p:sp>
        <p:nvSpPr>
          <p:cNvPr id="10" name="Text 8"/>
          <p:cNvSpPr/>
          <p:nvPr/>
        </p:nvSpPr>
        <p:spPr>
          <a:xfrm>
            <a:off x="594360" y="2743200"/>
            <a:ext cx="2377440" cy="91440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个人追求私利，在市场这只"看不见的手"的引导下，竟能促进社会整体利益。</a:t>
            </a:r>
            <a:endParaRPr lang="en-US" sz="1100" dirty="0"/>
          </a:p>
        </p:txBody>
      </p:sp>
      <p:sp>
        <p:nvSpPr>
          <p:cNvPr id="11" name="Shape 9"/>
          <p:cNvSpPr/>
          <p:nvPr/>
        </p:nvSpPr>
        <p:spPr>
          <a:xfrm>
            <a:off x="548640" y="3703320"/>
            <a:ext cx="2468880" cy="822960"/>
          </a:xfrm>
          <a:prstGeom prst="rect">
            <a:avLst/>
          </a:prstGeom>
          <a:solidFill>
            <a:srgbClr val="FDF0D5"/>
          </a:solidFill>
          <a:ln/>
        </p:spPr>
      </p:sp>
      <p:sp>
        <p:nvSpPr>
          <p:cNvPr id="12" name="Text 10"/>
          <p:cNvSpPr/>
          <p:nvPr/>
        </p:nvSpPr>
        <p:spPr>
          <a:xfrm>
            <a:off x="594360" y="3749040"/>
            <a:ext cx="2377440" cy="731520"/>
          </a:xfrm>
          <a:prstGeom prst="rect">
            <a:avLst/>
          </a:prstGeom>
          <a:noFill/>
          <a:ln/>
        </p:spPr>
        <p:txBody>
          <a:bodyPr wrap="square" rtlCol="0" anchor="t"/>
          <a:lstStyle/>
          <a:p>
            <a:pPr algn="l" indent="0" marL="0">
              <a:buNone/>
            </a:pPr>
            <a:r>
              <a:rPr lang="en-US" sz="900" i="1" dirty="0">
                <a:solidFill>
                  <a:srgbClr val="669BBC"/>
                </a:solidFill>
                <a:latin typeface="Microsoft YaHei" pitchFamily="34" charset="0"/>
                <a:ea typeface="Microsoft YaHei" pitchFamily="34" charset="-122"/>
                <a:cs typeface="Microsoft YaHei" pitchFamily="34" charset="-120"/>
              </a:rPr>
              <a:t>"我们每天所需的食物和饮料，不是出于屠户、酿酒师或烙面包师的恩惠，而是出于他们自利..."</a:t>
            </a:r>
            <a:endParaRPr lang="en-US" sz="900" dirty="0"/>
          </a:p>
        </p:txBody>
      </p:sp>
      <p:sp>
        <p:nvSpPr>
          <p:cNvPr id="13" name="Shape 11"/>
          <p:cNvSpPr/>
          <p:nvPr/>
        </p:nvSpPr>
        <p:spPr>
          <a:xfrm>
            <a:off x="3337560" y="1188720"/>
            <a:ext cx="2651760" cy="34747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14" name="Shape 12"/>
          <p:cNvSpPr/>
          <p:nvPr/>
        </p:nvSpPr>
        <p:spPr>
          <a:xfrm>
            <a:off x="3337560" y="1188720"/>
            <a:ext cx="2651760" cy="548640"/>
          </a:xfrm>
          <a:prstGeom prst="rect">
            <a:avLst/>
          </a:prstGeom>
          <a:solidFill>
            <a:srgbClr val="C1121F"/>
          </a:solidFill>
          <a:ln/>
        </p:spPr>
      </p:sp>
      <p:sp>
        <p:nvSpPr>
          <p:cNvPr id="15" name="Text 13"/>
          <p:cNvSpPr/>
          <p:nvPr/>
        </p:nvSpPr>
        <p:spPr>
          <a:xfrm>
            <a:off x="3337560" y="1188720"/>
            <a:ext cx="2651760" cy="54864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02</a:t>
            </a:r>
            <a:endParaRPr lang="en-US" sz="2400" dirty="0"/>
          </a:p>
        </p:txBody>
      </p:sp>
      <p:sp>
        <p:nvSpPr>
          <p:cNvPr id="16" name="Text 14"/>
          <p:cNvSpPr/>
          <p:nvPr/>
        </p:nvSpPr>
        <p:spPr>
          <a:xfrm>
            <a:off x="3474720" y="1874520"/>
            <a:ext cx="2377440" cy="457200"/>
          </a:xfrm>
          <a:prstGeom prst="rect">
            <a:avLst/>
          </a:prstGeom>
          <a:noFill/>
          <a:ln/>
        </p:spPr>
        <p:txBody>
          <a:bodyPr wrap="square" rtlCol="0" anchor="ctr"/>
          <a:lstStyle/>
          <a:p>
            <a:pPr algn="ctr" indent="0" marL="0">
              <a:buNone/>
            </a:pPr>
            <a:r>
              <a:rPr lang="en-US" sz="1800" b="1" dirty="0">
                <a:solidFill>
                  <a:srgbClr val="780000"/>
                </a:solidFill>
                <a:latin typeface="Microsoft YaHei" pitchFamily="34" charset="0"/>
                <a:ea typeface="Microsoft YaHei" pitchFamily="34" charset="-122"/>
                <a:cs typeface="Microsoft YaHei" pitchFamily="34" charset="-120"/>
              </a:rPr>
              <a:t>分工与专业化</a:t>
            </a:r>
            <a:endParaRPr lang="en-US" sz="1800" dirty="0"/>
          </a:p>
        </p:txBody>
      </p:sp>
      <p:sp>
        <p:nvSpPr>
          <p:cNvPr id="17" name="Text 15"/>
          <p:cNvSpPr/>
          <p:nvPr/>
        </p:nvSpPr>
        <p:spPr>
          <a:xfrm>
            <a:off x="3474720" y="2286000"/>
            <a:ext cx="2377440" cy="320040"/>
          </a:xfrm>
          <a:prstGeom prst="rect">
            <a:avLst/>
          </a:prstGeom>
          <a:noFill/>
          <a:ln/>
        </p:spPr>
        <p:txBody>
          <a:bodyPr wrap="square" rtlCol="0" anchor="ctr"/>
          <a:lstStyle/>
          <a:p>
            <a:pPr algn="ctr" indent="0" marL="0">
              <a:buNone/>
            </a:pPr>
            <a:r>
              <a:rPr lang="en-US" sz="1100" i="1" dirty="0">
                <a:solidFill>
                  <a:srgbClr val="669BBC"/>
                </a:solidFill>
                <a:latin typeface="Georgia" pitchFamily="34" charset="0"/>
                <a:ea typeface="Georgia" pitchFamily="34" charset="-122"/>
                <a:cs typeface="Georgia" pitchFamily="34" charset="-120"/>
              </a:rPr>
              <a:t>Division of Labor</a:t>
            </a:r>
            <a:endParaRPr lang="en-US" sz="1100" dirty="0"/>
          </a:p>
        </p:txBody>
      </p:sp>
      <p:sp>
        <p:nvSpPr>
          <p:cNvPr id="18" name="Shape 16"/>
          <p:cNvSpPr/>
          <p:nvPr/>
        </p:nvSpPr>
        <p:spPr>
          <a:xfrm>
            <a:off x="3703320" y="2651760"/>
            <a:ext cx="1920240" cy="18288"/>
          </a:xfrm>
          <a:prstGeom prst="rect">
            <a:avLst/>
          </a:prstGeom>
          <a:solidFill>
            <a:srgbClr val="669BBC">
              <a:alpha val="50000"/>
            </a:srgbClr>
          </a:solidFill>
          <a:ln/>
        </p:spPr>
      </p:sp>
      <p:sp>
        <p:nvSpPr>
          <p:cNvPr id="19" name="Text 17"/>
          <p:cNvSpPr/>
          <p:nvPr/>
        </p:nvSpPr>
        <p:spPr>
          <a:xfrm>
            <a:off x="3474720" y="2743200"/>
            <a:ext cx="2377440" cy="91440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劳动分工是财富增长的源泉。专业化提高效率，效率创造价值。</a:t>
            </a:r>
            <a:endParaRPr lang="en-US" sz="1100" dirty="0"/>
          </a:p>
        </p:txBody>
      </p:sp>
      <p:sp>
        <p:nvSpPr>
          <p:cNvPr id="20" name="Shape 18"/>
          <p:cNvSpPr/>
          <p:nvPr/>
        </p:nvSpPr>
        <p:spPr>
          <a:xfrm>
            <a:off x="3429000" y="3703320"/>
            <a:ext cx="2468880" cy="822960"/>
          </a:xfrm>
          <a:prstGeom prst="rect">
            <a:avLst/>
          </a:prstGeom>
          <a:solidFill>
            <a:srgbClr val="FDF0D5"/>
          </a:solidFill>
          <a:ln/>
        </p:spPr>
      </p:sp>
      <p:sp>
        <p:nvSpPr>
          <p:cNvPr id="21" name="Text 19"/>
          <p:cNvSpPr/>
          <p:nvPr/>
        </p:nvSpPr>
        <p:spPr>
          <a:xfrm>
            <a:off x="3474720" y="3749040"/>
            <a:ext cx="2377440" cy="731520"/>
          </a:xfrm>
          <a:prstGeom prst="rect">
            <a:avLst/>
          </a:prstGeom>
          <a:noFill/>
          <a:ln/>
        </p:spPr>
        <p:txBody>
          <a:bodyPr wrap="square" rtlCol="0" anchor="t"/>
          <a:lstStyle/>
          <a:p>
            <a:pPr algn="l" indent="0" marL="0">
              <a:buNone/>
            </a:pPr>
            <a:r>
              <a:rPr lang="en-US" sz="900" i="1" dirty="0">
                <a:solidFill>
                  <a:srgbClr val="669BBC"/>
                </a:solidFill>
                <a:latin typeface="Microsoft YaHei" pitchFamily="34" charset="0"/>
                <a:ea typeface="Microsoft YaHei" pitchFamily="34" charset="-122"/>
                <a:cs typeface="Microsoft YaHei" pitchFamily="34" charset="-120"/>
              </a:rPr>
              <a:t>"劳动分工最大的好处，不在于分工本身，而在于分工带来的一系列连锁效应。..."</a:t>
            </a:r>
            <a:endParaRPr lang="en-US" sz="900" dirty="0"/>
          </a:p>
        </p:txBody>
      </p:sp>
      <p:sp>
        <p:nvSpPr>
          <p:cNvPr id="22" name="Shape 20"/>
          <p:cNvSpPr/>
          <p:nvPr/>
        </p:nvSpPr>
        <p:spPr>
          <a:xfrm>
            <a:off x="6217920" y="1188720"/>
            <a:ext cx="2651760" cy="347472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23" name="Shape 21"/>
          <p:cNvSpPr/>
          <p:nvPr/>
        </p:nvSpPr>
        <p:spPr>
          <a:xfrm>
            <a:off x="6217920" y="1188720"/>
            <a:ext cx="2651760" cy="548640"/>
          </a:xfrm>
          <a:prstGeom prst="rect">
            <a:avLst/>
          </a:prstGeom>
          <a:solidFill>
            <a:srgbClr val="780000"/>
          </a:solidFill>
          <a:ln/>
        </p:spPr>
      </p:sp>
      <p:sp>
        <p:nvSpPr>
          <p:cNvPr id="24" name="Text 22"/>
          <p:cNvSpPr/>
          <p:nvPr/>
        </p:nvSpPr>
        <p:spPr>
          <a:xfrm>
            <a:off x="6217920" y="1188720"/>
            <a:ext cx="2651760" cy="54864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355080" y="1874520"/>
            <a:ext cx="2377440" cy="457200"/>
          </a:xfrm>
          <a:prstGeom prst="rect">
            <a:avLst/>
          </a:prstGeom>
          <a:noFill/>
          <a:ln/>
        </p:spPr>
        <p:txBody>
          <a:bodyPr wrap="square" rtlCol="0" anchor="ctr"/>
          <a:lstStyle/>
          <a:p>
            <a:pPr algn="ctr" indent="0" marL="0">
              <a:buNone/>
            </a:pPr>
            <a:r>
              <a:rPr lang="en-US" sz="1800" b="1" dirty="0">
                <a:solidFill>
                  <a:srgbClr val="780000"/>
                </a:solidFill>
                <a:latin typeface="Microsoft YaHei" pitchFamily="34" charset="0"/>
                <a:ea typeface="Microsoft YaHei" pitchFamily="34" charset="-122"/>
                <a:cs typeface="Microsoft YaHei" pitchFamily="34" charset="-120"/>
              </a:rPr>
              <a:t>公正的旁观者</a:t>
            </a:r>
            <a:endParaRPr lang="en-US" sz="1800" dirty="0"/>
          </a:p>
        </p:txBody>
      </p:sp>
      <p:sp>
        <p:nvSpPr>
          <p:cNvPr id="26" name="Text 24"/>
          <p:cNvSpPr/>
          <p:nvPr/>
        </p:nvSpPr>
        <p:spPr>
          <a:xfrm>
            <a:off x="6355080" y="2286000"/>
            <a:ext cx="2377440" cy="320040"/>
          </a:xfrm>
          <a:prstGeom prst="rect">
            <a:avLst/>
          </a:prstGeom>
          <a:noFill/>
          <a:ln/>
        </p:spPr>
        <p:txBody>
          <a:bodyPr wrap="square" rtlCol="0" anchor="ctr"/>
          <a:lstStyle/>
          <a:p>
            <a:pPr algn="ctr" indent="0" marL="0">
              <a:buNone/>
            </a:pPr>
            <a:r>
              <a:rPr lang="en-US" sz="1100" i="1" dirty="0">
                <a:solidFill>
                  <a:srgbClr val="669BBC"/>
                </a:solidFill>
                <a:latin typeface="Georgia" pitchFamily="34" charset="0"/>
                <a:ea typeface="Georgia" pitchFamily="34" charset="-122"/>
                <a:cs typeface="Georgia" pitchFamily="34" charset="-120"/>
              </a:rPr>
              <a:t>Impartial Spectator</a:t>
            </a:r>
            <a:endParaRPr lang="en-US" sz="1100" dirty="0"/>
          </a:p>
        </p:txBody>
      </p:sp>
      <p:sp>
        <p:nvSpPr>
          <p:cNvPr id="27" name="Shape 25"/>
          <p:cNvSpPr/>
          <p:nvPr/>
        </p:nvSpPr>
        <p:spPr>
          <a:xfrm>
            <a:off x="6583680" y="2651760"/>
            <a:ext cx="1920240" cy="18288"/>
          </a:xfrm>
          <a:prstGeom prst="rect">
            <a:avLst/>
          </a:prstGeom>
          <a:solidFill>
            <a:srgbClr val="669BBC">
              <a:alpha val="50000"/>
            </a:srgbClr>
          </a:solidFill>
          <a:ln/>
        </p:spPr>
      </p:sp>
      <p:sp>
        <p:nvSpPr>
          <p:cNvPr id="28" name="Text 26"/>
          <p:cNvSpPr/>
          <p:nvPr/>
        </p:nvSpPr>
        <p:spPr>
          <a:xfrm>
            <a:off x="6355080" y="2743200"/>
            <a:ext cx="2377440" cy="91440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道德判断依赖于我们内心的"公正旁观者"——一种同理心和自我审视的能力。</a:t>
            </a:r>
            <a:endParaRPr lang="en-US" sz="1100" dirty="0"/>
          </a:p>
        </p:txBody>
      </p:sp>
      <p:sp>
        <p:nvSpPr>
          <p:cNvPr id="29" name="Shape 27"/>
          <p:cNvSpPr/>
          <p:nvPr/>
        </p:nvSpPr>
        <p:spPr>
          <a:xfrm>
            <a:off x="6309360" y="3703320"/>
            <a:ext cx="2468880" cy="822960"/>
          </a:xfrm>
          <a:prstGeom prst="rect">
            <a:avLst/>
          </a:prstGeom>
          <a:solidFill>
            <a:srgbClr val="FDF0D5"/>
          </a:solidFill>
          <a:ln/>
        </p:spPr>
      </p:sp>
      <p:sp>
        <p:nvSpPr>
          <p:cNvPr id="30" name="Text 28"/>
          <p:cNvSpPr/>
          <p:nvPr/>
        </p:nvSpPr>
        <p:spPr>
          <a:xfrm>
            <a:off x="6355080" y="3749040"/>
            <a:ext cx="2377440" cy="731520"/>
          </a:xfrm>
          <a:prstGeom prst="rect">
            <a:avLst/>
          </a:prstGeom>
          <a:noFill/>
          <a:ln/>
        </p:spPr>
        <p:txBody>
          <a:bodyPr wrap="square" rtlCol="0" anchor="t"/>
          <a:lstStyle/>
          <a:p>
            <a:pPr algn="l" indent="0" marL="0">
              <a:buNone/>
            </a:pPr>
            <a:r>
              <a:rPr lang="en-US" sz="900" i="1" dirty="0">
                <a:solidFill>
                  <a:srgbClr val="669BBC"/>
                </a:solidFill>
                <a:latin typeface="Microsoft YaHei" pitchFamily="34" charset="0"/>
                <a:ea typeface="Microsoft YaHei" pitchFamily="34" charset="-122"/>
                <a:cs typeface="Microsoft YaHei" pitchFamily="34" charset="-120"/>
              </a:rPr>
              <a:t>"人类的同情心是道德情感的基石。..."</a:t>
            </a:r>
            <a:endParaRPr lang="en-US" sz="900" dirty="0"/>
          </a:p>
        </p:txBody>
      </p:sp>
      <p:sp>
        <p:nvSpPr>
          <p:cNvPr id="31" name="Shape 29"/>
          <p:cNvSpPr/>
          <p:nvPr/>
        </p:nvSpPr>
        <p:spPr>
          <a:xfrm>
            <a:off x="8503920" y="4663440"/>
            <a:ext cx="365760" cy="365760"/>
          </a:xfrm>
          <a:prstGeom prst="ellipse">
            <a:avLst/>
          </a:prstGeom>
          <a:solidFill>
            <a:srgbClr val="C1121F"/>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斯密的历史坐标</a:t>
            </a:r>
            <a:endParaRPr lang="en-US" sz="3600" dirty="0"/>
          </a:p>
        </p:txBody>
      </p:sp>
      <p:sp>
        <p:nvSpPr>
          <p:cNvPr id="4" name="Text 2"/>
          <p:cNvSpPr/>
          <p:nvPr/>
        </p:nvSpPr>
        <p:spPr>
          <a:xfrm>
            <a:off x="457200" y="868680"/>
            <a:ext cx="8229600" cy="32004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思想传承：从斯密到今天</a:t>
            </a:r>
            <a:endParaRPr lang="en-US" sz="1400" dirty="0"/>
          </a:p>
        </p:txBody>
      </p:sp>
      <p:sp>
        <p:nvSpPr>
          <p:cNvPr id="5" name="Shape 3"/>
          <p:cNvSpPr/>
          <p:nvPr/>
        </p:nvSpPr>
        <p:spPr>
          <a:xfrm>
            <a:off x="1417320" y="1463040"/>
            <a:ext cx="36576" cy="4754880"/>
          </a:xfrm>
          <a:prstGeom prst="rect">
            <a:avLst/>
          </a:prstGeom>
          <a:solidFill>
            <a:srgbClr val="669BBC"/>
          </a:solidFill>
          <a:ln/>
        </p:spPr>
      </p:sp>
      <p:sp>
        <p:nvSpPr>
          <p:cNvPr id="6" name="Shape 4"/>
          <p:cNvSpPr/>
          <p:nvPr/>
        </p:nvSpPr>
        <p:spPr>
          <a:xfrm>
            <a:off x="1280160" y="1371600"/>
            <a:ext cx="320040" cy="320040"/>
          </a:xfrm>
          <a:prstGeom prst="ellipse">
            <a:avLst/>
          </a:prstGeom>
          <a:solidFill>
            <a:srgbClr val="669BBC"/>
          </a:solidFill>
          <a:ln/>
        </p:spPr>
      </p:sp>
      <p:sp>
        <p:nvSpPr>
          <p:cNvPr id="7" name="Text 5"/>
          <p:cNvSpPr/>
          <p:nvPr/>
        </p:nvSpPr>
        <p:spPr>
          <a:xfrm>
            <a:off x="1737360" y="132588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1723</a:t>
            </a:r>
            <a:endParaRPr lang="en-US" sz="1300" dirty="0"/>
          </a:p>
        </p:txBody>
      </p:sp>
      <p:sp>
        <p:nvSpPr>
          <p:cNvPr id="8" name="Text 6"/>
          <p:cNvSpPr/>
          <p:nvPr/>
        </p:nvSpPr>
        <p:spPr>
          <a:xfrm>
            <a:off x="2834640" y="132588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亚当·斯密出生</a:t>
            </a:r>
            <a:endParaRPr lang="en-US" sz="1200" dirty="0"/>
          </a:p>
        </p:txBody>
      </p:sp>
      <p:sp>
        <p:nvSpPr>
          <p:cNvPr id="9" name="Text 7"/>
          <p:cNvSpPr/>
          <p:nvPr/>
        </p:nvSpPr>
        <p:spPr>
          <a:xfrm>
            <a:off x="2834640" y="157276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苏格兰格拉斯哥</a:t>
            </a:r>
            <a:endParaRPr lang="en-US" sz="1000" dirty="0"/>
          </a:p>
        </p:txBody>
      </p:sp>
      <p:sp>
        <p:nvSpPr>
          <p:cNvPr id="10" name="Shape 8"/>
          <p:cNvSpPr/>
          <p:nvPr/>
        </p:nvSpPr>
        <p:spPr>
          <a:xfrm>
            <a:off x="1280160" y="2240280"/>
            <a:ext cx="320040" cy="320040"/>
          </a:xfrm>
          <a:prstGeom prst="ellipse">
            <a:avLst/>
          </a:prstGeom>
          <a:solidFill>
            <a:srgbClr val="669BBC"/>
          </a:solidFill>
          <a:ln/>
        </p:spPr>
      </p:sp>
      <p:sp>
        <p:nvSpPr>
          <p:cNvPr id="11" name="Text 9"/>
          <p:cNvSpPr/>
          <p:nvPr/>
        </p:nvSpPr>
        <p:spPr>
          <a:xfrm>
            <a:off x="1737360" y="219456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1751</a:t>
            </a:r>
            <a:endParaRPr lang="en-US" sz="1300" dirty="0"/>
          </a:p>
        </p:txBody>
      </p:sp>
      <p:sp>
        <p:nvSpPr>
          <p:cNvPr id="12" name="Text 10"/>
          <p:cNvSpPr/>
          <p:nvPr/>
        </p:nvSpPr>
        <p:spPr>
          <a:xfrm>
            <a:off x="2834640" y="219456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任格拉斯哥大学教授</a:t>
            </a:r>
            <a:endParaRPr lang="en-US" sz="1200" dirty="0"/>
          </a:p>
        </p:txBody>
      </p:sp>
      <p:sp>
        <p:nvSpPr>
          <p:cNvPr id="13" name="Text 11"/>
          <p:cNvSpPr/>
          <p:nvPr/>
        </p:nvSpPr>
        <p:spPr>
          <a:xfrm>
            <a:off x="2834640" y="244144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逻辑学、道德哲学</a:t>
            </a:r>
            <a:endParaRPr lang="en-US" sz="1000" dirty="0"/>
          </a:p>
        </p:txBody>
      </p:sp>
      <p:sp>
        <p:nvSpPr>
          <p:cNvPr id="14" name="Shape 12"/>
          <p:cNvSpPr/>
          <p:nvPr/>
        </p:nvSpPr>
        <p:spPr>
          <a:xfrm>
            <a:off x="1280160" y="3108960"/>
            <a:ext cx="320040" cy="320040"/>
          </a:xfrm>
          <a:prstGeom prst="ellipse">
            <a:avLst/>
          </a:prstGeom>
          <a:solidFill>
            <a:srgbClr val="780000"/>
          </a:solidFill>
          <a:ln/>
        </p:spPr>
      </p:sp>
      <p:sp>
        <p:nvSpPr>
          <p:cNvPr id="15" name="Text 13"/>
          <p:cNvSpPr/>
          <p:nvPr/>
        </p:nvSpPr>
        <p:spPr>
          <a:xfrm>
            <a:off x="1737360" y="306324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1759</a:t>
            </a:r>
            <a:endParaRPr lang="en-US" sz="1300" dirty="0"/>
          </a:p>
        </p:txBody>
      </p:sp>
      <p:sp>
        <p:nvSpPr>
          <p:cNvPr id="16" name="Text 14"/>
          <p:cNvSpPr/>
          <p:nvPr/>
        </p:nvSpPr>
        <p:spPr>
          <a:xfrm>
            <a:off x="2834640" y="306324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《道德情操论》出版</a:t>
            </a:r>
            <a:endParaRPr lang="en-US" sz="1200" dirty="0"/>
          </a:p>
        </p:txBody>
      </p:sp>
      <p:sp>
        <p:nvSpPr>
          <p:cNvPr id="17" name="Text 15"/>
          <p:cNvSpPr/>
          <p:nvPr/>
        </p:nvSpPr>
        <p:spPr>
          <a:xfrm>
            <a:off x="2834640" y="331012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探讨道德哲学基础</a:t>
            </a:r>
            <a:endParaRPr lang="en-US" sz="1000" dirty="0"/>
          </a:p>
        </p:txBody>
      </p:sp>
      <p:sp>
        <p:nvSpPr>
          <p:cNvPr id="18" name="Shape 16"/>
          <p:cNvSpPr/>
          <p:nvPr/>
        </p:nvSpPr>
        <p:spPr>
          <a:xfrm>
            <a:off x="1280160" y="3977640"/>
            <a:ext cx="320040" cy="320040"/>
          </a:xfrm>
          <a:prstGeom prst="ellipse">
            <a:avLst/>
          </a:prstGeom>
          <a:solidFill>
            <a:srgbClr val="780000"/>
          </a:solidFill>
          <a:ln/>
        </p:spPr>
      </p:sp>
      <p:sp>
        <p:nvSpPr>
          <p:cNvPr id="19" name="Text 17"/>
          <p:cNvSpPr/>
          <p:nvPr/>
        </p:nvSpPr>
        <p:spPr>
          <a:xfrm>
            <a:off x="1737360" y="393192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1776</a:t>
            </a:r>
            <a:endParaRPr lang="en-US" sz="1300" dirty="0"/>
          </a:p>
        </p:txBody>
      </p:sp>
      <p:sp>
        <p:nvSpPr>
          <p:cNvPr id="20" name="Text 18"/>
          <p:cNvSpPr/>
          <p:nvPr/>
        </p:nvSpPr>
        <p:spPr>
          <a:xfrm>
            <a:off x="2834640" y="393192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《国富论》出版</a:t>
            </a:r>
            <a:endParaRPr lang="en-US" sz="1200" dirty="0"/>
          </a:p>
        </p:txBody>
      </p:sp>
      <p:sp>
        <p:nvSpPr>
          <p:cNvPr id="21" name="Text 19"/>
          <p:cNvSpPr/>
          <p:nvPr/>
        </p:nvSpPr>
        <p:spPr>
          <a:xfrm>
            <a:off x="2834640" y="417880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经济学奠基之作</a:t>
            </a:r>
            <a:endParaRPr lang="en-US" sz="1000" dirty="0"/>
          </a:p>
        </p:txBody>
      </p:sp>
      <p:sp>
        <p:nvSpPr>
          <p:cNvPr id="22" name="Shape 20"/>
          <p:cNvSpPr/>
          <p:nvPr/>
        </p:nvSpPr>
        <p:spPr>
          <a:xfrm>
            <a:off x="1280160" y="4846320"/>
            <a:ext cx="320040" cy="320040"/>
          </a:xfrm>
          <a:prstGeom prst="ellipse">
            <a:avLst/>
          </a:prstGeom>
          <a:solidFill>
            <a:srgbClr val="669BBC"/>
          </a:solidFill>
          <a:ln/>
        </p:spPr>
      </p:sp>
      <p:sp>
        <p:nvSpPr>
          <p:cNvPr id="23" name="Text 21"/>
          <p:cNvSpPr/>
          <p:nvPr/>
        </p:nvSpPr>
        <p:spPr>
          <a:xfrm>
            <a:off x="1737360" y="480060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1790</a:t>
            </a:r>
            <a:endParaRPr lang="en-US" sz="1300" dirty="0"/>
          </a:p>
        </p:txBody>
      </p:sp>
      <p:sp>
        <p:nvSpPr>
          <p:cNvPr id="24" name="Text 22"/>
          <p:cNvSpPr/>
          <p:nvPr/>
        </p:nvSpPr>
        <p:spPr>
          <a:xfrm>
            <a:off x="2834640" y="480060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斯密去世</a:t>
            </a:r>
            <a:endParaRPr lang="en-US" sz="1200" dirty="0"/>
          </a:p>
        </p:txBody>
      </p:sp>
      <p:sp>
        <p:nvSpPr>
          <p:cNvPr id="25" name="Text 23"/>
          <p:cNvSpPr/>
          <p:nvPr/>
        </p:nvSpPr>
        <p:spPr>
          <a:xfrm>
            <a:off x="2834640" y="504748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葬于爱丁堡</a:t>
            </a:r>
            <a:endParaRPr lang="en-US" sz="1000" dirty="0"/>
          </a:p>
        </p:txBody>
      </p:sp>
      <p:sp>
        <p:nvSpPr>
          <p:cNvPr id="26" name="Shape 24"/>
          <p:cNvSpPr/>
          <p:nvPr/>
        </p:nvSpPr>
        <p:spPr>
          <a:xfrm>
            <a:off x="1280160" y="5715000"/>
            <a:ext cx="320040" cy="320040"/>
          </a:xfrm>
          <a:prstGeom prst="ellipse">
            <a:avLst/>
          </a:prstGeom>
          <a:solidFill>
            <a:srgbClr val="669BBC"/>
          </a:solidFill>
          <a:ln/>
        </p:spPr>
      </p:sp>
      <p:sp>
        <p:nvSpPr>
          <p:cNvPr id="27" name="Text 25"/>
          <p:cNvSpPr/>
          <p:nvPr/>
        </p:nvSpPr>
        <p:spPr>
          <a:xfrm>
            <a:off x="1737360" y="566928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19世纪</a:t>
            </a:r>
            <a:endParaRPr lang="en-US" sz="1300" dirty="0"/>
          </a:p>
        </p:txBody>
      </p:sp>
      <p:sp>
        <p:nvSpPr>
          <p:cNvPr id="28" name="Text 26"/>
          <p:cNvSpPr/>
          <p:nvPr/>
        </p:nvSpPr>
        <p:spPr>
          <a:xfrm>
            <a:off x="2834640" y="566928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李嘉图、穆勒发展</a:t>
            </a:r>
            <a:endParaRPr lang="en-US" sz="1200" dirty="0"/>
          </a:p>
        </p:txBody>
      </p:sp>
      <p:sp>
        <p:nvSpPr>
          <p:cNvPr id="29" name="Text 27"/>
          <p:cNvSpPr/>
          <p:nvPr/>
        </p:nvSpPr>
        <p:spPr>
          <a:xfrm>
            <a:off x="2834640" y="591616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古典经济学体系</a:t>
            </a:r>
            <a:endParaRPr lang="en-US" sz="1000" dirty="0"/>
          </a:p>
        </p:txBody>
      </p:sp>
      <p:sp>
        <p:nvSpPr>
          <p:cNvPr id="30" name="Shape 28"/>
          <p:cNvSpPr/>
          <p:nvPr/>
        </p:nvSpPr>
        <p:spPr>
          <a:xfrm>
            <a:off x="1280160" y="6583680"/>
            <a:ext cx="320040" cy="320040"/>
          </a:xfrm>
          <a:prstGeom prst="ellipse">
            <a:avLst/>
          </a:prstGeom>
          <a:solidFill>
            <a:srgbClr val="669BBC"/>
          </a:solidFill>
          <a:ln/>
        </p:spPr>
      </p:sp>
      <p:sp>
        <p:nvSpPr>
          <p:cNvPr id="31" name="Text 29"/>
          <p:cNvSpPr/>
          <p:nvPr/>
        </p:nvSpPr>
        <p:spPr>
          <a:xfrm>
            <a:off x="1737360" y="6537960"/>
            <a:ext cx="1097280" cy="274320"/>
          </a:xfrm>
          <a:prstGeom prst="rect">
            <a:avLst/>
          </a:prstGeom>
          <a:noFill/>
          <a:ln/>
        </p:spPr>
        <p:txBody>
          <a:bodyPr wrap="square" rtlCol="0" anchor="ctr"/>
          <a:lstStyle/>
          <a:p>
            <a:pPr algn="l" indent="0" marL="0">
              <a:buNone/>
            </a:pPr>
            <a:r>
              <a:rPr lang="en-US" sz="1300" b="1" dirty="0">
                <a:solidFill>
                  <a:srgbClr val="780000"/>
                </a:solidFill>
                <a:latin typeface="Georgia" pitchFamily="34" charset="0"/>
                <a:ea typeface="Georgia" pitchFamily="34" charset="-122"/>
                <a:cs typeface="Georgia" pitchFamily="34" charset="-120"/>
              </a:rPr>
              <a:t>1976</a:t>
            </a:r>
            <a:endParaRPr lang="en-US" sz="1300" dirty="0"/>
          </a:p>
        </p:txBody>
      </p:sp>
      <p:sp>
        <p:nvSpPr>
          <p:cNvPr id="32" name="Text 30"/>
          <p:cNvSpPr/>
          <p:nvPr/>
        </p:nvSpPr>
        <p:spPr>
          <a:xfrm>
            <a:off x="2834640" y="6537960"/>
            <a:ext cx="2286000" cy="274320"/>
          </a:xfrm>
          <a:prstGeom prst="rect">
            <a:avLst/>
          </a:prstGeom>
          <a:noFill/>
          <a:ln/>
        </p:spPr>
        <p:txBody>
          <a:bodyPr wrap="square" rtlCol="0" anchor="ctr"/>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哈耶克《致命的自负》</a:t>
            </a:r>
            <a:endParaRPr lang="en-US" sz="1200" dirty="0"/>
          </a:p>
        </p:txBody>
      </p:sp>
      <p:sp>
        <p:nvSpPr>
          <p:cNvPr id="33" name="Text 31"/>
          <p:cNvSpPr/>
          <p:nvPr/>
        </p:nvSpPr>
        <p:spPr>
          <a:xfrm>
            <a:off x="2834640" y="6784848"/>
            <a:ext cx="2286000" cy="228600"/>
          </a:xfrm>
          <a:prstGeom prst="rect">
            <a:avLst/>
          </a:prstGeom>
          <a:noFill/>
          <a:ln/>
        </p:spPr>
        <p:txBody>
          <a:bodyPr wrap="square" rtlCol="0" anchor="ctr"/>
          <a:lstStyle/>
          <a:p>
            <a:pPr algn="l" indent="0" marL="0">
              <a:buNone/>
            </a:pPr>
            <a:r>
              <a:rPr lang="en-US" sz="1000" dirty="0">
                <a:solidFill>
                  <a:srgbClr val="669BBC"/>
                </a:solidFill>
                <a:latin typeface="Microsoft YaHei" pitchFamily="34" charset="0"/>
                <a:ea typeface="Microsoft YaHei" pitchFamily="34" charset="-122"/>
                <a:cs typeface="Microsoft YaHei" pitchFamily="34" charset="-120"/>
              </a:rPr>
              <a:t>新自由主义回潮</a:t>
            </a:r>
            <a:endParaRPr lang="en-US" sz="1000" dirty="0"/>
          </a:p>
        </p:txBody>
      </p:sp>
      <p:sp>
        <p:nvSpPr>
          <p:cNvPr id="34" name="Shape 32"/>
          <p:cNvSpPr/>
          <p:nvPr/>
        </p:nvSpPr>
        <p:spPr>
          <a:xfrm>
            <a:off x="5029200" y="1371600"/>
            <a:ext cx="3657600" cy="3474720"/>
          </a:xfrm>
          <a:prstGeom prst="rect">
            <a:avLst/>
          </a:prstGeom>
          <a:solidFill>
            <a:srgbClr val="003049"/>
          </a:solidFill>
          <a:ln/>
        </p:spPr>
      </p:sp>
      <p:sp>
        <p:nvSpPr>
          <p:cNvPr id="35" name="Text 33"/>
          <p:cNvSpPr/>
          <p:nvPr/>
        </p:nvSpPr>
        <p:spPr>
          <a:xfrm>
            <a:off x="5303520" y="1645920"/>
            <a:ext cx="3108960" cy="457200"/>
          </a:xfrm>
          <a:prstGeom prst="rect">
            <a:avLst/>
          </a:prstGeom>
          <a:noFill/>
          <a:ln/>
        </p:spPr>
        <p:txBody>
          <a:bodyPr wrap="square" rtlCol="0" anchor="ctr"/>
          <a:lstStyle/>
          <a:p>
            <a:pPr algn="l" indent="0" marL="0">
              <a:buNone/>
            </a:pPr>
            <a:r>
              <a:rPr lang="en-US" sz="1800" b="1" dirty="0">
                <a:solidFill>
                  <a:srgbClr val="FFFFFF"/>
                </a:solidFill>
                <a:latin typeface="Microsoft YaHei" pitchFamily="34" charset="0"/>
                <a:ea typeface="Microsoft YaHei" pitchFamily="34" charset="-122"/>
                <a:cs typeface="Microsoft YaHei" pitchFamily="34" charset="-120"/>
              </a:rPr>
              <a:t>斯密的历史位置</a:t>
            </a:r>
            <a:endParaRPr lang="en-US" sz="1800" dirty="0"/>
          </a:p>
        </p:txBody>
      </p:sp>
      <p:sp>
        <p:nvSpPr>
          <p:cNvPr id="36" name="Shape 34"/>
          <p:cNvSpPr/>
          <p:nvPr/>
        </p:nvSpPr>
        <p:spPr>
          <a:xfrm>
            <a:off x="5303520" y="2148840"/>
            <a:ext cx="1371600" cy="27432"/>
          </a:xfrm>
          <a:prstGeom prst="rect">
            <a:avLst/>
          </a:prstGeom>
          <a:solidFill>
            <a:srgbClr val="669BBC"/>
          </a:solidFill>
          <a:ln/>
        </p:spPr>
      </p:sp>
      <p:sp>
        <p:nvSpPr>
          <p:cNvPr id="37" name="Text 35"/>
          <p:cNvSpPr/>
          <p:nvPr/>
        </p:nvSpPr>
        <p:spPr>
          <a:xfrm>
            <a:off x="5303520" y="2286000"/>
            <a:ext cx="3108960" cy="2377440"/>
          </a:xfrm>
          <a:prstGeom prst="rect">
            <a:avLst/>
          </a:prstGeom>
          <a:noFill/>
          <a:ln/>
        </p:spPr>
        <p:txBody>
          <a:bodyPr wrap="square" rtlCol="0" anchor="t"/>
          <a:lstStyle/>
          <a:p>
            <a:pPr algn="l" indent="0" marL="0">
              <a:buNone/>
            </a:pPr>
            <a:r>
              <a:rPr lang="en-US" sz="1200" b="1" dirty="0">
                <a:solidFill>
                  <a:srgbClr val="FFFFFF"/>
                </a:solidFill>
                <a:latin typeface="Microsoft YaHei" pitchFamily="34" charset="0"/>
                <a:ea typeface="Microsoft YaHei" pitchFamily="34" charset="-122"/>
                <a:cs typeface="Microsoft YaHei" pitchFamily="34" charset="-120"/>
              </a:rPr>
              <a:t>前承</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苏格兰启蒙运动（休谟、弗格森）</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约翰·洛克、启蒙理性主义</a:t>
            </a:r>
            <a:endParaRPr lang="en-US" sz="1200" dirty="0"/>
          </a:p>
          <a:p>
            <a:pPr algn="l" indent="0" marL="0">
              <a:buNone/>
            </a:pPr>
            <a:endParaRPr lang="en-US" sz="1200" dirty="0"/>
          </a:p>
          <a:p>
            <a:pPr algn="l" indent="0" marL="0">
              <a:buNone/>
            </a:pPr>
            <a:r>
              <a:rPr lang="en-US" sz="1200" b="1" dirty="0">
                <a:solidFill>
                  <a:srgbClr val="FFFFFF"/>
                </a:solidFill>
                <a:latin typeface="Microsoft YaHei" pitchFamily="34" charset="0"/>
                <a:ea typeface="Microsoft YaHei" pitchFamily="34" charset="-122"/>
                <a:cs typeface="Microsoft YaHei" pitchFamily="34" charset="-120"/>
              </a:rPr>
              <a:t>横跨</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哲学、经济学、伦理学、法学</a:t>
            </a:r>
            <a:endParaRPr lang="en-US" sz="1200" dirty="0"/>
          </a:p>
          <a:p>
            <a:pPr algn="l" indent="0" marL="0">
              <a:buNone/>
            </a:pPr>
            <a:endParaRPr lang="en-US" sz="1200" dirty="0"/>
          </a:p>
          <a:p>
            <a:pPr algn="l" indent="0" marL="0">
              <a:buNone/>
            </a:pPr>
            <a:r>
              <a:rPr lang="en-US" sz="1200" b="1" dirty="0">
                <a:solidFill>
                  <a:srgbClr val="FFFFFF"/>
                </a:solidFill>
                <a:latin typeface="Microsoft YaHei" pitchFamily="34" charset="0"/>
                <a:ea typeface="Microsoft YaHei" pitchFamily="34" charset="-122"/>
                <a:cs typeface="Microsoft YaHei" pitchFamily="34" charset="-120"/>
              </a:rPr>
              <a:t>后启</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古典经济学（李嘉图、穆勒）</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新古典经济学（马歇尔）</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奥地利学派（米塞斯、哈耶克）</a:t>
            </a:r>
            <a:endParaRPr lang="en-US" sz="1200" dirty="0"/>
          </a:p>
          <a:p>
            <a:pPr algn="l" indent="0" marL="0">
              <a:buNone/>
            </a:pPr>
            <a:r>
              <a:rPr lang="en-US" sz="1200" dirty="0">
                <a:solidFill>
                  <a:srgbClr val="FFFFFF"/>
                </a:solidFill>
                <a:latin typeface="Microsoft YaHei" pitchFamily="34" charset="0"/>
                <a:ea typeface="Microsoft YaHei" pitchFamily="34" charset="-122"/>
                <a:cs typeface="Microsoft YaHei" pitchFamily="34" charset="-120"/>
              </a:rPr>
              <a:t>芝加哥学派（弗里德曼）</a:t>
            </a:r>
            <a:endParaRPr lang="en-US" sz="1200" dirty="0"/>
          </a:p>
        </p:txBody>
      </p:sp>
      <p:sp>
        <p:nvSpPr>
          <p:cNvPr id="38" name="Shape 36"/>
          <p:cNvSpPr/>
          <p:nvPr/>
        </p:nvSpPr>
        <p:spPr>
          <a:xfrm>
            <a:off x="8503920" y="4663440"/>
            <a:ext cx="365760" cy="365760"/>
          </a:xfrm>
          <a:prstGeom prst="ellipse">
            <a:avLst/>
          </a:prstGeom>
          <a:solidFill>
            <a:srgbClr val="C1121F"/>
          </a:solidFill>
          <a:ln/>
        </p:spPr>
      </p:sp>
      <p:sp>
        <p:nvSpPr>
          <p:cNvPr id="39" name="Text 3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理解斯密的不同视角</a:t>
            </a:r>
            <a:endParaRPr lang="en-US" sz="3600" dirty="0"/>
          </a:p>
        </p:txBody>
      </p:sp>
      <p:sp>
        <p:nvSpPr>
          <p:cNvPr id="4" name="Text 2"/>
          <p:cNvSpPr/>
          <p:nvPr/>
        </p:nvSpPr>
        <p:spPr>
          <a:xfrm>
            <a:off x="457200" y="868680"/>
            <a:ext cx="8229600" cy="32004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同一思想，不同解读</a:t>
            </a:r>
            <a:endParaRPr lang="en-US" sz="1400" dirty="0"/>
          </a:p>
        </p:txBody>
      </p:sp>
      <p:sp>
        <p:nvSpPr>
          <p:cNvPr id="5" name="Shape 3"/>
          <p:cNvSpPr/>
          <p:nvPr/>
        </p:nvSpPr>
        <p:spPr>
          <a:xfrm>
            <a:off x="457200" y="1371600"/>
            <a:ext cx="3977640" cy="169164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6" name="Shape 4"/>
          <p:cNvSpPr/>
          <p:nvPr/>
        </p:nvSpPr>
        <p:spPr>
          <a:xfrm>
            <a:off x="457200" y="1371600"/>
            <a:ext cx="91440" cy="1691640"/>
          </a:xfrm>
          <a:prstGeom prst="rect">
            <a:avLst/>
          </a:prstGeom>
          <a:solidFill>
            <a:srgbClr val="780000"/>
          </a:solidFill>
          <a:ln/>
        </p:spPr>
      </p:sp>
      <p:sp>
        <p:nvSpPr>
          <p:cNvPr id="7" name="Text 5"/>
          <p:cNvSpPr/>
          <p:nvPr/>
        </p:nvSpPr>
        <p:spPr>
          <a:xfrm>
            <a:off x="685800" y="1508760"/>
            <a:ext cx="361188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自由市场的圣徒</a:t>
            </a:r>
            <a:endParaRPr lang="en-US" sz="1600" dirty="0"/>
          </a:p>
        </p:txBody>
      </p:sp>
      <p:sp>
        <p:nvSpPr>
          <p:cNvPr id="8" name="Text 6"/>
          <p:cNvSpPr/>
          <p:nvPr/>
        </p:nvSpPr>
        <p:spPr>
          <a:xfrm>
            <a:off x="685800" y="1874520"/>
            <a:ext cx="3611880" cy="77724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新古典经济学、芝加哥学派将斯密视为自由放任经济的代言人，强调"看不见的手"的自动调节机制。</a:t>
            </a:r>
            <a:endParaRPr lang="en-US" sz="1100" dirty="0"/>
          </a:p>
        </p:txBody>
      </p:sp>
      <p:sp>
        <p:nvSpPr>
          <p:cNvPr id="9" name="Text 7"/>
          <p:cNvSpPr/>
          <p:nvPr/>
        </p:nvSpPr>
        <p:spPr>
          <a:xfrm>
            <a:off x="685800" y="2697480"/>
            <a:ext cx="3611880" cy="274320"/>
          </a:xfrm>
          <a:prstGeom prst="rect">
            <a:avLst/>
          </a:prstGeom>
          <a:noFill/>
          <a:ln/>
        </p:spPr>
        <p:txBody>
          <a:bodyPr wrap="square" rtlCol="0" anchor="ctr"/>
          <a:lstStyle/>
          <a:p>
            <a:pPr algn="l" indent="0" marL="0">
              <a:buNone/>
            </a:pPr>
            <a:r>
              <a:rPr lang="en-US" sz="1000" i="1" dirty="0">
                <a:solidFill>
                  <a:srgbClr val="669BBC"/>
                </a:solidFill>
                <a:latin typeface="Microsoft YaHei" pitchFamily="34" charset="0"/>
                <a:ea typeface="Microsoft YaHei" pitchFamily="34" charset="-122"/>
                <a:cs typeface="Microsoft YaHei" pitchFamily="34" charset="-120"/>
              </a:rPr>
              <a:t>代表：弗里德曼、哈耶克</a:t>
            </a:r>
            <a:endParaRPr lang="en-US" sz="1000" dirty="0"/>
          </a:p>
        </p:txBody>
      </p:sp>
      <p:sp>
        <p:nvSpPr>
          <p:cNvPr id="10" name="Shape 8"/>
          <p:cNvSpPr/>
          <p:nvPr/>
        </p:nvSpPr>
        <p:spPr>
          <a:xfrm>
            <a:off x="4709160" y="1371600"/>
            <a:ext cx="3977640" cy="169164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1" name="Shape 9"/>
          <p:cNvSpPr/>
          <p:nvPr/>
        </p:nvSpPr>
        <p:spPr>
          <a:xfrm>
            <a:off x="4709160" y="1371600"/>
            <a:ext cx="91440" cy="1691640"/>
          </a:xfrm>
          <a:prstGeom prst="rect">
            <a:avLst/>
          </a:prstGeom>
          <a:solidFill>
            <a:srgbClr val="C1121F"/>
          </a:solidFill>
          <a:ln/>
        </p:spPr>
      </p:sp>
      <p:sp>
        <p:nvSpPr>
          <p:cNvPr id="12" name="Text 10"/>
          <p:cNvSpPr/>
          <p:nvPr/>
        </p:nvSpPr>
        <p:spPr>
          <a:xfrm>
            <a:off x="4937760" y="1508760"/>
            <a:ext cx="361188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制度主义者</a:t>
            </a:r>
            <a:endParaRPr lang="en-US" sz="1600" dirty="0"/>
          </a:p>
        </p:txBody>
      </p:sp>
      <p:sp>
        <p:nvSpPr>
          <p:cNvPr id="13" name="Text 11"/>
          <p:cNvSpPr/>
          <p:nvPr/>
        </p:nvSpPr>
        <p:spPr>
          <a:xfrm>
            <a:off x="4937760" y="1874520"/>
            <a:ext cx="3611880" cy="77724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强调斯密对制度、法律框架的重视。市场需要正义的制度环境，而非无政府状态。</a:t>
            </a:r>
            <a:endParaRPr lang="en-US" sz="1100" dirty="0"/>
          </a:p>
        </p:txBody>
      </p:sp>
      <p:sp>
        <p:nvSpPr>
          <p:cNvPr id="14" name="Text 12"/>
          <p:cNvSpPr/>
          <p:nvPr/>
        </p:nvSpPr>
        <p:spPr>
          <a:xfrm>
            <a:off x="4937760" y="2697480"/>
            <a:ext cx="3611880" cy="274320"/>
          </a:xfrm>
          <a:prstGeom prst="rect">
            <a:avLst/>
          </a:prstGeom>
          <a:noFill/>
          <a:ln/>
        </p:spPr>
        <p:txBody>
          <a:bodyPr wrap="square" rtlCol="0" anchor="ctr"/>
          <a:lstStyle/>
          <a:p>
            <a:pPr algn="l" indent="0" marL="0">
              <a:buNone/>
            </a:pPr>
            <a:r>
              <a:rPr lang="en-US" sz="1000" i="1" dirty="0">
                <a:solidFill>
                  <a:srgbClr val="669BBC"/>
                </a:solidFill>
                <a:latin typeface="Microsoft YaHei" pitchFamily="34" charset="0"/>
                <a:ea typeface="Microsoft YaHei" pitchFamily="34" charset="-122"/>
                <a:cs typeface="Microsoft YaHei" pitchFamily="34" charset="-120"/>
              </a:rPr>
              <a:t>代表：诺斯、Acemoglu</a:t>
            </a:r>
            <a:endParaRPr lang="en-US" sz="1000" dirty="0"/>
          </a:p>
        </p:txBody>
      </p:sp>
      <p:sp>
        <p:nvSpPr>
          <p:cNvPr id="15" name="Shape 13"/>
          <p:cNvSpPr/>
          <p:nvPr/>
        </p:nvSpPr>
        <p:spPr>
          <a:xfrm>
            <a:off x="457200" y="3291840"/>
            <a:ext cx="3977640" cy="169164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457200" y="3291840"/>
            <a:ext cx="91440" cy="1691640"/>
          </a:xfrm>
          <a:prstGeom prst="rect">
            <a:avLst/>
          </a:prstGeom>
          <a:solidFill>
            <a:srgbClr val="669BBC"/>
          </a:solidFill>
          <a:ln/>
        </p:spPr>
      </p:sp>
      <p:sp>
        <p:nvSpPr>
          <p:cNvPr id="17" name="Text 15"/>
          <p:cNvSpPr/>
          <p:nvPr/>
        </p:nvSpPr>
        <p:spPr>
          <a:xfrm>
            <a:off x="685800" y="3429000"/>
            <a:ext cx="361188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道德哲学家</a:t>
            </a:r>
            <a:endParaRPr lang="en-US" sz="1600" dirty="0"/>
          </a:p>
        </p:txBody>
      </p:sp>
      <p:sp>
        <p:nvSpPr>
          <p:cNvPr id="18" name="Text 16"/>
          <p:cNvSpPr/>
          <p:nvPr/>
        </p:nvSpPr>
        <p:spPr>
          <a:xfrm>
            <a:off x="685800" y="3794760"/>
            <a:ext cx="3611880" cy="77724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回归《道德情操论》，强调斯密的伦理关切。市场成功需要道德基础——信任、同理心、美德。</a:t>
            </a:r>
            <a:endParaRPr lang="en-US" sz="1100" dirty="0"/>
          </a:p>
        </p:txBody>
      </p:sp>
      <p:sp>
        <p:nvSpPr>
          <p:cNvPr id="19" name="Text 17"/>
          <p:cNvSpPr/>
          <p:nvPr/>
        </p:nvSpPr>
        <p:spPr>
          <a:xfrm>
            <a:off x="685800" y="4617720"/>
            <a:ext cx="3611880" cy="274320"/>
          </a:xfrm>
          <a:prstGeom prst="rect">
            <a:avLst/>
          </a:prstGeom>
          <a:noFill/>
          <a:ln/>
        </p:spPr>
        <p:txBody>
          <a:bodyPr wrap="square" rtlCol="0" anchor="ctr"/>
          <a:lstStyle/>
          <a:p>
            <a:pPr algn="l" indent="0" marL="0">
              <a:buNone/>
            </a:pPr>
            <a:r>
              <a:rPr lang="en-US" sz="1000" i="1" dirty="0">
                <a:solidFill>
                  <a:srgbClr val="669BBC"/>
                </a:solidFill>
                <a:latin typeface="Microsoft YaHei" pitchFamily="34" charset="0"/>
                <a:ea typeface="Microsoft YaHei" pitchFamily="34" charset="-122"/>
                <a:cs typeface="Microsoft YaHei" pitchFamily="34" charset="-120"/>
              </a:rPr>
              <a:t>代表：Sen、MacIntyre</a:t>
            </a:r>
            <a:endParaRPr lang="en-US" sz="1000" dirty="0"/>
          </a:p>
        </p:txBody>
      </p:sp>
      <p:sp>
        <p:nvSpPr>
          <p:cNvPr id="20" name="Shape 18"/>
          <p:cNvSpPr/>
          <p:nvPr/>
        </p:nvSpPr>
        <p:spPr>
          <a:xfrm>
            <a:off x="4709160" y="3291840"/>
            <a:ext cx="3977640" cy="1691640"/>
          </a:xfrm>
          <a:prstGeom prst="rect">
            <a:avLst/>
          </a:prstGeom>
          <a:solidFill>
            <a:srgbClr val="FFFFFF"/>
          </a:solidFill>
          <a:ln/>
          <a:effectLst>
            <a:outerShdw sx="100000" sy="100000" kx="0" ky="0" algn="bl" rotWithShape="0" blurRad="50800" dist="25400" dir="8100000">
              <a:srgbClr val="000000">
                <a:alpha val="8000"/>
              </a:srgbClr>
            </a:outerShdw>
          </a:effectLst>
        </p:spPr>
      </p:sp>
      <p:sp>
        <p:nvSpPr>
          <p:cNvPr id="21" name="Shape 19"/>
          <p:cNvSpPr/>
          <p:nvPr/>
        </p:nvSpPr>
        <p:spPr>
          <a:xfrm>
            <a:off x="4709160" y="3291840"/>
            <a:ext cx="91440" cy="1691640"/>
          </a:xfrm>
          <a:prstGeom prst="rect">
            <a:avLst/>
          </a:prstGeom>
          <a:solidFill>
            <a:srgbClr val="003049"/>
          </a:solidFill>
          <a:ln/>
        </p:spPr>
      </p:sp>
      <p:sp>
        <p:nvSpPr>
          <p:cNvPr id="22" name="Text 20"/>
          <p:cNvSpPr/>
          <p:nvPr/>
        </p:nvSpPr>
        <p:spPr>
          <a:xfrm>
            <a:off x="4937760" y="3429000"/>
            <a:ext cx="3611880" cy="365760"/>
          </a:xfrm>
          <a:prstGeom prst="rect">
            <a:avLst/>
          </a:prstGeom>
          <a:noFill/>
          <a:ln/>
        </p:spPr>
        <p:txBody>
          <a:bodyPr wrap="square" rtlCol="0" anchor="ctr"/>
          <a:lstStyle/>
          <a:p>
            <a:pPr algn="l" indent="0" marL="0">
              <a:buNone/>
            </a:pPr>
            <a:r>
              <a:rPr lang="en-US" sz="1600" b="1" dirty="0">
                <a:solidFill>
                  <a:srgbClr val="780000"/>
                </a:solidFill>
                <a:latin typeface="Microsoft YaHei" pitchFamily="34" charset="0"/>
                <a:ea typeface="Microsoft YaHei" pitchFamily="34" charset="-122"/>
                <a:cs typeface="Microsoft YaHei" pitchFamily="34" charset="-120"/>
              </a:rPr>
              <a:t>批判理论家</a:t>
            </a:r>
            <a:endParaRPr lang="en-US" sz="1600" dirty="0"/>
          </a:p>
        </p:txBody>
      </p:sp>
      <p:sp>
        <p:nvSpPr>
          <p:cNvPr id="23" name="Text 21"/>
          <p:cNvSpPr/>
          <p:nvPr/>
        </p:nvSpPr>
        <p:spPr>
          <a:xfrm>
            <a:off x="4937760" y="3794760"/>
            <a:ext cx="3611880" cy="777240"/>
          </a:xfrm>
          <a:prstGeom prst="rect">
            <a:avLst/>
          </a:prstGeom>
          <a:noFill/>
          <a:ln/>
        </p:spPr>
        <p:txBody>
          <a:bodyPr wrap="square" rtlCol="0" anchor="t"/>
          <a:lstStyle/>
          <a:p>
            <a:pPr algn="l" indent="0" marL="0">
              <a:buNone/>
            </a:pPr>
            <a:r>
              <a:rPr lang="en-US" sz="1100" dirty="0">
                <a:solidFill>
                  <a:srgbClr val="003049"/>
                </a:solidFill>
                <a:latin typeface="Microsoft YaHei" pitchFamily="34" charset="0"/>
                <a:ea typeface="Microsoft YaHei" pitchFamily="34" charset="-122"/>
                <a:cs typeface="Microsoft YaHei" pitchFamily="34" charset="-120"/>
              </a:rPr>
              <a:t>批判斯密为资本主义辩护。指出其对劳动分工、异化的忽视，对工人阶级的影响。</a:t>
            </a:r>
            <a:endParaRPr lang="en-US" sz="1100" dirty="0"/>
          </a:p>
        </p:txBody>
      </p:sp>
      <p:sp>
        <p:nvSpPr>
          <p:cNvPr id="24" name="Text 22"/>
          <p:cNvSpPr/>
          <p:nvPr/>
        </p:nvSpPr>
        <p:spPr>
          <a:xfrm>
            <a:off x="4937760" y="4617720"/>
            <a:ext cx="3611880" cy="274320"/>
          </a:xfrm>
          <a:prstGeom prst="rect">
            <a:avLst/>
          </a:prstGeom>
          <a:noFill/>
          <a:ln/>
        </p:spPr>
        <p:txBody>
          <a:bodyPr wrap="square" rtlCol="0" anchor="ctr"/>
          <a:lstStyle/>
          <a:p>
            <a:pPr algn="l" indent="0" marL="0">
              <a:buNone/>
            </a:pPr>
            <a:r>
              <a:rPr lang="en-US" sz="1000" i="1" dirty="0">
                <a:solidFill>
                  <a:srgbClr val="669BBC"/>
                </a:solidFill>
                <a:latin typeface="Microsoft YaHei" pitchFamily="34" charset="0"/>
                <a:ea typeface="Microsoft YaHei" pitchFamily="34" charset="-122"/>
                <a:cs typeface="Microsoft YaHei" pitchFamily="34" charset="-120"/>
              </a:rPr>
              <a:t>代表：马克思传统</a:t>
            </a:r>
            <a:endParaRPr lang="en-US" sz="1000" dirty="0"/>
          </a:p>
        </p:txBody>
      </p:sp>
      <p:sp>
        <p:nvSpPr>
          <p:cNvPr id="25" name="Text 23"/>
          <p:cNvSpPr/>
          <p:nvPr/>
        </p:nvSpPr>
        <p:spPr>
          <a:xfrm>
            <a:off x="457200" y="4709160"/>
            <a:ext cx="7772400" cy="32004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斯密思想的复杂性：他是自由市场者还是制度主义者？是个人主义者还是社群主义者？</a:t>
            </a:r>
            <a:endParaRPr lang="en-US" sz="1100" dirty="0"/>
          </a:p>
        </p:txBody>
      </p:sp>
      <p:sp>
        <p:nvSpPr>
          <p:cNvPr id="26" name="Shape 24"/>
          <p:cNvSpPr/>
          <p:nvPr/>
        </p:nvSpPr>
        <p:spPr>
          <a:xfrm>
            <a:off x="8503920" y="4663440"/>
            <a:ext cx="365760" cy="365760"/>
          </a:xfrm>
          <a:prstGeom prst="ellipse">
            <a:avLst/>
          </a:prstGeom>
          <a:solidFill>
            <a:srgbClr val="C1121F"/>
          </a:solidFill>
          <a:ln/>
        </p:spPr>
      </p:sp>
      <p:sp>
        <p:nvSpPr>
          <p:cNvPr id="27" name="Text 2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斯密的两大遗产</a:t>
            </a:r>
            <a:endParaRPr lang="en-US" sz="3600" dirty="0"/>
          </a:p>
        </p:txBody>
      </p:sp>
      <p:sp>
        <p:nvSpPr>
          <p:cNvPr id="4" name="Shape 2"/>
          <p:cNvSpPr/>
          <p:nvPr/>
        </p:nvSpPr>
        <p:spPr>
          <a:xfrm>
            <a:off x="457200" y="1097280"/>
            <a:ext cx="3931920" cy="36576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5" name="Shape 3"/>
          <p:cNvSpPr/>
          <p:nvPr/>
        </p:nvSpPr>
        <p:spPr>
          <a:xfrm>
            <a:off x="457200" y="1097280"/>
            <a:ext cx="3931920" cy="640080"/>
          </a:xfrm>
          <a:prstGeom prst="rect">
            <a:avLst/>
          </a:prstGeom>
          <a:solidFill>
            <a:srgbClr val="780000"/>
          </a:solidFill>
          <a:ln/>
        </p:spPr>
      </p:sp>
      <p:sp>
        <p:nvSpPr>
          <p:cNvPr id="6" name="Text 4"/>
          <p:cNvSpPr/>
          <p:nvPr/>
        </p:nvSpPr>
        <p:spPr>
          <a:xfrm>
            <a:off x="457200" y="1097280"/>
            <a:ext cx="3931920" cy="64008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经济学遗产</a:t>
            </a:r>
            <a:endParaRPr lang="en-US" sz="2000" dirty="0"/>
          </a:p>
        </p:txBody>
      </p:sp>
      <p:sp>
        <p:nvSpPr>
          <p:cNvPr id="7" name="Text 5"/>
          <p:cNvSpPr/>
          <p:nvPr/>
        </p:nvSpPr>
        <p:spPr>
          <a:xfrm>
            <a:off x="685800" y="1874520"/>
            <a:ext cx="3474720" cy="2743200"/>
          </a:xfrm>
          <a:prstGeom prst="rect">
            <a:avLst/>
          </a:prstGeom>
          <a:noFill/>
          <a:ln/>
        </p:spPr>
        <p:txBody>
          <a:bodyPr wrap="square" rtlCol="0" anchor="t"/>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核心概念</a:t>
            </a:r>
            <a:endParaRPr lang="en-US" sz="1200" dirty="0"/>
          </a:p>
          <a:p>
            <a:pPr algn="l" indent="0" marL="0">
              <a:buNone/>
            </a:pP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看不见的手 — 市场自动调节</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劳动分工 — 效率与专业化</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自由市场 — 减少干预</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资本积累 — 财富增长机制</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传承与发展</a:t>
            </a:r>
            <a:endParaRPr lang="en-US" sz="1200" dirty="0"/>
          </a:p>
          <a:p>
            <a:pPr algn="l" indent="0" marL="0">
              <a:buNone/>
            </a:pP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古典 → 新古典 → 现代经济学</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李嘉图、穆勒、马歇尔、凯恩斯</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弗里德曼、哈耶克、布坎南</a:t>
            </a:r>
            <a:endParaRPr lang="en-US" sz="1200" dirty="0"/>
          </a:p>
        </p:txBody>
      </p:sp>
      <p:sp>
        <p:nvSpPr>
          <p:cNvPr id="8" name="Shape 6"/>
          <p:cNvSpPr/>
          <p:nvPr/>
        </p:nvSpPr>
        <p:spPr>
          <a:xfrm>
            <a:off x="4754880" y="1097280"/>
            <a:ext cx="3931920" cy="3657600"/>
          </a:xfrm>
          <a:prstGeom prst="rect">
            <a:avLst/>
          </a:prstGeom>
          <a:solidFill>
            <a:srgbClr val="FFFFFF"/>
          </a:solidFill>
          <a:ln/>
          <a:effectLst>
            <a:outerShdw sx="100000" sy="100000" kx="0" ky="0" algn="bl" rotWithShape="0" blurRad="63500" dist="25400" dir="8100000">
              <a:srgbClr val="000000">
                <a:alpha val="10000"/>
              </a:srgbClr>
            </a:outerShdw>
          </a:effectLst>
        </p:spPr>
      </p:sp>
      <p:sp>
        <p:nvSpPr>
          <p:cNvPr id="9" name="Shape 7"/>
          <p:cNvSpPr/>
          <p:nvPr/>
        </p:nvSpPr>
        <p:spPr>
          <a:xfrm>
            <a:off x="4754880" y="1097280"/>
            <a:ext cx="3931920" cy="640080"/>
          </a:xfrm>
          <a:prstGeom prst="rect">
            <a:avLst/>
          </a:prstGeom>
          <a:solidFill>
            <a:srgbClr val="C1121F"/>
          </a:solidFill>
          <a:ln/>
        </p:spPr>
      </p:sp>
      <p:sp>
        <p:nvSpPr>
          <p:cNvPr id="10" name="Text 8"/>
          <p:cNvSpPr/>
          <p:nvPr/>
        </p:nvSpPr>
        <p:spPr>
          <a:xfrm>
            <a:off x="4754880" y="1097280"/>
            <a:ext cx="3931920" cy="64008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道德哲学遗产</a:t>
            </a:r>
            <a:endParaRPr lang="en-US" sz="2000" dirty="0"/>
          </a:p>
        </p:txBody>
      </p:sp>
      <p:sp>
        <p:nvSpPr>
          <p:cNvPr id="11" name="Text 9"/>
          <p:cNvSpPr/>
          <p:nvPr/>
        </p:nvSpPr>
        <p:spPr>
          <a:xfrm>
            <a:off x="4983480" y="1874520"/>
            <a:ext cx="3474720" cy="2743200"/>
          </a:xfrm>
          <a:prstGeom prst="rect">
            <a:avLst/>
          </a:prstGeom>
          <a:noFill/>
          <a:ln/>
        </p:spPr>
        <p:txBody>
          <a:bodyPr wrap="square" rtlCol="0" anchor="t"/>
          <a:lstStyle/>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核心概念</a:t>
            </a:r>
            <a:endParaRPr lang="en-US" sz="1200" dirty="0"/>
          </a:p>
          <a:p>
            <a:pPr algn="l" indent="0" marL="0">
              <a:buNone/>
            </a:pP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同理心 — 道德情感的根源</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公正旁观者 — 自我审视机制</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美德伦理 — 品格与自控</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 正义与仁慈 — 社会伦理基础</a:t>
            </a:r>
            <a:endParaRPr lang="en-US" sz="1200" dirty="0"/>
          </a:p>
          <a:p>
            <a:pPr algn="l" indent="0" marL="0">
              <a:buNone/>
            </a:pPr>
            <a:endParaRPr lang="en-US" sz="1200" dirty="0"/>
          </a:p>
          <a:p>
            <a:pPr algn="l" indent="0" marL="0">
              <a:buNone/>
            </a:pPr>
            <a:r>
              <a:rPr lang="en-US" sz="1200" b="1" dirty="0">
                <a:solidFill>
                  <a:srgbClr val="003049"/>
                </a:solidFill>
                <a:latin typeface="Microsoft YaHei" pitchFamily="34" charset="0"/>
                <a:ea typeface="Microsoft YaHei" pitchFamily="34" charset="-122"/>
                <a:cs typeface="Microsoft YaHei" pitchFamily="34" charset="-120"/>
              </a:rPr>
              <a:t>当代意义</a:t>
            </a:r>
            <a:endParaRPr lang="en-US" sz="1200" dirty="0"/>
          </a:p>
          <a:p>
            <a:pPr algn="l" indent="0" marL="0">
              <a:buNone/>
            </a:pP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商业伦理、企业社会责任</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行为经济学中的道德因素</a:t>
            </a:r>
            <a:endParaRPr lang="en-US" sz="1200" dirty="0"/>
          </a:p>
          <a:p>
            <a:pPr algn="l" indent="0" marL="0">
              <a:buNone/>
            </a:pPr>
            <a:r>
              <a:rPr lang="en-US" sz="1200" dirty="0">
                <a:solidFill>
                  <a:srgbClr val="003049"/>
                </a:solidFill>
                <a:latin typeface="Microsoft YaHei" pitchFamily="34" charset="0"/>
                <a:ea typeface="Microsoft YaHei" pitchFamily="34" charset="-122"/>
                <a:cs typeface="Microsoft YaHei" pitchFamily="34" charset="-120"/>
              </a:rPr>
              <a:t>幸福经济学、正义理论</a:t>
            </a:r>
            <a:endParaRPr lang="en-US" sz="1200" dirty="0"/>
          </a:p>
        </p:txBody>
      </p:sp>
      <p:sp>
        <p:nvSpPr>
          <p:cNvPr id="12" name="Shape 10"/>
          <p:cNvSpPr/>
          <p:nvPr/>
        </p:nvSpPr>
        <p:spPr>
          <a:xfrm>
            <a:off x="1371600" y="4800600"/>
            <a:ext cx="6400800" cy="228600"/>
          </a:xfrm>
          <a:prstGeom prst="rect">
            <a:avLst/>
          </a:prstGeom>
          <a:solidFill>
            <a:srgbClr val="003049"/>
          </a:solidFill>
          <a:ln/>
        </p:spPr>
      </p:sp>
      <p:sp>
        <p:nvSpPr>
          <p:cNvPr id="13" name="Text 11"/>
          <p:cNvSpPr/>
          <p:nvPr/>
        </p:nvSpPr>
        <p:spPr>
          <a:xfrm>
            <a:off x="1371600" y="4800600"/>
            <a:ext cx="6400800" cy="22860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两本书共同构成理解现代社会与经济的双钥匙</a:t>
            </a:r>
            <a:endParaRPr lang="en-US" sz="1100" dirty="0"/>
          </a:p>
        </p:txBody>
      </p:sp>
      <p:sp>
        <p:nvSpPr>
          <p:cNvPr id="14" name="Shape 12"/>
          <p:cNvSpPr/>
          <p:nvPr/>
        </p:nvSpPr>
        <p:spPr>
          <a:xfrm>
            <a:off x="8503920" y="4663440"/>
            <a:ext cx="365760" cy="365760"/>
          </a:xfrm>
          <a:prstGeom prst="ellipse">
            <a:avLst/>
          </a:prstGeom>
          <a:solidFill>
            <a:srgbClr val="C1121F"/>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rtlCol="0" anchor="ctr"/>
          <a:lstStyle/>
          <a:p>
            <a:pPr algn="l" indent="0" marL="0">
              <a:buNone/>
            </a:pPr>
            <a:r>
              <a:rPr lang="en-US" sz="3600" b="1" dirty="0">
                <a:solidFill>
                  <a:srgbClr val="780000"/>
                </a:solidFill>
                <a:latin typeface="Microsoft YaHei" pitchFamily="34" charset="0"/>
                <a:ea typeface="Microsoft YaHei" pitchFamily="34" charset="-122"/>
                <a:cs typeface="Microsoft YaHei" pitchFamily="34" charset="-120"/>
              </a:rPr>
              <a:t>先导部分小结</a:t>
            </a:r>
            <a:endParaRPr lang="en-US" sz="3600" dirty="0"/>
          </a:p>
        </p:txBody>
      </p:sp>
      <p:sp>
        <p:nvSpPr>
          <p:cNvPr id="4" name="Text 2"/>
          <p:cNvSpPr/>
          <p:nvPr/>
        </p:nvSpPr>
        <p:spPr>
          <a:xfrm>
            <a:off x="457200" y="868680"/>
            <a:ext cx="8229600" cy="320040"/>
          </a:xfrm>
          <a:prstGeom prst="rect">
            <a:avLst/>
          </a:prstGeom>
          <a:noFill/>
          <a:ln/>
        </p:spPr>
        <p:txBody>
          <a:bodyPr wrap="square" rtlCol="0" anchor="ctr"/>
          <a:lstStyle/>
          <a:p>
            <a:pPr algn="l" indent="0" marL="0">
              <a:buNone/>
            </a:pPr>
            <a:r>
              <a:rPr lang="en-US" sz="1400" dirty="0">
                <a:solidFill>
                  <a:srgbClr val="669BBC"/>
                </a:solidFill>
                <a:latin typeface="Microsoft YaHei" pitchFamily="34" charset="0"/>
                <a:ea typeface="Microsoft YaHei" pitchFamily="34" charset="-122"/>
                <a:cs typeface="Microsoft YaHei" pitchFamily="34" charset="-120"/>
              </a:rPr>
              <a:t>模块一完结</a:t>
            </a:r>
            <a:endParaRPr lang="en-US" sz="1400" dirty="0"/>
          </a:p>
        </p:txBody>
      </p:sp>
      <p:sp>
        <p:nvSpPr>
          <p:cNvPr id="5" name="Shape 3"/>
          <p:cNvSpPr/>
          <p:nvPr/>
        </p:nvSpPr>
        <p:spPr>
          <a:xfrm>
            <a:off x="457200" y="1371600"/>
            <a:ext cx="502920" cy="502920"/>
          </a:xfrm>
          <a:prstGeom prst="rect">
            <a:avLst/>
          </a:prstGeom>
          <a:solidFill>
            <a:srgbClr val="780000"/>
          </a:solidFill>
          <a:ln/>
        </p:spPr>
      </p:sp>
      <p:sp>
        <p:nvSpPr>
          <p:cNvPr id="6" name="Text 4"/>
          <p:cNvSpPr/>
          <p:nvPr/>
        </p:nvSpPr>
        <p:spPr>
          <a:xfrm>
            <a:off x="457200" y="1371600"/>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7" name="Text 5"/>
          <p:cNvSpPr/>
          <p:nvPr/>
        </p:nvSpPr>
        <p:spPr>
          <a:xfrm>
            <a:off x="1097280" y="1371600"/>
            <a:ext cx="2743200" cy="320040"/>
          </a:xfrm>
          <a:prstGeom prst="rect">
            <a:avLst/>
          </a:prstGeom>
          <a:noFill/>
          <a:ln/>
        </p:spPr>
        <p:txBody>
          <a:bodyPr wrap="square" rtlCol="0" anchor="ctr"/>
          <a:lstStyle/>
          <a:p>
            <a:pPr algn="l" indent="0" marL="0">
              <a:buNone/>
            </a:pPr>
            <a:r>
              <a:rPr lang="en-US" sz="1600" b="1" dirty="0">
                <a:solidFill>
                  <a:srgbClr val="003049"/>
                </a:solidFill>
                <a:latin typeface="Microsoft YaHei" pitchFamily="34" charset="0"/>
                <a:ea typeface="Microsoft YaHei" pitchFamily="34" charset="-122"/>
                <a:cs typeface="Microsoft YaHei" pitchFamily="34" charset="-120"/>
              </a:rPr>
              <a:t>斯密的双重身份</a:t>
            </a:r>
            <a:endParaRPr lang="en-US" sz="1600" dirty="0"/>
          </a:p>
        </p:txBody>
      </p:sp>
      <p:sp>
        <p:nvSpPr>
          <p:cNvPr id="8" name="Text 6"/>
          <p:cNvSpPr/>
          <p:nvPr/>
        </p:nvSpPr>
        <p:spPr>
          <a:xfrm>
            <a:off x="1097280" y="1664208"/>
            <a:ext cx="7589520" cy="411480"/>
          </a:xfrm>
          <a:prstGeom prst="rect">
            <a:avLst/>
          </a:prstGeom>
          <a:noFill/>
          <a:ln/>
        </p:spPr>
        <p:txBody>
          <a:bodyPr wrap="square" rtlCol="0" anchor="t"/>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既是经济学之父，也是道德哲学家；《国富论》与《道德情操论》不可分割</a:t>
            </a:r>
            <a:endParaRPr lang="en-US" sz="1200" dirty="0"/>
          </a:p>
        </p:txBody>
      </p:sp>
      <p:sp>
        <p:nvSpPr>
          <p:cNvPr id="9" name="Shape 7"/>
          <p:cNvSpPr/>
          <p:nvPr/>
        </p:nvSpPr>
        <p:spPr>
          <a:xfrm>
            <a:off x="457200" y="2148840"/>
            <a:ext cx="502920" cy="502920"/>
          </a:xfrm>
          <a:prstGeom prst="rect">
            <a:avLst/>
          </a:prstGeom>
          <a:solidFill>
            <a:srgbClr val="780000"/>
          </a:solidFill>
          <a:ln/>
        </p:spPr>
      </p:sp>
      <p:sp>
        <p:nvSpPr>
          <p:cNvPr id="10" name="Text 8"/>
          <p:cNvSpPr/>
          <p:nvPr/>
        </p:nvSpPr>
        <p:spPr>
          <a:xfrm>
            <a:off x="457200" y="2148840"/>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1" name="Text 9"/>
          <p:cNvSpPr/>
          <p:nvPr/>
        </p:nvSpPr>
        <p:spPr>
          <a:xfrm>
            <a:off x="1097280" y="2148840"/>
            <a:ext cx="2743200" cy="320040"/>
          </a:xfrm>
          <a:prstGeom prst="rect">
            <a:avLst/>
          </a:prstGeom>
          <a:noFill/>
          <a:ln/>
        </p:spPr>
        <p:txBody>
          <a:bodyPr wrap="square" rtlCol="0" anchor="ctr"/>
          <a:lstStyle/>
          <a:p>
            <a:pPr algn="l" indent="0" marL="0">
              <a:buNone/>
            </a:pPr>
            <a:r>
              <a:rPr lang="en-US" sz="1600" b="1" dirty="0">
                <a:solidFill>
                  <a:srgbClr val="003049"/>
                </a:solidFill>
                <a:latin typeface="Microsoft YaHei" pitchFamily="34" charset="0"/>
                <a:ea typeface="Microsoft YaHei" pitchFamily="34" charset="-122"/>
                <a:cs typeface="Microsoft YaHei" pitchFamily="34" charset="-120"/>
              </a:rPr>
              <a:t>时代塑造思想</a:t>
            </a:r>
            <a:endParaRPr lang="en-US" sz="1600" dirty="0"/>
          </a:p>
        </p:txBody>
      </p:sp>
      <p:sp>
        <p:nvSpPr>
          <p:cNvPr id="12" name="Text 10"/>
          <p:cNvSpPr/>
          <p:nvPr/>
        </p:nvSpPr>
        <p:spPr>
          <a:xfrm>
            <a:off x="1097280" y="2441448"/>
            <a:ext cx="7589520" cy="411480"/>
          </a:xfrm>
          <a:prstGeom prst="rect">
            <a:avLst/>
          </a:prstGeom>
          <a:noFill/>
          <a:ln/>
        </p:spPr>
        <p:txBody>
          <a:bodyPr wrap="square" rtlCol="0" anchor="t"/>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18世纪苏格兰启蒙运动孕育了斯密的问题意识——商业革命、理性主义、道德危机</a:t>
            </a:r>
            <a:endParaRPr lang="en-US" sz="1200" dirty="0"/>
          </a:p>
        </p:txBody>
      </p:sp>
      <p:sp>
        <p:nvSpPr>
          <p:cNvPr id="13" name="Shape 11"/>
          <p:cNvSpPr/>
          <p:nvPr/>
        </p:nvSpPr>
        <p:spPr>
          <a:xfrm>
            <a:off x="457200" y="2926080"/>
            <a:ext cx="502920" cy="502920"/>
          </a:xfrm>
          <a:prstGeom prst="rect">
            <a:avLst/>
          </a:prstGeom>
          <a:solidFill>
            <a:srgbClr val="C1121F"/>
          </a:solidFill>
          <a:ln/>
        </p:spPr>
      </p:sp>
      <p:sp>
        <p:nvSpPr>
          <p:cNvPr id="14" name="Text 12"/>
          <p:cNvSpPr/>
          <p:nvPr/>
        </p:nvSpPr>
        <p:spPr>
          <a:xfrm>
            <a:off x="457200" y="2926080"/>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5" name="Text 13"/>
          <p:cNvSpPr/>
          <p:nvPr/>
        </p:nvSpPr>
        <p:spPr>
          <a:xfrm>
            <a:off x="1097280" y="2926080"/>
            <a:ext cx="2743200" cy="320040"/>
          </a:xfrm>
          <a:prstGeom prst="rect">
            <a:avLst/>
          </a:prstGeom>
          <a:noFill/>
          <a:ln/>
        </p:spPr>
        <p:txBody>
          <a:bodyPr wrap="square" rtlCol="0" anchor="ctr"/>
          <a:lstStyle/>
          <a:p>
            <a:pPr algn="l" indent="0" marL="0">
              <a:buNone/>
            </a:pPr>
            <a:r>
              <a:rPr lang="en-US" sz="1600" b="1" dirty="0">
                <a:solidFill>
                  <a:srgbClr val="003049"/>
                </a:solidFill>
                <a:latin typeface="Microsoft YaHei" pitchFamily="34" charset="0"/>
                <a:ea typeface="Microsoft YaHei" pitchFamily="34" charset="-122"/>
                <a:cs typeface="Microsoft YaHei" pitchFamily="34" charset="-120"/>
              </a:rPr>
              <a:t>三大核心概念</a:t>
            </a:r>
            <a:endParaRPr lang="en-US" sz="1600" dirty="0"/>
          </a:p>
        </p:txBody>
      </p:sp>
      <p:sp>
        <p:nvSpPr>
          <p:cNvPr id="16" name="Text 14"/>
          <p:cNvSpPr/>
          <p:nvPr/>
        </p:nvSpPr>
        <p:spPr>
          <a:xfrm>
            <a:off x="1097280" y="3218688"/>
            <a:ext cx="7589520" cy="411480"/>
          </a:xfrm>
          <a:prstGeom prst="rect">
            <a:avLst/>
          </a:prstGeom>
          <a:noFill/>
          <a:ln/>
        </p:spPr>
        <p:txBody>
          <a:bodyPr wrap="square" rtlCol="0" anchor="t"/>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看不见的手、分工与专业化、公正的旁观者——构成斯密思想的基石</a:t>
            </a:r>
            <a:endParaRPr lang="en-US" sz="1200" dirty="0"/>
          </a:p>
        </p:txBody>
      </p:sp>
      <p:sp>
        <p:nvSpPr>
          <p:cNvPr id="17" name="Shape 15"/>
          <p:cNvSpPr/>
          <p:nvPr/>
        </p:nvSpPr>
        <p:spPr>
          <a:xfrm>
            <a:off x="457200" y="3703320"/>
            <a:ext cx="502920" cy="502920"/>
          </a:xfrm>
          <a:prstGeom prst="rect">
            <a:avLst/>
          </a:prstGeom>
          <a:solidFill>
            <a:srgbClr val="C1121F"/>
          </a:solidFill>
          <a:ln/>
        </p:spPr>
      </p:sp>
      <p:sp>
        <p:nvSpPr>
          <p:cNvPr id="18" name="Text 16"/>
          <p:cNvSpPr/>
          <p:nvPr/>
        </p:nvSpPr>
        <p:spPr>
          <a:xfrm>
            <a:off x="457200" y="3703320"/>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19" name="Text 17"/>
          <p:cNvSpPr/>
          <p:nvPr/>
        </p:nvSpPr>
        <p:spPr>
          <a:xfrm>
            <a:off x="1097280" y="3703320"/>
            <a:ext cx="2743200" cy="320040"/>
          </a:xfrm>
          <a:prstGeom prst="rect">
            <a:avLst/>
          </a:prstGeom>
          <a:noFill/>
          <a:ln/>
        </p:spPr>
        <p:txBody>
          <a:bodyPr wrap="square" rtlCol="0" anchor="ctr"/>
          <a:lstStyle/>
          <a:p>
            <a:pPr algn="l" indent="0" marL="0">
              <a:buNone/>
            </a:pPr>
            <a:r>
              <a:rPr lang="en-US" sz="1600" b="1" dirty="0">
                <a:solidFill>
                  <a:srgbClr val="003049"/>
                </a:solidFill>
                <a:latin typeface="Microsoft YaHei" pitchFamily="34" charset="0"/>
                <a:ea typeface="Microsoft YaHei" pitchFamily="34" charset="-122"/>
                <a:cs typeface="Microsoft YaHei" pitchFamily="34" charset="-120"/>
              </a:rPr>
              <a:t>多元解读可能</a:t>
            </a:r>
            <a:endParaRPr lang="en-US" sz="1600" dirty="0"/>
          </a:p>
        </p:txBody>
      </p:sp>
      <p:sp>
        <p:nvSpPr>
          <p:cNvPr id="20" name="Text 18"/>
          <p:cNvSpPr/>
          <p:nvPr/>
        </p:nvSpPr>
        <p:spPr>
          <a:xfrm>
            <a:off x="1097280" y="3995928"/>
            <a:ext cx="7589520" cy="411480"/>
          </a:xfrm>
          <a:prstGeom prst="rect">
            <a:avLst/>
          </a:prstGeom>
          <a:noFill/>
          <a:ln/>
        </p:spPr>
        <p:txBody>
          <a:bodyPr wrap="square" rtlCol="0" anchor="t"/>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自由市场者、制度主义者、道德哲学家、批判理论家——各有其斯密</a:t>
            </a:r>
            <a:endParaRPr lang="en-US" sz="1200" dirty="0"/>
          </a:p>
        </p:txBody>
      </p:sp>
      <p:sp>
        <p:nvSpPr>
          <p:cNvPr id="21" name="Shape 19"/>
          <p:cNvSpPr/>
          <p:nvPr/>
        </p:nvSpPr>
        <p:spPr>
          <a:xfrm>
            <a:off x="457200" y="4434840"/>
            <a:ext cx="8229600" cy="502920"/>
          </a:xfrm>
          <a:prstGeom prst="rect">
            <a:avLst/>
          </a:prstGeom>
          <a:solidFill>
            <a:srgbClr val="003049"/>
          </a:solidFill>
          <a:ln/>
        </p:spPr>
      </p:sp>
      <p:sp>
        <p:nvSpPr>
          <p:cNvPr id="22" name="Text 20"/>
          <p:cNvSpPr/>
          <p:nvPr/>
        </p:nvSpPr>
        <p:spPr>
          <a:xfrm>
            <a:off x="457200" y="4434840"/>
            <a:ext cx="8229600" cy="50292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下一模块：斯密的时代背景 — 18世纪苏格兰启蒙运动</a:t>
            </a:r>
            <a:endParaRPr lang="en-US" sz="1400" dirty="0"/>
          </a:p>
        </p:txBody>
      </p:sp>
      <p:sp>
        <p:nvSpPr>
          <p:cNvPr id="23" name="Shape 21"/>
          <p:cNvSpPr/>
          <p:nvPr/>
        </p:nvSpPr>
        <p:spPr>
          <a:xfrm>
            <a:off x="8503920" y="4663440"/>
            <a:ext cx="365760" cy="365760"/>
          </a:xfrm>
          <a:prstGeom prst="ellipse">
            <a:avLst/>
          </a:prstGeom>
          <a:solidFill>
            <a:srgbClr val="C1121F"/>
          </a:solidFill>
          <a:ln/>
        </p:spPr>
      </p:sp>
      <p:sp>
        <p:nvSpPr>
          <p:cNvPr id="24" name="Text 22"/>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80000"/>
        </a:solidFill>
      </p:bgPr>
    </p:bg>
    <p:spTree>
      <p:nvGrpSpPr>
        <p:cNvPr id="1" name=""/>
        <p:cNvGrpSpPr/>
        <p:nvPr/>
      </p:nvGrpSpPr>
      <p:grpSpPr>
        <a:xfrm>
          <a:off x="0" y="0"/>
          <a:ext cx="0" cy="0"/>
          <a:chOff x="0" y="0"/>
          <a:chExt cx="0" cy="0"/>
        </a:xfrm>
      </p:grpSpPr>
      <p:sp>
        <p:nvSpPr>
          <p:cNvPr id="2" name="Text 0"/>
          <p:cNvSpPr/>
          <p:nvPr/>
        </p:nvSpPr>
        <p:spPr>
          <a:xfrm>
            <a:off x="548640" y="1097280"/>
            <a:ext cx="2743200" cy="1828800"/>
          </a:xfrm>
          <a:prstGeom prst="rect">
            <a:avLst/>
          </a:prstGeom>
          <a:noFill/>
          <a:ln/>
        </p:spPr>
        <p:txBody>
          <a:bodyPr wrap="square" rtlCol="0" anchor="ctr"/>
          <a:lstStyle/>
          <a:p>
            <a:pPr indent="0" marL="0">
              <a:buNone/>
            </a:pPr>
            <a:r>
              <a:rPr lang="en-US" sz="12000" b="1" dirty="0">
                <a:solidFill>
                  <a:srgbClr val="FDF0D5">
                    <a:alpha val="80000"/>
                  </a:srgbClr>
                </a:solidFill>
                <a:latin typeface="Georgia" pitchFamily="34" charset="0"/>
                <a:ea typeface="Georgia" pitchFamily="34" charset="-122"/>
                <a:cs typeface="Georgia" pitchFamily="34" charset="-120"/>
              </a:rPr>
              <a:t>02</a:t>
            </a:r>
            <a:endParaRPr lang="en-US" sz="12000" dirty="0"/>
          </a:p>
        </p:txBody>
      </p:sp>
      <p:sp>
        <p:nvSpPr>
          <p:cNvPr id="3" name="Text 1"/>
          <p:cNvSpPr/>
          <p:nvPr/>
        </p:nvSpPr>
        <p:spPr>
          <a:xfrm>
            <a:off x="548640" y="2194560"/>
            <a:ext cx="7772400" cy="914400"/>
          </a:xfrm>
          <a:prstGeom prst="rect">
            <a:avLst/>
          </a:prstGeom>
          <a:noFill/>
          <a:ln/>
        </p:spPr>
        <p:txBody>
          <a:bodyPr wrap="square" rtlCol="0" anchor="ctr"/>
          <a:lstStyle/>
          <a:p>
            <a:pPr indent="0" marL="0">
              <a:buNone/>
            </a:pPr>
            <a:r>
              <a:rPr lang="en-US" sz="4400" b="1" dirty="0">
                <a:solidFill>
                  <a:srgbClr val="FDF0D5"/>
                </a:solidFill>
                <a:latin typeface="Microsoft YaHei" pitchFamily="34" charset="0"/>
                <a:ea typeface="Microsoft YaHei" pitchFamily="34" charset="-122"/>
                <a:cs typeface="Microsoft YaHei" pitchFamily="34" charset="-120"/>
              </a:rPr>
              <a:t>从斯密到奥地利学派</a:t>
            </a:r>
            <a:endParaRPr lang="en-US" sz="4400" dirty="0"/>
          </a:p>
        </p:txBody>
      </p:sp>
      <p:sp>
        <p:nvSpPr>
          <p:cNvPr id="4" name="Text 2"/>
          <p:cNvSpPr/>
          <p:nvPr/>
        </p:nvSpPr>
        <p:spPr>
          <a:xfrm>
            <a:off x="548640" y="3200400"/>
            <a:ext cx="4572000" cy="457200"/>
          </a:xfrm>
          <a:prstGeom prst="rect">
            <a:avLst/>
          </a:prstGeom>
          <a:noFill/>
          <a:ln/>
        </p:spPr>
        <p:txBody>
          <a:bodyPr wrap="square" rtlCol="0" anchor="ctr"/>
          <a:lstStyle/>
          <a:p>
            <a:pPr indent="0" marL="0">
              <a:buNone/>
            </a:pPr>
            <a:r>
              <a:rPr lang="en-US" sz="2000" i="1" dirty="0">
                <a:solidFill>
                  <a:srgbClr val="669BBC"/>
                </a:solidFill>
                <a:latin typeface="Georgia" pitchFamily="34" charset="0"/>
                <a:ea typeface="Georgia" pitchFamily="34" charset="-122"/>
                <a:cs typeface="Georgia" pitchFamily="34" charset="-120"/>
              </a:rPr>
              <a:t>The Austrian School</a:t>
            </a:r>
            <a:endParaRPr lang="en-US" sz="2000" dirty="0"/>
          </a:p>
        </p:txBody>
      </p:sp>
      <p:sp>
        <p:nvSpPr>
          <p:cNvPr id="5" name="Shape 3"/>
          <p:cNvSpPr/>
          <p:nvPr/>
        </p:nvSpPr>
        <p:spPr>
          <a:xfrm>
            <a:off x="548640" y="3840480"/>
            <a:ext cx="1828800" cy="54864"/>
          </a:xfrm>
          <a:prstGeom prst="rect">
            <a:avLst/>
          </a:prstGeom>
          <a:solidFill>
            <a:srgbClr val="C1121F"/>
          </a:solidFill>
          <a:ln/>
        </p:spPr>
      </p:sp>
      <p:sp>
        <p:nvSpPr>
          <p:cNvPr id="6" name="Shape 4"/>
          <p:cNvSpPr/>
          <p:nvPr/>
        </p:nvSpPr>
        <p:spPr>
          <a:xfrm>
            <a:off x="8503920" y="4663440"/>
            <a:ext cx="365760" cy="365760"/>
          </a:xfrm>
          <a:prstGeom prst="ellipse">
            <a:avLst/>
          </a:prstGeom>
          <a:solidFill>
            <a:srgbClr val="C1121F"/>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奥地利学派的起源</a:t>
            </a:r>
            <a:endParaRPr lang="en-US" sz="2800" dirty="0"/>
          </a:p>
        </p:txBody>
      </p:sp>
      <p:sp>
        <p:nvSpPr>
          <p:cNvPr id="4" name="Text 2"/>
          <p:cNvSpPr/>
          <p:nvPr/>
        </p:nvSpPr>
        <p:spPr>
          <a:xfrm>
            <a:off x="457200" y="1097280"/>
            <a:ext cx="3931920" cy="2286000"/>
          </a:xfrm>
          <a:prstGeom prst="rect">
            <a:avLst/>
          </a:prstGeom>
          <a:noFill/>
          <a:ln/>
        </p:spPr>
        <p:txBody>
          <a:bodyPr wrap="square" rtlCol="0" anchor="t"/>
          <a:lstStyle/>
          <a:p>
            <a:pPr indent="0" marL="0">
              <a:buNone/>
            </a:pPr>
            <a:r>
              <a:rPr lang="en-US" sz="1800" b="1" dirty="0">
                <a:solidFill>
                  <a:srgbClr val="003049"/>
                </a:solidFill>
                <a:latin typeface="Microsoft YaHei" pitchFamily="34" charset="0"/>
                <a:ea typeface="Microsoft YaHei" pitchFamily="34" charset="-122"/>
                <a:cs typeface="Microsoft YaHei" pitchFamily="34" charset="-120"/>
              </a:rPr>
              <a:t>1871年：边际革命的关键年份</a:t>
            </a:r>
            <a:endParaRPr lang="en-US" sz="18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
</a:t>
            </a:r>
            <a:endParaRPr lang="en-US" sz="1800" dirty="0"/>
          </a:p>
          <a:p>
            <a:pPr indent="0" marL="0">
              <a:buNone/>
            </a:pPr>
            <a:r>
              <a:rPr lang="en-US" sz="1400" dirty="0">
                <a:solidFill>
                  <a:srgbClr val="003049"/>
                </a:solidFill>
                <a:latin typeface="Microsoft YaHei" pitchFamily="34" charset="0"/>
                <a:ea typeface="Microsoft YaHei" pitchFamily="34" charset="-122"/>
                <a:cs typeface="Microsoft YaHei" pitchFamily="34" charset="-120"/>
              </a:rPr>
              <a:t>卡尔·门格尔（Carl Menger）在维也纳大学发表《国民经济学原理》，标志着奥地利学派的诞生。</a:t>
            </a:r>
            <a:endParaRPr lang="en-US" sz="18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
</a:t>
            </a:r>
            <a:endParaRPr lang="en-US" sz="1800" dirty="0"/>
          </a:p>
          <a:p>
            <a:pPr indent="0" marL="0">
              <a:buNone/>
            </a:pPr>
            <a:r>
              <a:rPr lang="en-US" sz="1400" dirty="0">
                <a:solidFill>
                  <a:srgbClr val="003049"/>
                </a:solidFill>
                <a:latin typeface="Microsoft YaHei" pitchFamily="34" charset="0"/>
                <a:ea typeface="Microsoft YaHei" pitchFamily="34" charset="-122"/>
                <a:cs typeface="Microsoft YaHei" pitchFamily="34" charset="-120"/>
              </a:rPr>
              <a:t>与杰文斯、瓦尔拉斯并称为"边际革命三杰"，但门格尔的研究方法独树一帜。</a:t>
            </a:r>
            <a:endParaRPr lang="en-US" sz="1800" dirty="0"/>
          </a:p>
        </p:txBody>
      </p:sp>
      <p:sp>
        <p:nvSpPr>
          <p:cNvPr id="5" name="Shape 3"/>
          <p:cNvSpPr/>
          <p:nvPr/>
        </p:nvSpPr>
        <p:spPr>
          <a:xfrm>
            <a:off x="4754880" y="1097280"/>
            <a:ext cx="3931920" cy="23774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4754880" y="1097280"/>
            <a:ext cx="73152" cy="2377440"/>
          </a:xfrm>
          <a:prstGeom prst="rect">
            <a:avLst/>
          </a:prstGeom>
          <a:solidFill>
            <a:srgbClr val="C1121F"/>
          </a:solidFill>
          <a:ln/>
        </p:spPr>
      </p:sp>
      <p:sp>
        <p:nvSpPr>
          <p:cNvPr id="7" name="Text 5"/>
          <p:cNvSpPr/>
          <p:nvPr/>
        </p:nvSpPr>
        <p:spPr>
          <a:xfrm>
            <a:off x="5029200" y="1234440"/>
            <a:ext cx="347472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学派传承脉络</a:t>
            </a:r>
            <a:endParaRPr lang="en-US" sz="1600" dirty="0"/>
          </a:p>
        </p:txBody>
      </p:sp>
      <p:sp>
        <p:nvSpPr>
          <p:cNvPr id="8" name="Text 6"/>
          <p:cNvSpPr/>
          <p:nvPr/>
        </p:nvSpPr>
        <p:spPr>
          <a:xfrm>
            <a:off x="5029200" y="1691640"/>
            <a:ext cx="3474720" cy="1645920"/>
          </a:xfrm>
          <a:prstGeom prst="rect">
            <a:avLst/>
          </a:prstGeom>
          <a:noFill/>
          <a:ln/>
        </p:spPr>
        <p:txBody>
          <a:bodyPr wrap="square" rtlCol="0" anchor="ctr"/>
          <a:lstStyle/>
          <a:p>
            <a:pPr indent="0" marL="0">
              <a:buNone/>
            </a:pPr>
            <a:r>
              <a:rPr lang="en-US" sz="1300" dirty="0">
                <a:solidFill>
                  <a:srgbClr val="003049"/>
                </a:solidFill>
                <a:latin typeface="Calibri" pitchFamily="34" charset="0"/>
                <a:ea typeface="Calibri" pitchFamily="34" charset="-122"/>
                <a:cs typeface="Calibri" pitchFamily="34" charset="-120"/>
              </a:rPr>
              <a:t>门格尔 → 庞巴维克 → 维塞尔</a:t>
            </a:r>
            <a:endParaRPr lang="en-US" sz="1300" dirty="0"/>
          </a:p>
          <a:p>
            <a:pPr indent="0" marL="0">
              <a:buNone/>
            </a:pPr>
            <a:r>
              <a:rPr lang="en-US" sz="800" dirty="0">
                <a:solidFill>
                  <a:srgbClr val="003049"/>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03049"/>
                </a:solidFill>
                <a:latin typeface="Calibri" pitchFamily="34" charset="0"/>
                <a:ea typeface="Calibri" pitchFamily="34" charset="-122"/>
                <a:cs typeface="Calibri" pitchFamily="34" charset="-120"/>
              </a:rPr>
              <a:t>米塞斯 → 哈耶克 → 科兹纳</a:t>
            </a:r>
            <a:endParaRPr lang="en-US" sz="1300" dirty="0"/>
          </a:p>
          <a:p>
            <a:pPr indent="0" marL="0">
              <a:buNone/>
            </a:pPr>
            <a:r>
              <a:rPr lang="en-US" sz="800" dirty="0">
                <a:solidFill>
                  <a:srgbClr val="003049"/>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003049"/>
                </a:solidFill>
                <a:latin typeface="Calibri" pitchFamily="34" charset="0"/>
                <a:ea typeface="Calibri" pitchFamily="34" charset="-122"/>
                <a:cs typeface="Calibri" pitchFamily="34" charset="-120"/>
              </a:rPr>
              <a:t>罗斯巴德 → 柯兹纳 → 帕兰当</a:t>
            </a:r>
            <a:endParaRPr lang="en-US" sz="1300" dirty="0"/>
          </a:p>
        </p:txBody>
      </p:sp>
      <p:sp>
        <p:nvSpPr>
          <p:cNvPr id="9" name="Shape 7"/>
          <p:cNvSpPr/>
          <p:nvPr/>
        </p:nvSpPr>
        <p:spPr>
          <a:xfrm>
            <a:off x="457200" y="3657600"/>
            <a:ext cx="8229600" cy="1005840"/>
          </a:xfrm>
          <a:prstGeom prst="rect">
            <a:avLst/>
          </a:prstGeom>
          <a:solidFill>
            <a:srgbClr val="669BBC">
              <a:alpha val="70000"/>
            </a:srgbClr>
          </a:solidFill>
          <a:ln/>
        </p:spPr>
      </p:sp>
      <p:sp>
        <p:nvSpPr>
          <p:cNvPr id="10" name="Text 8"/>
          <p:cNvSpPr/>
          <p:nvPr/>
        </p:nvSpPr>
        <p:spPr>
          <a:xfrm>
            <a:off x="640080" y="3794760"/>
            <a:ext cx="7863840" cy="457200"/>
          </a:xfrm>
          <a:prstGeom prst="rect">
            <a:avLst/>
          </a:prstGeom>
          <a:noFill/>
          <a:ln/>
        </p:spPr>
        <p:txBody>
          <a:bodyPr wrap="square" rtlCol="0" anchor="ctr"/>
          <a:lstStyle/>
          <a:p>
            <a:pPr indent="0" marL="0">
              <a:buNone/>
            </a:pPr>
            <a:r>
              <a:rPr lang="en-US" sz="1500" i="1" dirty="0">
                <a:solidFill>
                  <a:srgbClr val="780000"/>
                </a:solidFill>
                <a:latin typeface="Microsoft YaHei" pitchFamily="34" charset="0"/>
                <a:ea typeface="Microsoft YaHei" pitchFamily="34" charset="-122"/>
                <a:cs typeface="Microsoft YaHei" pitchFamily="34" charset="-120"/>
              </a:rPr>
              <a:t>"经济学研究的对象是人的行为本身，而非抽象的"经济人"假设。"</a:t>
            </a:r>
            <a:endParaRPr lang="en-US" sz="1500" dirty="0"/>
          </a:p>
        </p:txBody>
      </p:sp>
      <p:sp>
        <p:nvSpPr>
          <p:cNvPr id="11" name="Text 9"/>
          <p:cNvSpPr/>
          <p:nvPr/>
        </p:nvSpPr>
        <p:spPr>
          <a:xfrm>
            <a:off x="640080" y="4297680"/>
            <a:ext cx="7863840" cy="274320"/>
          </a:xfrm>
          <a:prstGeom prst="rect">
            <a:avLst/>
          </a:prstGeom>
          <a:noFill/>
          <a:ln/>
        </p:spPr>
        <p:txBody>
          <a:bodyPr wrap="square" rtlCol="0" anchor="ctr"/>
          <a:lstStyle/>
          <a:p>
            <a:pPr algn="r" indent="0" marL="0">
              <a:buNone/>
            </a:pPr>
            <a:r>
              <a:rPr lang="en-US" sz="1200" dirty="0">
                <a:solidFill>
                  <a:srgbClr val="003049"/>
                </a:solidFill>
                <a:latin typeface="Calibri" pitchFamily="34" charset="0"/>
                <a:ea typeface="Calibri" pitchFamily="34" charset="-122"/>
                <a:cs typeface="Calibri" pitchFamily="34" charset="-120"/>
              </a:rPr>
              <a:t>— 卡尔·门格尔</a:t>
            </a:r>
            <a:endParaRPr lang="en-US" sz="1200" dirty="0"/>
          </a:p>
        </p:txBody>
      </p:sp>
      <p:sp>
        <p:nvSpPr>
          <p:cNvPr id="12" name="Shape 10"/>
          <p:cNvSpPr/>
          <p:nvPr/>
        </p:nvSpPr>
        <p:spPr>
          <a:xfrm>
            <a:off x="8503920" y="4663440"/>
            <a:ext cx="365760" cy="365760"/>
          </a:xfrm>
          <a:prstGeom prst="ellipse">
            <a:avLst/>
          </a:prstGeom>
          <a:solidFill>
            <a:srgbClr val="C1121F"/>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门格尔的边际革命</a:t>
            </a:r>
            <a:endParaRPr lang="en-US" sz="2800" dirty="0"/>
          </a:p>
        </p:txBody>
      </p:sp>
      <p:sp>
        <p:nvSpPr>
          <p:cNvPr id="4" name="Shape 2"/>
          <p:cNvSpPr/>
          <p:nvPr/>
        </p:nvSpPr>
        <p:spPr>
          <a:xfrm>
            <a:off x="457200" y="1051560"/>
            <a:ext cx="265176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2651760" cy="457200"/>
          </a:xfrm>
          <a:prstGeom prst="rect">
            <a:avLst/>
          </a:prstGeom>
          <a:solidFill>
            <a:srgbClr val="C1121F"/>
          </a:solidFill>
          <a:ln/>
        </p:spPr>
      </p:sp>
      <p:sp>
        <p:nvSpPr>
          <p:cNvPr id="6" name="Text 4"/>
          <p:cNvSpPr/>
          <p:nvPr/>
        </p:nvSpPr>
        <p:spPr>
          <a:xfrm>
            <a:off x="457200" y="1124712"/>
            <a:ext cx="2651760" cy="32004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主观价值论</a:t>
            </a:r>
            <a:endParaRPr lang="en-US" sz="1500" dirty="0"/>
          </a:p>
        </p:txBody>
      </p:sp>
      <p:sp>
        <p:nvSpPr>
          <p:cNvPr id="7" name="Text 5"/>
          <p:cNvSpPr/>
          <p:nvPr/>
        </p:nvSpPr>
        <p:spPr>
          <a:xfrm>
            <a:off x="594360" y="1645920"/>
            <a:ext cx="2377440" cy="2468880"/>
          </a:xfrm>
          <a:prstGeom prst="rect">
            <a:avLst/>
          </a:prstGeom>
          <a:noFill/>
          <a:ln/>
        </p:spPr>
        <p:txBody>
          <a:bodyPr wrap="square" rtlCol="0" anchor="t"/>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价值来源于个体的主观评价</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一块面包对饥饿的人比对吃饱的人价值更高</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价值是情境依赖的，而非 intrinsic</a:t>
            </a:r>
            <a:endParaRPr lang="en-US" sz="1200" dirty="0"/>
          </a:p>
        </p:txBody>
      </p:sp>
      <p:sp>
        <p:nvSpPr>
          <p:cNvPr id="8" name="Shape 6"/>
          <p:cNvSpPr/>
          <p:nvPr/>
        </p:nvSpPr>
        <p:spPr>
          <a:xfrm>
            <a:off x="3246120" y="1051560"/>
            <a:ext cx="265176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3246120" y="1051560"/>
            <a:ext cx="2651760" cy="457200"/>
          </a:xfrm>
          <a:prstGeom prst="rect">
            <a:avLst/>
          </a:prstGeom>
          <a:solidFill>
            <a:srgbClr val="780000"/>
          </a:solidFill>
          <a:ln/>
        </p:spPr>
      </p:sp>
      <p:sp>
        <p:nvSpPr>
          <p:cNvPr id="10" name="Text 8"/>
          <p:cNvSpPr/>
          <p:nvPr/>
        </p:nvSpPr>
        <p:spPr>
          <a:xfrm>
            <a:off x="3246120" y="1124712"/>
            <a:ext cx="2651760" cy="32004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边际效用</a:t>
            </a:r>
            <a:endParaRPr lang="en-US" sz="1500" dirty="0"/>
          </a:p>
        </p:txBody>
      </p:sp>
      <p:sp>
        <p:nvSpPr>
          <p:cNvPr id="11" name="Text 9"/>
          <p:cNvSpPr/>
          <p:nvPr/>
        </p:nvSpPr>
        <p:spPr>
          <a:xfrm>
            <a:off x="3383280" y="1645920"/>
            <a:ext cx="2377440" cy="2468880"/>
          </a:xfrm>
          <a:prstGeom prst="rect">
            <a:avLst/>
          </a:prstGeom>
          <a:noFill/>
          <a:ln/>
        </p:spPr>
        <p:txBody>
          <a:bodyPr wrap="square" rtlCol="0" anchor="t"/>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连续追加的单位，边际效用递减</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第十杯水的边际效用远低于第一杯</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定价基于最后一单位的效用</a:t>
            </a:r>
            <a:endParaRPr lang="en-US" sz="1200" dirty="0"/>
          </a:p>
        </p:txBody>
      </p:sp>
      <p:sp>
        <p:nvSpPr>
          <p:cNvPr id="12" name="Shape 10"/>
          <p:cNvSpPr/>
          <p:nvPr/>
        </p:nvSpPr>
        <p:spPr>
          <a:xfrm>
            <a:off x="6035040" y="1051560"/>
            <a:ext cx="265176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6035040" y="1051560"/>
            <a:ext cx="2651760" cy="457200"/>
          </a:xfrm>
          <a:prstGeom prst="rect">
            <a:avLst/>
          </a:prstGeom>
          <a:solidFill>
            <a:srgbClr val="669BBC"/>
          </a:solidFill>
          <a:ln/>
        </p:spPr>
      </p:sp>
      <p:sp>
        <p:nvSpPr>
          <p:cNvPr id="14" name="Text 12"/>
          <p:cNvSpPr/>
          <p:nvPr/>
        </p:nvSpPr>
        <p:spPr>
          <a:xfrm>
            <a:off x="6035040" y="1124712"/>
            <a:ext cx="2651760" cy="320040"/>
          </a:xfrm>
          <a:prstGeom prst="rect">
            <a:avLst/>
          </a:prstGeom>
          <a:noFill/>
          <a:ln/>
        </p:spPr>
        <p:txBody>
          <a:bodyPr wrap="square" rtlCol="0" anchor="ctr"/>
          <a:lstStyle/>
          <a:p>
            <a:pPr algn="ctr" indent="0" marL="0">
              <a:buNone/>
            </a:pPr>
            <a:r>
              <a:rPr lang="en-US" sz="1500" b="1" dirty="0">
                <a:solidFill>
                  <a:srgbClr val="780000"/>
                </a:solidFill>
                <a:latin typeface="Microsoft YaHei" pitchFamily="34" charset="0"/>
                <a:ea typeface="Microsoft YaHei" pitchFamily="34" charset="-122"/>
                <a:cs typeface="Microsoft YaHei" pitchFamily="34" charset="-120"/>
              </a:rPr>
              <a:t>方法论个人主义</a:t>
            </a:r>
            <a:endParaRPr lang="en-US" sz="1500" dirty="0"/>
          </a:p>
        </p:txBody>
      </p:sp>
      <p:sp>
        <p:nvSpPr>
          <p:cNvPr id="15" name="Text 13"/>
          <p:cNvSpPr/>
          <p:nvPr/>
        </p:nvSpPr>
        <p:spPr>
          <a:xfrm>
            <a:off x="6172200" y="1645920"/>
            <a:ext cx="2377440" cy="2468880"/>
          </a:xfrm>
          <a:prstGeom prst="rect">
            <a:avLst/>
          </a:prstGeom>
          <a:noFill/>
          <a:ln/>
        </p:spPr>
        <p:txBody>
          <a:bodyPr wrap="square" rtlCol="0" anchor="t"/>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社会现象从个体行动中涌现</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拒绝将国家、社会视为有意志的整体</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一切分析从个体偏好与选择出发</a:t>
            </a:r>
            <a:endParaRPr lang="en-US" sz="1200" dirty="0"/>
          </a:p>
        </p:txBody>
      </p:sp>
      <p:sp>
        <p:nvSpPr>
          <p:cNvPr id="16" name="Shape 14"/>
          <p:cNvSpPr/>
          <p:nvPr/>
        </p:nvSpPr>
        <p:spPr>
          <a:xfrm>
            <a:off x="8503920" y="4663440"/>
            <a:ext cx="365760" cy="365760"/>
          </a:xfrm>
          <a:prstGeom prst="ellipse">
            <a:avLst/>
          </a:prstGeom>
          <a:solidFill>
            <a:srgbClr val="C1121F"/>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主观价值理论的诞生</a:t>
            </a:r>
            <a:endParaRPr lang="en-US" sz="2800" dirty="0"/>
          </a:p>
        </p:txBody>
      </p:sp>
      <p:sp>
        <p:nvSpPr>
          <p:cNvPr id="4" name="Shape 2"/>
          <p:cNvSpPr/>
          <p:nvPr/>
        </p:nvSpPr>
        <p:spPr>
          <a:xfrm>
            <a:off x="457200" y="1097280"/>
            <a:ext cx="2560320" cy="2194560"/>
          </a:xfrm>
          <a:prstGeom prst="rect">
            <a:avLst/>
          </a:prstGeom>
          <a:solidFill>
            <a:srgbClr val="003049">
              <a:alpha val="90000"/>
            </a:srgbClr>
          </a:solidFill>
          <a:ln/>
        </p:spPr>
      </p:sp>
      <p:sp>
        <p:nvSpPr>
          <p:cNvPr id="5" name="Text 3"/>
          <p:cNvSpPr/>
          <p:nvPr/>
        </p:nvSpPr>
        <p:spPr>
          <a:xfrm>
            <a:off x="457200" y="1188720"/>
            <a:ext cx="2560320" cy="365760"/>
          </a:xfrm>
          <a:prstGeom prst="rect">
            <a:avLst/>
          </a:prstGeom>
          <a:noFill/>
          <a:ln/>
        </p:spPr>
        <p:txBody>
          <a:bodyPr wrap="square" rtlCol="0" anchor="ctr"/>
          <a:lstStyle/>
          <a:p>
            <a:pPr algn="ctr" indent="0" marL="0">
              <a:buNone/>
            </a:pPr>
            <a:r>
              <a:rPr lang="en-US" sz="1400" b="1" dirty="0">
                <a:solidFill>
                  <a:srgbClr val="003049"/>
                </a:solidFill>
                <a:latin typeface="Microsoft YaHei" pitchFamily="34" charset="0"/>
                <a:ea typeface="Microsoft YaHei" pitchFamily="34" charset="-122"/>
                <a:cs typeface="Microsoft YaHei" pitchFamily="34" charset="-120"/>
              </a:rPr>
              <a:t>客观价值论（旧）</a:t>
            </a:r>
            <a:endParaRPr lang="en-US" sz="1400" dirty="0"/>
          </a:p>
        </p:txBody>
      </p:sp>
      <p:sp>
        <p:nvSpPr>
          <p:cNvPr id="6" name="Text 4"/>
          <p:cNvSpPr/>
          <p:nvPr/>
        </p:nvSpPr>
        <p:spPr>
          <a:xfrm>
            <a:off x="594360" y="1645920"/>
            <a:ext cx="2286000" cy="1463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劳动决定价值</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生产成本定价</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价值是固有的</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供需决定价格</a:t>
            </a:r>
            <a:endParaRPr lang="en-US" sz="1200" dirty="0"/>
          </a:p>
        </p:txBody>
      </p:sp>
      <p:sp>
        <p:nvSpPr>
          <p:cNvPr id="7" name="Text 5"/>
          <p:cNvSpPr/>
          <p:nvPr/>
        </p:nvSpPr>
        <p:spPr>
          <a:xfrm>
            <a:off x="3108960" y="1828800"/>
            <a:ext cx="548640" cy="731520"/>
          </a:xfrm>
          <a:prstGeom prst="rect">
            <a:avLst/>
          </a:prstGeom>
          <a:noFill/>
          <a:ln/>
        </p:spPr>
        <p:txBody>
          <a:bodyPr wrap="square" rtlCol="0" anchor="ctr"/>
          <a:lstStyle/>
          <a:p>
            <a:pPr algn="ctr" indent="0" marL="0">
              <a:buNone/>
            </a:pPr>
            <a:r>
              <a:rPr lang="en-US" sz="3600" b="1" dirty="0">
                <a:solidFill>
                  <a:srgbClr val="C1121F"/>
                </a:solidFill>
                <a:latin typeface="Arial" pitchFamily="34" charset="0"/>
                <a:ea typeface="Arial" pitchFamily="34" charset="-122"/>
                <a:cs typeface="Arial" pitchFamily="34" charset="-120"/>
              </a:rPr>
              <a:t>→</a:t>
            </a:r>
            <a:endParaRPr lang="en-US" sz="3600" dirty="0"/>
          </a:p>
        </p:txBody>
      </p:sp>
      <p:sp>
        <p:nvSpPr>
          <p:cNvPr id="8" name="Shape 6"/>
          <p:cNvSpPr/>
          <p:nvPr/>
        </p:nvSpPr>
        <p:spPr>
          <a:xfrm>
            <a:off x="3749040" y="1097280"/>
            <a:ext cx="2560320" cy="2194560"/>
          </a:xfrm>
          <a:prstGeom prst="rect">
            <a:avLst/>
          </a:prstGeom>
          <a:solidFill>
            <a:srgbClr val="C1121F">
              <a:alpha val="15000"/>
            </a:srgbClr>
          </a:solidFill>
          <a:ln/>
        </p:spPr>
      </p:sp>
      <p:sp>
        <p:nvSpPr>
          <p:cNvPr id="9" name="Text 7"/>
          <p:cNvSpPr/>
          <p:nvPr/>
        </p:nvSpPr>
        <p:spPr>
          <a:xfrm>
            <a:off x="3749040" y="1188720"/>
            <a:ext cx="2560320" cy="365760"/>
          </a:xfrm>
          <a:prstGeom prst="rect">
            <a:avLst/>
          </a:prstGeom>
          <a:noFill/>
          <a:ln/>
        </p:spPr>
        <p:txBody>
          <a:bodyPr wrap="square" rtlCol="0" anchor="ctr"/>
          <a:lstStyle/>
          <a:p>
            <a:pPr algn="ctr" indent="0" marL="0">
              <a:buNone/>
            </a:pPr>
            <a:r>
              <a:rPr lang="en-US" sz="1400" b="1" dirty="0">
                <a:solidFill>
                  <a:srgbClr val="C1121F"/>
                </a:solidFill>
                <a:latin typeface="Microsoft YaHei" pitchFamily="34" charset="0"/>
                <a:ea typeface="Microsoft YaHei" pitchFamily="34" charset="-122"/>
                <a:cs typeface="Microsoft YaHei" pitchFamily="34" charset="-120"/>
              </a:rPr>
              <a:t>主观价值论（新）</a:t>
            </a:r>
            <a:endParaRPr lang="en-US" sz="1400" dirty="0"/>
          </a:p>
        </p:txBody>
      </p:sp>
      <p:sp>
        <p:nvSpPr>
          <p:cNvPr id="10" name="Text 8"/>
          <p:cNvSpPr/>
          <p:nvPr/>
        </p:nvSpPr>
        <p:spPr>
          <a:xfrm>
            <a:off x="3886200" y="1645920"/>
            <a:ext cx="2286000" cy="1463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个人偏好决定价值</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边际效用定价</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价值是情境的</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主观评价驱动</a:t>
            </a:r>
            <a:endParaRPr lang="en-US" sz="1200" dirty="0"/>
          </a:p>
        </p:txBody>
      </p:sp>
      <p:sp>
        <p:nvSpPr>
          <p:cNvPr id="11" name="Shape 9"/>
          <p:cNvSpPr/>
          <p:nvPr/>
        </p:nvSpPr>
        <p:spPr>
          <a:xfrm>
            <a:off x="6583680" y="1097280"/>
            <a:ext cx="2286000" cy="2194560"/>
          </a:xfrm>
          <a:prstGeom prst="rect">
            <a:avLst/>
          </a:prstGeom>
          <a:solidFill>
            <a:srgbClr val="780000"/>
          </a:solidFill>
          <a:ln/>
        </p:spPr>
      </p:sp>
      <p:sp>
        <p:nvSpPr>
          <p:cNvPr id="12" name="Text 10"/>
          <p:cNvSpPr/>
          <p:nvPr/>
        </p:nvSpPr>
        <p:spPr>
          <a:xfrm>
            <a:off x="6583680" y="1234440"/>
            <a:ext cx="2286000" cy="320040"/>
          </a:xfrm>
          <a:prstGeom prst="rect">
            <a:avLst/>
          </a:prstGeom>
          <a:noFill/>
          <a:ln/>
        </p:spPr>
        <p:txBody>
          <a:bodyPr wrap="square" rtlCol="0" anchor="ctr"/>
          <a:lstStyle/>
          <a:p>
            <a:pPr algn="ctr" indent="0" marL="0">
              <a:buNone/>
            </a:pPr>
            <a:r>
              <a:rPr lang="en-US" sz="1300" b="1" dirty="0">
                <a:solidFill>
                  <a:srgbClr val="FDF0D5"/>
                </a:solidFill>
                <a:latin typeface="Microsoft YaHei" pitchFamily="34" charset="0"/>
                <a:ea typeface="Microsoft YaHei" pitchFamily="34" charset="-122"/>
                <a:cs typeface="Microsoft YaHei" pitchFamily="34" charset="-120"/>
              </a:rPr>
              <a:t>核心洞见</a:t>
            </a:r>
            <a:endParaRPr lang="en-US" sz="1300" dirty="0"/>
          </a:p>
        </p:txBody>
      </p:sp>
      <p:sp>
        <p:nvSpPr>
          <p:cNvPr id="13" name="Text 11"/>
          <p:cNvSpPr/>
          <p:nvPr/>
        </p:nvSpPr>
        <p:spPr>
          <a:xfrm>
            <a:off x="6720840" y="1645920"/>
            <a:ext cx="2011680" cy="731520"/>
          </a:xfrm>
          <a:prstGeom prst="rect">
            <a:avLst/>
          </a:prstGeom>
          <a:noFill/>
          <a:ln/>
        </p:spPr>
        <p:txBody>
          <a:bodyPr wrap="square" rtlCol="0" anchor="ctr"/>
          <a:lstStyle/>
          <a:p>
            <a:pPr indent="0" marL="0">
              <a:buNone/>
            </a:pPr>
            <a:r>
              <a:rPr lang="en-US" sz="1100" dirty="0">
                <a:solidFill>
                  <a:srgbClr val="669BBC"/>
                </a:solidFill>
                <a:latin typeface="Microsoft YaHei" pitchFamily="34" charset="0"/>
                <a:ea typeface="Microsoft YaHei" pitchFamily="34" charset="-122"/>
                <a:cs typeface="Microsoft YaHei" pitchFamily="34" charset="-120"/>
              </a:rPr>
              <a:t>"钻石与水的悖论"被解决：</a:t>
            </a:r>
            <a:endParaRPr lang="en-US" sz="1100" dirty="0"/>
          </a:p>
        </p:txBody>
      </p:sp>
      <p:sp>
        <p:nvSpPr>
          <p:cNvPr id="14" name="Text 12"/>
          <p:cNvSpPr/>
          <p:nvPr/>
        </p:nvSpPr>
        <p:spPr>
          <a:xfrm>
            <a:off x="6720840" y="2286000"/>
            <a:ext cx="2011680" cy="8229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水很便宜但效用高</a:t>
            </a:r>
            <a:endParaRPr lang="en-US" sz="1100" dirty="0"/>
          </a:p>
          <a:p>
            <a:pPr indent="0" marL="0">
              <a:buNone/>
            </a:pPr>
            <a:r>
              <a:rPr lang="en-US" sz="1100" dirty="0">
                <a:solidFill>
                  <a:srgbClr val="FFFFFF"/>
                </a:solidFill>
                <a:latin typeface="Microsoft YaHei" pitchFamily="34" charset="0"/>
                <a:ea typeface="Microsoft YaHei" pitchFamily="34" charset="-122"/>
                <a:cs typeface="Microsoft YaHei" pitchFamily="34" charset="-120"/>
              </a:rPr>
              <a:t>钻石很贵但边际效用低</a:t>
            </a:r>
            <a:endParaRPr lang="en-US" sz="1100" dirty="0"/>
          </a:p>
        </p:txBody>
      </p:sp>
      <p:sp>
        <p:nvSpPr>
          <p:cNvPr id="15" name="Text 13"/>
          <p:cNvSpPr/>
          <p:nvPr/>
        </p:nvSpPr>
        <p:spPr>
          <a:xfrm>
            <a:off x="457200" y="3520440"/>
            <a:ext cx="822960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对斯密"看不见的手"的重新诠释</a:t>
            </a:r>
            <a:endParaRPr lang="en-US" sz="1600" dirty="0"/>
          </a:p>
        </p:txBody>
      </p:sp>
      <p:sp>
        <p:nvSpPr>
          <p:cNvPr id="16" name="Shape 14"/>
          <p:cNvSpPr/>
          <p:nvPr/>
        </p:nvSpPr>
        <p:spPr>
          <a:xfrm>
            <a:off x="457200" y="3931920"/>
            <a:ext cx="8229600" cy="731520"/>
          </a:xfrm>
          <a:prstGeom prst="rect">
            <a:avLst/>
          </a:prstGeom>
          <a:solidFill>
            <a:srgbClr val="669BBC">
              <a:alpha val="50000"/>
            </a:srgbClr>
          </a:solidFill>
          <a:ln/>
        </p:spPr>
      </p:sp>
      <p:sp>
        <p:nvSpPr>
          <p:cNvPr id="17" name="Text 15"/>
          <p:cNvSpPr/>
          <p:nvPr/>
        </p:nvSpPr>
        <p:spPr>
          <a:xfrm>
            <a:off x="640080" y="4023360"/>
            <a:ext cx="7863840" cy="5486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当每个人追求主观价值最大化的同时，价格体系自发地将资源配置到最有价值的地方——这正是市场秩序的精妙所在。</a:t>
            </a:r>
            <a:endParaRPr lang="en-US" sz="1200" dirty="0"/>
          </a:p>
        </p:txBody>
      </p:sp>
      <p:sp>
        <p:nvSpPr>
          <p:cNvPr id="18" name="Shape 16"/>
          <p:cNvSpPr/>
          <p:nvPr/>
        </p:nvSpPr>
        <p:spPr>
          <a:xfrm>
            <a:off x="8503920" y="4663440"/>
            <a:ext cx="365760" cy="365760"/>
          </a:xfrm>
          <a:prstGeom prst="ellipse">
            <a:avLst/>
          </a:prstGeom>
          <a:solidFill>
            <a:srgbClr val="C1121F"/>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庞巴维克：时差利息论</a:t>
            </a:r>
            <a:endParaRPr lang="en-US" sz="2800" dirty="0"/>
          </a:p>
        </p:txBody>
      </p:sp>
      <p:sp>
        <p:nvSpPr>
          <p:cNvPr id="4" name="Text 2"/>
          <p:cNvSpPr/>
          <p:nvPr/>
        </p:nvSpPr>
        <p:spPr>
          <a:xfrm>
            <a:off x="457200" y="1051560"/>
            <a:ext cx="4114800" cy="365760"/>
          </a:xfrm>
          <a:prstGeom prst="rect">
            <a:avLst/>
          </a:prstGeom>
          <a:noFill/>
          <a:ln/>
        </p:spPr>
        <p:txBody>
          <a:bodyPr wrap="square" rtlCol="0" anchor="ctr"/>
          <a:lstStyle/>
          <a:p>
            <a:pPr indent="0" marL="0">
              <a:buNone/>
            </a:pPr>
            <a:r>
              <a:rPr lang="en-US" sz="1800" b="1" dirty="0">
                <a:solidFill>
                  <a:srgbClr val="780000"/>
                </a:solidFill>
                <a:latin typeface="Microsoft YaHei" pitchFamily="34" charset="0"/>
                <a:ea typeface="Microsoft YaHei" pitchFamily="34" charset="-122"/>
                <a:cs typeface="Microsoft YaHei" pitchFamily="34" charset="-120"/>
              </a:rPr>
              <a:t>利息的来源：时间偏好</a:t>
            </a:r>
            <a:endParaRPr lang="en-US" sz="1800" dirty="0"/>
          </a:p>
        </p:txBody>
      </p:sp>
      <p:sp>
        <p:nvSpPr>
          <p:cNvPr id="5" name="Text 3"/>
          <p:cNvSpPr/>
          <p:nvPr/>
        </p:nvSpPr>
        <p:spPr>
          <a:xfrm>
            <a:off x="457200" y="1463040"/>
            <a:ext cx="4114800" cy="182880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庞巴维克（Eugen von Bohm-Bawerk）提出：利息源于人们对"现在物品"与"未来物品"的主观评价差异。</a:t>
            </a:r>
            <a:endParaRPr lang="en-US" sz="1300" dirty="0"/>
          </a:p>
          <a:p>
            <a:pPr indent="0" marL="0">
              <a:buNone/>
            </a:pPr>
            <a:r>
              <a:rPr lang="en-US" sz="800" dirty="0">
                <a:solidFill>
                  <a:srgbClr val="003049"/>
                </a:solidFill>
                <a:latin typeface="Microsoft YaHei" pitchFamily="34" charset="0"/>
                <a:ea typeface="Microsoft YaHei" pitchFamily="34" charset="-122"/>
                <a:cs typeface="Microsoft YaHei" pitchFamily="34" charset="-120"/>
              </a:rPr>
              <a:t>
</a:t>
            </a:r>
            <a:endParaRPr lang="en-US" sz="1300" dirty="0"/>
          </a:p>
          <a:p>
            <a:pPr indent="0" marL="0">
              <a:buNone/>
            </a:pPr>
            <a:r>
              <a:rPr lang="en-US" sz="1300" dirty="0">
                <a:solidFill>
                  <a:srgbClr val="003049"/>
                </a:solidFill>
                <a:latin typeface="Microsoft YaHei" pitchFamily="34" charset="0"/>
                <a:ea typeface="Microsoft YaHei" pitchFamily="34" charset="-122"/>
                <a:cs typeface="Microsoft YaHei" pitchFamily="34" charset="-120"/>
              </a:rPr>
              <a:t>人们普遍偏好"现在"而非"未来"——这被称为"时间偏好"（time preference）。</a:t>
            </a:r>
            <a:endParaRPr lang="en-US" sz="1300" dirty="0"/>
          </a:p>
          <a:p>
            <a:pPr indent="0" marL="0">
              <a:buNone/>
            </a:pPr>
            <a:r>
              <a:rPr lang="en-US" sz="800" dirty="0">
                <a:solidFill>
                  <a:srgbClr val="003049"/>
                </a:solidFill>
                <a:latin typeface="Microsoft YaHei" pitchFamily="34" charset="0"/>
                <a:ea typeface="Microsoft YaHei" pitchFamily="34" charset="-122"/>
                <a:cs typeface="Microsoft YaHei" pitchFamily="34" charset="-120"/>
              </a:rPr>
              <a:t>
</a:t>
            </a:r>
            <a:endParaRPr lang="en-US" sz="1300" dirty="0"/>
          </a:p>
          <a:p>
            <a:pPr indent="0" marL="0">
              <a:buNone/>
            </a:pPr>
            <a:r>
              <a:rPr lang="en-US" sz="1300" dirty="0">
                <a:solidFill>
                  <a:srgbClr val="003049"/>
                </a:solidFill>
                <a:latin typeface="Microsoft YaHei" pitchFamily="34" charset="0"/>
                <a:ea typeface="Microsoft YaHei" pitchFamily="34" charset="-122"/>
                <a:cs typeface="Microsoft YaHei" pitchFamily="34" charset="-120"/>
              </a:rPr>
              <a:t>因此，借贷利率反映了"现在"与"未来"之间的价值差额。</a:t>
            </a:r>
            <a:endParaRPr lang="en-US" sz="1300" dirty="0"/>
          </a:p>
        </p:txBody>
      </p:sp>
      <p:sp>
        <p:nvSpPr>
          <p:cNvPr id="6" name="Shape 4"/>
          <p:cNvSpPr/>
          <p:nvPr/>
        </p:nvSpPr>
        <p:spPr>
          <a:xfrm>
            <a:off x="4846320" y="1051560"/>
            <a:ext cx="3840480" cy="22860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5029200" y="1280160"/>
            <a:ext cx="1463040" cy="914400"/>
          </a:xfrm>
          <a:prstGeom prst="rect">
            <a:avLst/>
          </a:prstGeom>
          <a:solidFill>
            <a:srgbClr val="C1121F"/>
          </a:solidFill>
          <a:ln/>
        </p:spPr>
      </p:sp>
      <p:sp>
        <p:nvSpPr>
          <p:cNvPr id="8" name="Text 6"/>
          <p:cNvSpPr/>
          <p:nvPr/>
        </p:nvSpPr>
        <p:spPr>
          <a:xfrm>
            <a:off x="5029200" y="1417320"/>
            <a:ext cx="146304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现在物品</a:t>
            </a:r>
            <a:endParaRPr lang="en-US" sz="1200" dirty="0"/>
          </a:p>
        </p:txBody>
      </p:sp>
      <p:sp>
        <p:nvSpPr>
          <p:cNvPr id="9" name="Text 7"/>
          <p:cNvSpPr/>
          <p:nvPr/>
        </p:nvSpPr>
        <p:spPr>
          <a:xfrm>
            <a:off x="5029200" y="1783080"/>
            <a:ext cx="1463040" cy="3200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100元</a:t>
            </a:r>
            <a:endParaRPr lang="en-US" sz="1400" dirty="0"/>
          </a:p>
        </p:txBody>
      </p:sp>
      <p:sp>
        <p:nvSpPr>
          <p:cNvPr id="10" name="Text 8"/>
          <p:cNvSpPr/>
          <p:nvPr/>
        </p:nvSpPr>
        <p:spPr>
          <a:xfrm>
            <a:off x="6583680" y="1417320"/>
            <a:ext cx="457200" cy="731520"/>
          </a:xfrm>
          <a:prstGeom prst="rect">
            <a:avLst/>
          </a:prstGeom>
          <a:noFill/>
          <a:ln/>
        </p:spPr>
        <p:txBody>
          <a:bodyPr wrap="square" rtlCol="0" anchor="ctr"/>
          <a:lstStyle/>
          <a:p>
            <a:pPr algn="ctr" indent="0" marL="0">
              <a:buNone/>
            </a:pPr>
            <a:r>
              <a:rPr lang="en-US" sz="3200" b="1" dirty="0">
                <a:solidFill>
                  <a:srgbClr val="780000"/>
                </a:solidFill>
                <a:latin typeface="Arial" pitchFamily="34" charset="0"/>
                <a:ea typeface="Arial" pitchFamily="34" charset="-122"/>
                <a:cs typeface="Arial" pitchFamily="34" charset="-120"/>
              </a:rPr>
              <a:t>&gt;</a:t>
            </a:r>
            <a:endParaRPr lang="en-US" sz="3200" dirty="0"/>
          </a:p>
        </p:txBody>
      </p:sp>
      <p:sp>
        <p:nvSpPr>
          <p:cNvPr id="11" name="Text 9"/>
          <p:cNvSpPr/>
          <p:nvPr/>
        </p:nvSpPr>
        <p:spPr>
          <a:xfrm>
            <a:off x="6400800" y="2148840"/>
            <a:ext cx="914400" cy="228600"/>
          </a:xfrm>
          <a:prstGeom prst="rect">
            <a:avLst/>
          </a:prstGeom>
          <a:noFill/>
          <a:ln/>
        </p:spPr>
        <p:txBody>
          <a:bodyPr wrap="square" rtlCol="0" anchor="ctr"/>
          <a:lstStyle/>
          <a:p>
            <a:pPr algn="ctr" indent="0" marL="0">
              <a:buNone/>
            </a:pPr>
            <a:r>
              <a:rPr lang="en-US" sz="1000" dirty="0">
                <a:solidFill>
                  <a:srgbClr val="003049"/>
                </a:solidFill>
                <a:latin typeface="Calibri" pitchFamily="34" charset="0"/>
                <a:ea typeface="Calibri" pitchFamily="34" charset="-122"/>
                <a:cs typeface="Calibri" pitchFamily="34" charset="-120"/>
              </a:rPr>
              <a:t>利率 5%</a:t>
            </a:r>
            <a:endParaRPr lang="en-US" sz="1000" dirty="0"/>
          </a:p>
        </p:txBody>
      </p:sp>
      <p:sp>
        <p:nvSpPr>
          <p:cNvPr id="12" name="Shape 10"/>
          <p:cNvSpPr/>
          <p:nvPr/>
        </p:nvSpPr>
        <p:spPr>
          <a:xfrm>
            <a:off x="7132320" y="1280160"/>
            <a:ext cx="1463040" cy="914400"/>
          </a:xfrm>
          <a:prstGeom prst="rect">
            <a:avLst/>
          </a:prstGeom>
          <a:solidFill>
            <a:srgbClr val="669BBC"/>
          </a:solidFill>
          <a:ln/>
        </p:spPr>
      </p:sp>
      <p:sp>
        <p:nvSpPr>
          <p:cNvPr id="13" name="Text 11"/>
          <p:cNvSpPr/>
          <p:nvPr/>
        </p:nvSpPr>
        <p:spPr>
          <a:xfrm>
            <a:off x="7132320" y="1417320"/>
            <a:ext cx="1463040" cy="320040"/>
          </a:xfrm>
          <a:prstGeom prst="rect">
            <a:avLst/>
          </a:prstGeom>
          <a:noFill/>
          <a:ln/>
        </p:spPr>
        <p:txBody>
          <a:bodyPr wrap="square" rtlCol="0" anchor="ctr"/>
          <a:lstStyle/>
          <a:p>
            <a:pPr algn="ctr" indent="0" marL="0">
              <a:buNone/>
            </a:pPr>
            <a:r>
              <a:rPr lang="en-US" sz="1200" b="1" dirty="0">
                <a:solidFill>
                  <a:srgbClr val="780000"/>
                </a:solidFill>
                <a:latin typeface="Microsoft YaHei" pitchFamily="34" charset="0"/>
                <a:ea typeface="Microsoft YaHei" pitchFamily="34" charset="-122"/>
                <a:cs typeface="Microsoft YaHei" pitchFamily="34" charset="-120"/>
              </a:rPr>
              <a:t>未来物品</a:t>
            </a:r>
            <a:endParaRPr lang="en-US" sz="1200" dirty="0"/>
          </a:p>
        </p:txBody>
      </p:sp>
      <p:sp>
        <p:nvSpPr>
          <p:cNvPr id="14" name="Text 12"/>
          <p:cNvSpPr/>
          <p:nvPr/>
        </p:nvSpPr>
        <p:spPr>
          <a:xfrm>
            <a:off x="7132320" y="1783080"/>
            <a:ext cx="1463040" cy="320040"/>
          </a:xfrm>
          <a:prstGeom prst="rect">
            <a:avLst/>
          </a:prstGeom>
          <a:noFill/>
          <a:ln/>
        </p:spPr>
        <p:txBody>
          <a:bodyPr wrap="square" rtlCol="0" anchor="ctr"/>
          <a:lstStyle/>
          <a:p>
            <a:pPr algn="ctr" indent="0" marL="0">
              <a:buNone/>
            </a:pPr>
            <a:r>
              <a:rPr lang="en-US" sz="1400" dirty="0">
                <a:solidFill>
                  <a:srgbClr val="780000"/>
                </a:solidFill>
                <a:latin typeface="Calibri" pitchFamily="34" charset="0"/>
                <a:ea typeface="Calibri" pitchFamily="34" charset="-122"/>
                <a:cs typeface="Calibri" pitchFamily="34" charset="-120"/>
              </a:rPr>
              <a:t>105元</a:t>
            </a:r>
            <a:endParaRPr lang="en-US" sz="1400" dirty="0"/>
          </a:p>
        </p:txBody>
      </p:sp>
      <p:sp>
        <p:nvSpPr>
          <p:cNvPr id="15" name="Text 13"/>
          <p:cNvSpPr/>
          <p:nvPr/>
        </p:nvSpPr>
        <p:spPr>
          <a:xfrm>
            <a:off x="5029200" y="2377440"/>
            <a:ext cx="3474720" cy="7315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同样金额，现在拥有比未来拥有更有价值。利息是对放弃现在消费的心理补偿。</a:t>
            </a:r>
            <a:endParaRPr lang="en-US" sz="1100" dirty="0"/>
          </a:p>
        </p:txBody>
      </p:sp>
      <p:sp>
        <p:nvSpPr>
          <p:cNvPr id="16" name="Text 14"/>
          <p:cNvSpPr/>
          <p:nvPr/>
        </p:nvSpPr>
        <p:spPr>
          <a:xfrm>
            <a:off x="457200" y="3520440"/>
            <a:ext cx="8229600" cy="320040"/>
          </a:xfrm>
          <a:prstGeom prst="rect">
            <a:avLst/>
          </a:prstGeom>
          <a:noFill/>
          <a:ln/>
        </p:spPr>
        <p:txBody>
          <a:bodyPr wrap="square" rtlCol="0" anchor="ctr"/>
          <a:lstStyle/>
          <a:p>
            <a:pPr indent="0" marL="0">
              <a:buNone/>
            </a:pPr>
            <a:r>
              <a:rPr lang="en-US" sz="1500" b="1" dirty="0">
                <a:solidFill>
                  <a:srgbClr val="780000"/>
                </a:solidFill>
                <a:latin typeface="Microsoft YaHei" pitchFamily="34" charset="0"/>
                <a:ea typeface="Microsoft YaHei" pitchFamily="34" charset="-122"/>
                <a:cs typeface="Microsoft YaHei" pitchFamily="34" charset="-120"/>
              </a:rPr>
              <a:t>资本收益的三个来源</a:t>
            </a:r>
            <a:endParaRPr lang="en-US" sz="1500" dirty="0"/>
          </a:p>
        </p:txBody>
      </p:sp>
      <p:sp>
        <p:nvSpPr>
          <p:cNvPr id="17" name="Shape 15"/>
          <p:cNvSpPr/>
          <p:nvPr/>
        </p:nvSpPr>
        <p:spPr>
          <a:xfrm>
            <a:off x="457200" y="3931920"/>
            <a:ext cx="2651760" cy="731520"/>
          </a:xfrm>
          <a:prstGeom prst="rect">
            <a:avLst/>
          </a:prstGeom>
          <a:solidFill>
            <a:srgbClr val="780000">
              <a:alpha val="15000"/>
            </a:srgbClr>
          </a:solidFill>
          <a:ln/>
        </p:spPr>
      </p:sp>
      <p:sp>
        <p:nvSpPr>
          <p:cNvPr id="18" name="Text 16"/>
          <p:cNvSpPr/>
          <p:nvPr/>
        </p:nvSpPr>
        <p:spPr>
          <a:xfrm>
            <a:off x="548640" y="4005072"/>
            <a:ext cx="246888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时间偏好</a:t>
            </a:r>
            <a:endParaRPr lang="en-US" sz="1200" dirty="0"/>
          </a:p>
        </p:txBody>
      </p:sp>
      <p:sp>
        <p:nvSpPr>
          <p:cNvPr id="19" name="Text 17"/>
          <p:cNvSpPr/>
          <p:nvPr/>
        </p:nvSpPr>
        <p:spPr>
          <a:xfrm>
            <a:off x="548640" y="4297680"/>
            <a:ext cx="2468880" cy="3200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现在比未来更有价值</a:t>
            </a:r>
            <a:endParaRPr lang="en-US" sz="1100" dirty="0"/>
          </a:p>
        </p:txBody>
      </p:sp>
      <p:sp>
        <p:nvSpPr>
          <p:cNvPr id="20" name="Shape 18"/>
          <p:cNvSpPr/>
          <p:nvPr/>
        </p:nvSpPr>
        <p:spPr>
          <a:xfrm>
            <a:off x="3291840" y="3931920"/>
            <a:ext cx="2651760" cy="731520"/>
          </a:xfrm>
          <a:prstGeom prst="rect">
            <a:avLst/>
          </a:prstGeom>
          <a:solidFill>
            <a:srgbClr val="C1121F"/>
          </a:solidFill>
          <a:ln/>
        </p:spPr>
      </p:sp>
      <p:sp>
        <p:nvSpPr>
          <p:cNvPr id="21" name="Text 19"/>
          <p:cNvSpPr/>
          <p:nvPr/>
        </p:nvSpPr>
        <p:spPr>
          <a:xfrm>
            <a:off x="3383280" y="4005072"/>
            <a:ext cx="2468880" cy="274320"/>
          </a:xfrm>
          <a:prstGeom prst="rect">
            <a:avLst/>
          </a:prstGeom>
          <a:noFill/>
          <a:ln/>
        </p:spPr>
        <p:txBody>
          <a:bodyPr wrap="square" rtlCol="0" anchor="ct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迂回生产</a:t>
            </a:r>
            <a:endParaRPr lang="en-US" sz="1200" dirty="0"/>
          </a:p>
        </p:txBody>
      </p:sp>
      <p:sp>
        <p:nvSpPr>
          <p:cNvPr id="22" name="Text 20"/>
          <p:cNvSpPr/>
          <p:nvPr/>
        </p:nvSpPr>
        <p:spPr>
          <a:xfrm>
            <a:off x="3383280" y="4297680"/>
            <a:ext cx="2468880" cy="320040"/>
          </a:xfrm>
          <a:prstGeom prst="rect">
            <a:avLst/>
          </a:prstGeom>
          <a:noFill/>
          <a:ln/>
        </p:spPr>
        <p:txBody>
          <a:bodyPr wrap="square" rtlCol="0" anchor="ctr"/>
          <a:lstStyle/>
          <a:p>
            <a:pPr indent="0" marL="0">
              <a:buNone/>
            </a:pPr>
            <a:r>
              <a:rPr lang="en-US" sz="1100" dirty="0">
                <a:solidFill>
                  <a:srgbClr val="669BBC"/>
                </a:solidFill>
                <a:latin typeface="Microsoft YaHei" pitchFamily="34" charset="0"/>
                <a:ea typeface="Microsoft YaHei" pitchFamily="34" charset="-122"/>
                <a:cs typeface="Microsoft YaHei" pitchFamily="34" charset="-120"/>
              </a:rPr>
              <a:t>延长生产周期提高产出</a:t>
            </a:r>
            <a:endParaRPr lang="en-US" sz="1100" dirty="0"/>
          </a:p>
        </p:txBody>
      </p:sp>
      <p:sp>
        <p:nvSpPr>
          <p:cNvPr id="23" name="Shape 21"/>
          <p:cNvSpPr/>
          <p:nvPr/>
        </p:nvSpPr>
        <p:spPr>
          <a:xfrm>
            <a:off x="6126480" y="3931920"/>
            <a:ext cx="2651760" cy="731520"/>
          </a:xfrm>
          <a:prstGeom prst="rect">
            <a:avLst/>
          </a:prstGeom>
          <a:solidFill>
            <a:srgbClr val="780000">
              <a:alpha val="15000"/>
            </a:srgbClr>
          </a:solidFill>
          <a:ln/>
        </p:spPr>
      </p:sp>
      <p:sp>
        <p:nvSpPr>
          <p:cNvPr id="24" name="Text 22"/>
          <p:cNvSpPr/>
          <p:nvPr/>
        </p:nvSpPr>
        <p:spPr>
          <a:xfrm>
            <a:off x="6217920" y="4005072"/>
            <a:ext cx="246888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技术优势</a:t>
            </a:r>
            <a:endParaRPr lang="en-US" sz="1200" dirty="0"/>
          </a:p>
        </p:txBody>
      </p:sp>
      <p:sp>
        <p:nvSpPr>
          <p:cNvPr id="25" name="Text 23"/>
          <p:cNvSpPr/>
          <p:nvPr/>
        </p:nvSpPr>
        <p:spPr>
          <a:xfrm>
            <a:off x="6217920" y="4297680"/>
            <a:ext cx="2468880" cy="3200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资本品带来更高效率</a:t>
            </a:r>
            <a:endParaRPr lang="en-US" sz="1100" dirty="0"/>
          </a:p>
        </p:txBody>
      </p:sp>
      <p:sp>
        <p:nvSpPr>
          <p:cNvPr id="26" name="Shape 24"/>
          <p:cNvSpPr/>
          <p:nvPr/>
        </p:nvSpPr>
        <p:spPr>
          <a:xfrm>
            <a:off x="8503920" y="4663440"/>
            <a:ext cx="365760" cy="365760"/>
          </a:xfrm>
          <a:prstGeom prst="ellipse">
            <a:avLst/>
          </a:prstGeom>
          <a:solidFill>
            <a:srgbClr val="C1121F"/>
          </a:solidFill>
          <a:ln/>
        </p:spPr>
      </p:sp>
      <p:sp>
        <p:nvSpPr>
          <p:cNvPr id="27" name="Text 2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米塞斯：人的行为学</a:t>
            </a:r>
            <a:endParaRPr lang="en-US" sz="2800" dirty="0"/>
          </a:p>
        </p:txBody>
      </p:sp>
      <p:sp>
        <p:nvSpPr>
          <p:cNvPr id="4" name="Shape 2"/>
          <p:cNvSpPr/>
          <p:nvPr/>
        </p:nvSpPr>
        <p:spPr>
          <a:xfrm>
            <a:off x="457200" y="1051560"/>
            <a:ext cx="2926080" cy="32004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5" name="Shape 3"/>
          <p:cNvSpPr/>
          <p:nvPr/>
        </p:nvSpPr>
        <p:spPr>
          <a:xfrm>
            <a:off x="457200" y="1051560"/>
            <a:ext cx="2926080" cy="73152"/>
          </a:xfrm>
          <a:prstGeom prst="rect">
            <a:avLst/>
          </a:prstGeom>
          <a:solidFill>
            <a:srgbClr val="C1121F"/>
          </a:solidFill>
          <a:ln/>
        </p:spPr>
      </p:sp>
      <p:sp>
        <p:nvSpPr>
          <p:cNvPr id="6" name="Text 4"/>
          <p:cNvSpPr/>
          <p:nvPr/>
        </p:nvSpPr>
        <p:spPr>
          <a:xfrm>
            <a:off x="640080" y="1280160"/>
            <a:ext cx="2560320" cy="320040"/>
          </a:xfrm>
          <a:prstGeom prst="rect">
            <a:avLst/>
          </a:prstGeom>
          <a:noFill/>
          <a:ln/>
        </p:spPr>
        <p:txBody>
          <a:bodyPr wrap="square" rtlCol="0" anchor="ctr"/>
          <a:lstStyle/>
          <a:p>
            <a:pPr indent="0" marL="0">
              <a:buNone/>
            </a:pPr>
            <a:r>
              <a:rPr lang="en-US" sz="1600" b="1" i="1" dirty="0">
                <a:solidFill>
                  <a:srgbClr val="780000"/>
                </a:solidFill>
                <a:latin typeface="Georgia" pitchFamily="34" charset="0"/>
                <a:ea typeface="Georgia" pitchFamily="34" charset="-122"/>
                <a:cs typeface="Georgia" pitchFamily="34" charset="-120"/>
              </a:rPr>
              <a:t>Ludwig von Mises</a:t>
            </a:r>
            <a:endParaRPr lang="en-US" sz="1600" dirty="0"/>
          </a:p>
        </p:txBody>
      </p:sp>
      <p:sp>
        <p:nvSpPr>
          <p:cNvPr id="7" name="Text 5"/>
          <p:cNvSpPr/>
          <p:nvPr/>
        </p:nvSpPr>
        <p:spPr>
          <a:xfrm>
            <a:off x="640080" y="1645920"/>
            <a:ext cx="2560320" cy="228600"/>
          </a:xfrm>
          <a:prstGeom prst="rect">
            <a:avLst/>
          </a:prstGeom>
          <a:noFill/>
          <a:ln/>
        </p:spPr>
        <p:txBody>
          <a:bodyPr wrap="square" rtlCol="0" anchor="ctr"/>
          <a:lstStyle/>
          <a:p>
            <a:pPr indent="0" marL="0">
              <a:buNone/>
            </a:pPr>
            <a:r>
              <a:rPr lang="en-US" sz="1200" dirty="0">
                <a:solidFill>
                  <a:srgbClr val="669BBC"/>
                </a:solidFill>
                <a:latin typeface="Calibri" pitchFamily="34" charset="0"/>
                <a:ea typeface="Calibri" pitchFamily="34" charset="-122"/>
                <a:cs typeface="Calibri" pitchFamily="34" charset="-120"/>
              </a:rPr>
              <a:t>1881-1973</a:t>
            </a:r>
            <a:endParaRPr lang="en-US" sz="1200" dirty="0"/>
          </a:p>
        </p:txBody>
      </p:sp>
      <p:sp>
        <p:nvSpPr>
          <p:cNvPr id="8" name="Text 6"/>
          <p:cNvSpPr/>
          <p:nvPr/>
        </p:nvSpPr>
        <p:spPr>
          <a:xfrm>
            <a:off x="640080" y="2011680"/>
            <a:ext cx="2560320" cy="210312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奥地利学派第二代领袖</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维也纳大学博士</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纽约大学教授（1949年后）</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《人的行为》（1949）</a:t>
            </a:r>
            <a:endParaRPr lang="en-US" sz="1200" dirty="0"/>
          </a:p>
        </p:txBody>
      </p:sp>
      <p:sp>
        <p:nvSpPr>
          <p:cNvPr id="9" name="Text 7"/>
          <p:cNvSpPr/>
          <p:nvPr/>
        </p:nvSpPr>
        <p:spPr>
          <a:xfrm>
            <a:off x="3657600" y="1051560"/>
            <a:ext cx="5029200" cy="365760"/>
          </a:xfrm>
          <a:prstGeom prst="rect">
            <a:avLst/>
          </a:prstGeom>
          <a:noFill/>
          <a:ln/>
        </p:spPr>
        <p:txBody>
          <a:bodyPr wrap="square" rtlCol="0" anchor="ctr"/>
          <a:lstStyle/>
          <a:p>
            <a:pPr indent="0" marL="0">
              <a:buNone/>
            </a:pPr>
            <a:r>
              <a:rPr lang="en-US" sz="1800" b="1" dirty="0">
                <a:solidFill>
                  <a:srgbClr val="780000"/>
                </a:solidFill>
                <a:latin typeface="Microsoft YaHei" pitchFamily="34" charset="0"/>
                <a:ea typeface="Microsoft YaHei" pitchFamily="34" charset="-122"/>
                <a:cs typeface="Microsoft YaHei" pitchFamily="34" charset="-120"/>
              </a:rPr>
              <a:t>Praxeology：人的行为学</a:t>
            </a:r>
            <a:endParaRPr lang="en-US" sz="1800" dirty="0"/>
          </a:p>
        </p:txBody>
      </p:sp>
      <p:sp>
        <p:nvSpPr>
          <p:cNvPr id="10" name="Text 8"/>
          <p:cNvSpPr/>
          <p:nvPr/>
        </p:nvSpPr>
        <p:spPr>
          <a:xfrm>
            <a:off x="3657600" y="1508760"/>
            <a:ext cx="5029200" cy="228600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米塞斯将经济学建立在"人的行为"这一普遍事实之上：</a:t>
            </a:r>
            <a:endParaRPr lang="en-US" sz="1300" dirty="0"/>
          </a:p>
          <a:p>
            <a:pPr indent="0" marL="0">
              <a:buNone/>
            </a:pPr>
            <a:r>
              <a:rPr lang="en-US" sz="8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人是有目的的行动者（purposeful action），而非单纯的反应者（mere reaction）</a:t>
            </a:r>
            <a:endParaRPr lang="en-US" sz="13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行动必然涉及选择与取舍（value judgments）</a:t>
            </a:r>
            <a:endParaRPr lang="en-US" sz="13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手段与目的之间的推理可被系统化研究</a:t>
            </a:r>
            <a:endParaRPr lang="en-US" sz="13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先验性：行动学公理不依赖经验验证</a:t>
            </a:r>
            <a:endParaRPr lang="en-US" sz="1300" dirty="0"/>
          </a:p>
        </p:txBody>
      </p:sp>
      <p:sp>
        <p:nvSpPr>
          <p:cNvPr id="11" name="Shape 9"/>
          <p:cNvSpPr/>
          <p:nvPr/>
        </p:nvSpPr>
        <p:spPr>
          <a:xfrm>
            <a:off x="457200" y="4023360"/>
            <a:ext cx="8229600" cy="640080"/>
          </a:xfrm>
          <a:prstGeom prst="rect">
            <a:avLst/>
          </a:prstGeom>
          <a:solidFill>
            <a:srgbClr val="780000"/>
          </a:solidFill>
          <a:ln/>
        </p:spPr>
      </p:sp>
      <p:sp>
        <p:nvSpPr>
          <p:cNvPr id="12" name="Text 10"/>
          <p:cNvSpPr/>
          <p:nvPr/>
        </p:nvSpPr>
        <p:spPr>
          <a:xfrm>
            <a:off x="640080" y="4114800"/>
            <a:ext cx="7863840" cy="457200"/>
          </a:xfrm>
          <a:prstGeom prst="rect">
            <a:avLst/>
          </a:prstGeom>
          <a:noFill/>
          <a:ln/>
        </p:spPr>
        <p:txBody>
          <a:bodyPr wrap="square" rtlCol="0" anchor="ctr"/>
          <a:lstStyle/>
          <a:p>
            <a:pPr indent="0" marL="0">
              <a:buNone/>
            </a:pPr>
            <a:r>
              <a:rPr lang="en-US" sz="1300" i="1" dirty="0">
                <a:solidFill>
                  <a:srgbClr val="FDF0D5"/>
                </a:solidFill>
                <a:latin typeface="Microsoft YaHei" pitchFamily="34" charset="0"/>
                <a:ea typeface="Microsoft YaHei" pitchFamily="34" charset="-122"/>
                <a:cs typeface="Microsoft YaHei" pitchFamily="34" charset="-120"/>
              </a:rPr>
              <a:t>"行动学是关于人的一般性科学，不涉及特定的历史时期或环境。"</a:t>
            </a:r>
            <a:endParaRPr lang="en-US" sz="1300" dirty="0"/>
          </a:p>
        </p:txBody>
      </p:sp>
      <p:sp>
        <p:nvSpPr>
          <p:cNvPr id="13" name="Shape 11"/>
          <p:cNvSpPr/>
          <p:nvPr/>
        </p:nvSpPr>
        <p:spPr>
          <a:xfrm>
            <a:off x="8503920" y="4663440"/>
            <a:ext cx="365760" cy="365760"/>
          </a:xfrm>
          <a:prstGeom prst="ellipse">
            <a:avLst/>
          </a:prstGeom>
          <a:solidFill>
            <a:srgbClr val="C1121F"/>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哈耶克与米塞斯的传承</a:t>
            </a:r>
            <a:endParaRPr lang="en-US" sz="2800" dirty="0"/>
          </a:p>
        </p:txBody>
      </p:sp>
      <p:sp>
        <p:nvSpPr>
          <p:cNvPr id="4" name="Shape 2"/>
          <p:cNvSpPr/>
          <p:nvPr/>
        </p:nvSpPr>
        <p:spPr>
          <a:xfrm>
            <a:off x="731520" y="1920240"/>
            <a:ext cx="7680960" cy="36576"/>
          </a:xfrm>
          <a:prstGeom prst="rect">
            <a:avLst/>
          </a:prstGeom>
          <a:solidFill>
            <a:srgbClr val="669BBC"/>
          </a:solidFill>
          <a:ln/>
        </p:spPr>
      </p:sp>
      <p:sp>
        <p:nvSpPr>
          <p:cNvPr id="5" name="Shape 3"/>
          <p:cNvSpPr/>
          <p:nvPr/>
        </p:nvSpPr>
        <p:spPr>
          <a:xfrm>
            <a:off x="1188720" y="1645920"/>
            <a:ext cx="548640" cy="548640"/>
          </a:xfrm>
          <a:prstGeom prst="ellipse">
            <a:avLst/>
          </a:prstGeom>
          <a:solidFill>
            <a:srgbClr val="780000"/>
          </a:solidFill>
          <a:ln/>
        </p:spPr>
      </p:sp>
      <p:sp>
        <p:nvSpPr>
          <p:cNvPr id="6" name="Text 4"/>
          <p:cNvSpPr/>
          <p:nvPr/>
        </p:nvSpPr>
        <p:spPr>
          <a:xfrm>
            <a:off x="1188720" y="164592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M</a:t>
            </a:r>
            <a:endParaRPr lang="en-US" sz="1800" dirty="0"/>
          </a:p>
        </p:txBody>
      </p:sp>
      <p:sp>
        <p:nvSpPr>
          <p:cNvPr id="7" name="Text 5"/>
          <p:cNvSpPr/>
          <p:nvPr/>
        </p:nvSpPr>
        <p:spPr>
          <a:xfrm>
            <a:off x="822960" y="2286000"/>
            <a:ext cx="1280160" cy="274320"/>
          </a:xfrm>
          <a:prstGeom prst="rect">
            <a:avLst/>
          </a:prstGeom>
          <a:noFill/>
          <a:ln/>
        </p:spPr>
        <p:txBody>
          <a:bodyPr wrap="square" rtlCol="0" anchor="ctr"/>
          <a:lstStyle/>
          <a:p>
            <a:pPr algn="ctr" indent="0" marL="0">
              <a:buNone/>
            </a:pPr>
            <a:r>
              <a:rPr lang="en-US" sz="1200" b="1" dirty="0">
                <a:solidFill>
                  <a:srgbClr val="780000"/>
                </a:solidFill>
                <a:latin typeface="Microsoft YaHei" pitchFamily="34" charset="0"/>
                <a:ea typeface="Microsoft YaHei" pitchFamily="34" charset="-122"/>
                <a:cs typeface="Microsoft YaHei" pitchFamily="34" charset="-120"/>
              </a:rPr>
              <a:t>米塞斯</a:t>
            </a:r>
            <a:endParaRPr lang="en-US" sz="1200" dirty="0"/>
          </a:p>
        </p:txBody>
      </p:sp>
      <p:sp>
        <p:nvSpPr>
          <p:cNvPr id="8" name="Text 6"/>
          <p:cNvSpPr/>
          <p:nvPr/>
        </p:nvSpPr>
        <p:spPr>
          <a:xfrm>
            <a:off x="822960" y="2560320"/>
            <a:ext cx="1280160" cy="228600"/>
          </a:xfrm>
          <a:prstGeom prst="rect">
            <a:avLst/>
          </a:prstGeom>
          <a:noFill/>
          <a:ln/>
        </p:spPr>
        <p:txBody>
          <a:bodyPr wrap="square" rtlCol="0" anchor="ctr"/>
          <a:lstStyle/>
          <a:p>
            <a:pPr algn="ctr" indent="0" marL="0">
              <a:buNone/>
            </a:pPr>
            <a:r>
              <a:rPr lang="en-US" sz="1000" dirty="0">
                <a:solidFill>
                  <a:srgbClr val="003049"/>
                </a:solidFill>
                <a:latin typeface="Calibri" pitchFamily="34" charset="0"/>
                <a:ea typeface="Calibri" pitchFamily="34" charset="-122"/>
                <a:cs typeface="Calibri" pitchFamily="34" charset="-120"/>
              </a:rPr>
              <a:t>1881-1973</a:t>
            </a:r>
            <a:endParaRPr lang="en-US" sz="1000" dirty="0"/>
          </a:p>
        </p:txBody>
      </p:sp>
      <p:sp>
        <p:nvSpPr>
          <p:cNvPr id="9" name="Shape 7"/>
          <p:cNvSpPr/>
          <p:nvPr/>
        </p:nvSpPr>
        <p:spPr>
          <a:xfrm>
            <a:off x="4114800" y="1645920"/>
            <a:ext cx="548640" cy="548640"/>
          </a:xfrm>
          <a:prstGeom prst="ellipse">
            <a:avLst/>
          </a:prstGeom>
          <a:solidFill>
            <a:srgbClr val="C1121F"/>
          </a:solidFill>
          <a:ln/>
        </p:spPr>
      </p:sp>
      <p:sp>
        <p:nvSpPr>
          <p:cNvPr id="10" name="Text 8"/>
          <p:cNvSpPr/>
          <p:nvPr/>
        </p:nvSpPr>
        <p:spPr>
          <a:xfrm>
            <a:off x="4114800" y="164592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H</a:t>
            </a:r>
            <a:endParaRPr lang="en-US" sz="1800" dirty="0"/>
          </a:p>
        </p:txBody>
      </p:sp>
      <p:sp>
        <p:nvSpPr>
          <p:cNvPr id="11" name="Text 9"/>
          <p:cNvSpPr/>
          <p:nvPr/>
        </p:nvSpPr>
        <p:spPr>
          <a:xfrm>
            <a:off x="3749040" y="2286000"/>
            <a:ext cx="1280160" cy="274320"/>
          </a:xfrm>
          <a:prstGeom prst="rect">
            <a:avLst/>
          </a:prstGeom>
          <a:noFill/>
          <a:ln/>
        </p:spPr>
        <p:txBody>
          <a:bodyPr wrap="square" rtlCol="0" anchor="ctr"/>
          <a:lstStyle/>
          <a:p>
            <a:pPr algn="ctr" indent="0" marL="0">
              <a:buNone/>
            </a:pPr>
            <a:r>
              <a:rPr lang="en-US" sz="1200" b="1" dirty="0">
                <a:solidFill>
                  <a:srgbClr val="780000"/>
                </a:solidFill>
                <a:latin typeface="Microsoft YaHei" pitchFamily="34" charset="0"/>
                <a:ea typeface="Microsoft YaHei" pitchFamily="34" charset="-122"/>
                <a:cs typeface="Microsoft YaHei" pitchFamily="34" charset="-120"/>
              </a:rPr>
              <a:t>哈耶克</a:t>
            </a:r>
            <a:endParaRPr lang="en-US" sz="1200" dirty="0"/>
          </a:p>
        </p:txBody>
      </p:sp>
      <p:sp>
        <p:nvSpPr>
          <p:cNvPr id="12" name="Text 10"/>
          <p:cNvSpPr/>
          <p:nvPr/>
        </p:nvSpPr>
        <p:spPr>
          <a:xfrm>
            <a:off x="3749040" y="2560320"/>
            <a:ext cx="1280160" cy="228600"/>
          </a:xfrm>
          <a:prstGeom prst="rect">
            <a:avLst/>
          </a:prstGeom>
          <a:noFill/>
          <a:ln/>
        </p:spPr>
        <p:txBody>
          <a:bodyPr wrap="square" rtlCol="0" anchor="ctr"/>
          <a:lstStyle/>
          <a:p>
            <a:pPr algn="ctr" indent="0" marL="0">
              <a:buNone/>
            </a:pPr>
            <a:r>
              <a:rPr lang="en-US" sz="1000" dirty="0">
                <a:solidFill>
                  <a:srgbClr val="003049"/>
                </a:solidFill>
                <a:latin typeface="Calibri" pitchFamily="34" charset="0"/>
                <a:ea typeface="Calibri" pitchFamily="34" charset="-122"/>
                <a:cs typeface="Calibri" pitchFamily="34" charset="-120"/>
              </a:rPr>
              <a:t>1899-1992</a:t>
            </a:r>
            <a:endParaRPr lang="en-US" sz="1000" dirty="0"/>
          </a:p>
        </p:txBody>
      </p:sp>
      <p:sp>
        <p:nvSpPr>
          <p:cNvPr id="13" name="Text 11"/>
          <p:cNvSpPr/>
          <p:nvPr/>
        </p:nvSpPr>
        <p:spPr>
          <a:xfrm>
            <a:off x="2011680" y="1691640"/>
            <a:ext cx="1828800" cy="457200"/>
          </a:xfrm>
          <a:prstGeom prst="rect">
            <a:avLst/>
          </a:prstGeom>
          <a:noFill/>
          <a:ln/>
        </p:spPr>
        <p:txBody>
          <a:bodyPr wrap="square" rtlCol="0" anchor="ctr"/>
          <a:lstStyle/>
          <a:p>
            <a:pPr algn="ctr" indent="0" marL="0">
              <a:buNone/>
            </a:pPr>
            <a:r>
              <a:rPr lang="en-US" sz="2400" dirty="0">
                <a:solidFill>
                  <a:srgbClr val="669BBC"/>
                </a:solidFill>
                <a:latin typeface="Arial" pitchFamily="34" charset="0"/>
                <a:ea typeface="Arial" pitchFamily="34" charset="-122"/>
                <a:cs typeface="Arial" pitchFamily="34" charset="-120"/>
              </a:rPr>
              <a:t>→</a:t>
            </a:r>
            <a:endParaRPr lang="en-US" sz="2400" dirty="0"/>
          </a:p>
        </p:txBody>
      </p:sp>
      <p:sp>
        <p:nvSpPr>
          <p:cNvPr id="14" name="Text 12"/>
          <p:cNvSpPr/>
          <p:nvPr/>
        </p:nvSpPr>
        <p:spPr>
          <a:xfrm>
            <a:off x="2468880" y="1325880"/>
            <a:ext cx="914400" cy="274320"/>
          </a:xfrm>
          <a:prstGeom prst="rect">
            <a:avLst/>
          </a:prstGeom>
          <a:noFill/>
          <a:ln/>
        </p:spPr>
        <p:txBody>
          <a:bodyPr wrap="square" rtlCol="0" anchor="ctr"/>
          <a:lstStyle/>
          <a:p>
            <a:pPr algn="ctr" indent="0" marL="0">
              <a:buNone/>
            </a:pPr>
            <a:r>
              <a:rPr lang="en-US" sz="1100" dirty="0">
                <a:solidFill>
                  <a:srgbClr val="669BBC"/>
                </a:solidFill>
                <a:latin typeface="Microsoft YaHei" pitchFamily="34" charset="0"/>
                <a:ea typeface="Microsoft YaHei" pitchFamily="34" charset="-122"/>
                <a:cs typeface="Microsoft YaHei" pitchFamily="34" charset="-120"/>
              </a:rPr>
              <a:t>师徒</a:t>
            </a:r>
            <a:endParaRPr lang="en-US" sz="1100" dirty="0"/>
          </a:p>
        </p:txBody>
      </p:sp>
      <p:sp>
        <p:nvSpPr>
          <p:cNvPr id="15" name="Text 13"/>
          <p:cNvSpPr/>
          <p:nvPr/>
        </p:nvSpPr>
        <p:spPr>
          <a:xfrm>
            <a:off x="457200" y="3017520"/>
            <a:ext cx="82296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共同的理论遗产</a:t>
            </a:r>
            <a:endParaRPr lang="en-US" sz="1700" dirty="0"/>
          </a:p>
        </p:txBody>
      </p:sp>
      <p:sp>
        <p:nvSpPr>
          <p:cNvPr id="16" name="Shape 14"/>
          <p:cNvSpPr/>
          <p:nvPr/>
        </p:nvSpPr>
        <p:spPr>
          <a:xfrm>
            <a:off x="457200" y="3474720"/>
            <a:ext cx="4023360" cy="128016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17" name="Shape 15"/>
          <p:cNvSpPr/>
          <p:nvPr/>
        </p:nvSpPr>
        <p:spPr>
          <a:xfrm>
            <a:off x="457200" y="3474720"/>
            <a:ext cx="54864" cy="1280160"/>
          </a:xfrm>
          <a:prstGeom prst="rect">
            <a:avLst/>
          </a:prstGeom>
          <a:solidFill>
            <a:srgbClr val="780000"/>
          </a:solidFill>
          <a:ln/>
        </p:spPr>
      </p:sp>
      <p:sp>
        <p:nvSpPr>
          <p:cNvPr id="18" name="Text 16"/>
          <p:cNvSpPr/>
          <p:nvPr/>
        </p:nvSpPr>
        <p:spPr>
          <a:xfrm>
            <a:off x="640080" y="3611880"/>
            <a:ext cx="3657600" cy="1005840"/>
          </a:xfrm>
          <a:prstGeom prst="rect">
            <a:avLst/>
          </a:prstGeom>
          <a:noFill/>
          <a:ln/>
        </p:spPr>
        <p:txBody>
          <a:bodyPr wrap="square" rtlCol="0" anchor="ctr"/>
          <a:lstStyle/>
          <a:p>
            <a:pPr indent="0" marL="0">
              <a:buNone/>
            </a:pPr>
            <a:r>
              <a:rPr lang="en-US" sz="1200" b="1" dirty="0">
                <a:solidFill>
                  <a:srgbClr val="003049"/>
                </a:solidFill>
                <a:latin typeface="Microsoft YaHei" pitchFamily="34" charset="0"/>
                <a:ea typeface="Microsoft YaHei" pitchFamily="34" charset="-122"/>
                <a:cs typeface="Microsoft YaHei" pitchFamily="34" charset="-120"/>
              </a:rPr>
              <a:t>方法论个人主义</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社会现象根植于个体行动与选择</a:t>
            </a:r>
            <a:endParaRPr lang="en-US" sz="12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b="1" dirty="0">
                <a:solidFill>
                  <a:srgbClr val="003049"/>
                </a:solidFill>
                <a:latin typeface="Microsoft YaHei" pitchFamily="34" charset="0"/>
                <a:ea typeface="Microsoft YaHei" pitchFamily="34" charset="-122"/>
                <a:cs typeface="Microsoft YaHei" pitchFamily="34" charset="-120"/>
              </a:rPr>
              <a:t>价格理论</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价格传递分散在不同个体间的知识</a:t>
            </a:r>
            <a:endParaRPr lang="en-US" sz="1200" dirty="0"/>
          </a:p>
        </p:txBody>
      </p:sp>
      <p:sp>
        <p:nvSpPr>
          <p:cNvPr id="19" name="Shape 17"/>
          <p:cNvSpPr/>
          <p:nvPr/>
        </p:nvSpPr>
        <p:spPr>
          <a:xfrm>
            <a:off x="4663440" y="3474720"/>
            <a:ext cx="4023360" cy="128016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0" name="Shape 18"/>
          <p:cNvSpPr/>
          <p:nvPr/>
        </p:nvSpPr>
        <p:spPr>
          <a:xfrm>
            <a:off x="4663440" y="3474720"/>
            <a:ext cx="54864" cy="1280160"/>
          </a:xfrm>
          <a:prstGeom prst="rect">
            <a:avLst/>
          </a:prstGeom>
          <a:solidFill>
            <a:srgbClr val="C1121F"/>
          </a:solidFill>
          <a:ln/>
        </p:spPr>
      </p:sp>
      <p:sp>
        <p:nvSpPr>
          <p:cNvPr id="21" name="Text 19"/>
          <p:cNvSpPr/>
          <p:nvPr/>
        </p:nvSpPr>
        <p:spPr>
          <a:xfrm>
            <a:off x="4846320" y="3611880"/>
            <a:ext cx="3657600" cy="1005840"/>
          </a:xfrm>
          <a:prstGeom prst="rect">
            <a:avLst/>
          </a:prstGeom>
          <a:noFill/>
          <a:ln/>
        </p:spPr>
        <p:txBody>
          <a:bodyPr wrap="square" rtlCol="0" anchor="ctr"/>
          <a:lstStyle/>
          <a:p>
            <a:pPr indent="0" marL="0">
              <a:buNone/>
            </a:pPr>
            <a:r>
              <a:rPr lang="en-US" sz="1200" b="1" dirty="0">
                <a:solidFill>
                  <a:srgbClr val="003049"/>
                </a:solidFill>
                <a:latin typeface="Microsoft YaHei" pitchFamily="34" charset="0"/>
                <a:ea typeface="Microsoft YaHei" pitchFamily="34" charset="-122"/>
                <a:cs typeface="Microsoft YaHei" pitchFamily="34" charset="-120"/>
              </a:rPr>
              <a:t>市场过程理论</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竞争性市场是发现程序（discovery procedure）</a:t>
            </a:r>
            <a:endParaRPr lang="en-US" sz="12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200" dirty="0"/>
          </a:p>
          <a:p>
            <a:pPr indent="0" marL="0">
              <a:buNone/>
            </a:pPr>
            <a:r>
              <a:rPr lang="en-US" sz="1200" b="1" dirty="0">
                <a:solidFill>
                  <a:srgbClr val="003049"/>
                </a:solidFill>
                <a:latin typeface="Microsoft YaHei" pitchFamily="34" charset="0"/>
                <a:ea typeface="Microsoft YaHei" pitchFamily="34" charset="-122"/>
                <a:cs typeface="Microsoft YaHei" pitchFamily="34" charset="-120"/>
              </a:rPr>
              <a:t>知识分工</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无人拥有全部知识，价格体系协调分散信息</a:t>
            </a:r>
            <a:endParaRPr lang="en-US" sz="1200" dirty="0"/>
          </a:p>
        </p:txBody>
      </p:sp>
      <p:sp>
        <p:nvSpPr>
          <p:cNvPr id="22" name="Shape 20"/>
          <p:cNvSpPr/>
          <p:nvPr/>
        </p:nvSpPr>
        <p:spPr>
          <a:xfrm>
            <a:off x="8503920" y="4663440"/>
            <a:ext cx="365760" cy="365760"/>
          </a:xfrm>
          <a:prstGeom prst="ellipse">
            <a:avLst/>
          </a:prstGeom>
          <a:solidFill>
            <a:srgbClr val="C1121F"/>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哈耶克：自发秩序理论</a:t>
            </a:r>
            <a:endParaRPr lang="en-US" sz="2800" dirty="0"/>
          </a:p>
        </p:txBody>
      </p:sp>
      <p:sp>
        <p:nvSpPr>
          <p:cNvPr id="4" name="Shape 2"/>
          <p:cNvSpPr/>
          <p:nvPr/>
        </p:nvSpPr>
        <p:spPr>
          <a:xfrm>
            <a:off x="457200" y="1005840"/>
            <a:ext cx="8229600" cy="822960"/>
          </a:xfrm>
          <a:prstGeom prst="rect">
            <a:avLst/>
          </a:prstGeom>
          <a:solidFill>
            <a:srgbClr val="C1121F">
              <a:alpha val="10000"/>
            </a:srgbClr>
          </a:solidFill>
          <a:ln/>
        </p:spPr>
      </p:sp>
      <p:sp>
        <p:nvSpPr>
          <p:cNvPr id="5" name="Text 3"/>
          <p:cNvSpPr/>
          <p:nvPr/>
        </p:nvSpPr>
        <p:spPr>
          <a:xfrm>
            <a:off x="640080" y="1097280"/>
            <a:ext cx="7863840" cy="640080"/>
          </a:xfrm>
          <a:prstGeom prst="rect">
            <a:avLst/>
          </a:prstGeom>
          <a:noFill/>
          <a:ln/>
        </p:spPr>
        <p:txBody>
          <a:bodyPr wrap="square" rtlCol="0" anchor="ctr"/>
          <a:lstStyle/>
          <a:p>
            <a:pPr indent="0" marL="0">
              <a:buNone/>
            </a:pPr>
            <a:r>
              <a:rPr lang="en-US" sz="1400" i="1" dirty="0">
                <a:solidFill>
                  <a:srgbClr val="780000"/>
                </a:solidFill>
                <a:latin typeface="Microsoft YaHei" pitchFamily="34" charset="0"/>
                <a:ea typeface="Microsoft YaHei" pitchFamily="34" charset="-122"/>
                <a:cs typeface="Microsoft YaHei" pitchFamily="34" charset="-120"/>
              </a:rPr>
              <a:t>"在各种人追求各自目标的活动中自发产生的秩序，</a:t>
            </a:r>
            <a:endParaRPr lang="en-US" sz="1400" dirty="0"/>
          </a:p>
          <a:p>
            <a:pPr indent="0" marL="0">
              <a:buNone/>
            </a:pPr>
            <a:r>
              <a:rPr lang="en-US" sz="1400" i="1" dirty="0">
                <a:solidFill>
                  <a:srgbClr val="780000"/>
                </a:solidFill>
                <a:latin typeface="Microsoft YaHei" pitchFamily="34" charset="0"/>
                <a:ea typeface="Microsoft YaHei" pitchFamily="34" charset="-122"/>
                <a:cs typeface="Microsoft YaHei" pitchFamily="34" charset="-120"/>
              </a:rPr>
              <a:t>是人类行动的结果，而非人类设计的结果。"</a:t>
            </a:r>
            <a:endParaRPr lang="en-US" sz="1400" dirty="0"/>
          </a:p>
        </p:txBody>
      </p:sp>
      <p:sp>
        <p:nvSpPr>
          <p:cNvPr id="6" name="Text 4"/>
          <p:cNvSpPr/>
          <p:nvPr/>
        </p:nvSpPr>
        <p:spPr>
          <a:xfrm>
            <a:off x="6858000" y="1554480"/>
            <a:ext cx="1828800" cy="228600"/>
          </a:xfrm>
          <a:prstGeom prst="rect">
            <a:avLst/>
          </a:prstGeom>
          <a:noFill/>
          <a:ln/>
        </p:spPr>
        <p:txBody>
          <a:bodyPr wrap="square" rtlCol="0" anchor="ctr"/>
          <a:lstStyle/>
          <a:p>
            <a:pPr algn="r" indent="0" marL="0">
              <a:buNone/>
            </a:pPr>
            <a:r>
              <a:rPr lang="en-US" sz="1100" dirty="0">
                <a:solidFill>
                  <a:srgbClr val="003049"/>
                </a:solidFill>
                <a:latin typeface="Calibri" pitchFamily="34" charset="0"/>
                <a:ea typeface="Calibri" pitchFamily="34" charset="-122"/>
                <a:cs typeface="Calibri" pitchFamily="34" charset="-120"/>
              </a:rPr>
              <a:t>— F.A. 哈耶克</a:t>
            </a:r>
            <a:endParaRPr lang="en-US" sz="1100" dirty="0"/>
          </a:p>
        </p:txBody>
      </p:sp>
      <p:sp>
        <p:nvSpPr>
          <p:cNvPr id="7" name="Shape 5"/>
          <p:cNvSpPr/>
          <p:nvPr/>
        </p:nvSpPr>
        <p:spPr>
          <a:xfrm>
            <a:off x="457200" y="2011680"/>
            <a:ext cx="4023360" cy="2194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8" name="Shape 6"/>
          <p:cNvSpPr/>
          <p:nvPr/>
        </p:nvSpPr>
        <p:spPr>
          <a:xfrm>
            <a:off x="457200" y="2011680"/>
            <a:ext cx="4023360" cy="457200"/>
          </a:xfrm>
          <a:prstGeom prst="rect">
            <a:avLst/>
          </a:prstGeom>
          <a:solidFill>
            <a:srgbClr val="780000"/>
          </a:solidFill>
          <a:ln/>
        </p:spPr>
      </p:sp>
      <p:sp>
        <p:nvSpPr>
          <p:cNvPr id="9" name="Text 7"/>
          <p:cNvSpPr/>
          <p:nvPr/>
        </p:nvSpPr>
        <p:spPr>
          <a:xfrm>
            <a:off x="640080" y="2084832"/>
            <a:ext cx="3657600" cy="32004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Kosmos：自发秩序</a:t>
            </a:r>
            <a:endParaRPr lang="en-US" sz="1500" dirty="0"/>
          </a:p>
        </p:txBody>
      </p:sp>
      <p:sp>
        <p:nvSpPr>
          <p:cNvPr id="10" name="Text 8"/>
          <p:cNvSpPr/>
          <p:nvPr/>
        </p:nvSpPr>
        <p:spPr>
          <a:xfrm>
            <a:off x="640080" y="2560320"/>
            <a:ext cx="3657600" cy="15544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希腊语原意："秩序"</a:t>
            </a:r>
            <a:endParaRPr lang="en-US" sz="1200" dirty="0"/>
          </a:p>
          <a:p>
            <a:pPr indent="0" marL="0">
              <a:buNone/>
            </a:pPr>
            <a:r>
              <a:rPr lang="en-US" sz="600" dirty="0">
                <a:solidFill>
                  <a:srgbClr val="780000"/>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200" dirty="0">
                <a:solidFill>
                  <a:srgbClr val="780000"/>
                </a:solidFill>
                <a:latin typeface="Microsoft YaHei" pitchFamily="34" charset="0"/>
                <a:ea typeface="Microsoft YaHei" pitchFamily="34" charset="-122"/>
                <a:cs typeface="Microsoft YaHei" pitchFamily="34" charset="-120"/>
              </a:rPr>
              <a:t>自发形成的社会结构</a:t>
            </a:r>
            <a:endParaRPr lang="en-US" sz="1200" dirty="0"/>
          </a:p>
          <a:p>
            <a:pPr marL="342900" indent="-342900">
              <a:buSzPct val="100000"/>
              <a:buChar char="•"/>
            </a:pPr>
            <a:r>
              <a:rPr lang="en-US" sz="1200" dirty="0">
                <a:solidFill>
                  <a:srgbClr val="780000"/>
                </a:solidFill>
                <a:latin typeface="Microsoft YaHei" pitchFamily="34" charset="0"/>
                <a:ea typeface="Microsoft YaHei" pitchFamily="34" charset="-122"/>
                <a:cs typeface="Microsoft YaHei" pitchFamily="34" charset="-120"/>
              </a:rPr>
              <a:t>语言、道德、法律、市场</a:t>
            </a:r>
            <a:endParaRPr lang="en-US" sz="1200" dirty="0"/>
          </a:p>
          <a:p>
            <a:pPr indent="0" marL="0">
              <a:buNone/>
            </a:pPr>
            <a:r>
              <a:rPr lang="en-US" sz="600" dirty="0">
                <a:solidFill>
                  <a:srgbClr val="780000"/>
                </a:solidFill>
                <a:latin typeface="Microsoft YaHei" pitchFamily="34" charset="0"/>
                <a:ea typeface="Microsoft YaHei" pitchFamily="34" charset="-122"/>
                <a:cs typeface="Microsoft YaHei" pitchFamily="34" charset="-120"/>
              </a:rPr>
              <a:t>
</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例：普通法（common law）不是任何立法机构的发明，而是长期实践中自发演化而来</a:t>
            </a:r>
            <a:endParaRPr lang="en-US" sz="1200" dirty="0"/>
          </a:p>
        </p:txBody>
      </p:sp>
      <p:sp>
        <p:nvSpPr>
          <p:cNvPr id="11" name="Shape 9"/>
          <p:cNvSpPr/>
          <p:nvPr/>
        </p:nvSpPr>
        <p:spPr>
          <a:xfrm>
            <a:off x="4663440" y="2011680"/>
            <a:ext cx="4023360" cy="2194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4663440" y="2011680"/>
            <a:ext cx="4023360" cy="457200"/>
          </a:xfrm>
          <a:prstGeom prst="rect">
            <a:avLst/>
          </a:prstGeom>
          <a:solidFill>
            <a:srgbClr val="C1121F"/>
          </a:solidFill>
          <a:ln/>
        </p:spPr>
      </p:sp>
      <p:sp>
        <p:nvSpPr>
          <p:cNvPr id="13" name="Text 11"/>
          <p:cNvSpPr/>
          <p:nvPr/>
        </p:nvSpPr>
        <p:spPr>
          <a:xfrm>
            <a:off x="4846320" y="2084832"/>
            <a:ext cx="3657600" cy="32004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Taxis：组织秩序</a:t>
            </a:r>
            <a:endParaRPr lang="en-US" sz="1500" dirty="0"/>
          </a:p>
        </p:txBody>
      </p:sp>
      <p:sp>
        <p:nvSpPr>
          <p:cNvPr id="14" name="Text 12"/>
          <p:cNvSpPr/>
          <p:nvPr/>
        </p:nvSpPr>
        <p:spPr>
          <a:xfrm>
            <a:off x="4846320" y="2560320"/>
            <a:ext cx="3657600" cy="15544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希腊语原意："安排"</a:t>
            </a:r>
            <a:endParaRPr lang="en-US" sz="1200" dirty="0"/>
          </a:p>
          <a:p>
            <a:pPr indent="0" marL="0">
              <a:buNone/>
            </a:pPr>
            <a:r>
              <a:rPr lang="en-US" sz="600" dirty="0">
                <a:solidFill>
                  <a:srgbClr val="780000"/>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200" dirty="0">
                <a:solidFill>
                  <a:srgbClr val="780000"/>
                </a:solidFill>
                <a:latin typeface="Microsoft YaHei" pitchFamily="34" charset="0"/>
                <a:ea typeface="Microsoft YaHei" pitchFamily="34" charset="-122"/>
                <a:cs typeface="Microsoft YaHei" pitchFamily="34" charset="-120"/>
              </a:rPr>
              <a:t>刻意设计的社会结构</a:t>
            </a:r>
            <a:endParaRPr lang="en-US" sz="1200" dirty="0"/>
          </a:p>
          <a:p>
            <a:pPr marL="342900" indent="-342900">
              <a:buSzPct val="100000"/>
              <a:buChar char="•"/>
            </a:pPr>
            <a:r>
              <a:rPr lang="en-US" sz="1200" dirty="0">
                <a:solidFill>
                  <a:srgbClr val="780000"/>
                </a:solidFill>
                <a:latin typeface="Microsoft YaHei" pitchFamily="34" charset="0"/>
                <a:ea typeface="Microsoft YaHei" pitchFamily="34" charset="-122"/>
                <a:cs typeface="Microsoft YaHei" pitchFamily="34" charset="-120"/>
              </a:rPr>
              <a:t>企业、政府、军队</a:t>
            </a:r>
            <a:endParaRPr lang="en-US" sz="1200" dirty="0"/>
          </a:p>
          <a:p>
            <a:pPr indent="0" marL="0">
              <a:buNone/>
            </a:pPr>
            <a:r>
              <a:rPr lang="en-US" sz="600" dirty="0">
                <a:solidFill>
                  <a:srgbClr val="780000"/>
                </a:solidFill>
                <a:latin typeface="Microsoft YaHei" pitchFamily="34" charset="0"/>
                <a:ea typeface="Microsoft YaHei" pitchFamily="34" charset="-122"/>
                <a:cs typeface="Microsoft YaHei" pitchFamily="34" charset="-120"/>
              </a:rPr>
              <a:t>
</a:t>
            </a:r>
            <a:endParaRPr lang="en-US" sz="12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例：公司组织架构由管理层设计，明确的等级制度和规章制度</a:t>
            </a:r>
            <a:endParaRPr lang="en-US" sz="1200" dirty="0"/>
          </a:p>
        </p:txBody>
      </p:sp>
      <p:sp>
        <p:nvSpPr>
          <p:cNvPr id="15" name="Text 13"/>
          <p:cNvSpPr/>
          <p:nvPr/>
        </p:nvSpPr>
        <p:spPr>
          <a:xfrm>
            <a:off x="457200" y="4389120"/>
            <a:ext cx="8229600" cy="320040"/>
          </a:xfrm>
          <a:prstGeom prst="rect">
            <a:avLst/>
          </a:prstGeom>
          <a:noFill/>
          <a:ln/>
        </p:spPr>
        <p:txBody>
          <a:bodyPr wrap="square" rtlCol="0" anchor="ctr"/>
          <a:lstStyle/>
          <a:p>
            <a:pPr algn="ctr" indent="0" marL="0">
              <a:buNone/>
            </a:pPr>
            <a:r>
              <a:rPr lang="en-US" sz="1400" b="1" dirty="0">
                <a:solidFill>
                  <a:srgbClr val="C1121F"/>
                </a:solidFill>
                <a:latin typeface="Microsoft YaHei" pitchFamily="34" charset="0"/>
                <a:ea typeface="Microsoft YaHei" pitchFamily="34" charset="-122"/>
                <a:cs typeface="Microsoft YaHei" pitchFamily="34" charset="-120"/>
              </a:rPr>
              <a:t>关键区分：自发秩序不能被取代，只能被破坏</a:t>
            </a:r>
            <a:endParaRPr lang="en-US" sz="1400" dirty="0"/>
          </a:p>
        </p:txBody>
      </p:sp>
      <p:sp>
        <p:nvSpPr>
          <p:cNvPr id="16" name="Shape 14"/>
          <p:cNvSpPr/>
          <p:nvPr/>
        </p:nvSpPr>
        <p:spPr>
          <a:xfrm>
            <a:off x="8503920" y="4663440"/>
            <a:ext cx="365760" cy="365760"/>
          </a:xfrm>
          <a:prstGeom prst="ellipse">
            <a:avLst/>
          </a:prstGeom>
          <a:solidFill>
            <a:srgbClr val="C1121F"/>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哈耶克的自发秩序</a:t>
            </a:r>
            <a:endParaRPr lang="en-US" sz="2800" dirty="0"/>
          </a:p>
        </p:txBody>
      </p:sp>
      <p:sp>
        <p:nvSpPr>
          <p:cNvPr id="4" name="Text 2"/>
          <p:cNvSpPr/>
          <p:nvPr/>
        </p:nvSpPr>
        <p:spPr>
          <a:xfrm>
            <a:off x="457200" y="1005840"/>
            <a:ext cx="82296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自发秩序的形成机制</a:t>
            </a:r>
            <a:endParaRPr lang="en-US" sz="1700" dirty="0"/>
          </a:p>
        </p:txBody>
      </p:sp>
      <p:sp>
        <p:nvSpPr>
          <p:cNvPr id="5" name="Shape 3"/>
          <p:cNvSpPr/>
          <p:nvPr/>
        </p:nvSpPr>
        <p:spPr>
          <a:xfrm>
            <a:off x="457200" y="1554480"/>
            <a:ext cx="1828800" cy="914400"/>
          </a:xfrm>
          <a:prstGeom prst="rect">
            <a:avLst/>
          </a:prstGeom>
          <a:solidFill>
            <a:srgbClr val="669BBC">
              <a:alpha val="70000"/>
            </a:srgbClr>
          </a:solidFill>
          <a:ln/>
        </p:spPr>
      </p:sp>
      <p:sp>
        <p:nvSpPr>
          <p:cNvPr id="6" name="Text 4"/>
          <p:cNvSpPr/>
          <p:nvPr/>
        </p:nvSpPr>
        <p:spPr>
          <a:xfrm>
            <a:off x="457200" y="1554480"/>
            <a:ext cx="1828800" cy="91440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个体</a:t>
            </a:r>
            <a:endParaRPr lang="en-US" sz="1300" dirty="0"/>
          </a:p>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追求目标</a:t>
            </a:r>
            <a:endParaRPr lang="en-US" sz="1300" dirty="0"/>
          </a:p>
        </p:txBody>
      </p:sp>
      <p:sp>
        <p:nvSpPr>
          <p:cNvPr id="7" name="Text 5"/>
          <p:cNvSpPr/>
          <p:nvPr/>
        </p:nvSpPr>
        <p:spPr>
          <a:xfrm>
            <a:off x="2286000" y="1554480"/>
            <a:ext cx="457200" cy="914400"/>
          </a:xfrm>
          <a:prstGeom prst="rect">
            <a:avLst/>
          </a:prstGeom>
          <a:noFill/>
          <a:ln/>
        </p:spPr>
        <p:txBody>
          <a:bodyPr wrap="square" rtlCol="0" anchor="ctr"/>
          <a:lstStyle/>
          <a:p>
            <a:pPr algn="ctr" indent="0" marL="0">
              <a:buNone/>
            </a:pPr>
            <a:r>
              <a:rPr lang="en-US" sz="2800" dirty="0">
                <a:solidFill>
                  <a:srgbClr val="C1121F"/>
                </a:solidFill>
                <a:latin typeface="Arial" pitchFamily="34" charset="0"/>
                <a:ea typeface="Arial" pitchFamily="34" charset="-122"/>
                <a:cs typeface="Arial" pitchFamily="34" charset="-120"/>
              </a:rPr>
              <a:t>→</a:t>
            </a:r>
            <a:endParaRPr lang="en-US" sz="2800" dirty="0"/>
          </a:p>
        </p:txBody>
      </p:sp>
      <p:sp>
        <p:nvSpPr>
          <p:cNvPr id="8" name="Shape 6"/>
          <p:cNvSpPr/>
          <p:nvPr/>
        </p:nvSpPr>
        <p:spPr>
          <a:xfrm>
            <a:off x="2743200" y="1554480"/>
            <a:ext cx="1828800" cy="914400"/>
          </a:xfrm>
          <a:prstGeom prst="rect">
            <a:avLst/>
          </a:prstGeom>
          <a:solidFill>
            <a:srgbClr val="C1121F">
              <a:alpha val="30000"/>
            </a:srgbClr>
          </a:solidFill>
          <a:ln/>
        </p:spPr>
      </p:sp>
      <p:sp>
        <p:nvSpPr>
          <p:cNvPr id="9" name="Text 7"/>
          <p:cNvSpPr/>
          <p:nvPr/>
        </p:nvSpPr>
        <p:spPr>
          <a:xfrm>
            <a:off x="2743200" y="1554480"/>
            <a:ext cx="1828800" cy="91440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互动与</a:t>
            </a:r>
            <a:endParaRPr lang="en-US" sz="1300" dirty="0"/>
          </a:p>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竞争</a:t>
            </a:r>
            <a:endParaRPr lang="en-US" sz="1300" dirty="0"/>
          </a:p>
        </p:txBody>
      </p:sp>
      <p:sp>
        <p:nvSpPr>
          <p:cNvPr id="10" name="Text 8"/>
          <p:cNvSpPr/>
          <p:nvPr/>
        </p:nvSpPr>
        <p:spPr>
          <a:xfrm>
            <a:off x="4572000" y="1554480"/>
            <a:ext cx="457200" cy="914400"/>
          </a:xfrm>
          <a:prstGeom prst="rect">
            <a:avLst/>
          </a:prstGeom>
          <a:noFill/>
          <a:ln/>
        </p:spPr>
        <p:txBody>
          <a:bodyPr wrap="square" rtlCol="0" anchor="ctr"/>
          <a:lstStyle/>
          <a:p>
            <a:pPr algn="ctr" indent="0" marL="0">
              <a:buNone/>
            </a:pPr>
            <a:r>
              <a:rPr lang="en-US" sz="2800" dirty="0">
                <a:solidFill>
                  <a:srgbClr val="C1121F"/>
                </a:solidFill>
                <a:latin typeface="Arial" pitchFamily="34" charset="0"/>
                <a:ea typeface="Arial" pitchFamily="34" charset="-122"/>
                <a:cs typeface="Arial" pitchFamily="34" charset="-120"/>
              </a:rPr>
              <a:t>→</a:t>
            </a:r>
            <a:endParaRPr lang="en-US" sz="2800" dirty="0"/>
          </a:p>
        </p:txBody>
      </p:sp>
      <p:sp>
        <p:nvSpPr>
          <p:cNvPr id="11" name="Shape 9"/>
          <p:cNvSpPr/>
          <p:nvPr/>
        </p:nvSpPr>
        <p:spPr>
          <a:xfrm>
            <a:off x="5029200" y="1554480"/>
            <a:ext cx="1828800" cy="914400"/>
          </a:xfrm>
          <a:prstGeom prst="rect">
            <a:avLst/>
          </a:prstGeom>
          <a:solidFill>
            <a:srgbClr val="780000">
              <a:alpha val="20000"/>
            </a:srgbClr>
          </a:solidFill>
          <a:ln/>
        </p:spPr>
      </p:sp>
      <p:sp>
        <p:nvSpPr>
          <p:cNvPr id="12" name="Text 10"/>
          <p:cNvSpPr/>
          <p:nvPr/>
        </p:nvSpPr>
        <p:spPr>
          <a:xfrm>
            <a:off x="5029200" y="1554480"/>
            <a:ext cx="1828800" cy="91440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规则</a:t>
            </a:r>
            <a:endParaRPr lang="en-US" sz="1300" dirty="0"/>
          </a:p>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演化</a:t>
            </a:r>
            <a:endParaRPr lang="en-US" sz="1300" dirty="0"/>
          </a:p>
        </p:txBody>
      </p:sp>
      <p:sp>
        <p:nvSpPr>
          <p:cNvPr id="13" name="Text 11"/>
          <p:cNvSpPr/>
          <p:nvPr/>
        </p:nvSpPr>
        <p:spPr>
          <a:xfrm>
            <a:off x="6858000" y="1554480"/>
            <a:ext cx="457200" cy="914400"/>
          </a:xfrm>
          <a:prstGeom prst="rect">
            <a:avLst/>
          </a:prstGeom>
          <a:noFill/>
          <a:ln/>
        </p:spPr>
        <p:txBody>
          <a:bodyPr wrap="square" rtlCol="0" anchor="ctr"/>
          <a:lstStyle/>
          <a:p>
            <a:pPr algn="ctr" indent="0" marL="0">
              <a:buNone/>
            </a:pPr>
            <a:r>
              <a:rPr lang="en-US" sz="2800" dirty="0">
                <a:solidFill>
                  <a:srgbClr val="C1121F"/>
                </a:solidFill>
                <a:latin typeface="Arial" pitchFamily="34" charset="0"/>
                <a:ea typeface="Arial" pitchFamily="34" charset="-122"/>
                <a:cs typeface="Arial" pitchFamily="34" charset="-120"/>
              </a:rPr>
              <a:t>→</a:t>
            </a:r>
            <a:endParaRPr lang="en-US" sz="2800" dirty="0"/>
          </a:p>
        </p:txBody>
      </p:sp>
      <p:sp>
        <p:nvSpPr>
          <p:cNvPr id="14" name="Shape 12"/>
          <p:cNvSpPr/>
          <p:nvPr/>
        </p:nvSpPr>
        <p:spPr>
          <a:xfrm>
            <a:off x="7315200" y="1554480"/>
            <a:ext cx="1554480" cy="914400"/>
          </a:xfrm>
          <a:prstGeom prst="rect">
            <a:avLst/>
          </a:prstGeom>
          <a:solidFill>
            <a:srgbClr val="780000"/>
          </a:solidFill>
          <a:ln/>
        </p:spPr>
      </p:sp>
      <p:sp>
        <p:nvSpPr>
          <p:cNvPr id="15" name="Text 13"/>
          <p:cNvSpPr/>
          <p:nvPr/>
        </p:nvSpPr>
        <p:spPr>
          <a:xfrm>
            <a:off x="7315200" y="1554480"/>
            <a:ext cx="1554480" cy="91440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自发</a:t>
            </a:r>
            <a:endParaRPr lang="en-US" sz="1300" dirty="0"/>
          </a:p>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秩序</a:t>
            </a:r>
            <a:endParaRPr lang="en-US" sz="1300" dirty="0"/>
          </a:p>
        </p:txBody>
      </p:sp>
      <p:sp>
        <p:nvSpPr>
          <p:cNvPr id="16" name="Text 14"/>
          <p:cNvSpPr/>
          <p:nvPr/>
        </p:nvSpPr>
        <p:spPr>
          <a:xfrm>
            <a:off x="457200" y="2697480"/>
            <a:ext cx="8229600" cy="320040"/>
          </a:xfrm>
          <a:prstGeom prst="rect">
            <a:avLst/>
          </a:prstGeom>
          <a:noFill/>
          <a:ln/>
        </p:spPr>
        <p:txBody>
          <a:bodyPr wrap="square" rtlCol="0" anchor="ctr"/>
          <a:lstStyle/>
          <a:p>
            <a:pPr indent="0" marL="0">
              <a:buNone/>
            </a:pPr>
            <a:r>
              <a:rPr lang="en-US" sz="1500" b="1" dirty="0">
                <a:solidFill>
                  <a:srgbClr val="780000"/>
                </a:solidFill>
                <a:latin typeface="Microsoft YaHei" pitchFamily="34" charset="0"/>
                <a:ea typeface="Microsoft YaHei" pitchFamily="34" charset="-122"/>
                <a:cs typeface="Microsoft YaHei" pitchFamily="34" charset="-120"/>
              </a:rPr>
              <a:t>自发秩序的核心特征</a:t>
            </a:r>
            <a:endParaRPr lang="en-US" sz="1500" dirty="0"/>
          </a:p>
        </p:txBody>
      </p:sp>
      <p:sp>
        <p:nvSpPr>
          <p:cNvPr id="17" name="Shape 15"/>
          <p:cNvSpPr/>
          <p:nvPr/>
        </p:nvSpPr>
        <p:spPr>
          <a:xfrm>
            <a:off x="457200" y="3108960"/>
            <a:ext cx="4023360" cy="82296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18" name="Shape 16"/>
          <p:cNvSpPr/>
          <p:nvPr/>
        </p:nvSpPr>
        <p:spPr>
          <a:xfrm>
            <a:off x="457200" y="3108960"/>
            <a:ext cx="54864" cy="822960"/>
          </a:xfrm>
          <a:prstGeom prst="rect">
            <a:avLst/>
          </a:prstGeom>
          <a:solidFill>
            <a:srgbClr val="C1121F"/>
          </a:solidFill>
          <a:ln/>
        </p:spPr>
      </p:sp>
      <p:sp>
        <p:nvSpPr>
          <p:cNvPr id="19" name="Text 17"/>
          <p:cNvSpPr/>
          <p:nvPr/>
        </p:nvSpPr>
        <p:spPr>
          <a:xfrm>
            <a:off x="640080" y="3200400"/>
            <a:ext cx="374904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无明确领导者</a:t>
            </a:r>
            <a:endParaRPr lang="en-US" sz="1300" dirty="0"/>
          </a:p>
        </p:txBody>
      </p:sp>
      <p:sp>
        <p:nvSpPr>
          <p:cNvPr id="20" name="Text 18"/>
          <p:cNvSpPr/>
          <p:nvPr/>
        </p:nvSpPr>
        <p:spPr>
          <a:xfrm>
            <a:off x="640080" y="3520440"/>
            <a:ext cx="374904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没有任何中央权威在控制整个系统</a:t>
            </a:r>
            <a:endParaRPr lang="en-US" sz="1100" dirty="0"/>
          </a:p>
        </p:txBody>
      </p:sp>
      <p:sp>
        <p:nvSpPr>
          <p:cNvPr id="21" name="Shape 19"/>
          <p:cNvSpPr/>
          <p:nvPr/>
        </p:nvSpPr>
        <p:spPr>
          <a:xfrm>
            <a:off x="4663440" y="3108960"/>
            <a:ext cx="4023360" cy="82296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22" name="Shape 20"/>
          <p:cNvSpPr/>
          <p:nvPr/>
        </p:nvSpPr>
        <p:spPr>
          <a:xfrm>
            <a:off x="4663440" y="3108960"/>
            <a:ext cx="54864" cy="822960"/>
          </a:xfrm>
          <a:prstGeom prst="rect">
            <a:avLst/>
          </a:prstGeom>
          <a:solidFill>
            <a:srgbClr val="C1121F"/>
          </a:solidFill>
          <a:ln/>
        </p:spPr>
      </p:sp>
      <p:sp>
        <p:nvSpPr>
          <p:cNvPr id="23" name="Text 21"/>
          <p:cNvSpPr/>
          <p:nvPr/>
        </p:nvSpPr>
        <p:spPr>
          <a:xfrm>
            <a:off x="4846320" y="3200400"/>
            <a:ext cx="374904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依赖规则而非指令</a:t>
            </a:r>
            <a:endParaRPr lang="en-US" sz="1300" dirty="0"/>
          </a:p>
        </p:txBody>
      </p:sp>
      <p:sp>
        <p:nvSpPr>
          <p:cNvPr id="24" name="Text 22"/>
          <p:cNvSpPr/>
          <p:nvPr/>
        </p:nvSpPr>
        <p:spPr>
          <a:xfrm>
            <a:off x="4846320" y="3520440"/>
            <a:ext cx="374904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参与者遵守普遍规则，而非接受命令</a:t>
            </a:r>
            <a:endParaRPr lang="en-US" sz="1100" dirty="0"/>
          </a:p>
        </p:txBody>
      </p:sp>
      <p:sp>
        <p:nvSpPr>
          <p:cNvPr id="25" name="Shape 23"/>
          <p:cNvSpPr/>
          <p:nvPr/>
        </p:nvSpPr>
        <p:spPr>
          <a:xfrm>
            <a:off x="457200" y="4023360"/>
            <a:ext cx="4023360" cy="82296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26" name="Shape 24"/>
          <p:cNvSpPr/>
          <p:nvPr/>
        </p:nvSpPr>
        <p:spPr>
          <a:xfrm>
            <a:off x="457200" y="4023360"/>
            <a:ext cx="54864" cy="822960"/>
          </a:xfrm>
          <a:prstGeom prst="rect">
            <a:avLst/>
          </a:prstGeom>
          <a:solidFill>
            <a:srgbClr val="C1121F"/>
          </a:solidFill>
          <a:ln/>
        </p:spPr>
      </p:sp>
      <p:sp>
        <p:nvSpPr>
          <p:cNvPr id="27" name="Text 25"/>
          <p:cNvSpPr/>
          <p:nvPr/>
        </p:nvSpPr>
        <p:spPr>
          <a:xfrm>
            <a:off x="640080" y="4114800"/>
            <a:ext cx="374904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信息分散化</a:t>
            </a:r>
            <a:endParaRPr lang="en-US" sz="1300" dirty="0"/>
          </a:p>
        </p:txBody>
      </p:sp>
      <p:sp>
        <p:nvSpPr>
          <p:cNvPr id="28" name="Text 26"/>
          <p:cNvSpPr/>
          <p:nvPr/>
        </p:nvSpPr>
        <p:spPr>
          <a:xfrm>
            <a:off x="640080" y="4434840"/>
            <a:ext cx="374904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每个参与者只拥有部分信息，整体协调自发产生</a:t>
            </a:r>
            <a:endParaRPr lang="en-US" sz="1100" dirty="0"/>
          </a:p>
        </p:txBody>
      </p:sp>
      <p:sp>
        <p:nvSpPr>
          <p:cNvPr id="29" name="Shape 27"/>
          <p:cNvSpPr/>
          <p:nvPr/>
        </p:nvSpPr>
        <p:spPr>
          <a:xfrm>
            <a:off x="4663440" y="4023360"/>
            <a:ext cx="4023360" cy="82296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30" name="Shape 28"/>
          <p:cNvSpPr/>
          <p:nvPr/>
        </p:nvSpPr>
        <p:spPr>
          <a:xfrm>
            <a:off x="4663440" y="4023360"/>
            <a:ext cx="54864" cy="822960"/>
          </a:xfrm>
          <a:prstGeom prst="rect">
            <a:avLst/>
          </a:prstGeom>
          <a:solidFill>
            <a:srgbClr val="C1121F"/>
          </a:solidFill>
          <a:ln/>
        </p:spPr>
      </p:sp>
      <p:sp>
        <p:nvSpPr>
          <p:cNvPr id="31" name="Text 29"/>
          <p:cNvSpPr/>
          <p:nvPr/>
        </p:nvSpPr>
        <p:spPr>
          <a:xfrm>
            <a:off x="4846320" y="4114800"/>
            <a:ext cx="374904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演化与适应</a:t>
            </a:r>
            <a:endParaRPr lang="en-US" sz="1300" dirty="0"/>
          </a:p>
        </p:txBody>
      </p:sp>
      <p:sp>
        <p:nvSpPr>
          <p:cNvPr id="32" name="Text 30"/>
          <p:cNvSpPr/>
          <p:nvPr/>
        </p:nvSpPr>
        <p:spPr>
          <a:xfrm>
            <a:off x="4846320" y="4434840"/>
            <a:ext cx="374904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不适用的规则会被淘汰，适应性强的规则留存</a:t>
            </a:r>
            <a:endParaRPr lang="en-US" sz="1100" dirty="0"/>
          </a:p>
        </p:txBody>
      </p:sp>
      <p:sp>
        <p:nvSpPr>
          <p:cNvPr id="33" name="Shape 31"/>
          <p:cNvSpPr/>
          <p:nvPr/>
        </p:nvSpPr>
        <p:spPr>
          <a:xfrm>
            <a:off x="8503920" y="4663440"/>
            <a:ext cx="365760" cy="365760"/>
          </a:xfrm>
          <a:prstGeom prst="ellipse">
            <a:avLst/>
          </a:prstGeom>
          <a:solidFill>
            <a:srgbClr val="C1121F"/>
          </a:solidFill>
          <a:ln/>
        </p:spPr>
      </p:sp>
      <p:sp>
        <p:nvSpPr>
          <p:cNvPr id="34" name="Text 3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扩展秩序的三个层次</a:t>
            </a:r>
            <a:endParaRPr lang="en-US" sz="2800" dirty="0"/>
          </a:p>
        </p:txBody>
      </p:sp>
      <p:sp>
        <p:nvSpPr>
          <p:cNvPr id="4" name="Text 2"/>
          <p:cNvSpPr/>
          <p:nvPr/>
        </p:nvSpPr>
        <p:spPr>
          <a:xfrm>
            <a:off x="457200" y="960120"/>
            <a:ext cx="8229600" cy="274320"/>
          </a:xfrm>
          <a:prstGeom prst="rect">
            <a:avLst/>
          </a:prstGeom>
          <a:noFill/>
          <a:ln/>
        </p:spPr>
        <p:txBody>
          <a:bodyPr wrap="square" rtlCol="0" anchor="ctr"/>
          <a:lstStyle/>
          <a:p>
            <a:pPr indent="0" marL="0">
              <a:buNone/>
            </a:pPr>
            <a:r>
              <a:rPr lang="en-US" sz="1200" i="1" dirty="0">
                <a:solidFill>
                  <a:srgbClr val="669BBC"/>
                </a:solidFill>
                <a:latin typeface="Georgia" pitchFamily="34" charset="0"/>
                <a:ea typeface="Georgia" pitchFamily="34" charset="-122"/>
                <a:cs typeface="Georgia" pitchFamily="34" charset="-120"/>
              </a:rPr>
              <a:t>《致命的自负》（The Fatal Conceit）1988</a:t>
            </a:r>
            <a:endParaRPr lang="en-US" sz="1200" dirty="0"/>
          </a:p>
        </p:txBody>
      </p:sp>
      <p:sp>
        <p:nvSpPr>
          <p:cNvPr id="5" name="Shape 3"/>
          <p:cNvSpPr/>
          <p:nvPr/>
        </p:nvSpPr>
        <p:spPr>
          <a:xfrm>
            <a:off x="1828800" y="1463040"/>
            <a:ext cx="2377440" cy="914400"/>
          </a:xfrm>
          <a:prstGeom prst="rect">
            <a:avLst/>
          </a:prstGeom>
          <a:solidFill>
            <a:srgbClr val="780000"/>
          </a:solidFill>
          <a:ln/>
        </p:spPr>
      </p:sp>
      <p:sp>
        <p:nvSpPr>
          <p:cNvPr id="6" name="Text 4"/>
          <p:cNvSpPr/>
          <p:nvPr/>
        </p:nvSpPr>
        <p:spPr>
          <a:xfrm>
            <a:off x="1828800" y="1554480"/>
            <a:ext cx="2377440" cy="32004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扩展秩序</a:t>
            </a:r>
            <a:endParaRPr lang="en-US" sz="1400" dirty="0"/>
          </a:p>
        </p:txBody>
      </p:sp>
      <p:sp>
        <p:nvSpPr>
          <p:cNvPr id="7" name="Text 5"/>
          <p:cNvSpPr/>
          <p:nvPr/>
        </p:nvSpPr>
        <p:spPr>
          <a:xfrm>
            <a:off x="1828800" y="1920240"/>
            <a:ext cx="2377440" cy="320040"/>
          </a:xfrm>
          <a:prstGeom prst="rect">
            <a:avLst/>
          </a:prstGeom>
          <a:noFill/>
          <a:ln/>
        </p:spPr>
        <p:txBody>
          <a:bodyPr wrap="square" rtlCol="0" anchor="ctr"/>
          <a:lstStyle/>
          <a:p>
            <a:pPr algn="ctr" indent="0" marL="0">
              <a:buNone/>
            </a:pPr>
            <a:r>
              <a:rPr lang="en-US" sz="1100" i="1" dirty="0">
                <a:solidFill>
                  <a:srgbClr val="669BBC"/>
                </a:solidFill>
                <a:latin typeface="Georgia" pitchFamily="34" charset="0"/>
                <a:ea typeface="Georgia" pitchFamily="34" charset="-122"/>
                <a:cs typeface="Georgia" pitchFamily="34" charset="-120"/>
              </a:rPr>
              <a:t>Extended Order</a:t>
            </a:r>
            <a:endParaRPr lang="en-US" sz="1100" dirty="0"/>
          </a:p>
        </p:txBody>
      </p:sp>
      <p:sp>
        <p:nvSpPr>
          <p:cNvPr id="8" name="Shape 6"/>
          <p:cNvSpPr/>
          <p:nvPr/>
        </p:nvSpPr>
        <p:spPr>
          <a:xfrm>
            <a:off x="1280160" y="2468880"/>
            <a:ext cx="4206240" cy="914400"/>
          </a:xfrm>
          <a:prstGeom prst="rect">
            <a:avLst/>
          </a:prstGeom>
          <a:solidFill>
            <a:srgbClr val="C1121F"/>
          </a:solidFill>
          <a:ln/>
        </p:spPr>
      </p:sp>
      <p:sp>
        <p:nvSpPr>
          <p:cNvPr id="9" name="Text 7"/>
          <p:cNvSpPr/>
          <p:nvPr/>
        </p:nvSpPr>
        <p:spPr>
          <a:xfrm>
            <a:off x="1280160" y="2560320"/>
            <a:ext cx="4206240" cy="32004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道德、传统、语言</a:t>
            </a:r>
            <a:endParaRPr lang="en-US" sz="1400" dirty="0"/>
          </a:p>
        </p:txBody>
      </p:sp>
      <p:sp>
        <p:nvSpPr>
          <p:cNvPr id="10" name="Text 8"/>
          <p:cNvSpPr/>
          <p:nvPr/>
        </p:nvSpPr>
        <p:spPr>
          <a:xfrm>
            <a:off x="1280160" y="2926080"/>
            <a:ext cx="4206240" cy="320040"/>
          </a:xfrm>
          <a:prstGeom prst="rect">
            <a:avLst/>
          </a:prstGeom>
          <a:noFill/>
          <a:ln/>
        </p:spPr>
        <p:txBody>
          <a:bodyPr wrap="square" rtlCol="0" anchor="ctr"/>
          <a:lstStyle/>
          <a:p>
            <a:pPr algn="ctr" indent="0" marL="0">
              <a:buNone/>
            </a:pPr>
            <a:r>
              <a:rPr lang="en-US" sz="1100" i="1" dirty="0">
                <a:solidFill>
                  <a:srgbClr val="FDF0D5"/>
                </a:solidFill>
                <a:latin typeface="Georgia" pitchFamily="34" charset="0"/>
                <a:ea typeface="Georgia" pitchFamily="34" charset="-122"/>
                <a:cs typeface="Georgia" pitchFamily="34" charset="-120"/>
              </a:rPr>
              <a:t>Group Selection - 群体选择</a:t>
            </a:r>
            <a:endParaRPr lang="en-US" sz="1100" dirty="0"/>
          </a:p>
        </p:txBody>
      </p:sp>
      <p:sp>
        <p:nvSpPr>
          <p:cNvPr id="11" name="Shape 9"/>
          <p:cNvSpPr/>
          <p:nvPr/>
        </p:nvSpPr>
        <p:spPr>
          <a:xfrm>
            <a:off x="731520" y="3474720"/>
            <a:ext cx="5303520" cy="914400"/>
          </a:xfrm>
          <a:prstGeom prst="rect">
            <a:avLst/>
          </a:prstGeom>
          <a:solidFill>
            <a:srgbClr val="669BBC"/>
          </a:solidFill>
          <a:ln/>
        </p:spPr>
      </p:sp>
      <p:sp>
        <p:nvSpPr>
          <p:cNvPr id="12" name="Text 10"/>
          <p:cNvSpPr/>
          <p:nvPr/>
        </p:nvSpPr>
        <p:spPr>
          <a:xfrm>
            <a:off x="731520" y="3566160"/>
            <a:ext cx="5303520" cy="320040"/>
          </a:xfrm>
          <a:prstGeom prst="rect">
            <a:avLst/>
          </a:prstGeom>
          <a:noFill/>
          <a:ln/>
        </p:spPr>
        <p:txBody>
          <a:bodyPr wrap="square" rtlCol="0" anchor="ctr"/>
          <a:lstStyle/>
          <a:p>
            <a:pPr algn="ctr" indent="0" marL="0">
              <a:buNone/>
            </a:pPr>
            <a:r>
              <a:rPr lang="en-US" sz="1400" b="1" dirty="0">
                <a:solidFill>
                  <a:srgbClr val="780000"/>
                </a:solidFill>
                <a:latin typeface="Microsoft YaHei" pitchFamily="34" charset="0"/>
                <a:ea typeface="Microsoft YaHei" pitchFamily="34" charset="-122"/>
                <a:cs typeface="Microsoft YaHei" pitchFamily="34" charset="-120"/>
              </a:rPr>
              <a:t>本能、亲属、部落</a:t>
            </a:r>
            <a:endParaRPr lang="en-US" sz="1400" dirty="0"/>
          </a:p>
        </p:txBody>
      </p:sp>
      <p:sp>
        <p:nvSpPr>
          <p:cNvPr id="13" name="Text 11"/>
          <p:cNvSpPr/>
          <p:nvPr/>
        </p:nvSpPr>
        <p:spPr>
          <a:xfrm>
            <a:off x="731520" y="3931920"/>
            <a:ext cx="5303520" cy="320040"/>
          </a:xfrm>
          <a:prstGeom prst="rect">
            <a:avLst/>
          </a:prstGeom>
          <a:noFill/>
          <a:ln/>
        </p:spPr>
        <p:txBody>
          <a:bodyPr wrap="square" rtlCol="0" anchor="ctr"/>
          <a:lstStyle/>
          <a:p>
            <a:pPr algn="ctr" indent="0" marL="0">
              <a:buNone/>
            </a:pPr>
            <a:r>
              <a:rPr lang="en-US" sz="1100" i="1" dirty="0">
                <a:solidFill>
                  <a:srgbClr val="003049"/>
                </a:solidFill>
                <a:latin typeface="Georgia" pitchFamily="34" charset="0"/>
                <a:ea typeface="Georgia" pitchFamily="34" charset="-122"/>
                <a:cs typeface="Georgia" pitchFamily="34" charset="-120"/>
              </a:rPr>
              <a:t>Genetic Heritage - 基因遗传</a:t>
            </a:r>
            <a:endParaRPr lang="en-US" sz="1100" dirty="0"/>
          </a:p>
        </p:txBody>
      </p:sp>
      <p:sp>
        <p:nvSpPr>
          <p:cNvPr id="14" name="Shape 12"/>
          <p:cNvSpPr/>
          <p:nvPr/>
        </p:nvSpPr>
        <p:spPr>
          <a:xfrm>
            <a:off x="5760720" y="1463040"/>
            <a:ext cx="3108960" cy="2743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5760720" y="1463040"/>
            <a:ext cx="54864" cy="2743200"/>
          </a:xfrm>
          <a:prstGeom prst="rect">
            <a:avLst/>
          </a:prstGeom>
          <a:solidFill>
            <a:srgbClr val="780000"/>
          </a:solidFill>
          <a:ln/>
        </p:spPr>
      </p:sp>
      <p:sp>
        <p:nvSpPr>
          <p:cNvPr id="16" name="Text 14"/>
          <p:cNvSpPr/>
          <p:nvPr/>
        </p:nvSpPr>
        <p:spPr>
          <a:xfrm>
            <a:off x="5943600" y="1600200"/>
            <a:ext cx="27432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哈耶克的洞见</a:t>
            </a:r>
            <a:endParaRPr lang="en-US" sz="1400" dirty="0"/>
          </a:p>
        </p:txBody>
      </p:sp>
      <p:sp>
        <p:nvSpPr>
          <p:cNvPr id="17" name="Text 15"/>
          <p:cNvSpPr/>
          <p:nvPr/>
        </p:nvSpPr>
        <p:spPr>
          <a:xfrm>
            <a:off x="5943600" y="2011680"/>
            <a:ext cx="2743200" cy="20116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扩展秩序是人类合作最重要的形式：</a:t>
            </a:r>
            <a:endParaRPr lang="en-US" sz="1200" dirty="0"/>
          </a:p>
          <a:p>
            <a:pPr indent="0" marL="0">
              <a:buNone/>
            </a:pPr>
            <a:r>
              <a:rPr lang="en-US" sz="600" dirty="0">
                <a:solidFill>
                  <a:srgbClr val="003049"/>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它使陌生人之间的协作成为可能</a:t>
            </a:r>
            <a:endParaRPr lang="en-US" sz="1200" dirty="0"/>
          </a:p>
          <a:p>
            <a:pPr indent="0" marL="0">
              <a:buNone/>
            </a:pPr>
            <a:r>
              <a:rPr lang="en-US" sz="400" dirty="0">
                <a:solidFill>
                  <a:srgbClr val="003049"/>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超越亲属和部落的小圈子</a:t>
            </a:r>
            <a:endParaRPr lang="en-US" sz="1200" dirty="0"/>
          </a:p>
          <a:p>
            <a:pPr indent="0" marL="0">
              <a:buNone/>
            </a:pPr>
            <a:r>
              <a:rPr lang="en-US" sz="400" dirty="0">
                <a:solidFill>
                  <a:srgbClr val="003049"/>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依赖抽象规则而非具体关系</a:t>
            </a:r>
            <a:endParaRPr lang="en-US" sz="1200" dirty="0"/>
          </a:p>
          <a:p>
            <a:pPr indent="0" marL="0">
              <a:buNone/>
            </a:pPr>
            <a:r>
              <a:rPr lang="en-US" sz="400" dirty="0">
                <a:solidFill>
                  <a:srgbClr val="003049"/>
                </a:solidFill>
                <a:latin typeface="Microsoft YaHei" pitchFamily="34" charset="0"/>
                <a:ea typeface="Microsoft YaHei" pitchFamily="34" charset="-122"/>
                <a:cs typeface="Microsoft YaHei" pitchFamily="34" charset="-120"/>
              </a:rPr>
              <a:t>
</a:t>
            </a:r>
            <a:endParaRPr lang="en-US" sz="12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是文明繁荣的真正基础</a:t>
            </a:r>
            <a:endParaRPr lang="en-US" sz="1200" dirty="0"/>
          </a:p>
        </p:txBody>
      </p:sp>
      <p:sp>
        <p:nvSpPr>
          <p:cNvPr id="18" name="Shape 16"/>
          <p:cNvSpPr/>
          <p:nvPr/>
        </p:nvSpPr>
        <p:spPr>
          <a:xfrm>
            <a:off x="457200" y="4343400"/>
            <a:ext cx="8229600" cy="502920"/>
          </a:xfrm>
          <a:prstGeom prst="rect">
            <a:avLst/>
          </a:prstGeom>
          <a:solidFill>
            <a:srgbClr val="C1121F">
              <a:alpha val="15000"/>
            </a:srgbClr>
          </a:solidFill>
          <a:ln/>
        </p:spPr>
      </p:sp>
      <p:sp>
        <p:nvSpPr>
          <p:cNvPr id="19" name="Text 17"/>
          <p:cNvSpPr/>
          <p:nvPr/>
        </p:nvSpPr>
        <p:spPr>
          <a:xfrm>
            <a:off x="640080" y="4407408"/>
            <a:ext cx="7863840" cy="365760"/>
          </a:xfrm>
          <a:prstGeom prst="rect">
            <a:avLst/>
          </a:prstGeom>
          <a:noFill/>
          <a:ln/>
        </p:spPr>
        <p:txBody>
          <a:bodyPr wrap="square" rtlCol="0" anchor="ctr"/>
          <a:lstStyle/>
          <a:p>
            <a:pPr indent="0" marL="0">
              <a:buNone/>
            </a:pPr>
            <a:r>
              <a:rPr lang="en-US" sz="1200" i="1" dirty="0">
                <a:solidFill>
                  <a:srgbClr val="C1121F"/>
                </a:solidFill>
                <a:latin typeface="Microsoft YaHei" pitchFamily="34" charset="0"/>
                <a:ea typeface="Microsoft YaHei" pitchFamily="34" charset="-122"/>
                <a:cs typeface="Microsoft YaHei" pitchFamily="34" charset="-120"/>
              </a:rPr>
              <a:t>"自负"指：理性主义者相信能够设计出比自发演化更优的制度</a:t>
            </a:r>
            <a:endParaRPr lang="en-US" sz="1200" dirty="0"/>
          </a:p>
        </p:txBody>
      </p:sp>
      <p:sp>
        <p:nvSpPr>
          <p:cNvPr id="20" name="Shape 18"/>
          <p:cNvSpPr/>
          <p:nvPr/>
        </p:nvSpPr>
        <p:spPr>
          <a:xfrm>
            <a:off x="8503920" y="4663440"/>
            <a:ext cx="365760" cy="365760"/>
          </a:xfrm>
          <a:prstGeom prst="ellipse">
            <a:avLst/>
          </a:prstGeom>
          <a:solidFill>
            <a:srgbClr val="C1121F"/>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熊彼特：创造性破坏</a:t>
            </a:r>
            <a:endParaRPr lang="en-US" sz="2800" dirty="0"/>
          </a:p>
        </p:txBody>
      </p:sp>
      <p:sp>
        <p:nvSpPr>
          <p:cNvPr id="4" name="Shape 2"/>
          <p:cNvSpPr/>
          <p:nvPr/>
        </p:nvSpPr>
        <p:spPr>
          <a:xfrm>
            <a:off x="457200" y="1051560"/>
            <a:ext cx="274320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2743200" cy="54864"/>
          </a:xfrm>
          <a:prstGeom prst="rect">
            <a:avLst/>
          </a:prstGeom>
          <a:solidFill>
            <a:srgbClr val="C1121F"/>
          </a:solidFill>
          <a:ln/>
        </p:spPr>
      </p:sp>
      <p:sp>
        <p:nvSpPr>
          <p:cNvPr id="6" name="Text 4"/>
          <p:cNvSpPr/>
          <p:nvPr/>
        </p:nvSpPr>
        <p:spPr>
          <a:xfrm>
            <a:off x="594360" y="1234440"/>
            <a:ext cx="2468880" cy="320040"/>
          </a:xfrm>
          <a:prstGeom prst="rect">
            <a:avLst/>
          </a:prstGeom>
          <a:noFill/>
          <a:ln/>
        </p:spPr>
        <p:txBody>
          <a:bodyPr wrap="square" rtlCol="0" anchor="ctr"/>
          <a:lstStyle/>
          <a:p>
            <a:pPr indent="0" marL="0">
              <a:buNone/>
            </a:pPr>
            <a:r>
              <a:rPr lang="en-US" sz="1400" b="1" i="1" dirty="0">
                <a:solidFill>
                  <a:srgbClr val="780000"/>
                </a:solidFill>
                <a:latin typeface="Georgia" pitchFamily="34" charset="0"/>
                <a:ea typeface="Georgia" pitchFamily="34" charset="-122"/>
                <a:cs typeface="Georgia" pitchFamily="34" charset="-120"/>
              </a:rPr>
              <a:t>Joseph Schumpeter</a:t>
            </a:r>
            <a:endParaRPr lang="en-US" sz="1400" dirty="0"/>
          </a:p>
        </p:txBody>
      </p:sp>
      <p:sp>
        <p:nvSpPr>
          <p:cNvPr id="7" name="Text 5"/>
          <p:cNvSpPr/>
          <p:nvPr/>
        </p:nvSpPr>
        <p:spPr>
          <a:xfrm>
            <a:off x="594360" y="1600200"/>
            <a:ext cx="2468880" cy="228600"/>
          </a:xfrm>
          <a:prstGeom prst="rect">
            <a:avLst/>
          </a:prstGeom>
          <a:noFill/>
          <a:ln/>
        </p:spPr>
        <p:txBody>
          <a:bodyPr wrap="square" rtlCol="0" anchor="ctr"/>
          <a:lstStyle/>
          <a:p>
            <a:pPr indent="0" marL="0">
              <a:buNone/>
            </a:pPr>
            <a:r>
              <a:rPr lang="en-US" sz="1100" dirty="0">
                <a:solidFill>
                  <a:srgbClr val="669BBC"/>
                </a:solidFill>
                <a:latin typeface="Calibri" pitchFamily="34" charset="0"/>
                <a:ea typeface="Calibri" pitchFamily="34" charset="-122"/>
                <a:cs typeface="Calibri" pitchFamily="34" charset="-120"/>
              </a:rPr>
              <a:t>1883-1950</a:t>
            </a:r>
            <a:endParaRPr lang="en-US" sz="1100" dirty="0"/>
          </a:p>
        </p:txBody>
      </p:sp>
      <p:sp>
        <p:nvSpPr>
          <p:cNvPr id="8" name="Text 6"/>
          <p:cNvSpPr/>
          <p:nvPr/>
        </p:nvSpPr>
        <p:spPr>
          <a:xfrm>
            <a:off x="594360" y="1920240"/>
            <a:ext cx="2468880" cy="21945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奥地利学派第三代</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哈佛大学教授</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《经济发展理论》(1912)</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《资本主义、社会主义与民主》(1942)</a:t>
            </a:r>
            <a:endParaRPr lang="en-US" sz="1100" dirty="0"/>
          </a:p>
        </p:txBody>
      </p:sp>
      <p:sp>
        <p:nvSpPr>
          <p:cNvPr id="9" name="Text 7"/>
          <p:cNvSpPr/>
          <p:nvPr/>
        </p:nvSpPr>
        <p:spPr>
          <a:xfrm>
            <a:off x="3474720" y="1051560"/>
            <a:ext cx="5212080" cy="411480"/>
          </a:xfrm>
          <a:prstGeom prst="rect">
            <a:avLst/>
          </a:prstGeom>
          <a:noFill/>
          <a:ln/>
        </p:spPr>
        <p:txBody>
          <a:bodyPr wrap="square" rtlCol="0" anchor="ctr"/>
          <a:lstStyle/>
          <a:p>
            <a:pPr indent="0" marL="0">
              <a:buNone/>
            </a:pPr>
            <a:r>
              <a:rPr lang="en-US" sz="1800" b="1" dirty="0">
                <a:solidFill>
                  <a:srgbClr val="780000"/>
                </a:solidFill>
                <a:latin typeface="Microsoft YaHei" pitchFamily="34" charset="0"/>
                <a:ea typeface="Microsoft YaHei" pitchFamily="34" charset="-122"/>
                <a:cs typeface="Microsoft YaHei" pitchFamily="34" charset="-120"/>
              </a:rPr>
              <a:t>创造性破坏（Creative Destruction）</a:t>
            </a:r>
            <a:endParaRPr lang="en-US" sz="1800" dirty="0"/>
          </a:p>
        </p:txBody>
      </p:sp>
      <p:sp>
        <p:nvSpPr>
          <p:cNvPr id="10" name="Shape 8"/>
          <p:cNvSpPr/>
          <p:nvPr/>
        </p:nvSpPr>
        <p:spPr>
          <a:xfrm>
            <a:off x="3474720" y="1554480"/>
            <a:ext cx="5212080" cy="1828800"/>
          </a:xfrm>
          <a:prstGeom prst="rect">
            <a:avLst/>
          </a:prstGeom>
          <a:solidFill>
            <a:srgbClr val="C1121F">
              <a:alpha val="10000"/>
            </a:srgbClr>
          </a:solidFill>
          <a:ln/>
        </p:spPr>
      </p:sp>
      <p:sp>
        <p:nvSpPr>
          <p:cNvPr id="11" name="Text 9"/>
          <p:cNvSpPr/>
          <p:nvPr/>
        </p:nvSpPr>
        <p:spPr>
          <a:xfrm>
            <a:off x="3657600" y="1691640"/>
            <a:ext cx="4846320" cy="15544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资本主义的本质特征是"动态的不均衡"：</a:t>
            </a:r>
            <a:endParaRPr lang="en-US" sz="1300" dirty="0"/>
          </a:p>
          <a:p>
            <a:pPr indent="0" marL="0">
              <a:buNone/>
            </a:pPr>
            <a:r>
              <a:rPr lang="en-US" sz="8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企业家创新打破现有经济结构</a:t>
            </a:r>
            <a:endParaRPr lang="en-US" sz="13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旧技术、旧企业被淘汰</a:t>
            </a:r>
            <a:endParaRPr lang="en-US" sz="13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新组合（new combinations）推动经济发展</a:t>
            </a:r>
            <a:endParaRPr lang="en-US" sz="13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3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这并非失调，而是发展的本质</a:t>
            </a:r>
            <a:endParaRPr lang="en-US" sz="1300" dirty="0"/>
          </a:p>
        </p:txBody>
      </p:sp>
      <p:sp>
        <p:nvSpPr>
          <p:cNvPr id="12" name="Shape 10"/>
          <p:cNvSpPr/>
          <p:nvPr/>
        </p:nvSpPr>
        <p:spPr>
          <a:xfrm>
            <a:off x="457200" y="3657600"/>
            <a:ext cx="8229600" cy="822960"/>
          </a:xfrm>
          <a:prstGeom prst="rect">
            <a:avLst/>
          </a:prstGeom>
          <a:solidFill>
            <a:srgbClr val="780000"/>
          </a:solidFill>
          <a:ln/>
        </p:spPr>
      </p:sp>
      <p:sp>
        <p:nvSpPr>
          <p:cNvPr id="13" name="Text 11"/>
          <p:cNvSpPr/>
          <p:nvPr/>
        </p:nvSpPr>
        <p:spPr>
          <a:xfrm>
            <a:off x="640080" y="3794760"/>
            <a:ext cx="7863840" cy="502920"/>
          </a:xfrm>
          <a:prstGeom prst="rect">
            <a:avLst/>
          </a:prstGeom>
          <a:noFill/>
          <a:ln/>
        </p:spPr>
        <p:txBody>
          <a:bodyPr wrap="square" rtlCol="0" anchor="ctr"/>
          <a:lstStyle/>
          <a:p>
            <a:pPr indent="0" marL="0">
              <a:buNone/>
            </a:pPr>
            <a:r>
              <a:rPr lang="en-US" sz="1400" i="1" dirty="0">
                <a:solidFill>
                  <a:srgbClr val="FDF0D5"/>
                </a:solidFill>
                <a:latin typeface="Microsoft YaHei" pitchFamily="34" charset="0"/>
                <a:ea typeface="Microsoft YaHei" pitchFamily="34" charset="-122"/>
                <a:cs typeface="Microsoft YaHei" pitchFamily="34" charset="-120"/>
              </a:rPr>
              <a:t>"创造性破坏的长流永不枯竭——它不断吞噬现状，又不断创造新世界。"</a:t>
            </a:r>
            <a:endParaRPr lang="en-US" sz="1400" dirty="0"/>
          </a:p>
        </p:txBody>
      </p:sp>
      <p:sp>
        <p:nvSpPr>
          <p:cNvPr id="14" name="Shape 12"/>
          <p:cNvSpPr/>
          <p:nvPr/>
        </p:nvSpPr>
        <p:spPr>
          <a:xfrm>
            <a:off x="8503920" y="4663440"/>
            <a:ext cx="365760" cy="365760"/>
          </a:xfrm>
          <a:prstGeom prst="ellipse">
            <a:avLst/>
          </a:prstGeom>
          <a:solidFill>
            <a:srgbClr val="C1121F"/>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创造性破坏的机制</a:t>
            </a:r>
            <a:endParaRPr lang="en-US" sz="2800" dirty="0"/>
          </a:p>
        </p:txBody>
      </p:sp>
      <p:sp>
        <p:nvSpPr>
          <p:cNvPr id="4" name="Shape 2"/>
          <p:cNvSpPr/>
          <p:nvPr/>
        </p:nvSpPr>
        <p:spPr>
          <a:xfrm>
            <a:off x="914400" y="1143000"/>
            <a:ext cx="502920" cy="502920"/>
          </a:xfrm>
          <a:prstGeom prst="ellipse">
            <a:avLst/>
          </a:prstGeom>
          <a:solidFill>
            <a:srgbClr val="C1121F"/>
          </a:solidFill>
          <a:ln/>
        </p:spPr>
      </p:sp>
      <p:sp>
        <p:nvSpPr>
          <p:cNvPr id="5" name="Text 3"/>
          <p:cNvSpPr/>
          <p:nvPr/>
        </p:nvSpPr>
        <p:spPr>
          <a:xfrm>
            <a:off x="914400" y="11430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1554480" y="1051560"/>
            <a:ext cx="6675120" cy="68580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7" name="Shape 5"/>
          <p:cNvSpPr/>
          <p:nvPr/>
        </p:nvSpPr>
        <p:spPr>
          <a:xfrm>
            <a:off x="1554480" y="1051560"/>
            <a:ext cx="54864" cy="685800"/>
          </a:xfrm>
          <a:prstGeom prst="rect">
            <a:avLst/>
          </a:prstGeom>
          <a:solidFill>
            <a:srgbClr val="C1121F"/>
          </a:solidFill>
          <a:ln/>
        </p:spPr>
      </p:sp>
      <p:sp>
        <p:nvSpPr>
          <p:cNvPr id="8" name="Text 6"/>
          <p:cNvSpPr/>
          <p:nvPr/>
        </p:nvSpPr>
        <p:spPr>
          <a:xfrm>
            <a:off x="1737360" y="1143000"/>
            <a:ext cx="228600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创新浪潮</a:t>
            </a:r>
            <a:endParaRPr lang="en-US" sz="1300" dirty="0"/>
          </a:p>
        </p:txBody>
      </p:sp>
      <p:sp>
        <p:nvSpPr>
          <p:cNvPr id="9" name="Text 7"/>
          <p:cNvSpPr/>
          <p:nvPr/>
        </p:nvSpPr>
        <p:spPr>
          <a:xfrm>
            <a:off x="1737360" y="1417320"/>
            <a:ext cx="6309360" cy="2743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企业家引入新产品、新技术、新来源、新市场</a:t>
            </a:r>
            <a:endParaRPr lang="en-US" sz="1100" dirty="0"/>
          </a:p>
        </p:txBody>
      </p:sp>
      <p:sp>
        <p:nvSpPr>
          <p:cNvPr id="10" name="Shape 8"/>
          <p:cNvSpPr/>
          <p:nvPr/>
        </p:nvSpPr>
        <p:spPr>
          <a:xfrm>
            <a:off x="914400" y="1965960"/>
            <a:ext cx="502920" cy="502920"/>
          </a:xfrm>
          <a:prstGeom prst="ellipse">
            <a:avLst/>
          </a:prstGeom>
          <a:solidFill>
            <a:srgbClr val="669BBC"/>
          </a:solidFill>
          <a:ln/>
        </p:spPr>
      </p:sp>
      <p:sp>
        <p:nvSpPr>
          <p:cNvPr id="11" name="Text 9"/>
          <p:cNvSpPr/>
          <p:nvPr/>
        </p:nvSpPr>
        <p:spPr>
          <a:xfrm>
            <a:off x="914400" y="19659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Shape 10"/>
          <p:cNvSpPr/>
          <p:nvPr/>
        </p:nvSpPr>
        <p:spPr>
          <a:xfrm>
            <a:off x="1554480" y="1874520"/>
            <a:ext cx="6675120" cy="68580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13" name="Shape 11"/>
          <p:cNvSpPr/>
          <p:nvPr/>
        </p:nvSpPr>
        <p:spPr>
          <a:xfrm>
            <a:off x="1554480" y="1874520"/>
            <a:ext cx="54864" cy="685800"/>
          </a:xfrm>
          <a:prstGeom prst="rect">
            <a:avLst/>
          </a:prstGeom>
          <a:solidFill>
            <a:srgbClr val="669BBC"/>
          </a:solidFill>
          <a:ln/>
        </p:spPr>
      </p:sp>
      <p:sp>
        <p:nvSpPr>
          <p:cNvPr id="14" name="Text 12"/>
          <p:cNvSpPr/>
          <p:nvPr/>
        </p:nvSpPr>
        <p:spPr>
          <a:xfrm>
            <a:off x="1737360" y="1965960"/>
            <a:ext cx="228600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模仿与扩散</a:t>
            </a:r>
            <a:endParaRPr lang="en-US" sz="1300" dirty="0"/>
          </a:p>
        </p:txBody>
      </p:sp>
      <p:sp>
        <p:nvSpPr>
          <p:cNvPr id="15" name="Text 13"/>
          <p:cNvSpPr/>
          <p:nvPr/>
        </p:nvSpPr>
        <p:spPr>
          <a:xfrm>
            <a:off x="1737360" y="2240280"/>
            <a:ext cx="6309360" cy="2743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其他企业跟进，扩散创新成果</a:t>
            </a:r>
            <a:endParaRPr lang="en-US" sz="1100" dirty="0"/>
          </a:p>
        </p:txBody>
      </p:sp>
      <p:sp>
        <p:nvSpPr>
          <p:cNvPr id="16" name="Shape 14"/>
          <p:cNvSpPr/>
          <p:nvPr/>
        </p:nvSpPr>
        <p:spPr>
          <a:xfrm>
            <a:off x="914400" y="2788920"/>
            <a:ext cx="502920" cy="502920"/>
          </a:xfrm>
          <a:prstGeom prst="ellipse">
            <a:avLst/>
          </a:prstGeom>
          <a:solidFill>
            <a:srgbClr val="003049"/>
          </a:solidFill>
          <a:ln/>
        </p:spPr>
      </p:sp>
      <p:sp>
        <p:nvSpPr>
          <p:cNvPr id="17" name="Text 15"/>
          <p:cNvSpPr/>
          <p:nvPr/>
        </p:nvSpPr>
        <p:spPr>
          <a:xfrm>
            <a:off x="914400" y="27889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Shape 16"/>
          <p:cNvSpPr/>
          <p:nvPr/>
        </p:nvSpPr>
        <p:spPr>
          <a:xfrm>
            <a:off x="1554480" y="2697480"/>
            <a:ext cx="6675120" cy="68580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19" name="Shape 17"/>
          <p:cNvSpPr/>
          <p:nvPr/>
        </p:nvSpPr>
        <p:spPr>
          <a:xfrm>
            <a:off x="1554480" y="2697480"/>
            <a:ext cx="54864" cy="685800"/>
          </a:xfrm>
          <a:prstGeom prst="rect">
            <a:avLst/>
          </a:prstGeom>
          <a:solidFill>
            <a:srgbClr val="003049"/>
          </a:solidFill>
          <a:ln/>
        </p:spPr>
      </p:sp>
      <p:sp>
        <p:nvSpPr>
          <p:cNvPr id="20" name="Text 18"/>
          <p:cNvSpPr/>
          <p:nvPr/>
        </p:nvSpPr>
        <p:spPr>
          <a:xfrm>
            <a:off x="1737360" y="2788920"/>
            <a:ext cx="228600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超额利润压缩</a:t>
            </a:r>
            <a:endParaRPr lang="en-US" sz="1300" dirty="0"/>
          </a:p>
        </p:txBody>
      </p:sp>
      <p:sp>
        <p:nvSpPr>
          <p:cNvPr id="21" name="Text 19"/>
          <p:cNvSpPr/>
          <p:nvPr/>
        </p:nvSpPr>
        <p:spPr>
          <a:xfrm>
            <a:off x="1737360" y="3063240"/>
            <a:ext cx="6309360" cy="2743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竞争加剧，创新带来的暂时垄断终结</a:t>
            </a:r>
            <a:endParaRPr lang="en-US" sz="1100" dirty="0"/>
          </a:p>
        </p:txBody>
      </p:sp>
      <p:sp>
        <p:nvSpPr>
          <p:cNvPr id="22" name="Shape 20"/>
          <p:cNvSpPr/>
          <p:nvPr/>
        </p:nvSpPr>
        <p:spPr>
          <a:xfrm>
            <a:off x="914400" y="3611880"/>
            <a:ext cx="502920" cy="502920"/>
          </a:xfrm>
          <a:prstGeom prst="ellipse">
            <a:avLst/>
          </a:prstGeom>
          <a:solidFill>
            <a:srgbClr val="780000"/>
          </a:solidFill>
          <a:ln/>
        </p:spPr>
      </p:sp>
      <p:sp>
        <p:nvSpPr>
          <p:cNvPr id="23" name="Text 21"/>
          <p:cNvSpPr/>
          <p:nvPr/>
        </p:nvSpPr>
        <p:spPr>
          <a:xfrm>
            <a:off x="914400" y="36118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Shape 22"/>
          <p:cNvSpPr/>
          <p:nvPr/>
        </p:nvSpPr>
        <p:spPr>
          <a:xfrm>
            <a:off x="1554480" y="3520440"/>
            <a:ext cx="6675120" cy="685800"/>
          </a:xfrm>
          <a:prstGeom prst="rect">
            <a:avLst/>
          </a:prstGeom>
          <a:solidFill>
            <a:srgbClr val="FFFFFF"/>
          </a:solidFill>
          <a:ln/>
          <a:effectLst>
            <a:outerShdw sx="100000" sy="100000" kx="0" ky="0" algn="bl" rotWithShape="0" blurRad="50800" dist="25400" dir="8100000">
              <a:srgbClr val="000000">
                <a:alpha val="6000"/>
              </a:srgbClr>
            </a:outerShdw>
          </a:effectLst>
        </p:spPr>
      </p:sp>
      <p:sp>
        <p:nvSpPr>
          <p:cNvPr id="25" name="Shape 23"/>
          <p:cNvSpPr/>
          <p:nvPr/>
        </p:nvSpPr>
        <p:spPr>
          <a:xfrm>
            <a:off x="1554480" y="3520440"/>
            <a:ext cx="54864" cy="685800"/>
          </a:xfrm>
          <a:prstGeom prst="rect">
            <a:avLst/>
          </a:prstGeom>
          <a:solidFill>
            <a:srgbClr val="780000"/>
          </a:solidFill>
          <a:ln/>
        </p:spPr>
      </p:sp>
      <p:sp>
        <p:nvSpPr>
          <p:cNvPr id="26" name="Text 24"/>
          <p:cNvSpPr/>
          <p:nvPr/>
        </p:nvSpPr>
        <p:spPr>
          <a:xfrm>
            <a:off x="1737360" y="3611880"/>
            <a:ext cx="228600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新的破坏</a:t>
            </a:r>
            <a:endParaRPr lang="en-US" sz="1300" dirty="0"/>
          </a:p>
        </p:txBody>
      </p:sp>
      <p:sp>
        <p:nvSpPr>
          <p:cNvPr id="27" name="Text 25"/>
          <p:cNvSpPr/>
          <p:nvPr/>
        </p:nvSpPr>
        <p:spPr>
          <a:xfrm>
            <a:off x="1737360" y="3886200"/>
            <a:ext cx="6309360" cy="2743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下一轮创新浪潮开始，循环往复</a:t>
            </a:r>
            <a:endParaRPr lang="en-US" sz="1100" dirty="0"/>
          </a:p>
        </p:txBody>
      </p:sp>
      <p:sp>
        <p:nvSpPr>
          <p:cNvPr id="28" name="Shape 26"/>
          <p:cNvSpPr/>
          <p:nvPr/>
        </p:nvSpPr>
        <p:spPr>
          <a:xfrm>
            <a:off x="457200" y="4434840"/>
            <a:ext cx="8229600" cy="457200"/>
          </a:xfrm>
          <a:prstGeom prst="rect">
            <a:avLst/>
          </a:prstGeom>
          <a:solidFill>
            <a:srgbClr val="669BBC">
              <a:alpha val="50000"/>
            </a:srgbClr>
          </a:solidFill>
          <a:ln/>
        </p:spPr>
      </p:sp>
      <p:sp>
        <p:nvSpPr>
          <p:cNvPr id="29" name="Text 27"/>
          <p:cNvSpPr/>
          <p:nvPr/>
        </p:nvSpPr>
        <p:spPr>
          <a:xfrm>
            <a:off x="640080" y="4480560"/>
            <a:ext cx="7863840" cy="36576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与斯密"看不见的手"的呼应：创新者的自利行为，在破坏旧秩序的同时创造了更大的社会福利</a:t>
            </a:r>
            <a:endParaRPr lang="en-US" sz="1200" dirty="0"/>
          </a:p>
        </p:txBody>
      </p:sp>
      <p:sp>
        <p:nvSpPr>
          <p:cNvPr id="30" name="Shape 28"/>
          <p:cNvSpPr/>
          <p:nvPr/>
        </p:nvSpPr>
        <p:spPr>
          <a:xfrm>
            <a:off x="8503920" y="4663440"/>
            <a:ext cx="365760" cy="365760"/>
          </a:xfrm>
          <a:prstGeom prst="ellipse">
            <a:avLst/>
          </a:prstGeom>
          <a:solidFill>
            <a:srgbClr val="C1121F"/>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奥地利学派核心命题（一）</a:t>
            </a:r>
            <a:endParaRPr lang="en-US" sz="2800" dirty="0"/>
          </a:p>
        </p:txBody>
      </p:sp>
      <p:sp>
        <p:nvSpPr>
          <p:cNvPr id="4" name="Shape 2"/>
          <p:cNvSpPr/>
          <p:nvPr/>
        </p:nvSpPr>
        <p:spPr>
          <a:xfrm>
            <a:off x="457200" y="105156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548640" cy="1188720"/>
          </a:xfrm>
          <a:prstGeom prst="rect">
            <a:avLst/>
          </a:prstGeom>
          <a:solidFill>
            <a:srgbClr val="780000"/>
          </a:solidFill>
          <a:ln/>
        </p:spPr>
      </p:sp>
      <p:sp>
        <p:nvSpPr>
          <p:cNvPr id="6" name="Text 4"/>
          <p:cNvSpPr/>
          <p:nvPr/>
        </p:nvSpPr>
        <p:spPr>
          <a:xfrm>
            <a:off x="457200" y="1051560"/>
            <a:ext cx="548640" cy="11887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7" name="Text 5"/>
          <p:cNvSpPr/>
          <p:nvPr/>
        </p:nvSpPr>
        <p:spPr>
          <a:xfrm>
            <a:off x="1188720" y="114300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方法论个人主义</a:t>
            </a:r>
            <a:endParaRPr lang="en-US" sz="1700" dirty="0"/>
          </a:p>
        </p:txBody>
      </p:sp>
      <p:sp>
        <p:nvSpPr>
          <p:cNvPr id="8" name="Text 6"/>
          <p:cNvSpPr/>
          <p:nvPr/>
        </p:nvSpPr>
        <p:spPr>
          <a:xfrm>
            <a:off x="1188720" y="1554480"/>
            <a:ext cx="7315200" cy="5486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社会现象应从个体行动者的目的、信念和选择来解释，而非归因于"社会"、"阶级"或"制度"等抽象集体</a:t>
            </a:r>
            <a:endParaRPr lang="en-US" sz="1200" dirty="0"/>
          </a:p>
        </p:txBody>
      </p:sp>
      <p:sp>
        <p:nvSpPr>
          <p:cNvPr id="9" name="Shape 7"/>
          <p:cNvSpPr/>
          <p:nvPr/>
        </p:nvSpPr>
        <p:spPr>
          <a:xfrm>
            <a:off x="457200" y="237744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377440"/>
            <a:ext cx="548640" cy="1188720"/>
          </a:xfrm>
          <a:prstGeom prst="rect">
            <a:avLst/>
          </a:prstGeom>
          <a:solidFill>
            <a:srgbClr val="C1121F"/>
          </a:solidFill>
          <a:ln/>
        </p:spPr>
      </p:sp>
      <p:sp>
        <p:nvSpPr>
          <p:cNvPr id="11" name="Text 9"/>
          <p:cNvSpPr/>
          <p:nvPr/>
        </p:nvSpPr>
        <p:spPr>
          <a:xfrm>
            <a:off x="457200" y="2377440"/>
            <a:ext cx="548640" cy="11887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2" name="Text 10"/>
          <p:cNvSpPr/>
          <p:nvPr/>
        </p:nvSpPr>
        <p:spPr>
          <a:xfrm>
            <a:off x="1188720" y="246888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方法论主观主义</a:t>
            </a:r>
            <a:endParaRPr lang="en-US" sz="1700" dirty="0"/>
          </a:p>
        </p:txBody>
      </p:sp>
      <p:sp>
        <p:nvSpPr>
          <p:cNvPr id="13" name="Text 11"/>
          <p:cNvSpPr/>
          <p:nvPr/>
        </p:nvSpPr>
        <p:spPr>
          <a:xfrm>
            <a:off x="1188720" y="2880360"/>
            <a:ext cx="7315200" cy="5486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经济学研究的对象是人的主观状态——偏好、信念、预期——以及这些主观状态如何影响选择与行动</a:t>
            </a:r>
            <a:endParaRPr lang="en-US" sz="1200" dirty="0"/>
          </a:p>
        </p:txBody>
      </p:sp>
      <p:sp>
        <p:nvSpPr>
          <p:cNvPr id="14" name="Shape 12"/>
          <p:cNvSpPr/>
          <p:nvPr/>
        </p:nvSpPr>
        <p:spPr>
          <a:xfrm>
            <a:off x="457200" y="3703320"/>
            <a:ext cx="822960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703320"/>
            <a:ext cx="548640" cy="914400"/>
          </a:xfrm>
          <a:prstGeom prst="rect">
            <a:avLst/>
          </a:prstGeom>
          <a:solidFill>
            <a:srgbClr val="669BBC"/>
          </a:solidFill>
          <a:ln/>
        </p:spPr>
      </p:sp>
      <p:sp>
        <p:nvSpPr>
          <p:cNvPr id="16" name="Text 14"/>
          <p:cNvSpPr/>
          <p:nvPr/>
        </p:nvSpPr>
        <p:spPr>
          <a:xfrm>
            <a:off x="457200" y="3703320"/>
            <a:ext cx="548640" cy="91440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17" name="Text 15"/>
          <p:cNvSpPr/>
          <p:nvPr/>
        </p:nvSpPr>
        <p:spPr>
          <a:xfrm>
            <a:off x="1188720" y="379476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边际分析的重要性</a:t>
            </a:r>
            <a:endParaRPr lang="en-US" sz="1700" dirty="0"/>
          </a:p>
        </p:txBody>
      </p:sp>
      <p:sp>
        <p:nvSpPr>
          <p:cNvPr id="18" name="Text 16"/>
          <p:cNvSpPr/>
          <p:nvPr/>
        </p:nvSpPr>
        <p:spPr>
          <a:xfrm>
            <a:off x="1188720" y="4160520"/>
            <a:ext cx="731520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经济决策发生在边际——追加的单位，而非总量或平均</a:t>
            </a:r>
            <a:endParaRPr lang="en-US" sz="1200" dirty="0"/>
          </a:p>
        </p:txBody>
      </p:sp>
      <p:sp>
        <p:nvSpPr>
          <p:cNvPr id="19" name="Shape 17"/>
          <p:cNvSpPr/>
          <p:nvPr/>
        </p:nvSpPr>
        <p:spPr>
          <a:xfrm>
            <a:off x="8503920" y="4663440"/>
            <a:ext cx="365760" cy="365760"/>
          </a:xfrm>
          <a:prstGeom prst="ellipse">
            <a:avLst/>
          </a:prstGeom>
          <a:solidFill>
            <a:srgbClr val="C1121F"/>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奥地利学派核心命题（二）</a:t>
            </a:r>
            <a:endParaRPr lang="en-US" sz="2800" dirty="0"/>
          </a:p>
        </p:txBody>
      </p:sp>
      <p:sp>
        <p:nvSpPr>
          <p:cNvPr id="4" name="Shape 2"/>
          <p:cNvSpPr/>
          <p:nvPr/>
        </p:nvSpPr>
        <p:spPr>
          <a:xfrm>
            <a:off x="457200" y="105156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548640" cy="1188720"/>
          </a:xfrm>
          <a:prstGeom prst="rect">
            <a:avLst/>
          </a:prstGeom>
          <a:solidFill>
            <a:srgbClr val="780000"/>
          </a:solidFill>
          <a:ln/>
        </p:spPr>
      </p:sp>
      <p:sp>
        <p:nvSpPr>
          <p:cNvPr id="6" name="Text 4"/>
          <p:cNvSpPr/>
          <p:nvPr/>
        </p:nvSpPr>
        <p:spPr>
          <a:xfrm>
            <a:off x="457200" y="1051560"/>
            <a:ext cx="548640" cy="11887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7" name="Text 5"/>
          <p:cNvSpPr/>
          <p:nvPr/>
        </p:nvSpPr>
        <p:spPr>
          <a:xfrm>
            <a:off x="1188720" y="114300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市场过程理论</a:t>
            </a:r>
            <a:endParaRPr lang="en-US" sz="1700" dirty="0"/>
          </a:p>
        </p:txBody>
      </p:sp>
      <p:sp>
        <p:nvSpPr>
          <p:cNvPr id="8" name="Text 6"/>
          <p:cNvSpPr/>
          <p:nvPr/>
        </p:nvSpPr>
        <p:spPr>
          <a:xfrm>
            <a:off x="1188720" y="1554480"/>
            <a:ext cx="7315200" cy="5486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市场不是静态的均衡状态，而是持续的企业家发现过程——错误、纠正、新发现永不停歇</a:t>
            </a:r>
            <a:endParaRPr lang="en-US" sz="1200" dirty="0"/>
          </a:p>
        </p:txBody>
      </p:sp>
      <p:sp>
        <p:nvSpPr>
          <p:cNvPr id="9" name="Shape 7"/>
          <p:cNvSpPr/>
          <p:nvPr/>
        </p:nvSpPr>
        <p:spPr>
          <a:xfrm>
            <a:off x="457200" y="2377440"/>
            <a:ext cx="8229600" cy="1188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377440"/>
            <a:ext cx="548640" cy="1188720"/>
          </a:xfrm>
          <a:prstGeom prst="rect">
            <a:avLst/>
          </a:prstGeom>
          <a:solidFill>
            <a:srgbClr val="C1121F"/>
          </a:solidFill>
          <a:ln/>
        </p:spPr>
      </p:sp>
      <p:sp>
        <p:nvSpPr>
          <p:cNvPr id="11" name="Text 9"/>
          <p:cNvSpPr/>
          <p:nvPr/>
        </p:nvSpPr>
        <p:spPr>
          <a:xfrm>
            <a:off x="457200" y="2377440"/>
            <a:ext cx="548640" cy="11887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12" name="Text 10"/>
          <p:cNvSpPr/>
          <p:nvPr/>
        </p:nvSpPr>
        <p:spPr>
          <a:xfrm>
            <a:off x="1188720" y="246888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价格传递信息</a:t>
            </a:r>
            <a:endParaRPr lang="en-US" sz="1700" dirty="0"/>
          </a:p>
        </p:txBody>
      </p:sp>
      <p:sp>
        <p:nvSpPr>
          <p:cNvPr id="13" name="Text 11"/>
          <p:cNvSpPr/>
          <p:nvPr/>
        </p:nvSpPr>
        <p:spPr>
          <a:xfrm>
            <a:off x="1188720" y="2880360"/>
            <a:ext cx="7315200" cy="5486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价格体系是人类最伟大的信息处理装置——汇总分散知识，使无需中央指令的协调成为可能</a:t>
            </a:r>
            <a:endParaRPr lang="en-US" sz="1200" dirty="0"/>
          </a:p>
        </p:txBody>
      </p:sp>
      <p:sp>
        <p:nvSpPr>
          <p:cNvPr id="14" name="Shape 12"/>
          <p:cNvSpPr/>
          <p:nvPr/>
        </p:nvSpPr>
        <p:spPr>
          <a:xfrm>
            <a:off x="457200" y="3703320"/>
            <a:ext cx="822960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703320"/>
            <a:ext cx="548640" cy="914400"/>
          </a:xfrm>
          <a:prstGeom prst="rect">
            <a:avLst/>
          </a:prstGeom>
          <a:solidFill>
            <a:srgbClr val="669BBC"/>
          </a:solidFill>
          <a:ln/>
        </p:spPr>
      </p:sp>
      <p:sp>
        <p:nvSpPr>
          <p:cNvPr id="16" name="Text 14"/>
          <p:cNvSpPr/>
          <p:nvPr/>
        </p:nvSpPr>
        <p:spPr>
          <a:xfrm>
            <a:off x="457200" y="3703320"/>
            <a:ext cx="548640" cy="91440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6</a:t>
            </a:r>
            <a:endParaRPr lang="en-US" sz="3600" dirty="0"/>
          </a:p>
        </p:txBody>
      </p:sp>
      <p:sp>
        <p:nvSpPr>
          <p:cNvPr id="17" name="Text 15"/>
          <p:cNvSpPr/>
          <p:nvPr/>
        </p:nvSpPr>
        <p:spPr>
          <a:xfrm>
            <a:off x="1188720" y="3794760"/>
            <a:ext cx="7315200" cy="365760"/>
          </a:xfrm>
          <a:prstGeom prst="rect">
            <a:avLst/>
          </a:prstGeom>
          <a:noFill/>
          <a:ln/>
        </p:spPr>
        <p:txBody>
          <a:bodyPr wrap="square" rtlCol="0" anchor="ctr"/>
          <a:lstStyle/>
          <a:p>
            <a:pPr indent="0" marL="0">
              <a:buNone/>
            </a:pPr>
            <a:r>
              <a:rPr lang="en-US" sz="1700" b="1" dirty="0">
                <a:solidFill>
                  <a:srgbClr val="780000"/>
                </a:solidFill>
                <a:latin typeface="Microsoft YaHei" pitchFamily="34" charset="0"/>
                <a:ea typeface="Microsoft YaHei" pitchFamily="34" charset="-122"/>
                <a:cs typeface="Microsoft YaHei" pitchFamily="34" charset="-120"/>
              </a:rPr>
              <a:t>时间偏好与利率</a:t>
            </a:r>
            <a:endParaRPr lang="en-US" sz="1700" dirty="0"/>
          </a:p>
        </p:txBody>
      </p:sp>
      <p:sp>
        <p:nvSpPr>
          <p:cNvPr id="18" name="Text 16"/>
          <p:cNvSpPr/>
          <p:nvPr/>
        </p:nvSpPr>
        <p:spPr>
          <a:xfrm>
            <a:off x="1188720" y="4160520"/>
            <a:ext cx="731520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利率反映社会的时间偏好结构，是连接现在与未来的桥梁</a:t>
            </a:r>
            <a:endParaRPr lang="en-US" sz="1200" dirty="0"/>
          </a:p>
        </p:txBody>
      </p:sp>
      <p:sp>
        <p:nvSpPr>
          <p:cNvPr id="19" name="Shape 17"/>
          <p:cNvSpPr/>
          <p:nvPr/>
        </p:nvSpPr>
        <p:spPr>
          <a:xfrm>
            <a:off x="8503920" y="4663440"/>
            <a:ext cx="365760" cy="365760"/>
          </a:xfrm>
          <a:prstGeom prst="ellipse">
            <a:avLst/>
          </a:prstGeom>
          <a:solidFill>
            <a:srgbClr val="C1121F"/>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奥地利学派 vs 新古典经济学</a:t>
            </a:r>
            <a:endParaRPr lang="en-US" sz="2800" dirty="0"/>
          </a:p>
        </p:txBody>
      </p:sp>
      <p:sp>
        <p:nvSpPr>
          <p:cNvPr id="4" name="Shape 2"/>
          <p:cNvSpPr/>
          <p:nvPr/>
        </p:nvSpPr>
        <p:spPr>
          <a:xfrm>
            <a:off x="457200" y="1051560"/>
            <a:ext cx="4114800" cy="502920"/>
          </a:xfrm>
          <a:prstGeom prst="rect">
            <a:avLst/>
          </a:prstGeom>
          <a:solidFill>
            <a:srgbClr val="780000"/>
          </a:solidFill>
          <a:ln/>
        </p:spPr>
      </p:sp>
      <p:sp>
        <p:nvSpPr>
          <p:cNvPr id="5" name="Text 3"/>
          <p:cNvSpPr/>
          <p:nvPr/>
        </p:nvSpPr>
        <p:spPr>
          <a:xfrm>
            <a:off x="457200" y="1051560"/>
            <a:ext cx="4114800" cy="50292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奥地利学派</a:t>
            </a:r>
            <a:endParaRPr lang="en-US" sz="1500" dirty="0"/>
          </a:p>
        </p:txBody>
      </p:sp>
      <p:sp>
        <p:nvSpPr>
          <p:cNvPr id="6" name="Shape 4"/>
          <p:cNvSpPr/>
          <p:nvPr/>
        </p:nvSpPr>
        <p:spPr>
          <a:xfrm>
            <a:off x="4572000" y="1051560"/>
            <a:ext cx="4114800" cy="502920"/>
          </a:xfrm>
          <a:prstGeom prst="rect">
            <a:avLst/>
          </a:prstGeom>
          <a:solidFill>
            <a:srgbClr val="003049"/>
          </a:solidFill>
          <a:ln/>
        </p:spPr>
      </p:sp>
      <p:sp>
        <p:nvSpPr>
          <p:cNvPr id="7" name="Text 5"/>
          <p:cNvSpPr/>
          <p:nvPr/>
        </p:nvSpPr>
        <p:spPr>
          <a:xfrm>
            <a:off x="4572000" y="1051560"/>
            <a:ext cx="4114800" cy="50292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新古典经济学</a:t>
            </a:r>
            <a:endParaRPr lang="en-US" sz="1500" dirty="0"/>
          </a:p>
        </p:txBody>
      </p:sp>
      <p:sp>
        <p:nvSpPr>
          <p:cNvPr id="8" name="Shape 6"/>
          <p:cNvSpPr/>
          <p:nvPr/>
        </p:nvSpPr>
        <p:spPr>
          <a:xfrm>
            <a:off x="457200" y="1554480"/>
            <a:ext cx="4114800" cy="640080"/>
          </a:xfrm>
          <a:prstGeom prst="rect">
            <a:avLst/>
          </a:prstGeom>
          <a:solidFill>
            <a:srgbClr val="FFFFFF"/>
          </a:solidFill>
          <a:ln/>
        </p:spPr>
      </p:sp>
      <p:sp>
        <p:nvSpPr>
          <p:cNvPr id="9" name="Shape 7"/>
          <p:cNvSpPr/>
          <p:nvPr/>
        </p:nvSpPr>
        <p:spPr>
          <a:xfrm>
            <a:off x="4572000" y="1554480"/>
            <a:ext cx="4114800" cy="640080"/>
          </a:xfrm>
          <a:prstGeom prst="rect">
            <a:avLst/>
          </a:prstGeom>
          <a:solidFill>
            <a:srgbClr val="FFFFFF"/>
          </a:solidFill>
          <a:ln/>
        </p:spPr>
      </p:sp>
      <p:sp>
        <p:nvSpPr>
          <p:cNvPr id="10" name="Text 8"/>
          <p:cNvSpPr/>
          <p:nvPr/>
        </p:nvSpPr>
        <p:spPr>
          <a:xfrm>
            <a:off x="594360" y="155448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动态过程视角</a:t>
            </a:r>
            <a:endParaRPr lang="en-US" sz="1200" dirty="0"/>
          </a:p>
        </p:txBody>
      </p:sp>
      <p:sp>
        <p:nvSpPr>
          <p:cNvPr id="11" name="Text 9"/>
          <p:cNvSpPr/>
          <p:nvPr/>
        </p:nvSpPr>
        <p:spPr>
          <a:xfrm>
            <a:off x="4709160" y="155448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静态均衡分析</a:t>
            </a:r>
            <a:endParaRPr lang="en-US" sz="1200" dirty="0"/>
          </a:p>
        </p:txBody>
      </p:sp>
      <p:sp>
        <p:nvSpPr>
          <p:cNvPr id="12" name="Shape 10"/>
          <p:cNvSpPr/>
          <p:nvPr/>
        </p:nvSpPr>
        <p:spPr>
          <a:xfrm>
            <a:off x="457200" y="2194560"/>
            <a:ext cx="4114800" cy="640080"/>
          </a:xfrm>
          <a:prstGeom prst="rect">
            <a:avLst/>
          </a:prstGeom>
          <a:solidFill>
            <a:srgbClr val="669BBC">
              <a:alpha val="40000"/>
            </a:srgbClr>
          </a:solidFill>
          <a:ln/>
        </p:spPr>
      </p:sp>
      <p:sp>
        <p:nvSpPr>
          <p:cNvPr id="13" name="Shape 11"/>
          <p:cNvSpPr/>
          <p:nvPr/>
        </p:nvSpPr>
        <p:spPr>
          <a:xfrm>
            <a:off x="4572000" y="2194560"/>
            <a:ext cx="4114800" cy="640080"/>
          </a:xfrm>
          <a:prstGeom prst="rect">
            <a:avLst/>
          </a:prstGeom>
          <a:solidFill>
            <a:srgbClr val="669BBC">
              <a:alpha val="40000"/>
            </a:srgbClr>
          </a:solidFill>
          <a:ln/>
        </p:spPr>
      </p:sp>
      <p:sp>
        <p:nvSpPr>
          <p:cNvPr id="14" name="Text 12"/>
          <p:cNvSpPr/>
          <p:nvPr/>
        </p:nvSpPr>
        <p:spPr>
          <a:xfrm>
            <a:off x="594360" y="219456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方法论个人主义</a:t>
            </a:r>
            <a:endParaRPr lang="en-US" sz="1200" dirty="0"/>
          </a:p>
        </p:txBody>
      </p:sp>
      <p:sp>
        <p:nvSpPr>
          <p:cNvPr id="15" name="Text 13"/>
          <p:cNvSpPr/>
          <p:nvPr/>
        </p:nvSpPr>
        <p:spPr>
          <a:xfrm>
            <a:off x="4709160" y="219456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代表性个体假设</a:t>
            </a:r>
            <a:endParaRPr lang="en-US" sz="1200" dirty="0"/>
          </a:p>
        </p:txBody>
      </p:sp>
      <p:sp>
        <p:nvSpPr>
          <p:cNvPr id="16" name="Shape 14"/>
          <p:cNvSpPr/>
          <p:nvPr/>
        </p:nvSpPr>
        <p:spPr>
          <a:xfrm>
            <a:off x="457200" y="2834640"/>
            <a:ext cx="4114800" cy="640080"/>
          </a:xfrm>
          <a:prstGeom prst="rect">
            <a:avLst/>
          </a:prstGeom>
          <a:solidFill>
            <a:srgbClr val="FFFFFF"/>
          </a:solidFill>
          <a:ln/>
        </p:spPr>
      </p:sp>
      <p:sp>
        <p:nvSpPr>
          <p:cNvPr id="17" name="Shape 15"/>
          <p:cNvSpPr/>
          <p:nvPr/>
        </p:nvSpPr>
        <p:spPr>
          <a:xfrm>
            <a:off x="4572000" y="2834640"/>
            <a:ext cx="4114800" cy="640080"/>
          </a:xfrm>
          <a:prstGeom prst="rect">
            <a:avLst/>
          </a:prstGeom>
          <a:solidFill>
            <a:srgbClr val="FFFFFF"/>
          </a:solidFill>
          <a:ln/>
        </p:spPr>
      </p:sp>
      <p:sp>
        <p:nvSpPr>
          <p:cNvPr id="18" name="Text 16"/>
          <p:cNvSpPr/>
          <p:nvPr/>
        </p:nvSpPr>
        <p:spPr>
          <a:xfrm>
            <a:off x="594360" y="283464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企业家精神核心</a:t>
            </a:r>
            <a:endParaRPr lang="en-US" sz="1200" dirty="0"/>
          </a:p>
        </p:txBody>
      </p:sp>
      <p:sp>
        <p:nvSpPr>
          <p:cNvPr id="19" name="Text 17"/>
          <p:cNvSpPr/>
          <p:nvPr/>
        </p:nvSpPr>
        <p:spPr>
          <a:xfrm>
            <a:off x="4709160" y="283464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技术进步外生</a:t>
            </a:r>
            <a:endParaRPr lang="en-US" sz="1200" dirty="0"/>
          </a:p>
        </p:txBody>
      </p:sp>
      <p:sp>
        <p:nvSpPr>
          <p:cNvPr id="20" name="Shape 18"/>
          <p:cNvSpPr/>
          <p:nvPr/>
        </p:nvSpPr>
        <p:spPr>
          <a:xfrm>
            <a:off x="457200" y="3474720"/>
            <a:ext cx="4114800" cy="640080"/>
          </a:xfrm>
          <a:prstGeom prst="rect">
            <a:avLst/>
          </a:prstGeom>
          <a:solidFill>
            <a:srgbClr val="669BBC">
              <a:alpha val="40000"/>
            </a:srgbClr>
          </a:solidFill>
          <a:ln/>
        </p:spPr>
      </p:sp>
      <p:sp>
        <p:nvSpPr>
          <p:cNvPr id="21" name="Shape 19"/>
          <p:cNvSpPr/>
          <p:nvPr/>
        </p:nvSpPr>
        <p:spPr>
          <a:xfrm>
            <a:off x="4572000" y="3474720"/>
            <a:ext cx="4114800" cy="640080"/>
          </a:xfrm>
          <a:prstGeom prst="rect">
            <a:avLst/>
          </a:prstGeom>
          <a:solidFill>
            <a:srgbClr val="669BBC">
              <a:alpha val="40000"/>
            </a:srgbClr>
          </a:solidFill>
          <a:ln/>
        </p:spPr>
      </p:sp>
      <p:sp>
        <p:nvSpPr>
          <p:cNvPr id="22" name="Text 20"/>
          <p:cNvSpPr/>
          <p:nvPr/>
        </p:nvSpPr>
        <p:spPr>
          <a:xfrm>
            <a:off x="594360" y="347472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价格传递真实信息</a:t>
            </a:r>
            <a:endParaRPr lang="en-US" sz="1200" dirty="0"/>
          </a:p>
        </p:txBody>
      </p:sp>
      <p:sp>
        <p:nvSpPr>
          <p:cNvPr id="23" name="Text 21"/>
          <p:cNvSpPr/>
          <p:nvPr/>
        </p:nvSpPr>
        <p:spPr>
          <a:xfrm>
            <a:off x="4709160" y="347472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信息完全假设</a:t>
            </a:r>
            <a:endParaRPr lang="en-US" sz="1200" dirty="0"/>
          </a:p>
        </p:txBody>
      </p:sp>
      <p:sp>
        <p:nvSpPr>
          <p:cNvPr id="24" name="Shape 22"/>
          <p:cNvSpPr/>
          <p:nvPr/>
        </p:nvSpPr>
        <p:spPr>
          <a:xfrm>
            <a:off x="457200" y="4114800"/>
            <a:ext cx="4114800" cy="640080"/>
          </a:xfrm>
          <a:prstGeom prst="rect">
            <a:avLst/>
          </a:prstGeom>
          <a:solidFill>
            <a:srgbClr val="FFFFFF"/>
          </a:solidFill>
          <a:ln/>
        </p:spPr>
      </p:sp>
      <p:sp>
        <p:nvSpPr>
          <p:cNvPr id="25" name="Shape 23"/>
          <p:cNvSpPr/>
          <p:nvPr/>
        </p:nvSpPr>
        <p:spPr>
          <a:xfrm>
            <a:off x="4572000" y="4114800"/>
            <a:ext cx="4114800" cy="640080"/>
          </a:xfrm>
          <a:prstGeom prst="rect">
            <a:avLst/>
          </a:prstGeom>
          <a:solidFill>
            <a:srgbClr val="FFFFFF"/>
          </a:solidFill>
          <a:ln/>
        </p:spPr>
      </p:sp>
      <p:sp>
        <p:nvSpPr>
          <p:cNvPr id="26" name="Text 24"/>
          <p:cNvSpPr/>
          <p:nvPr/>
        </p:nvSpPr>
        <p:spPr>
          <a:xfrm>
            <a:off x="594360" y="411480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反对数学形式主义</a:t>
            </a:r>
            <a:endParaRPr lang="en-US" sz="1200" dirty="0"/>
          </a:p>
        </p:txBody>
      </p:sp>
      <p:sp>
        <p:nvSpPr>
          <p:cNvPr id="27" name="Text 25"/>
          <p:cNvSpPr/>
          <p:nvPr/>
        </p:nvSpPr>
        <p:spPr>
          <a:xfrm>
            <a:off x="4709160" y="411480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高度数学化</a:t>
            </a:r>
            <a:endParaRPr lang="en-US" sz="1200" dirty="0"/>
          </a:p>
        </p:txBody>
      </p:sp>
      <p:sp>
        <p:nvSpPr>
          <p:cNvPr id="28" name="Shape 26"/>
          <p:cNvSpPr/>
          <p:nvPr/>
        </p:nvSpPr>
        <p:spPr>
          <a:xfrm>
            <a:off x="457200" y="4754880"/>
            <a:ext cx="4114800" cy="640080"/>
          </a:xfrm>
          <a:prstGeom prst="rect">
            <a:avLst/>
          </a:prstGeom>
          <a:solidFill>
            <a:srgbClr val="669BBC">
              <a:alpha val="40000"/>
            </a:srgbClr>
          </a:solidFill>
          <a:ln/>
        </p:spPr>
      </p:sp>
      <p:sp>
        <p:nvSpPr>
          <p:cNvPr id="29" name="Shape 27"/>
          <p:cNvSpPr/>
          <p:nvPr/>
        </p:nvSpPr>
        <p:spPr>
          <a:xfrm>
            <a:off x="4572000" y="4754880"/>
            <a:ext cx="4114800" cy="640080"/>
          </a:xfrm>
          <a:prstGeom prst="rect">
            <a:avLst/>
          </a:prstGeom>
          <a:solidFill>
            <a:srgbClr val="669BBC">
              <a:alpha val="40000"/>
            </a:srgbClr>
          </a:solidFill>
          <a:ln/>
        </p:spPr>
      </p:sp>
      <p:sp>
        <p:nvSpPr>
          <p:cNvPr id="30" name="Text 28"/>
          <p:cNvSpPr/>
          <p:nvPr/>
        </p:nvSpPr>
        <p:spPr>
          <a:xfrm>
            <a:off x="594360" y="4754880"/>
            <a:ext cx="3840480" cy="640080"/>
          </a:xfrm>
          <a:prstGeom prst="rect">
            <a:avLst/>
          </a:prstGeom>
          <a:noFill/>
          <a:ln/>
        </p:spPr>
        <p:txBody>
          <a:bodyPr wrap="square" rtlCol="0" anchor="ctr"/>
          <a:lstStyle/>
          <a:p>
            <a:pPr indent="0" marL="0">
              <a:buNone/>
            </a:pPr>
            <a:r>
              <a:rPr lang="en-US" sz="1200" dirty="0">
                <a:solidFill>
                  <a:srgbClr val="780000"/>
                </a:solidFill>
                <a:latin typeface="Microsoft YaHei" pitchFamily="34" charset="0"/>
                <a:ea typeface="Microsoft YaHei" pitchFamily="34" charset="-122"/>
                <a:cs typeface="Microsoft YaHei" pitchFamily="34" charset="-120"/>
              </a:rPr>
              <a:t>市场是发现程序</a:t>
            </a:r>
            <a:endParaRPr lang="en-US" sz="1200" dirty="0"/>
          </a:p>
        </p:txBody>
      </p:sp>
      <p:sp>
        <p:nvSpPr>
          <p:cNvPr id="31" name="Text 29"/>
          <p:cNvSpPr/>
          <p:nvPr/>
        </p:nvSpPr>
        <p:spPr>
          <a:xfrm>
            <a:off x="4709160" y="4754880"/>
            <a:ext cx="384048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市场出清为常态</a:t>
            </a:r>
            <a:endParaRPr lang="en-US" sz="1200" dirty="0"/>
          </a:p>
        </p:txBody>
      </p:sp>
      <p:sp>
        <p:nvSpPr>
          <p:cNvPr id="32" name="Shape 30"/>
          <p:cNvSpPr/>
          <p:nvPr/>
        </p:nvSpPr>
        <p:spPr>
          <a:xfrm>
            <a:off x="457200" y="4480560"/>
            <a:ext cx="8229600" cy="411480"/>
          </a:xfrm>
          <a:prstGeom prst="rect">
            <a:avLst/>
          </a:prstGeom>
          <a:solidFill>
            <a:srgbClr val="C1121F">
              <a:alpha val="15000"/>
            </a:srgbClr>
          </a:solidFill>
          <a:ln/>
        </p:spPr>
      </p:sp>
      <p:sp>
        <p:nvSpPr>
          <p:cNvPr id="33" name="Text 31"/>
          <p:cNvSpPr/>
          <p:nvPr/>
        </p:nvSpPr>
        <p:spPr>
          <a:xfrm>
            <a:off x="640080" y="4526280"/>
            <a:ext cx="7863840" cy="320040"/>
          </a:xfrm>
          <a:prstGeom prst="rect">
            <a:avLst/>
          </a:prstGeom>
          <a:noFill/>
          <a:ln/>
        </p:spPr>
        <p:txBody>
          <a:bodyPr wrap="square" rtlCol="0" anchor="ctr"/>
          <a:lstStyle/>
          <a:p>
            <a:pPr indent="0" marL="0">
              <a:buNone/>
            </a:pPr>
            <a:r>
              <a:rPr lang="en-US" sz="1200" dirty="0">
                <a:solidFill>
                  <a:srgbClr val="C1121F"/>
                </a:solidFill>
                <a:latin typeface="Microsoft YaHei" pitchFamily="34" charset="0"/>
                <a:ea typeface="Microsoft YaHei" pitchFamily="34" charset="-122"/>
                <a:cs typeface="Microsoft YaHei" pitchFamily="34" charset="-120"/>
              </a:rPr>
              <a:t>并非完全对立：两者共享"边际分析"基础，分歧在于对市场过程与信息的理解</a:t>
            </a:r>
            <a:endParaRPr lang="en-US" sz="1200" dirty="0"/>
          </a:p>
        </p:txBody>
      </p:sp>
      <p:sp>
        <p:nvSpPr>
          <p:cNvPr id="34" name="Shape 32"/>
          <p:cNvSpPr/>
          <p:nvPr/>
        </p:nvSpPr>
        <p:spPr>
          <a:xfrm>
            <a:off x="8503920" y="4663440"/>
            <a:ext cx="365760" cy="365760"/>
          </a:xfrm>
          <a:prstGeom prst="ellipse">
            <a:avLst/>
          </a:prstGeom>
          <a:solidFill>
            <a:srgbClr val="C1121F"/>
          </a:solidFill>
          <a:ln/>
        </p:spPr>
      </p:sp>
      <p:sp>
        <p:nvSpPr>
          <p:cNvPr id="35" name="Text 3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奥地利学派的当代传承</a:t>
            </a:r>
            <a:endParaRPr lang="en-US" sz="2800" dirty="0"/>
          </a:p>
        </p:txBody>
      </p:sp>
      <p:sp>
        <p:nvSpPr>
          <p:cNvPr id="4" name="Shape 2"/>
          <p:cNvSpPr/>
          <p:nvPr/>
        </p:nvSpPr>
        <p:spPr>
          <a:xfrm>
            <a:off x="457200" y="1051560"/>
            <a:ext cx="2651760" cy="2560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051560"/>
            <a:ext cx="2651760" cy="548640"/>
          </a:xfrm>
          <a:prstGeom prst="rect">
            <a:avLst/>
          </a:prstGeom>
          <a:solidFill>
            <a:srgbClr val="780000"/>
          </a:solidFill>
          <a:ln/>
        </p:spPr>
      </p:sp>
      <p:sp>
        <p:nvSpPr>
          <p:cNvPr id="6" name="Text 4"/>
          <p:cNvSpPr/>
          <p:nvPr/>
        </p:nvSpPr>
        <p:spPr>
          <a:xfrm>
            <a:off x="457200" y="1143000"/>
            <a:ext cx="2651760" cy="228600"/>
          </a:xfrm>
          <a:prstGeom prst="rect">
            <a:avLst/>
          </a:prstGeom>
          <a:noFill/>
          <a:ln/>
        </p:spPr>
        <p:txBody>
          <a:bodyPr wrap="square" rtlCol="0" anchor="ctr"/>
          <a:lstStyle/>
          <a:p>
            <a:pPr algn="ctr" indent="0" marL="0">
              <a:buNone/>
            </a:pPr>
            <a:r>
              <a:rPr lang="en-US" sz="1300" i="1" dirty="0">
                <a:solidFill>
                  <a:srgbClr val="FFFFFF"/>
                </a:solidFill>
                <a:latin typeface="Georgia" pitchFamily="34" charset="0"/>
                <a:ea typeface="Georgia" pitchFamily="34" charset="-122"/>
                <a:cs typeface="Georgia" pitchFamily="34" charset="-120"/>
              </a:rPr>
              <a:t>Israel Kirzner</a:t>
            </a:r>
            <a:endParaRPr lang="en-US" sz="1300" dirty="0"/>
          </a:p>
        </p:txBody>
      </p:sp>
      <p:sp>
        <p:nvSpPr>
          <p:cNvPr id="7" name="Text 5"/>
          <p:cNvSpPr/>
          <p:nvPr/>
        </p:nvSpPr>
        <p:spPr>
          <a:xfrm>
            <a:off x="457200" y="1399032"/>
            <a:ext cx="2651760" cy="182880"/>
          </a:xfrm>
          <a:prstGeom prst="rect">
            <a:avLst/>
          </a:prstGeom>
          <a:noFill/>
          <a:ln/>
        </p:spPr>
        <p:txBody>
          <a:bodyPr wrap="square" rtlCol="0" anchor="ctr"/>
          <a:lstStyle/>
          <a:p>
            <a:pPr algn="ctr" indent="0" marL="0">
              <a:buNone/>
            </a:pPr>
            <a:r>
              <a:rPr lang="en-US" sz="1000" dirty="0">
                <a:solidFill>
                  <a:srgbClr val="669BBC"/>
                </a:solidFill>
                <a:latin typeface="Calibri" pitchFamily="34" charset="0"/>
                <a:ea typeface="Calibri" pitchFamily="34" charset="-122"/>
                <a:cs typeface="Calibri" pitchFamily="34" charset="-120"/>
              </a:rPr>
              <a:t>1930-</a:t>
            </a:r>
            <a:endParaRPr lang="en-US" sz="1000" dirty="0"/>
          </a:p>
        </p:txBody>
      </p:sp>
      <p:sp>
        <p:nvSpPr>
          <p:cNvPr id="8" name="Text 6"/>
          <p:cNvSpPr/>
          <p:nvPr/>
        </p:nvSpPr>
        <p:spPr>
          <a:xfrm>
            <a:off x="594360" y="1737360"/>
            <a:ext cx="2377440" cy="173736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企业家发现理论</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市场过程中的"警觉"（alertness）——企业家识别利润机会的能力</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《竞争与企业家精神》(1973)</a:t>
            </a:r>
            <a:endParaRPr lang="en-US" sz="1100" dirty="0"/>
          </a:p>
        </p:txBody>
      </p:sp>
      <p:sp>
        <p:nvSpPr>
          <p:cNvPr id="9" name="Shape 7"/>
          <p:cNvSpPr/>
          <p:nvPr/>
        </p:nvSpPr>
        <p:spPr>
          <a:xfrm>
            <a:off x="3291840" y="1051560"/>
            <a:ext cx="2651760" cy="2560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3291840" y="1051560"/>
            <a:ext cx="2651760" cy="548640"/>
          </a:xfrm>
          <a:prstGeom prst="rect">
            <a:avLst/>
          </a:prstGeom>
          <a:solidFill>
            <a:srgbClr val="C1121F"/>
          </a:solidFill>
          <a:ln/>
        </p:spPr>
      </p:sp>
      <p:sp>
        <p:nvSpPr>
          <p:cNvPr id="11" name="Text 9"/>
          <p:cNvSpPr/>
          <p:nvPr/>
        </p:nvSpPr>
        <p:spPr>
          <a:xfrm>
            <a:off x="3291840" y="1143000"/>
            <a:ext cx="2651760" cy="228600"/>
          </a:xfrm>
          <a:prstGeom prst="rect">
            <a:avLst/>
          </a:prstGeom>
          <a:noFill/>
          <a:ln/>
        </p:spPr>
        <p:txBody>
          <a:bodyPr wrap="square" rtlCol="0" anchor="ctr"/>
          <a:lstStyle/>
          <a:p>
            <a:pPr algn="ctr" indent="0" marL="0">
              <a:buNone/>
            </a:pPr>
            <a:r>
              <a:rPr lang="en-US" sz="1300" i="1" dirty="0">
                <a:solidFill>
                  <a:srgbClr val="FFFFFF"/>
                </a:solidFill>
                <a:latin typeface="Georgia" pitchFamily="34" charset="0"/>
                <a:ea typeface="Georgia" pitchFamily="34" charset="-122"/>
                <a:cs typeface="Georgia" pitchFamily="34" charset="-120"/>
              </a:rPr>
              <a:t>Murray Rothbard</a:t>
            </a:r>
            <a:endParaRPr lang="en-US" sz="1300" dirty="0"/>
          </a:p>
        </p:txBody>
      </p:sp>
      <p:sp>
        <p:nvSpPr>
          <p:cNvPr id="12" name="Text 10"/>
          <p:cNvSpPr/>
          <p:nvPr/>
        </p:nvSpPr>
        <p:spPr>
          <a:xfrm>
            <a:off x="3291840" y="1399032"/>
            <a:ext cx="2651760" cy="182880"/>
          </a:xfrm>
          <a:prstGeom prst="rect">
            <a:avLst/>
          </a:prstGeom>
          <a:noFill/>
          <a:ln/>
        </p:spPr>
        <p:txBody>
          <a:bodyPr wrap="square" rtlCol="0" anchor="ctr"/>
          <a:lstStyle/>
          <a:p>
            <a:pPr algn="ctr" indent="0" marL="0">
              <a:buNone/>
            </a:pPr>
            <a:r>
              <a:rPr lang="en-US" sz="1000" dirty="0">
                <a:solidFill>
                  <a:srgbClr val="669BBC"/>
                </a:solidFill>
                <a:latin typeface="Calibri" pitchFamily="34" charset="0"/>
                <a:ea typeface="Calibri" pitchFamily="34" charset="-122"/>
                <a:cs typeface="Calibri" pitchFamily="34" charset="-120"/>
              </a:rPr>
              <a:t>1926-1995</a:t>
            </a:r>
            <a:endParaRPr lang="en-US" sz="1000" dirty="0"/>
          </a:p>
        </p:txBody>
      </p:sp>
      <p:sp>
        <p:nvSpPr>
          <p:cNvPr id="13" name="Text 11"/>
          <p:cNvSpPr/>
          <p:nvPr/>
        </p:nvSpPr>
        <p:spPr>
          <a:xfrm>
            <a:off x="3429000" y="1737360"/>
            <a:ext cx="2377440" cy="173736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自由至上主义</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将米塞斯的方法论与无政府资本主义结合</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《人、经济与国家》(1962)</a:t>
            </a:r>
            <a:endParaRPr lang="en-US" sz="1100" dirty="0"/>
          </a:p>
        </p:txBody>
      </p:sp>
      <p:sp>
        <p:nvSpPr>
          <p:cNvPr id="14" name="Shape 12"/>
          <p:cNvSpPr/>
          <p:nvPr/>
        </p:nvSpPr>
        <p:spPr>
          <a:xfrm>
            <a:off x="6126480" y="1051560"/>
            <a:ext cx="2651760" cy="2560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6126480" y="1051560"/>
            <a:ext cx="2651760" cy="548640"/>
          </a:xfrm>
          <a:prstGeom prst="rect">
            <a:avLst/>
          </a:prstGeom>
          <a:solidFill>
            <a:srgbClr val="669BBC"/>
          </a:solidFill>
          <a:ln/>
        </p:spPr>
      </p:sp>
      <p:sp>
        <p:nvSpPr>
          <p:cNvPr id="16" name="Text 14"/>
          <p:cNvSpPr/>
          <p:nvPr/>
        </p:nvSpPr>
        <p:spPr>
          <a:xfrm>
            <a:off x="6126480" y="1143000"/>
            <a:ext cx="2651760" cy="228600"/>
          </a:xfrm>
          <a:prstGeom prst="rect">
            <a:avLst/>
          </a:prstGeom>
          <a:noFill/>
          <a:ln/>
        </p:spPr>
        <p:txBody>
          <a:bodyPr wrap="square" rtlCol="0" anchor="ctr"/>
          <a:lstStyle/>
          <a:p>
            <a:pPr algn="ctr" indent="0" marL="0">
              <a:buNone/>
            </a:pPr>
            <a:r>
              <a:rPr lang="en-US" sz="1300" i="1" dirty="0">
                <a:solidFill>
                  <a:srgbClr val="780000"/>
                </a:solidFill>
                <a:latin typeface="Georgia" pitchFamily="34" charset="0"/>
                <a:ea typeface="Georgia" pitchFamily="34" charset="-122"/>
                <a:cs typeface="Georgia" pitchFamily="34" charset="-120"/>
              </a:rPr>
              <a:t>Hans-Hermann Hoppe</a:t>
            </a:r>
            <a:endParaRPr lang="en-US" sz="1300" dirty="0"/>
          </a:p>
        </p:txBody>
      </p:sp>
      <p:sp>
        <p:nvSpPr>
          <p:cNvPr id="17" name="Text 15"/>
          <p:cNvSpPr/>
          <p:nvPr/>
        </p:nvSpPr>
        <p:spPr>
          <a:xfrm>
            <a:off x="6126480" y="1399032"/>
            <a:ext cx="2651760" cy="182880"/>
          </a:xfrm>
          <a:prstGeom prst="rect">
            <a:avLst/>
          </a:prstGeom>
          <a:noFill/>
          <a:ln/>
        </p:spPr>
        <p:txBody>
          <a:bodyPr wrap="square" rtlCol="0" anchor="ctr"/>
          <a:lstStyle/>
          <a:p>
            <a:pPr algn="ctr" indent="0" marL="0">
              <a:buNone/>
            </a:pPr>
            <a:r>
              <a:rPr lang="en-US" sz="1000" dirty="0">
                <a:solidFill>
                  <a:srgbClr val="003049"/>
                </a:solidFill>
                <a:latin typeface="Calibri" pitchFamily="34" charset="0"/>
                <a:ea typeface="Calibri" pitchFamily="34" charset="-122"/>
                <a:cs typeface="Calibri" pitchFamily="34" charset="-120"/>
              </a:rPr>
              <a:t>1949-</a:t>
            </a:r>
            <a:endParaRPr lang="en-US" sz="1000" dirty="0"/>
          </a:p>
        </p:txBody>
      </p:sp>
      <p:sp>
        <p:nvSpPr>
          <p:cNvPr id="18" name="Text 16"/>
          <p:cNvSpPr/>
          <p:nvPr/>
        </p:nvSpPr>
        <p:spPr>
          <a:xfrm>
            <a:off x="6263640" y="1737360"/>
            <a:ext cx="2377440" cy="173736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论证伦理学</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从自有权出发为市场经济提供伦理基础</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《民主的黄昏》(1994)</a:t>
            </a:r>
            <a:endParaRPr lang="en-US" sz="1100" dirty="0"/>
          </a:p>
        </p:txBody>
      </p:sp>
      <p:sp>
        <p:nvSpPr>
          <p:cNvPr id="19" name="Shape 17"/>
          <p:cNvSpPr/>
          <p:nvPr/>
        </p:nvSpPr>
        <p:spPr>
          <a:xfrm>
            <a:off x="457200" y="3794760"/>
            <a:ext cx="8229600" cy="777240"/>
          </a:xfrm>
          <a:prstGeom prst="rect">
            <a:avLst/>
          </a:prstGeom>
          <a:solidFill>
            <a:srgbClr val="780000"/>
          </a:solidFill>
          <a:ln/>
        </p:spPr>
      </p:sp>
      <p:sp>
        <p:nvSpPr>
          <p:cNvPr id="20" name="Text 18"/>
          <p:cNvSpPr/>
          <p:nvPr/>
        </p:nvSpPr>
        <p:spPr>
          <a:xfrm>
            <a:off x="640080" y="3886200"/>
            <a:ext cx="7863840" cy="27432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奥地利学派的思想遗产</a:t>
            </a:r>
            <a:endParaRPr lang="en-US" sz="1400" dirty="0"/>
          </a:p>
        </p:txBody>
      </p:sp>
      <p:sp>
        <p:nvSpPr>
          <p:cNvPr id="21" name="Text 19"/>
          <p:cNvSpPr/>
          <p:nvPr/>
        </p:nvSpPr>
        <p:spPr>
          <a:xfrm>
            <a:off x="640080" y="4206240"/>
            <a:ext cx="7863840" cy="320040"/>
          </a:xfrm>
          <a:prstGeom prst="rect">
            <a:avLst/>
          </a:prstGeom>
          <a:noFill/>
          <a:ln/>
        </p:spPr>
        <p:txBody>
          <a:bodyPr wrap="square" rtlCol="0" anchor="ctr"/>
          <a:lstStyle/>
          <a:p>
            <a:pPr indent="0" marL="0">
              <a:buNone/>
            </a:pPr>
            <a:r>
              <a:rPr lang="en-US" sz="1200" dirty="0">
                <a:solidFill>
                  <a:srgbClr val="669BBC"/>
                </a:solidFill>
                <a:latin typeface="Microsoft YaHei" pitchFamily="34" charset="0"/>
                <a:ea typeface="Microsoft YaHei" pitchFamily="34" charset="-122"/>
                <a:cs typeface="Microsoft YaHei" pitchFamily="34" charset="-120"/>
              </a:rPr>
              <a:t>在金融危机、信息时代、创新经济学的语境下，持续提供独特的理论视角与政策启示</a:t>
            </a:r>
            <a:endParaRPr lang="en-US" sz="1200" dirty="0"/>
          </a:p>
        </p:txBody>
      </p:sp>
      <p:sp>
        <p:nvSpPr>
          <p:cNvPr id="22" name="Shape 20"/>
          <p:cNvSpPr/>
          <p:nvPr/>
        </p:nvSpPr>
        <p:spPr>
          <a:xfrm>
            <a:off x="8503920" y="4663440"/>
            <a:ext cx="365760" cy="365760"/>
          </a:xfrm>
          <a:prstGeom prst="ellipse">
            <a:avLst/>
          </a:prstGeom>
          <a:solidFill>
            <a:srgbClr val="C1121F"/>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从斯密到奥地利学派：思想脉络</a:t>
            </a:r>
            <a:endParaRPr lang="en-US" sz="2800" dirty="0"/>
          </a:p>
        </p:txBody>
      </p:sp>
      <p:sp>
        <p:nvSpPr>
          <p:cNvPr id="4" name="Shape 2"/>
          <p:cNvSpPr/>
          <p:nvPr/>
        </p:nvSpPr>
        <p:spPr>
          <a:xfrm>
            <a:off x="457200" y="1097280"/>
            <a:ext cx="1828800" cy="822960"/>
          </a:xfrm>
          <a:prstGeom prst="rect">
            <a:avLst/>
          </a:prstGeom>
          <a:solidFill>
            <a:srgbClr val="780000"/>
          </a:solidFill>
          <a:ln/>
        </p:spPr>
      </p:sp>
      <p:sp>
        <p:nvSpPr>
          <p:cNvPr id="5" name="Text 3"/>
          <p:cNvSpPr/>
          <p:nvPr/>
        </p:nvSpPr>
        <p:spPr>
          <a:xfrm>
            <a:off x="457200" y="1143000"/>
            <a:ext cx="1828800" cy="36576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亚当·斯密</a:t>
            </a:r>
            <a:endParaRPr lang="en-US" sz="1300" dirty="0"/>
          </a:p>
        </p:txBody>
      </p:sp>
      <p:sp>
        <p:nvSpPr>
          <p:cNvPr id="6" name="Text 4"/>
          <p:cNvSpPr/>
          <p:nvPr/>
        </p:nvSpPr>
        <p:spPr>
          <a:xfrm>
            <a:off x="457200" y="1508760"/>
            <a:ext cx="1828800" cy="320040"/>
          </a:xfrm>
          <a:prstGeom prst="rect">
            <a:avLst/>
          </a:prstGeom>
          <a:noFill/>
          <a:ln/>
        </p:spPr>
        <p:txBody>
          <a:bodyPr wrap="square" rtlCol="0" anchor="ctr"/>
          <a:lstStyle/>
          <a:p>
            <a:pPr algn="ctr" indent="0" marL="0">
              <a:buNone/>
            </a:pPr>
            <a:r>
              <a:rPr lang="en-US" sz="1100" dirty="0">
                <a:solidFill>
                  <a:srgbClr val="FDF0D5"/>
                </a:solidFill>
                <a:latin typeface="Microsoft YaHei" pitchFamily="34" charset="0"/>
                <a:ea typeface="Microsoft YaHei" pitchFamily="34" charset="-122"/>
                <a:cs typeface="Microsoft YaHei" pitchFamily="34" charset="-120"/>
              </a:rPr>
              <a:t>看不见的手</a:t>
            </a:r>
            <a:endParaRPr lang="en-US" sz="1100" dirty="0"/>
          </a:p>
        </p:txBody>
      </p:sp>
      <p:sp>
        <p:nvSpPr>
          <p:cNvPr id="7" name="Text 5"/>
          <p:cNvSpPr/>
          <p:nvPr/>
        </p:nvSpPr>
        <p:spPr>
          <a:xfrm>
            <a:off x="2286000" y="1234440"/>
            <a:ext cx="365760" cy="457200"/>
          </a:xfrm>
          <a:prstGeom prst="rect">
            <a:avLst/>
          </a:prstGeom>
          <a:noFill/>
          <a:ln/>
        </p:spPr>
        <p:txBody>
          <a:bodyPr wrap="square" rtlCol="0" anchor="ctr"/>
          <a:lstStyle/>
          <a:p>
            <a:pPr algn="ctr" indent="0" marL="0">
              <a:buNone/>
            </a:pPr>
            <a:r>
              <a:rPr lang="en-US" sz="2400" dirty="0">
                <a:solidFill>
                  <a:srgbClr val="003049"/>
                </a:solidFill>
                <a:latin typeface="Arial" pitchFamily="34" charset="0"/>
                <a:ea typeface="Arial" pitchFamily="34" charset="-122"/>
                <a:cs typeface="Arial" pitchFamily="34" charset="-120"/>
              </a:rPr>
              <a:t>→</a:t>
            </a:r>
            <a:endParaRPr lang="en-US" sz="2400" dirty="0"/>
          </a:p>
        </p:txBody>
      </p:sp>
      <p:sp>
        <p:nvSpPr>
          <p:cNvPr id="8" name="Shape 6"/>
          <p:cNvSpPr/>
          <p:nvPr/>
        </p:nvSpPr>
        <p:spPr>
          <a:xfrm>
            <a:off x="2834640" y="1097280"/>
            <a:ext cx="1828800" cy="822960"/>
          </a:xfrm>
          <a:prstGeom prst="rect">
            <a:avLst/>
          </a:prstGeom>
          <a:solidFill>
            <a:srgbClr val="003049"/>
          </a:solidFill>
          <a:ln/>
        </p:spPr>
      </p:sp>
      <p:sp>
        <p:nvSpPr>
          <p:cNvPr id="9" name="Text 7"/>
          <p:cNvSpPr/>
          <p:nvPr/>
        </p:nvSpPr>
        <p:spPr>
          <a:xfrm>
            <a:off x="2834640" y="1143000"/>
            <a:ext cx="1828800" cy="36576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李嘉图</a:t>
            </a:r>
            <a:endParaRPr lang="en-US" sz="1300" dirty="0"/>
          </a:p>
        </p:txBody>
      </p:sp>
      <p:sp>
        <p:nvSpPr>
          <p:cNvPr id="10" name="Text 8"/>
          <p:cNvSpPr/>
          <p:nvPr/>
        </p:nvSpPr>
        <p:spPr>
          <a:xfrm>
            <a:off x="2834640" y="1508760"/>
            <a:ext cx="1828800" cy="320040"/>
          </a:xfrm>
          <a:prstGeom prst="rect">
            <a:avLst/>
          </a:prstGeom>
          <a:noFill/>
          <a:ln/>
        </p:spPr>
        <p:txBody>
          <a:bodyPr wrap="square" rtlCol="0" anchor="ctr"/>
          <a:lstStyle/>
          <a:p>
            <a:pPr algn="ctr" indent="0" marL="0">
              <a:buNone/>
            </a:pPr>
            <a:r>
              <a:rPr lang="en-US" sz="1100" dirty="0">
                <a:solidFill>
                  <a:srgbClr val="FDF0D5"/>
                </a:solidFill>
                <a:latin typeface="Microsoft YaHei" pitchFamily="34" charset="0"/>
                <a:ea typeface="Microsoft YaHei" pitchFamily="34" charset="-122"/>
                <a:cs typeface="Microsoft YaHei" pitchFamily="34" charset="-120"/>
              </a:rPr>
              <a:t>劳动价值论</a:t>
            </a:r>
            <a:endParaRPr lang="en-US" sz="1100" dirty="0"/>
          </a:p>
        </p:txBody>
      </p:sp>
      <p:sp>
        <p:nvSpPr>
          <p:cNvPr id="11" name="Text 9"/>
          <p:cNvSpPr/>
          <p:nvPr/>
        </p:nvSpPr>
        <p:spPr>
          <a:xfrm>
            <a:off x="4663440" y="1234440"/>
            <a:ext cx="365760" cy="457200"/>
          </a:xfrm>
          <a:prstGeom prst="rect">
            <a:avLst/>
          </a:prstGeom>
          <a:noFill/>
          <a:ln/>
        </p:spPr>
        <p:txBody>
          <a:bodyPr wrap="square" rtlCol="0" anchor="ctr"/>
          <a:lstStyle/>
          <a:p>
            <a:pPr algn="ctr" indent="0" marL="0">
              <a:buNone/>
            </a:pPr>
            <a:r>
              <a:rPr lang="en-US" sz="2400" dirty="0">
                <a:solidFill>
                  <a:srgbClr val="003049"/>
                </a:solidFill>
                <a:latin typeface="Arial" pitchFamily="34" charset="0"/>
                <a:ea typeface="Arial" pitchFamily="34" charset="-122"/>
                <a:cs typeface="Arial" pitchFamily="34" charset="-120"/>
              </a:rPr>
              <a:t>→</a:t>
            </a:r>
            <a:endParaRPr lang="en-US" sz="2400" dirty="0"/>
          </a:p>
        </p:txBody>
      </p:sp>
      <p:sp>
        <p:nvSpPr>
          <p:cNvPr id="12" name="Shape 10"/>
          <p:cNvSpPr/>
          <p:nvPr/>
        </p:nvSpPr>
        <p:spPr>
          <a:xfrm>
            <a:off x="5212080" y="1097280"/>
            <a:ext cx="1828800" cy="822960"/>
          </a:xfrm>
          <a:prstGeom prst="rect">
            <a:avLst/>
          </a:prstGeom>
          <a:solidFill>
            <a:srgbClr val="C1121F"/>
          </a:solidFill>
          <a:ln/>
        </p:spPr>
      </p:sp>
      <p:sp>
        <p:nvSpPr>
          <p:cNvPr id="13" name="Text 11"/>
          <p:cNvSpPr/>
          <p:nvPr/>
        </p:nvSpPr>
        <p:spPr>
          <a:xfrm>
            <a:off x="5212080" y="1143000"/>
            <a:ext cx="1828800" cy="36576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门格尔</a:t>
            </a:r>
            <a:endParaRPr lang="en-US" sz="1300" dirty="0"/>
          </a:p>
        </p:txBody>
      </p:sp>
      <p:sp>
        <p:nvSpPr>
          <p:cNvPr id="14" name="Text 12"/>
          <p:cNvSpPr/>
          <p:nvPr/>
        </p:nvSpPr>
        <p:spPr>
          <a:xfrm>
            <a:off x="5212080" y="1508760"/>
            <a:ext cx="1828800" cy="320040"/>
          </a:xfrm>
          <a:prstGeom prst="rect">
            <a:avLst/>
          </a:prstGeom>
          <a:noFill/>
          <a:ln/>
        </p:spPr>
        <p:txBody>
          <a:bodyPr wrap="square" rtlCol="0" anchor="ctr"/>
          <a:lstStyle/>
          <a:p>
            <a:pPr algn="ctr" indent="0" marL="0">
              <a:buNone/>
            </a:pPr>
            <a:r>
              <a:rPr lang="en-US" sz="1100" dirty="0">
                <a:solidFill>
                  <a:srgbClr val="FDF0D5"/>
                </a:solidFill>
                <a:latin typeface="Microsoft YaHei" pitchFamily="34" charset="0"/>
                <a:ea typeface="Microsoft YaHei" pitchFamily="34" charset="-122"/>
                <a:cs typeface="Microsoft YaHei" pitchFamily="34" charset="-120"/>
              </a:rPr>
              <a:t>主观价值论</a:t>
            </a:r>
            <a:endParaRPr lang="en-US" sz="1100" dirty="0"/>
          </a:p>
        </p:txBody>
      </p:sp>
      <p:sp>
        <p:nvSpPr>
          <p:cNvPr id="15" name="Text 13"/>
          <p:cNvSpPr/>
          <p:nvPr/>
        </p:nvSpPr>
        <p:spPr>
          <a:xfrm>
            <a:off x="7040880" y="1234440"/>
            <a:ext cx="365760" cy="457200"/>
          </a:xfrm>
          <a:prstGeom prst="rect">
            <a:avLst/>
          </a:prstGeom>
          <a:noFill/>
          <a:ln/>
        </p:spPr>
        <p:txBody>
          <a:bodyPr wrap="square" rtlCol="0" anchor="ctr"/>
          <a:lstStyle/>
          <a:p>
            <a:pPr algn="ctr" indent="0" marL="0">
              <a:buNone/>
            </a:pPr>
            <a:r>
              <a:rPr lang="en-US" sz="2400" dirty="0">
                <a:solidFill>
                  <a:srgbClr val="003049"/>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7589520" y="1097280"/>
            <a:ext cx="1828800" cy="822960"/>
          </a:xfrm>
          <a:prstGeom prst="rect">
            <a:avLst/>
          </a:prstGeom>
          <a:solidFill>
            <a:srgbClr val="669BBC"/>
          </a:solidFill>
          <a:ln/>
        </p:spPr>
      </p:sp>
      <p:sp>
        <p:nvSpPr>
          <p:cNvPr id="17" name="Text 15"/>
          <p:cNvSpPr/>
          <p:nvPr/>
        </p:nvSpPr>
        <p:spPr>
          <a:xfrm>
            <a:off x="7589520" y="1143000"/>
            <a:ext cx="1828800" cy="36576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哈耶克</a:t>
            </a:r>
            <a:endParaRPr lang="en-US" sz="1300" dirty="0"/>
          </a:p>
        </p:txBody>
      </p:sp>
      <p:sp>
        <p:nvSpPr>
          <p:cNvPr id="18" name="Text 16"/>
          <p:cNvSpPr/>
          <p:nvPr/>
        </p:nvSpPr>
        <p:spPr>
          <a:xfrm>
            <a:off x="7589520" y="1508760"/>
            <a:ext cx="1828800" cy="320040"/>
          </a:xfrm>
          <a:prstGeom prst="rect">
            <a:avLst/>
          </a:prstGeom>
          <a:noFill/>
          <a:ln/>
        </p:spPr>
        <p:txBody>
          <a:bodyPr wrap="square" rtlCol="0" anchor="ctr"/>
          <a:lstStyle/>
          <a:p>
            <a:pPr algn="ctr" indent="0" marL="0">
              <a:buNone/>
            </a:pPr>
            <a:r>
              <a:rPr lang="en-US" sz="1100" dirty="0">
                <a:solidFill>
                  <a:srgbClr val="FDF0D5"/>
                </a:solidFill>
                <a:latin typeface="Microsoft YaHei" pitchFamily="34" charset="0"/>
                <a:ea typeface="Microsoft YaHei" pitchFamily="34" charset="-122"/>
                <a:cs typeface="Microsoft YaHei" pitchFamily="34" charset="-120"/>
              </a:rPr>
              <a:t>自发秩序</a:t>
            </a:r>
            <a:endParaRPr lang="en-US" sz="1100" dirty="0"/>
          </a:p>
        </p:txBody>
      </p:sp>
      <p:sp>
        <p:nvSpPr>
          <p:cNvPr id="19" name="Text 17"/>
          <p:cNvSpPr/>
          <p:nvPr/>
        </p:nvSpPr>
        <p:spPr>
          <a:xfrm>
            <a:off x="457200" y="2194560"/>
            <a:ext cx="822960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思想演进的逻辑</a:t>
            </a:r>
            <a:endParaRPr lang="en-US" sz="1600" dirty="0"/>
          </a:p>
        </p:txBody>
      </p:sp>
      <p:sp>
        <p:nvSpPr>
          <p:cNvPr id="20" name="Shape 18"/>
          <p:cNvSpPr/>
          <p:nvPr/>
        </p:nvSpPr>
        <p:spPr>
          <a:xfrm>
            <a:off x="457200" y="2651760"/>
            <a:ext cx="4023360" cy="146304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1" name="Shape 19"/>
          <p:cNvSpPr/>
          <p:nvPr/>
        </p:nvSpPr>
        <p:spPr>
          <a:xfrm>
            <a:off x="457200" y="2651760"/>
            <a:ext cx="54864" cy="1463040"/>
          </a:xfrm>
          <a:prstGeom prst="rect">
            <a:avLst/>
          </a:prstGeom>
          <a:solidFill>
            <a:srgbClr val="C1121F"/>
          </a:solidFill>
          <a:ln/>
        </p:spPr>
      </p:sp>
      <p:sp>
        <p:nvSpPr>
          <p:cNvPr id="22" name="Text 20"/>
          <p:cNvSpPr/>
          <p:nvPr/>
        </p:nvSpPr>
        <p:spPr>
          <a:xfrm>
            <a:off x="640080" y="2788920"/>
            <a:ext cx="3657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从客观到主观</a:t>
            </a:r>
            <a:endParaRPr lang="en-US" sz="1400" dirty="0"/>
          </a:p>
        </p:txBody>
      </p:sp>
      <p:sp>
        <p:nvSpPr>
          <p:cNvPr id="23" name="Text 21"/>
          <p:cNvSpPr/>
          <p:nvPr/>
        </p:nvSpPr>
        <p:spPr>
          <a:xfrm>
            <a:off x="640080" y="3154680"/>
            <a:ext cx="3657600" cy="91440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斯密：价值源于劳动（客观）</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门格尔：价值源于主观偏好</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这一转向彻底改变了经济学的根基</a:t>
            </a:r>
            <a:endParaRPr lang="en-US" sz="1100" dirty="0"/>
          </a:p>
        </p:txBody>
      </p:sp>
      <p:sp>
        <p:nvSpPr>
          <p:cNvPr id="24" name="Shape 22"/>
          <p:cNvSpPr/>
          <p:nvPr/>
        </p:nvSpPr>
        <p:spPr>
          <a:xfrm>
            <a:off x="4663440" y="2651760"/>
            <a:ext cx="4023360" cy="146304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5" name="Shape 23"/>
          <p:cNvSpPr/>
          <p:nvPr/>
        </p:nvSpPr>
        <p:spPr>
          <a:xfrm>
            <a:off x="4663440" y="2651760"/>
            <a:ext cx="54864" cy="1463040"/>
          </a:xfrm>
          <a:prstGeom prst="rect">
            <a:avLst/>
          </a:prstGeom>
          <a:solidFill>
            <a:srgbClr val="780000"/>
          </a:solidFill>
          <a:ln/>
        </p:spPr>
      </p:sp>
      <p:sp>
        <p:nvSpPr>
          <p:cNvPr id="26" name="Text 24"/>
          <p:cNvSpPr/>
          <p:nvPr/>
        </p:nvSpPr>
        <p:spPr>
          <a:xfrm>
            <a:off x="4846320" y="2788920"/>
            <a:ext cx="3657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从设计到自发</a:t>
            </a:r>
            <a:endParaRPr lang="en-US" sz="1400" dirty="0"/>
          </a:p>
        </p:txBody>
      </p:sp>
      <p:sp>
        <p:nvSpPr>
          <p:cNvPr id="27" name="Text 25"/>
          <p:cNvSpPr/>
          <p:nvPr/>
        </p:nvSpPr>
        <p:spPr>
          <a:xfrm>
            <a:off x="4846320" y="3154680"/>
            <a:ext cx="3657600" cy="91440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斯密：自然秩序的观察者</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哈耶克：秩序的自发演化</a:t>
            </a:r>
            <a:endParaRPr lang="en-US" sz="1100" dirty="0"/>
          </a:p>
          <a:p>
            <a:pPr indent="0" marL="0">
              <a:buNone/>
            </a:pPr>
            <a:r>
              <a:rPr lang="en-US" sz="500" dirty="0">
                <a:solidFill>
                  <a:srgbClr val="003049"/>
                </a:solidFill>
                <a:latin typeface="Microsoft YaHei" pitchFamily="34" charset="0"/>
                <a:ea typeface="Microsoft YaHei" pitchFamily="34" charset="-122"/>
                <a:cs typeface="Microsoft YaHei" pitchFamily="34" charset="-120"/>
              </a:rPr>
              <a:t>
</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无需"第一推动者"，秩序自然涌现</a:t>
            </a:r>
            <a:endParaRPr lang="en-US" sz="1100" dirty="0"/>
          </a:p>
        </p:txBody>
      </p:sp>
      <p:sp>
        <p:nvSpPr>
          <p:cNvPr id="28" name="Shape 26"/>
          <p:cNvSpPr/>
          <p:nvPr/>
        </p:nvSpPr>
        <p:spPr>
          <a:xfrm>
            <a:off x="457200" y="4297680"/>
            <a:ext cx="8229600" cy="594360"/>
          </a:xfrm>
          <a:prstGeom prst="rect">
            <a:avLst/>
          </a:prstGeom>
          <a:solidFill>
            <a:srgbClr val="669BBC">
              <a:alpha val="50000"/>
            </a:srgbClr>
          </a:solidFill>
          <a:ln/>
        </p:spPr>
      </p:sp>
      <p:sp>
        <p:nvSpPr>
          <p:cNvPr id="29" name="Text 27"/>
          <p:cNvSpPr/>
          <p:nvPr/>
        </p:nvSpPr>
        <p:spPr>
          <a:xfrm>
            <a:off x="640080" y="4434840"/>
            <a:ext cx="7863840" cy="320040"/>
          </a:xfrm>
          <a:prstGeom prst="rect">
            <a:avLst/>
          </a:prstGeom>
          <a:noFill/>
          <a:ln/>
        </p:spPr>
        <p:txBody>
          <a:bodyPr wrap="square" rtlCol="0" anchor="ctr"/>
          <a:lstStyle/>
          <a:p>
            <a:pPr algn="ctr" indent="0" marL="0">
              <a:buNone/>
            </a:pPr>
            <a:r>
              <a:rPr lang="en-US" sz="1400" b="1" dirty="0">
                <a:solidFill>
                  <a:srgbClr val="780000"/>
                </a:solidFill>
                <a:latin typeface="Microsoft YaHei" pitchFamily="34" charset="0"/>
                <a:ea typeface="Microsoft YaHei" pitchFamily="34" charset="-122"/>
                <a:cs typeface="Microsoft YaHei" pitchFamily="34" charset="-120"/>
              </a:rPr>
              <a:t>共同精神遗产：对人的能动性的信仰，对理性自负的警惕</a:t>
            </a:r>
            <a:endParaRPr lang="en-US" sz="1400" dirty="0"/>
          </a:p>
        </p:txBody>
      </p:sp>
      <p:sp>
        <p:nvSpPr>
          <p:cNvPr id="30" name="Shape 28"/>
          <p:cNvSpPr/>
          <p:nvPr/>
        </p:nvSpPr>
        <p:spPr>
          <a:xfrm>
            <a:off x="8503920" y="4663440"/>
            <a:ext cx="365760" cy="365760"/>
          </a:xfrm>
          <a:prstGeom prst="ellipse">
            <a:avLst/>
          </a:prstGeom>
          <a:solidFill>
            <a:srgbClr val="C1121F"/>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800" b="1" dirty="0">
                <a:solidFill>
                  <a:srgbClr val="FDF0D5"/>
                </a:solidFill>
                <a:latin typeface="Microsoft YaHei" pitchFamily="34" charset="0"/>
                <a:ea typeface="Microsoft YaHei" pitchFamily="34" charset="-122"/>
                <a:cs typeface="Microsoft YaHei" pitchFamily="34" charset="-120"/>
              </a:rPr>
              <a:t>第一模块小结</a:t>
            </a:r>
            <a:endParaRPr lang="en-US" sz="2800" dirty="0"/>
          </a:p>
        </p:txBody>
      </p:sp>
      <p:sp>
        <p:nvSpPr>
          <p:cNvPr id="4" name="Text 2"/>
          <p:cNvSpPr/>
          <p:nvPr/>
        </p:nvSpPr>
        <p:spPr>
          <a:xfrm>
            <a:off x="457200" y="960120"/>
            <a:ext cx="8229600" cy="274320"/>
          </a:xfrm>
          <a:prstGeom prst="rect">
            <a:avLst/>
          </a:prstGeom>
          <a:noFill/>
          <a:ln/>
        </p:spPr>
        <p:txBody>
          <a:bodyPr wrap="square" rtlCol="0" anchor="ctr"/>
          <a:lstStyle/>
          <a:p>
            <a:pPr indent="0" marL="0">
              <a:buNone/>
            </a:pPr>
            <a:r>
              <a:rPr lang="en-US" sz="1200" i="1" dirty="0">
                <a:solidFill>
                  <a:srgbClr val="669BBC"/>
                </a:solidFill>
                <a:latin typeface="Georgia" pitchFamily="34" charset="0"/>
                <a:ea typeface="Georgia" pitchFamily="34" charset="-122"/>
                <a:cs typeface="Georgia" pitchFamily="34" charset="-120"/>
              </a:rPr>
              <a:t>MODULE 01 | Austrian School</a:t>
            </a:r>
            <a:endParaRPr lang="en-US" sz="1200" dirty="0"/>
          </a:p>
        </p:txBody>
      </p:sp>
      <p:sp>
        <p:nvSpPr>
          <p:cNvPr id="5" name="Shape 3"/>
          <p:cNvSpPr/>
          <p:nvPr/>
        </p:nvSpPr>
        <p:spPr>
          <a:xfrm>
            <a:off x="457200" y="1371600"/>
            <a:ext cx="4023360" cy="109728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6" name="Shape 4"/>
          <p:cNvSpPr/>
          <p:nvPr/>
        </p:nvSpPr>
        <p:spPr>
          <a:xfrm>
            <a:off x="457200" y="1371600"/>
            <a:ext cx="457200" cy="1097280"/>
          </a:xfrm>
          <a:prstGeom prst="rect">
            <a:avLst/>
          </a:prstGeom>
          <a:solidFill>
            <a:srgbClr val="780000"/>
          </a:solidFill>
          <a:ln/>
        </p:spPr>
      </p:sp>
      <p:sp>
        <p:nvSpPr>
          <p:cNvPr id="7" name="Text 5"/>
          <p:cNvSpPr/>
          <p:nvPr/>
        </p:nvSpPr>
        <p:spPr>
          <a:xfrm>
            <a:off x="457200" y="1371600"/>
            <a:ext cx="457200" cy="10972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051560" y="1508760"/>
            <a:ext cx="329184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边际革命</a:t>
            </a:r>
            <a:endParaRPr lang="en-US" sz="1400" dirty="0"/>
          </a:p>
        </p:txBody>
      </p:sp>
      <p:sp>
        <p:nvSpPr>
          <p:cNvPr id="9" name="Text 7"/>
          <p:cNvSpPr/>
          <p:nvPr/>
        </p:nvSpPr>
        <p:spPr>
          <a:xfrm>
            <a:off x="1051560" y="1874520"/>
            <a:ext cx="3291840" cy="5029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主观价值论取代劳动价值论，奠定现代经济学基础</a:t>
            </a:r>
            <a:endParaRPr lang="en-US" sz="1100" dirty="0"/>
          </a:p>
        </p:txBody>
      </p:sp>
      <p:sp>
        <p:nvSpPr>
          <p:cNvPr id="10" name="Shape 8"/>
          <p:cNvSpPr/>
          <p:nvPr/>
        </p:nvSpPr>
        <p:spPr>
          <a:xfrm>
            <a:off x="4663440" y="1371600"/>
            <a:ext cx="4023360" cy="109728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11" name="Shape 9"/>
          <p:cNvSpPr/>
          <p:nvPr/>
        </p:nvSpPr>
        <p:spPr>
          <a:xfrm>
            <a:off x="4663440" y="1371600"/>
            <a:ext cx="457200" cy="1097280"/>
          </a:xfrm>
          <a:prstGeom prst="rect">
            <a:avLst/>
          </a:prstGeom>
          <a:solidFill>
            <a:srgbClr val="780000"/>
          </a:solidFill>
          <a:ln/>
        </p:spPr>
      </p:sp>
      <p:sp>
        <p:nvSpPr>
          <p:cNvPr id="12" name="Text 10"/>
          <p:cNvSpPr/>
          <p:nvPr/>
        </p:nvSpPr>
        <p:spPr>
          <a:xfrm>
            <a:off x="4663440" y="1371600"/>
            <a:ext cx="457200" cy="10972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5257800" y="1508760"/>
            <a:ext cx="329184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方法论个人主义</a:t>
            </a:r>
            <a:endParaRPr lang="en-US" sz="1400" dirty="0"/>
          </a:p>
        </p:txBody>
      </p:sp>
      <p:sp>
        <p:nvSpPr>
          <p:cNvPr id="14" name="Text 12"/>
          <p:cNvSpPr/>
          <p:nvPr/>
        </p:nvSpPr>
        <p:spPr>
          <a:xfrm>
            <a:off x="5257800" y="1874520"/>
            <a:ext cx="3291840" cy="5029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从个体行动出发解释社会现象，拒绝集体主义叙事</a:t>
            </a:r>
            <a:endParaRPr lang="en-US" sz="1100" dirty="0"/>
          </a:p>
        </p:txBody>
      </p:sp>
      <p:sp>
        <p:nvSpPr>
          <p:cNvPr id="15" name="Shape 13"/>
          <p:cNvSpPr/>
          <p:nvPr/>
        </p:nvSpPr>
        <p:spPr>
          <a:xfrm>
            <a:off x="457200" y="2651760"/>
            <a:ext cx="4023360" cy="109728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16" name="Shape 14"/>
          <p:cNvSpPr/>
          <p:nvPr/>
        </p:nvSpPr>
        <p:spPr>
          <a:xfrm>
            <a:off x="457200" y="2651760"/>
            <a:ext cx="457200" cy="1097280"/>
          </a:xfrm>
          <a:prstGeom prst="rect">
            <a:avLst/>
          </a:prstGeom>
          <a:solidFill>
            <a:srgbClr val="C1121F"/>
          </a:solidFill>
          <a:ln/>
        </p:spPr>
      </p:sp>
      <p:sp>
        <p:nvSpPr>
          <p:cNvPr id="17" name="Text 15"/>
          <p:cNvSpPr/>
          <p:nvPr/>
        </p:nvSpPr>
        <p:spPr>
          <a:xfrm>
            <a:off x="457200" y="2651760"/>
            <a:ext cx="457200" cy="10972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1051560" y="2788920"/>
            <a:ext cx="329184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自发秩序</a:t>
            </a:r>
            <a:endParaRPr lang="en-US" sz="1400" dirty="0"/>
          </a:p>
        </p:txBody>
      </p:sp>
      <p:sp>
        <p:nvSpPr>
          <p:cNvPr id="19" name="Text 17"/>
          <p:cNvSpPr/>
          <p:nvPr/>
        </p:nvSpPr>
        <p:spPr>
          <a:xfrm>
            <a:off x="1051560" y="3154680"/>
            <a:ext cx="3291840" cy="5029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市场是发现程序，价格传递分散信息，无需中央设计</a:t>
            </a:r>
            <a:endParaRPr lang="en-US" sz="1100" dirty="0"/>
          </a:p>
        </p:txBody>
      </p:sp>
      <p:sp>
        <p:nvSpPr>
          <p:cNvPr id="20" name="Shape 18"/>
          <p:cNvSpPr/>
          <p:nvPr/>
        </p:nvSpPr>
        <p:spPr>
          <a:xfrm>
            <a:off x="4663440" y="2651760"/>
            <a:ext cx="4023360" cy="109728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1" name="Shape 19"/>
          <p:cNvSpPr/>
          <p:nvPr/>
        </p:nvSpPr>
        <p:spPr>
          <a:xfrm>
            <a:off x="4663440" y="2651760"/>
            <a:ext cx="457200" cy="1097280"/>
          </a:xfrm>
          <a:prstGeom prst="rect">
            <a:avLst/>
          </a:prstGeom>
          <a:solidFill>
            <a:srgbClr val="C1121F"/>
          </a:solidFill>
          <a:ln/>
        </p:spPr>
      </p:sp>
      <p:sp>
        <p:nvSpPr>
          <p:cNvPr id="22" name="Text 20"/>
          <p:cNvSpPr/>
          <p:nvPr/>
        </p:nvSpPr>
        <p:spPr>
          <a:xfrm>
            <a:off x="4663440" y="2651760"/>
            <a:ext cx="457200" cy="10972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04</a:t>
            </a:r>
            <a:endParaRPr lang="en-US" sz="1800" dirty="0"/>
          </a:p>
        </p:txBody>
      </p:sp>
      <p:sp>
        <p:nvSpPr>
          <p:cNvPr id="23" name="Text 21"/>
          <p:cNvSpPr/>
          <p:nvPr/>
        </p:nvSpPr>
        <p:spPr>
          <a:xfrm>
            <a:off x="5257800" y="2788920"/>
            <a:ext cx="329184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创造性破坏</a:t>
            </a:r>
            <a:endParaRPr lang="en-US" sz="1400" dirty="0"/>
          </a:p>
        </p:txBody>
      </p:sp>
      <p:sp>
        <p:nvSpPr>
          <p:cNvPr id="24" name="Text 22"/>
          <p:cNvSpPr/>
          <p:nvPr/>
        </p:nvSpPr>
        <p:spPr>
          <a:xfrm>
            <a:off x="5257800" y="3154680"/>
            <a:ext cx="3291840" cy="5029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企业家创新推动经济发展，旧秩序不断被新组合取代</a:t>
            </a:r>
            <a:endParaRPr lang="en-US" sz="1100" dirty="0"/>
          </a:p>
        </p:txBody>
      </p:sp>
      <p:sp>
        <p:nvSpPr>
          <p:cNvPr id="25" name="Shape 23"/>
          <p:cNvSpPr/>
          <p:nvPr/>
        </p:nvSpPr>
        <p:spPr>
          <a:xfrm>
            <a:off x="457200" y="3840480"/>
            <a:ext cx="8229600" cy="685800"/>
          </a:xfrm>
          <a:prstGeom prst="rect">
            <a:avLst/>
          </a:prstGeom>
          <a:solidFill>
            <a:srgbClr val="780000"/>
          </a:solidFill>
          <a:ln/>
        </p:spPr>
      </p:sp>
      <p:sp>
        <p:nvSpPr>
          <p:cNvPr id="26" name="Text 24"/>
          <p:cNvSpPr/>
          <p:nvPr/>
        </p:nvSpPr>
        <p:spPr>
          <a:xfrm>
            <a:off x="640080" y="3931920"/>
            <a:ext cx="2286000" cy="228600"/>
          </a:xfrm>
          <a:prstGeom prst="rect">
            <a:avLst/>
          </a:prstGeom>
          <a:noFill/>
          <a:ln/>
        </p:spPr>
        <p:txBody>
          <a:bodyPr wrap="square" rtlCol="0" anchor="ctr"/>
          <a:lstStyle/>
          <a:p>
            <a:pPr indent="0" marL="0">
              <a:buNone/>
            </a:pPr>
            <a:r>
              <a:rPr lang="en-US" sz="1200" b="1" dirty="0">
                <a:solidFill>
                  <a:srgbClr val="669BBC"/>
                </a:solidFill>
                <a:latin typeface="Microsoft YaHei" pitchFamily="34" charset="0"/>
                <a:ea typeface="Microsoft YaHei" pitchFamily="34" charset="-122"/>
                <a:cs typeface="Microsoft YaHei" pitchFamily="34" charset="-120"/>
              </a:rPr>
              <a:t>模块之间的联系</a:t>
            </a:r>
            <a:endParaRPr lang="en-US" sz="1200" dirty="0"/>
          </a:p>
        </p:txBody>
      </p:sp>
      <p:sp>
        <p:nvSpPr>
          <p:cNvPr id="27" name="Text 25"/>
          <p:cNvSpPr/>
          <p:nvPr/>
        </p:nvSpPr>
        <p:spPr>
          <a:xfrm>
            <a:off x="640080" y="4206240"/>
            <a:ext cx="7863840" cy="274320"/>
          </a:xfrm>
          <a:prstGeom prst="rect">
            <a:avLst/>
          </a:prstGeom>
          <a:noFill/>
          <a:ln/>
        </p:spPr>
        <p:txBody>
          <a:bodyPr wrap="square" rtlCol="0" anchor="ctr"/>
          <a:lstStyle/>
          <a:p>
            <a:pPr indent="0" marL="0">
              <a:buNone/>
            </a:pPr>
            <a:r>
              <a:rPr lang="en-US" sz="1200" dirty="0">
                <a:solidFill>
                  <a:srgbClr val="FDF0D5"/>
                </a:solidFill>
                <a:latin typeface="Microsoft YaHei" pitchFamily="34" charset="0"/>
                <a:ea typeface="Microsoft YaHei" pitchFamily="34" charset="-122"/>
                <a:cs typeface="Microsoft YaHei" pitchFamily="34" charset="-120"/>
              </a:rPr>
              <a:t>奥地利学派将斯密的洞见系统化，并为后续的制度经济学、演化经济学、行为经济学奠定了方法论基础。</a:t>
            </a:r>
            <a:endParaRPr lang="en-US" sz="1200" dirty="0"/>
          </a:p>
        </p:txBody>
      </p:sp>
      <p:sp>
        <p:nvSpPr>
          <p:cNvPr id="28" name="Shape 26"/>
          <p:cNvSpPr/>
          <p:nvPr/>
        </p:nvSpPr>
        <p:spPr>
          <a:xfrm>
            <a:off x="8503920" y="4663440"/>
            <a:ext cx="365760" cy="365760"/>
          </a:xfrm>
          <a:prstGeom prst="ellipse">
            <a:avLst/>
          </a:prstGeom>
          <a:solidFill>
            <a:srgbClr val="C1121F"/>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第二模块</a:t>
            </a:r>
            <a:endParaRPr lang="en-US" sz="1600" dirty="0"/>
          </a:p>
        </p:txBody>
      </p:sp>
      <p:sp>
        <p:nvSpPr>
          <p:cNvPr id="4" name="Text 2"/>
          <p:cNvSpPr/>
          <p:nvPr/>
        </p:nvSpPr>
        <p:spPr>
          <a:xfrm>
            <a:off x="457200" y="502920"/>
            <a:ext cx="8229600" cy="50292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芝加哥学派的演变</a:t>
            </a:r>
            <a:endParaRPr lang="en-US" sz="3200" dirty="0"/>
          </a:p>
        </p:txBody>
      </p:sp>
      <p:sp>
        <p:nvSpPr>
          <p:cNvPr id="5" name="Text 3"/>
          <p:cNvSpPr/>
          <p:nvPr/>
        </p:nvSpPr>
        <p:spPr>
          <a:xfrm>
            <a:off x="457200" y="1463040"/>
            <a:ext cx="8229600" cy="365760"/>
          </a:xfrm>
          <a:prstGeom prst="rect">
            <a:avLst/>
          </a:prstGeom>
          <a:noFill/>
          <a:ln/>
        </p:spPr>
        <p:txBody>
          <a:bodyPr wrap="square" rtlCol="0" anchor="ctr"/>
          <a:lstStyle/>
          <a:p>
            <a:pPr indent="0" marL="0">
              <a:buNone/>
            </a:pPr>
            <a:r>
              <a:rPr lang="en-US" sz="1600" i="1" dirty="0">
                <a:solidFill>
                  <a:srgbClr val="003049"/>
                </a:solidFill>
                <a:latin typeface="Georgia" pitchFamily="34" charset="0"/>
                <a:ea typeface="Georgia" pitchFamily="34" charset="-122"/>
                <a:cs typeface="Georgia" pitchFamily="34" charset="-120"/>
              </a:rPr>
              <a:t>From Vienna to Chicago: The Evolution of Economic Freedom</a:t>
            </a:r>
            <a:endParaRPr lang="en-US" sz="1600" dirty="0"/>
          </a:p>
        </p:txBody>
      </p:sp>
      <p:sp>
        <p:nvSpPr>
          <p:cNvPr id="6" name="Shape 4"/>
          <p:cNvSpPr/>
          <p:nvPr/>
        </p:nvSpPr>
        <p:spPr>
          <a:xfrm>
            <a:off x="457200" y="2103120"/>
            <a:ext cx="2011680" cy="1645920"/>
          </a:xfrm>
          <a:prstGeom prst="rect">
            <a:avLst/>
          </a:prstGeom>
          <a:solidFill>
            <a:srgbClr val="FFFFFF"/>
          </a:solidFill>
          <a:ln w="12700">
            <a:solidFill>
              <a:srgbClr val="669BBC"/>
            </a:solidFill>
            <a:prstDash val="solid"/>
          </a:ln>
        </p:spPr>
      </p:sp>
      <p:sp>
        <p:nvSpPr>
          <p:cNvPr id="7" name="Text 5"/>
          <p:cNvSpPr/>
          <p:nvPr/>
        </p:nvSpPr>
        <p:spPr>
          <a:xfrm>
            <a:off x="457200" y="224028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457200" y="2743200"/>
            <a:ext cx="2011680" cy="365760"/>
          </a:xfrm>
          <a:prstGeom prst="rect">
            <a:avLst/>
          </a:prstGeom>
          <a:noFill/>
          <a:ln/>
        </p:spPr>
        <p:txBody>
          <a:bodyPr wrap="square" rtlCol="0" anchor="ctr"/>
          <a:lstStyle/>
          <a:p>
            <a:pPr algn="ctr" indent="0" marL="0">
              <a:buNone/>
            </a:pPr>
            <a:r>
              <a:rPr lang="en-US" sz="1600" b="1" dirty="0">
                <a:solidFill>
                  <a:srgbClr val="780000"/>
                </a:solidFill>
                <a:latin typeface="Microsoft YaHei" pitchFamily="34" charset="0"/>
                <a:ea typeface="Microsoft YaHei" pitchFamily="34" charset="-122"/>
                <a:cs typeface="Microsoft YaHei" pitchFamily="34" charset="-120"/>
              </a:rPr>
              <a:t>弗里德曼</a:t>
            </a:r>
            <a:endParaRPr lang="en-US" sz="1600" dirty="0"/>
          </a:p>
        </p:txBody>
      </p:sp>
      <p:sp>
        <p:nvSpPr>
          <p:cNvPr id="9" name="Text 7"/>
          <p:cNvSpPr/>
          <p:nvPr/>
        </p:nvSpPr>
        <p:spPr>
          <a:xfrm>
            <a:off x="457200" y="3154680"/>
            <a:ext cx="2011680" cy="457200"/>
          </a:xfrm>
          <a:prstGeom prst="rect">
            <a:avLst/>
          </a:prstGeom>
          <a:noFill/>
          <a:ln/>
        </p:spPr>
        <p:txBody>
          <a:bodyPr wrap="square" rtlCol="0" anchor="ctr"/>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货币主义的奠基人</a:t>
            </a:r>
            <a:endParaRPr lang="en-US" sz="1200" dirty="0"/>
          </a:p>
        </p:txBody>
      </p:sp>
      <p:sp>
        <p:nvSpPr>
          <p:cNvPr id="10" name="Shape 8"/>
          <p:cNvSpPr/>
          <p:nvPr/>
        </p:nvSpPr>
        <p:spPr>
          <a:xfrm>
            <a:off x="2606040" y="2103120"/>
            <a:ext cx="2011680" cy="1645920"/>
          </a:xfrm>
          <a:prstGeom prst="rect">
            <a:avLst/>
          </a:prstGeom>
          <a:solidFill>
            <a:srgbClr val="FFFFFF"/>
          </a:solidFill>
          <a:ln w="12700">
            <a:solidFill>
              <a:srgbClr val="669BBC"/>
            </a:solidFill>
            <a:prstDash val="solid"/>
          </a:ln>
        </p:spPr>
      </p:sp>
      <p:sp>
        <p:nvSpPr>
          <p:cNvPr id="11" name="Text 9"/>
          <p:cNvSpPr/>
          <p:nvPr/>
        </p:nvSpPr>
        <p:spPr>
          <a:xfrm>
            <a:off x="2606040" y="224028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2" name="Text 10"/>
          <p:cNvSpPr/>
          <p:nvPr/>
        </p:nvSpPr>
        <p:spPr>
          <a:xfrm>
            <a:off x="2606040" y="2743200"/>
            <a:ext cx="2011680" cy="365760"/>
          </a:xfrm>
          <a:prstGeom prst="rect">
            <a:avLst/>
          </a:prstGeom>
          <a:noFill/>
          <a:ln/>
        </p:spPr>
        <p:txBody>
          <a:bodyPr wrap="square" rtlCol="0" anchor="ctr"/>
          <a:lstStyle/>
          <a:p>
            <a:pPr algn="ctr" indent="0" marL="0">
              <a:buNone/>
            </a:pPr>
            <a:r>
              <a:rPr lang="en-US" sz="1600" b="1" dirty="0">
                <a:solidFill>
                  <a:srgbClr val="780000"/>
                </a:solidFill>
                <a:latin typeface="Microsoft YaHei" pitchFamily="34" charset="0"/>
                <a:ea typeface="Microsoft YaHei" pitchFamily="34" charset="-122"/>
                <a:cs typeface="Microsoft YaHei" pitchFamily="34" charset="-120"/>
              </a:rPr>
              <a:t>科斯</a:t>
            </a:r>
            <a:endParaRPr lang="en-US" sz="1600" dirty="0"/>
          </a:p>
        </p:txBody>
      </p:sp>
      <p:sp>
        <p:nvSpPr>
          <p:cNvPr id="13" name="Text 11"/>
          <p:cNvSpPr/>
          <p:nvPr/>
        </p:nvSpPr>
        <p:spPr>
          <a:xfrm>
            <a:off x="2606040" y="3154680"/>
            <a:ext cx="2011680" cy="457200"/>
          </a:xfrm>
          <a:prstGeom prst="rect">
            <a:avLst/>
          </a:prstGeom>
          <a:noFill/>
          <a:ln/>
        </p:spPr>
        <p:txBody>
          <a:bodyPr wrap="square" rtlCol="0" anchor="ctr"/>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产权理论的诞生</a:t>
            </a:r>
            <a:endParaRPr lang="en-US" sz="1200" dirty="0"/>
          </a:p>
        </p:txBody>
      </p:sp>
      <p:sp>
        <p:nvSpPr>
          <p:cNvPr id="14" name="Shape 12"/>
          <p:cNvSpPr/>
          <p:nvPr/>
        </p:nvSpPr>
        <p:spPr>
          <a:xfrm>
            <a:off x="4754880" y="2103120"/>
            <a:ext cx="2011680" cy="1645920"/>
          </a:xfrm>
          <a:prstGeom prst="rect">
            <a:avLst/>
          </a:prstGeom>
          <a:solidFill>
            <a:srgbClr val="FFFFFF"/>
          </a:solidFill>
          <a:ln w="12700">
            <a:solidFill>
              <a:srgbClr val="669BBC"/>
            </a:solidFill>
            <a:prstDash val="solid"/>
          </a:ln>
        </p:spPr>
      </p:sp>
      <p:sp>
        <p:nvSpPr>
          <p:cNvPr id="15" name="Text 13"/>
          <p:cNvSpPr/>
          <p:nvPr/>
        </p:nvSpPr>
        <p:spPr>
          <a:xfrm>
            <a:off x="4754880" y="224028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4754880" y="2743200"/>
            <a:ext cx="2011680" cy="365760"/>
          </a:xfrm>
          <a:prstGeom prst="rect">
            <a:avLst/>
          </a:prstGeom>
          <a:noFill/>
          <a:ln/>
        </p:spPr>
        <p:txBody>
          <a:bodyPr wrap="square" rtlCol="0" anchor="ctr"/>
          <a:lstStyle/>
          <a:p>
            <a:pPr algn="ctr" indent="0" marL="0">
              <a:buNone/>
            </a:pPr>
            <a:r>
              <a:rPr lang="en-US" sz="1600" b="1" dirty="0">
                <a:solidFill>
                  <a:srgbClr val="780000"/>
                </a:solidFill>
                <a:latin typeface="Microsoft YaHei" pitchFamily="34" charset="0"/>
                <a:ea typeface="Microsoft YaHei" pitchFamily="34" charset="-122"/>
                <a:cs typeface="Microsoft YaHei" pitchFamily="34" charset="-120"/>
              </a:rPr>
              <a:t>贝克尔</a:t>
            </a:r>
            <a:endParaRPr lang="en-US" sz="1600" dirty="0"/>
          </a:p>
        </p:txBody>
      </p:sp>
      <p:sp>
        <p:nvSpPr>
          <p:cNvPr id="17" name="Text 15"/>
          <p:cNvSpPr/>
          <p:nvPr/>
        </p:nvSpPr>
        <p:spPr>
          <a:xfrm>
            <a:off x="4754880" y="3154680"/>
            <a:ext cx="2011680" cy="457200"/>
          </a:xfrm>
          <a:prstGeom prst="rect">
            <a:avLst/>
          </a:prstGeom>
          <a:noFill/>
          <a:ln/>
        </p:spPr>
        <p:txBody>
          <a:bodyPr wrap="square" rtlCol="0" anchor="ctr"/>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人力资本的开创者</a:t>
            </a:r>
            <a:endParaRPr lang="en-US" sz="1200" dirty="0"/>
          </a:p>
        </p:txBody>
      </p:sp>
      <p:sp>
        <p:nvSpPr>
          <p:cNvPr id="18" name="Shape 16"/>
          <p:cNvSpPr/>
          <p:nvPr/>
        </p:nvSpPr>
        <p:spPr>
          <a:xfrm>
            <a:off x="6903720" y="2103120"/>
            <a:ext cx="2011680" cy="1645920"/>
          </a:xfrm>
          <a:prstGeom prst="rect">
            <a:avLst/>
          </a:prstGeom>
          <a:solidFill>
            <a:srgbClr val="FFFFFF"/>
          </a:solidFill>
          <a:ln w="12700">
            <a:solidFill>
              <a:srgbClr val="669BBC"/>
            </a:solidFill>
            <a:prstDash val="solid"/>
          </a:ln>
        </p:spPr>
      </p:sp>
      <p:sp>
        <p:nvSpPr>
          <p:cNvPr id="19" name="Text 17"/>
          <p:cNvSpPr/>
          <p:nvPr/>
        </p:nvSpPr>
        <p:spPr>
          <a:xfrm>
            <a:off x="6903720" y="2240280"/>
            <a:ext cx="2011680" cy="4572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0" name="Text 18"/>
          <p:cNvSpPr/>
          <p:nvPr/>
        </p:nvSpPr>
        <p:spPr>
          <a:xfrm>
            <a:off x="6903720" y="2743200"/>
            <a:ext cx="2011680" cy="365760"/>
          </a:xfrm>
          <a:prstGeom prst="rect">
            <a:avLst/>
          </a:prstGeom>
          <a:noFill/>
          <a:ln/>
        </p:spPr>
        <p:txBody>
          <a:bodyPr wrap="square" rtlCol="0" anchor="ctr"/>
          <a:lstStyle/>
          <a:p>
            <a:pPr algn="ctr" indent="0" marL="0">
              <a:buNone/>
            </a:pPr>
            <a:r>
              <a:rPr lang="en-US" sz="1600" b="1" dirty="0">
                <a:solidFill>
                  <a:srgbClr val="780000"/>
                </a:solidFill>
                <a:latin typeface="Microsoft YaHei" pitchFamily="34" charset="0"/>
                <a:ea typeface="Microsoft YaHei" pitchFamily="34" charset="-122"/>
                <a:cs typeface="Microsoft YaHei" pitchFamily="34" charset="-120"/>
              </a:rPr>
              <a:t>布坎南</a:t>
            </a:r>
            <a:endParaRPr lang="en-US" sz="1600" dirty="0"/>
          </a:p>
        </p:txBody>
      </p:sp>
      <p:sp>
        <p:nvSpPr>
          <p:cNvPr id="21" name="Text 19"/>
          <p:cNvSpPr/>
          <p:nvPr/>
        </p:nvSpPr>
        <p:spPr>
          <a:xfrm>
            <a:off x="6903720" y="3154680"/>
            <a:ext cx="2011680" cy="457200"/>
          </a:xfrm>
          <a:prstGeom prst="rect">
            <a:avLst/>
          </a:prstGeom>
          <a:noFill/>
          <a:ln/>
        </p:spPr>
        <p:txBody>
          <a:bodyPr wrap="square" rtlCol="0" anchor="ctr"/>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公共选择理论之父</a:t>
            </a:r>
            <a:endParaRPr lang="en-US" sz="1200" dirty="0"/>
          </a:p>
        </p:txBody>
      </p:sp>
      <p:sp>
        <p:nvSpPr>
          <p:cNvPr id="22" name="Shape 20"/>
          <p:cNvSpPr/>
          <p:nvPr/>
        </p:nvSpPr>
        <p:spPr>
          <a:xfrm>
            <a:off x="1463040" y="2514600"/>
            <a:ext cx="6492240" cy="0"/>
          </a:xfrm>
          <a:prstGeom prst="line">
            <a:avLst/>
          </a:prstGeom>
          <a:noFill/>
          <a:ln w="25400">
            <a:solidFill>
              <a:srgbClr val="C1121F"/>
            </a:solidFill>
            <a:prstDash val="dash"/>
          </a:ln>
        </p:spPr>
      </p:sp>
      <p:sp>
        <p:nvSpPr>
          <p:cNvPr id="23" name="Shape 21"/>
          <p:cNvSpPr/>
          <p:nvPr/>
        </p:nvSpPr>
        <p:spPr>
          <a:xfrm>
            <a:off x="457200" y="4023360"/>
            <a:ext cx="8229600" cy="822960"/>
          </a:xfrm>
          <a:prstGeom prst="rect">
            <a:avLst/>
          </a:prstGeom>
          <a:solidFill>
            <a:srgbClr val="003049">
              <a:alpha val="90000"/>
            </a:srgbClr>
          </a:solidFill>
          <a:ln/>
        </p:spPr>
      </p:sp>
      <p:sp>
        <p:nvSpPr>
          <p:cNvPr id="24" name="Text 22"/>
          <p:cNvSpPr/>
          <p:nvPr/>
        </p:nvSpPr>
        <p:spPr>
          <a:xfrm>
            <a:off x="548640" y="4160520"/>
            <a:ext cx="8046720" cy="54864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核心主题：将斯密的自由市场思想与20世纪现实结合，重塑价格理论</a:t>
            </a:r>
            <a:endParaRPr lang="en-US" sz="1400" dirty="0"/>
          </a:p>
        </p:txBody>
      </p:sp>
      <p:sp>
        <p:nvSpPr>
          <p:cNvPr id="25" name="Shape 23"/>
          <p:cNvSpPr/>
          <p:nvPr/>
        </p:nvSpPr>
        <p:spPr>
          <a:xfrm>
            <a:off x="8503920" y="4663440"/>
            <a:ext cx="365760" cy="365760"/>
          </a:xfrm>
          <a:prstGeom prst="ellipse">
            <a:avLst/>
          </a:prstGeom>
          <a:solidFill>
            <a:srgbClr val="C1121F"/>
          </a:solidFill>
          <a:ln/>
        </p:spPr>
      </p:sp>
      <p:sp>
        <p:nvSpPr>
          <p:cNvPr id="26" name="Text 24"/>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从维也纳到芝加哥</a:t>
            </a:r>
            <a:endParaRPr lang="en-US" sz="2800" dirty="0"/>
          </a:p>
        </p:txBody>
      </p:sp>
      <p:sp>
        <p:nvSpPr>
          <p:cNvPr id="4" name="Shape 2"/>
          <p:cNvSpPr/>
          <p:nvPr/>
        </p:nvSpPr>
        <p:spPr>
          <a:xfrm>
            <a:off x="731520" y="1417320"/>
            <a:ext cx="7680960" cy="73152"/>
          </a:xfrm>
          <a:prstGeom prst="rect">
            <a:avLst/>
          </a:prstGeom>
          <a:solidFill>
            <a:srgbClr val="669BBC"/>
          </a:solidFill>
          <a:ln/>
        </p:spPr>
      </p:sp>
      <p:sp>
        <p:nvSpPr>
          <p:cNvPr id="5" name="Shape 3"/>
          <p:cNvSpPr/>
          <p:nvPr/>
        </p:nvSpPr>
        <p:spPr>
          <a:xfrm>
            <a:off x="987552" y="1353312"/>
            <a:ext cx="219456" cy="219456"/>
          </a:xfrm>
          <a:prstGeom prst="ellipse">
            <a:avLst/>
          </a:prstGeom>
          <a:solidFill>
            <a:srgbClr val="C1121F"/>
          </a:solidFill>
          <a:ln/>
        </p:spPr>
      </p:sp>
      <p:sp>
        <p:nvSpPr>
          <p:cNvPr id="6" name="Text 4"/>
          <p:cNvSpPr/>
          <p:nvPr/>
        </p:nvSpPr>
        <p:spPr>
          <a:xfrm>
            <a:off x="640080" y="1645920"/>
            <a:ext cx="914400" cy="274320"/>
          </a:xfrm>
          <a:prstGeom prst="rect">
            <a:avLst/>
          </a:prstGeom>
          <a:noFill/>
          <a:ln/>
        </p:spPr>
        <p:txBody>
          <a:bodyPr wrap="square" rtlCol="0" anchor="ctr"/>
          <a:lstStyle/>
          <a:p>
            <a:pPr algn="ctr" indent="0" marL="0">
              <a:buNone/>
            </a:pPr>
            <a:r>
              <a:rPr lang="en-US" sz="1200" b="1" dirty="0">
                <a:solidFill>
                  <a:srgbClr val="780000"/>
                </a:solidFill>
                <a:latin typeface="Georgia" pitchFamily="34" charset="0"/>
                <a:ea typeface="Georgia" pitchFamily="34" charset="-122"/>
                <a:cs typeface="Georgia" pitchFamily="34" charset="-120"/>
              </a:rPr>
              <a:t>1870s</a:t>
            </a:r>
            <a:endParaRPr lang="en-US" sz="1200" dirty="0"/>
          </a:p>
        </p:txBody>
      </p:sp>
      <p:sp>
        <p:nvSpPr>
          <p:cNvPr id="7" name="Text 5"/>
          <p:cNvSpPr/>
          <p:nvPr/>
        </p:nvSpPr>
        <p:spPr>
          <a:xfrm>
            <a:off x="457200" y="1920240"/>
            <a:ext cx="1280160" cy="54864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奥地利学派</a:t>
            </a:r>
            <a:endParaRPr lang="en-US" sz="1000" dirty="0"/>
          </a:p>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兴起</a:t>
            </a:r>
            <a:endParaRPr lang="en-US" sz="1000" dirty="0"/>
          </a:p>
        </p:txBody>
      </p:sp>
      <p:sp>
        <p:nvSpPr>
          <p:cNvPr id="8" name="Shape 6"/>
          <p:cNvSpPr/>
          <p:nvPr/>
        </p:nvSpPr>
        <p:spPr>
          <a:xfrm>
            <a:off x="3090672" y="1353312"/>
            <a:ext cx="219456" cy="219456"/>
          </a:xfrm>
          <a:prstGeom prst="ellipse">
            <a:avLst/>
          </a:prstGeom>
          <a:solidFill>
            <a:srgbClr val="C1121F"/>
          </a:solidFill>
          <a:ln/>
        </p:spPr>
      </p:sp>
      <p:sp>
        <p:nvSpPr>
          <p:cNvPr id="9" name="Text 7"/>
          <p:cNvSpPr/>
          <p:nvPr/>
        </p:nvSpPr>
        <p:spPr>
          <a:xfrm>
            <a:off x="2743200" y="1645920"/>
            <a:ext cx="914400" cy="274320"/>
          </a:xfrm>
          <a:prstGeom prst="rect">
            <a:avLst/>
          </a:prstGeom>
          <a:noFill/>
          <a:ln/>
        </p:spPr>
        <p:txBody>
          <a:bodyPr wrap="square" rtlCol="0" anchor="ctr"/>
          <a:lstStyle/>
          <a:p>
            <a:pPr algn="ctr" indent="0" marL="0">
              <a:buNone/>
            </a:pPr>
            <a:r>
              <a:rPr lang="en-US" sz="1200" b="1" dirty="0">
                <a:solidFill>
                  <a:srgbClr val="780000"/>
                </a:solidFill>
                <a:latin typeface="Georgia" pitchFamily="34" charset="0"/>
                <a:ea typeface="Georgia" pitchFamily="34" charset="-122"/>
                <a:cs typeface="Georgia" pitchFamily="34" charset="-120"/>
              </a:rPr>
              <a:t>1930s</a:t>
            </a:r>
            <a:endParaRPr lang="en-US" sz="1200" dirty="0"/>
          </a:p>
        </p:txBody>
      </p:sp>
      <p:sp>
        <p:nvSpPr>
          <p:cNvPr id="10" name="Text 8"/>
          <p:cNvSpPr/>
          <p:nvPr/>
        </p:nvSpPr>
        <p:spPr>
          <a:xfrm>
            <a:off x="2560320" y="1920240"/>
            <a:ext cx="1280160" cy="54864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芝加哥大学</a:t>
            </a:r>
            <a:endParaRPr lang="en-US" sz="1000" dirty="0"/>
          </a:p>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经济学系重建</a:t>
            </a:r>
            <a:endParaRPr lang="en-US" sz="1000" dirty="0"/>
          </a:p>
        </p:txBody>
      </p:sp>
      <p:sp>
        <p:nvSpPr>
          <p:cNvPr id="11" name="Shape 9"/>
          <p:cNvSpPr/>
          <p:nvPr/>
        </p:nvSpPr>
        <p:spPr>
          <a:xfrm>
            <a:off x="5193792" y="1353312"/>
            <a:ext cx="219456" cy="219456"/>
          </a:xfrm>
          <a:prstGeom prst="ellipse">
            <a:avLst/>
          </a:prstGeom>
          <a:solidFill>
            <a:srgbClr val="C1121F"/>
          </a:solidFill>
          <a:ln/>
        </p:spPr>
      </p:sp>
      <p:sp>
        <p:nvSpPr>
          <p:cNvPr id="12" name="Text 10"/>
          <p:cNvSpPr/>
          <p:nvPr/>
        </p:nvSpPr>
        <p:spPr>
          <a:xfrm>
            <a:off x="4846320" y="1645920"/>
            <a:ext cx="914400" cy="274320"/>
          </a:xfrm>
          <a:prstGeom prst="rect">
            <a:avLst/>
          </a:prstGeom>
          <a:noFill/>
          <a:ln/>
        </p:spPr>
        <p:txBody>
          <a:bodyPr wrap="square" rtlCol="0" anchor="ctr"/>
          <a:lstStyle/>
          <a:p>
            <a:pPr algn="ctr" indent="0" marL="0">
              <a:buNone/>
            </a:pPr>
            <a:r>
              <a:rPr lang="en-US" sz="1200" b="1" dirty="0">
                <a:solidFill>
                  <a:srgbClr val="780000"/>
                </a:solidFill>
                <a:latin typeface="Georgia" pitchFamily="34" charset="0"/>
                <a:ea typeface="Georgia" pitchFamily="34" charset="-122"/>
                <a:cs typeface="Georgia" pitchFamily="34" charset="-120"/>
              </a:rPr>
              <a:t>1950s</a:t>
            </a:r>
            <a:endParaRPr lang="en-US" sz="1200" dirty="0"/>
          </a:p>
        </p:txBody>
      </p:sp>
      <p:sp>
        <p:nvSpPr>
          <p:cNvPr id="13" name="Text 11"/>
          <p:cNvSpPr/>
          <p:nvPr/>
        </p:nvSpPr>
        <p:spPr>
          <a:xfrm>
            <a:off x="4663440" y="1920240"/>
            <a:ext cx="1280160" cy="54864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弗里德曼</a:t>
            </a:r>
            <a:endParaRPr lang="en-US" sz="1000" dirty="0"/>
          </a:p>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任教芝加哥</a:t>
            </a:r>
            <a:endParaRPr lang="en-US" sz="1000" dirty="0"/>
          </a:p>
        </p:txBody>
      </p:sp>
      <p:sp>
        <p:nvSpPr>
          <p:cNvPr id="14" name="Shape 12"/>
          <p:cNvSpPr/>
          <p:nvPr/>
        </p:nvSpPr>
        <p:spPr>
          <a:xfrm>
            <a:off x="7205472" y="1353312"/>
            <a:ext cx="219456" cy="219456"/>
          </a:xfrm>
          <a:prstGeom prst="ellipse">
            <a:avLst/>
          </a:prstGeom>
          <a:solidFill>
            <a:srgbClr val="C1121F"/>
          </a:solidFill>
          <a:ln/>
        </p:spPr>
      </p:sp>
      <p:sp>
        <p:nvSpPr>
          <p:cNvPr id="15" name="Text 13"/>
          <p:cNvSpPr/>
          <p:nvPr/>
        </p:nvSpPr>
        <p:spPr>
          <a:xfrm>
            <a:off x="6858000" y="1645920"/>
            <a:ext cx="914400" cy="274320"/>
          </a:xfrm>
          <a:prstGeom prst="rect">
            <a:avLst/>
          </a:prstGeom>
          <a:noFill/>
          <a:ln/>
        </p:spPr>
        <p:txBody>
          <a:bodyPr wrap="square" rtlCol="0" anchor="ctr"/>
          <a:lstStyle/>
          <a:p>
            <a:pPr algn="ctr" indent="0" marL="0">
              <a:buNone/>
            </a:pPr>
            <a:r>
              <a:rPr lang="en-US" sz="1200" b="1" dirty="0">
                <a:solidFill>
                  <a:srgbClr val="780000"/>
                </a:solidFill>
                <a:latin typeface="Georgia" pitchFamily="34" charset="0"/>
                <a:ea typeface="Georgia" pitchFamily="34" charset="-122"/>
                <a:cs typeface="Georgia" pitchFamily="34" charset="-120"/>
              </a:rPr>
              <a:t>1960s</a:t>
            </a:r>
            <a:endParaRPr lang="en-US" sz="1200" dirty="0"/>
          </a:p>
        </p:txBody>
      </p:sp>
      <p:sp>
        <p:nvSpPr>
          <p:cNvPr id="16" name="Text 14"/>
          <p:cNvSpPr/>
          <p:nvPr/>
        </p:nvSpPr>
        <p:spPr>
          <a:xfrm>
            <a:off x="6675120" y="1920240"/>
            <a:ext cx="1280160" cy="54864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科斯、贝克尔</a:t>
            </a:r>
            <a:endParaRPr lang="en-US" sz="1000" dirty="0"/>
          </a:p>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等新秀崛起</a:t>
            </a:r>
            <a:endParaRPr lang="en-US" sz="1000" dirty="0"/>
          </a:p>
        </p:txBody>
      </p:sp>
      <p:sp>
        <p:nvSpPr>
          <p:cNvPr id="17" name="Shape 15"/>
          <p:cNvSpPr/>
          <p:nvPr/>
        </p:nvSpPr>
        <p:spPr>
          <a:xfrm>
            <a:off x="457200" y="2468880"/>
            <a:ext cx="3931920" cy="2011680"/>
          </a:xfrm>
          <a:prstGeom prst="rect">
            <a:avLst/>
          </a:prstGeom>
          <a:solidFill>
            <a:srgbClr val="FFFFFF"/>
          </a:solidFill>
          <a:ln w="12700">
            <a:solidFill>
              <a:srgbClr val="669BBC"/>
            </a:solidFill>
            <a:prstDash val="solid"/>
          </a:ln>
        </p:spPr>
      </p:sp>
      <p:sp>
        <p:nvSpPr>
          <p:cNvPr id="18" name="Text 16"/>
          <p:cNvSpPr/>
          <p:nvPr/>
        </p:nvSpPr>
        <p:spPr>
          <a:xfrm>
            <a:off x="548640" y="2560320"/>
            <a:ext cx="374904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奥地利学派的影响</a:t>
            </a:r>
            <a:endParaRPr lang="en-US" sz="1400" dirty="0"/>
          </a:p>
        </p:txBody>
      </p:sp>
      <p:sp>
        <p:nvSpPr>
          <p:cNvPr id="19" name="Text 17"/>
          <p:cNvSpPr/>
          <p:nvPr/>
        </p:nvSpPr>
        <p:spPr>
          <a:xfrm>
            <a:off x="640080" y="2971800"/>
            <a:ext cx="3657600" cy="1371600"/>
          </a:xfrm>
          <a:prstGeom prst="rect">
            <a:avLst/>
          </a:prstGeom>
          <a:noFill/>
          <a:ln/>
        </p:spPr>
        <p:txBody>
          <a:bodyPr wrap="square" rtlCol="0" anchor="ctr"/>
          <a:lstStyle/>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门格尔（C. Menger）：边际革命</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庞巴维克：主观价值理论</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哈耶克：价格信号的重要性</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方法论上的个人主义</a:t>
            </a:r>
            <a:endParaRPr lang="en-US" sz="1200" dirty="0"/>
          </a:p>
        </p:txBody>
      </p:sp>
      <p:sp>
        <p:nvSpPr>
          <p:cNvPr id="20" name="Shape 18"/>
          <p:cNvSpPr/>
          <p:nvPr/>
        </p:nvSpPr>
        <p:spPr>
          <a:xfrm>
            <a:off x="4754880" y="2468880"/>
            <a:ext cx="3931920" cy="2011680"/>
          </a:xfrm>
          <a:prstGeom prst="rect">
            <a:avLst/>
          </a:prstGeom>
          <a:solidFill>
            <a:srgbClr val="FFFFFF"/>
          </a:solidFill>
          <a:ln w="12700">
            <a:solidFill>
              <a:srgbClr val="669BBC"/>
            </a:solidFill>
            <a:prstDash val="solid"/>
          </a:ln>
        </p:spPr>
      </p:sp>
      <p:sp>
        <p:nvSpPr>
          <p:cNvPr id="21" name="Text 19"/>
          <p:cNvSpPr/>
          <p:nvPr/>
        </p:nvSpPr>
        <p:spPr>
          <a:xfrm>
            <a:off x="4846320" y="2560320"/>
            <a:ext cx="374904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芝加哥的蜕变</a:t>
            </a:r>
            <a:endParaRPr lang="en-US" sz="1400" dirty="0"/>
          </a:p>
        </p:txBody>
      </p:sp>
      <p:sp>
        <p:nvSpPr>
          <p:cNvPr id="22" name="Text 20"/>
          <p:cNvSpPr/>
          <p:nvPr/>
        </p:nvSpPr>
        <p:spPr>
          <a:xfrm>
            <a:off x="4846320" y="2971800"/>
            <a:ext cx="3657600" cy="1371600"/>
          </a:xfrm>
          <a:prstGeom prst="rect">
            <a:avLst/>
          </a:prstGeom>
          <a:noFill/>
          <a:ln/>
        </p:spPr>
        <p:txBody>
          <a:bodyPr wrap="square" rtlCol="0" anchor="ctr"/>
          <a:lstStyle/>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亨利·西蒙斯：自由市场旗帜</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弗兰克·奈特：风险与不确定性</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抵制凯恩斯革命</a:t>
            </a:r>
            <a:endParaRPr lang="en-US" sz="1200" dirty="0"/>
          </a:p>
          <a:p>
            <a:pPr marL="342900" indent="-342900">
              <a:buSzPct val="100000"/>
              <a:buChar char="•"/>
            </a:pPr>
            <a:r>
              <a:rPr lang="en-US" sz="1200" dirty="0">
                <a:solidFill>
                  <a:srgbClr val="003049"/>
                </a:solidFill>
                <a:latin typeface="Microsoft YaHei" pitchFamily="34" charset="0"/>
                <a:ea typeface="Microsoft YaHei" pitchFamily="34" charset="-122"/>
                <a:cs typeface="Microsoft YaHei" pitchFamily="34" charset="-120"/>
              </a:rPr>
              <a:t>实证经济学方法论</a:t>
            </a:r>
            <a:endParaRPr lang="en-US" sz="1200" dirty="0"/>
          </a:p>
        </p:txBody>
      </p:sp>
      <p:sp>
        <p:nvSpPr>
          <p:cNvPr id="23" name="Shape 21"/>
          <p:cNvSpPr/>
          <p:nvPr/>
        </p:nvSpPr>
        <p:spPr>
          <a:xfrm>
            <a:off x="457200" y="4572000"/>
            <a:ext cx="8229600" cy="457200"/>
          </a:xfrm>
          <a:prstGeom prst="rect">
            <a:avLst/>
          </a:prstGeom>
          <a:solidFill>
            <a:srgbClr val="C1121F">
              <a:alpha val="15000"/>
            </a:srgbClr>
          </a:solidFill>
          <a:ln/>
        </p:spPr>
      </p:sp>
      <p:sp>
        <p:nvSpPr>
          <p:cNvPr id="24" name="Text 22"/>
          <p:cNvSpPr/>
          <p:nvPr/>
        </p:nvSpPr>
        <p:spPr>
          <a:xfrm>
            <a:off x="548640" y="4617720"/>
            <a:ext cx="8046720" cy="365760"/>
          </a:xfrm>
          <a:prstGeom prst="rect">
            <a:avLst/>
          </a:prstGeom>
          <a:noFill/>
          <a:ln/>
        </p:spPr>
        <p:txBody>
          <a:bodyPr wrap="square" rtlCol="0" anchor="ctr"/>
          <a:lstStyle/>
          <a:p>
            <a:pPr algn="ctr" indent="0" marL="0">
              <a:buNone/>
            </a:pPr>
            <a:r>
              <a:rPr lang="en-US" sz="1200" i="1" dirty="0">
                <a:solidFill>
                  <a:srgbClr val="003049"/>
                </a:solidFill>
                <a:latin typeface="Microsoft YaHei" pitchFamily="34" charset="0"/>
                <a:ea typeface="Microsoft YaHei" pitchFamily="34" charset="-122"/>
                <a:cs typeface="Microsoft YaHei" pitchFamily="34" charset="-120"/>
              </a:rPr>
              <a:t>"芝加哥学派不是单一学说，而是对自由市场秩序的不同论证"</a:t>
            </a:r>
            <a:endParaRPr lang="en-US" sz="1200" dirty="0"/>
          </a:p>
        </p:txBody>
      </p:sp>
      <p:sp>
        <p:nvSpPr>
          <p:cNvPr id="25" name="Shape 23"/>
          <p:cNvSpPr/>
          <p:nvPr/>
        </p:nvSpPr>
        <p:spPr>
          <a:xfrm>
            <a:off x="8503920" y="4663440"/>
            <a:ext cx="365760" cy="365760"/>
          </a:xfrm>
          <a:prstGeom prst="ellipse">
            <a:avLst/>
          </a:prstGeom>
          <a:solidFill>
            <a:srgbClr val="C1121F"/>
          </a:solidFill>
          <a:ln/>
        </p:spPr>
      </p:sp>
      <p:sp>
        <p:nvSpPr>
          <p:cNvPr id="26" name="Text 24"/>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芝加哥学派的特征</a:t>
            </a:r>
            <a:endParaRPr lang="en-US" sz="2800" dirty="0"/>
          </a:p>
        </p:txBody>
      </p:sp>
      <p:sp>
        <p:nvSpPr>
          <p:cNvPr id="4" name="Shape 2"/>
          <p:cNvSpPr/>
          <p:nvPr/>
        </p:nvSpPr>
        <p:spPr>
          <a:xfrm>
            <a:off x="457200" y="1097280"/>
            <a:ext cx="2697480" cy="1554480"/>
          </a:xfrm>
          <a:prstGeom prst="rect">
            <a:avLst/>
          </a:prstGeom>
          <a:solidFill>
            <a:srgbClr val="FFFFFF"/>
          </a:solidFill>
          <a:ln w="12700">
            <a:solidFill>
              <a:srgbClr val="669BBC"/>
            </a:solidFill>
            <a:prstDash val="solid"/>
          </a:ln>
        </p:spPr>
      </p:sp>
      <p:sp>
        <p:nvSpPr>
          <p:cNvPr id="5" name="Shape 3"/>
          <p:cNvSpPr/>
          <p:nvPr/>
        </p:nvSpPr>
        <p:spPr>
          <a:xfrm>
            <a:off x="457200" y="1097280"/>
            <a:ext cx="457200" cy="457200"/>
          </a:xfrm>
          <a:prstGeom prst="rect">
            <a:avLst/>
          </a:prstGeom>
          <a:solidFill>
            <a:srgbClr val="C1121F"/>
          </a:solidFill>
          <a:ln/>
        </p:spPr>
      </p:sp>
      <p:sp>
        <p:nvSpPr>
          <p:cNvPr id="6" name="Text 4"/>
          <p:cNvSpPr/>
          <p:nvPr/>
        </p:nvSpPr>
        <p:spPr>
          <a:xfrm>
            <a:off x="457200" y="109728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7" name="Text 5"/>
          <p:cNvSpPr/>
          <p:nvPr/>
        </p:nvSpPr>
        <p:spPr>
          <a:xfrm>
            <a:off x="1005840" y="118872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价格理论核心</a:t>
            </a:r>
            <a:endParaRPr lang="en-US" sz="1300" dirty="0"/>
          </a:p>
        </p:txBody>
      </p:sp>
      <p:sp>
        <p:nvSpPr>
          <p:cNvPr id="8" name="Text 6"/>
          <p:cNvSpPr/>
          <p:nvPr/>
        </p:nvSpPr>
        <p:spPr>
          <a:xfrm>
            <a:off x="548640" y="164592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以价格机制为核心分析工具，强调相对价格而非绝对价格</a:t>
            </a:r>
            <a:endParaRPr lang="en-US" sz="1000" dirty="0"/>
          </a:p>
        </p:txBody>
      </p:sp>
      <p:sp>
        <p:nvSpPr>
          <p:cNvPr id="9" name="Shape 7"/>
          <p:cNvSpPr/>
          <p:nvPr/>
        </p:nvSpPr>
        <p:spPr>
          <a:xfrm>
            <a:off x="3291840" y="1097280"/>
            <a:ext cx="2697480" cy="1554480"/>
          </a:xfrm>
          <a:prstGeom prst="rect">
            <a:avLst/>
          </a:prstGeom>
          <a:solidFill>
            <a:srgbClr val="FFFFFF"/>
          </a:solidFill>
          <a:ln w="12700">
            <a:solidFill>
              <a:srgbClr val="669BBC"/>
            </a:solidFill>
            <a:prstDash val="solid"/>
          </a:ln>
        </p:spPr>
      </p:sp>
      <p:sp>
        <p:nvSpPr>
          <p:cNvPr id="10" name="Shape 8"/>
          <p:cNvSpPr/>
          <p:nvPr/>
        </p:nvSpPr>
        <p:spPr>
          <a:xfrm>
            <a:off x="3291840" y="1097280"/>
            <a:ext cx="457200" cy="457200"/>
          </a:xfrm>
          <a:prstGeom prst="rect">
            <a:avLst/>
          </a:prstGeom>
          <a:solidFill>
            <a:srgbClr val="C1121F"/>
          </a:solidFill>
          <a:ln/>
        </p:spPr>
      </p:sp>
      <p:sp>
        <p:nvSpPr>
          <p:cNvPr id="11" name="Text 9"/>
          <p:cNvSpPr/>
          <p:nvPr/>
        </p:nvSpPr>
        <p:spPr>
          <a:xfrm>
            <a:off x="3291840" y="109728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2" name="Text 10"/>
          <p:cNvSpPr/>
          <p:nvPr/>
        </p:nvSpPr>
        <p:spPr>
          <a:xfrm>
            <a:off x="3840480" y="118872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方法论个人主义</a:t>
            </a:r>
            <a:endParaRPr lang="en-US" sz="1300" dirty="0"/>
          </a:p>
        </p:txBody>
      </p:sp>
      <p:sp>
        <p:nvSpPr>
          <p:cNvPr id="13" name="Text 11"/>
          <p:cNvSpPr/>
          <p:nvPr/>
        </p:nvSpPr>
        <p:spPr>
          <a:xfrm>
            <a:off x="3383280" y="164592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所有经济现象都应从个体行为出发解释，拒绝整体主义</a:t>
            </a:r>
            <a:endParaRPr lang="en-US" sz="1000" dirty="0"/>
          </a:p>
        </p:txBody>
      </p:sp>
      <p:sp>
        <p:nvSpPr>
          <p:cNvPr id="14" name="Shape 12"/>
          <p:cNvSpPr/>
          <p:nvPr/>
        </p:nvSpPr>
        <p:spPr>
          <a:xfrm>
            <a:off x="6126480" y="1097280"/>
            <a:ext cx="2697480" cy="1554480"/>
          </a:xfrm>
          <a:prstGeom prst="rect">
            <a:avLst/>
          </a:prstGeom>
          <a:solidFill>
            <a:srgbClr val="FFFFFF"/>
          </a:solidFill>
          <a:ln w="12700">
            <a:solidFill>
              <a:srgbClr val="669BBC"/>
            </a:solidFill>
            <a:prstDash val="solid"/>
          </a:ln>
        </p:spPr>
      </p:sp>
      <p:sp>
        <p:nvSpPr>
          <p:cNvPr id="15" name="Shape 13"/>
          <p:cNvSpPr/>
          <p:nvPr/>
        </p:nvSpPr>
        <p:spPr>
          <a:xfrm>
            <a:off x="6126480" y="1097280"/>
            <a:ext cx="457200" cy="457200"/>
          </a:xfrm>
          <a:prstGeom prst="rect">
            <a:avLst/>
          </a:prstGeom>
          <a:solidFill>
            <a:srgbClr val="C1121F"/>
          </a:solidFill>
          <a:ln/>
        </p:spPr>
      </p:sp>
      <p:sp>
        <p:nvSpPr>
          <p:cNvPr id="16" name="Text 14"/>
          <p:cNvSpPr/>
          <p:nvPr/>
        </p:nvSpPr>
        <p:spPr>
          <a:xfrm>
            <a:off x="6126480" y="109728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7" name="Text 15"/>
          <p:cNvSpPr/>
          <p:nvPr/>
        </p:nvSpPr>
        <p:spPr>
          <a:xfrm>
            <a:off x="6675120" y="118872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实证主义立场</a:t>
            </a:r>
            <a:endParaRPr lang="en-US" sz="1300" dirty="0"/>
          </a:p>
        </p:txBody>
      </p:sp>
      <p:sp>
        <p:nvSpPr>
          <p:cNvPr id="18" name="Text 16"/>
          <p:cNvSpPr/>
          <p:nvPr/>
        </p:nvSpPr>
        <p:spPr>
          <a:xfrm>
            <a:off x="6217920" y="164592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"好经济学的标准：它管用"（弗里德曼）</a:t>
            </a:r>
            <a:endParaRPr lang="en-US" sz="1000" dirty="0"/>
          </a:p>
        </p:txBody>
      </p:sp>
      <p:sp>
        <p:nvSpPr>
          <p:cNvPr id="19" name="Shape 17"/>
          <p:cNvSpPr/>
          <p:nvPr/>
        </p:nvSpPr>
        <p:spPr>
          <a:xfrm>
            <a:off x="457200" y="2788920"/>
            <a:ext cx="2697480" cy="1554480"/>
          </a:xfrm>
          <a:prstGeom prst="rect">
            <a:avLst/>
          </a:prstGeom>
          <a:solidFill>
            <a:srgbClr val="FFFFFF"/>
          </a:solidFill>
          <a:ln w="12700">
            <a:solidFill>
              <a:srgbClr val="669BBC"/>
            </a:solidFill>
            <a:prstDash val="solid"/>
          </a:ln>
        </p:spPr>
      </p:sp>
      <p:sp>
        <p:nvSpPr>
          <p:cNvPr id="20" name="Shape 18"/>
          <p:cNvSpPr/>
          <p:nvPr/>
        </p:nvSpPr>
        <p:spPr>
          <a:xfrm>
            <a:off x="457200" y="2788920"/>
            <a:ext cx="457200" cy="457200"/>
          </a:xfrm>
          <a:prstGeom prst="rect">
            <a:avLst/>
          </a:prstGeom>
          <a:solidFill>
            <a:srgbClr val="C1121F"/>
          </a:solidFill>
          <a:ln/>
        </p:spPr>
      </p:sp>
      <p:sp>
        <p:nvSpPr>
          <p:cNvPr id="21" name="Text 19"/>
          <p:cNvSpPr/>
          <p:nvPr/>
        </p:nvSpPr>
        <p:spPr>
          <a:xfrm>
            <a:off x="457200" y="27889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2" name="Text 20"/>
          <p:cNvSpPr/>
          <p:nvPr/>
        </p:nvSpPr>
        <p:spPr>
          <a:xfrm>
            <a:off x="1005840" y="288036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市场过程视角</a:t>
            </a:r>
            <a:endParaRPr lang="en-US" sz="1300" dirty="0"/>
          </a:p>
        </p:txBody>
      </p:sp>
      <p:sp>
        <p:nvSpPr>
          <p:cNvPr id="23" name="Text 21"/>
          <p:cNvSpPr/>
          <p:nvPr/>
        </p:nvSpPr>
        <p:spPr>
          <a:xfrm>
            <a:off x="548640" y="333756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关注市场如何运作，而非仅关注均衡状态</a:t>
            </a:r>
            <a:endParaRPr lang="en-US" sz="1000" dirty="0"/>
          </a:p>
        </p:txBody>
      </p:sp>
      <p:sp>
        <p:nvSpPr>
          <p:cNvPr id="24" name="Shape 22"/>
          <p:cNvSpPr/>
          <p:nvPr/>
        </p:nvSpPr>
        <p:spPr>
          <a:xfrm>
            <a:off x="3291840" y="2788920"/>
            <a:ext cx="2697480" cy="1554480"/>
          </a:xfrm>
          <a:prstGeom prst="rect">
            <a:avLst/>
          </a:prstGeom>
          <a:solidFill>
            <a:srgbClr val="FFFFFF"/>
          </a:solidFill>
          <a:ln w="12700">
            <a:solidFill>
              <a:srgbClr val="669BBC"/>
            </a:solidFill>
            <a:prstDash val="solid"/>
          </a:ln>
        </p:spPr>
      </p:sp>
      <p:sp>
        <p:nvSpPr>
          <p:cNvPr id="25" name="Shape 23"/>
          <p:cNvSpPr/>
          <p:nvPr/>
        </p:nvSpPr>
        <p:spPr>
          <a:xfrm>
            <a:off x="3291840" y="2788920"/>
            <a:ext cx="457200" cy="457200"/>
          </a:xfrm>
          <a:prstGeom prst="rect">
            <a:avLst/>
          </a:prstGeom>
          <a:solidFill>
            <a:srgbClr val="C1121F"/>
          </a:solidFill>
          <a:ln/>
        </p:spPr>
      </p:sp>
      <p:sp>
        <p:nvSpPr>
          <p:cNvPr id="26" name="Text 24"/>
          <p:cNvSpPr/>
          <p:nvPr/>
        </p:nvSpPr>
        <p:spPr>
          <a:xfrm>
            <a:off x="3291840" y="27889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7" name="Text 25"/>
          <p:cNvSpPr/>
          <p:nvPr/>
        </p:nvSpPr>
        <p:spPr>
          <a:xfrm>
            <a:off x="3840480" y="288036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跨学科方法</a:t>
            </a:r>
            <a:endParaRPr lang="en-US" sz="1300" dirty="0"/>
          </a:p>
        </p:txBody>
      </p:sp>
      <p:sp>
        <p:nvSpPr>
          <p:cNvPr id="28" name="Text 26"/>
          <p:cNvSpPr/>
          <p:nvPr/>
        </p:nvSpPr>
        <p:spPr>
          <a:xfrm>
            <a:off x="3383280" y="333756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将经济学分析扩展到非市场领域（犯罪、家庭、法律）</a:t>
            </a:r>
            <a:endParaRPr lang="en-US" sz="1000" dirty="0"/>
          </a:p>
        </p:txBody>
      </p:sp>
      <p:sp>
        <p:nvSpPr>
          <p:cNvPr id="29" name="Shape 27"/>
          <p:cNvSpPr/>
          <p:nvPr/>
        </p:nvSpPr>
        <p:spPr>
          <a:xfrm>
            <a:off x="6126480" y="2788920"/>
            <a:ext cx="2697480" cy="1554480"/>
          </a:xfrm>
          <a:prstGeom prst="rect">
            <a:avLst/>
          </a:prstGeom>
          <a:solidFill>
            <a:srgbClr val="FFFFFF"/>
          </a:solidFill>
          <a:ln w="12700">
            <a:solidFill>
              <a:srgbClr val="669BBC"/>
            </a:solidFill>
            <a:prstDash val="solid"/>
          </a:ln>
        </p:spPr>
      </p:sp>
      <p:sp>
        <p:nvSpPr>
          <p:cNvPr id="30" name="Shape 28"/>
          <p:cNvSpPr/>
          <p:nvPr/>
        </p:nvSpPr>
        <p:spPr>
          <a:xfrm>
            <a:off x="6126480" y="2788920"/>
            <a:ext cx="457200" cy="457200"/>
          </a:xfrm>
          <a:prstGeom prst="rect">
            <a:avLst/>
          </a:prstGeom>
          <a:solidFill>
            <a:srgbClr val="C1121F"/>
          </a:solidFill>
          <a:ln/>
        </p:spPr>
      </p:sp>
      <p:sp>
        <p:nvSpPr>
          <p:cNvPr id="31" name="Text 29"/>
          <p:cNvSpPr/>
          <p:nvPr/>
        </p:nvSpPr>
        <p:spPr>
          <a:xfrm>
            <a:off x="6126480" y="27889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32" name="Text 30"/>
          <p:cNvSpPr/>
          <p:nvPr/>
        </p:nvSpPr>
        <p:spPr>
          <a:xfrm>
            <a:off x="6675120" y="2880360"/>
            <a:ext cx="205740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自由放任倾向</a:t>
            </a:r>
            <a:endParaRPr lang="en-US" sz="1300" dirty="0"/>
          </a:p>
        </p:txBody>
      </p:sp>
      <p:sp>
        <p:nvSpPr>
          <p:cNvPr id="33" name="Text 31"/>
          <p:cNvSpPr/>
          <p:nvPr/>
        </p:nvSpPr>
        <p:spPr>
          <a:xfrm>
            <a:off x="6217920" y="3337560"/>
            <a:ext cx="2514600" cy="9144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对政府干预持怀疑态度，相信市场自我调节能力</a:t>
            </a:r>
            <a:endParaRPr lang="en-US" sz="1000" dirty="0"/>
          </a:p>
        </p:txBody>
      </p:sp>
      <p:sp>
        <p:nvSpPr>
          <p:cNvPr id="34" name="Shape 32"/>
          <p:cNvSpPr/>
          <p:nvPr/>
        </p:nvSpPr>
        <p:spPr>
          <a:xfrm>
            <a:off x="457200" y="4572000"/>
            <a:ext cx="8229600" cy="457200"/>
          </a:xfrm>
          <a:prstGeom prst="rect">
            <a:avLst/>
          </a:prstGeom>
          <a:solidFill>
            <a:srgbClr val="003049"/>
          </a:solidFill>
          <a:ln/>
        </p:spPr>
      </p:sp>
      <p:sp>
        <p:nvSpPr>
          <p:cNvPr id="35" name="Text 33"/>
          <p:cNvSpPr/>
          <p:nvPr/>
        </p:nvSpPr>
        <p:spPr>
          <a:xfrm>
            <a:off x="548640" y="4617720"/>
            <a:ext cx="804672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与斯密的关联：坚持"看不见的手"的核心洞见，用现代经济学工具重新证明</a:t>
            </a:r>
            <a:endParaRPr lang="en-US" sz="1200" dirty="0"/>
          </a:p>
        </p:txBody>
      </p:sp>
      <p:sp>
        <p:nvSpPr>
          <p:cNvPr id="36" name="Shape 34"/>
          <p:cNvSpPr/>
          <p:nvPr/>
        </p:nvSpPr>
        <p:spPr>
          <a:xfrm>
            <a:off x="8503920" y="4663440"/>
            <a:ext cx="365760" cy="365760"/>
          </a:xfrm>
          <a:prstGeom prst="ellipse">
            <a:avLst/>
          </a:prstGeom>
          <a:solidFill>
            <a:srgbClr val="C1121F"/>
          </a:solidFill>
          <a:ln/>
        </p:spPr>
      </p:sp>
      <p:sp>
        <p:nvSpPr>
          <p:cNvPr id="37" name="Text 35"/>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Shape 1"/>
          <p:cNvSpPr/>
          <p:nvPr/>
        </p:nvSpPr>
        <p:spPr>
          <a:xfrm>
            <a:off x="0" y="777240"/>
            <a:ext cx="9144000" cy="73152"/>
          </a:xfrm>
          <a:prstGeom prst="rect">
            <a:avLst/>
          </a:prstGeom>
          <a:solidFill>
            <a:srgbClr val="C1121F"/>
          </a:solidFill>
          <a:ln/>
        </p:spPr>
      </p:sp>
      <p:sp>
        <p:nvSpPr>
          <p:cNvPr id="4" name="Text 2"/>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弗里德曼：货币主义的奠基人</a:t>
            </a:r>
            <a:endParaRPr lang="en-US" sz="2800" dirty="0"/>
          </a:p>
        </p:txBody>
      </p:sp>
      <p:sp>
        <p:nvSpPr>
          <p:cNvPr id="5" name="Shape 3"/>
          <p:cNvSpPr/>
          <p:nvPr/>
        </p:nvSpPr>
        <p:spPr>
          <a:xfrm>
            <a:off x="457200" y="1097280"/>
            <a:ext cx="2286000" cy="2926080"/>
          </a:xfrm>
          <a:prstGeom prst="rect">
            <a:avLst/>
          </a:prstGeom>
          <a:solidFill>
            <a:srgbClr val="669BBC">
              <a:alpha val="50000"/>
            </a:srgbClr>
          </a:solidFill>
          <a:ln w="12700">
            <a:solidFill>
              <a:srgbClr val="669BBC"/>
            </a:solidFill>
            <a:prstDash val="solid"/>
          </a:ln>
        </p:spPr>
      </p:sp>
      <p:sp>
        <p:nvSpPr>
          <p:cNvPr id="6" name="Text 4"/>
          <p:cNvSpPr/>
          <p:nvPr/>
        </p:nvSpPr>
        <p:spPr>
          <a:xfrm>
            <a:off x="457200" y="1645920"/>
            <a:ext cx="2286000" cy="1828800"/>
          </a:xfrm>
          <a:prstGeom prst="rect">
            <a:avLst/>
          </a:prstGeom>
          <a:noFill/>
          <a:ln/>
        </p:spPr>
        <p:txBody>
          <a:bodyPr wrap="square" rtlCol="0" anchor="ctr"/>
          <a:lstStyle/>
          <a:p>
            <a:pPr algn="ctr" indent="0" marL="0">
              <a:buNone/>
            </a:pPr>
            <a:r>
              <a:rPr lang="en-US" sz="1400" i="1" dirty="0">
                <a:solidFill>
                  <a:srgbClr val="003049"/>
                </a:solidFill>
                <a:latin typeface="Georgia" pitchFamily="34" charset="0"/>
                <a:ea typeface="Georgia" pitchFamily="34" charset="-122"/>
                <a:cs typeface="Georgia" pitchFamily="34" charset="-120"/>
              </a:rPr>
              <a:t>Milton</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Friedman</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1912-2006</a:t>
            </a:r>
            <a:endParaRPr lang="en-US" sz="1400" dirty="0"/>
          </a:p>
        </p:txBody>
      </p:sp>
      <p:sp>
        <p:nvSpPr>
          <p:cNvPr id="7" name="Text 5"/>
          <p:cNvSpPr/>
          <p:nvPr/>
        </p:nvSpPr>
        <p:spPr>
          <a:xfrm>
            <a:off x="3017520" y="1097280"/>
            <a:ext cx="566928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生平要点</a:t>
            </a:r>
            <a:endParaRPr lang="en-US" sz="1600" dirty="0"/>
          </a:p>
        </p:txBody>
      </p:sp>
      <p:sp>
        <p:nvSpPr>
          <p:cNvPr id="8" name="Shape 6"/>
          <p:cNvSpPr/>
          <p:nvPr/>
        </p:nvSpPr>
        <p:spPr>
          <a:xfrm>
            <a:off x="3017520" y="1572768"/>
            <a:ext cx="109728" cy="109728"/>
          </a:xfrm>
          <a:prstGeom prst="ellipse">
            <a:avLst/>
          </a:prstGeom>
          <a:solidFill>
            <a:srgbClr val="C1121F"/>
          </a:solidFill>
          <a:ln/>
        </p:spPr>
      </p:sp>
      <p:sp>
        <p:nvSpPr>
          <p:cNvPr id="9" name="Text 7"/>
          <p:cNvSpPr/>
          <p:nvPr/>
        </p:nvSpPr>
        <p:spPr>
          <a:xfrm>
            <a:off x="3246120" y="1508760"/>
            <a:ext cx="544068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1976年诺贝尔经济学奖得主</a:t>
            </a:r>
            <a:endParaRPr lang="en-US" sz="1200" dirty="0"/>
          </a:p>
        </p:txBody>
      </p:sp>
      <p:sp>
        <p:nvSpPr>
          <p:cNvPr id="10" name="Shape 8"/>
          <p:cNvSpPr/>
          <p:nvPr/>
        </p:nvSpPr>
        <p:spPr>
          <a:xfrm>
            <a:off x="3017520" y="1956816"/>
            <a:ext cx="109728" cy="109728"/>
          </a:xfrm>
          <a:prstGeom prst="ellipse">
            <a:avLst/>
          </a:prstGeom>
          <a:solidFill>
            <a:srgbClr val="C1121F"/>
          </a:solidFill>
          <a:ln/>
        </p:spPr>
      </p:sp>
      <p:sp>
        <p:nvSpPr>
          <p:cNvPr id="11" name="Text 9"/>
          <p:cNvSpPr/>
          <p:nvPr/>
        </p:nvSpPr>
        <p:spPr>
          <a:xfrm>
            <a:off x="3246120" y="1892808"/>
            <a:ext cx="544068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二战后最重要的价格理论家之一</a:t>
            </a:r>
            <a:endParaRPr lang="en-US" sz="1200" dirty="0"/>
          </a:p>
        </p:txBody>
      </p:sp>
      <p:sp>
        <p:nvSpPr>
          <p:cNvPr id="12" name="Shape 10"/>
          <p:cNvSpPr/>
          <p:nvPr/>
        </p:nvSpPr>
        <p:spPr>
          <a:xfrm>
            <a:off x="3017520" y="2340864"/>
            <a:ext cx="109728" cy="109728"/>
          </a:xfrm>
          <a:prstGeom prst="ellipse">
            <a:avLst/>
          </a:prstGeom>
          <a:solidFill>
            <a:srgbClr val="C1121F"/>
          </a:solidFill>
          <a:ln/>
        </p:spPr>
      </p:sp>
      <p:sp>
        <p:nvSpPr>
          <p:cNvPr id="13" name="Text 11"/>
          <p:cNvSpPr/>
          <p:nvPr/>
        </p:nvSpPr>
        <p:spPr>
          <a:xfrm>
            <a:off x="3246120" y="2276856"/>
            <a:ext cx="544068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曾任教于芝加哥大学（1946-1977）</a:t>
            </a:r>
            <a:endParaRPr lang="en-US" sz="1200" dirty="0"/>
          </a:p>
        </p:txBody>
      </p:sp>
      <p:sp>
        <p:nvSpPr>
          <p:cNvPr id="14" name="Shape 12"/>
          <p:cNvSpPr/>
          <p:nvPr/>
        </p:nvSpPr>
        <p:spPr>
          <a:xfrm>
            <a:off x="3017520" y="2724912"/>
            <a:ext cx="109728" cy="109728"/>
          </a:xfrm>
          <a:prstGeom prst="ellipse">
            <a:avLst/>
          </a:prstGeom>
          <a:solidFill>
            <a:srgbClr val="C1121F"/>
          </a:solidFill>
          <a:ln/>
        </p:spPr>
      </p:sp>
      <p:sp>
        <p:nvSpPr>
          <p:cNvPr id="15" name="Text 13"/>
          <p:cNvSpPr/>
          <p:nvPr/>
        </p:nvSpPr>
        <p:spPr>
          <a:xfrm>
            <a:off x="3246120" y="2660904"/>
            <a:ext cx="544068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《资本主义与自由》(1962) 影响深远</a:t>
            </a:r>
            <a:endParaRPr lang="en-US" sz="1200" dirty="0"/>
          </a:p>
        </p:txBody>
      </p:sp>
      <p:sp>
        <p:nvSpPr>
          <p:cNvPr id="16" name="Shape 14"/>
          <p:cNvSpPr/>
          <p:nvPr/>
        </p:nvSpPr>
        <p:spPr>
          <a:xfrm>
            <a:off x="3017520" y="3108960"/>
            <a:ext cx="109728" cy="109728"/>
          </a:xfrm>
          <a:prstGeom prst="ellipse">
            <a:avLst/>
          </a:prstGeom>
          <a:solidFill>
            <a:srgbClr val="C1121F"/>
          </a:solidFill>
          <a:ln/>
        </p:spPr>
      </p:sp>
      <p:sp>
        <p:nvSpPr>
          <p:cNvPr id="17" name="Text 15"/>
          <p:cNvSpPr/>
          <p:nvPr/>
        </p:nvSpPr>
        <p:spPr>
          <a:xfrm>
            <a:off x="3246120" y="3044952"/>
            <a:ext cx="5440680" cy="3657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《自由选择》(1979) 畅销全球</a:t>
            </a:r>
            <a:endParaRPr lang="en-US" sz="1200" dirty="0"/>
          </a:p>
        </p:txBody>
      </p:sp>
      <p:sp>
        <p:nvSpPr>
          <p:cNvPr id="18" name="Shape 16"/>
          <p:cNvSpPr/>
          <p:nvPr/>
        </p:nvSpPr>
        <p:spPr>
          <a:xfrm>
            <a:off x="3017520" y="3566160"/>
            <a:ext cx="5669280" cy="1005840"/>
          </a:xfrm>
          <a:prstGeom prst="rect">
            <a:avLst/>
          </a:prstGeom>
          <a:solidFill>
            <a:srgbClr val="FFFFFF"/>
          </a:solidFill>
          <a:ln w="25400">
            <a:solidFill>
              <a:srgbClr val="C1121F"/>
            </a:solidFill>
            <a:prstDash val="solid"/>
          </a:ln>
        </p:spPr>
      </p:sp>
      <p:sp>
        <p:nvSpPr>
          <p:cNvPr id="19" name="Text 17"/>
          <p:cNvSpPr/>
          <p:nvPr/>
        </p:nvSpPr>
        <p:spPr>
          <a:xfrm>
            <a:off x="3108960" y="3611880"/>
            <a:ext cx="18288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核心贡献</a:t>
            </a:r>
            <a:endParaRPr lang="en-US" sz="1200" dirty="0"/>
          </a:p>
        </p:txBody>
      </p:sp>
      <p:sp>
        <p:nvSpPr>
          <p:cNvPr id="20" name="Text 18"/>
          <p:cNvSpPr/>
          <p:nvPr/>
        </p:nvSpPr>
        <p:spPr>
          <a:xfrm>
            <a:off x="3200400" y="3931920"/>
            <a:ext cx="5394960" cy="64008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货币供给量作为通胀主因</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永久收入假说</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浮动汇率主张</a:t>
            </a:r>
            <a:endParaRPr lang="en-US" sz="1100" dirty="0"/>
          </a:p>
        </p:txBody>
      </p:sp>
      <p:sp>
        <p:nvSpPr>
          <p:cNvPr id="21" name="Text 19"/>
          <p:cNvSpPr/>
          <p:nvPr/>
        </p:nvSpPr>
        <p:spPr>
          <a:xfrm>
            <a:off x="457200" y="4206240"/>
            <a:ext cx="2286000" cy="731520"/>
          </a:xfrm>
          <a:prstGeom prst="rect">
            <a:avLst/>
          </a:prstGeom>
          <a:noFill/>
          <a:ln/>
        </p:spPr>
        <p:txBody>
          <a:bodyPr wrap="square" rtlCol="0" anchor="ctr"/>
          <a:lstStyle/>
          <a:p>
            <a:pPr algn="ctr" indent="0" marL="0">
              <a:buNone/>
            </a:pPr>
            <a:r>
              <a:rPr lang="en-US" sz="1000" i="1" dirty="0">
                <a:solidFill>
                  <a:srgbClr val="003049"/>
                </a:solidFill>
                <a:latin typeface="Microsoft YaHei" pitchFamily="34" charset="0"/>
                <a:ea typeface="Microsoft YaHei" pitchFamily="34" charset="-122"/>
                <a:cs typeface="Microsoft YaHei" pitchFamily="34" charset="-120"/>
              </a:rPr>
              <a:t>"通胀永远而且无处不在是一种货币现象"</a:t>
            </a:r>
            <a:endParaRPr lang="en-US" sz="1000" dirty="0"/>
          </a:p>
        </p:txBody>
      </p:sp>
      <p:sp>
        <p:nvSpPr>
          <p:cNvPr id="22" name="Shape 20"/>
          <p:cNvSpPr/>
          <p:nvPr/>
        </p:nvSpPr>
        <p:spPr>
          <a:xfrm>
            <a:off x="8503920" y="4663440"/>
            <a:ext cx="365760" cy="365760"/>
          </a:xfrm>
          <a:prstGeom prst="ellipse">
            <a:avLst/>
          </a:prstGeom>
          <a:solidFill>
            <a:srgbClr val="C1121F"/>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弗里德曼的货币理论</a:t>
            </a:r>
            <a:endParaRPr lang="en-US" sz="2800" dirty="0"/>
          </a:p>
        </p:txBody>
      </p:sp>
      <p:sp>
        <p:nvSpPr>
          <p:cNvPr id="4" name="Shape 2"/>
          <p:cNvSpPr/>
          <p:nvPr/>
        </p:nvSpPr>
        <p:spPr>
          <a:xfrm>
            <a:off x="2286000" y="1051560"/>
            <a:ext cx="4572000" cy="822960"/>
          </a:xfrm>
          <a:prstGeom prst="rect">
            <a:avLst/>
          </a:prstGeom>
          <a:solidFill>
            <a:srgbClr val="003049"/>
          </a:solidFill>
          <a:ln/>
        </p:spPr>
      </p:sp>
      <p:sp>
        <p:nvSpPr>
          <p:cNvPr id="5" name="Text 3"/>
          <p:cNvSpPr/>
          <p:nvPr/>
        </p:nvSpPr>
        <p:spPr>
          <a:xfrm>
            <a:off x="2286000" y="1097280"/>
            <a:ext cx="45720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MV = PY</a:t>
            </a:r>
            <a:endParaRPr lang="en-US" sz="3600" dirty="0"/>
          </a:p>
        </p:txBody>
      </p:sp>
      <p:sp>
        <p:nvSpPr>
          <p:cNvPr id="6" name="Shape 4"/>
          <p:cNvSpPr/>
          <p:nvPr/>
        </p:nvSpPr>
        <p:spPr>
          <a:xfrm>
            <a:off x="640080" y="2011680"/>
            <a:ext cx="2011680" cy="640080"/>
          </a:xfrm>
          <a:prstGeom prst="rect">
            <a:avLst/>
          </a:prstGeom>
          <a:solidFill>
            <a:srgbClr val="FFFFFF"/>
          </a:solidFill>
          <a:ln w="12700">
            <a:solidFill>
              <a:srgbClr val="669BBC"/>
            </a:solidFill>
            <a:prstDash val="solid"/>
          </a:ln>
        </p:spPr>
      </p:sp>
      <p:sp>
        <p:nvSpPr>
          <p:cNvPr id="7" name="Text 5"/>
          <p:cNvSpPr/>
          <p:nvPr/>
        </p:nvSpPr>
        <p:spPr>
          <a:xfrm>
            <a:off x="640080" y="2029968"/>
            <a:ext cx="2011680" cy="320040"/>
          </a:xfrm>
          <a:prstGeom prst="rect">
            <a:avLst/>
          </a:prstGeom>
          <a:noFill/>
          <a:ln/>
        </p:spPr>
        <p:txBody>
          <a:bodyPr wrap="square" rtlCol="0" anchor="ctr"/>
          <a:lstStyle/>
          <a:p>
            <a:pPr algn="ctr" indent="0" marL="0">
              <a:buNone/>
            </a:pPr>
            <a:r>
              <a:rPr lang="en-US" sz="1800" b="1" dirty="0">
                <a:solidFill>
                  <a:srgbClr val="C1121F"/>
                </a:solidFill>
                <a:latin typeface="Georgia" pitchFamily="34" charset="0"/>
                <a:ea typeface="Georgia" pitchFamily="34" charset="-122"/>
                <a:cs typeface="Georgia" pitchFamily="34" charset="-120"/>
              </a:rPr>
              <a:t>M</a:t>
            </a:r>
            <a:endParaRPr lang="en-US" sz="1800" dirty="0"/>
          </a:p>
        </p:txBody>
      </p:sp>
      <p:sp>
        <p:nvSpPr>
          <p:cNvPr id="8" name="Text 6"/>
          <p:cNvSpPr/>
          <p:nvPr/>
        </p:nvSpPr>
        <p:spPr>
          <a:xfrm>
            <a:off x="640080" y="2331720"/>
            <a:ext cx="2011680" cy="27432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货币供给量</a:t>
            </a:r>
            <a:endParaRPr lang="en-US" sz="1000" dirty="0"/>
          </a:p>
        </p:txBody>
      </p:sp>
      <p:sp>
        <p:nvSpPr>
          <p:cNvPr id="9" name="Shape 7"/>
          <p:cNvSpPr/>
          <p:nvPr/>
        </p:nvSpPr>
        <p:spPr>
          <a:xfrm>
            <a:off x="2788920" y="2011680"/>
            <a:ext cx="2011680" cy="640080"/>
          </a:xfrm>
          <a:prstGeom prst="rect">
            <a:avLst/>
          </a:prstGeom>
          <a:solidFill>
            <a:srgbClr val="FFFFFF"/>
          </a:solidFill>
          <a:ln w="12700">
            <a:solidFill>
              <a:srgbClr val="669BBC"/>
            </a:solidFill>
            <a:prstDash val="solid"/>
          </a:ln>
        </p:spPr>
      </p:sp>
      <p:sp>
        <p:nvSpPr>
          <p:cNvPr id="10" name="Text 8"/>
          <p:cNvSpPr/>
          <p:nvPr/>
        </p:nvSpPr>
        <p:spPr>
          <a:xfrm>
            <a:off x="2788920" y="2029968"/>
            <a:ext cx="2011680" cy="320040"/>
          </a:xfrm>
          <a:prstGeom prst="rect">
            <a:avLst/>
          </a:prstGeom>
          <a:noFill/>
          <a:ln/>
        </p:spPr>
        <p:txBody>
          <a:bodyPr wrap="square" rtlCol="0" anchor="ctr"/>
          <a:lstStyle/>
          <a:p>
            <a:pPr algn="ctr" indent="0" marL="0">
              <a:buNone/>
            </a:pPr>
            <a:r>
              <a:rPr lang="en-US" sz="1800" b="1" dirty="0">
                <a:solidFill>
                  <a:srgbClr val="C1121F"/>
                </a:solidFill>
                <a:latin typeface="Georgia" pitchFamily="34" charset="0"/>
                <a:ea typeface="Georgia" pitchFamily="34" charset="-122"/>
                <a:cs typeface="Georgia" pitchFamily="34" charset="-120"/>
              </a:rPr>
              <a:t>V</a:t>
            </a:r>
            <a:endParaRPr lang="en-US" sz="1800" dirty="0"/>
          </a:p>
        </p:txBody>
      </p:sp>
      <p:sp>
        <p:nvSpPr>
          <p:cNvPr id="11" name="Text 9"/>
          <p:cNvSpPr/>
          <p:nvPr/>
        </p:nvSpPr>
        <p:spPr>
          <a:xfrm>
            <a:off x="2788920" y="2331720"/>
            <a:ext cx="2011680" cy="27432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货币流通速度</a:t>
            </a:r>
            <a:endParaRPr lang="en-US" sz="1000" dirty="0"/>
          </a:p>
        </p:txBody>
      </p:sp>
      <p:sp>
        <p:nvSpPr>
          <p:cNvPr id="12" name="Shape 10"/>
          <p:cNvSpPr/>
          <p:nvPr/>
        </p:nvSpPr>
        <p:spPr>
          <a:xfrm>
            <a:off x="4937760" y="2011680"/>
            <a:ext cx="2011680" cy="640080"/>
          </a:xfrm>
          <a:prstGeom prst="rect">
            <a:avLst/>
          </a:prstGeom>
          <a:solidFill>
            <a:srgbClr val="FFFFFF"/>
          </a:solidFill>
          <a:ln w="12700">
            <a:solidFill>
              <a:srgbClr val="669BBC"/>
            </a:solidFill>
            <a:prstDash val="solid"/>
          </a:ln>
        </p:spPr>
      </p:sp>
      <p:sp>
        <p:nvSpPr>
          <p:cNvPr id="13" name="Text 11"/>
          <p:cNvSpPr/>
          <p:nvPr/>
        </p:nvSpPr>
        <p:spPr>
          <a:xfrm>
            <a:off x="4937760" y="2029968"/>
            <a:ext cx="2011680" cy="320040"/>
          </a:xfrm>
          <a:prstGeom prst="rect">
            <a:avLst/>
          </a:prstGeom>
          <a:noFill/>
          <a:ln/>
        </p:spPr>
        <p:txBody>
          <a:bodyPr wrap="square" rtlCol="0" anchor="ctr"/>
          <a:lstStyle/>
          <a:p>
            <a:pPr algn="ctr" indent="0" marL="0">
              <a:buNone/>
            </a:pPr>
            <a:r>
              <a:rPr lang="en-US" sz="1800" b="1" dirty="0">
                <a:solidFill>
                  <a:srgbClr val="C1121F"/>
                </a:solidFill>
                <a:latin typeface="Georgia" pitchFamily="34" charset="0"/>
                <a:ea typeface="Georgia" pitchFamily="34" charset="-122"/>
                <a:cs typeface="Georgia" pitchFamily="34" charset="-120"/>
              </a:rPr>
              <a:t>P</a:t>
            </a:r>
            <a:endParaRPr lang="en-US" sz="1800" dirty="0"/>
          </a:p>
        </p:txBody>
      </p:sp>
      <p:sp>
        <p:nvSpPr>
          <p:cNvPr id="14" name="Text 12"/>
          <p:cNvSpPr/>
          <p:nvPr/>
        </p:nvSpPr>
        <p:spPr>
          <a:xfrm>
            <a:off x="4937760" y="2331720"/>
            <a:ext cx="2011680" cy="27432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价格水平</a:t>
            </a:r>
            <a:endParaRPr lang="en-US" sz="1000" dirty="0"/>
          </a:p>
        </p:txBody>
      </p:sp>
      <p:sp>
        <p:nvSpPr>
          <p:cNvPr id="15" name="Shape 13"/>
          <p:cNvSpPr/>
          <p:nvPr/>
        </p:nvSpPr>
        <p:spPr>
          <a:xfrm>
            <a:off x="7086600" y="2011680"/>
            <a:ext cx="2011680" cy="640080"/>
          </a:xfrm>
          <a:prstGeom prst="rect">
            <a:avLst/>
          </a:prstGeom>
          <a:solidFill>
            <a:srgbClr val="FFFFFF"/>
          </a:solidFill>
          <a:ln w="12700">
            <a:solidFill>
              <a:srgbClr val="669BBC"/>
            </a:solidFill>
            <a:prstDash val="solid"/>
          </a:ln>
        </p:spPr>
      </p:sp>
      <p:sp>
        <p:nvSpPr>
          <p:cNvPr id="16" name="Text 14"/>
          <p:cNvSpPr/>
          <p:nvPr/>
        </p:nvSpPr>
        <p:spPr>
          <a:xfrm>
            <a:off x="7086600" y="2029968"/>
            <a:ext cx="2011680" cy="320040"/>
          </a:xfrm>
          <a:prstGeom prst="rect">
            <a:avLst/>
          </a:prstGeom>
          <a:noFill/>
          <a:ln/>
        </p:spPr>
        <p:txBody>
          <a:bodyPr wrap="square" rtlCol="0" anchor="ctr"/>
          <a:lstStyle/>
          <a:p>
            <a:pPr algn="ctr" indent="0" marL="0">
              <a:buNone/>
            </a:pPr>
            <a:r>
              <a:rPr lang="en-US" sz="1800" b="1" dirty="0">
                <a:solidFill>
                  <a:srgbClr val="C1121F"/>
                </a:solidFill>
                <a:latin typeface="Georgia" pitchFamily="34" charset="0"/>
                <a:ea typeface="Georgia" pitchFamily="34" charset="-122"/>
                <a:cs typeface="Georgia" pitchFamily="34" charset="-120"/>
              </a:rPr>
              <a:t>Y</a:t>
            </a:r>
            <a:endParaRPr lang="en-US" sz="1800" dirty="0"/>
          </a:p>
        </p:txBody>
      </p:sp>
      <p:sp>
        <p:nvSpPr>
          <p:cNvPr id="17" name="Text 15"/>
          <p:cNvSpPr/>
          <p:nvPr/>
        </p:nvSpPr>
        <p:spPr>
          <a:xfrm>
            <a:off x="7086600" y="2331720"/>
            <a:ext cx="2011680" cy="27432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实际产出</a:t>
            </a:r>
            <a:endParaRPr lang="en-US" sz="1000" dirty="0"/>
          </a:p>
        </p:txBody>
      </p:sp>
      <p:sp>
        <p:nvSpPr>
          <p:cNvPr id="18" name="Shape 16"/>
          <p:cNvSpPr/>
          <p:nvPr/>
        </p:nvSpPr>
        <p:spPr>
          <a:xfrm>
            <a:off x="457200" y="2834640"/>
            <a:ext cx="4023360" cy="1554480"/>
          </a:xfrm>
          <a:prstGeom prst="rect">
            <a:avLst/>
          </a:prstGeom>
          <a:solidFill>
            <a:srgbClr val="FFFFFF"/>
          </a:solidFill>
          <a:ln w="25400">
            <a:solidFill>
              <a:srgbClr val="C1121F"/>
            </a:solidFill>
            <a:prstDash val="solid"/>
          </a:ln>
        </p:spPr>
      </p:sp>
      <p:sp>
        <p:nvSpPr>
          <p:cNvPr id="19" name="Text 17"/>
          <p:cNvSpPr/>
          <p:nvPr/>
        </p:nvSpPr>
        <p:spPr>
          <a:xfrm>
            <a:off x="548640" y="2926080"/>
            <a:ext cx="3840480" cy="32004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货币数量论重构</a:t>
            </a:r>
            <a:endParaRPr lang="en-US" sz="1400" dirty="0"/>
          </a:p>
        </p:txBody>
      </p:sp>
      <p:sp>
        <p:nvSpPr>
          <p:cNvPr id="20" name="Text 18"/>
          <p:cNvSpPr/>
          <p:nvPr/>
        </p:nvSpPr>
        <p:spPr>
          <a:xfrm>
            <a:off x="640080" y="3291840"/>
            <a:ext cx="3749040" cy="100584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V（流通速度）在长期相当稳定</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Y（产出）取决于技术与资源</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因此：物价水平P由货币量M决定</a:t>
            </a:r>
            <a:endParaRPr lang="en-US" sz="1100" dirty="0"/>
          </a:p>
        </p:txBody>
      </p:sp>
      <p:sp>
        <p:nvSpPr>
          <p:cNvPr id="21" name="Shape 19"/>
          <p:cNvSpPr/>
          <p:nvPr/>
        </p:nvSpPr>
        <p:spPr>
          <a:xfrm>
            <a:off x="4663440" y="2834640"/>
            <a:ext cx="4023360" cy="1554480"/>
          </a:xfrm>
          <a:prstGeom prst="rect">
            <a:avLst/>
          </a:prstGeom>
          <a:solidFill>
            <a:srgbClr val="FFFFFF"/>
          </a:solidFill>
          <a:ln w="25400">
            <a:solidFill>
              <a:srgbClr val="C1121F"/>
            </a:solidFill>
            <a:prstDash val="solid"/>
          </a:ln>
        </p:spPr>
      </p:sp>
      <p:sp>
        <p:nvSpPr>
          <p:cNvPr id="22" name="Text 20"/>
          <p:cNvSpPr/>
          <p:nvPr/>
        </p:nvSpPr>
        <p:spPr>
          <a:xfrm>
            <a:off x="4754880" y="2926080"/>
            <a:ext cx="3840480" cy="32004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政策含义</a:t>
            </a:r>
            <a:endParaRPr lang="en-US" sz="1400" dirty="0"/>
          </a:p>
        </p:txBody>
      </p:sp>
      <p:sp>
        <p:nvSpPr>
          <p:cNvPr id="23" name="Text 21"/>
          <p:cNvSpPr/>
          <p:nvPr/>
        </p:nvSpPr>
        <p:spPr>
          <a:xfrm>
            <a:off x="4846320" y="3291840"/>
            <a:ext cx="3749040" cy="100584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货币供给应稳定、可预测增长</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反对相机抉择的货币政策</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通胀：货币超发的唯一结果</a:t>
            </a:r>
            <a:endParaRPr lang="en-US" sz="1100" dirty="0"/>
          </a:p>
        </p:txBody>
      </p:sp>
      <p:sp>
        <p:nvSpPr>
          <p:cNvPr id="24" name="Shape 22"/>
          <p:cNvSpPr/>
          <p:nvPr/>
        </p:nvSpPr>
        <p:spPr>
          <a:xfrm>
            <a:off x="457200" y="4572000"/>
            <a:ext cx="8229600" cy="457200"/>
          </a:xfrm>
          <a:prstGeom prst="rect">
            <a:avLst/>
          </a:prstGeom>
          <a:solidFill>
            <a:srgbClr val="780000">
              <a:alpha val="10000"/>
            </a:srgbClr>
          </a:solidFill>
          <a:ln/>
        </p:spPr>
      </p:sp>
      <p:sp>
        <p:nvSpPr>
          <p:cNvPr id="25" name="Text 23"/>
          <p:cNvSpPr/>
          <p:nvPr/>
        </p:nvSpPr>
        <p:spPr>
          <a:xfrm>
            <a:off x="548640" y="4617720"/>
            <a:ext cx="8046720" cy="36576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斯密视角：货币是"交换媒介"，弗里德曼证明货币供给对价格有决定性影响</a:t>
            </a:r>
            <a:endParaRPr lang="en-US" sz="1100" dirty="0"/>
          </a:p>
        </p:txBody>
      </p:sp>
      <p:sp>
        <p:nvSpPr>
          <p:cNvPr id="26" name="Shape 24"/>
          <p:cNvSpPr/>
          <p:nvPr/>
        </p:nvSpPr>
        <p:spPr>
          <a:xfrm>
            <a:off x="8503920" y="4663440"/>
            <a:ext cx="365760" cy="365760"/>
          </a:xfrm>
          <a:prstGeom prst="ellipse">
            <a:avLst/>
          </a:prstGeom>
          <a:solidFill>
            <a:srgbClr val="C1121F"/>
          </a:solidFill>
          <a:ln/>
        </p:spPr>
      </p:sp>
      <p:sp>
        <p:nvSpPr>
          <p:cNvPr id="27" name="Text 25"/>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弗里德曼对斯密的重新诠释</a:t>
            </a:r>
            <a:endParaRPr lang="en-US" sz="2800" dirty="0"/>
          </a:p>
        </p:txBody>
      </p:sp>
      <p:sp>
        <p:nvSpPr>
          <p:cNvPr id="4" name="Shape 2"/>
          <p:cNvSpPr/>
          <p:nvPr/>
        </p:nvSpPr>
        <p:spPr>
          <a:xfrm>
            <a:off x="457200" y="1051560"/>
            <a:ext cx="3931920" cy="2286000"/>
          </a:xfrm>
          <a:prstGeom prst="rect">
            <a:avLst/>
          </a:prstGeom>
          <a:solidFill>
            <a:srgbClr val="FFFFFF"/>
          </a:solidFill>
          <a:ln w="12700">
            <a:solidFill>
              <a:srgbClr val="669BBC"/>
            </a:solidFill>
            <a:prstDash val="solid"/>
          </a:ln>
        </p:spPr>
      </p:sp>
      <p:sp>
        <p:nvSpPr>
          <p:cNvPr id="5" name="Shape 3"/>
          <p:cNvSpPr/>
          <p:nvPr/>
        </p:nvSpPr>
        <p:spPr>
          <a:xfrm>
            <a:off x="457200" y="1051560"/>
            <a:ext cx="3931920" cy="457200"/>
          </a:xfrm>
          <a:prstGeom prst="rect">
            <a:avLst/>
          </a:prstGeom>
          <a:solidFill>
            <a:srgbClr val="003049"/>
          </a:solidFill>
          <a:ln/>
        </p:spPr>
      </p:sp>
      <p:sp>
        <p:nvSpPr>
          <p:cNvPr id="6" name="Text 4"/>
          <p:cNvSpPr/>
          <p:nvPr/>
        </p:nvSpPr>
        <p:spPr>
          <a:xfrm>
            <a:off x="548640" y="1097280"/>
            <a:ext cx="374904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斯密的遗产</a:t>
            </a:r>
            <a:endParaRPr lang="en-US" sz="1400" dirty="0"/>
          </a:p>
        </p:txBody>
      </p:sp>
      <p:sp>
        <p:nvSpPr>
          <p:cNvPr id="7" name="Text 5"/>
          <p:cNvSpPr/>
          <p:nvPr/>
        </p:nvSpPr>
        <p:spPr>
          <a:xfrm>
            <a:off x="640080" y="1600200"/>
            <a:ext cx="3657600" cy="164592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"看不见的手"引导自利行为</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自由市场自发秩序</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政府角色：守夜人</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劳动分工与专业化</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价格作为市场信号</a:t>
            </a:r>
            <a:endParaRPr lang="en-US" sz="1100" dirty="0"/>
          </a:p>
        </p:txBody>
      </p:sp>
      <p:sp>
        <p:nvSpPr>
          <p:cNvPr id="8" name="Text 6"/>
          <p:cNvSpPr/>
          <p:nvPr/>
        </p:nvSpPr>
        <p:spPr>
          <a:xfrm>
            <a:off x="4206240" y="1920240"/>
            <a:ext cx="731520" cy="548640"/>
          </a:xfrm>
          <a:prstGeom prst="rect">
            <a:avLst/>
          </a:prstGeom>
          <a:noFill/>
          <a:ln/>
        </p:spPr>
        <p:txBody>
          <a:bodyPr wrap="square" rtlCol="0" anchor="ctr"/>
          <a:lstStyle/>
          <a:p>
            <a:pPr algn="ctr" indent="0" marL="0">
              <a:buNone/>
            </a:pPr>
            <a:r>
              <a:rPr lang="en-US" sz="3200" b="1" dirty="0">
                <a:solidFill>
                  <a:srgbClr val="C1121F"/>
                </a:solidFill>
                <a:latin typeface="Arial" pitchFamily="34" charset="0"/>
                <a:ea typeface="Arial" pitchFamily="34" charset="-122"/>
                <a:cs typeface="Arial" pitchFamily="34" charset="-120"/>
              </a:rPr>
              <a:t>→</a:t>
            </a:r>
            <a:endParaRPr lang="en-US" sz="3200" dirty="0"/>
          </a:p>
        </p:txBody>
      </p:sp>
      <p:sp>
        <p:nvSpPr>
          <p:cNvPr id="9" name="Shape 7"/>
          <p:cNvSpPr/>
          <p:nvPr/>
        </p:nvSpPr>
        <p:spPr>
          <a:xfrm>
            <a:off x="4754880" y="1051560"/>
            <a:ext cx="3931920" cy="2286000"/>
          </a:xfrm>
          <a:prstGeom prst="rect">
            <a:avLst/>
          </a:prstGeom>
          <a:solidFill>
            <a:srgbClr val="FFFFFF"/>
          </a:solidFill>
          <a:ln w="25400">
            <a:solidFill>
              <a:srgbClr val="C1121F"/>
            </a:solidFill>
            <a:prstDash val="solid"/>
          </a:ln>
        </p:spPr>
      </p:sp>
      <p:sp>
        <p:nvSpPr>
          <p:cNvPr id="10" name="Shape 8"/>
          <p:cNvSpPr/>
          <p:nvPr/>
        </p:nvSpPr>
        <p:spPr>
          <a:xfrm>
            <a:off x="4754880" y="1051560"/>
            <a:ext cx="3931920" cy="457200"/>
          </a:xfrm>
          <a:prstGeom prst="rect">
            <a:avLst/>
          </a:prstGeom>
          <a:solidFill>
            <a:srgbClr val="C1121F"/>
          </a:solidFill>
          <a:ln/>
        </p:spPr>
      </p:sp>
      <p:sp>
        <p:nvSpPr>
          <p:cNvPr id="11" name="Text 9"/>
          <p:cNvSpPr/>
          <p:nvPr/>
        </p:nvSpPr>
        <p:spPr>
          <a:xfrm>
            <a:off x="4846320" y="1097280"/>
            <a:ext cx="374904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弗里德曼的诠释</a:t>
            </a:r>
            <a:endParaRPr lang="en-US" sz="1400" dirty="0"/>
          </a:p>
        </p:txBody>
      </p:sp>
      <p:sp>
        <p:nvSpPr>
          <p:cNvPr id="12" name="Text 10"/>
          <p:cNvSpPr/>
          <p:nvPr/>
        </p:nvSpPr>
        <p:spPr>
          <a:xfrm>
            <a:off x="4937760" y="1600200"/>
            <a:ext cx="3657600" cy="164592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用价格理论证明市场效率</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货币理论补充斯密的价格机制</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反对政府干预的理由：信息不对称</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自由选择：经济学与伦理的交汇</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消费者主权：需求决定生产</a:t>
            </a:r>
            <a:endParaRPr lang="en-US" sz="1100" dirty="0"/>
          </a:p>
        </p:txBody>
      </p:sp>
      <p:sp>
        <p:nvSpPr>
          <p:cNvPr id="13" name="Shape 11"/>
          <p:cNvSpPr/>
          <p:nvPr/>
        </p:nvSpPr>
        <p:spPr>
          <a:xfrm>
            <a:off x="457200" y="3520440"/>
            <a:ext cx="8229600" cy="914400"/>
          </a:xfrm>
          <a:prstGeom prst="rect">
            <a:avLst/>
          </a:prstGeom>
          <a:solidFill>
            <a:srgbClr val="C1121F">
              <a:alpha val="10000"/>
            </a:srgbClr>
          </a:solidFill>
          <a:ln/>
        </p:spPr>
      </p:sp>
      <p:sp>
        <p:nvSpPr>
          <p:cNvPr id="14" name="Text 12"/>
          <p:cNvSpPr/>
          <p:nvPr/>
        </p:nvSpPr>
        <p:spPr>
          <a:xfrm>
            <a:off x="548640" y="3566160"/>
            <a:ext cx="13716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核心洞见</a:t>
            </a:r>
            <a:endParaRPr lang="en-US" sz="1200" dirty="0"/>
          </a:p>
        </p:txBody>
      </p:sp>
      <p:sp>
        <p:nvSpPr>
          <p:cNvPr id="15" name="Text 13"/>
          <p:cNvSpPr/>
          <p:nvPr/>
        </p:nvSpPr>
        <p:spPr>
          <a:xfrm>
            <a:off x="548640" y="3886200"/>
            <a:ext cx="8046720" cy="50292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弗里德曼将斯密的自由放任思想从道德哲学转化为可检验的经济学命题，通过价格理论和货币理论为"小政府"提供了坚实的实证基础。</a:t>
            </a:r>
            <a:endParaRPr lang="en-US" sz="1100" dirty="0"/>
          </a:p>
        </p:txBody>
      </p:sp>
      <p:sp>
        <p:nvSpPr>
          <p:cNvPr id="16" name="Text 14"/>
          <p:cNvSpPr/>
          <p:nvPr/>
        </p:nvSpPr>
        <p:spPr>
          <a:xfrm>
            <a:off x="457200" y="4572000"/>
            <a:ext cx="8229600" cy="365760"/>
          </a:xfrm>
          <a:prstGeom prst="rect">
            <a:avLst/>
          </a:prstGeom>
          <a:noFill/>
          <a:ln/>
        </p:spPr>
        <p:txBody>
          <a:bodyPr wrap="square" rtlCol="0" anchor="ctr"/>
          <a:lstStyle/>
          <a:p>
            <a:pPr algn="ctr" indent="0" marL="0">
              <a:buNone/>
            </a:pPr>
            <a:r>
              <a:rPr lang="en-US" sz="1100" i="1" dirty="0">
                <a:solidFill>
                  <a:srgbClr val="003049"/>
                </a:solidFill>
                <a:latin typeface="Microsoft YaHei" pitchFamily="34" charset="0"/>
                <a:ea typeface="Microsoft YaHei" pitchFamily="34" charset="-122"/>
                <a:cs typeface="Microsoft YaHei" pitchFamily="34" charset="-120"/>
              </a:rPr>
              <a:t>"让人们自由选择，他们会比政府做得更好" — 弗里德曼</a:t>
            </a:r>
            <a:endParaRPr lang="en-US" sz="1100" dirty="0"/>
          </a:p>
        </p:txBody>
      </p:sp>
      <p:sp>
        <p:nvSpPr>
          <p:cNvPr id="17" name="Shape 15"/>
          <p:cNvSpPr/>
          <p:nvPr/>
        </p:nvSpPr>
        <p:spPr>
          <a:xfrm>
            <a:off x="8503920" y="4663440"/>
            <a:ext cx="365760" cy="365760"/>
          </a:xfrm>
          <a:prstGeom prst="ellipse">
            <a:avLst/>
          </a:prstGeom>
          <a:solidFill>
            <a:srgbClr val="C1121F"/>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Shape 1"/>
          <p:cNvSpPr/>
          <p:nvPr/>
        </p:nvSpPr>
        <p:spPr>
          <a:xfrm>
            <a:off x="0" y="777240"/>
            <a:ext cx="5486400" cy="73152"/>
          </a:xfrm>
          <a:prstGeom prst="rect">
            <a:avLst/>
          </a:prstGeom>
          <a:solidFill>
            <a:srgbClr val="C1121F"/>
          </a:solidFill>
          <a:ln/>
        </p:spPr>
      </p:sp>
      <p:sp>
        <p:nvSpPr>
          <p:cNvPr id="4" name="Text 2"/>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科斯：产权理论的诞生</a:t>
            </a:r>
            <a:endParaRPr lang="en-US" sz="2800" dirty="0"/>
          </a:p>
        </p:txBody>
      </p:sp>
      <p:sp>
        <p:nvSpPr>
          <p:cNvPr id="5" name="Shape 3"/>
          <p:cNvSpPr/>
          <p:nvPr/>
        </p:nvSpPr>
        <p:spPr>
          <a:xfrm>
            <a:off x="457200" y="1097280"/>
            <a:ext cx="2103120" cy="2560320"/>
          </a:xfrm>
          <a:prstGeom prst="rect">
            <a:avLst/>
          </a:prstGeom>
          <a:solidFill>
            <a:srgbClr val="669BBC">
              <a:alpha val="50000"/>
            </a:srgbClr>
          </a:solidFill>
          <a:ln w="12700">
            <a:solidFill>
              <a:srgbClr val="669BBC"/>
            </a:solidFill>
            <a:prstDash val="solid"/>
          </a:ln>
        </p:spPr>
      </p:sp>
      <p:sp>
        <p:nvSpPr>
          <p:cNvPr id="6" name="Text 4"/>
          <p:cNvSpPr/>
          <p:nvPr/>
        </p:nvSpPr>
        <p:spPr>
          <a:xfrm>
            <a:off x="457200" y="1645920"/>
            <a:ext cx="2103120" cy="1645920"/>
          </a:xfrm>
          <a:prstGeom prst="rect">
            <a:avLst/>
          </a:prstGeom>
          <a:noFill/>
          <a:ln/>
        </p:spPr>
        <p:txBody>
          <a:bodyPr wrap="square" rtlCol="0" anchor="ctr"/>
          <a:lstStyle/>
          <a:p>
            <a:pPr algn="ctr" indent="0" marL="0">
              <a:buNone/>
            </a:pPr>
            <a:r>
              <a:rPr lang="en-US" sz="1400" i="1" dirty="0">
                <a:solidFill>
                  <a:srgbClr val="003049"/>
                </a:solidFill>
                <a:latin typeface="Georgia" pitchFamily="34" charset="0"/>
                <a:ea typeface="Georgia" pitchFamily="34" charset="-122"/>
                <a:cs typeface="Georgia" pitchFamily="34" charset="-120"/>
              </a:rPr>
              <a:t>Ronald</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Coase</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1910-2013</a:t>
            </a:r>
            <a:endParaRPr lang="en-US" sz="1400" dirty="0"/>
          </a:p>
        </p:txBody>
      </p:sp>
      <p:sp>
        <p:nvSpPr>
          <p:cNvPr id="7" name="Text 5"/>
          <p:cNvSpPr/>
          <p:nvPr/>
        </p:nvSpPr>
        <p:spPr>
          <a:xfrm>
            <a:off x="2834640" y="1097280"/>
            <a:ext cx="585216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生平要点</a:t>
            </a:r>
            <a:endParaRPr lang="en-US" sz="1600" dirty="0"/>
          </a:p>
        </p:txBody>
      </p:sp>
      <p:sp>
        <p:nvSpPr>
          <p:cNvPr id="8" name="Shape 6"/>
          <p:cNvSpPr/>
          <p:nvPr/>
        </p:nvSpPr>
        <p:spPr>
          <a:xfrm>
            <a:off x="2834640" y="1554480"/>
            <a:ext cx="91440" cy="91440"/>
          </a:xfrm>
          <a:prstGeom prst="ellipse">
            <a:avLst/>
          </a:prstGeom>
          <a:solidFill>
            <a:srgbClr val="C1121F"/>
          </a:solidFill>
          <a:ln/>
        </p:spPr>
      </p:sp>
      <p:sp>
        <p:nvSpPr>
          <p:cNvPr id="9" name="Text 7"/>
          <p:cNvSpPr/>
          <p:nvPr/>
        </p:nvSpPr>
        <p:spPr>
          <a:xfrm>
            <a:off x="3063240" y="1481328"/>
            <a:ext cx="5623560" cy="34747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1991年诺贝尔经济学奖（迟到44年！）</a:t>
            </a:r>
            <a:endParaRPr lang="en-US" sz="1100" dirty="0"/>
          </a:p>
        </p:txBody>
      </p:sp>
      <p:sp>
        <p:nvSpPr>
          <p:cNvPr id="10" name="Shape 8"/>
          <p:cNvSpPr/>
          <p:nvPr/>
        </p:nvSpPr>
        <p:spPr>
          <a:xfrm>
            <a:off x="2834640" y="1920240"/>
            <a:ext cx="91440" cy="91440"/>
          </a:xfrm>
          <a:prstGeom prst="ellipse">
            <a:avLst/>
          </a:prstGeom>
          <a:solidFill>
            <a:srgbClr val="C1121F"/>
          </a:solidFill>
          <a:ln/>
        </p:spPr>
      </p:sp>
      <p:sp>
        <p:nvSpPr>
          <p:cNvPr id="11" name="Text 9"/>
          <p:cNvSpPr/>
          <p:nvPr/>
        </p:nvSpPr>
        <p:spPr>
          <a:xfrm>
            <a:off x="3063240" y="1847088"/>
            <a:ext cx="5623560" cy="34747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产权经济学和制度经济学的开创者</a:t>
            </a:r>
            <a:endParaRPr lang="en-US" sz="1100" dirty="0"/>
          </a:p>
        </p:txBody>
      </p:sp>
      <p:sp>
        <p:nvSpPr>
          <p:cNvPr id="12" name="Shape 10"/>
          <p:cNvSpPr/>
          <p:nvPr/>
        </p:nvSpPr>
        <p:spPr>
          <a:xfrm>
            <a:off x="2834640" y="2286000"/>
            <a:ext cx="91440" cy="91440"/>
          </a:xfrm>
          <a:prstGeom prst="ellipse">
            <a:avLst/>
          </a:prstGeom>
          <a:solidFill>
            <a:srgbClr val="C1121F"/>
          </a:solidFill>
          <a:ln/>
        </p:spPr>
      </p:sp>
      <p:sp>
        <p:nvSpPr>
          <p:cNvPr id="13" name="Text 11"/>
          <p:cNvSpPr/>
          <p:nvPr/>
        </p:nvSpPr>
        <p:spPr>
          <a:xfrm>
            <a:off x="3063240" y="2212848"/>
            <a:ext cx="5623560" cy="34747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1937年发表《企业的性质》（27岁！）</a:t>
            </a:r>
            <a:endParaRPr lang="en-US" sz="1100" dirty="0"/>
          </a:p>
        </p:txBody>
      </p:sp>
      <p:sp>
        <p:nvSpPr>
          <p:cNvPr id="14" name="Shape 12"/>
          <p:cNvSpPr/>
          <p:nvPr/>
        </p:nvSpPr>
        <p:spPr>
          <a:xfrm>
            <a:off x="2834640" y="2651760"/>
            <a:ext cx="91440" cy="91440"/>
          </a:xfrm>
          <a:prstGeom prst="ellipse">
            <a:avLst/>
          </a:prstGeom>
          <a:solidFill>
            <a:srgbClr val="C1121F"/>
          </a:solidFill>
          <a:ln/>
        </p:spPr>
      </p:sp>
      <p:sp>
        <p:nvSpPr>
          <p:cNvPr id="15" name="Text 13"/>
          <p:cNvSpPr/>
          <p:nvPr/>
        </p:nvSpPr>
        <p:spPr>
          <a:xfrm>
            <a:off x="3063240" y="2578608"/>
            <a:ext cx="5623560" cy="34747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1960年发表《社会成本问题》（里程碑）</a:t>
            </a:r>
            <a:endParaRPr lang="en-US" sz="1100" dirty="0"/>
          </a:p>
        </p:txBody>
      </p:sp>
      <p:sp>
        <p:nvSpPr>
          <p:cNvPr id="16" name="Shape 14"/>
          <p:cNvSpPr/>
          <p:nvPr/>
        </p:nvSpPr>
        <p:spPr>
          <a:xfrm>
            <a:off x="2834640" y="3017520"/>
            <a:ext cx="91440" cy="91440"/>
          </a:xfrm>
          <a:prstGeom prst="ellipse">
            <a:avLst/>
          </a:prstGeom>
          <a:solidFill>
            <a:srgbClr val="C1121F"/>
          </a:solidFill>
          <a:ln/>
        </p:spPr>
      </p:sp>
      <p:sp>
        <p:nvSpPr>
          <p:cNvPr id="17" name="Text 15"/>
          <p:cNvSpPr/>
          <p:nvPr/>
        </p:nvSpPr>
        <p:spPr>
          <a:xfrm>
            <a:off x="3063240" y="2944368"/>
            <a:ext cx="5623560" cy="34747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先后任教于芝加哥大学和弗吉尼亚大学</a:t>
            </a:r>
            <a:endParaRPr lang="en-US" sz="1100" dirty="0"/>
          </a:p>
        </p:txBody>
      </p:sp>
      <p:sp>
        <p:nvSpPr>
          <p:cNvPr id="18" name="Shape 16"/>
          <p:cNvSpPr/>
          <p:nvPr/>
        </p:nvSpPr>
        <p:spPr>
          <a:xfrm>
            <a:off x="2834640" y="3383280"/>
            <a:ext cx="2834640" cy="1051560"/>
          </a:xfrm>
          <a:prstGeom prst="rect">
            <a:avLst/>
          </a:prstGeom>
          <a:solidFill>
            <a:srgbClr val="FFFFFF"/>
          </a:solidFill>
          <a:ln w="12700">
            <a:solidFill>
              <a:srgbClr val="C1121F"/>
            </a:solidFill>
            <a:prstDash val="solid"/>
          </a:ln>
        </p:spPr>
      </p:sp>
      <p:sp>
        <p:nvSpPr>
          <p:cNvPr id="19" name="Text 17"/>
          <p:cNvSpPr/>
          <p:nvPr/>
        </p:nvSpPr>
        <p:spPr>
          <a:xfrm>
            <a:off x="2926080" y="3429000"/>
            <a:ext cx="731520" cy="274320"/>
          </a:xfrm>
          <a:prstGeom prst="rect">
            <a:avLst/>
          </a:prstGeom>
          <a:noFill/>
          <a:ln/>
        </p:spPr>
        <p:txBody>
          <a:bodyPr wrap="square" rtlCol="0" anchor="ctr"/>
          <a:lstStyle/>
          <a:p>
            <a:pPr indent="0" marL="0">
              <a:buNone/>
            </a:pPr>
            <a:r>
              <a:rPr lang="en-US" sz="1200" b="1" dirty="0">
                <a:solidFill>
                  <a:srgbClr val="C1121F"/>
                </a:solidFill>
                <a:latin typeface="Georgia" pitchFamily="34" charset="0"/>
                <a:ea typeface="Georgia" pitchFamily="34" charset="-122"/>
                <a:cs typeface="Georgia" pitchFamily="34" charset="-120"/>
              </a:rPr>
              <a:t>1937</a:t>
            </a:r>
            <a:endParaRPr lang="en-US" sz="1200" dirty="0"/>
          </a:p>
        </p:txBody>
      </p:sp>
      <p:sp>
        <p:nvSpPr>
          <p:cNvPr id="20" name="Text 18"/>
          <p:cNvSpPr/>
          <p:nvPr/>
        </p:nvSpPr>
        <p:spPr>
          <a:xfrm>
            <a:off x="2926080" y="3657600"/>
            <a:ext cx="2651760" cy="27432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《企业的性质》</a:t>
            </a:r>
            <a:endParaRPr lang="en-US" sz="1100" dirty="0"/>
          </a:p>
        </p:txBody>
      </p:sp>
      <p:sp>
        <p:nvSpPr>
          <p:cNvPr id="21" name="Text 19"/>
          <p:cNvSpPr/>
          <p:nvPr/>
        </p:nvSpPr>
        <p:spPr>
          <a:xfrm>
            <a:off x="2926080" y="3931920"/>
            <a:ext cx="265176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为何存在企业？市场交易有成本</a:t>
            </a:r>
            <a:endParaRPr lang="en-US" sz="900" dirty="0"/>
          </a:p>
        </p:txBody>
      </p:sp>
      <p:sp>
        <p:nvSpPr>
          <p:cNvPr id="22" name="Shape 20"/>
          <p:cNvSpPr/>
          <p:nvPr/>
        </p:nvSpPr>
        <p:spPr>
          <a:xfrm>
            <a:off x="5852160" y="3383280"/>
            <a:ext cx="2834640" cy="1051560"/>
          </a:xfrm>
          <a:prstGeom prst="rect">
            <a:avLst/>
          </a:prstGeom>
          <a:solidFill>
            <a:srgbClr val="FFFFFF"/>
          </a:solidFill>
          <a:ln w="25400">
            <a:solidFill>
              <a:srgbClr val="C1121F"/>
            </a:solidFill>
            <a:prstDash val="solid"/>
          </a:ln>
        </p:spPr>
      </p:sp>
      <p:sp>
        <p:nvSpPr>
          <p:cNvPr id="23" name="Text 21"/>
          <p:cNvSpPr/>
          <p:nvPr/>
        </p:nvSpPr>
        <p:spPr>
          <a:xfrm>
            <a:off x="5943600" y="3429000"/>
            <a:ext cx="731520" cy="274320"/>
          </a:xfrm>
          <a:prstGeom prst="rect">
            <a:avLst/>
          </a:prstGeom>
          <a:noFill/>
          <a:ln/>
        </p:spPr>
        <p:txBody>
          <a:bodyPr wrap="square" rtlCol="0" anchor="ctr"/>
          <a:lstStyle/>
          <a:p>
            <a:pPr indent="0" marL="0">
              <a:buNone/>
            </a:pPr>
            <a:r>
              <a:rPr lang="en-US" sz="1200" b="1" dirty="0">
                <a:solidFill>
                  <a:srgbClr val="C1121F"/>
                </a:solidFill>
                <a:latin typeface="Georgia" pitchFamily="34" charset="0"/>
                <a:ea typeface="Georgia" pitchFamily="34" charset="-122"/>
                <a:cs typeface="Georgia" pitchFamily="34" charset="-120"/>
              </a:rPr>
              <a:t>1960</a:t>
            </a:r>
            <a:endParaRPr lang="en-US" sz="1200" dirty="0"/>
          </a:p>
        </p:txBody>
      </p:sp>
      <p:sp>
        <p:nvSpPr>
          <p:cNvPr id="24" name="Text 22"/>
          <p:cNvSpPr/>
          <p:nvPr/>
        </p:nvSpPr>
        <p:spPr>
          <a:xfrm>
            <a:off x="5943600" y="3657600"/>
            <a:ext cx="2651760" cy="27432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《社会成本问题》</a:t>
            </a:r>
            <a:endParaRPr lang="en-US" sz="1100" dirty="0"/>
          </a:p>
        </p:txBody>
      </p:sp>
      <p:sp>
        <p:nvSpPr>
          <p:cNvPr id="25" name="Text 23"/>
          <p:cNvSpPr/>
          <p:nvPr/>
        </p:nvSpPr>
        <p:spPr>
          <a:xfrm>
            <a:off x="5943600" y="3931920"/>
            <a:ext cx="265176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外部性问题：产权界定是关键</a:t>
            </a:r>
            <a:endParaRPr lang="en-US" sz="900" dirty="0"/>
          </a:p>
        </p:txBody>
      </p:sp>
      <p:sp>
        <p:nvSpPr>
          <p:cNvPr id="26" name="Shape 24"/>
          <p:cNvSpPr/>
          <p:nvPr/>
        </p:nvSpPr>
        <p:spPr>
          <a:xfrm>
            <a:off x="457200" y="4572000"/>
            <a:ext cx="8229600" cy="457200"/>
          </a:xfrm>
          <a:prstGeom prst="rect">
            <a:avLst/>
          </a:prstGeom>
          <a:solidFill>
            <a:srgbClr val="003049"/>
          </a:solidFill>
          <a:ln/>
        </p:spPr>
      </p:sp>
      <p:sp>
        <p:nvSpPr>
          <p:cNvPr id="27" name="Text 25"/>
          <p:cNvSpPr/>
          <p:nvPr/>
        </p:nvSpPr>
        <p:spPr>
          <a:xfrm>
            <a:off x="548640" y="4617720"/>
            <a:ext cx="8046720" cy="365760"/>
          </a:xfrm>
          <a:prstGeom prst="rect">
            <a:avLst/>
          </a:prstGeom>
          <a:noFill/>
          <a:ln/>
        </p:spPr>
        <p:txBody>
          <a:bodyPr wrap="square" rtlCol="0" anchor="ctr"/>
          <a:lstStyle/>
          <a:p>
            <a:pPr algn="ctr" indent="0" marL="0">
              <a:buNone/>
            </a:pPr>
            <a:r>
              <a:rPr lang="en-US" sz="1200" i="1" dirty="0">
                <a:solidFill>
                  <a:srgbClr val="FFFFFF"/>
                </a:solidFill>
                <a:latin typeface="Microsoft YaHei" pitchFamily="34" charset="0"/>
                <a:ea typeface="Microsoft YaHei" pitchFamily="34" charset="-122"/>
                <a:cs typeface="Microsoft YaHei" pitchFamily="34" charset="-120"/>
              </a:rPr>
              <a:t>"没有产权保护，市场经济无法运作" — 科斯</a:t>
            </a:r>
            <a:endParaRPr lang="en-US" sz="1200" dirty="0"/>
          </a:p>
        </p:txBody>
      </p:sp>
      <p:sp>
        <p:nvSpPr>
          <p:cNvPr id="28" name="Shape 26"/>
          <p:cNvSpPr/>
          <p:nvPr/>
        </p:nvSpPr>
        <p:spPr>
          <a:xfrm>
            <a:off x="8503920" y="4663440"/>
            <a:ext cx="365760" cy="365760"/>
          </a:xfrm>
          <a:prstGeom prst="ellipse">
            <a:avLst/>
          </a:prstGeom>
          <a:solidFill>
            <a:srgbClr val="C1121F"/>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科斯定理</a:t>
            </a:r>
            <a:endParaRPr lang="en-US" sz="2800" dirty="0"/>
          </a:p>
        </p:txBody>
      </p:sp>
      <p:sp>
        <p:nvSpPr>
          <p:cNvPr id="4" name="Shape 2"/>
          <p:cNvSpPr/>
          <p:nvPr/>
        </p:nvSpPr>
        <p:spPr>
          <a:xfrm>
            <a:off x="457200" y="1051560"/>
            <a:ext cx="8229600" cy="731520"/>
          </a:xfrm>
          <a:prstGeom prst="rect">
            <a:avLst/>
          </a:prstGeom>
          <a:solidFill>
            <a:srgbClr val="C1121F"/>
          </a:solidFill>
          <a:ln/>
        </p:spPr>
      </p:sp>
      <p:sp>
        <p:nvSpPr>
          <p:cNvPr id="5" name="Text 3"/>
          <p:cNvSpPr/>
          <p:nvPr/>
        </p:nvSpPr>
        <p:spPr>
          <a:xfrm>
            <a:off x="548640" y="1143000"/>
            <a:ext cx="80467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若交易成本为零，产权的初始配置不影响资源最终配置效率</a:t>
            </a:r>
            <a:endParaRPr lang="en-US" sz="1600" dirty="0"/>
          </a:p>
        </p:txBody>
      </p:sp>
      <p:sp>
        <p:nvSpPr>
          <p:cNvPr id="6" name="Shape 4"/>
          <p:cNvSpPr/>
          <p:nvPr/>
        </p:nvSpPr>
        <p:spPr>
          <a:xfrm>
            <a:off x="457200" y="1965960"/>
            <a:ext cx="2697480" cy="1280160"/>
          </a:xfrm>
          <a:prstGeom prst="rect">
            <a:avLst/>
          </a:prstGeom>
          <a:solidFill>
            <a:srgbClr val="FFFFFF"/>
          </a:solidFill>
          <a:ln w="25400">
            <a:solidFill>
              <a:srgbClr val="003049"/>
            </a:solidFill>
            <a:prstDash val="solid"/>
          </a:ln>
        </p:spPr>
      </p:sp>
      <p:sp>
        <p:nvSpPr>
          <p:cNvPr id="7" name="Shape 5"/>
          <p:cNvSpPr/>
          <p:nvPr/>
        </p:nvSpPr>
        <p:spPr>
          <a:xfrm>
            <a:off x="457200" y="1965960"/>
            <a:ext cx="2697480" cy="365760"/>
          </a:xfrm>
          <a:prstGeom prst="rect">
            <a:avLst/>
          </a:prstGeom>
          <a:solidFill>
            <a:srgbClr val="003049"/>
          </a:solidFill>
          <a:ln/>
        </p:spPr>
      </p:sp>
      <p:sp>
        <p:nvSpPr>
          <p:cNvPr id="8" name="Text 6"/>
          <p:cNvSpPr/>
          <p:nvPr/>
        </p:nvSpPr>
        <p:spPr>
          <a:xfrm>
            <a:off x="457200" y="199339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前提条件</a:t>
            </a:r>
            <a:endParaRPr lang="en-US" sz="1200" dirty="0"/>
          </a:p>
        </p:txBody>
      </p:sp>
      <p:sp>
        <p:nvSpPr>
          <p:cNvPr id="9" name="Text 7"/>
          <p:cNvSpPr/>
          <p:nvPr/>
        </p:nvSpPr>
        <p:spPr>
          <a:xfrm>
            <a:off x="548640" y="2377440"/>
            <a:ext cx="2514600" cy="82296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交易成本 = 零</a:t>
            </a:r>
            <a:endParaRPr lang="en-US" sz="1100" dirty="0"/>
          </a:p>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（协商无代价）</a:t>
            </a:r>
            <a:endParaRPr lang="en-US" sz="1100" dirty="0"/>
          </a:p>
        </p:txBody>
      </p:sp>
      <p:sp>
        <p:nvSpPr>
          <p:cNvPr id="10" name="Shape 8"/>
          <p:cNvSpPr/>
          <p:nvPr/>
        </p:nvSpPr>
        <p:spPr>
          <a:xfrm>
            <a:off x="3291840" y="1965960"/>
            <a:ext cx="2697480" cy="1280160"/>
          </a:xfrm>
          <a:prstGeom prst="rect">
            <a:avLst/>
          </a:prstGeom>
          <a:solidFill>
            <a:srgbClr val="FFFFFF"/>
          </a:solidFill>
          <a:ln w="25400">
            <a:solidFill>
              <a:srgbClr val="669BBC"/>
            </a:solidFill>
            <a:prstDash val="solid"/>
          </a:ln>
        </p:spPr>
      </p:sp>
      <p:sp>
        <p:nvSpPr>
          <p:cNvPr id="11" name="Shape 9"/>
          <p:cNvSpPr/>
          <p:nvPr/>
        </p:nvSpPr>
        <p:spPr>
          <a:xfrm>
            <a:off x="3291840" y="1965960"/>
            <a:ext cx="2697480" cy="365760"/>
          </a:xfrm>
          <a:prstGeom prst="rect">
            <a:avLst/>
          </a:prstGeom>
          <a:solidFill>
            <a:srgbClr val="669BBC"/>
          </a:solidFill>
          <a:ln/>
        </p:spPr>
      </p:sp>
      <p:sp>
        <p:nvSpPr>
          <p:cNvPr id="12" name="Text 10"/>
          <p:cNvSpPr/>
          <p:nvPr/>
        </p:nvSpPr>
        <p:spPr>
          <a:xfrm>
            <a:off x="3291840" y="199339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核心逻辑</a:t>
            </a:r>
            <a:endParaRPr lang="en-US" sz="1200" dirty="0"/>
          </a:p>
        </p:txBody>
      </p:sp>
      <p:sp>
        <p:nvSpPr>
          <p:cNvPr id="13" name="Text 11"/>
          <p:cNvSpPr/>
          <p:nvPr/>
        </p:nvSpPr>
        <p:spPr>
          <a:xfrm>
            <a:off x="3383280" y="2377440"/>
            <a:ext cx="2514600" cy="82296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自愿交易会使资源</a:t>
            </a:r>
            <a:endParaRPr lang="en-US" sz="1100" dirty="0"/>
          </a:p>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流向最高价值用途</a:t>
            </a:r>
            <a:endParaRPr lang="en-US" sz="1100" dirty="0"/>
          </a:p>
        </p:txBody>
      </p:sp>
      <p:sp>
        <p:nvSpPr>
          <p:cNvPr id="14" name="Shape 12"/>
          <p:cNvSpPr/>
          <p:nvPr/>
        </p:nvSpPr>
        <p:spPr>
          <a:xfrm>
            <a:off x="6126480" y="1965960"/>
            <a:ext cx="2697480" cy="1280160"/>
          </a:xfrm>
          <a:prstGeom prst="rect">
            <a:avLst/>
          </a:prstGeom>
          <a:solidFill>
            <a:srgbClr val="FFFFFF"/>
          </a:solidFill>
          <a:ln w="25400">
            <a:solidFill>
              <a:srgbClr val="780000"/>
            </a:solidFill>
            <a:prstDash val="solid"/>
          </a:ln>
        </p:spPr>
      </p:sp>
      <p:sp>
        <p:nvSpPr>
          <p:cNvPr id="15" name="Shape 13"/>
          <p:cNvSpPr/>
          <p:nvPr/>
        </p:nvSpPr>
        <p:spPr>
          <a:xfrm>
            <a:off x="6126480" y="1965960"/>
            <a:ext cx="2697480" cy="365760"/>
          </a:xfrm>
          <a:prstGeom prst="rect">
            <a:avLst/>
          </a:prstGeom>
          <a:solidFill>
            <a:srgbClr val="780000"/>
          </a:solidFill>
          <a:ln/>
        </p:spPr>
      </p:sp>
      <p:sp>
        <p:nvSpPr>
          <p:cNvPr id="16" name="Text 14"/>
          <p:cNvSpPr/>
          <p:nvPr/>
        </p:nvSpPr>
        <p:spPr>
          <a:xfrm>
            <a:off x="6126480" y="199339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结论</a:t>
            </a:r>
            <a:endParaRPr lang="en-US" sz="1200" dirty="0"/>
          </a:p>
        </p:txBody>
      </p:sp>
      <p:sp>
        <p:nvSpPr>
          <p:cNvPr id="17" name="Text 15"/>
          <p:cNvSpPr/>
          <p:nvPr/>
        </p:nvSpPr>
        <p:spPr>
          <a:xfrm>
            <a:off x="6217920" y="2377440"/>
            <a:ext cx="2514600" cy="82296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无论产权归谁</a:t>
            </a:r>
            <a:endParaRPr lang="en-US" sz="1100" dirty="0"/>
          </a:p>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市场都能达到效率</a:t>
            </a:r>
            <a:endParaRPr lang="en-US" sz="1100" dirty="0"/>
          </a:p>
        </p:txBody>
      </p:sp>
      <p:sp>
        <p:nvSpPr>
          <p:cNvPr id="18" name="Text 16"/>
          <p:cNvSpPr/>
          <p:nvPr/>
        </p:nvSpPr>
        <p:spPr>
          <a:xfrm>
            <a:off x="3017520" y="2331720"/>
            <a:ext cx="365760" cy="457200"/>
          </a:xfrm>
          <a:prstGeom prst="rect">
            <a:avLst/>
          </a:prstGeom>
          <a:noFill/>
          <a:ln/>
        </p:spPr>
        <p:txBody>
          <a:bodyPr wrap="square" rtlCol="0" anchor="ctr"/>
          <a:lstStyle/>
          <a:p>
            <a:pPr algn="ctr" indent="0" marL="0">
              <a:buNone/>
            </a:pPr>
            <a:r>
              <a:rPr lang="en-US" sz="2400" b="1" dirty="0">
                <a:solidFill>
                  <a:srgbClr val="C1121F"/>
                </a:solidFill>
                <a:latin typeface="Arial" pitchFamily="34" charset="0"/>
                <a:ea typeface="Arial" pitchFamily="34" charset="-122"/>
                <a:cs typeface="Arial" pitchFamily="34" charset="-120"/>
              </a:rPr>
              <a:t>→</a:t>
            </a:r>
            <a:endParaRPr lang="en-US" sz="2400" dirty="0"/>
          </a:p>
        </p:txBody>
      </p:sp>
      <p:sp>
        <p:nvSpPr>
          <p:cNvPr id="19" name="Text 17"/>
          <p:cNvSpPr/>
          <p:nvPr/>
        </p:nvSpPr>
        <p:spPr>
          <a:xfrm>
            <a:off x="5852160" y="2331720"/>
            <a:ext cx="365760" cy="457200"/>
          </a:xfrm>
          <a:prstGeom prst="rect">
            <a:avLst/>
          </a:prstGeom>
          <a:noFill/>
          <a:ln/>
        </p:spPr>
        <p:txBody>
          <a:bodyPr wrap="square" rtlCol="0" anchor="ctr"/>
          <a:lstStyle/>
          <a:p>
            <a:pPr algn="ctr" indent="0" marL="0">
              <a:buNone/>
            </a:pPr>
            <a:r>
              <a:rPr lang="en-US" sz="2400" b="1" dirty="0">
                <a:solidFill>
                  <a:srgbClr val="C1121F"/>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457200" y="3429000"/>
            <a:ext cx="8229600" cy="822960"/>
          </a:xfrm>
          <a:prstGeom prst="rect">
            <a:avLst/>
          </a:prstGeom>
          <a:solidFill>
            <a:srgbClr val="003049">
              <a:alpha val="10000"/>
            </a:srgbClr>
          </a:solidFill>
          <a:ln/>
        </p:spPr>
      </p:sp>
      <p:sp>
        <p:nvSpPr>
          <p:cNvPr id="21" name="Text 19"/>
          <p:cNvSpPr/>
          <p:nvPr/>
        </p:nvSpPr>
        <p:spPr>
          <a:xfrm>
            <a:off x="548640" y="3474720"/>
            <a:ext cx="804672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现实修正：交易成本从来不为零</a:t>
            </a:r>
            <a:endParaRPr lang="en-US" sz="1300" dirty="0"/>
          </a:p>
        </p:txBody>
      </p:sp>
      <p:sp>
        <p:nvSpPr>
          <p:cNvPr id="22" name="Text 20"/>
          <p:cNvSpPr/>
          <p:nvPr/>
        </p:nvSpPr>
        <p:spPr>
          <a:xfrm>
            <a:off x="548640" y="3794760"/>
            <a:ext cx="804672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因此产权初始配置很重要！法律制度、产权保护对经济发展至关重要</a:t>
            </a:r>
            <a:endParaRPr lang="en-US" sz="1100" dirty="0"/>
          </a:p>
        </p:txBody>
      </p:sp>
      <p:sp>
        <p:nvSpPr>
          <p:cNvPr id="23" name="Shape 21"/>
          <p:cNvSpPr/>
          <p:nvPr/>
        </p:nvSpPr>
        <p:spPr>
          <a:xfrm>
            <a:off x="457200" y="4389120"/>
            <a:ext cx="8229600" cy="640080"/>
          </a:xfrm>
          <a:prstGeom prst="rect">
            <a:avLst/>
          </a:prstGeom>
          <a:solidFill>
            <a:srgbClr val="FFFFFF"/>
          </a:solidFill>
          <a:ln w="12700">
            <a:solidFill>
              <a:srgbClr val="669BBC"/>
            </a:solidFill>
            <a:prstDash val="solid"/>
          </a:ln>
        </p:spPr>
      </p:sp>
      <p:sp>
        <p:nvSpPr>
          <p:cNvPr id="24" name="Text 22"/>
          <p:cNvSpPr/>
          <p:nvPr/>
        </p:nvSpPr>
        <p:spPr>
          <a:xfrm>
            <a:off x="548640" y="4480560"/>
            <a:ext cx="8046720" cy="45720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案例：污染权归工厂还是居民，决定了是否需要政府干预，而非市场结果</a:t>
            </a:r>
            <a:endParaRPr lang="en-US" sz="1100" dirty="0"/>
          </a:p>
        </p:txBody>
      </p:sp>
      <p:sp>
        <p:nvSpPr>
          <p:cNvPr id="25" name="Shape 23"/>
          <p:cNvSpPr/>
          <p:nvPr/>
        </p:nvSpPr>
        <p:spPr>
          <a:xfrm>
            <a:off x="8503920" y="4663440"/>
            <a:ext cx="365760" cy="365760"/>
          </a:xfrm>
          <a:prstGeom prst="ellipse">
            <a:avLst/>
          </a:prstGeom>
          <a:solidFill>
            <a:srgbClr val="C1121F"/>
          </a:solidFill>
          <a:ln/>
        </p:spPr>
      </p:sp>
      <p:sp>
        <p:nvSpPr>
          <p:cNvPr id="26" name="Text 24"/>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交易成本的现实世界</a:t>
            </a:r>
            <a:endParaRPr lang="en-US" sz="2800" dirty="0"/>
          </a:p>
        </p:txBody>
      </p:sp>
      <p:sp>
        <p:nvSpPr>
          <p:cNvPr id="4" name="Shape 2"/>
          <p:cNvSpPr/>
          <p:nvPr/>
        </p:nvSpPr>
        <p:spPr>
          <a:xfrm>
            <a:off x="457200" y="1005840"/>
            <a:ext cx="8229600" cy="640080"/>
          </a:xfrm>
          <a:prstGeom prst="rect">
            <a:avLst/>
          </a:prstGeom>
          <a:solidFill>
            <a:srgbClr val="C1121F">
              <a:alpha val="15000"/>
            </a:srgbClr>
          </a:solidFill>
          <a:ln/>
        </p:spPr>
      </p:sp>
      <p:sp>
        <p:nvSpPr>
          <p:cNvPr id="5" name="Text 3"/>
          <p:cNvSpPr/>
          <p:nvPr/>
        </p:nvSpPr>
        <p:spPr>
          <a:xfrm>
            <a:off x="548640" y="1097280"/>
            <a:ext cx="8046720" cy="457200"/>
          </a:xfrm>
          <a:prstGeom prst="rect">
            <a:avLst/>
          </a:prstGeom>
          <a:noFill/>
          <a:ln/>
        </p:spPr>
        <p:txBody>
          <a:bodyPr wrap="square" rtlCol="0" anchor="ctr"/>
          <a:lstStyle/>
          <a:p>
            <a:pPr algn="ctr" indent="0" marL="0">
              <a:buNone/>
            </a:pPr>
            <a:r>
              <a:rPr lang="en-US" sz="1300" dirty="0">
                <a:solidFill>
                  <a:srgbClr val="003049"/>
                </a:solidFill>
                <a:latin typeface="Microsoft YaHei" pitchFamily="34" charset="0"/>
                <a:ea typeface="Microsoft YaHei" pitchFamily="34" charset="-122"/>
                <a:cs typeface="Microsoft YaHei" pitchFamily="34" charset="-120"/>
              </a:rPr>
              <a:t>交易成本：达成一项交易所需的全部时间和金钱（科斯，1937）</a:t>
            </a:r>
            <a:endParaRPr lang="en-US" sz="1300" dirty="0"/>
          </a:p>
        </p:txBody>
      </p:sp>
      <p:sp>
        <p:nvSpPr>
          <p:cNvPr id="6" name="Text 4"/>
          <p:cNvSpPr/>
          <p:nvPr/>
        </p:nvSpPr>
        <p:spPr>
          <a:xfrm>
            <a:off x="457200" y="1783080"/>
            <a:ext cx="393192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交易成本的类型</a:t>
            </a:r>
            <a:endParaRPr lang="en-US" sz="1400" dirty="0"/>
          </a:p>
        </p:txBody>
      </p:sp>
      <p:sp>
        <p:nvSpPr>
          <p:cNvPr id="7" name="Shape 5"/>
          <p:cNvSpPr/>
          <p:nvPr/>
        </p:nvSpPr>
        <p:spPr>
          <a:xfrm>
            <a:off x="457200" y="2194560"/>
            <a:ext cx="3931920" cy="457200"/>
          </a:xfrm>
          <a:prstGeom prst="rect">
            <a:avLst/>
          </a:prstGeom>
          <a:solidFill>
            <a:srgbClr val="FFFFFF"/>
          </a:solidFill>
          <a:ln w="12700">
            <a:solidFill>
              <a:srgbClr val="669BBC"/>
            </a:solidFill>
            <a:prstDash val="solid"/>
          </a:ln>
        </p:spPr>
      </p:sp>
      <p:sp>
        <p:nvSpPr>
          <p:cNvPr id="8" name="Text 6"/>
          <p:cNvSpPr/>
          <p:nvPr/>
        </p:nvSpPr>
        <p:spPr>
          <a:xfrm>
            <a:off x="548640" y="2240280"/>
            <a:ext cx="1188720" cy="36576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搜索成本</a:t>
            </a:r>
            <a:endParaRPr lang="en-US" sz="1100" dirty="0"/>
          </a:p>
        </p:txBody>
      </p:sp>
      <p:sp>
        <p:nvSpPr>
          <p:cNvPr id="9" name="Text 7"/>
          <p:cNvSpPr/>
          <p:nvPr/>
        </p:nvSpPr>
        <p:spPr>
          <a:xfrm>
            <a:off x="1737360" y="2240280"/>
            <a:ext cx="256032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寻找交易对象</a:t>
            </a:r>
            <a:endParaRPr lang="en-US" sz="1100" dirty="0"/>
          </a:p>
        </p:txBody>
      </p:sp>
      <p:sp>
        <p:nvSpPr>
          <p:cNvPr id="10" name="Shape 8"/>
          <p:cNvSpPr/>
          <p:nvPr/>
        </p:nvSpPr>
        <p:spPr>
          <a:xfrm>
            <a:off x="457200" y="2697480"/>
            <a:ext cx="3931920" cy="457200"/>
          </a:xfrm>
          <a:prstGeom prst="rect">
            <a:avLst/>
          </a:prstGeom>
          <a:solidFill>
            <a:srgbClr val="FFFFFF"/>
          </a:solidFill>
          <a:ln w="12700">
            <a:solidFill>
              <a:srgbClr val="669BBC"/>
            </a:solidFill>
            <a:prstDash val="solid"/>
          </a:ln>
        </p:spPr>
      </p:sp>
      <p:sp>
        <p:nvSpPr>
          <p:cNvPr id="11" name="Text 9"/>
          <p:cNvSpPr/>
          <p:nvPr/>
        </p:nvSpPr>
        <p:spPr>
          <a:xfrm>
            <a:off x="548640" y="2743200"/>
            <a:ext cx="1188720" cy="36576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谈判成本</a:t>
            </a:r>
            <a:endParaRPr lang="en-US" sz="1100" dirty="0"/>
          </a:p>
        </p:txBody>
      </p:sp>
      <p:sp>
        <p:nvSpPr>
          <p:cNvPr id="12" name="Text 10"/>
          <p:cNvSpPr/>
          <p:nvPr/>
        </p:nvSpPr>
        <p:spPr>
          <a:xfrm>
            <a:off x="1737360" y="2743200"/>
            <a:ext cx="256032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讨价还价、签约</a:t>
            </a:r>
            <a:endParaRPr lang="en-US" sz="1100" dirty="0"/>
          </a:p>
        </p:txBody>
      </p:sp>
      <p:sp>
        <p:nvSpPr>
          <p:cNvPr id="13" name="Shape 11"/>
          <p:cNvSpPr/>
          <p:nvPr/>
        </p:nvSpPr>
        <p:spPr>
          <a:xfrm>
            <a:off x="457200" y="3200400"/>
            <a:ext cx="3931920" cy="457200"/>
          </a:xfrm>
          <a:prstGeom prst="rect">
            <a:avLst/>
          </a:prstGeom>
          <a:solidFill>
            <a:srgbClr val="FFFFFF"/>
          </a:solidFill>
          <a:ln w="12700">
            <a:solidFill>
              <a:srgbClr val="669BBC"/>
            </a:solidFill>
            <a:prstDash val="solid"/>
          </a:ln>
        </p:spPr>
      </p:sp>
      <p:sp>
        <p:nvSpPr>
          <p:cNvPr id="14" name="Text 12"/>
          <p:cNvSpPr/>
          <p:nvPr/>
        </p:nvSpPr>
        <p:spPr>
          <a:xfrm>
            <a:off x="548640" y="3246120"/>
            <a:ext cx="1188720" cy="36576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监督成本</a:t>
            </a:r>
            <a:endParaRPr lang="en-US" sz="1100" dirty="0"/>
          </a:p>
        </p:txBody>
      </p:sp>
      <p:sp>
        <p:nvSpPr>
          <p:cNvPr id="15" name="Text 13"/>
          <p:cNvSpPr/>
          <p:nvPr/>
        </p:nvSpPr>
        <p:spPr>
          <a:xfrm>
            <a:off x="1737360" y="3246120"/>
            <a:ext cx="256032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确保合约执行</a:t>
            </a:r>
            <a:endParaRPr lang="en-US" sz="1100" dirty="0"/>
          </a:p>
        </p:txBody>
      </p:sp>
      <p:sp>
        <p:nvSpPr>
          <p:cNvPr id="16" name="Shape 14"/>
          <p:cNvSpPr/>
          <p:nvPr/>
        </p:nvSpPr>
        <p:spPr>
          <a:xfrm>
            <a:off x="457200" y="3703320"/>
            <a:ext cx="3931920" cy="457200"/>
          </a:xfrm>
          <a:prstGeom prst="rect">
            <a:avLst/>
          </a:prstGeom>
          <a:solidFill>
            <a:srgbClr val="FFFFFF"/>
          </a:solidFill>
          <a:ln w="12700">
            <a:solidFill>
              <a:srgbClr val="669BBC"/>
            </a:solidFill>
            <a:prstDash val="solid"/>
          </a:ln>
        </p:spPr>
      </p:sp>
      <p:sp>
        <p:nvSpPr>
          <p:cNvPr id="17" name="Text 15"/>
          <p:cNvSpPr/>
          <p:nvPr/>
        </p:nvSpPr>
        <p:spPr>
          <a:xfrm>
            <a:off x="548640" y="3749040"/>
            <a:ext cx="1188720" cy="36576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执行成本</a:t>
            </a:r>
            <a:endParaRPr lang="en-US" sz="1100" dirty="0"/>
          </a:p>
        </p:txBody>
      </p:sp>
      <p:sp>
        <p:nvSpPr>
          <p:cNvPr id="18" name="Text 16"/>
          <p:cNvSpPr/>
          <p:nvPr/>
        </p:nvSpPr>
        <p:spPr>
          <a:xfrm>
            <a:off x="1737360" y="3749040"/>
            <a:ext cx="2560320" cy="36576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产权保护与纠纷解决</a:t>
            </a:r>
            <a:endParaRPr lang="en-US" sz="1100" dirty="0"/>
          </a:p>
        </p:txBody>
      </p:sp>
      <p:sp>
        <p:nvSpPr>
          <p:cNvPr id="19" name="Shape 17"/>
          <p:cNvSpPr/>
          <p:nvPr/>
        </p:nvSpPr>
        <p:spPr>
          <a:xfrm>
            <a:off x="4754880" y="1783080"/>
            <a:ext cx="3931920" cy="2468880"/>
          </a:xfrm>
          <a:prstGeom prst="rect">
            <a:avLst/>
          </a:prstGeom>
          <a:solidFill>
            <a:srgbClr val="FFFFFF"/>
          </a:solidFill>
          <a:ln w="12700">
            <a:solidFill>
              <a:srgbClr val="003049"/>
            </a:solidFill>
            <a:prstDash val="solid"/>
          </a:ln>
        </p:spPr>
      </p:sp>
      <p:sp>
        <p:nvSpPr>
          <p:cNvPr id="20" name="Text 18"/>
          <p:cNvSpPr/>
          <p:nvPr/>
        </p:nvSpPr>
        <p:spPr>
          <a:xfrm>
            <a:off x="4846320" y="1828800"/>
            <a:ext cx="374904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为何存在企业？</a:t>
            </a:r>
            <a:endParaRPr lang="en-US" sz="1400" dirty="0"/>
          </a:p>
        </p:txBody>
      </p:sp>
      <p:sp>
        <p:nvSpPr>
          <p:cNvPr id="21" name="Text 19"/>
          <p:cNvSpPr/>
          <p:nvPr/>
        </p:nvSpPr>
        <p:spPr>
          <a:xfrm>
            <a:off x="4937760" y="2240280"/>
            <a:ext cx="3657600" cy="182880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市场交易有成本</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企业内协调（权威关系）成本更低</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企业边界取决于市场交易成本 vs. 内部协调成本</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 解释企业的起源与规模</a:t>
            </a:r>
            <a:endParaRPr lang="en-US" sz="1100" dirty="0"/>
          </a:p>
        </p:txBody>
      </p:sp>
      <p:sp>
        <p:nvSpPr>
          <p:cNvPr id="22" name="Shape 20"/>
          <p:cNvSpPr/>
          <p:nvPr/>
        </p:nvSpPr>
        <p:spPr>
          <a:xfrm>
            <a:off x="457200" y="4389120"/>
            <a:ext cx="8229600" cy="640080"/>
          </a:xfrm>
          <a:prstGeom prst="rect">
            <a:avLst/>
          </a:prstGeom>
          <a:solidFill>
            <a:srgbClr val="003049"/>
          </a:solidFill>
          <a:ln/>
        </p:spPr>
      </p:sp>
      <p:sp>
        <p:nvSpPr>
          <p:cNvPr id="23" name="Text 21"/>
          <p:cNvSpPr/>
          <p:nvPr/>
        </p:nvSpPr>
        <p:spPr>
          <a:xfrm>
            <a:off x="548640" y="4480560"/>
            <a:ext cx="8046720" cy="45720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斯密视角：劳动分工受市场范围限制。科斯补充：市场范围受交易成本制约</a:t>
            </a:r>
            <a:endParaRPr lang="en-US" sz="1200" dirty="0"/>
          </a:p>
        </p:txBody>
      </p:sp>
      <p:sp>
        <p:nvSpPr>
          <p:cNvPr id="24" name="Shape 22"/>
          <p:cNvSpPr/>
          <p:nvPr/>
        </p:nvSpPr>
        <p:spPr>
          <a:xfrm>
            <a:off x="8503920" y="4663440"/>
            <a:ext cx="365760" cy="365760"/>
          </a:xfrm>
          <a:prstGeom prst="ellipse">
            <a:avLst/>
          </a:prstGeom>
          <a:solidFill>
            <a:srgbClr val="C1121F"/>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Shape 1"/>
          <p:cNvSpPr/>
          <p:nvPr/>
        </p:nvSpPr>
        <p:spPr>
          <a:xfrm>
            <a:off x="0" y="777240"/>
            <a:ext cx="9144000" cy="73152"/>
          </a:xfrm>
          <a:prstGeom prst="rect">
            <a:avLst/>
          </a:prstGeom>
          <a:solidFill>
            <a:srgbClr val="C1121F"/>
          </a:solidFill>
          <a:ln/>
        </p:spPr>
      </p:sp>
      <p:sp>
        <p:nvSpPr>
          <p:cNvPr id="4" name="Text 2"/>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贝克尔：人力资本论</a:t>
            </a:r>
            <a:endParaRPr lang="en-US" sz="2800" dirty="0"/>
          </a:p>
        </p:txBody>
      </p:sp>
      <p:sp>
        <p:nvSpPr>
          <p:cNvPr id="5" name="Shape 3"/>
          <p:cNvSpPr/>
          <p:nvPr/>
        </p:nvSpPr>
        <p:spPr>
          <a:xfrm>
            <a:off x="457200" y="1051560"/>
            <a:ext cx="2103120" cy="2377440"/>
          </a:xfrm>
          <a:prstGeom prst="rect">
            <a:avLst/>
          </a:prstGeom>
          <a:solidFill>
            <a:srgbClr val="669BBC">
              <a:alpha val="50000"/>
            </a:srgbClr>
          </a:solidFill>
          <a:ln w="12700">
            <a:solidFill>
              <a:srgbClr val="669BBC"/>
            </a:solidFill>
            <a:prstDash val="solid"/>
          </a:ln>
        </p:spPr>
      </p:sp>
      <p:sp>
        <p:nvSpPr>
          <p:cNvPr id="6" name="Text 4"/>
          <p:cNvSpPr/>
          <p:nvPr/>
        </p:nvSpPr>
        <p:spPr>
          <a:xfrm>
            <a:off x="457200" y="1554480"/>
            <a:ext cx="2103120" cy="1463040"/>
          </a:xfrm>
          <a:prstGeom prst="rect">
            <a:avLst/>
          </a:prstGeom>
          <a:noFill/>
          <a:ln/>
        </p:spPr>
        <p:txBody>
          <a:bodyPr wrap="square" rtlCol="0" anchor="ctr"/>
          <a:lstStyle/>
          <a:p>
            <a:pPr algn="ctr" indent="0" marL="0">
              <a:buNone/>
            </a:pPr>
            <a:r>
              <a:rPr lang="en-US" sz="1400" i="1" dirty="0">
                <a:solidFill>
                  <a:srgbClr val="003049"/>
                </a:solidFill>
                <a:latin typeface="Georgia" pitchFamily="34" charset="0"/>
                <a:ea typeface="Georgia" pitchFamily="34" charset="-122"/>
                <a:cs typeface="Georgia" pitchFamily="34" charset="-120"/>
              </a:rPr>
              <a:t>Gary</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Becker</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1930-2014</a:t>
            </a:r>
            <a:endParaRPr lang="en-US" sz="1400" dirty="0"/>
          </a:p>
        </p:txBody>
      </p:sp>
      <p:sp>
        <p:nvSpPr>
          <p:cNvPr id="7" name="Text 5"/>
          <p:cNvSpPr/>
          <p:nvPr/>
        </p:nvSpPr>
        <p:spPr>
          <a:xfrm>
            <a:off x="2834640" y="1051560"/>
            <a:ext cx="5852160" cy="32004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生平要点</a:t>
            </a:r>
            <a:endParaRPr lang="en-US" sz="1600" dirty="0"/>
          </a:p>
        </p:txBody>
      </p:sp>
      <p:sp>
        <p:nvSpPr>
          <p:cNvPr id="8" name="Shape 6"/>
          <p:cNvSpPr/>
          <p:nvPr/>
        </p:nvSpPr>
        <p:spPr>
          <a:xfrm>
            <a:off x="2834640" y="1444752"/>
            <a:ext cx="91440" cy="91440"/>
          </a:xfrm>
          <a:prstGeom prst="ellipse">
            <a:avLst/>
          </a:prstGeom>
          <a:solidFill>
            <a:srgbClr val="C1121F"/>
          </a:solidFill>
          <a:ln/>
        </p:spPr>
      </p:sp>
      <p:sp>
        <p:nvSpPr>
          <p:cNvPr id="9" name="Text 7"/>
          <p:cNvSpPr/>
          <p:nvPr/>
        </p:nvSpPr>
        <p:spPr>
          <a:xfrm>
            <a:off x="3063240" y="1371600"/>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1992年诺贝尔经济学奖</a:t>
            </a:r>
            <a:endParaRPr lang="en-US" sz="1100" dirty="0"/>
          </a:p>
        </p:txBody>
      </p:sp>
      <p:sp>
        <p:nvSpPr>
          <p:cNvPr id="10" name="Shape 8"/>
          <p:cNvSpPr/>
          <p:nvPr/>
        </p:nvSpPr>
        <p:spPr>
          <a:xfrm>
            <a:off x="2834640" y="1792224"/>
            <a:ext cx="91440" cy="91440"/>
          </a:xfrm>
          <a:prstGeom prst="ellipse">
            <a:avLst/>
          </a:prstGeom>
          <a:solidFill>
            <a:srgbClr val="C1121F"/>
          </a:solidFill>
          <a:ln/>
        </p:spPr>
      </p:sp>
      <p:sp>
        <p:nvSpPr>
          <p:cNvPr id="11" name="Text 9"/>
          <p:cNvSpPr/>
          <p:nvPr/>
        </p:nvSpPr>
        <p:spPr>
          <a:xfrm>
            <a:off x="3063240" y="1719072"/>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将经济学方法拓展到非市场领域先驱</a:t>
            </a:r>
            <a:endParaRPr lang="en-US" sz="1100" dirty="0"/>
          </a:p>
        </p:txBody>
      </p:sp>
      <p:sp>
        <p:nvSpPr>
          <p:cNvPr id="12" name="Shape 10"/>
          <p:cNvSpPr/>
          <p:nvPr/>
        </p:nvSpPr>
        <p:spPr>
          <a:xfrm>
            <a:off x="2834640" y="2139696"/>
            <a:ext cx="91440" cy="91440"/>
          </a:xfrm>
          <a:prstGeom prst="ellipse">
            <a:avLst/>
          </a:prstGeom>
          <a:solidFill>
            <a:srgbClr val="C1121F"/>
          </a:solidFill>
          <a:ln/>
        </p:spPr>
      </p:sp>
      <p:sp>
        <p:nvSpPr>
          <p:cNvPr id="13" name="Text 11"/>
          <p:cNvSpPr/>
          <p:nvPr/>
        </p:nvSpPr>
        <p:spPr>
          <a:xfrm>
            <a:off x="3063240" y="2066544"/>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芝加哥学派核心成员</a:t>
            </a:r>
            <a:endParaRPr lang="en-US" sz="1100" dirty="0"/>
          </a:p>
        </p:txBody>
      </p:sp>
      <p:sp>
        <p:nvSpPr>
          <p:cNvPr id="14" name="Shape 12"/>
          <p:cNvSpPr/>
          <p:nvPr/>
        </p:nvSpPr>
        <p:spPr>
          <a:xfrm>
            <a:off x="2834640" y="2487168"/>
            <a:ext cx="91440" cy="91440"/>
          </a:xfrm>
          <a:prstGeom prst="ellipse">
            <a:avLst/>
          </a:prstGeom>
          <a:solidFill>
            <a:srgbClr val="C1121F"/>
          </a:solidFill>
          <a:ln/>
        </p:spPr>
      </p:sp>
      <p:sp>
        <p:nvSpPr>
          <p:cNvPr id="15" name="Text 13"/>
          <p:cNvSpPr/>
          <p:nvPr/>
        </p:nvSpPr>
        <p:spPr>
          <a:xfrm>
            <a:off x="3063240" y="2414016"/>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《人力资本》(1964) 开创性著作</a:t>
            </a:r>
            <a:endParaRPr lang="en-US" sz="1100" dirty="0"/>
          </a:p>
        </p:txBody>
      </p:sp>
      <p:sp>
        <p:nvSpPr>
          <p:cNvPr id="16" name="Shape 14"/>
          <p:cNvSpPr/>
          <p:nvPr/>
        </p:nvSpPr>
        <p:spPr>
          <a:xfrm>
            <a:off x="2834640" y="2834640"/>
            <a:ext cx="91440" cy="91440"/>
          </a:xfrm>
          <a:prstGeom prst="ellipse">
            <a:avLst/>
          </a:prstGeom>
          <a:solidFill>
            <a:srgbClr val="C1121F"/>
          </a:solidFill>
          <a:ln/>
        </p:spPr>
      </p:sp>
      <p:sp>
        <p:nvSpPr>
          <p:cNvPr id="17" name="Text 15"/>
          <p:cNvSpPr/>
          <p:nvPr/>
        </p:nvSpPr>
        <p:spPr>
          <a:xfrm>
            <a:off x="3063240" y="2761488"/>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把教育、犯罪、婚姻都纳入经济分析</a:t>
            </a:r>
            <a:endParaRPr lang="en-US" sz="1100" dirty="0"/>
          </a:p>
        </p:txBody>
      </p:sp>
      <p:sp>
        <p:nvSpPr>
          <p:cNvPr id="18" name="Shape 16"/>
          <p:cNvSpPr/>
          <p:nvPr/>
        </p:nvSpPr>
        <p:spPr>
          <a:xfrm>
            <a:off x="2834640" y="3246120"/>
            <a:ext cx="5852160" cy="731520"/>
          </a:xfrm>
          <a:prstGeom prst="rect">
            <a:avLst/>
          </a:prstGeom>
          <a:solidFill>
            <a:srgbClr val="C1121F">
              <a:alpha val="15000"/>
            </a:srgbClr>
          </a:solidFill>
          <a:ln/>
        </p:spPr>
      </p:sp>
      <p:sp>
        <p:nvSpPr>
          <p:cNvPr id="19" name="Text 17"/>
          <p:cNvSpPr/>
          <p:nvPr/>
        </p:nvSpPr>
        <p:spPr>
          <a:xfrm>
            <a:off x="2926080" y="3337560"/>
            <a:ext cx="5669280" cy="5486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人力资本：体现在人身上的技能、知识、健康等质量因素</a:t>
            </a:r>
            <a:endParaRPr lang="en-US" sz="1300" dirty="0"/>
          </a:p>
        </p:txBody>
      </p:sp>
      <p:sp>
        <p:nvSpPr>
          <p:cNvPr id="20" name="Text 18"/>
          <p:cNvSpPr/>
          <p:nvPr/>
        </p:nvSpPr>
        <p:spPr>
          <a:xfrm>
            <a:off x="457200" y="411480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核心贡献</a:t>
            </a:r>
            <a:endParaRPr lang="en-US" sz="1400" dirty="0"/>
          </a:p>
        </p:txBody>
      </p:sp>
      <p:sp>
        <p:nvSpPr>
          <p:cNvPr id="21" name="Shape 19"/>
          <p:cNvSpPr/>
          <p:nvPr/>
        </p:nvSpPr>
        <p:spPr>
          <a:xfrm>
            <a:off x="457200" y="4434840"/>
            <a:ext cx="2697480" cy="640080"/>
          </a:xfrm>
          <a:prstGeom prst="rect">
            <a:avLst/>
          </a:prstGeom>
          <a:solidFill>
            <a:srgbClr val="FFFFFF"/>
          </a:solidFill>
          <a:ln w="12700">
            <a:solidFill>
              <a:srgbClr val="669BBC"/>
            </a:solidFill>
            <a:prstDash val="solid"/>
          </a:ln>
        </p:spPr>
      </p:sp>
      <p:sp>
        <p:nvSpPr>
          <p:cNvPr id="22" name="Text 20"/>
          <p:cNvSpPr/>
          <p:nvPr/>
        </p:nvSpPr>
        <p:spPr>
          <a:xfrm>
            <a:off x="548640" y="4462272"/>
            <a:ext cx="2514600" cy="27432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教育投资回报</a:t>
            </a:r>
            <a:endParaRPr lang="en-US" sz="1100" dirty="0"/>
          </a:p>
        </p:txBody>
      </p:sp>
      <p:sp>
        <p:nvSpPr>
          <p:cNvPr id="23" name="Text 21"/>
          <p:cNvSpPr/>
          <p:nvPr/>
        </p:nvSpPr>
        <p:spPr>
          <a:xfrm>
            <a:off x="548640" y="473659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用收入数据衡量教育经济价值</a:t>
            </a:r>
            <a:endParaRPr lang="en-US" sz="900" dirty="0"/>
          </a:p>
        </p:txBody>
      </p:sp>
      <p:sp>
        <p:nvSpPr>
          <p:cNvPr id="24" name="Shape 22"/>
          <p:cNvSpPr/>
          <p:nvPr/>
        </p:nvSpPr>
        <p:spPr>
          <a:xfrm>
            <a:off x="3291840" y="4434840"/>
            <a:ext cx="2697480" cy="640080"/>
          </a:xfrm>
          <a:prstGeom prst="rect">
            <a:avLst/>
          </a:prstGeom>
          <a:solidFill>
            <a:srgbClr val="FFFFFF"/>
          </a:solidFill>
          <a:ln w="12700">
            <a:solidFill>
              <a:srgbClr val="669BBC"/>
            </a:solidFill>
            <a:prstDash val="solid"/>
          </a:ln>
        </p:spPr>
      </p:sp>
      <p:sp>
        <p:nvSpPr>
          <p:cNvPr id="25" name="Text 23"/>
          <p:cNvSpPr/>
          <p:nvPr/>
        </p:nvSpPr>
        <p:spPr>
          <a:xfrm>
            <a:off x="3383280" y="4462272"/>
            <a:ext cx="2514600" cy="27432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在职培训</a:t>
            </a:r>
            <a:endParaRPr lang="en-US" sz="1100" dirty="0"/>
          </a:p>
        </p:txBody>
      </p:sp>
      <p:sp>
        <p:nvSpPr>
          <p:cNvPr id="26" name="Text 24"/>
          <p:cNvSpPr/>
          <p:nvPr/>
        </p:nvSpPr>
        <p:spPr>
          <a:xfrm>
            <a:off x="3383280" y="473659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企业承担培训成本的逻辑</a:t>
            </a:r>
            <a:endParaRPr lang="en-US" sz="900" dirty="0"/>
          </a:p>
        </p:txBody>
      </p:sp>
      <p:sp>
        <p:nvSpPr>
          <p:cNvPr id="27" name="Shape 25"/>
          <p:cNvSpPr/>
          <p:nvPr/>
        </p:nvSpPr>
        <p:spPr>
          <a:xfrm>
            <a:off x="6126480" y="4434840"/>
            <a:ext cx="2697480" cy="640080"/>
          </a:xfrm>
          <a:prstGeom prst="rect">
            <a:avLst/>
          </a:prstGeom>
          <a:solidFill>
            <a:srgbClr val="FFFFFF"/>
          </a:solidFill>
          <a:ln w="12700">
            <a:solidFill>
              <a:srgbClr val="669BBC"/>
            </a:solidFill>
            <a:prstDash val="solid"/>
          </a:ln>
        </p:spPr>
      </p:sp>
      <p:sp>
        <p:nvSpPr>
          <p:cNvPr id="28" name="Text 26"/>
          <p:cNvSpPr/>
          <p:nvPr/>
        </p:nvSpPr>
        <p:spPr>
          <a:xfrm>
            <a:off x="6217920" y="4462272"/>
            <a:ext cx="2514600" cy="27432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时间价值</a:t>
            </a:r>
            <a:endParaRPr lang="en-US" sz="1100" dirty="0"/>
          </a:p>
        </p:txBody>
      </p:sp>
      <p:sp>
        <p:nvSpPr>
          <p:cNvPr id="29" name="Text 27"/>
          <p:cNvSpPr/>
          <p:nvPr/>
        </p:nvSpPr>
        <p:spPr>
          <a:xfrm>
            <a:off x="6217920" y="473659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把时间视为稀缺资源</a:t>
            </a:r>
            <a:endParaRPr lang="en-US" sz="900" dirty="0"/>
          </a:p>
        </p:txBody>
      </p:sp>
      <p:sp>
        <p:nvSpPr>
          <p:cNvPr id="30" name="Shape 28"/>
          <p:cNvSpPr/>
          <p:nvPr/>
        </p:nvSpPr>
        <p:spPr>
          <a:xfrm>
            <a:off x="8503920" y="4663440"/>
            <a:ext cx="365760" cy="365760"/>
          </a:xfrm>
          <a:prstGeom prst="ellipse">
            <a:avLst/>
          </a:prstGeom>
          <a:solidFill>
            <a:srgbClr val="C1121F"/>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人力资本的核心洞见</a:t>
            </a:r>
            <a:endParaRPr lang="en-US" sz="2800" dirty="0"/>
          </a:p>
        </p:txBody>
      </p:sp>
      <p:sp>
        <p:nvSpPr>
          <p:cNvPr id="4" name="Shape 2"/>
          <p:cNvSpPr/>
          <p:nvPr/>
        </p:nvSpPr>
        <p:spPr>
          <a:xfrm>
            <a:off x="1371600" y="1005840"/>
            <a:ext cx="6400800" cy="685800"/>
          </a:xfrm>
          <a:prstGeom prst="rect">
            <a:avLst/>
          </a:prstGeom>
          <a:solidFill>
            <a:srgbClr val="C1121F"/>
          </a:solidFill>
          <a:ln/>
        </p:spPr>
      </p:sp>
      <p:sp>
        <p:nvSpPr>
          <p:cNvPr id="5" name="Text 3"/>
          <p:cNvSpPr/>
          <p:nvPr/>
        </p:nvSpPr>
        <p:spPr>
          <a:xfrm>
            <a:off x="1463040" y="1097280"/>
            <a:ext cx="6217920" cy="50292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人是一种资本品：投资于人可以产生回报</a:t>
            </a:r>
            <a:endParaRPr lang="en-US" sz="1600" dirty="0"/>
          </a:p>
        </p:txBody>
      </p:sp>
      <p:sp>
        <p:nvSpPr>
          <p:cNvPr id="6" name="Shape 4"/>
          <p:cNvSpPr/>
          <p:nvPr/>
        </p:nvSpPr>
        <p:spPr>
          <a:xfrm>
            <a:off x="457200" y="1874520"/>
            <a:ext cx="4023360" cy="2331720"/>
          </a:xfrm>
          <a:prstGeom prst="rect">
            <a:avLst/>
          </a:prstGeom>
          <a:solidFill>
            <a:srgbClr val="FFFFFF"/>
          </a:solidFill>
          <a:ln w="12700">
            <a:solidFill>
              <a:srgbClr val="669BBC"/>
            </a:solidFill>
            <a:prstDash val="solid"/>
          </a:ln>
        </p:spPr>
      </p:sp>
      <p:sp>
        <p:nvSpPr>
          <p:cNvPr id="7" name="Text 5"/>
          <p:cNvSpPr/>
          <p:nvPr/>
        </p:nvSpPr>
        <p:spPr>
          <a:xfrm>
            <a:off x="548640" y="1920240"/>
            <a:ext cx="384048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人力资本投资形式</a:t>
            </a:r>
            <a:endParaRPr lang="en-US" sz="1400" dirty="0"/>
          </a:p>
        </p:txBody>
      </p:sp>
      <p:sp>
        <p:nvSpPr>
          <p:cNvPr id="8" name="Shape 6"/>
          <p:cNvSpPr/>
          <p:nvPr/>
        </p:nvSpPr>
        <p:spPr>
          <a:xfrm>
            <a:off x="594360" y="2331720"/>
            <a:ext cx="73152" cy="274320"/>
          </a:xfrm>
          <a:prstGeom prst="rect">
            <a:avLst/>
          </a:prstGeom>
          <a:solidFill>
            <a:srgbClr val="C1121F"/>
          </a:solidFill>
          <a:ln/>
        </p:spPr>
      </p:sp>
      <p:sp>
        <p:nvSpPr>
          <p:cNvPr id="9" name="Text 7"/>
          <p:cNvSpPr/>
          <p:nvPr/>
        </p:nvSpPr>
        <p:spPr>
          <a:xfrm>
            <a:off x="777240" y="2331720"/>
            <a:ext cx="137160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正规教育</a:t>
            </a:r>
            <a:endParaRPr lang="en-US" sz="1100" dirty="0"/>
          </a:p>
        </p:txBody>
      </p:sp>
      <p:sp>
        <p:nvSpPr>
          <p:cNvPr id="10" name="Text 8"/>
          <p:cNvSpPr/>
          <p:nvPr/>
        </p:nvSpPr>
        <p:spPr>
          <a:xfrm>
            <a:off x="2194560" y="2331720"/>
            <a:ext cx="219456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学校教育年限</a:t>
            </a:r>
            <a:endParaRPr lang="en-US" sz="1000" dirty="0"/>
          </a:p>
        </p:txBody>
      </p:sp>
      <p:sp>
        <p:nvSpPr>
          <p:cNvPr id="11" name="Shape 9"/>
          <p:cNvSpPr/>
          <p:nvPr/>
        </p:nvSpPr>
        <p:spPr>
          <a:xfrm>
            <a:off x="594360" y="2697480"/>
            <a:ext cx="73152" cy="274320"/>
          </a:xfrm>
          <a:prstGeom prst="rect">
            <a:avLst/>
          </a:prstGeom>
          <a:solidFill>
            <a:srgbClr val="C1121F"/>
          </a:solidFill>
          <a:ln/>
        </p:spPr>
      </p:sp>
      <p:sp>
        <p:nvSpPr>
          <p:cNvPr id="12" name="Text 10"/>
          <p:cNvSpPr/>
          <p:nvPr/>
        </p:nvSpPr>
        <p:spPr>
          <a:xfrm>
            <a:off x="777240" y="2697480"/>
            <a:ext cx="137160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在职培训</a:t>
            </a:r>
            <a:endParaRPr lang="en-US" sz="1100" dirty="0"/>
          </a:p>
        </p:txBody>
      </p:sp>
      <p:sp>
        <p:nvSpPr>
          <p:cNvPr id="13" name="Text 11"/>
          <p:cNvSpPr/>
          <p:nvPr/>
        </p:nvSpPr>
        <p:spPr>
          <a:xfrm>
            <a:off x="2194560" y="2697480"/>
            <a:ext cx="219456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学徒制、技能培训</a:t>
            </a:r>
            <a:endParaRPr lang="en-US" sz="1000" dirty="0"/>
          </a:p>
        </p:txBody>
      </p:sp>
      <p:sp>
        <p:nvSpPr>
          <p:cNvPr id="14" name="Shape 12"/>
          <p:cNvSpPr/>
          <p:nvPr/>
        </p:nvSpPr>
        <p:spPr>
          <a:xfrm>
            <a:off x="594360" y="3063240"/>
            <a:ext cx="73152" cy="274320"/>
          </a:xfrm>
          <a:prstGeom prst="rect">
            <a:avLst/>
          </a:prstGeom>
          <a:solidFill>
            <a:srgbClr val="C1121F"/>
          </a:solidFill>
          <a:ln/>
        </p:spPr>
      </p:sp>
      <p:sp>
        <p:nvSpPr>
          <p:cNvPr id="15" name="Text 13"/>
          <p:cNvSpPr/>
          <p:nvPr/>
        </p:nvSpPr>
        <p:spPr>
          <a:xfrm>
            <a:off x="777240" y="3063240"/>
            <a:ext cx="137160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健康投资</a:t>
            </a:r>
            <a:endParaRPr lang="en-US" sz="1100" dirty="0"/>
          </a:p>
        </p:txBody>
      </p:sp>
      <p:sp>
        <p:nvSpPr>
          <p:cNvPr id="16" name="Text 14"/>
          <p:cNvSpPr/>
          <p:nvPr/>
        </p:nvSpPr>
        <p:spPr>
          <a:xfrm>
            <a:off x="2194560" y="3063240"/>
            <a:ext cx="219456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医疗、锻炼、营养</a:t>
            </a:r>
            <a:endParaRPr lang="en-US" sz="1000" dirty="0"/>
          </a:p>
        </p:txBody>
      </p:sp>
      <p:sp>
        <p:nvSpPr>
          <p:cNvPr id="17" name="Shape 15"/>
          <p:cNvSpPr/>
          <p:nvPr/>
        </p:nvSpPr>
        <p:spPr>
          <a:xfrm>
            <a:off x="594360" y="3429000"/>
            <a:ext cx="73152" cy="274320"/>
          </a:xfrm>
          <a:prstGeom prst="rect">
            <a:avLst/>
          </a:prstGeom>
          <a:solidFill>
            <a:srgbClr val="C1121F"/>
          </a:solidFill>
          <a:ln/>
        </p:spPr>
      </p:sp>
      <p:sp>
        <p:nvSpPr>
          <p:cNvPr id="18" name="Text 16"/>
          <p:cNvSpPr/>
          <p:nvPr/>
        </p:nvSpPr>
        <p:spPr>
          <a:xfrm>
            <a:off x="777240" y="3429000"/>
            <a:ext cx="137160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迁移流动</a:t>
            </a:r>
            <a:endParaRPr lang="en-US" sz="1100" dirty="0"/>
          </a:p>
        </p:txBody>
      </p:sp>
      <p:sp>
        <p:nvSpPr>
          <p:cNvPr id="19" name="Text 17"/>
          <p:cNvSpPr/>
          <p:nvPr/>
        </p:nvSpPr>
        <p:spPr>
          <a:xfrm>
            <a:off x="2194560" y="3429000"/>
            <a:ext cx="219456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寻找更好工作机会</a:t>
            </a:r>
            <a:endParaRPr lang="en-US" sz="1000" dirty="0"/>
          </a:p>
        </p:txBody>
      </p:sp>
      <p:sp>
        <p:nvSpPr>
          <p:cNvPr id="20" name="Shape 18"/>
          <p:cNvSpPr/>
          <p:nvPr/>
        </p:nvSpPr>
        <p:spPr>
          <a:xfrm>
            <a:off x="594360" y="3794760"/>
            <a:ext cx="73152" cy="274320"/>
          </a:xfrm>
          <a:prstGeom prst="rect">
            <a:avLst/>
          </a:prstGeom>
          <a:solidFill>
            <a:srgbClr val="C1121F"/>
          </a:solidFill>
          <a:ln/>
        </p:spPr>
      </p:sp>
      <p:sp>
        <p:nvSpPr>
          <p:cNvPr id="21" name="Text 19"/>
          <p:cNvSpPr/>
          <p:nvPr/>
        </p:nvSpPr>
        <p:spPr>
          <a:xfrm>
            <a:off x="777240" y="3794760"/>
            <a:ext cx="137160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信息获取</a:t>
            </a:r>
            <a:endParaRPr lang="en-US" sz="1100" dirty="0"/>
          </a:p>
        </p:txBody>
      </p:sp>
      <p:sp>
        <p:nvSpPr>
          <p:cNvPr id="22" name="Text 20"/>
          <p:cNvSpPr/>
          <p:nvPr/>
        </p:nvSpPr>
        <p:spPr>
          <a:xfrm>
            <a:off x="2194560" y="3794760"/>
            <a:ext cx="219456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培训、信息搜索</a:t>
            </a:r>
            <a:endParaRPr lang="en-US" sz="1000" dirty="0"/>
          </a:p>
        </p:txBody>
      </p:sp>
      <p:sp>
        <p:nvSpPr>
          <p:cNvPr id="23" name="Shape 21"/>
          <p:cNvSpPr/>
          <p:nvPr/>
        </p:nvSpPr>
        <p:spPr>
          <a:xfrm>
            <a:off x="4663440" y="1874520"/>
            <a:ext cx="4023360" cy="2331720"/>
          </a:xfrm>
          <a:prstGeom prst="rect">
            <a:avLst/>
          </a:prstGeom>
          <a:solidFill>
            <a:srgbClr val="FFFFFF"/>
          </a:solidFill>
          <a:ln w="25400">
            <a:solidFill>
              <a:srgbClr val="C1121F"/>
            </a:solidFill>
            <a:prstDash val="solid"/>
          </a:ln>
        </p:spPr>
      </p:sp>
      <p:sp>
        <p:nvSpPr>
          <p:cNvPr id="24" name="Text 22"/>
          <p:cNvSpPr/>
          <p:nvPr/>
        </p:nvSpPr>
        <p:spPr>
          <a:xfrm>
            <a:off x="4754880" y="1920240"/>
            <a:ext cx="384048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教育回报率计算</a:t>
            </a:r>
            <a:endParaRPr lang="en-US" sz="1400" dirty="0"/>
          </a:p>
        </p:txBody>
      </p:sp>
      <p:sp>
        <p:nvSpPr>
          <p:cNvPr id="25" name="Text 23"/>
          <p:cNvSpPr/>
          <p:nvPr/>
        </p:nvSpPr>
        <p:spPr>
          <a:xfrm>
            <a:off x="4846320" y="2331720"/>
            <a:ext cx="3749040" cy="320040"/>
          </a:xfrm>
          <a:prstGeom prst="rect">
            <a:avLst/>
          </a:prstGeom>
          <a:noFill/>
          <a:ln/>
        </p:spPr>
        <p:txBody>
          <a:bodyPr wrap="square" rtlCol="0" anchor="ctr"/>
          <a:lstStyle/>
          <a:p>
            <a:pPr algn="ctr" indent="0" marL="0">
              <a:buNone/>
            </a:pPr>
            <a:r>
              <a:rPr lang="en-US" sz="1300" b="1" dirty="0">
                <a:solidFill>
                  <a:srgbClr val="003049"/>
                </a:solidFill>
                <a:latin typeface="Georgia" pitchFamily="34" charset="0"/>
                <a:ea typeface="Georgia" pitchFamily="34" charset="-122"/>
                <a:cs typeface="Georgia" pitchFamily="34" charset="-120"/>
              </a:rPr>
              <a:t>收益 - 成本 = 净回报</a:t>
            </a:r>
            <a:endParaRPr lang="en-US" sz="1300" dirty="0"/>
          </a:p>
        </p:txBody>
      </p:sp>
      <p:sp>
        <p:nvSpPr>
          <p:cNvPr id="26" name="Text 24"/>
          <p:cNvSpPr/>
          <p:nvPr/>
        </p:nvSpPr>
        <p:spPr>
          <a:xfrm>
            <a:off x="4937760" y="2697480"/>
            <a:ext cx="365760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收益：未来收入增量贴现值</a:t>
            </a:r>
            <a:endParaRPr lang="en-US" sz="1000" dirty="0"/>
          </a:p>
        </p:txBody>
      </p:sp>
      <p:sp>
        <p:nvSpPr>
          <p:cNvPr id="27" name="Text 25"/>
          <p:cNvSpPr/>
          <p:nvPr/>
        </p:nvSpPr>
        <p:spPr>
          <a:xfrm>
            <a:off x="4937760" y="2971800"/>
            <a:ext cx="3657600" cy="2743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成本：学费 + 机会成本（放弃的收入）</a:t>
            </a:r>
            <a:endParaRPr lang="en-US" sz="1000" dirty="0"/>
          </a:p>
        </p:txBody>
      </p:sp>
      <p:sp>
        <p:nvSpPr>
          <p:cNvPr id="28" name="Text 26"/>
          <p:cNvSpPr/>
          <p:nvPr/>
        </p:nvSpPr>
        <p:spPr>
          <a:xfrm>
            <a:off x="4937760" y="3291840"/>
            <a:ext cx="3657600" cy="27432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 高等教育年回报率约10-15%</a:t>
            </a:r>
            <a:endParaRPr lang="en-US" sz="1100" dirty="0"/>
          </a:p>
        </p:txBody>
      </p:sp>
      <p:sp>
        <p:nvSpPr>
          <p:cNvPr id="29" name="Text 27"/>
          <p:cNvSpPr/>
          <p:nvPr/>
        </p:nvSpPr>
        <p:spPr>
          <a:xfrm>
            <a:off x="4937760" y="3566160"/>
            <a:ext cx="3657600" cy="2286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（贝克尔测算，美国数据）</a:t>
            </a:r>
            <a:endParaRPr lang="en-US" sz="900" dirty="0"/>
          </a:p>
        </p:txBody>
      </p:sp>
      <p:sp>
        <p:nvSpPr>
          <p:cNvPr id="30" name="Shape 28"/>
          <p:cNvSpPr/>
          <p:nvPr/>
        </p:nvSpPr>
        <p:spPr>
          <a:xfrm>
            <a:off x="457200" y="4343400"/>
            <a:ext cx="8229600" cy="685800"/>
          </a:xfrm>
          <a:prstGeom prst="rect">
            <a:avLst/>
          </a:prstGeom>
          <a:solidFill>
            <a:srgbClr val="003049"/>
          </a:solidFill>
          <a:ln/>
        </p:spPr>
      </p:sp>
      <p:sp>
        <p:nvSpPr>
          <p:cNvPr id="31" name="Text 29"/>
          <p:cNvSpPr/>
          <p:nvPr/>
        </p:nvSpPr>
        <p:spPr>
          <a:xfrm>
            <a:off x="548640" y="4434840"/>
            <a:ext cx="8046720" cy="50292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斯密视角：人的才能是"固定资本"。贝克尔将此正式化为可测量的人力资本理论</a:t>
            </a:r>
            <a:endParaRPr lang="en-US" sz="1200" dirty="0"/>
          </a:p>
        </p:txBody>
      </p:sp>
      <p:sp>
        <p:nvSpPr>
          <p:cNvPr id="32" name="Shape 30"/>
          <p:cNvSpPr/>
          <p:nvPr/>
        </p:nvSpPr>
        <p:spPr>
          <a:xfrm>
            <a:off x="8503920" y="4663440"/>
            <a:ext cx="365760" cy="365760"/>
          </a:xfrm>
          <a:prstGeom prst="ellipse">
            <a:avLst/>
          </a:prstGeom>
          <a:solidFill>
            <a:srgbClr val="C1121F"/>
          </a:solidFill>
          <a:ln/>
        </p:spPr>
      </p:sp>
      <p:sp>
        <p:nvSpPr>
          <p:cNvPr id="33" name="Text 31"/>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Shape 1"/>
          <p:cNvSpPr/>
          <p:nvPr/>
        </p:nvSpPr>
        <p:spPr>
          <a:xfrm>
            <a:off x="0" y="777240"/>
            <a:ext cx="9144000" cy="73152"/>
          </a:xfrm>
          <a:prstGeom prst="rect">
            <a:avLst/>
          </a:prstGeom>
          <a:solidFill>
            <a:srgbClr val="C1121F"/>
          </a:solidFill>
          <a:ln/>
        </p:spPr>
      </p:sp>
      <p:sp>
        <p:nvSpPr>
          <p:cNvPr id="4" name="Text 2"/>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公共选择理论：布坎南</a:t>
            </a:r>
            <a:endParaRPr lang="en-US" sz="2800" dirty="0"/>
          </a:p>
        </p:txBody>
      </p:sp>
      <p:sp>
        <p:nvSpPr>
          <p:cNvPr id="5" name="Shape 3"/>
          <p:cNvSpPr/>
          <p:nvPr/>
        </p:nvSpPr>
        <p:spPr>
          <a:xfrm>
            <a:off x="457200" y="1051560"/>
            <a:ext cx="2103120" cy="2377440"/>
          </a:xfrm>
          <a:prstGeom prst="rect">
            <a:avLst/>
          </a:prstGeom>
          <a:solidFill>
            <a:srgbClr val="669BBC">
              <a:alpha val="50000"/>
            </a:srgbClr>
          </a:solidFill>
          <a:ln w="12700">
            <a:solidFill>
              <a:srgbClr val="669BBC"/>
            </a:solidFill>
            <a:prstDash val="solid"/>
          </a:ln>
        </p:spPr>
      </p:sp>
      <p:sp>
        <p:nvSpPr>
          <p:cNvPr id="6" name="Text 4"/>
          <p:cNvSpPr/>
          <p:nvPr/>
        </p:nvSpPr>
        <p:spPr>
          <a:xfrm>
            <a:off x="457200" y="1554480"/>
            <a:ext cx="2103120" cy="1463040"/>
          </a:xfrm>
          <a:prstGeom prst="rect">
            <a:avLst/>
          </a:prstGeom>
          <a:noFill/>
          <a:ln/>
        </p:spPr>
        <p:txBody>
          <a:bodyPr wrap="square" rtlCol="0" anchor="ctr"/>
          <a:lstStyle/>
          <a:p>
            <a:pPr algn="ctr" indent="0" marL="0">
              <a:buNone/>
            </a:pPr>
            <a:r>
              <a:rPr lang="en-US" sz="1400" i="1" dirty="0">
                <a:solidFill>
                  <a:srgbClr val="003049"/>
                </a:solidFill>
                <a:latin typeface="Georgia" pitchFamily="34" charset="0"/>
                <a:ea typeface="Georgia" pitchFamily="34" charset="-122"/>
                <a:cs typeface="Georgia" pitchFamily="34" charset="-120"/>
              </a:rPr>
              <a:t>James</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Buchanan</a:t>
            </a:r>
            <a:endParaRPr lang="en-US" sz="1400" dirty="0"/>
          </a:p>
          <a:p>
            <a:pPr algn="ctr" indent="0" marL="0">
              <a:buNone/>
            </a:pPr>
            <a:r>
              <a:rPr lang="en-US" sz="1400" i="1" dirty="0">
                <a:solidFill>
                  <a:srgbClr val="003049"/>
                </a:solidFill>
                <a:latin typeface="Georgia" pitchFamily="34" charset="0"/>
                <a:ea typeface="Georgia" pitchFamily="34" charset="-122"/>
                <a:cs typeface="Georgia" pitchFamily="34" charset="-120"/>
              </a:rPr>
              <a:t>1919-2013</a:t>
            </a:r>
            <a:endParaRPr lang="en-US" sz="1400" dirty="0"/>
          </a:p>
        </p:txBody>
      </p:sp>
      <p:sp>
        <p:nvSpPr>
          <p:cNvPr id="7" name="Text 5"/>
          <p:cNvSpPr/>
          <p:nvPr/>
        </p:nvSpPr>
        <p:spPr>
          <a:xfrm>
            <a:off x="2834640" y="1051560"/>
            <a:ext cx="5852160" cy="32004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生平要点</a:t>
            </a:r>
            <a:endParaRPr lang="en-US" sz="1600" dirty="0"/>
          </a:p>
        </p:txBody>
      </p:sp>
      <p:sp>
        <p:nvSpPr>
          <p:cNvPr id="8" name="Shape 6"/>
          <p:cNvSpPr/>
          <p:nvPr/>
        </p:nvSpPr>
        <p:spPr>
          <a:xfrm>
            <a:off x="2834640" y="1444752"/>
            <a:ext cx="91440" cy="91440"/>
          </a:xfrm>
          <a:prstGeom prst="ellipse">
            <a:avLst/>
          </a:prstGeom>
          <a:solidFill>
            <a:srgbClr val="C1121F"/>
          </a:solidFill>
          <a:ln/>
        </p:spPr>
      </p:sp>
      <p:sp>
        <p:nvSpPr>
          <p:cNvPr id="9" name="Text 7"/>
          <p:cNvSpPr/>
          <p:nvPr/>
        </p:nvSpPr>
        <p:spPr>
          <a:xfrm>
            <a:off x="3063240" y="1371600"/>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1986年诺贝尔经济学奖</a:t>
            </a:r>
            <a:endParaRPr lang="en-US" sz="1100" dirty="0"/>
          </a:p>
        </p:txBody>
      </p:sp>
      <p:sp>
        <p:nvSpPr>
          <p:cNvPr id="10" name="Shape 8"/>
          <p:cNvSpPr/>
          <p:nvPr/>
        </p:nvSpPr>
        <p:spPr>
          <a:xfrm>
            <a:off x="2834640" y="1792224"/>
            <a:ext cx="91440" cy="91440"/>
          </a:xfrm>
          <a:prstGeom prst="ellipse">
            <a:avLst/>
          </a:prstGeom>
          <a:solidFill>
            <a:srgbClr val="C1121F"/>
          </a:solidFill>
          <a:ln/>
        </p:spPr>
      </p:sp>
      <p:sp>
        <p:nvSpPr>
          <p:cNvPr id="11" name="Text 9"/>
          <p:cNvSpPr/>
          <p:nvPr/>
        </p:nvSpPr>
        <p:spPr>
          <a:xfrm>
            <a:off x="3063240" y="1719072"/>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公共选择理论之父</a:t>
            </a:r>
            <a:endParaRPr lang="en-US" sz="1100" dirty="0"/>
          </a:p>
        </p:txBody>
      </p:sp>
      <p:sp>
        <p:nvSpPr>
          <p:cNvPr id="12" name="Shape 10"/>
          <p:cNvSpPr/>
          <p:nvPr/>
        </p:nvSpPr>
        <p:spPr>
          <a:xfrm>
            <a:off x="2834640" y="2139696"/>
            <a:ext cx="91440" cy="91440"/>
          </a:xfrm>
          <a:prstGeom prst="ellipse">
            <a:avLst/>
          </a:prstGeom>
          <a:solidFill>
            <a:srgbClr val="C1121F"/>
          </a:solidFill>
          <a:ln/>
        </p:spPr>
      </p:sp>
      <p:sp>
        <p:nvSpPr>
          <p:cNvPr id="13" name="Text 11"/>
          <p:cNvSpPr/>
          <p:nvPr/>
        </p:nvSpPr>
        <p:spPr>
          <a:xfrm>
            <a:off x="3063240" y="2066544"/>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维吉尼亚理工大学和乔治·梅森大学教授</a:t>
            </a:r>
            <a:endParaRPr lang="en-US" sz="1100" dirty="0"/>
          </a:p>
        </p:txBody>
      </p:sp>
      <p:sp>
        <p:nvSpPr>
          <p:cNvPr id="14" name="Shape 12"/>
          <p:cNvSpPr/>
          <p:nvPr/>
        </p:nvSpPr>
        <p:spPr>
          <a:xfrm>
            <a:off x="2834640" y="2487168"/>
            <a:ext cx="91440" cy="91440"/>
          </a:xfrm>
          <a:prstGeom prst="ellipse">
            <a:avLst/>
          </a:prstGeom>
          <a:solidFill>
            <a:srgbClr val="C1121F"/>
          </a:solidFill>
          <a:ln/>
        </p:spPr>
      </p:sp>
      <p:sp>
        <p:nvSpPr>
          <p:cNvPr id="15" name="Text 13"/>
          <p:cNvSpPr/>
          <p:nvPr/>
        </p:nvSpPr>
        <p:spPr>
          <a:xfrm>
            <a:off x="3063240" y="2414016"/>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《同意的计算》(1962) 与塔洛克合著</a:t>
            </a:r>
            <a:endParaRPr lang="en-US" sz="1100" dirty="0"/>
          </a:p>
        </p:txBody>
      </p:sp>
      <p:sp>
        <p:nvSpPr>
          <p:cNvPr id="16" name="Shape 14"/>
          <p:cNvSpPr/>
          <p:nvPr/>
        </p:nvSpPr>
        <p:spPr>
          <a:xfrm>
            <a:off x="2834640" y="2834640"/>
            <a:ext cx="91440" cy="91440"/>
          </a:xfrm>
          <a:prstGeom prst="ellipse">
            <a:avLst/>
          </a:prstGeom>
          <a:solidFill>
            <a:srgbClr val="C1121F"/>
          </a:solidFill>
          <a:ln/>
        </p:spPr>
      </p:sp>
      <p:sp>
        <p:nvSpPr>
          <p:cNvPr id="17" name="Text 15"/>
          <p:cNvSpPr/>
          <p:nvPr/>
        </p:nvSpPr>
        <p:spPr>
          <a:xfrm>
            <a:off x="3063240" y="2761488"/>
            <a:ext cx="5623560" cy="329184"/>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将经济学方法应用于政治决策分析</a:t>
            </a:r>
            <a:endParaRPr lang="en-US" sz="1100" dirty="0"/>
          </a:p>
        </p:txBody>
      </p:sp>
      <p:sp>
        <p:nvSpPr>
          <p:cNvPr id="18" name="Shape 16"/>
          <p:cNvSpPr/>
          <p:nvPr/>
        </p:nvSpPr>
        <p:spPr>
          <a:xfrm>
            <a:off x="2834640" y="3200400"/>
            <a:ext cx="5852160" cy="822960"/>
          </a:xfrm>
          <a:prstGeom prst="rect">
            <a:avLst/>
          </a:prstGeom>
          <a:solidFill>
            <a:srgbClr val="C1121F">
              <a:alpha val="15000"/>
            </a:srgbClr>
          </a:solidFill>
          <a:ln/>
        </p:spPr>
      </p:sp>
      <p:sp>
        <p:nvSpPr>
          <p:cNvPr id="19" name="Text 17"/>
          <p:cNvSpPr/>
          <p:nvPr/>
        </p:nvSpPr>
        <p:spPr>
          <a:xfrm>
            <a:off x="2926080" y="3291840"/>
            <a:ext cx="5669280" cy="6400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核心创新：用经济学方法分析政治过程，把政府当作"经济人"</a:t>
            </a:r>
            <a:endParaRPr lang="en-US" sz="1300" dirty="0"/>
          </a:p>
        </p:txBody>
      </p:sp>
      <p:sp>
        <p:nvSpPr>
          <p:cNvPr id="20" name="Text 18"/>
          <p:cNvSpPr/>
          <p:nvPr/>
        </p:nvSpPr>
        <p:spPr>
          <a:xfrm>
            <a:off x="457200" y="416052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代表著作</a:t>
            </a:r>
            <a:endParaRPr lang="en-US" sz="1400" dirty="0"/>
          </a:p>
        </p:txBody>
      </p:sp>
      <p:sp>
        <p:nvSpPr>
          <p:cNvPr id="21" name="Shape 19"/>
          <p:cNvSpPr/>
          <p:nvPr/>
        </p:nvSpPr>
        <p:spPr>
          <a:xfrm>
            <a:off x="457200" y="4480560"/>
            <a:ext cx="2697480" cy="640080"/>
          </a:xfrm>
          <a:prstGeom prst="rect">
            <a:avLst/>
          </a:prstGeom>
          <a:solidFill>
            <a:srgbClr val="FFFFFF"/>
          </a:solidFill>
          <a:ln w="12700">
            <a:solidFill>
              <a:srgbClr val="669BBC"/>
            </a:solidFill>
            <a:prstDash val="solid"/>
          </a:ln>
        </p:spPr>
      </p:sp>
      <p:sp>
        <p:nvSpPr>
          <p:cNvPr id="22" name="Text 20"/>
          <p:cNvSpPr/>
          <p:nvPr/>
        </p:nvSpPr>
        <p:spPr>
          <a:xfrm>
            <a:off x="548640" y="4507992"/>
            <a:ext cx="2514600" cy="274320"/>
          </a:xfrm>
          <a:prstGeom prst="rect">
            <a:avLst/>
          </a:prstGeom>
          <a:noFill/>
          <a:ln/>
        </p:spPr>
        <p:txBody>
          <a:bodyPr wrap="square" rtlCol="0" anchor="ctr"/>
          <a:lstStyle/>
          <a:p>
            <a:pPr indent="0" marL="0">
              <a:buNone/>
            </a:pPr>
            <a:r>
              <a:rPr lang="en-US" sz="1000" b="1" dirty="0">
                <a:solidFill>
                  <a:srgbClr val="C1121F"/>
                </a:solidFill>
                <a:latin typeface="Microsoft YaHei" pitchFamily="34" charset="0"/>
                <a:ea typeface="Microsoft YaHei" pitchFamily="34" charset="-122"/>
                <a:cs typeface="Microsoft YaHei" pitchFamily="34" charset="-120"/>
              </a:rPr>
              <a:t>《同意的计算》 (1962)</a:t>
            </a:r>
            <a:endParaRPr lang="en-US" sz="1000" dirty="0"/>
          </a:p>
        </p:txBody>
      </p:sp>
      <p:sp>
        <p:nvSpPr>
          <p:cNvPr id="23" name="Text 21"/>
          <p:cNvSpPr/>
          <p:nvPr/>
        </p:nvSpPr>
        <p:spPr>
          <a:xfrm>
            <a:off x="548640" y="478231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立宪民主的经济学基础</a:t>
            </a:r>
            <a:endParaRPr lang="en-US" sz="900" dirty="0"/>
          </a:p>
        </p:txBody>
      </p:sp>
      <p:sp>
        <p:nvSpPr>
          <p:cNvPr id="24" name="Shape 22"/>
          <p:cNvSpPr/>
          <p:nvPr/>
        </p:nvSpPr>
        <p:spPr>
          <a:xfrm>
            <a:off x="3291840" y="4480560"/>
            <a:ext cx="2697480" cy="640080"/>
          </a:xfrm>
          <a:prstGeom prst="rect">
            <a:avLst/>
          </a:prstGeom>
          <a:solidFill>
            <a:srgbClr val="FFFFFF"/>
          </a:solidFill>
          <a:ln w="12700">
            <a:solidFill>
              <a:srgbClr val="669BBC"/>
            </a:solidFill>
            <a:prstDash val="solid"/>
          </a:ln>
        </p:spPr>
      </p:sp>
      <p:sp>
        <p:nvSpPr>
          <p:cNvPr id="25" name="Text 23"/>
          <p:cNvSpPr/>
          <p:nvPr/>
        </p:nvSpPr>
        <p:spPr>
          <a:xfrm>
            <a:off x="3383280" y="4507992"/>
            <a:ext cx="2514600" cy="274320"/>
          </a:xfrm>
          <a:prstGeom prst="rect">
            <a:avLst/>
          </a:prstGeom>
          <a:noFill/>
          <a:ln/>
        </p:spPr>
        <p:txBody>
          <a:bodyPr wrap="square" rtlCol="0" anchor="ctr"/>
          <a:lstStyle/>
          <a:p>
            <a:pPr indent="0" marL="0">
              <a:buNone/>
            </a:pPr>
            <a:r>
              <a:rPr lang="en-US" sz="1000" b="1" dirty="0">
                <a:solidFill>
                  <a:srgbClr val="C1121F"/>
                </a:solidFill>
                <a:latin typeface="Microsoft YaHei" pitchFamily="34" charset="0"/>
                <a:ea typeface="Microsoft YaHei" pitchFamily="34" charset="-122"/>
                <a:cs typeface="Microsoft YaHei" pitchFamily="34" charset="-120"/>
              </a:rPr>
              <a:t>《自由、市场与国家》 (1980s)</a:t>
            </a:r>
            <a:endParaRPr lang="en-US" sz="1000" dirty="0"/>
          </a:p>
        </p:txBody>
      </p:sp>
      <p:sp>
        <p:nvSpPr>
          <p:cNvPr id="26" name="Text 24"/>
          <p:cNvSpPr/>
          <p:nvPr/>
        </p:nvSpPr>
        <p:spPr>
          <a:xfrm>
            <a:off x="3383280" y="478231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公共选择理论通俗读物</a:t>
            </a:r>
            <a:endParaRPr lang="en-US" sz="900" dirty="0"/>
          </a:p>
        </p:txBody>
      </p:sp>
      <p:sp>
        <p:nvSpPr>
          <p:cNvPr id="27" name="Shape 25"/>
          <p:cNvSpPr/>
          <p:nvPr/>
        </p:nvSpPr>
        <p:spPr>
          <a:xfrm>
            <a:off x="6126480" y="4480560"/>
            <a:ext cx="2697480" cy="640080"/>
          </a:xfrm>
          <a:prstGeom prst="rect">
            <a:avLst/>
          </a:prstGeom>
          <a:solidFill>
            <a:srgbClr val="FFFFFF"/>
          </a:solidFill>
          <a:ln w="12700">
            <a:solidFill>
              <a:srgbClr val="669BBC"/>
            </a:solidFill>
            <a:prstDash val="solid"/>
          </a:ln>
        </p:spPr>
      </p:sp>
      <p:sp>
        <p:nvSpPr>
          <p:cNvPr id="28" name="Text 26"/>
          <p:cNvSpPr/>
          <p:nvPr/>
        </p:nvSpPr>
        <p:spPr>
          <a:xfrm>
            <a:off x="6217920" y="4507992"/>
            <a:ext cx="2514600" cy="274320"/>
          </a:xfrm>
          <a:prstGeom prst="rect">
            <a:avLst/>
          </a:prstGeom>
          <a:noFill/>
          <a:ln/>
        </p:spPr>
        <p:txBody>
          <a:bodyPr wrap="square" rtlCol="0" anchor="ctr"/>
          <a:lstStyle/>
          <a:p>
            <a:pPr indent="0" marL="0">
              <a:buNone/>
            </a:pPr>
            <a:r>
              <a:rPr lang="en-US" sz="1000" b="1" dirty="0">
                <a:solidFill>
                  <a:srgbClr val="C1121F"/>
                </a:solidFill>
                <a:latin typeface="Microsoft YaHei" pitchFamily="34" charset="0"/>
                <a:ea typeface="Microsoft YaHei" pitchFamily="34" charset="-122"/>
                <a:cs typeface="Microsoft YaHei" pitchFamily="34" charset="-120"/>
              </a:rPr>
              <a:t>《立宪经济学》 (1980s)</a:t>
            </a:r>
            <a:endParaRPr lang="en-US" sz="1000" dirty="0"/>
          </a:p>
        </p:txBody>
      </p:sp>
      <p:sp>
        <p:nvSpPr>
          <p:cNvPr id="29" name="Text 27"/>
          <p:cNvSpPr/>
          <p:nvPr/>
        </p:nvSpPr>
        <p:spPr>
          <a:xfrm>
            <a:off x="6217920" y="4782312"/>
            <a:ext cx="2514600" cy="32004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制度与宪政的经济分析</a:t>
            </a:r>
            <a:endParaRPr lang="en-US" sz="900" dirty="0"/>
          </a:p>
        </p:txBody>
      </p:sp>
      <p:sp>
        <p:nvSpPr>
          <p:cNvPr id="30" name="Shape 28"/>
          <p:cNvSpPr/>
          <p:nvPr/>
        </p:nvSpPr>
        <p:spPr>
          <a:xfrm>
            <a:off x="8503920" y="4663440"/>
            <a:ext cx="365760" cy="365760"/>
          </a:xfrm>
          <a:prstGeom prst="ellipse">
            <a:avLst/>
          </a:prstGeom>
          <a:solidFill>
            <a:srgbClr val="C1121F"/>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公共选择理论的核心命题</a:t>
            </a:r>
            <a:endParaRPr lang="en-US" sz="2800" dirty="0"/>
          </a:p>
        </p:txBody>
      </p:sp>
      <p:sp>
        <p:nvSpPr>
          <p:cNvPr id="4" name="Shape 2"/>
          <p:cNvSpPr/>
          <p:nvPr/>
        </p:nvSpPr>
        <p:spPr>
          <a:xfrm>
            <a:off x="457200" y="1005840"/>
            <a:ext cx="4023360" cy="1828800"/>
          </a:xfrm>
          <a:prstGeom prst="rect">
            <a:avLst/>
          </a:prstGeom>
          <a:solidFill>
            <a:srgbClr val="FFFFFF"/>
          </a:solidFill>
          <a:ln w="25400">
            <a:solidFill>
              <a:srgbClr val="003049"/>
            </a:solidFill>
            <a:prstDash val="solid"/>
          </a:ln>
        </p:spPr>
      </p:sp>
      <p:sp>
        <p:nvSpPr>
          <p:cNvPr id="5" name="Text 3"/>
          <p:cNvSpPr/>
          <p:nvPr/>
        </p:nvSpPr>
        <p:spPr>
          <a:xfrm>
            <a:off x="548640" y="1051560"/>
            <a:ext cx="3840480" cy="365760"/>
          </a:xfrm>
          <a:prstGeom prst="rect">
            <a:avLst/>
          </a:prstGeom>
          <a:noFill/>
          <a:ln/>
        </p:spPr>
        <p:txBody>
          <a:bodyPr wrap="square" rtlCol="0" anchor="ctr"/>
          <a:lstStyle/>
          <a:p>
            <a:pPr indent="0" marL="0">
              <a:buNone/>
            </a:pPr>
            <a:r>
              <a:rPr lang="en-US" b="1" dirty="0">
                <a:solidFill>
                  <a:srgbClr val="003049"/>
                </a:solidFill>
                <a:latin typeface="Microsoft YaHei" pitchFamily="34" charset="0"/>
                <a:ea typeface="Microsoft YaHei" pitchFamily="34" charset="-122"/>
                <a:cs typeface="Microsoft YaHei" pitchFamily="34" charset="-120"/>
              </a:rPr>
              <a:t>方法论个人主义</a:t>
            </a:r>
            <a:endParaRPr lang="en-US" dirty="0"/>
          </a:p>
        </p:txBody>
      </p:sp>
      <p:sp>
        <p:nvSpPr>
          <p:cNvPr id="6" name="Text 4"/>
          <p:cNvSpPr/>
          <p:nvPr/>
        </p:nvSpPr>
        <p:spPr>
          <a:xfrm>
            <a:off x="640080" y="1463040"/>
            <a:ext cx="3749040" cy="128016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政治参与者都是理性的自我利益者</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政客追求选票和权力最大化</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官僚追求部门预算和影响力</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选民倾向于搭便车（理性无知）</a:t>
            </a:r>
            <a:endParaRPr lang="en-US" sz="1100" dirty="0"/>
          </a:p>
        </p:txBody>
      </p:sp>
      <p:sp>
        <p:nvSpPr>
          <p:cNvPr id="7" name="Shape 5"/>
          <p:cNvSpPr/>
          <p:nvPr/>
        </p:nvSpPr>
        <p:spPr>
          <a:xfrm>
            <a:off x="4663440" y="1005840"/>
            <a:ext cx="4023360" cy="1828800"/>
          </a:xfrm>
          <a:prstGeom prst="rect">
            <a:avLst/>
          </a:prstGeom>
          <a:solidFill>
            <a:srgbClr val="FFFFFF"/>
          </a:solidFill>
          <a:ln w="25400">
            <a:solidFill>
              <a:srgbClr val="C1121F"/>
            </a:solidFill>
            <a:prstDash val="solid"/>
          </a:ln>
        </p:spPr>
      </p:sp>
      <p:sp>
        <p:nvSpPr>
          <p:cNvPr id="8" name="Text 6"/>
          <p:cNvSpPr/>
          <p:nvPr/>
        </p:nvSpPr>
        <p:spPr>
          <a:xfrm>
            <a:off x="4754880" y="1051560"/>
            <a:ext cx="384048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政府失灵</a:t>
            </a:r>
            <a:endParaRPr lang="en-US" sz="1400" dirty="0"/>
          </a:p>
        </p:txBody>
      </p:sp>
      <p:sp>
        <p:nvSpPr>
          <p:cNvPr id="9" name="Text 7"/>
          <p:cNvSpPr/>
          <p:nvPr/>
        </p:nvSpPr>
        <p:spPr>
          <a:xfrm>
            <a:off x="4846320" y="1463040"/>
            <a:ext cx="3749040" cy="128016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利益集团操纵政策</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短视政策（选举周期）</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外部性被忽视</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政府产出难以量化监督</a:t>
            </a:r>
            <a:endParaRPr lang="en-US" sz="1100" dirty="0"/>
          </a:p>
        </p:txBody>
      </p:sp>
      <p:sp>
        <p:nvSpPr>
          <p:cNvPr id="10" name="Shape 8"/>
          <p:cNvSpPr/>
          <p:nvPr/>
        </p:nvSpPr>
        <p:spPr>
          <a:xfrm>
            <a:off x="457200" y="3017520"/>
            <a:ext cx="8229600" cy="640080"/>
          </a:xfrm>
          <a:prstGeom prst="rect">
            <a:avLst/>
          </a:prstGeom>
          <a:solidFill>
            <a:srgbClr val="C1121F"/>
          </a:solidFill>
          <a:ln/>
        </p:spPr>
      </p:sp>
      <p:sp>
        <p:nvSpPr>
          <p:cNvPr id="11" name="Text 9"/>
          <p:cNvSpPr/>
          <p:nvPr/>
        </p:nvSpPr>
        <p:spPr>
          <a:xfrm>
            <a:off x="548640" y="3108960"/>
            <a:ext cx="80467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"政治市场"与"经济市场"同样需要竞争与规则约束</a:t>
            </a:r>
            <a:endParaRPr lang="en-US" sz="1400" dirty="0"/>
          </a:p>
        </p:txBody>
      </p:sp>
      <p:sp>
        <p:nvSpPr>
          <p:cNvPr id="12" name="Text 10"/>
          <p:cNvSpPr/>
          <p:nvPr/>
        </p:nvSpPr>
        <p:spPr>
          <a:xfrm>
            <a:off x="457200" y="379476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政策含义</a:t>
            </a:r>
            <a:endParaRPr lang="en-US" sz="1400" dirty="0"/>
          </a:p>
        </p:txBody>
      </p:sp>
      <p:sp>
        <p:nvSpPr>
          <p:cNvPr id="13" name="Shape 11"/>
          <p:cNvSpPr/>
          <p:nvPr/>
        </p:nvSpPr>
        <p:spPr>
          <a:xfrm>
            <a:off x="457200" y="4160520"/>
            <a:ext cx="2697480" cy="868680"/>
          </a:xfrm>
          <a:prstGeom prst="rect">
            <a:avLst/>
          </a:prstGeom>
          <a:solidFill>
            <a:srgbClr val="FFFFFF"/>
          </a:solidFill>
          <a:ln w="12700">
            <a:solidFill>
              <a:srgbClr val="669BBC"/>
            </a:solidFill>
            <a:prstDash val="solid"/>
          </a:ln>
        </p:spPr>
      </p:sp>
      <p:sp>
        <p:nvSpPr>
          <p:cNvPr id="14" name="Text 12"/>
          <p:cNvSpPr/>
          <p:nvPr/>
        </p:nvSpPr>
        <p:spPr>
          <a:xfrm>
            <a:off x="548640" y="4206240"/>
            <a:ext cx="25146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宪法约束</a:t>
            </a:r>
            <a:endParaRPr lang="en-US" sz="1200" dirty="0"/>
          </a:p>
        </p:txBody>
      </p:sp>
      <p:sp>
        <p:nvSpPr>
          <p:cNvPr id="15" name="Text 13"/>
          <p:cNvSpPr/>
          <p:nvPr/>
        </p:nvSpPr>
        <p:spPr>
          <a:xfrm>
            <a:off x="548640" y="4526280"/>
            <a:ext cx="2514600" cy="4572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用宪法规制政府权力</a:t>
            </a:r>
            <a:endParaRPr lang="en-US" sz="1000" dirty="0"/>
          </a:p>
        </p:txBody>
      </p:sp>
      <p:sp>
        <p:nvSpPr>
          <p:cNvPr id="16" name="Shape 14"/>
          <p:cNvSpPr/>
          <p:nvPr/>
        </p:nvSpPr>
        <p:spPr>
          <a:xfrm>
            <a:off x="3291840" y="4160520"/>
            <a:ext cx="2697480" cy="868680"/>
          </a:xfrm>
          <a:prstGeom prst="rect">
            <a:avLst/>
          </a:prstGeom>
          <a:solidFill>
            <a:srgbClr val="FFFFFF"/>
          </a:solidFill>
          <a:ln w="12700">
            <a:solidFill>
              <a:srgbClr val="669BBC"/>
            </a:solidFill>
            <a:prstDash val="solid"/>
          </a:ln>
        </p:spPr>
      </p:sp>
      <p:sp>
        <p:nvSpPr>
          <p:cNvPr id="17" name="Text 15"/>
          <p:cNvSpPr/>
          <p:nvPr/>
        </p:nvSpPr>
        <p:spPr>
          <a:xfrm>
            <a:off x="3383280" y="4206240"/>
            <a:ext cx="25146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分权制衡</a:t>
            </a:r>
            <a:endParaRPr lang="en-US" sz="1200" dirty="0"/>
          </a:p>
        </p:txBody>
      </p:sp>
      <p:sp>
        <p:nvSpPr>
          <p:cNvPr id="18" name="Text 16"/>
          <p:cNvSpPr/>
          <p:nvPr/>
        </p:nvSpPr>
        <p:spPr>
          <a:xfrm>
            <a:off x="3383280" y="4526280"/>
            <a:ext cx="2514600" cy="4572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避免权力集中</a:t>
            </a:r>
            <a:endParaRPr lang="en-US" sz="1000" dirty="0"/>
          </a:p>
        </p:txBody>
      </p:sp>
      <p:sp>
        <p:nvSpPr>
          <p:cNvPr id="19" name="Shape 17"/>
          <p:cNvSpPr/>
          <p:nvPr/>
        </p:nvSpPr>
        <p:spPr>
          <a:xfrm>
            <a:off x="6126480" y="4160520"/>
            <a:ext cx="2697480" cy="868680"/>
          </a:xfrm>
          <a:prstGeom prst="rect">
            <a:avLst/>
          </a:prstGeom>
          <a:solidFill>
            <a:srgbClr val="FFFFFF"/>
          </a:solidFill>
          <a:ln w="12700">
            <a:solidFill>
              <a:srgbClr val="669BBC"/>
            </a:solidFill>
            <a:prstDash val="solid"/>
          </a:ln>
        </p:spPr>
      </p:sp>
      <p:sp>
        <p:nvSpPr>
          <p:cNvPr id="20" name="Text 18"/>
          <p:cNvSpPr/>
          <p:nvPr/>
        </p:nvSpPr>
        <p:spPr>
          <a:xfrm>
            <a:off x="6217920" y="4206240"/>
            <a:ext cx="25146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规则优于裁量</a:t>
            </a:r>
            <a:endParaRPr lang="en-US" sz="1200" dirty="0"/>
          </a:p>
        </p:txBody>
      </p:sp>
      <p:sp>
        <p:nvSpPr>
          <p:cNvPr id="21" name="Text 19"/>
          <p:cNvSpPr/>
          <p:nvPr/>
        </p:nvSpPr>
        <p:spPr>
          <a:xfrm>
            <a:off x="6217920" y="4526280"/>
            <a:ext cx="2514600" cy="4572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减少官员自由裁量权</a:t>
            </a:r>
            <a:endParaRPr lang="en-US" sz="1000" dirty="0"/>
          </a:p>
        </p:txBody>
      </p:sp>
      <p:sp>
        <p:nvSpPr>
          <p:cNvPr id="22" name="Shape 20"/>
          <p:cNvSpPr/>
          <p:nvPr/>
        </p:nvSpPr>
        <p:spPr>
          <a:xfrm>
            <a:off x="8503920" y="4663440"/>
            <a:ext cx="365760" cy="365760"/>
          </a:xfrm>
          <a:prstGeom prst="ellipse">
            <a:avLst/>
          </a:prstGeom>
          <a:solidFill>
            <a:srgbClr val="C1121F"/>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布坎南的立宪经济学</a:t>
            </a:r>
            <a:endParaRPr lang="en-US" sz="2800" dirty="0"/>
          </a:p>
        </p:txBody>
      </p:sp>
      <p:sp>
        <p:nvSpPr>
          <p:cNvPr id="4" name="Text 2"/>
          <p:cNvSpPr/>
          <p:nvPr/>
        </p:nvSpPr>
        <p:spPr>
          <a:xfrm>
            <a:off x="457200" y="1005840"/>
            <a:ext cx="822960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两层分析框架</a:t>
            </a:r>
            <a:endParaRPr lang="en-US" sz="1600" dirty="0"/>
          </a:p>
        </p:txBody>
      </p:sp>
      <p:sp>
        <p:nvSpPr>
          <p:cNvPr id="5" name="Shape 3"/>
          <p:cNvSpPr/>
          <p:nvPr/>
        </p:nvSpPr>
        <p:spPr>
          <a:xfrm>
            <a:off x="457200" y="1417320"/>
            <a:ext cx="4023360" cy="1554480"/>
          </a:xfrm>
          <a:prstGeom prst="rect">
            <a:avLst/>
          </a:prstGeom>
          <a:solidFill>
            <a:srgbClr val="FFFFFF"/>
          </a:solidFill>
          <a:ln w="25400">
            <a:solidFill>
              <a:srgbClr val="003049"/>
            </a:solidFill>
            <a:prstDash val="solid"/>
          </a:ln>
        </p:spPr>
      </p:sp>
      <p:sp>
        <p:nvSpPr>
          <p:cNvPr id="6" name="Shape 4"/>
          <p:cNvSpPr/>
          <p:nvPr/>
        </p:nvSpPr>
        <p:spPr>
          <a:xfrm>
            <a:off x="457200" y="1417320"/>
            <a:ext cx="4023360" cy="411480"/>
          </a:xfrm>
          <a:prstGeom prst="rect">
            <a:avLst/>
          </a:prstGeom>
          <a:solidFill>
            <a:srgbClr val="003049"/>
          </a:solidFill>
          <a:ln/>
        </p:spPr>
      </p:sp>
      <p:sp>
        <p:nvSpPr>
          <p:cNvPr id="7" name="Text 5"/>
          <p:cNvSpPr/>
          <p:nvPr/>
        </p:nvSpPr>
        <p:spPr>
          <a:xfrm>
            <a:off x="548640" y="1463040"/>
            <a:ext cx="3840480" cy="32004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立宪前（规则制定）</a:t>
            </a:r>
            <a:endParaRPr lang="en-US" sz="1300" dirty="0"/>
          </a:p>
        </p:txBody>
      </p:sp>
      <p:sp>
        <p:nvSpPr>
          <p:cNvPr id="8" name="Text 6"/>
          <p:cNvSpPr/>
          <p:nvPr/>
        </p:nvSpPr>
        <p:spPr>
          <a:xfrm>
            <a:off x="640080" y="1920240"/>
            <a:ext cx="3749040" cy="100584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在"无知之幕"后选择规则</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不知道自己的具体位置</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追求公正的制度设计</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一次性博弈，避免机会主义</a:t>
            </a:r>
            <a:endParaRPr lang="en-US" sz="1100" dirty="0"/>
          </a:p>
        </p:txBody>
      </p:sp>
      <p:sp>
        <p:nvSpPr>
          <p:cNvPr id="9" name="Shape 7"/>
          <p:cNvSpPr/>
          <p:nvPr/>
        </p:nvSpPr>
        <p:spPr>
          <a:xfrm>
            <a:off x="4663440" y="1417320"/>
            <a:ext cx="4023360" cy="1554480"/>
          </a:xfrm>
          <a:prstGeom prst="rect">
            <a:avLst/>
          </a:prstGeom>
          <a:solidFill>
            <a:srgbClr val="FFFFFF"/>
          </a:solidFill>
          <a:ln w="25400">
            <a:solidFill>
              <a:srgbClr val="C1121F"/>
            </a:solidFill>
            <a:prstDash val="solid"/>
          </a:ln>
        </p:spPr>
      </p:sp>
      <p:sp>
        <p:nvSpPr>
          <p:cNvPr id="10" name="Shape 8"/>
          <p:cNvSpPr/>
          <p:nvPr/>
        </p:nvSpPr>
        <p:spPr>
          <a:xfrm>
            <a:off x="4663440" y="1417320"/>
            <a:ext cx="4023360" cy="411480"/>
          </a:xfrm>
          <a:prstGeom prst="rect">
            <a:avLst/>
          </a:prstGeom>
          <a:solidFill>
            <a:srgbClr val="C1121F"/>
          </a:solidFill>
          <a:ln/>
        </p:spPr>
      </p:sp>
      <p:sp>
        <p:nvSpPr>
          <p:cNvPr id="11" name="Text 9"/>
          <p:cNvSpPr/>
          <p:nvPr/>
        </p:nvSpPr>
        <p:spPr>
          <a:xfrm>
            <a:off x="4754880" y="1463040"/>
            <a:ext cx="3840480" cy="32004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立宪后（规则下行为）</a:t>
            </a:r>
            <a:endParaRPr lang="en-US" sz="1300" dirty="0"/>
          </a:p>
        </p:txBody>
      </p:sp>
      <p:sp>
        <p:nvSpPr>
          <p:cNvPr id="12" name="Text 10"/>
          <p:cNvSpPr/>
          <p:nvPr/>
        </p:nvSpPr>
        <p:spPr>
          <a:xfrm>
            <a:off x="4846320" y="1920240"/>
            <a:ext cx="3749040" cy="1005840"/>
          </a:xfrm>
          <a:prstGeom prst="rect">
            <a:avLst/>
          </a:prstGeom>
          <a:noFill/>
          <a:ln/>
        </p:spPr>
        <p:txBody>
          <a:bodyPr wrap="square" rtlCol="0" anchor="ctr"/>
          <a:lstStyle/>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在既定规则内最大化</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个人利益驱动行为</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市场交易与政治过程</a:t>
            </a:r>
            <a:endParaRPr lang="en-US" sz="1100" dirty="0"/>
          </a:p>
          <a:p>
            <a:pPr marL="342900" indent="-342900">
              <a:buSzPct val="100000"/>
              <a:buChar char="•"/>
            </a:pPr>
            <a:r>
              <a:rPr lang="en-US" sz="1100" dirty="0">
                <a:solidFill>
                  <a:srgbClr val="003049"/>
                </a:solidFill>
                <a:latin typeface="Microsoft YaHei" pitchFamily="34" charset="0"/>
                <a:ea typeface="Microsoft YaHei" pitchFamily="34" charset="-122"/>
                <a:cs typeface="Microsoft YaHei" pitchFamily="34" charset="-120"/>
              </a:rPr>
              <a:t>规则决定结果</a:t>
            </a:r>
            <a:endParaRPr lang="en-US" sz="1100" dirty="0"/>
          </a:p>
        </p:txBody>
      </p:sp>
      <p:sp>
        <p:nvSpPr>
          <p:cNvPr id="13" name="Text 11"/>
          <p:cNvSpPr/>
          <p:nvPr/>
        </p:nvSpPr>
        <p:spPr>
          <a:xfrm>
            <a:off x="4251960" y="1920240"/>
            <a:ext cx="640080" cy="457200"/>
          </a:xfrm>
          <a:prstGeom prst="rect">
            <a:avLst/>
          </a:prstGeom>
          <a:noFill/>
          <a:ln/>
        </p:spPr>
        <p:txBody>
          <a:bodyPr wrap="square" rtlCol="0" anchor="ctr"/>
          <a:lstStyle/>
          <a:p>
            <a:pPr algn="ctr" indent="0" marL="0">
              <a:buNone/>
            </a:pPr>
            <a:r>
              <a:rPr lang="en-US" sz="2800" b="1" dirty="0">
                <a:solidFill>
                  <a:srgbClr val="C1121F"/>
                </a:solidFill>
                <a:latin typeface="Arial" pitchFamily="34" charset="0"/>
                <a:ea typeface="Arial" pitchFamily="34" charset="-122"/>
                <a:cs typeface="Arial" pitchFamily="34" charset="-120"/>
              </a:rPr>
              <a:t>→</a:t>
            </a:r>
            <a:endParaRPr lang="en-US" sz="2800" dirty="0"/>
          </a:p>
        </p:txBody>
      </p:sp>
      <p:sp>
        <p:nvSpPr>
          <p:cNvPr id="14" name="Shape 12"/>
          <p:cNvSpPr/>
          <p:nvPr/>
        </p:nvSpPr>
        <p:spPr>
          <a:xfrm>
            <a:off x="457200" y="3154680"/>
            <a:ext cx="8229600" cy="685800"/>
          </a:xfrm>
          <a:prstGeom prst="rect">
            <a:avLst/>
          </a:prstGeom>
          <a:solidFill>
            <a:srgbClr val="C1121F">
              <a:alpha val="15000"/>
            </a:srgbClr>
          </a:solidFill>
          <a:ln/>
        </p:spPr>
      </p:sp>
      <p:sp>
        <p:nvSpPr>
          <p:cNvPr id="15" name="Text 13"/>
          <p:cNvSpPr/>
          <p:nvPr/>
        </p:nvSpPr>
        <p:spPr>
          <a:xfrm>
            <a:off x="548640" y="3246120"/>
            <a:ext cx="8046720" cy="502920"/>
          </a:xfrm>
          <a:prstGeom prst="rect">
            <a:avLst/>
          </a:prstGeom>
          <a:noFill/>
          <a:ln/>
        </p:spPr>
        <p:txBody>
          <a:bodyPr wrap="square" rtlCol="0" anchor="ctr"/>
          <a:lstStyle/>
          <a:p>
            <a:pPr algn="ctr" indent="0" marL="0">
              <a:buNone/>
            </a:pPr>
            <a:r>
              <a:rPr lang="en-US" sz="1400" dirty="0">
                <a:solidFill>
                  <a:srgbClr val="003049"/>
                </a:solidFill>
                <a:latin typeface="Microsoft YaHei" pitchFamily="34" charset="0"/>
                <a:ea typeface="Microsoft YaHei" pitchFamily="34" charset="-122"/>
                <a:cs typeface="Microsoft YaHei" pitchFamily="34" charset="-120"/>
              </a:rPr>
              <a:t>核心洞见：规则的规则决定了社会游戏的走向，应先确定"好规则"</a:t>
            </a:r>
            <a:endParaRPr lang="en-US" sz="1400" dirty="0"/>
          </a:p>
        </p:txBody>
      </p:sp>
      <p:sp>
        <p:nvSpPr>
          <p:cNvPr id="16" name="Text 14"/>
          <p:cNvSpPr/>
          <p:nvPr/>
        </p:nvSpPr>
        <p:spPr>
          <a:xfrm>
            <a:off x="457200" y="397764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与斯密思想的关联</a:t>
            </a:r>
            <a:endParaRPr lang="en-US" sz="1400" dirty="0"/>
          </a:p>
        </p:txBody>
      </p:sp>
      <p:sp>
        <p:nvSpPr>
          <p:cNvPr id="17" name="Shape 15"/>
          <p:cNvSpPr/>
          <p:nvPr/>
        </p:nvSpPr>
        <p:spPr>
          <a:xfrm>
            <a:off x="457200" y="4416552"/>
            <a:ext cx="91440" cy="91440"/>
          </a:xfrm>
          <a:prstGeom prst="ellipse">
            <a:avLst/>
          </a:prstGeom>
          <a:solidFill>
            <a:srgbClr val="C1121F"/>
          </a:solidFill>
          <a:ln/>
        </p:spPr>
      </p:sp>
      <p:sp>
        <p:nvSpPr>
          <p:cNvPr id="18" name="Text 16"/>
          <p:cNvSpPr/>
          <p:nvPr/>
        </p:nvSpPr>
        <p:spPr>
          <a:xfrm>
            <a:off x="640080" y="4343400"/>
            <a:ext cx="3657600" cy="32004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法律框架保护产权</a:t>
            </a:r>
            <a:endParaRPr lang="en-US" sz="1000" dirty="0"/>
          </a:p>
        </p:txBody>
      </p:sp>
      <p:sp>
        <p:nvSpPr>
          <p:cNvPr id="19" name="Text 17"/>
          <p:cNvSpPr/>
          <p:nvPr/>
        </p:nvSpPr>
        <p:spPr>
          <a:xfrm>
            <a:off x="4389120" y="4343400"/>
            <a:ext cx="4297680" cy="320040"/>
          </a:xfrm>
          <a:prstGeom prst="rect">
            <a:avLst/>
          </a:prstGeom>
          <a:noFill/>
          <a:ln/>
        </p:spPr>
        <p:txBody>
          <a:bodyPr wrap="square" rtlCol="0" anchor="ctr"/>
          <a:lstStyle/>
          <a:p>
            <a:pPr indent="0" marL="0">
              <a:buNone/>
            </a:pPr>
            <a:r>
              <a:rPr lang="en-US" sz="1000" dirty="0">
                <a:solidFill>
                  <a:srgbClr val="C1121F"/>
                </a:solidFill>
                <a:latin typeface="Microsoft YaHei" pitchFamily="34" charset="0"/>
                <a:ea typeface="Microsoft YaHei" pitchFamily="34" charset="-122"/>
                <a:cs typeface="Microsoft YaHei" pitchFamily="34" charset="-120"/>
              </a:rPr>
              <a:t>→ 立宪经济学：宪法保障自由</a:t>
            </a:r>
            <a:endParaRPr lang="en-US" sz="1000" dirty="0"/>
          </a:p>
        </p:txBody>
      </p:sp>
      <p:sp>
        <p:nvSpPr>
          <p:cNvPr id="20" name="Shape 18"/>
          <p:cNvSpPr/>
          <p:nvPr/>
        </p:nvSpPr>
        <p:spPr>
          <a:xfrm>
            <a:off x="457200" y="4764024"/>
            <a:ext cx="91440" cy="91440"/>
          </a:xfrm>
          <a:prstGeom prst="ellipse">
            <a:avLst/>
          </a:prstGeom>
          <a:solidFill>
            <a:srgbClr val="C1121F"/>
          </a:solidFill>
          <a:ln/>
        </p:spPr>
      </p:sp>
      <p:sp>
        <p:nvSpPr>
          <p:cNvPr id="21" name="Text 19"/>
          <p:cNvSpPr/>
          <p:nvPr/>
        </p:nvSpPr>
        <p:spPr>
          <a:xfrm>
            <a:off x="640080" y="4690872"/>
            <a:ext cx="3657600" cy="32004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正义规则决定市场</a:t>
            </a:r>
            <a:endParaRPr lang="en-US" sz="1000" dirty="0"/>
          </a:p>
        </p:txBody>
      </p:sp>
      <p:sp>
        <p:nvSpPr>
          <p:cNvPr id="22" name="Text 20"/>
          <p:cNvSpPr/>
          <p:nvPr/>
        </p:nvSpPr>
        <p:spPr>
          <a:xfrm>
            <a:off x="4389120" y="4690872"/>
            <a:ext cx="4297680" cy="320040"/>
          </a:xfrm>
          <a:prstGeom prst="rect">
            <a:avLst/>
          </a:prstGeom>
          <a:noFill/>
          <a:ln/>
        </p:spPr>
        <p:txBody>
          <a:bodyPr wrap="square" rtlCol="0" anchor="ctr"/>
          <a:lstStyle/>
          <a:p>
            <a:pPr indent="0" marL="0">
              <a:buNone/>
            </a:pPr>
            <a:r>
              <a:rPr lang="en-US" sz="1000" dirty="0">
                <a:solidFill>
                  <a:srgbClr val="C1121F"/>
                </a:solidFill>
                <a:latin typeface="Microsoft YaHei" pitchFamily="34" charset="0"/>
                <a:ea typeface="Microsoft YaHei" pitchFamily="34" charset="-122"/>
                <a:cs typeface="Microsoft YaHei" pitchFamily="34" charset="-120"/>
              </a:rPr>
              <a:t>→ 规则经济学：好规则带来好结果</a:t>
            </a:r>
            <a:endParaRPr lang="en-US" sz="1000" dirty="0"/>
          </a:p>
        </p:txBody>
      </p:sp>
      <p:sp>
        <p:nvSpPr>
          <p:cNvPr id="23" name="Shape 21"/>
          <p:cNvSpPr/>
          <p:nvPr/>
        </p:nvSpPr>
        <p:spPr>
          <a:xfrm>
            <a:off x="457200" y="5111496"/>
            <a:ext cx="91440" cy="91440"/>
          </a:xfrm>
          <a:prstGeom prst="ellipse">
            <a:avLst/>
          </a:prstGeom>
          <a:solidFill>
            <a:srgbClr val="C1121F"/>
          </a:solidFill>
          <a:ln/>
        </p:spPr>
      </p:sp>
      <p:sp>
        <p:nvSpPr>
          <p:cNvPr id="24" name="Text 22"/>
          <p:cNvSpPr/>
          <p:nvPr/>
        </p:nvSpPr>
        <p:spPr>
          <a:xfrm>
            <a:off x="640080" y="5038344"/>
            <a:ext cx="3657600" cy="32004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守夜人政府</a:t>
            </a:r>
            <a:endParaRPr lang="en-US" sz="1000" dirty="0"/>
          </a:p>
        </p:txBody>
      </p:sp>
      <p:sp>
        <p:nvSpPr>
          <p:cNvPr id="25" name="Text 23"/>
          <p:cNvSpPr/>
          <p:nvPr/>
        </p:nvSpPr>
        <p:spPr>
          <a:xfrm>
            <a:off x="4389120" y="5038344"/>
            <a:ext cx="4297680" cy="320040"/>
          </a:xfrm>
          <a:prstGeom prst="rect">
            <a:avLst/>
          </a:prstGeom>
          <a:noFill/>
          <a:ln/>
        </p:spPr>
        <p:txBody>
          <a:bodyPr wrap="square" rtlCol="0" anchor="ctr"/>
          <a:lstStyle/>
          <a:p>
            <a:pPr indent="0" marL="0">
              <a:buNone/>
            </a:pPr>
            <a:r>
              <a:rPr lang="en-US" sz="1000" dirty="0">
                <a:solidFill>
                  <a:srgbClr val="C1121F"/>
                </a:solidFill>
                <a:latin typeface="Microsoft YaHei" pitchFamily="34" charset="0"/>
                <a:ea typeface="Microsoft YaHei" pitchFamily="34" charset="-122"/>
                <a:cs typeface="Microsoft YaHei" pitchFamily="34" charset="-120"/>
              </a:rPr>
              <a:t>→ 有限政府：权力需被约束</a:t>
            </a:r>
            <a:endParaRPr lang="en-US" sz="1000" dirty="0"/>
          </a:p>
        </p:txBody>
      </p:sp>
      <p:sp>
        <p:nvSpPr>
          <p:cNvPr id="26" name="Shape 24"/>
          <p:cNvSpPr/>
          <p:nvPr/>
        </p:nvSpPr>
        <p:spPr>
          <a:xfrm>
            <a:off x="8503920" y="4663440"/>
            <a:ext cx="365760" cy="365760"/>
          </a:xfrm>
          <a:prstGeom prst="ellipse">
            <a:avLst/>
          </a:prstGeom>
          <a:solidFill>
            <a:srgbClr val="C1121F"/>
          </a:solidFill>
          <a:ln/>
        </p:spPr>
      </p:sp>
      <p:sp>
        <p:nvSpPr>
          <p:cNvPr id="27" name="Text 25"/>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芝加哥学派的方法论</a:t>
            </a:r>
            <a:endParaRPr lang="en-US" sz="2800" dirty="0"/>
          </a:p>
        </p:txBody>
      </p:sp>
      <p:sp>
        <p:nvSpPr>
          <p:cNvPr id="4" name="Text 2"/>
          <p:cNvSpPr/>
          <p:nvPr/>
        </p:nvSpPr>
        <p:spPr>
          <a:xfrm>
            <a:off x="457200" y="960120"/>
            <a:ext cx="822960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四大方法论原则</a:t>
            </a:r>
            <a:endParaRPr lang="en-US" sz="1600" dirty="0"/>
          </a:p>
        </p:txBody>
      </p:sp>
      <p:sp>
        <p:nvSpPr>
          <p:cNvPr id="5" name="Shape 3"/>
          <p:cNvSpPr/>
          <p:nvPr/>
        </p:nvSpPr>
        <p:spPr>
          <a:xfrm>
            <a:off x="457200" y="1371600"/>
            <a:ext cx="411480" cy="411480"/>
          </a:xfrm>
          <a:prstGeom prst="rect">
            <a:avLst/>
          </a:prstGeom>
          <a:solidFill>
            <a:srgbClr val="C1121F"/>
          </a:solidFill>
          <a:ln/>
        </p:spPr>
      </p:sp>
      <p:sp>
        <p:nvSpPr>
          <p:cNvPr id="6" name="Text 4"/>
          <p:cNvSpPr/>
          <p:nvPr/>
        </p:nvSpPr>
        <p:spPr>
          <a:xfrm>
            <a:off x="45720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05840" y="1371600"/>
            <a:ext cx="182880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实证主义</a:t>
            </a:r>
            <a:endParaRPr lang="en-US" sz="1300" dirty="0"/>
          </a:p>
        </p:txBody>
      </p:sp>
      <p:sp>
        <p:nvSpPr>
          <p:cNvPr id="8" name="Text 6"/>
          <p:cNvSpPr/>
          <p:nvPr/>
        </p:nvSpPr>
        <p:spPr>
          <a:xfrm>
            <a:off x="1005840" y="1664208"/>
            <a:ext cx="5029200" cy="41148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经济学应像自然科学一样，用可检验的假说评价，而非规范判断</a:t>
            </a:r>
            <a:endParaRPr lang="en-US" sz="1000" dirty="0"/>
          </a:p>
        </p:txBody>
      </p:sp>
      <p:sp>
        <p:nvSpPr>
          <p:cNvPr id="9" name="Shape 7"/>
          <p:cNvSpPr/>
          <p:nvPr/>
        </p:nvSpPr>
        <p:spPr>
          <a:xfrm>
            <a:off x="6217920" y="1371600"/>
            <a:ext cx="2468880" cy="685800"/>
          </a:xfrm>
          <a:prstGeom prst="rect">
            <a:avLst/>
          </a:prstGeom>
          <a:solidFill>
            <a:srgbClr val="669BBC">
              <a:alpha val="30000"/>
            </a:srgbClr>
          </a:solidFill>
          <a:ln/>
        </p:spPr>
      </p:sp>
      <p:sp>
        <p:nvSpPr>
          <p:cNvPr id="10" name="Text 8"/>
          <p:cNvSpPr/>
          <p:nvPr/>
        </p:nvSpPr>
        <p:spPr>
          <a:xfrm>
            <a:off x="6309360" y="1417320"/>
            <a:ext cx="2286000" cy="594360"/>
          </a:xfrm>
          <a:prstGeom prst="rect">
            <a:avLst/>
          </a:prstGeom>
          <a:noFill/>
          <a:ln/>
        </p:spPr>
        <p:txBody>
          <a:bodyPr wrap="square" rtlCol="0" anchor="ctr"/>
          <a:lstStyle/>
          <a:p>
            <a:pPr indent="0" marL="0">
              <a:buNone/>
            </a:pPr>
            <a:r>
              <a:rPr lang="en-US" sz="900" i="1" dirty="0">
                <a:solidFill>
                  <a:srgbClr val="003049"/>
                </a:solidFill>
                <a:latin typeface="Microsoft YaHei" pitchFamily="34" charset="0"/>
                <a:ea typeface="Microsoft YaHei" pitchFamily="34" charset="-122"/>
                <a:cs typeface="Microsoft YaHei" pitchFamily="34" charset="-120"/>
              </a:rPr>
              <a:t>"我们是什么"而非"我们应该是什么"</a:t>
            </a:r>
            <a:endParaRPr lang="en-US" sz="900" dirty="0"/>
          </a:p>
        </p:txBody>
      </p:sp>
      <p:sp>
        <p:nvSpPr>
          <p:cNvPr id="11" name="Shape 9"/>
          <p:cNvSpPr/>
          <p:nvPr/>
        </p:nvSpPr>
        <p:spPr>
          <a:xfrm>
            <a:off x="457200" y="2121408"/>
            <a:ext cx="411480" cy="411480"/>
          </a:xfrm>
          <a:prstGeom prst="rect">
            <a:avLst/>
          </a:prstGeom>
          <a:solidFill>
            <a:srgbClr val="C1121F"/>
          </a:solidFill>
          <a:ln/>
        </p:spPr>
      </p:sp>
      <p:sp>
        <p:nvSpPr>
          <p:cNvPr id="12" name="Text 10"/>
          <p:cNvSpPr/>
          <p:nvPr/>
        </p:nvSpPr>
        <p:spPr>
          <a:xfrm>
            <a:off x="457200" y="212140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05840" y="2121408"/>
            <a:ext cx="182880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边际分析</a:t>
            </a:r>
            <a:endParaRPr lang="en-US" sz="1300" dirty="0"/>
          </a:p>
        </p:txBody>
      </p:sp>
      <p:sp>
        <p:nvSpPr>
          <p:cNvPr id="14" name="Text 12"/>
          <p:cNvSpPr/>
          <p:nvPr/>
        </p:nvSpPr>
        <p:spPr>
          <a:xfrm>
            <a:off x="1005840" y="2414016"/>
            <a:ext cx="5029200" cy="41148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所有决策都在边际上进行，分析增量变化而非总量</a:t>
            </a:r>
            <a:endParaRPr lang="en-US" sz="1000" dirty="0"/>
          </a:p>
        </p:txBody>
      </p:sp>
      <p:sp>
        <p:nvSpPr>
          <p:cNvPr id="15" name="Shape 13"/>
          <p:cNvSpPr/>
          <p:nvPr/>
        </p:nvSpPr>
        <p:spPr>
          <a:xfrm>
            <a:off x="6217920" y="2121408"/>
            <a:ext cx="2468880" cy="685800"/>
          </a:xfrm>
          <a:prstGeom prst="rect">
            <a:avLst/>
          </a:prstGeom>
          <a:solidFill>
            <a:srgbClr val="669BBC">
              <a:alpha val="30000"/>
            </a:srgbClr>
          </a:solidFill>
          <a:ln/>
        </p:spPr>
      </p:sp>
      <p:sp>
        <p:nvSpPr>
          <p:cNvPr id="16" name="Text 14"/>
          <p:cNvSpPr/>
          <p:nvPr/>
        </p:nvSpPr>
        <p:spPr>
          <a:xfrm>
            <a:off x="6309360" y="2167128"/>
            <a:ext cx="2286000" cy="594360"/>
          </a:xfrm>
          <a:prstGeom prst="rect">
            <a:avLst/>
          </a:prstGeom>
          <a:noFill/>
          <a:ln/>
        </p:spPr>
        <p:txBody>
          <a:bodyPr wrap="square" rtlCol="0" anchor="ctr"/>
          <a:lstStyle/>
          <a:p>
            <a:pPr indent="0" marL="0">
              <a:buNone/>
            </a:pPr>
            <a:r>
              <a:rPr lang="en-US" sz="900" i="1" dirty="0">
                <a:solidFill>
                  <a:srgbClr val="003049"/>
                </a:solidFill>
                <a:latin typeface="Microsoft YaHei" pitchFamily="34" charset="0"/>
                <a:ea typeface="Microsoft YaHei" pitchFamily="34" charset="-122"/>
                <a:cs typeface="Microsoft YaHei" pitchFamily="34" charset="-120"/>
              </a:rPr>
              <a:t>MV=PY 揭示货币边际效应</a:t>
            </a:r>
            <a:endParaRPr lang="en-US" sz="900" dirty="0"/>
          </a:p>
        </p:txBody>
      </p:sp>
      <p:sp>
        <p:nvSpPr>
          <p:cNvPr id="17" name="Shape 15"/>
          <p:cNvSpPr/>
          <p:nvPr/>
        </p:nvSpPr>
        <p:spPr>
          <a:xfrm>
            <a:off x="457200" y="2871216"/>
            <a:ext cx="411480" cy="411480"/>
          </a:xfrm>
          <a:prstGeom prst="rect">
            <a:avLst/>
          </a:prstGeom>
          <a:solidFill>
            <a:srgbClr val="C1121F"/>
          </a:solidFill>
          <a:ln/>
        </p:spPr>
      </p:sp>
      <p:sp>
        <p:nvSpPr>
          <p:cNvPr id="18" name="Text 16"/>
          <p:cNvSpPr/>
          <p:nvPr/>
        </p:nvSpPr>
        <p:spPr>
          <a:xfrm>
            <a:off x="457200" y="2871216"/>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9" name="Text 17"/>
          <p:cNvSpPr/>
          <p:nvPr/>
        </p:nvSpPr>
        <p:spPr>
          <a:xfrm>
            <a:off x="1005840" y="2871216"/>
            <a:ext cx="182880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个人主义</a:t>
            </a:r>
            <a:endParaRPr lang="en-US" sz="1300" dirty="0"/>
          </a:p>
        </p:txBody>
      </p:sp>
      <p:sp>
        <p:nvSpPr>
          <p:cNvPr id="20" name="Text 18"/>
          <p:cNvSpPr/>
          <p:nvPr/>
        </p:nvSpPr>
        <p:spPr>
          <a:xfrm>
            <a:off x="1005840" y="3163824"/>
            <a:ext cx="5029200" cy="41148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从个体行为出发解释宏观经济现象，拒绝整体分析</a:t>
            </a:r>
            <a:endParaRPr lang="en-US" sz="1000" dirty="0"/>
          </a:p>
        </p:txBody>
      </p:sp>
      <p:sp>
        <p:nvSpPr>
          <p:cNvPr id="21" name="Shape 19"/>
          <p:cNvSpPr/>
          <p:nvPr/>
        </p:nvSpPr>
        <p:spPr>
          <a:xfrm>
            <a:off x="6217920" y="2871216"/>
            <a:ext cx="2468880" cy="685800"/>
          </a:xfrm>
          <a:prstGeom prst="rect">
            <a:avLst/>
          </a:prstGeom>
          <a:solidFill>
            <a:srgbClr val="669BBC">
              <a:alpha val="30000"/>
            </a:srgbClr>
          </a:solidFill>
          <a:ln/>
        </p:spPr>
      </p:sp>
      <p:sp>
        <p:nvSpPr>
          <p:cNvPr id="22" name="Text 20"/>
          <p:cNvSpPr/>
          <p:nvPr/>
        </p:nvSpPr>
        <p:spPr>
          <a:xfrm>
            <a:off x="6309360" y="2916936"/>
            <a:ext cx="2286000" cy="594360"/>
          </a:xfrm>
          <a:prstGeom prst="rect">
            <a:avLst/>
          </a:prstGeom>
          <a:noFill/>
          <a:ln/>
        </p:spPr>
        <p:txBody>
          <a:bodyPr wrap="square" rtlCol="0" anchor="ctr"/>
          <a:lstStyle/>
          <a:p>
            <a:pPr indent="0" marL="0">
              <a:buNone/>
            </a:pPr>
            <a:r>
              <a:rPr lang="en-US" sz="900" i="1" dirty="0">
                <a:solidFill>
                  <a:srgbClr val="003049"/>
                </a:solidFill>
                <a:latin typeface="Microsoft YaHei" pitchFamily="34" charset="0"/>
                <a:ea typeface="Microsoft YaHei" pitchFamily="34" charset="-122"/>
                <a:cs typeface="Microsoft YaHei" pitchFamily="34" charset="-120"/>
              </a:rPr>
              <a:t>宏观现象的微观基础</a:t>
            </a:r>
            <a:endParaRPr lang="en-US" sz="900" dirty="0"/>
          </a:p>
        </p:txBody>
      </p:sp>
      <p:sp>
        <p:nvSpPr>
          <p:cNvPr id="23" name="Shape 21"/>
          <p:cNvSpPr/>
          <p:nvPr/>
        </p:nvSpPr>
        <p:spPr>
          <a:xfrm>
            <a:off x="457200" y="3621024"/>
            <a:ext cx="411480" cy="411480"/>
          </a:xfrm>
          <a:prstGeom prst="rect">
            <a:avLst/>
          </a:prstGeom>
          <a:solidFill>
            <a:srgbClr val="C1121F"/>
          </a:solidFill>
          <a:ln/>
        </p:spPr>
      </p:sp>
      <p:sp>
        <p:nvSpPr>
          <p:cNvPr id="24" name="Text 22"/>
          <p:cNvSpPr/>
          <p:nvPr/>
        </p:nvSpPr>
        <p:spPr>
          <a:xfrm>
            <a:off x="457200" y="3621024"/>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1005840" y="3621024"/>
            <a:ext cx="182880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机会成本</a:t>
            </a:r>
            <a:endParaRPr lang="en-US" sz="1300" dirty="0"/>
          </a:p>
        </p:txBody>
      </p:sp>
      <p:sp>
        <p:nvSpPr>
          <p:cNvPr id="26" name="Text 24"/>
          <p:cNvSpPr/>
          <p:nvPr/>
        </p:nvSpPr>
        <p:spPr>
          <a:xfrm>
            <a:off x="1005840" y="3913632"/>
            <a:ext cx="5029200" cy="41148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每种选择都有成本，比较所有可选方案的代价</a:t>
            </a:r>
            <a:endParaRPr lang="en-US" sz="1000" dirty="0"/>
          </a:p>
        </p:txBody>
      </p:sp>
      <p:sp>
        <p:nvSpPr>
          <p:cNvPr id="27" name="Shape 25"/>
          <p:cNvSpPr/>
          <p:nvPr/>
        </p:nvSpPr>
        <p:spPr>
          <a:xfrm>
            <a:off x="6217920" y="3621024"/>
            <a:ext cx="2468880" cy="685800"/>
          </a:xfrm>
          <a:prstGeom prst="rect">
            <a:avLst/>
          </a:prstGeom>
          <a:solidFill>
            <a:srgbClr val="669BBC">
              <a:alpha val="30000"/>
            </a:srgbClr>
          </a:solidFill>
          <a:ln/>
        </p:spPr>
      </p:sp>
      <p:sp>
        <p:nvSpPr>
          <p:cNvPr id="28" name="Text 26"/>
          <p:cNvSpPr/>
          <p:nvPr/>
        </p:nvSpPr>
        <p:spPr>
          <a:xfrm>
            <a:off x="6309360" y="3666744"/>
            <a:ext cx="2286000" cy="594360"/>
          </a:xfrm>
          <a:prstGeom prst="rect">
            <a:avLst/>
          </a:prstGeom>
          <a:noFill/>
          <a:ln/>
        </p:spPr>
        <p:txBody>
          <a:bodyPr wrap="square" rtlCol="0" anchor="ctr"/>
          <a:lstStyle/>
          <a:p>
            <a:pPr indent="0" marL="0">
              <a:buNone/>
            </a:pPr>
            <a:r>
              <a:rPr lang="en-US" sz="900" i="1" dirty="0">
                <a:solidFill>
                  <a:srgbClr val="003049"/>
                </a:solidFill>
                <a:latin typeface="Microsoft YaHei" pitchFamily="34" charset="0"/>
                <a:ea typeface="Microsoft YaHei" pitchFamily="34" charset="-122"/>
                <a:cs typeface="Microsoft YaHei" pitchFamily="34" charset="-120"/>
              </a:rPr>
              <a:t>没有免费的午餐</a:t>
            </a:r>
            <a:endParaRPr lang="en-US" sz="900" dirty="0"/>
          </a:p>
        </p:txBody>
      </p:sp>
      <p:sp>
        <p:nvSpPr>
          <p:cNvPr id="29" name="Shape 27"/>
          <p:cNvSpPr/>
          <p:nvPr/>
        </p:nvSpPr>
        <p:spPr>
          <a:xfrm>
            <a:off x="457200" y="4434840"/>
            <a:ext cx="8229600" cy="548640"/>
          </a:xfrm>
          <a:prstGeom prst="rect">
            <a:avLst/>
          </a:prstGeom>
          <a:solidFill>
            <a:srgbClr val="003049"/>
          </a:solidFill>
          <a:ln/>
        </p:spPr>
      </p:sp>
      <p:sp>
        <p:nvSpPr>
          <p:cNvPr id="30" name="Text 28"/>
          <p:cNvSpPr/>
          <p:nvPr/>
        </p:nvSpPr>
        <p:spPr>
          <a:xfrm>
            <a:off x="548640" y="4526280"/>
            <a:ext cx="804672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斯密的方法论遗产：归纳与演绎结合，从具体观察上升到一般理论</a:t>
            </a:r>
            <a:endParaRPr lang="en-US" sz="1200" dirty="0"/>
          </a:p>
        </p:txBody>
      </p:sp>
      <p:sp>
        <p:nvSpPr>
          <p:cNvPr id="31" name="Shape 29"/>
          <p:cNvSpPr/>
          <p:nvPr/>
        </p:nvSpPr>
        <p:spPr>
          <a:xfrm>
            <a:off x="8503920" y="4663440"/>
            <a:ext cx="365760" cy="365760"/>
          </a:xfrm>
          <a:prstGeom prst="ellipse">
            <a:avLst/>
          </a:prstGeom>
          <a:solidFill>
            <a:srgbClr val="C1121F"/>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芝加哥学派对自由市场的辩护</a:t>
            </a:r>
            <a:endParaRPr lang="en-US" sz="2800" dirty="0"/>
          </a:p>
        </p:txBody>
      </p:sp>
      <p:sp>
        <p:nvSpPr>
          <p:cNvPr id="4" name="Text 2"/>
          <p:cNvSpPr/>
          <p:nvPr/>
        </p:nvSpPr>
        <p:spPr>
          <a:xfrm>
            <a:off x="457200" y="96012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核心论证链条</a:t>
            </a:r>
            <a:endParaRPr lang="en-US" sz="1400" dirty="0"/>
          </a:p>
        </p:txBody>
      </p:sp>
      <p:sp>
        <p:nvSpPr>
          <p:cNvPr id="5" name="Shape 3"/>
          <p:cNvSpPr/>
          <p:nvPr/>
        </p:nvSpPr>
        <p:spPr>
          <a:xfrm>
            <a:off x="640080" y="1325880"/>
            <a:ext cx="2560320" cy="731520"/>
          </a:xfrm>
          <a:prstGeom prst="rect">
            <a:avLst/>
          </a:prstGeom>
          <a:solidFill>
            <a:srgbClr val="003049"/>
          </a:solidFill>
          <a:ln/>
        </p:spPr>
      </p:sp>
      <p:sp>
        <p:nvSpPr>
          <p:cNvPr id="6" name="Text 4"/>
          <p:cNvSpPr/>
          <p:nvPr/>
        </p:nvSpPr>
        <p:spPr>
          <a:xfrm>
            <a:off x="640080" y="1371600"/>
            <a:ext cx="2560320" cy="6400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价格机制</a:t>
            </a:r>
            <a:endParaRPr lang="en-US" sz="1200" dirty="0"/>
          </a:p>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高效配置</a:t>
            </a:r>
            <a:endParaRPr lang="en-US" sz="1200" dirty="0"/>
          </a:p>
        </p:txBody>
      </p:sp>
      <p:sp>
        <p:nvSpPr>
          <p:cNvPr id="7" name="Text 5"/>
          <p:cNvSpPr/>
          <p:nvPr/>
        </p:nvSpPr>
        <p:spPr>
          <a:xfrm>
            <a:off x="3063240" y="1417320"/>
            <a:ext cx="548640" cy="548640"/>
          </a:xfrm>
          <a:prstGeom prst="rect">
            <a:avLst/>
          </a:prstGeom>
          <a:noFill/>
          <a:ln/>
        </p:spPr>
        <p:txBody>
          <a:bodyPr wrap="square" rtlCol="0" anchor="ctr"/>
          <a:lstStyle/>
          <a:p>
            <a:pPr algn="ctr" indent="0" marL="0">
              <a:buNone/>
            </a:pPr>
            <a:r>
              <a:rPr lang="en-US" sz="2400" b="1" dirty="0">
                <a:solidFill>
                  <a:srgbClr val="C1121F"/>
                </a:solidFill>
                <a:latin typeface="Arial" pitchFamily="34" charset="0"/>
                <a:ea typeface="Arial" pitchFamily="34" charset="-122"/>
                <a:cs typeface="Arial" pitchFamily="34" charset="-120"/>
              </a:rPr>
              <a:t>→</a:t>
            </a:r>
            <a:endParaRPr lang="en-US" sz="2400" dirty="0"/>
          </a:p>
        </p:txBody>
      </p:sp>
      <p:sp>
        <p:nvSpPr>
          <p:cNvPr id="8" name="Shape 6"/>
          <p:cNvSpPr/>
          <p:nvPr/>
        </p:nvSpPr>
        <p:spPr>
          <a:xfrm>
            <a:off x="3474720" y="1325880"/>
            <a:ext cx="2560320" cy="731520"/>
          </a:xfrm>
          <a:prstGeom prst="rect">
            <a:avLst/>
          </a:prstGeom>
          <a:solidFill>
            <a:srgbClr val="669BBC"/>
          </a:solidFill>
          <a:ln/>
        </p:spPr>
      </p:sp>
      <p:sp>
        <p:nvSpPr>
          <p:cNvPr id="9" name="Text 7"/>
          <p:cNvSpPr/>
          <p:nvPr/>
        </p:nvSpPr>
        <p:spPr>
          <a:xfrm>
            <a:off x="3474720" y="1371600"/>
            <a:ext cx="2560320" cy="6400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自由竞争</a:t>
            </a:r>
            <a:endParaRPr lang="en-US" sz="1200" dirty="0"/>
          </a:p>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激励创新</a:t>
            </a:r>
            <a:endParaRPr lang="en-US" sz="1200" dirty="0"/>
          </a:p>
        </p:txBody>
      </p:sp>
      <p:sp>
        <p:nvSpPr>
          <p:cNvPr id="10" name="Text 8"/>
          <p:cNvSpPr/>
          <p:nvPr/>
        </p:nvSpPr>
        <p:spPr>
          <a:xfrm>
            <a:off x="5897880" y="1417320"/>
            <a:ext cx="548640" cy="548640"/>
          </a:xfrm>
          <a:prstGeom prst="rect">
            <a:avLst/>
          </a:prstGeom>
          <a:noFill/>
          <a:ln/>
        </p:spPr>
        <p:txBody>
          <a:bodyPr wrap="square" rtlCol="0" anchor="ctr"/>
          <a:lstStyle/>
          <a:p>
            <a:pPr algn="ctr" indent="0" marL="0">
              <a:buNone/>
            </a:pPr>
            <a:r>
              <a:rPr lang="en-US" sz="2400" b="1" dirty="0">
                <a:solidFill>
                  <a:srgbClr val="C1121F"/>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6309360" y="1325880"/>
            <a:ext cx="2560320" cy="731520"/>
          </a:xfrm>
          <a:prstGeom prst="rect">
            <a:avLst/>
          </a:prstGeom>
          <a:solidFill>
            <a:srgbClr val="C1121F"/>
          </a:solidFill>
          <a:ln/>
        </p:spPr>
      </p:sp>
      <p:sp>
        <p:nvSpPr>
          <p:cNvPr id="12" name="Text 10"/>
          <p:cNvSpPr/>
          <p:nvPr/>
        </p:nvSpPr>
        <p:spPr>
          <a:xfrm>
            <a:off x="6309360" y="1371600"/>
            <a:ext cx="2560320" cy="6400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自愿交易</a:t>
            </a:r>
            <a:endParaRPr lang="en-US" sz="1200" dirty="0"/>
          </a:p>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互利共赢</a:t>
            </a:r>
            <a:endParaRPr lang="en-US" sz="1200" dirty="0"/>
          </a:p>
        </p:txBody>
      </p:sp>
      <p:sp>
        <p:nvSpPr>
          <p:cNvPr id="13" name="Text 11"/>
          <p:cNvSpPr/>
          <p:nvPr/>
        </p:nvSpPr>
        <p:spPr>
          <a:xfrm>
            <a:off x="457200" y="2240280"/>
            <a:ext cx="822960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自由市场的三大支柱</a:t>
            </a:r>
            <a:endParaRPr lang="en-US" sz="1400" dirty="0"/>
          </a:p>
        </p:txBody>
      </p:sp>
      <p:sp>
        <p:nvSpPr>
          <p:cNvPr id="14" name="Shape 12"/>
          <p:cNvSpPr/>
          <p:nvPr/>
        </p:nvSpPr>
        <p:spPr>
          <a:xfrm>
            <a:off x="457200" y="2606040"/>
            <a:ext cx="2697480" cy="1417320"/>
          </a:xfrm>
          <a:prstGeom prst="rect">
            <a:avLst/>
          </a:prstGeom>
          <a:solidFill>
            <a:srgbClr val="FFFFFF"/>
          </a:solidFill>
          <a:ln w="12700">
            <a:solidFill>
              <a:srgbClr val="669BBC"/>
            </a:solidFill>
            <a:prstDash val="solid"/>
          </a:ln>
        </p:spPr>
      </p:sp>
      <p:sp>
        <p:nvSpPr>
          <p:cNvPr id="15" name="Shape 13"/>
          <p:cNvSpPr/>
          <p:nvPr/>
        </p:nvSpPr>
        <p:spPr>
          <a:xfrm>
            <a:off x="457200" y="2606040"/>
            <a:ext cx="2697480" cy="365760"/>
          </a:xfrm>
          <a:prstGeom prst="rect">
            <a:avLst/>
          </a:prstGeom>
          <a:solidFill>
            <a:srgbClr val="C1121F"/>
          </a:solidFill>
          <a:ln/>
        </p:spPr>
      </p:sp>
      <p:sp>
        <p:nvSpPr>
          <p:cNvPr id="16" name="Text 14"/>
          <p:cNvSpPr/>
          <p:nvPr/>
        </p:nvSpPr>
        <p:spPr>
          <a:xfrm>
            <a:off x="457200" y="263347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信息功能</a:t>
            </a:r>
            <a:endParaRPr lang="en-US" sz="1200" dirty="0"/>
          </a:p>
        </p:txBody>
      </p:sp>
      <p:sp>
        <p:nvSpPr>
          <p:cNvPr id="17" name="Text 15"/>
          <p:cNvSpPr/>
          <p:nvPr/>
        </p:nvSpPr>
        <p:spPr>
          <a:xfrm>
            <a:off x="548640" y="3017520"/>
            <a:ext cx="2514600" cy="914400"/>
          </a:xfrm>
          <a:prstGeom prst="rect">
            <a:avLst/>
          </a:prstGeom>
          <a:noFill/>
          <a:ln/>
        </p:spPr>
        <p:txBody>
          <a:bodyPr wrap="square" rtlCol="0" anchor="ctr"/>
          <a:lstStyle/>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价格传递信息</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无需中央计划</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信息分散化</a:t>
            </a:r>
            <a:endParaRPr lang="en-US" sz="1000" dirty="0"/>
          </a:p>
        </p:txBody>
      </p:sp>
      <p:sp>
        <p:nvSpPr>
          <p:cNvPr id="18" name="Shape 16"/>
          <p:cNvSpPr/>
          <p:nvPr/>
        </p:nvSpPr>
        <p:spPr>
          <a:xfrm>
            <a:off x="3291840" y="2606040"/>
            <a:ext cx="2697480" cy="1417320"/>
          </a:xfrm>
          <a:prstGeom prst="rect">
            <a:avLst/>
          </a:prstGeom>
          <a:solidFill>
            <a:srgbClr val="FFFFFF"/>
          </a:solidFill>
          <a:ln w="12700">
            <a:solidFill>
              <a:srgbClr val="669BBC"/>
            </a:solidFill>
            <a:prstDash val="solid"/>
          </a:ln>
        </p:spPr>
      </p:sp>
      <p:sp>
        <p:nvSpPr>
          <p:cNvPr id="19" name="Shape 17"/>
          <p:cNvSpPr/>
          <p:nvPr/>
        </p:nvSpPr>
        <p:spPr>
          <a:xfrm>
            <a:off x="3291840" y="2606040"/>
            <a:ext cx="2697480" cy="365760"/>
          </a:xfrm>
          <a:prstGeom prst="rect">
            <a:avLst/>
          </a:prstGeom>
          <a:solidFill>
            <a:srgbClr val="C1121F"/>
          </a:solidFill>
          <a:ln/>
        </p:spPr>
      </p:sp>
      <p:sp>
        <p:nvSpPr>
          <p:cNvPr id="20" name="Text 18"/>
          <p:cNvSpPr/>
          <p:nvPr/>
        </p:nvSpPr>
        <p:spPr>
          <a:xfrm>
            <a:off x="3291840" y="263347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激励功能</a:t>
            </a:r>
            <a:endParaRPr lang="en-US" sz="1200" dirty="0"/>
          </a:p>
        </p:txBody>
      </p:sp>
      <p:sp>
        <p:nvSpPr>
          <p:cNvPr id="21" name="Text 19"/>
          <p:cNvSpPr/>
          <p:nvPr/>
        </p:nvSpPr>
        <p:spPr>
          <a:xfrm>
            <a:off x="3383280" y="3017520"/>
            <a:ext cx="2514600" cy="914400"/>
          </a:xfrm>
          <a:prstGeom prst="rect">
            <a:avLst/>
          </a:prstGeom>
          <a:noFill/>
          <a:ln/>
        </p:spPr>
        <p:txBody>
          <a:bodyPr wrap="square" rtlCol="0" anchor="ctr"/>
          <a:lstStyle/>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利润驱动效率</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亏损惩罚浪费</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竞争淘汰低效</a:t>
            </a:r>
            <a:endParaRPr lang="en-US" sz="1000" dirty="0"/>
          </a:p>
        </p:txBody>
      </p:sp>
      <p:sp>
        <p:nvSpPr>
          <p:cNvPr id="22" name="Shape 20"/>
          <p:cNvSpPr/>
          <p:nvPr/>
        </p:nvSpPr>
        <p:spPr>
          <a:xfrm>
            <a:off x="6126480" y="2606040"/>
            <a:ext cx="2697480" cy="1417320"/>
          </a:xfrm>
          <a:prstGeom prst="rect">
            <a:avLst/>
          </a:prstGeom>
          <a:solidFill>
            <a:srgbClr val="FFFFFF"/>
          </a:solidFill>
          <a:ln w="12700">
            <a:solidFill>
              <a:srgbClr val="669BBC"/>
            </a:solidFill>
            <a:prstDash val="solid"/>
          </a:ln>
        </p:spPr>
      </p:sp>
      <p:sp>
        <p:nvSpPr>
          <p:cNvPr id="23" name="Shape 21"/>
          <p:cNvSpPr/>
          <p:nvPr/>
        </p:nvSpPr>
        <p:spPr>
          <a:xfrm>
            <a:off x="6126480" y="2606040"/>
            <a:ext cx="2697480" cy="365760"/>
          </a:xfrm>
          <a:prstGeom prst="rect">
            <a:avLst/>
          </a:prstGeom>
          <a:solidFill>
            <a:srgbClr val="C1121F"/>
          </a:solidFill>
          <a:ln/>
        </p:spPr>
      </p:sp>
      <p:sp>
        <p:nvSpPr>
          <p:cNvPr id="24" name="Text 22"/>
          <p:cNvSpPr/>
          <p:nvPr/>
        </p:nvSpPr>
        <p:spPr>
          <a:xfrm>
            <a:off x="6126480" y="2633472"/>
            <a:ext cx="2697480" cy="3200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配置功能</a:t>
            </a:r>
            <a:endParaRPr lang="en-US" sz="1200" dirty="0"/>
          </a:p>
        </p:txBody>
      </p:sp>
      <p:sp>
        <p:nvSpPr>
          <p:cNvPr id="25" name="Text 23"/>
          <p:cNvSpPr/>
          <p:nvPr/>
        </p:nvSpPr>
        <p:spPr>
          <a:xfrm>
            <a:off x="6217920" y="3017520"/>
            <a:ext cx="2514600" cy="914400"/>
          </a:xfrm>
          <a:prstGeom prst="rect">
            <a:avLst/>
          </a:prstGeom>
          <a:noFill/>
          <a:ln/>
        </p:spPr>
        <p:txBody>
          <a:bodyPr wrap="square" rtlCol="0" anchor="ctr"/>
          <a:lstStyle/>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资源流向高价值用途</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自动纠错机制</a:t>
            </a:r>
            <a:endParaRPr lang="en-US" sz="1000" dirty="0"/>
          </a:p>
          <a:p>
            <a:pPr marL="342900" indent="-342900">
              <a:buSzPct val="100000"/>
              <a:buChar char="•"/>
            </a:pPr>
            <a:r>
              <a:rPr lang="en-US" sz="1000" dirty="0">
                <a:solidFill>
                  <a:srgbClr val="003049"/>
                </a:solidFill>
                <a:latin typeface="Microsoft YaHei" pitchFamily="34" charset="0"/>
                <a:ea typeface="Microsoft YaHei" pitchFamily="34" charset="-122"/>
                <a:cs typeface="Microsoft YaHei" pitchFamily="34" charset="-120"/>
              </a:rPr>
              <a:t>无需政府干预</a:t>
            </a:r>
            <a:endParaRPr lang="en-US" sz="1000" dirty="0"/>
          </a:p>
        </p:txBody>
      </p:sp>
      <p:sp>
        <p:nvSpPr>
          <p:cNvPr id="26" name="Shape 24"/>
          <p:cNvSpPr/>
          <p:nvPr/>
        </p:nvSpPr>
        <p:spPr>
          <a:xfrm>
            <a:off x="457200" y="4160520"/>
            <a:ext cx="8229600" cy="822960"/>
          </a:xfrm>
          <a:prstGeom prst="rect">
            <a:avLst/>
          </a:prstGeom>
          <a:solidFill>
            <a:srgbClr val="003049"/>
          </a:solidFill>
          <a:ln/>
        </p:spPr>
      </p:sp>
      <p:sp>
        <p:nvSpPr>
          <p:cNvPr id="27" name="Text 25"/>
          <p:cNvSpPr/>
          <p:nvPr/>
        </p:nvSpPr>
        <p:spPr>
          <a:xfrm>
            <a:off x="548640" y="4206240"/>
            <a:ext cx="8046720" cy="274320"/>
          </a:xfrm>
          <a:prstGeom prst="rect">
            <a:avLst/>
          </a:prstGeom>
          <a:noFill/>
          <a:ln/>
        </p:spPr>
        <p:txBody>
          <a:bodyPr wrap="square" rtlCol="0" anchor="ctr"/>
          <a:lstStyle/>
          <a:p>
            <a:pPr indent="0" marL="0">
              <a:buNone/>
            </a:pPr>
            <a:r>
              <a:rPr lang="en-US" sz="1200" b="1" dirty="0">
                <a:solidFill>
                  <a:srgbClr val="669BBC"/>
                </a:solidFill>
                <a:latin typeface="Microsoft YaHei" pitchFamily="34" charset="0"/>
                <a:ea typeface="Microsoft YaHei" pitchFamily="34" charset="-122"/>
                <a:cs typeface="Microsoft YaHei" pitchFamily="34" charset="-120"/>
              </a:rPr>
              <a:t>与斯密的关联</a:t>
            </a:r>
            <a:endParaRPr lang="en-US" sz="1200" dirty="0"/>
          </a:p>
        </p:txBody>
      </p:sp>
      <p:sp>
        <p:nvSpPr>
          <p:cNvPr id="28" name="Text 26"/>
          <p:cNvSpPr/>
          <p:nvPr/>
        </p:nvSpPr>
        <p:spPr>
          <a:xfrm>
            <a:off x="548640" y="4480560"/>
            <a:ext cx="8046720" cy="4572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芝加哥学派用现代价格理论重新证明了斯密的核心论断：自由市场是迄今为止最有效的资源配置方式</a:t>
            </a:r>
            <a:endParaRPr lang="en-US" sz="1100" dirty="0"/>
          </a:p>
        </p:txBody>
      </p:sp>
      <p:sp>
        <p:nvSpPr>
          <p:cNvPr id="29" name="Shape 27"/>
          <p:cNvSpPr/>
          <p:nvPr/>
        </p:nvSpPr>
        <p:spPr>
          <a:xfrm>
            <a:off x="8503920" y="4663440"/>
            <a:ext cx="365760" cy="365760"/>
          </a:xfrm>
          <a:prstGeom prst="ellipse">
            <a:avLst/>
          </a:prstGeom>
          <a:solidFill>
            <a:srgbClr val="C1121F"/>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780000"/>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第二模块小结</a:t>
            </a:r>
            <a:endParaRPr lang="en-US" sz="32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69BBC"/>
                </a:solidFill>
                <a:latin typeface="Microsoft YaHei" pitchFamily="34" charset="0"/>
                <a:ea typeface="Microsoft YaHei" pitchFamily="34" charset="-122"/>
                <a:cs typeface="Microsoft YaHei" pitchFamily="34" charset="-120"/>
              </a:rPr>
              <a:t>芝加哥学派：斯密思想的现代守护者</a:t>
            </a:r>
            <a:endParaRPr lang="en-US" sz="1400" dirty="0"/>
          </a:p>
        </p:txBody>
      </p:sp>
      <p:sp>
        <p:nvSpPr>
          <p:cNvPr id="5" name="Shape 3"/>
          <p:cNvSpPr/>
          <p:nvPr/>
        </p:nvSpPr>
        <p:spPr>
          <a:xfrm>
            <a:off x="457200" y="1188720"/>
            <a:ext cx="4023360" cy="1188720"/>
          </a:xfrm>
          <a:prstGeom prst="rect">
            <a:avLst/>
          </a:prstGeom>
          <a:solidFill>
            <a:srgbClr val="FFFFFF"/>
          </a:solidFill>
          <a:ln w="12700">
            <a:solidFill>
              <a:srgbClr val="669BBC"/>
            </a:solidFill>
            <a:prstDash val="solid"/>
          </a:ln>
        </p:spPr>
      </p:sp>
      <p:sp>
        <p:nvSpPr>
          <p:cNvPr id="6" name="Shape 4"/>
          <p:cNvSpPr/>
          <p:nvPr/>
        </p:nvSpPr>
        <p:spPr>
          <a:xfrm>
            <a:off x="457200" y="1188720"/>
            <a:ext cx="1188720" cy="411480"/>
          </a:xfrm>
          <a:prstGeom prst="rect">
            <a:avLst/>
          </a:prstGeom>
          <a:solidFill>
            <a:srgbClr val="C1121F"/>
          </a:solidFill>
          <a:ln/>
        </p:spPr>
      </p:sp>
      <p:sp>
        <p:nvSpPr>
          <p:cNvPr id="7" name="Text 5"/>
          <p:cNvSpPr/>
          <p:nvPr/>
        </p:nvSpPr>
        <p:spPr>
          <a:xfrm>
            <a:off x="457200" y="1188720"/>
            <a:ext cx="11887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弗里德曼</a:t>
            </a:r>
            <a:endParaRPr lang="en-US" sz="1300" dirty="0"/>
          </a:p>
        </p:txBody>
      </p:sp>
      <p:sp>
        <p:nvSpPr>
          <p:cNvPr id="8" name="Text 6"/>
          <p:cNvSpPr/>
          <p:nvPr/>
        </p:nvSpPr>
        <p:spPr>
          <a:xfrm>
            <a:off x="1737360" y="1234440"/>
            <a:ext cx="265176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货币理论</a:t>
            </a:r>
            <a:endParaRPr lang="en-US" sz="1200" dirty="0"/>
          </a:p>
        </p:txBody>
      </p:sp>
      <p:sp>
        <p:nvSpPr>
          <p:cNvPr id="9" name="Text 7"/>
          <p:cNvSpPr/>
          <p:nvPr/>
        </p:nvSpPr>
        <p:spPr>
          <a:xfrm>
            <a:off x="548640" y="1645920"/>
            <a:ext cx="3840480" cy="6858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通胀是货币现象，自由市场需要稳定的货币环境</a:t>
            </a:r>
            <a:endParaRPr lang="en-US" sz="1000" dirty="0"/>
          </a:p>
        </p:txBody>
      </p:sp>
      <p:sp>
        <p:nvSpPr>
          <p:cNvPr id="10" name="Shape 8"/>
          <p:cNvSpPr/>
          <p:nvPr/>
        </p:nvSpPr>
        <p:spPr>
          <a:xfrm>
            <a:off x="4663440" y="1188720"/>
            <a:ext cx="4023360" cy="1188720"/>
          </a:xfrm>
          <a:prstGeom prst="rect">
            <a:avLst/>
          </a:prstGeom>
          <a:solidFill>
            <a:srgbClr val="FFFFFF"/>
          </a:solidFill>
          <a:ln w="12700">
            <a:solidFill>
              <a:srgbClr val="669BBC"/>
            </a:solidFill>
            <a:prstDash val="solid"/>
          </a:ln>
        </p:spPr>
      </p:sp>
      <p:sp>
        <p:nvSpPr>
          <p:cNvPr id="11" name="Shape 9"/>
          <p:cNvSpPr/>
          <p:nvPr/>
        </p:nvSpPr>
        <p:spPr>
          <a:xfrm>
            <a:off x="4663440" y="1188720"/>
            <a:ext cx="1188720" cy="411480"/>
          </a:xfrm>
          <a:prstGeom prst="rect">
            <a:avLst/>
          </a:prstGeom>
          <a:solidFill>
            <a:srgbClr val="C1121F"/>
          </a:solidFill>
          <a:ln/>
        </p:spPr>
      </p:sp>
      <p:sp>
        <p:nvSpPr>
          <p:cNvPr id="12" name="Text 10"/>
          <p:cNvSpPr/>
          <p:nvPr/>
        </p:nvSpPr>
        <p:spPr>
          <a:xfrm>
            <a:off x="4663440" y="1188720"/>
            <a:ext cx="11887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科斯</a:t>
            </a:r>
            <a:endParaRPr lang="en-US" sz="1300" dirty="0"/>
          </a:p>
        </p:txBody>
      </p:sp>
      <p:sp>
        <p:nvSpPr>
          <p:cNvPr id="13" name="Text 11"/>
          <p:cNvSpPr/>
          <p:nvPr/>
        </p:nvSpPr>
        <p:spPr>
          <a:xfrm>
            <a:off x="5943600" y="1234440"/>
            <a:ext cx="265176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产权理论</a:t>
            </a:r>
            <a:endParaRPr lang="en-US" sz="1200" dirty="0"/>
          </a:p>
        </p:txBody>
      </p:sp>
      <p:sp>
        <p:nvSpPr>
          <p:cNvPr id="14" name="Text 12"/>
          <p:cNvSpPr/>
          <p:nvPr/>
        </p:nvSpPr>
        <p:spPr>
          <a:xfrm>
            <a:off x="4754880" y="1645920"/>
            <a:ext cx="3840480" cy="6858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交易成本决定企业边界，产权界定是市场的基础</a:t>
            </a:r>
            <a:endParaRPr lang="en-US" sz="1000" dirty="0"/>
          </a:p>
        </p:txBody>
      </p:sp>
      <p:sp>
        <p:nvSpPr>
          <p:cNvPr id="15" name="Shape 13"/>
          <p:cNvSpPr/>
          <p:nvPr/>
        </p:nvSpPr>
        <p:spPr>
          <a:xfrm>
            <a:off x="457200" y="2514600"/>
            <a:ext cx="4023360" cy="1188720"/>
          </a:xfrm>
          <a:prstGeom prst="rect">
            <a:avLst/>
          </a:prstGeom>
          <a:solidFill>
            <a:srgbClr val="FFFFFF"/>
          </a:solidFill>
          <a:ln w="12700">
            <a:solidFill>
              <a:srgbClr val="669BBC"/>
            </a:solidFill>
            <a:prstDash val="solid"/>
          </a:ln>
        </p:spPr>
      </p:sp>
      <p:sp>
        <p:nvSpPr>
          <p:cNvPr id="16" name="Shape 14"/>
          <p:cNvSpPr/>
          <p:nvPr/>
        </p:nvSpPr>
        <p:spPr>
          <a:xfrm>
            <a:off x="457200" y="2514600"/>
            <a:ext cx="1188720" cy="411480"/>
          </a:xfrm>
          <a:prstGeom prst="rect">
            <a:avLst/>
          </a:prstGeom>
          <a:solidFill>
            <a:srgbClr val="C1121F"/>
          </a:solidFill>
          <a:ln/>
        </p:spPr>
      </p:sp>
      <p:sp>
        <p:nvSpPr>
          <p:cNvPr id="17" name="Text 15"/>
          <p:cNvSpPr/>
          <p:nvPr/>
        </p:nvSpPr>
        <p:spPr>
          <a:xfrm>
            <a:off x="457200" y="2514600"/>
            <a:ext cx="11887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贝克尔</a:t>
            </a:r>
            <a:endParaRPr lang="en-US" sz="1300" dirty="0"/>
          </a:p>
        </p:txBody>
      </p:sp>
      <p:sp>
        <p:nvSpPr>
          <p:cNvPr id="18" name="Text 16"/>
          <p:cNvSpPr/>
          <p:nvPr/>
        </p:nvSpPr>
        <p:spPr>
          <a:xfrm>
            <a:off x="1737360" y="2560320"/>
            <a:ext cx="265176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人力资本</a:t>
            </a:r>
            <a:endParaRPr lang="en-US" sz="1200" dirty="0"/>
          </a:p>
        </p:txBody>
      </p:sp>
      <p:sp>
        <p:nvSpPr>
          <p:cNvPr id="19" name="Text 17"/>
          <p:cNvSpPr/>
          <p:nvPr/>
        </p:nvSpPr>
        <p:spPr>
          <a:xfrm>
            <a:off x="548640" y="2971800"/>
            <a:ext cx="3840480" cy="6858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人是一种资本，投资于人是最有价值的投资</a:t>
            </a:r>
            <a:endParaRPr lang="en-US" sz="1000" dirty="0"/>
          </a:p>
        </p:txBody>
      </p:sp>
      <p:sp>
        <p:nvSpPr>
          <p:cNvPr id="20" name="Shape 18"/>
          <p:cNvSpPr/>
          <p:nvPr/>
        </p:nvSpPr>
        <p:spPr>
          <a:xfrm>
            <a:off x="4663440" y="2514600"/>
            <a:ext cx="4023360" cy="1188720"/>
          </a:xfrm>
          <a:prstGeom prst="rect">
            <a:avLst/>
          </a:prstGeom>
          <a:solidFill>
            <a:srgbClr val="FFFFFF"/>
          </a:solidFill>
          <a:ln w="12700">
            <a:solidFill>
              <a:srgbClr val="669BBC"/>
            </a:solidFill>
            <a:prstDash val="solid"/>
          </a:ln>
        </p:spPr>
      </p:sp>
      <p:sp>
        <p:nvSpPr>
          <p:cNvPr id="21" name="Shape 19"/>
          <p:cNvSpPr/>
          <p:nvPr/>
        </p:nvSpPr>
        <p:spPr>
          <a:xfrm>
            <a:off x="4663440" y="2514600"/>
            <a:ext cx="1188720" cy="411480"/>
          </a:xfrm>
          <a:prstGeom prst="rect">
            <a:avLst/>
          </a:prstGeom>
          <a:solidFill>
            <a:srgbClr val="C1121F"/>
          </a:solidFill>
          <a:ln/>
        </p:spPr>
      </p:sp>
      <p:sp>
        <p:nvSpPr>
          <p:cNvPr id="22" name="Text 20"/>
          <p:cNvSpPr/>
          <p:nvPr/>
        </p:nvSpPr>
        <p:spPr>
          <a:xfrm>
            <a:off x="4663440" y="2514600"/>
            <a:ext cx="11887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布坎南</a:t>
            </a:r>
            <a:endParaRPr lang="en-US" sz="1300" dirty="0"/>
          </a:p>
        </p:txBody>
      </p:sp>
      <p:sp>
        <p:nvSpPr>
          <p:cNvPr id="23" name="Text 21"/>
          <p:cNvSpPr/>
          <p:nvPr/>
        </p:nvSpPr>
        <p:spPr>
          <a:xfrm>
            <a:off x="5943600" y="2560320"/>
            <a:ext cx="265176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公共选择</a:t>
            </a:r>
            <a:endParaRPr lang="en-US" sz="1200" dirty="0"/>
          </a:p>
        </p:txBody>
      </p:sp>
      <p:sp>
        <p:nvSpPr>
          <p:cNvPr id="24" name="Text 22"/>
          <p:cNvSpPr/>
          <p:nvPr/>
        </p:nvSpPr>
        <p:spPr>
          <a:xfrm>
            <a:off x="4754880" y="2971800"/>
            <a:ext cx="3840480" cy="6858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政府也是经济人，需要宪法约束权力</a:t>
            </a:r>
            <a:endParaRPr lang="en-US" sz="1000" dirty="0"/>
          </a:p>
        </p:txBody>
      </p:sp>
      <p:sp>
        <p:nvSpPr>
          <p:cNvPr id="25" name="Shape 23"/>
          <p:cNvSpPr/>
          <p:nvPr/>
        </p:nvSpPr>
        <p:spPr>
          <a:xfrm>
            <a:off x="457200" y="3931920"/>
            <a:ext cx="8229600" cy="640080"/>
          </a:xfrm>
          <a:prstGeom prst="rect">
            <a:avLst/>
          </a:prstGeom>
          <a:solidFill>
            <a:srgbClr val="C1121F"/>
          </a:solidFill>
          <a:ln/>
        </p:spPr>
      </p:sp>
      <p:sp>
        <p:nvSpPr>
          <p:cNvPr id="26" name="Text 24"/>
          <p:cNvSpPr/>
          <p:nvPr/>
        </p:nvSpPr>
        <p:spPr>
          <a:xfrm>
            <a:off x="548640" y="4023360"/>
            <a:ext cx="804672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核心命题：芝加哥学派用现代经济学工具重新证明了斯密的核心洞见——自由市场是资源配置的最佳方式</a:t>
            </a:r>
            <a:endParaRPr lang="en-US" sz="1200" dirty="0"/>
          </a:p>
        </p:txBody>
      </p:sp>
      <p:sp>
        <p:nvSpPr>
          <p:cNvPr id="27" name="Shape 25"/>
          <p:cNvSpPr/>
          <p:nvPr/>
        </p:nvSpPr>
        <p:spPr>
          <a:xfrm>
            <a:off x="457200" y="4663440"/>
            <a:ext cx="8229600" cy="411480"/>
          </a:xfrm>
          <a:prstGeom prst="rect">
            <a:avLst/>
          </a:prstGeom>
          <a:solidFill>
            <a:srgbClr val="003049"/>
          </a:solidFill>
          <a:ln/>
        </p:spPr>
      </p:sp>
      <p:sp>
        <p:nvSpPr>
          <p:cNvPr id="28" name="Text 26"/>
          <p:cNvSpPr/>
          <p:nvPr/>
        </p:nvSpPr>
        <p:spPr>
          <a:xfrm>
            <a:off x="548640" y="4709160"/>
            <a:ext cx="8046720" cy="32004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下期预告：第三模块 — 奥地利学派的复兴</a:t>
            </a:r>
            <a:endParaRPr lang="en-US" sz="1200" dirty="0"/>
          </a:p>
        </p:txBody>
      </p:sp>
      <p:sp>
        <p:nvSpPr>
          <p:cNvPr id="29" name="Shape 27"/>
          <p:cNvSpPr/>
          <p:nvPr/>
        </p:nvSpPr>
        <p:spPr>
          <a:xfrm>
            <a:off x="8503920" y="4663440"/>
            <a:ext cx="365760" cy="365760"/>
          </a:xfrm>
          <a:prstGeom prst="ellipse">
            <a:avLst/>
          </a:prstGeom>
          <a:solidFill>
            <a:srgbClr val="C1121F"/>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365760" y="320040"/>
            <a:ext cx="822960" cy="457200"/>
          </a:xfrm>
          <a:prstGeom prst="roundRect">
            <a:avLst>
              <a:gd name="adj" fmla="val 20000"/>
            </a:avLst>
          </a:prstGeom>
          <a:solidFill>
            <a:srgbClr val="780000"/>
          </a:solidFill>
          <a:ln/>
        </p:spPr>
      </p:sp>
      <p:sp>
        <p:nvSpPr>
          <p:cNvPr id="3" name="Text 1"/>
          <p:cNvSpPr/>
          <p:nvPr/>
        </p:nvSpPr>
        <p:spPr>
          <a:xfrm>
            <a:off x="365760" y="320040"/>
            <a:ext cx="822960" cy="457200"/>
          </a:xfrm>
          <a:prstGeom prst="rect">
            <a:avLst/>
          </a:prstGeom>
          <a:noFill/>
          <a:ln/>
        </p:spPr>
        <p:txBody>
          <a:bodyPr wrap="square"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03</a:t>
            </a:r>
            <a:endParaRPr lang="en-US" sz="2000" dirty="0"/>
          </a:p>
        </p:txBody>
      </p:sp>
      <p:sp>
        <p:nvSpPr>
          <p:cNvPr id="4" name="Text 2"/>
          <p:cNvSpPr/>
          <p:nvPr/>
        </p:nvSpPr>
        <p:spPr>
          <a:xfrm>
            <a:off x="457200" y="1645920"/>
            <a:ext cx="8229600" cy="1097280"/>
          </a:xfrm>
          <a:prstGeom prst="rect">
            <a:avLst/>
          </a:prstGeom>
          <a:noFill/>
          <a:ln/>
        </p:spPr>
        <p:txBody>
          <a:bodyPr wrap="square" rtlCol="0" anchor="ctr"/>
          <a:lstStyle/>
          <a:p>
            <a:pPr algn="ctr" indent="0" marL="0">
              <a:buNone/>
            </a:pPr>
            <a:r>
              <a:rPr lang="en-US" sz="5400" b="1" dirty="0">
                <a:solidFill>
                  <a:srgbClr val="780000"/>
                </a:solidFill>
                <a:latin typeface="Microsoft YaHei" pitchFamily="34" charset="0"/>
                <a:ea typeface="Microsoft YaHei" pitchFamily="34" charset="-122"/>
                <a:cs typeface="Microsoft YaHei" pitchFamily="34" charset="-120"/>
              </a:rPr>
              <a:t>斯密遗产在当代</a:t>
            </a:r>
            <a:endParaRPr lang="en-US" sz="5400" dirty="0"/>
          </a:p>
        </p:txBody>
      </p:sp>
      <p:sp>
        <p:nvSpPr>
          <p:cNvPr id="5" name="Text 3"/>
          <p:cNvSpPr/>
          <p:nvPr/>
        </p:nvSpPr>
        <p:spPr>
          <a:xfrm>
            <a:off x="457200" y="2834640"/>
            <a:ext cx="8229600" cy="548640"/>
          </a:xfrm>
          <a:prstGeom prst="rect">
            <a:avLst/>
          </a:prstGeom>
          <a:noFill/>
          <a:ln/>
        </p:spPr>
        <p:txBody>
          <a:bodyPr wrap="square" rtlCol="0" anchor="ctr"/>
          <a:lstStyle/>
          <a:p>
            <a:pPr algn="ctr" indent="0" marL="0">
              <a:buNone/>
            </a:pPr>
            <a:r>
              <a:rPr lang="en-US" sz="2200" dirty="0">
                <a:solidFill>
                  <a:srgbClr val="003049"/>
                </a:solidFill>
                <a:latin typeface="Microsoft YaHei" pitchFamily="34" charset="0"/>
                <a:ea typeface="Microsoft YaHei" pitchFamily="34" charset="-122"/>
                <a:cs typeface="Microsoft YaHei" pitchFamily="34" charset="-120"/>
              </a:rPr>
              <a:t>制度经济学 · 行为经济学 · 信息经济学</a:t>
            </a:r>
            <a:endParaRPr lang="en-US" sz="2200" dirty="0"/>
          </a:p>
        </p:txBody>
      </p:sp>
      <p:sp>
        <p:nvSpPr>
          <p:cNvPr id="6" name="Shape 4"/>
          <p:cNvSpPr/>
          <p:nvPr/>
        </p:nvSpPr>
        <p:spPr>
          <a:xfrm>
            <a:off x="3200400" y="3520440"/>
            <a:ext cx="2743200" cy="54864"/>
          </a:xfrm>
          <a:prstGeom prst="rect">
            <a:avLst/>
          </a:prstGeom>
          <a:solidFill>
            <a:srgbClr val="C1121F"/>
          </a:solidFill>
          <a:ln/>
        </p:spPr>
      </p:sp>
      <p:sp>
        <p:nvSpPr>
          <p:cNvPr id="7" name="Text 5"/>
          <p:cNvSpPr/>
          <p:nvPr/>
        </p:nvSpPr>
        <p:spPr>
          <a:xfrm>
            <a:off x="457200" y="4206240"/>
            <a:ext cx="8229600" cy="457200"/>
          </a:xfrm>
          <a:prstGeom prst="rect">
            <a:avLst/>
          </a:prstGeom>
          <a:noFill/>
          <a:ln/>
        </p:spPr>
        <p:txBody>
          <a:bodyPr wrap="square" rtlCol="0" anchor="ctr"/>
          <a:lstStyle/>
          <a:p>
            <a:pPr algn="ctr" indent="0" marL="0">
              <a:buNone/>
            </a:pPr>
            <a:r>
              <a:rPr lang="en-US" sz="1600" dirty="0">
                <a:solidFill>
                  <a:srgbClr val="669BBC"/>
                </a:solidFill>
                <a:latin typeface="Microsoft YaHei" pitchFamily="34" charset="0"/>
                <a:ea typeface="Microsoft YaHei" pitchFamily="34" charset="-122"/>
                <a:cs typeface="Microsoft YaHei" pitchFamily="34" charset="-120"/>
              </a:rPr>
              <a:t>模块三</a:t>
            </a:r>
            <a:endParaRPr lang="en-US" sz="1600" dirty="0"/>
          </a:p>
        </p:txBody>
      </p:sp>
      <p:sp>
        <p:nvSpPr>
          <p:cNvPr id="8" name="Shape 6"/>
          <p:cNvSpPr/>
          <p:nvPr/>
        </p:nvSpPr>
        <p:spPr>
          <a:xfrm>
            <a:off x="8503920" y="4663440"/>
            <a:ext cx="365760" cy="365760"/>
          </a:xfrm>
          <a:prstGeom prst="ellipse">
            <a:avLst/>
          </a:prstGeom>
          <a:solidFill>
            <a:srgbClr val="780000"/>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制度经济学的现代复兴</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47</a:t>
            </a:r>
            <a:endParaRPr lang="en-US" sz="1100" dirty="0"/>
          </a:p>
        </p:txBody>
      </p:sp>
      <p:sp>
        <p:nvSpPr>
          <p:cNvPr id="6" name="Text 4"/>
          <p:cNvSpPr/>
          <p:nvPr/>
        </p:nvSpPr>
        <p:spPr>
          <a:xfrm>
            <a:off x="457200" y="1051560"/>
            <a:ext cx="3931920" cy="411480"/>
          </a:xfrm>
          <a:prstGeom prst="rect">
            <a:avLst/>
          </a:prstGeom>
          <a:noFill/>
          <a:ln/>
        </p:spPr>
        <p:txBody>
          <a:bodyPr wrap="square" rtlCol="0" anchor="ctr"/>
          <a:lstStyle/>
          <a:p>
            <a:pPr indent="0" marL="0">
              <a:buNone/>
            </a:pPr>
            <a:r>
              <a:rPr lang="en-US" sz="1800" b="1" dirty="0">
                <a:solidFill>
                  <a:srgbClr val="C1121F"/>
                </a:solidFill>
                <a:latin typeface="Microsoft YaHei" pitchFamily="34" charset="0"/>
                <a:ea typeface="Microsoft YaHei" pitchFamily="34" charset="-122"/>
                <a:cs typeface="Microsoft YaHei" pitchFamily="34" charset="-120"/>
              </a:rPr>
              <a:t>代表人物</a:t>
            </a:r>
            <a:endParaRPr lang="en-US" sz="1800" dirty="0"/>
          </a:p>
        </p:txBody>
      </p:sp>
      <p:sp>
        <p:nvSpPr>
          <p:cNvPr id="7" name="Shape 5"/>
          <p:cNvSpPr/>
          <p:nvPr/>
        </p:nvSpPr>
        <p:spPr>
          <a:xfrm>
            <a:off x="457200" y="1508760"/>
            <a:ext cx="3931920" cy="2194560"/>
          </a:xfrm>
          <a:prstGeom prst="roundRect">
            <a:avLst>
              <a:gd name="adj" fmla="val 4167"/>
            </a:avLst>
          </a:prstGeom>
          <a:solidFill>
            <a:srgbClr val="FFFFFF"/>
          </a:solidFill>
          <a:ln w="12700">
            <a:solidFill>
              <a:srgbClr val="669BBC"/>
            </a:solidFill>
            <a:prstDash val="solid"/>
          </a:ln>
        </p:spPr>
      </p:sp>
      <p:sp>
        <p:nvSpPr>
          <p:cNvPr id="8" name="Text 6"/>
          <p:cNvSpPr/>
          <p:nvPr/>
        </p:nvSpPr>
        <p:spPr>
          <a:xfrm>
            <a:off x="640080" y="1645920"/>
            <a:ext cx="3657600" cy="320040"/>
          </a:xfrm>
          <a:prstGeom prst="rect">
            <a:avLst/>
          </a:prstGeom>
          <a:noFill/>
          <a:ln/>
        </p:spPr>
        <p:txBody>
          <a:bodyPr wrap="square" rtlCol="0" anchor="ctr"/>
          <a:lstStyle/>
          <a:p>
            <a:pPr indent="0" marL="0">
              <a:buNone/>
            </a:pPr>
            <a:r>
              <a:rPr lang="en-US" sz="1500" b="1" dirty="0">
                <a:solidFill>
                  <a:srgbClr val="003049"/>
                </a:solidFill>
                <a:latin typeface="Microsoft YaHei" pitchFamily="34" charset="0"/>
                <a:ea typeface="Microsoft YaHei" pitchFamily="34" charset="-122"/>
                <a:cs typeface="Microsoft YaHei" pitchFamily="34" charset="-120"/>
              </a:rPr>
              <a:t>罗纳德·科斯</a:t>
            </a:r>
            <a:endParaRPr lang="en-US" sz="1500" dirty="0"/>
          </a:p>
        </p:txBody>
      </p:sp>
      <p:sp>
        <p:nvSpPr>
          <p:cNvPr id="9" name="Text 7"/>
          <p:cNvSpPr/>
          <p:nvPr/>
        </p:nvSpPr>
        <p:spPr>
          <a:xfrm>
            <a:off x="640080" y="1920240"/>
            <a:ext cx="3657600" cy="274320"/>
          </a:xfrm>
          <a:prstGeom prst="rect">
            <a:avLst/>
          </a:prstGeom>
          <a:noFill/>
          <a:ln/>
        </p:spPr>
        <p:txBody>
          <a:bodyPr wrap="square" rtlCol="0" anchor="ctr"/>
          <a:lstStyle/>
          <a:p>
            <a:pPr indent="0" marL="0">
              <a:buNone/>
            </a:pPr>
            <a:r>
              <a:rPr lang="en-US" sz="1200" dirty="0">
                <a:solidFill>
                  <a:srgbClr val="669BBC"/>
                </a:solidFill>
                <a:latin typeface="Calibri" pitchFamily="34" charset="0"/>
                <a:ea typeface="Calibri" pitchFamily="34" charset="-122"/>
                <a:cs typeface="Calibri" pitchFamily="34" charset="-120"/>
              </a:rPr>
              <a:t>《企业的性质》(1937)</a:t>
            </a:r>
            <a:endParaRPr lang="en-US" sz="1200" dirty="0"/>
          </a:p>
        </p:txBody>
      </p:sp>
      <p:sp>
        <p:nvSpPr>
          <p:cNvPr id="10" name="Text 8"/>
          <p:cNvSpPr/>
          <p:nvPr/>
        </p:nvSpPr>
        <p:spPr>
          <a:xfrm>
            <a:off x="640080" y="2148840"/>
            <a:ext cx="3657600" cy="320040"/>
          </a:xfrm>
          <a:prstGeom prst="rect">
            <a:avLst/>
          </a:prstGeom>
          <a:noFill/>
          <a:ln/>
        </p:spPr>
        <p:txBody>
          <a:bodyPr wrap="square" rtlCol="0" anchor="ctr"/>
          <a:lstStyle/>
          <a:p>
            <a:pPr indent="0" marL="0">
              <a:buNone/>
            </a:pPr>
            <a:r>
              <a:rPr lang="en-US" sz="1500" b="1" dirty="0">
                <a:solidFill>
                  <a:srgbClr val="003049"/>
                </a:solidFill>
                <a:latin typeface="Microsoft YaHei" pitchFamily="34" charset="0"/>
                <a:ea typeface="Microsoft YaHei" pitchFamily="34" charset="-122"/>
                <a:cs typeface="Microsoft YaHei" pitchFamily="34" charset="-120"/>
              </a:rPr>
              <a:t>道格拉斯·诺斯</a:t>
            </a:r>
            <a:endParaRPr lang="en-US" sz="1500" dirty="0"/>
          </a:p>
        </p:txBody>
      </p:sp>
      <p:sp>
        <p:nvSpPr>
          <p:cNvPr id="11" name="Text 9"/>
          <p:cNvSpPr/>
          <p:nvPr/>
        </p:nvSpPr>
        <p:spPr>
          <a:xfrm>
            <a:off x="640080" y="2423160"/>
            <a:ext cx="3657600" cy="274320"/>
          </a:xfrm>
          <a:prstGeom prst="rect">
            <a:avLst/>
          </a:prstGeom>
          <a:noFill/>
          <a:ln/>
        </p:spPr>
        <p:txBody>
          <a:bodyPr wrap="square" rtlCol="0" anchor="ctr"/>
          <a:lstStyle/>
          <a:p>
            <a:pPr indent="0" marL="0">
              <a:buNone/>
            </a:pPr>
            <a:r>
              <a:rPr lang="en-US" sz="1200" dirty="0">
                <a:solidFill>
                  <a:srgbClr val="669BBC"/>
                </a:solidFill>
                <a:latin typeface="Calibri" pitchFamily="34" charset="0"/>
                <a:ea typeface="Calibri" pitchFamily="34" charset="-122"/>
                <a:cs typeface="Calibri" pitchFamily="34" charset="-120"/>
              </a:rPr>
              <a:t>制度变迁理论</a:t>
            </a:r>
            <a:endParaRPr lang="en-US" sz="1200" dirty="0"/>
          </a:p>
        </p:txBody>
      </p:sp>
      <p:sp>
        <p:nvSpPr>
          <p:cNvPr id="12" name="Text 10"/>
          <p:cNvSpPr/>
          <p:nvPr/>
        </p:nvSpPr>
        <p:spPr>
          <a:xfrm>
            <a:off x="640080" y="2651760"/>
            <a:ext cx="3657600" cy="320040"/>
          </a:xfrm>
          <a:prstGeom prst="rect">
            <a:avLst/>
          </a:prstGeom>
          <a:noFill/>
          <a:ln/>
        </p:spPr>
        <p:txBody>
          <a:bodyPr wrap="square" rtlCol="0" anchor="ctr"/>
          <a:lstStyle/>
          <a:p>
            <a:pPr indent="0" marL="0">
              <a:buNone/>
            </a:pPr>
            <a:r>
              <a:rPr lang="en-US" sz="1500" b="1" dirty="0">
                <a:solidFill>
                  <a:srgbClr val="003049"/>
                </a:solidFill>
                <a:latin typeface="Microsoft YaHei" pitchFamily="34" charset="0"/>
                <a:ea typeface="Microsoft YaHei" pitchFamily="34" charset="-122"/>
                <a:cs typeface="Microsoft YaHei" pitchFamily="34" charset="-120"/>
              </a:rPr>
              <a:t>奥利弗·威廉姆森</a:t>
            </a:r>
            <a:endParaRPr lang="en-US" sz="1500" dirty="0"/>
          </a:p>
        </p:txBody>
      </p:sp>
      <p:sp>
        <p:nvSpPr>
          <p:cNvPr id="13" name="Text 11"/>
          <p:cNvSpPr/>
          <p:nvPr/>
        </p:nvSpPr>
        <p:spPr>
          <a:xfrm>
            <a:off x="640080" y="2926080"/>
            <a:ext cx="3657600" cy="274320"/>
          </a:xfrm>
          <a:prstGeom prst="rect">
            <a:avLst/>
          </a:prstGeom>
          <a:noFill/>
          <a:ln/>
        </p:spPr>
        <p:txBody>
          <a:bodyPr wrap="square" rtlCol="0" anchor="ctr"/>
          <a:lstStyle/>
          <a:p>
            <a:pPr indent="0" marL="0">
              <a:buNone/>
            </a:pPr>
            <a:r>
              <a:rPr lang="en-US" sz="1200" dirty="0">
                <a:solidFill>
                  <a:srgbClr val="669BBC"/>
                </a:solidFill>
                <a:latin typeface="Calibri" pitchFamily="34" charset="0"/>
                <a:ea typeface="Calibri" pitchFamily="34" charset="-122"/>
                <a:cs typeface="Calibri" pitchFamily="34" charset="-120"/>
              </a:rPr>
              <a:t>交易成本经济学</a:t>
            </a:r>
            <a:endParaRPr lang="en-US" sz="1200" dirty="0"/>
          </a:p>
        </p:txBody>
      </p:sp>
      <p:sp>
        <p:nvSpPr>
          <p:cNvPr id="14" name="Text 12"/>
          <p:cNvSpPr/>
          <p:nvPr/>
        </p:nvSpPr>
        <p:spPr>
          <a:xfrm>
            <a:off x="640080" y="3154680"/>
            <a:ext cx="3657600" cy="320040"/>
          </a:xfrm>
          <a:prstGeom prst="rect">
            <a:avLst/>
          </a:prstGeom>
          <a:noFill/>
          <a:ln/>
        </p:spPr>
        <p:txBody>
          <a:bodyPr wrap="square" rtlCol="0" anchor="ctr"/>
          <a:lstStyle/>
          <a:p>
            <a:pPr indent="0" marL="0">
              <a:buNone/>
            </a:pPr>
            <a:r>
              <a:rPr lang="en-US" sz="1500" b="1" dirty="0">
                <a:solidFill>
                  <a:srgbClr val="003049"/>
                </a:solidFill>
                <a:latin typeface="Microsoft YaHei" pitchFamily="34" charset="0"/>
                <a:ea typeface="Microsoft YaHei" pitchFamily="34" charset="-122"/>
                <a:cs typeface="Microsoft YaHei" pitchFamily="34" charset="-120"/>
              </a:rPr>
              <a:t>埃莉诺·奥斯特罗姆</a:t>
            </a:r>
            <a:endParaRPr lang="en-US" sz="1500" dirty="0"/>
          </a:p>
        </p:txBody>
      </p:sp>
      <p:sp>
        <p:nvSpPr>
          <p:cNvPr id="15" name="Text 13"/>
          <p:cNvSpPr/>
          <p:nvPr/>
        </p:nvSpPr>
        <p:spPr>
          <a:xfrm>
            <a:off x="640080" y="3429000"/>
            <a:ext cx="3657600" cy="274320"/>
          </a:xfrm>
          <a:prstGeom prst="rect">
            <a:avLst/>
          </a:prstGeom>
          <a:noFill/>
          <a:ln/>
        </p:spPr>
        <p:txBody>
          <a:bodyPr wrap="square" rtlCol="0" anchor="ctr"/>
          <a:lstStyle/>
          <a:p>
            <a:pPr indent="0" marL="0">
              <a:buNone/>
            </a:pPr>
            <a:r>
              <a:rPr lang="en-US" sz="1200" dirty="0">
                <a:solidFill>
                  <a:srgbClr val="669BBC"/>
                </a:solidFill>
                <a:latin typeface="Calibri" pitchFamily="34" charset="0"/>
                <a:ea typeface="Calibri" pitchFamily="34" charset="-122"/>
                <a:cs typeface="Calibri" pitchFamily="34" charset="-120"/>
              </a:rPr>
              <a:t>公共池塘资源治理</a:t>
            </a:r>
            <a:endParaRPr lang="en-US" sz="1200" dirty="0"/>
          </a:p>
        </p:txBody>
      </p:sp>
      <p:sp>
        <p:nvSpPr>
          <p:cNvPr id="16" name="Text 14"/>
          <p:cNvSpPr/>
          <p:nvPr/>
        </p:nvSpPr>
        <p:spPr>
          <a:xfrm>
            <a:off x="4754880" y="1051560"/>
            <a:ext cx="3931920" cy="411480"/>
          </a:xfrm>
          <a:prstGeom prst="rect">
            <a:avLst/>
          </a:prstGeom>
          <a:noFill/>
          <a:ln/>
        </p:spPr>
        <p:txBody>
          <a:bodyPr wrap="square" rtlCol="0" anchor="ctr"/>
          <a:lstStyle/>
          <a:p>
            <a:pPr indent="0" marL="0">
              <a:buNone/>
            </a:pPr>
            <a:r>
              <a:rPr lang="en-US" sz="1800" b="1" dirty="0">
                <a:solidFill>
                  <a:srgbClr val="C1121F"/>
                </a:solidFill>
                <a:latin typeface="Microsoft YaHei" pitchFamily="34" charset="0"/>
                <a:ea typeface="Microsoft YaHei" pitchFamily="34" charset="-122"/>
                <a:cs typeface="Microsoft YaHei" pitchFamily="34" charset="-120"/>
              </a:rPr>
              <a:t>核心观点</a:t>
            </a:r>
            <a:endParaRPr lang="en-US" sz="1800" dirty="0"/>
          </a:p>
        </p:txBody>
      </p:sp>
      <p:sp>
        <p:nvSpPr>
          <p:cNvPr id="17" name="Shape 15"/>
          <p:cNvSpPr/>
          <p:nvPr/>
        </p:nvSpPr>
        <p:spPr>
          <a:xfrm>
            <a:off x="4754880" y="1508760"/>
            <a:ext cx="3931920" cy="2194560"/>
          </a:xfrm>
          <a:prstGeom prst="roundRect">
            <a:avLst>
              <a:gd name="adj" fmla="val 4167"/>
            </a:avLst>
          </a:prstGeom>
          <a:solidFill>
            <a:srgbClr val="FFFFFF"/>
          </a:solidFill>
          <a:ln w="12700">
            <a:solidFill>
              <a:srgbClr val="669BBC"/>
            </a:solidFill>
            <a:prstDash val="solid"/>
          </a:ln>
        </p:spPr>
      </p:sp>
      <p:sp>
        <p:nvSpPr>
          <p:cNvPr id="18" name="Text 16"/>
          <p:cNvSpPr/>
          <p:nvPr/>
        </p:nvSpPr>
        <p:spPr>
          <a:xfrm>
            <a:off x="4937760" y="1691640"/>
            <a:ext cx="3657600" cy="457200"/>
          </a:xfrm>
          <a:prstGeom prst="rect">
            <a:avLst/>
          </a:prstGeom>
          <a:noFill/>
          <a:ln/>
        </p:spPr>
        <p:txBody>
          <a:bodyPr wrap="square" rtlCol="0" anchor="ctr"/>
          <a:lstStyle/>
          <a:p>
            <a:pPr indent="0" marL="0">
              <a:buNone/>
            </a:pPr>
            <a:r>
              <a:rPr lang="en-US" sz="1400" dirty="0">
                <a:solidFill>
                  <a:srgbClr val="C1121F"/>
                </a:solidFill>
                <a:latin typeface="Microsoft YaHei" pitchFamily="34" charset="0"/>
                <a:ea typeface="Microsoft YaHei" pitchFamily="34" charset="-122"/>
                <a:cs typeface="Microsoft YaHei" pitchFamily="34" charset="-120"/>
              </a:rPr>
              <a:t>▸ </a:t>
            </a:r>
            <a:pPr indent="0" marL="0">
              <a:buNone/>
            </a:pPr>
            <a:r>
              <a:rPr lang="en-US" sz="1400" dirty="0">
                <a:solidFill>
                  <a:srgbClr val="003049"/>
                </a:solidFill>
                <a:latin typeface="Microsoft YaHei" pitchFamily="34" charset="0"/>
                <a:ea typeface="Microsoft YaHei" pitchFamily="34" charset="-122"/>
                <a:cs typeface="Microsoft YaHei" pitchFamily="34" charset="-120"/>
              </a:rPr>
              <a:t>制度是经济绩效的核心决定因素</a:t>
            </a:r>
            <a:endParaRPr lang="en-US" sz="1400" dirty="0"/>
          </a:p>
        </p:txBody>
      </p:sp>
      <p:sp>
        <p:nvSpPr>
          <p:cNvPr id="19" name="Text 17"/>
          <p:cNvSpPr/>
          <p:nvPr/>
        </p:nvSpPr>
        <p:spPr>
          <a:xfrm>
            <a:off x="4937760" y="2194560"/>
            <a:ext cx="3657600" cy="457200"/>
          </a:xfrm>
          <a:prstGeom prst="rect">
            <a:avLst/>
          </a:prstGeom>
          <a:noFill/>
          <a:ln/>
        </p:spPr>
        <p:txBody>
          <a:bodyPr wrap="square" rtlCol="0" anchor="ctr"/>
          <a:lstStyle/>
          <a:p>
            <a:pPr indent="0" marL="0">
              <a:buNone/>
            </a:pPr>
            <a:r>
              <a:rPr lang="en-US" sz="1400" dirty="0">
                <a:solidFill>
                  <a:srgbClr val="C1121F"/>
                </a:solidFill>
                <a:latin typeface="Microsoft YaHei" pitchFamily="34" charset="0"/>
                <a:ea typeface="Microsoft YaHei" pitchFamily="34" charset="-122"/>
                <a:cs typeface="Microsoft YaHei" pitchFamily="34" charset="-120"/>
              </a:rPr>
              <a:t>▸ </a:t>
            </a:r>
            <a:pPr indent="0" marL="0">
              <a:buNone/>
            </a:pPr>
            <a:r>
              <a:rPr lang="en-US" sz="1400" dirty="0">
                <a:solidFill>
                  <a:srgbClr val="003049"/>
                </a:solidFill>
                <a:latin typeface="Microsoft YaHei" pitchFamily="34" charset="0"/>
                <a:ea typeface="Microsoft YaHei" pitchFamily="34" charset="-122"/>
                <a:cs typeface="Microsoft YaHei" pitchFamily="34" charset="-120"/>
              </a:rPr>
              <a:t>交易成本决定制度选择</a:t>
            </a:r>
            <a:endParaRPr lang="en-US" sz="1400" dirty="0"/>
          </a:p>
        </p:txBody>
      </p:sp>
      <p:sp>
        <p:nvSpPr>
          <p:cNvPr id="20" name="Text 18"/>
          <p:cNvSpPr/>
          <p:nvPr/>
        </p:nvSpPr>
        <p:spPr>
          <a:xfrm>
            <a:off x="4937760" y="2697480"/>
            <a:ext cx="3657600" cy="457200"/>
          </a:xfrm>
          <a:prstGeom prst="rect">
            <a:avLst/>
          </a:prstGeom>
          <a:noFill/>
          <a:ln/>
        </p:spPr>
        <p:txBody>
          <a:bodyPr wrap="square" rtlCol="0" anchor="ctr"/>
          <a:lstStyle/>
          <a:p>
            <a:pPr indent="0" marL="0">
              <a:buNone/>
            </a:pPr>
            <a:r>
              <a:rPr lang="en-US" sz="1400" dirty="0">
                <a:solidFill>
                  <a:srgbClr val="C1121F"/>
                </a:solidFill>
                <a:latin typeface="Microsoft YaHei" pitchFamily="34" charset="0"/>
                <a:ea typeface="Microsoft YaHei" pitchFamily="34" charset="-122"/>
                <a:cs typeface="Microsoft YaHei" pitchFamily="34" charset="-120"/>
              </a:rPr>
              <a:t>▸ </a:t>
            </a:r>
            <a:pPr indent="0" marL="0">
              <a:buNone/>
            </a:pPr>
            <a:r>
              <a:rPr lang="en-US" sz="1400" dirty="0">
                <a:solidFill>
                  <a:srgbClr val="003049"/>
                </a:solidFill>
                <a:latin typeface="Microsoft YaHei" pitchFamily="34" charset="0"/>
                <a:ea typeface="Microsoft YaHei" pitchFamily="34" charset="-122"/>
                <a:cs typeface="Microsoft YaHei" pitchFamily="34" charset="-120"/>
              </a:rPr>
              <a:t>产权保护促进长期投资</a:t>
            </a:r>
            <a:endParaRPr lang="en-US" sz="1400" dirty="0"/>
          </a:p>
        </p:txBody>
      </p:sp>
      <p:sp>
        <p:nvSpPr>
          <p:cNvPr id="21" name="Text 19"/>
          <p:cNvSpPr/>
          <p:nvPr/>
        </p:nvSpPr>
        <p:spPr>
          <a:xfrm>
            <a:off x="4937760" y="3200400"/>
            <a:ext cx="3657600" cy="457200"/>
          </a:xfrm>
          <a:prstGeom prst="rect">
            <a:avLst/>
          </a:prstGeom>
          <a:noFill/>
          <a:ln/>
        </p:spPr>
        <p:txBody>
          <a:bodyPr wrap="square" rtlCol="0" anchor="ctr"/>
          <a:lstStyle/>
          <a:p>
            <a:pPr indent="0" marL="0">
              <a:buNone/>
            </a:pPr>
            <a:r>
              <a:rPr lang="en-US" sz="1400" dirty="0">
                <a:solidFill>
                  <a:srgbClr val="C1121F"/>
                </a:solidFill>
                <a:latin typeface="Microsoft YaHei" pitchFamily="34" charset="0"/>
                <a:ea typeface="Microsoft YaHei" pitchFamily="34" charset="-122"/>
                <a:cs typeface="Microsoft YaHei" pitchFamily="34" charset="-120"/>
              </a:rPr>
              <a:t>▸ </a:t>
            </a:r>
            <a:pPr indent="0" marL="0">
              <a:buNone/>
            </a:pPr>
            <a:r>
              <a:rPr lang="en-US" sz="1400" dirty="0">
                <a:solidFill>
                  <a:srgbClr val="003049"/>
                </a:solidFill>
                <a:latin typeface="Microsoft YaHei" pitchFamily="34" charset="0"/>
                <a:ea typeface="Microsoft YaHei" pitchFamily="34" charset="-122"/>
                <a:cs typeface="Microsoft YaHei" pitchFamily="34" charset="-120"/>
              </a:rPr>
              <a:t>制度变迁是渐进式的</a:t>
            </a:r>
            <a:endParaRPr lang="en-US" sz="1400" dirty="0"/>
          </a:p>
        </p:txBody>
      </p:sp>
      <p:sp>
        <p:nvSpPr>
          <p:cNvPr id="22" name="Shape 20"/>
          <p:cNvSpPr/>
          <p:nvPr/>
        </p:nvSpPr>
        <p:spPr>
          <a:xfrm>
            <a:off x="457200" y="3886200"/>
            <a:ext cx="8229600" cy="640080"/>
          </a:xfrm>
          <a:prstGeom prst="roundRect">
            <a:avLst>
              <a:gd name="adj" fmla="val 11429"/>
            </a:avLst>
          </a:prstGeom>
          <a:solidFill>
            <a:srgbClr val="003049"/>
          </a:solidFill>
          <a:ln/>
        </p:spPr>
      </p:sp>
      <p:sp>
        <p:nvSpPr>
          <p:cNvPr id="23" name="Text 21"/>
          <p:cNvSpPr/>
          <p:nvPr/>
        </p:nvSpPr>
        <p:spPr>
          <a:xfrm>
            <a:off x="640080" y="3977640"/>
            <a:ext cx="7863840" cy="45720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制度经济学复兴：回归斯密「制度-行为-绩效」分析框架</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制度与经济发展的关系</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48</a:t>
            </a:r>
            <a:endParaRPr lang="en-US" sz="1100" dirty="0"/>
          </a:p>
        </p:txBody>
      </p:sp>
      <p:sp>
        <p:nvSpPr>
          <p:cNvPr id="6" name="Text 4"/>
          <p:cNvSpPr/>
          <p:nvPr/>
        </p:nvSpPr>
        <p:spPr>
          <a:xfrm>
            <a:off x="457200" y="1051560"/>
            <a:ext cx="8229600" cy="365760"/>
          </a:xfrm>
          <a:prstGeom prst="rect">
            <a:avLst/>
          </a:prstGeom>
          <a:noFill/>
          <a:ln/>
        </p:spPr>
        <p:txBody>
          <a:bodyPr wrap="square" rtlCol="0" anchor="ctr"/>
          <a:lstStyle/>
          <a:p>
            <a:pPr indent="0" marL="0">
              <a:buNone/>
            </a:pPr>
            <a:r>
              <a:rPr lang="en-US" sz="1800" b="1" dirty="0">
                <a:solidFill>
                  <a:srgbClr val="C1121F"/>
                </a:solidFill>
                <a:latin typeface="Microsoft YaHei" pitchFamily="34" charset="0"/>
                <a:ea typeface="Microsoft YaHei" pitchFamily="34" charset="-122"/>
                <a:cs typeface="Microsoft YaHei" pitchFamily="34" charset="-120"/>
              </a:rPr>
              <a:t>诺斯的制度转型路径</a:t>
            </a:r>
            <a:endParaRPr lang="en-US" sz="1800" dirty="0"/>
          </a:p>
        </p:txBody>
      </p:sp>
      <p:sp>
        <p:nvSpPr>
          <p:cNvPr id="7" name="Shape 5"/>
          <p:cNvSpPr/>
          <p:nvPr/>
        </p:nvSpPr>
        <p:spPr>
          <a:xfrm>
            <a:off x="640080" y="1508760"/>
            <a:ext cx="2468880" cy="1463040"/>
          </a:xfrm>
          <a:prstGeom prst="roundRect">
            <a:avLst>
              <a:gd name="adj" fmla="val 6250"/>
            </a:avLst>
          </a:prstGeom>
          <a:solidFill>
            <a:srgbClr val="FFFFFF"/>
          </a:solidFill>
          <a:ln w="25400">
            <a:solidFill>
              <a:srgbClr val="780000"/>
            </a:solidFill>
            <a:prstDash val="solid"/>
          </a:ln>
        </p:spPr>
      </p:sp>
      <p:sp>
        <p:nvSpPr>
          <p:cNvPr id="8" name="Text 6"/>
          <p:cNvSpPr/>
          <p:nvPr/>
        </p:nvSpPr>
        <p:spPr>
          <a:xfrm>
            <a:off x="640080" y="1554480"/>
            <a:ext cx="2468880" cy="365760"/>
          </a:xfrm>
          <a:prstGeom prst="rect">
            <a:avLst/>
          </a:prstGeom>
          <a:noFill/>
          <a:ln/>
        </p:spPr>
        <p:txBody>
          <a:bodyPr wrap="square" rtlCol="0" anchor="ctr"/>
          <a:lstStyle/>
          <a:p>
            <a:pPr algn="ctr" indent="0" marL="0">
              <a:buNone/>
            </a:pPr>
            <a:r>
              <a:rPr lang="en-US" sz="1400" b="1" dirty="0">
                <a:solidFill>
                  <a:srgbClr val="780000"/>
                </a:solidFill>
                <a:latin typeface="Microsoft YaHei" pitchFamily="34" charset="0"/>
                <a:ea typeface="Microsoft YaHei" pitchFamily="34" charset="-122"/>
                <a:cs typeface="Microsoft YaHei" pitchFamily="34" charset="-120"/>
              </a:rPr>
              <a:t>第一阶段</a:t>
            </a:r>
            <a:endParaRPr lang="en-US" sz="1400" dirty="0"/>
          </a:p>
        </p:txBody>
      </p:sp>
      <p:sp>
        <p:nvSpPr>
          <p:cNvPr id="9" name="Text 7"/>
          <p:cNvSpPr/>
          <p:nvPr/>
        </p:nvSpPr>
        <p:spPr>
          <a:xfrm>
            <a:off x="777240" y="1920240"/>
            <a:ext cx="2194560" cy="1005840"/>
          </a:xfrm>
          <a:prstGeom prst="rect">
            <a:avLst/>
          </a:prstGeom>
          <a:noFill/>
          <a:ln/>
        </p:spPr>
        <p:txBody>
          <a:bodyPr wrap="square" rtlCol="0" anchor="t"/>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无序状态</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产权无保障</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交易成本极高</a:t>
            </a:r>
            <a:endParaRPr lang="en-US" sz="1200" dirty="0"/>
          </a:p>
        </p:txBody>
      </p:sp>
      <p:sp>
        <p:nvSpPr>
          <p:cNvPr id="10" name="Text 8"/>
          <p:cNvSpPr/>
          <p:nvPr/>
        </p:nvSpPr>
        <p:spPr>
          <a:xfrm>
            <a:off x="3108960" y="2011680"/>
            <a:ext cx="365760" cy="457200"/>
          </a:xfrm>
          <a:prstGeom prst="rect">
            <a:avLst/>
          </a:prstGeom>
          <a:noFill/>
          <a:ln/>
        </p:spPr>
        <p:txBody>
          <a:bodyPr wrap="square" rtlCol="0" anchor="ctr"/>
          <a:lstStyle/>
          <a:p>
            <a:pPr algn="ctr" indent="0" marL="0">
              <a:buNone/>
            </a:pPr>
            <a:r>
              <a:rPr lang="en-US" sz="2400" dirty="0">
                <a:solidFill>
                  <a:srgbClr val="C1121F"/>
                </a:solidFill>
              </a:rPr>
              <a:t>→</a:t>
            </a:r>
            <a:endParaRPr lang="en-US" sz="2400" dirty="0"/>
          </a:p>
        </p:txBody>
      </p:sp>
      <p:sp>
        <p:nvSpPr>
          <p:cNvPr id="11" name="Shape 9"/>
          <p:cNvSpPr/>
          <p:nvPr/>
        </p:nvSpPr>
        <p:spPr>
          <a:xfrm>
            <a:off x="3474720" y="1508760"/>
            <a:ext cx="2468880" cy="1463040"/>
          </a:xfrm>
          <a:prstGeom prst="roundRect">
            <a:avLst>
              <a:gd name="adj" fmla="val 6250"/>
            </a:avLst>
          </a:prstGeom>
          <a:solidFill>
            <a:srgbClr val="FFFFFF"/>
          </a:solidFill>
          <a:ln w="25400">
            <a:solidFill>
              <a:srgbClr val="780000"/>
            </a:solidFill>
            <a:prstDash val="solid"/>
          </a:ln>
        </p:spPr>
      </p:sp>
      <p:sp>
        <p:nvSpPr>
          <p:cNvPr id="12" name="Text 10"/>
          <p:cNvSpPr/>
          <p:nvPr/>
        </p:nvSpPr>
        <p:spPr>
          <a:xfrm>
            <a:off x="3474720" y="1554480"/>
            <a:ext cx="2468880" cy="365760"/>
          </a:xfrm>
          <a:prstGeom prst="rect">
            <a:avLst/>
          </a:prstGeom>
          <a:noFill/>
          <a:ln/>
        </p:spPr>
        <p:txBody>
          <a:bodyPr wrap="square" rtlCol="0" anchor="ctr"/>
          <a:lstStyle/>
          <a:p>
            <a:pPr algn="ctr" indent="0" marL="0">
              <a:buNone/>
            </a:pPr>
            <a:r>
              <a:rPr lang="en-US" sz="1400" b="1" dirty="0">
                <a:solidFill>
                  <a:srgbClr val="780000"/>
                </a:solidFill>
                <a:latin typeface="Microsoft YaHei" pitchFamily="34" charset="0"/>
                <a:ea typeface="Microsoft YaHei" pitchFamily="34" charset="-122"/>
                <a:cs typeface="Microsoft YaHei" pitchFamily="34" charset="-120"/>
              </a:rPr>
              <a:t>第二阶段</a:t>
            </a:r>
            <a:endParaRPr lang="en-US" sz="1400" dirty="0"/>
          </a:p>
        </p:txBody>
      </p:sp>
      <p:sp>
        <p:nvSpPr>
          <p:cNvPr id="13" name="Text 11"/>
          <p:cNvSpPr/>
          <p:nvPr/>
        </p:nvSpPr>
        <p:spPr>
          <a:xfrm>
            <a:off x="3611880" y="1920240"/>
            <a:ext cx="2194560" cy="1005840"/>
          </a:xfrm>
          <a:prstGeom prst="rect">
            <a:avLst/>
          </a:prstGeom>
          <a:noFill/>
          <a:ln/>
        </p:spPr>
        <p:txBody>
          <a:bodyPr wrap="square" rtlCol="0" anchor="t"/>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习俗经济</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非正式约束</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重复博弈</a:t>
            </a:r>
            <a:endParaRPr lang="en-US" sz="1200" dirty="0"/>
          </a:p>
        </p:txBody>
      </p:sp>
      <p:sp>
        <p:nvSpPr>
          <p:cNvPr id="14" name="Text 12"/>
          <p:cNvSpPr/>
          <p:nvPr/>
        </p:nvSpPr>
        <p:spPr>
          <a:xfrm>
            <a:off x="5943600" y="2011680"/>
            <a:ext cx="365760" cy="457200"/>
          </a:xfrm>
          <a:prstGeom prst="rect">
            <a:avLst/>
          </a:prstGeom>
          <a:noFill/>
          <a:ln/>
        </p:spPr>
        <p:txBody>
          <a:bodyPr wrap="square" rtlCol="0" anchor="ctr"/>
          <a:lstStyle/>
          <a:p>
            <a:pPr algn="ctr" indent="0" marL="0">
              <a:buNone/>
            </a:pPr>
            <a:r>
              <a:rPr lang="en-US" sz="2400" dirty="0">
                <a:solidFill>
                  <a:srgbClr val="C1121F"/>
                </a:solidFill>
              </a:rPr>
              <a:t>→</a:t>
            </a:r>
            <a:endParaRPr lang="en-US" sz="2400" dirty="0"/>
          </a:p>
        </p:txBody>
      </p:sp>
      <p:sp>
        <p:nvSpPr>
          <p:cNvPr id="15" name="Shape 13"/>
          <p:cNvSpPr/>
          <p:nvPr/>
        </p:nvSpPr>
        <p:spPr>
          <a:xfrm>
            <a:off x="6309360" y="1508760"/>
            <a:ext cx="2468880" cy="1463040"/>
          </a:xfrm>
          <a:prstGeom prst="roundRect">
            <a:avLst>
              <a:gd name="adj" fmla="val 6250"/>
            </a:avLst>
          </a:prstGeom>
          <a:solidFill>
            <a:srgbClr val="FFFFFF"/>
          </a:solidFill>
          <a:ln w="25400">
            <a:solidFill>
              <a:srgbClr val="780000"/>
            </a:solidFill>
            <a:prstDash val="solid"/>
          </a:ln>
        </p:spPr>
      </p:sp>
      <p:sp>
        <p:nvSpPr>
          <p:cNvPr id="16" name="Text 14"/>
          <p:cNvSpPr/>
          <p:nvPr/>
        </p:nvSpPr>
        <p:spPr>
          <a:xfrm>
            <a:off x="6309360" y="1554480"/>
            <a:ext cx="2468880" cy="365760"/>
          </a:xfrm>
          <a:prstGeom prst="rect">
            <a:avLst/>
          </a:prstGeom>
          <a:noFill/>
          <a:ln/>
        </p:spPr>
        <p:txBody>
          <a:bodyPr wrap="square" rtlCol="0" anchor="ctr"/>
          <a:lstStyle/>
          <a:p>
            <a:pPr algn="ctr" indent="0" marL="0">
              <a:buNone/>
            </a:pPr>
            <a:r>
              <a:rPr lang="en-US" sz="1400" b="1" dirty="0">
                <a:solidFill>
                  <a:srgbClr val="780000"/>
                </a:solidFill>
                <a:latin typeface="Microsoft YaHei" pitchFamily="34" charset="0"/>
                <a:ea typeface="Microsoft YaHei" pitchFamily="34" charset="-122"/>
                <a:cs typeface="Microsoft YaHei" pitchFamily="34" charset="-120"/>
              </a:rPr>
              <a:t>第三阶段</a:t>
            </a:r>
            <a:endParaRPr lang="en-US" sz="1400" dirty="0"/>
          </a:p>
        </p:txBody>
      </p:sp>
      <p:sp>
        <p:nvSpPr>
          <p:cNvPr id="17" name="Text 15"/>
          <p:cNvSpPr/>
          <p:nvPr/>
        </p:nvSpPr>
        <p:spPr>
          <a:xfrm>
            <a:off x="6446520" y="1920240"/>
            <a:ext cx="2194560" cy="1005840"/>
          </a:xfrm>
          <a:prstGeom prst="rect">
            <a:avLst/>
          </a:prstGeom>
          <a:noFill/>
          <a:ln/>
        </p:spPr>
        <p:txBody>
          <a:bodyPr wrap="square" rtlCol="0" anchor="t"/>
          <a:lstStyle/>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法治国家</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正式制度</a:t>
            </a:r>
            <a:endParaRPr lang="en-US" sz="1200" dirty="0"/>
          </a:p>
          <a:p>
            <a:pPr algn="ctr" indent="0" marL="0">
              <a:buNone/>
            </a:pPr>
            <a:r>
              <a:rPr lang="en-US" sz="1200" dirty="0">
                <a:solidFill>
                  <a:srgbClr val="003049"/>
                </a:solidFill>
                <a:latin typeface="Microsoft YaHei" pitchFamily="34" charset="0"/>
                <a:ea typeface="Microsoft YaHei" pitchFamily="34" charset="-122"/>
                <a:cs typeface="Microsoft YaHei" pitchFamily="34" charset="-120"/>
              </a:rPr>
              <a:t>可预期秩序</a:t>
            </a:r>
            <a:endParaRPr lang="en-US" sz="1200" dirty="0"/>
          </a:p>
        </p:txBody>
      </p:sp>
      <p:sp>
        <p:nvSpPr>
          <p:cNvPr id="18" name="Shape 16"/>
          <p:cNvSpPr/>
          <p:nvPr/>
        </p:nvSpPr>
        <p:spPr>
          <a:xfrm>
            <a:off x="457200" y="3200400"/>
            <a:ext cx="8229600" cy="45720"/>
          </a:xfrm>
          <a:prstGeom prst="rect">
            <a:avLst/>
          </a:prstGeom>
          <a:solidFill>
            <a:srgbClr val="669BBC"/>
          </a:solidFill>
          <a:ln/>
        </p:spPr>
      </p:sp>
      <p:sp>
        <p:nvSpPr>
          <p:cNvPr id="19" name="Text 17"/>
          <p:cNvSpPr/>
          <p:nvPr/>
        </p:nvSpPr>
        <p:spPr>
          <a:xfrm>
            <a:off x="457200" y="3383280"/>
            <a:ext cx="822960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斯密视角的制度观</a:t>
            </a:r>
            <a:endParaRPr lang="en-US" sz="1600" dirty="0"/>
          </a:p>
        </p:txBody>
      </p:sp>
      <p:sp>
        <p:nvSpPr>
          <p:cNvPr id="20" name="Text 18"/>
          <p:cNvSpPr/>
          <p:nvPr/>
        </p:nvSpPr>
        <p:spPr>
          <a:xfrm>
            <a:off x="640080" y="3794760"/>
            <a:ext cx="777240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斯密早已指出：正义制度是市场运作的前提（《道德情操论》）</a:t>
            </a:r>
            <a:endParaRPr lang="en-US" sz="1300" dirty="0"/>
          </a:p>
        </p:txBody>
      </p:sp>
      <p:sp>
        <p:nvSpPr>
          <p:cNvPr id="21" name="Text 19"/>
          <p:cNvSpPr/>
          <p:nvPr/>
        </p:nvSpPr>
        <p:spPr>
          <a:xfrm>
            <a:off x="640080" y="4114800"/>
            <a:ext cx="777240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制度成本直接影响分工深度与市场范围</a:t>
            </a:r>
            <a:endParaRPr lang="en-US" sz="1300" dirty="0"/>
          </a:p>
        </p:txBody>
      </p:sp>
      <p:sp>
        <p:nvSpPr>
          <p:cNvPr id="22" name="Text 20"/>
          <p:cNvSpPr/>
          <p:nvPr/>
        </p:nvSpPr>
        <p:spPr>
          <a:xfrm>
            <a:off x="640080" y="4434840"/>
            <a:ext cx="777240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可预期的法律环境降低交易风险，促进资本积累</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行为经济学对斯密的补充</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49</a:t>
            </a:r>
            <a:endParaRPr lang="en-US" sz="1100" dirty="0"/>
          </a:p>
        </p:txBody>
      </p:sp>
      <p:sp>
        <p:nvSpPr>
          <p:cNvPr id="6" name="Text 4"/>
          <p:cNvSpPr/>
          <p:nvPr/>
        </p:nvSpPr>
        <p:spPr>
          <a:xfrm>
            <a:off x="457200" y="1051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斯密的「经济人」假设</a:t>
            </a:r>
            <a:endParaRPr lang="en-US" sz="1600" dirty="0"/>
          </a:p>
        </p:txBody>
      </p:sp>
      <p:sp>
        <p:nvSpPr>
          <p:cNvPr id="7" name="Shape 5"/>
          <p:cNvSpPr/>
          <p:nvPr/>
        </p:nvSpPr>
        <p:spPr>
          <a:xfrm>
            <a:off x="457200" y="1463040"/>
            <a:ext cx="3931920" cy="1645920"/>
          </a:xfrm>
          <a:prstGeom prst="roundRect">
            <a:avLst>
              <a:gd name="adj" fmla="val 5556"/>
            </a:avLst>
          </a:prstGeom>
          <a:solidFill>
            <a:srgbClr val="780000"/>
          </a:solidFill>
          <a:ln/>
        </p:spPr>
      </p:sp>
      <p:sp>
        <p:nvSpPr>
          <p:cNvPr id="8" name="Text 6"/>
          <p:cNvSpPr/>
          <p:nvPr/>
        </p:nvSpPr>
        <p:spPr>
          <a:xfrm>
            <a:off x="640080" y="160020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完全理性计算</a:t>
            </a:r>
            <a:endParaRPr lang="en-US" sz="1400" dirty="0"/>
          </a:p>
        </p:txBody>
      </p:sp>
      <p:sp>
        <p:nvSpPr>
          <p:cNvPr id="9" name="Text 7"/>
          <p:cNvSpPr/>
          <p:nvPr/>
        </p:nvSpPr>
        <p:spPr>
          <a:xfrm>
            <a:off x="640080" y="196596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完全自利动机</a:t>
            </a:r>
            <a:endParaRPr lang="en-US" sz="1400" dirty="0"/>
          </a:p>
        </p:txBody>
      </p:sp>
      <p:sp>
        <p:nvSpPr>
          <p:cNvPr id="10" name="Text 8"/>
          <p:cNvSpPr/>
          <p:nvPr/>
        </p:nvSpPr>
        <p:spPr>
          <a:xfrm>
            <a:off x="640080" y="233172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完美信息获取</a:t>
            </a:r>
            <a:endParaRPr lang="en-US" sz="1400" dirty="0"/>
          </a:p>
        </p:txBody>
      </p:sp>
      <p:sp>
        <p:nvSpPr>
          <p:cNvPr id="11" name="Text 9"/>
          <p:cNvSpPr/>
          <p:nvPr/>
        </p:nvSpPr>
        <p:spPr>
          <a:xfrm>
            <a:off x="640080" y="269748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瞬间市场出清</a:t>
            </a:r>
            <a:endParaRPr lang="en-US" sz="1400" dirty="0"/>
          </a:p>
        </p:txBody>
      </p:sp>
      <p:sp>
        <p:nvSpPr>
          <p:cNvPr id="12" name="Text 10"/>
          <p:cNvSpPr/>
          <p:nvPr/>
        </p:nvSpPr>
        <p:spPr>
          <a:xfrm>
            <a:off x="4754880" y="1051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行为经济学的修正</a:t>
            </a:r>
            <a:endParaRPr lang="en-US" sz="1600" dirty="0"/>
          </a:p>
        </p:txBody>
      </p:sp>
      <p:sp>
        <p:nvSpPr>
          <p:cNvPr id="13" name="Shape 11"/>
          <p:cNvSpPr/>
          <p:nvPr/>
        </p:nvSpPr>
        <p:spPr>
          <a:xfrm>
            <a:off x="4754880" y="1463040"/>
            <a:ext cx="3931920" cy="1645920"/>
          </a:xfrm>
          <a:prstGeom prst="roundRect">
            <a:avLst>
              <a:gd name="adj" fmla="val 5556"/>
            </a:avLst>
          </a:prstGeom>
          <a:solidFill>
            <a:srgbClr val="003049"/>
          </a:solidFill>
          <a:ln/>
        </p:spPr>
      </p:sp>
      <p:sp>
        <p:nvSpPr>
          <p:cNvPr id="14" name="Text 12"/>
          <p:cNvSpPr/>
          <p:nvPr/>
        </p:nvSpPr>
        <p:spPr>
          <a:xfrm>
            <a:off x="4937760" y="160020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有限理性认知</a:t>
            </a:r>
            <a:endParaRPr lang="en-US" sz="1400" dirty="0"/>
          </a:p>
        </p:txBody>
      </p:sp>
      <p:sp>
        <p:nvSpPr>
          <p:cNvPr id="15" name="Text 13"/>
          <p:cNvSpPr/>
          <p:nvPr/>
        </p:nvSpPr>
        <p:spPr>
          <a:xfrm>
            <a:off x="4937760" y="196596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社会偏好互惠</a:t>
            </a:r>
            <a:endParaRPr lang="en-US" sz="1400" dirty="0"/>
          </a:p>
        </p:txBody>
      </p:sp>
      <p:sp>
        <p:nvSpPr>
          <p:cNvPr id="16" name="Text 14"/>
          <p:cNvSpPr/>
          <p:nvPr/>
        </p:nvSpPr>
        <p:spPr>
          <a:xfrm>
            <a:off x="4937760" y="233172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信息不对称普遍</a:t>
            </a:r>
            <a:endParaRPr lang="en-US" sz="1400" dirty="0"/>
          </a:p>
        </p:txBody>
      </p:sp>
      <p:sp>
        <p:nvSpPr>
          <p:cNvPr id="17" name="Text 15"/>
          <p:cNvSpPr/>
          <p:nvPr/>
        </p:nvSpPr>
        <p:spPr>
          <a:xfrm>
            <a:off x="4937760" y="2697480"/>
            <a:ext cx="3657600" cy="3657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 价格黏性与调整延迟</a:t>
            </a:r>
            <a:endParaRPr lang="en-US" sz="1400" dirty="0"/>
          </a:p>
        </p:txBody>
      </p:sp>
      <p:sp>
        <p:nvSpPr>
          <p:cNvPr id="18" name="Text 16"/>
          <p:cNvSpPr/>
          <p:nvPr/>
        </p:nvSpPr>
        <p:spPr>
          <a:xfrm>
            <a:off x="4206240" y="2011680"/>
            <a:ext cx="548640" cy="457200"/>
          </a:xfrm>
          <a:prstGeom prst="rect">
            <a:avLst/>
          </a:prstGeom>
          <a:noFill/>
          <a:ln/>
        </p:spPr>
        <p:txBody>
          <a:bodyPr wrap="square" rtlCol="0" anchor="ctr"/>
          <a:lstStyle/>
          <a:p>
            <a:pPr algn="ctr" indent="0" marL="0">
              <a:buNone/>
            </a:pPr>
            <a:r>
              <a:rPr lang="en-US" sz="2800" b="1" dirty="0">
                <a:solidFill>
                  <a:srgbClr val="C1121F"/>
                </a:solidFill>
                <a:latin typeface="Georgia" pitchFamily="34" charset="0"/>
                <a:ea typeface="Georgia" pitchFamily="34" charset="-122"/>
                <a:cs typeface="Georgia" pitchFamily="34" charset="-120"/>
              </a:rPr>
              <a:t>→</a:t>
            </a:r>
            <a:endParaRPr lang="en-US" sz="2800" dirty="0"/>
          </a:p>
        </p:txBody>
      </p:sp>
      <p:sp>
        <p:nvSpPr>
          <p:cNvPr id="19" name="Shape 17"/>
          <p:cNvSpPr/>
          <p:nvPr/>
        </p:nvSpPr>
        <p:spPr>
          <a:xfrm>
            <a:off x="457200" y="3291840"/>
            <a:ext cx="8229600" cy="45720"/>
          </a:xfrm>
          <a:prstGeom prst="rect">
            <a:avLst/>
          </a:prstGeom>
          <a:solidFill>
            <a:srgbClr val="669BBC"/>
          </a:solidFill>
          <a:ln/>
        </p:spPr>
      </p:sp>
      <p:sp>
        <p:nvSpPr>
          <p:cNvPr id="20" name="Text 18"/>
          <p:cNvSpPr/>
          <p:nvPr/>
        </p:nvSpPr>
        <p:spPr>
          <a:xfrm>
            <a:off x="457200" y="3474720"/>
            <a:ext cx="8229600" cy="365760"/>
          </a:xfrm>
          <a:prstGeom prst="rect">
            <a:avLst/>
          </a:prstGeom>
          <a:noFill/>
          <a:ln/>
        </p:spPr>
        <p:txBody>
          <a:bodyPr wrap="square" rtlCol="0" anchor="ctr"/>
          <a:lstStyle/>
          <a:p>
            <a:pPr indent="0" marL="0">
              <a:buNone/>
            </a:pPr>
            <a:r>
              <a:rPr lang="en-US" sz="1500" b="1" dirty="0">
                <a:solidFill>
                  <a:srgbClr val="C1121F"/>
                </a:solidFill>
                <a:latin typeface="Microsoft YaHei" pitchFamily="34" charset="0"/>
                <a:ea typeface="Microsoft YaHei" pitchFamily="34" charset="-122"/>
                <a:cs typeface="Microsoft YaHei" pitchFamily="34" charset="-120"/>
              </a:rPr>
              <a:t>行为经济学先驱</a:t>
            </a:r>
            <a:endParaRPr lang="en-US" sz="1500" dirty="0"/>
          </a:p>
        </p:txBody>
      </p:sp>
      <p:sp>
        <p:nvSpPr>
          <p:cNvPr id="21" name="Shape 19"/>
          <p:cNvSpPr/>
          <p:nvPr/>
        </p:nvSpPr>
        <p:spPr>
          <a:xfrm>
            <a:off x="457200" y="3886200"/>
            <a:ext cx="2651760" cy="685800"/>
          </a:xfrm>
          <a:prstGeom prst="roundRect">
            <a:avLst>
              <a:gd name="adj" fmla="val 10667"/>
            </a:avLst>
          </a:prstGeom>
          <a:solidFill>
            <a:srgbClr val="FFFFFF"/>
          </a:solidFill>
          <a:ln w="12700">
            <a:solidFill>
              <a:srgbClr val="669BBC"/>
            </a:solidFill>
            <a:prstDash val="solid"/>
          </a:ln>
        </p:spPr>
      </p:sp>
      <p:sp>
        <p:nvSpPr>
          <p:cNvPr id="22" name="Text 20"/>
          <p:cNvSpPr/>
          <p:nvPr/>
        </p:nvSpPr>
        <p:spPr>
          <a:xfrm>
            <a:off x="457200" y="3913632"/>
            <a:ext cx="2651760" cy="32004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丹尼尔·卡尼曼</a:t>
            </a:r>
            <a:endParaRPr lang="en-US" sz="1300" dirty="0"/>
          </a:p>
        </p:txBody>
      </p:sp>
      <p:sp>
        <p:nvSpPr>
          <p:cNvPr id="23" name="Text 21"/>
          <p:cNvSpPr/>
          <p:nvPr/>
        </p:nvSpPr>
        <p:spPr>
          <a:xfrm>
            <a:off x="457200" y="4206240"/>
            <a:ext cx="2651760" cy="320040"/>
          </a:xfrm>
          <a:prstGeom prst="rect">
            <a:avLst/>
          </a:prstGeom>
          <a:noFill/>
          <a:ln/>
        </p:spPr>
        <p:txBody>
          <a:bodyPr wrap="square" rtlCol="0" anchor="ctr"/>
          <a:lstStyle/>
          <a:p>
            <a:pPr algn="ctr" indent="0" marL="0">
              <a:buNone/>
            </a:pPr>
            <a:r>
              <a:rPr lang="en-US" sz="1100" dirty="0">
                <a:solidFill>
                  <a:srgbClr val="003049"/>
                </a:solidFill>
                <a:latin typeface="Calibri" pitchFamily="34" charset="0"/>
                <a:ea typeface="Calibri" pitchFamily="34" charset="-122"/>
                <a:cs typeface="Calibri" pitchFamily="34" charset="-120"/>
              </a:rPr>
              <a:t>前景理论/有限理性</a:t>
            </a:r>
            <a:endParaRPr lang="en-US" sz="1100" dirty="0"/>
          </a:p>
        </p:txBody>
      </p:sp>
      <p:sp>
        <p:nvSpPr>
          <p:cNvPr id="24" name="Shape 22"/>
          <p:cNvSpPr/>
          <p:nvPr/>
        </p:nvSpPr>
        <p:spPr>
          <a:xfrm>
            <a:off x="3291840" y="3886200"/>
            <a:ext cx="2651760" cy="685800"/>
          </a:xfrm>
          <a:prstGeom prst="roundRect">
            <a:avLst>
              <a:gd name="adj" fmla="val 10667"/>
            </a:avLst>
          </a:prstGeom>
          <a:solidFill>
            <a:srgbClr val="FFFFFF"/>
          </a:solidFill>
          <a:ln w="12700">
            <a:solidFill>
              <a:srgbClr val="669BBC"/>
            </a:solidFill>
            <a:prstDash val="solid"/>
          </a:ln>
        </p:spPr>
      </p:sp>
      <p:sp>
        <p:nvSpPr>
          <p:cNvPr id="25" name="Text 23"/>
          <p:cNvSpPr/>
          <p:nvPr/>
        </p:nvSpPr>
        <p:spPr>
          <a:xfrm>
            <a:off x="3291840" y="3913632"/>
            <a:ext cx="2651760" cy="32004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理查德·塞勒</a:t>
            </a:r>
            <a:endParaRPr lang="en-US" sz="1300" dirty="0"/>
          </a:p>
        </p:txBody>
      </p:sp>
      <p:sp>
        <p:nvSpPr>
          <p:cNvPr id="26" name="Text 24"/>
          <p:cNvSpPr/>
          <p:nvPr/>
        </p:nvSpPr>
        <p:spPr>
          <a:xfrm>
            <a:off x="3291840" y="4206240"/>
            <a:ext cx="2651760" cy="320040"/>
          </a:xfrm>
          <a:prstGeom prst="rect">
            <a:avLst/>
          </a:prstGeom>
          <a:noFill/>
          <a:ln/>
        </p:spPr>
        <p:txBody>
          <a:bodyPr wrap="square" rtlCol="0" anchor="ctr"/>
          <a:lstStyle/>
          <a:p>
            <a:pPr algn="ctr" indent="0" marL="0">
              <a:buNone/>
            </a:pPr>
            <a:r>
              <a:rPr lang="en-US" sz="1100" dirty="0">
                <a:solidFill>
                  <a:srgbClr val="003049"/>
                </a:solidFill>
                <a:latin typeface="Calibri" pitchFamily="34" charset="0"/>
                <a:ea typeface="Calibri" pitchFamily="34" charset="-122"/>
                <a:cs typeface="Calibri" pitchFamily="34" charset="-120"/>
              </a:rPr>
              <a:t>心理账户/助推理论</a:t>
            </a:r>
            <a:endParaRPr lang="en-US" sz="1100" dirty="0"/>
          </a:p>
        </p:txBody>
      </p:sp>
      <p:sp>
        <p:nvSpPr>
          <p:cNvPr id="27" name="Shape 25"/>
          <p:cNvSpPr/>
          <p:nvPr/>
        </p:nvSpPr>
        <p:spPr>
          <a:xfrm>
            <a:off x="6126480" y="3886200"/>
            <a:ext cx="2651760" cy="685800"/>
          </a:xfrm>
          <a:prstGeom prst="roundRect">
            <a:avLst>
              <a:gd name="adj" fmla="val 10667"/>
            </a:avLst>
          </a:prstGeom>
          <a:solidFill>
            <a:srgbClr val="FFFFFF"/>
          </a:solidFill>
          <a:ln w="12700">
            <a:solidFill>
              <a:srgbClr val="669BBC"/>
            </a:solidFill>
            <a:prstDash val="solid"/>
          </a:ln>
        </p:spPr>
      </p:sp>
      <p:sp>
        <p:nvSpPr>
          <p:cNvPr id="28" name="Text 26"/>
          <p:cNvSpPr/>
          <p:nvPr/>
        </p:nvSpPr>
        <p:spPr>
          <a:xfrm>
            <a:off x="6126480" y="3913632"/>
            <a:ext cx="2651760" cy="320040"/>
          </a:xfrm>
          <a:prstGeom prst="rect">
            <a:avLst/>
          </a:prstGeom>
          <a:noFill/>
          <a:ln/>
        </p:spPr>
        <p:txBody>
          <a:bodyPr wrap="square" rtlCol="0" anchor="ctr"/>
          <a:lstStyle/>
          <a:p>
            <a:pPr algn="ctr" indent="0" marL="0">
              <a:buNone/>
            </a:pPr>
            <a:r>
              <a:rPr lang="en-US" sz="1300" b="1" dirty="0">
                <a:solidFill>
                  <a:srgbClr val="780000"/>
                </a:solidFill>
                <a:latin typeface="Microsoft YaHei" pitchFamily="34" charset="0"/>
                <a:ea typeface="Microsoft YaHei" pitchFamily="34" charset="-122"/>
                <a:cs typeface="Microsoft YaHei" pitchFamily="34" charset="-120"/>
              </a:rPr>
              <a:t>赫伯特·西蒙</a:t>
            </a:r>
            <a:endParaRPr lang="en-US" sz="1300" dirty="0"/>
          </a:p>
        </p:txBody>
      </p:sp>
      <p:sp>
        <p:nvSpPr>
          <p:cNvPr id="29" name="Text 27"/>
          <p:cNvSpPr/>
          <p:nvPr/>
        </p:nvSpPr>
        <p:spPr>
          <a:xfrm>
            <a:off x="6126480" y="4206240"/>
            <a:ext cx="2651760" cy="320040"/>
          </a:xfrm>
          <a:prstGeom prst="rect">
            <a:avLst/>
          </a:prstGeom>
          <a:noFill/>
          <a:ln/>
        </p:spPr>
        <p:txBody>
          <a:bodyPr wrap="square" rtlCol="0" anchor="ctr"/>
          <a:lstStyle/>
          <a:p>
            <a:pPr algn="ctr" indent="0" marL="0">
              <a:buNone/>
            </a:pPr>
            <a:r>
              <a:rPr lang="en-US" sz="1100" dirty="0">
                <a:solidFill>
                  <a:srgbClr val="003049"/>
                </a:solidFill>
                <a:latin typeface="Calibri" pitchFamily="34" charset="0"/>
                <a:ea typeface="Calibri" pitchFamily="34" charset="-122"/>
                <a:cs typeface="Calibri" pitchFamily="34" charset="-120"/>
              </a:rPr>
              <a:t>有限理性决策模型</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行为经济学的核心发现</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50</a:t>
            </a:r>
            <a:endParaRPr lang="en-US" sz="1100" dirty="0"/>
          </a:p>
        </p:txBody>
      </p:sp>
      <p:sp>
        <p:nvSpPr>
          <p:cNvPr id="6" name="Shape 4"/>
          <p:cNvSpPr/>
          <p:nvPr/>
        </p:nvSpPr>
        <p:spPr>
          <a:xfrm>
            <a:off x="457200" y="1005840"/>
            <a:ext cx="4114800" cy="1691640"/>
          </a:xfrm>
          <a:prstGeom prst="roundRect">
            <a:avLst>
              <a:gd name="adj" fmla="val 5405"/>
            </a:avLst>
          </a:prstGeom>
          <a:solidFill>
            <a:srgbClr val="FFFFFF"/>
          </a:solidFill>
          <a:ln w="12700">
            <a:solidFill>
              <a:srgbClr val="669BBC"/>
            </a:solidFill>
            <a:prstDash val="solid"/>
          </a:ln>
        </p:spPr>
      </p:sp>
      <p:sp>
        <p:nvSpPr>
          <p:cNvPr id="7" name="Shape 5"/>
          <p:cNvSpPr/>
          <p:nvPr/>
        </p:nvSpPr>
        <p:spPr>
          <a:xfrm>
            <a:off x="594360" y="1143000"/>
            <a:ext cx="365760" cy="365760"/>
          </a:xfrm>
          <a:prstGeom prst="ellipse">
            <a:avLst/>
          </a:prstGeom>
          <a:solidFill>
            <a:srgbClr val="C1121F"/>
          </a:solidFill>
          <a:ln/>
        </p:spPr>
      </p:sp>
      <p:sp>
        <p:nvSpPr>
          <p:cNvPr id="8" name="Text 6"/>
          <p:cNvSpPr/>
          <p:nvPr/>
        </p:nvSpPr>
        <p:spPr>
          <a:xfrm>
            <a:off x="59436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143000"/>
            <a:ext cx="338328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损失厌恶</a:t>
            </a:r>
            <a:endParaRPr lang="en-US" sz="1600" dirty="0"/>
          </a:p>
        </p:txBody>
      </p:sp>
      <p:sp>
        <p:nvSpPr>
          <p:cNvPr id="10" name="Text 8"/>
          <p:cNvSpPr/>
          <p:nvPr/>
        </p:nvSpPr>
        <p:spPr>
          <a:xfrm>
            <a:off x="594360" y="1600200"/>
            <a:ext cx="3840480" cy="4114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人们对损失的敏感程度是收益的2-2.5倍</a:t>
            </a:r>
            <a:endParaRPr lang="en-US" sz="1300" dirty="0"/>
          </a:p>
        </p:txBody>
      </p:sp>
      <p:sp>
        <p:nvSpPr>
          <p:cNvPr id="11" name="Text 9"/>
          <p:cNvSpPr/>
          <p:nvPr/>
        </p:nvSpPr>
        <p:spPr>
          <a:xfrm>
            <a:off x="594360" y="2057400"/>
            <a:ext cx="3840480" cy="548640"/>
          </a:xfrm>
          <a:prstGeom prst="rect">
            <a:avLst/>
          </a:prstGeom>
          <a:noFill/>
          <a:ln/>
        </p:spPr>
        <p:txBody>
          <a:bodyPr wrap="square" rtlCol="0" anchor="ctr"/>
          <a:lstStyle/>
          <a:p>
            <a:pPr indent="0" marL="0">
              <a:buNone/>
            </a:pPr>
            <a:r>
              <a:rPr lang="en-US" sz="1100" i="1" dirty="0">
                <a:solidFill>
                  <a:srgbClr val="669BBC"/>
                </a:solidFill>
                <a:latin typeface="Calibri" pitchFamily="34" charset="0"/>
                <a:ea typeface="Calibri" pitchFamily="34" charset="-122"/>
                <a:cs typeface="Calibri" pitchFamily="34" charset="-120"/>
              </a:rPr>
              <a:t>「前景理论」：价值函数在损失区间更陡峭</a:t>
            </a:r>
            <a:endParaRPr lang="en-US" sz="1100" dirty="0"/>
          </a:p>
        </p:txBody>
      </p:sp>
      <p:sp>
        <p:nvSpPr>
          <p:cNvPr id="12" name="Shape 10"/>
          <p:cNvSpPr/>
          <p:nvPr/>
        </p:nvSpPr>
        <p:spPr>
          <a:xfrm>
            <a:off x="4800600" y="1005840"/>
            <a:ext cx="4114800" cy="1691640"/>
          </a:xfrm>
          <a:prstGeom prst="roundRect">
            <a:avLst>
              <a:gd name="adj" fmla="val 5405"/>
            </a:avLst>
          </a:prstGeom>
          <a:solidFill>
            <a:srgbClr val="FFFFFF"/>
          </a:solidFill>
          <a:ln w="12700">
            <a:solidFill>
              <a:srgbClr val="669BBC"/>
            </a:solidFill>
            <a:prstDash val="solid"/>
          </a:ln>
        </p:spPr>
      </p:sp>
      <p:sp>
        <p:nvSpPr>
          <p:cNvPr id="13" name="Shape 11"/>
          <p:cNvSpPr/>
          <p:nvPr/>
        </p:nvSpPr>
        <p:spPr>
          <a:xfrm>
            <a:off x="4937760" y="1143000"/>
            <a:ext cx="365760" cy="365760"/>
          </a:xfrm>
          <a:prstGeom prst="ellipse">
            <a:avLst/>
          </a:prstGeom>
          <a:solidFill>
            <a:srgbClr val="C1121F"/>
          </a:solidFill>
          <a:ln/>
        </p:spPr>
      </p:sp>
      <p:sp>
        <p:nvSpPr>
          <p:cNvPr id="14" name="Text 12"/>
          <p:cNvSpPr/>
          <p:nvPr/>
        </p:nvSpPr>
        <p:spPr>
          <a:xfrm>
            <a:off x="4937760" y="114300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5394960" y="1143000"/>
            <a:ext cx="338328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锚定效应</a:t>
            </a:r>
            <a:endParaRPr lang="en-US" sz="1600" dirty="0"/>
          </a:p>
        </p:txBody>
      </p:sp>
      <p:sp>
        <p:nvSpPr>
          <p:cNvPr id="16" name="Text 14"/>
          <p:cNvSpPr/>
          <p:nvPr/>
        </p:nvSpPr>
        <p:spPr>
          <a:xfrm>
            <a:off x="4937760" y="1600200"/>
            <a:ext cx="3840480" cy="4114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初始信息对后续判断产生过度影响</a:t>
            </a:r>
            <a:endParaRPr lang="en-US" sz="1300" dirty="0"/>
          </a:p>
        </p:txBody>
      </p:sp>
      <p:sp>
        <p:nvSpPr>
          <p:cNvPr id="17" name="Text 15"/>
          <p:cNvSpPr/>
          <p:nvPr/>
        </p:nvSpPr>
        <p:spPr>
          <a:xfrm>
            <a:off x="4937760" y="2057400"/>
            <a:ext cx="3840480" cy="548640"/>
          </a:xfrm>
          <a:prstGeom prst="rect">
            <a:avLst/>
          </a:prstGeom>
          <a:noFill/>
          <a:ln/>
        </p:spPr>
        <p:txBody>
          <a:bodyPr wrap="square" rtlCol="0" anchor="ctr"/>
          <a:lstStyle/>
          <a:p>
            <a:pPr indent="0" marL="0">
              <a:buNone/>
            </a:pPr>
            <a:r>
              <a:rPr lang="en-US" sz="1100" i="1" dirty="0">
                <a:solidFill>
                  <a:srgbClr val="669BBC"/>
                </a:solidFill>
                <a:latin typeface="Calibri" pitchFamily="34" charset="0"/>
                <a:ea typeface="Calibri" pitchFamily="34" charset="-122"/>
                <a:cs typeface="Calibri" pitchFamily="34" charset="-120"/>
              </a:rPr>
              <a:t>谈判中的起始价决定最终成交区间</a:t>
            </a:r>
            <a:endParaRPr lang="en-US" sz="1100" dirty="0"/>
          </a:p>
        </p:txBody>
      </p:sp>
      <p:sp>
        <p:nvSpPr>
          <p:cNvPr id="18" name="Shape 16"/>
          <p:cNvSpPr/>
          <p:nvPr/>
        </p:nvSpPr>
        <p:spPr>
          <a:xfrm>
            <a:off x="457200" y="2880360"/>
            <a:ext cx="4114800" cy="1691640"/>
          </a:xfrm>
          <a:prstGeom prst="roundRect">
            <a:avLst>
              <a:gd name="adj" fmla="val 5405"/>
            </a:avLst>
          </a:prstGeom>
          <a:solidFill>
            <a:srgbClr val="FFFFFF"/>
          </a:solidFill>
          <a:ln w="12700">
            <a:solidFill>
              <a:srgbClr val="669BBC"/>
            </a:solidFill>
            <a:prstDash val="solid"/>
          </a:ln>
        </p:spPr>
      </p:sp>
      <p:sp>
        <p:nvSpPr>
          <p:cNvPr id="19" name="Shape 17"/>
          <p:cNvSpPr/>
          <p:nvPr/>
        </p:nvSpPr>
        <p:spPr>
          <a:xfrm>
            <a:off x="594360" y="3017520"/>
            <a:ext cx="365760" cy="365760"/>
          </a:xfrm>
          <a:prstGeom prst="ellipse">
            <a:avLst/>
          </a:prstGeom>
          <a:solidFill>
            <a:srgbClr val="C1121F"/>
          </a:solidFill>
          <a:ln/>
        </p:spPr>
      </p:sp>
      <p:sp>
        <p:nvSpPr>
          <p:cNvPr id="20" name="Text 18"/>
          <p:cNvSpPr/>
          <p:nvPr/>
        </p:nvSpPr>
        <p:spPr>
          <a:xfrm>
            <a:off x="594360" y="301752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1051560" y="3017520"/>
            <a:ext cx="338328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现状偏差</a:t>
            </a:r>
            <a:endParaRPr lang="en-US" sz="1600" dirty="0"/>
          </a:p>
        </p:txBody>
      </p:sp>
      <p:sp>
        <p:nvSpPr>
          <p:cNvPr id="22" name="Text 20"/>
          <p:cNvSpPr/>
          <p:nvPr/>
        </p:nvSpPr>
        <p:spPr>
          <a:xfrm>
            <a:off x="594360" y="3474720"/>
            <a:ext cx="3840480" cy="4114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人们倾向于维持现有状态</a:t>
            </a:r>
            <a:endParaRPr lang="en-US" sz="1300" dirty="0"/>
          </a:p>
        </p:txBody>
      </p:sp>
      <p:sp>
        <p:nvSpPr>
          <p:cNvPr id="23" name="Text 21"/>
          <p:cNvSpPr/>
          <p:nvPr/>
        </p:nvSpPr>
        <p:spPr>
          <a:xfrm>
            <a:off x="594360" y="3931920"/>
            <a:ext cx="3840480" cy="548640"/>
          </a:xfrm>
          <a:prstGeom prst="rect">
            <a:avLst/>
          </a:prstGeom>
          <a:noFill/>
          <a:ln/>
        </p:spPr>
        <p:txBody>
          <a:bodyPr wrap="square" rtlCol="0" anchor="ctr"/>
          <a:lstStyle/>
          <a:p>
            <a:pPr indent="0" marL="0">
              <a:buNone/>
            </a:pPr>
            <a:r>
              <a:rPr lang="en-US" sz="1100" i="1" dirty="0">
                <a:solidFill>
                  <a:srgbClr val="669BBC"/>
                </a:solidFill>
                <a:latin typeface="Calibri" pitchFamily="34" charset="0"/>
                <a:ea typeface="Calibri" pitchFamily="34" charset="-122"/>
                <a:cs typeface="Calibri" pitchFamily="34" charset="-120"/>
              </a:rPr>
              <a:t>默认选项设计显著影响选择率（养老金、器官捐献）</a:t>
            </a:r>
            <a:endParaRPr lang="en-US" sz="1100" dirty="0"/>
          </a:p>
        </p:txBody>
      </p:sp>
      <p:sp>
        <p:nvSpPr>
          <p:cNvPr id="24" name="Shape 22"/>
          <p:cNvSpPr/>
          <p:nvPr/>
        </p:nvSpPr>
        <p:spPr>
          <a:xfrm>
            <a:off x="4800600" y="2880360"/>
            <a:ext cx="4114800" cy="1691640"/>
          </a:xfrm>
          <a:prstGeom prst="roundRect">
            <a:avLst>
              <a:gd name="adj" fmla="val 5405"/>
            </a:avLst>
          </a:prstGeom>
          <a:solidFill>
            <a:srgbClr val="FFFFFF"/>
          </a:solidFill>
          <a:ln w="12700">
            <a:solidFill>
              <a:srgbClr val="669BBC"/>
            </a:solidFill>
            <a:prstDash val="solid"/>
          </a:ln>
        </p:spPr>
      </p:sp>
      <p:sp>
        <p:nvSpPr>
          <p:cNvPr id="25" name="Shape 23"/>
          <p:cNvSpPr/>
          <p:nvPr/>
        </p:nvSpPr>
        <p:spPr>
          <a:xfrm>
            <a:off x="4937760" y="3017520"/>
            <a:ext cx="365760" cy="365760"/>
          </a:xfrm>
          <a:prstGeom prst="ellipse">
            <a:avLst/>
          </a:prstGeom>
          <a:solidFill>
            <a:srgbClr val="C1121F"/>
          </a:solidFill>
          <a:ln/>
        </p:spPr>
      </p:sp>
      <p:sp>
        <p:nvSpPr>
          <p:cNvPr id="26" name="Text 24"/>
          <p:cNvSpPr/>
          <p:nvPr/>
        </p:nvSpPr>
        <p:spPr>
          <a:xfrm>
            <a:off x="4937760" y="301752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7" name="Text 25"/>
          <p:cNvSpPr/>
          <p:nvPr/>
        </p:nvSpPr>
        <p:spPr>
          <a:xfrm>
            <a:off x="5394960" y="3017520"/>
            <a:ext cx="338328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社会偏好</a:t>
            </a:r>
            <a:endParaRPr lang="en-US" sz="1600" dirty="0"/>
          </a:p>
        </p:txBody>
      </p:sp>
      <p:sp>
        <p:nvSpPr>
          <p:cNvPr id="28" name="Text 26"/>
          <p:cNvSpPr/>
          <p:nvPr/>
        </p:nvSpPr>
        <p:spPr>
          <a:xfrm>
            <a:off x="4937760" y="3474720"/>
            <a:ext cx="3840480" cy="4114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人们关注公平、愿意牺牲个人利益惩罚不公平行为</a:t>
            </a:r>
            <a:endParaRPr lang="en-US" sz="1300" dirty="0"/>
          </a:p>
        </p:txBody>
      </p:sp>
      <p:sp>
        <p:nvSpPr>
          <p:cNvPr id="29" name="Text 27"/>
          <p:cNvSpPr/>
          <p:nvPr/>
        </p:nvSpPr>
        <p:spPr>
          <a:xfrm>
            <a:off x="4937760" y="3931920"/>
            <a:ext cx="3840480" cy="548640"/>
          </a:xfrm>
          <a:prstGeom prst="rect">
            <a:avLst/>
          </a:prstGeom>
          <a:noFill/>
          <a:ln/>
        </p:spPr>
        <p:txBody>
          <a:bodyPr wrap="square" rtlCol="0" anchor="ctr"/>
          <a:lstStyle/>
          <a:p>
            <a:pPr indent="0" marL="0">
              <a:buNone/>
            </a:pPr>
            <a:r>
              <a:rPr lang="en-US" sz="1100" i="1" dirty="0">
                <a:solidFill>
                  <a:srgbClr val="669BBC"/>
                </a:solidFill>
                <a:latin typeface="Calibri" pitchFamily="34" charset="0"/>
                <a:ea typeface="Calibri" pitchFamily="34" charset="-122"/>
                <a:cs typeface="Calibri" pitchFamily="34" charset="-120"/>
              </a:rPr>
              <a:t>最后通牒博弈中，不公平报价常被拒绝</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信息经济学与柠檬市场</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51</a:t>
            </a:r>
            <a:endParaRPr lang="en-US" sz="1100" dirty="0"/>
          </a:p>
        </p:txBody>
      </p:sp>
      <p:sp>
        <p:nvSpPr>
          <p:cNvPr id="6" name="Shape 4"/>
          <p:cNvSpPr/>
          <p:nvPr/>
        </p:nvSpPr>
        <p:spPr>
          <a:xfrm>
            <a:off x="457200" y="1005840"/>
            <a:ext cx="8229600" cy="1005840"/>
          </a:xfrm>
          <a:prstGeom prst="roundRect">
            <a:avLst>
              <a:gd name="adj" fmla="val 9091"/>
            </a:avLst>
          </a:prstGeom>
          <a:solidFill>
            <a:srgbClr val="003049"/>
          </a:solidFill>
          <a:ln/>
        </p:spPr>
      </p:sp>
      <p:sp>
        <p:nvSpPr>
          <p:cNvPr id="7" name="Text 5"/>
          <p:cNvSpPr/>
          <p:nvPr/>
        </p:nvSpPr>
        <p:spPr>
          <a:xfrm>
            <a:off x="640080" y="1097280"/>
            <a:ext cx="7863840" cy="320040"/>
          </a:xfrm>
          <a:prstGeom prst="rect">
            <a:avLst/>
          </a:prstGeom>
          <a:noFill/>
          <a:ln/>
        </p:spPr>
        <p:txBody>
          <a:bodyPr wrap="square" rtlCol="0" anchor="ctr"/>
          <a:lstStyle/>
          <a:p>
            <a:pPr indent="0" marL="0">
              <a:buNone/>
            </a:pPr>
            <a:r>
              <a:rPr lang="en-US" sz="1400" b="1" dirty="0">
                <a:solidFill>
                  <a:srgbClr val="669BBC"/>
                </a:solidFill>
                <a:latin typeface="Microsoft YaHei" pitchFamily="34" charset="0"/>
                <a:ea typeface="Microsoft YaHei" pitchFamily="34" charset="-122"/>
                <a:cs typeface="Microsoft YaHei" pitchFamily="34" charset="-120"/>
              </a:rPr>
              <a:t>乔治·阿克洛夫（1970）</a:t>
            </a:r>
            <a:endParaRPr lang="en-US" sz="1400" dirty="0"/>
          </a:p>
        </p:txBody>
      </p:sp>
      <p:sp>
        <p:nvSpPr>
          <p:cNvPr id="8" name="Text 6"/>
          <p:cNvSpPr/>
          <p:nvPr/>
        </p:nvSpPr>
        <p:spPr>
          <a:xfrm>
            <a:off x="640080" y="1417320"/>
            <a:ext cx="7863840" cy="457200"/>
          </a:xfrm>
          <a:prstGeom prst="rect">
            <a:avLst/>
          </a:prstGeom>
          <a:noFill/>
          <a:ln/>
        </p:spPr>
        <p:txBody>
          <a:bodyPr wrap="square" rtlCol="0" anchor="ctr"/>
          <a:lstStyle/>
          <a:p>
            <a:pPr indent="0" marL="0">
              <a:buNone/>
            </a:pPr>
            <a:r>
              <a:rPr lang="en-US" sz="1500" dirty="0">
                <a:solidFill>
                  <a:srgbClr val="FFFFFF"/>
                </a:solidFill>
                <a:latin typeface="Microsoft YaHei" pitchFamily="34" charset="0"/>
                <a:ea typeface="Microsoft YaHei" pitchFamily="34" charset="-122"/>
                <a:cs typeface="Microsoft YaHei" pitchFamily="34" charset="-120"/>
              </a:rPr>
              <a:t>「信息不对称」导致市场失灵：二手车市场中，卖家知道车况，买家不知道</a:t>
            </a:r>
            <a:endParaRPr lang="en-US" sz="1500" dirty="0"/>
          </a:p>
        </p:txBody>
      </p:sp>
      <p:sp>
        <p:nvSpPr>
          <p:cNvPr id="9" name="Text 7"/>
          <p:cNvSpPr/>
          <p:nvPr/>
        </p:nvSpPr>
        <p:spPr>
          <a:xfrm>
            <a:off x="457200" y="2194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市场失灵机制</a:t>
            </a:r>
            <a:endParaRPr lang="en-US" sz="1600" dirty="0"/>
          </a:p>
        </p:txBody>
      </p:sp>
      <p:sp>
        <p:nvSpPr>
          <p:cNvPr id="10" name="Shape 8"/>
          <p:cNvSpPr/>
          <p:nvPr/>
        </p:nvSpPr>
        <p:spPr>
          <a:xfrm>
            <a:off x="457200" y="2606040"/>
            <a:ext cx="3931920" cy="1920240"/>
          </a:xfrm>
          <a:prstGeom prst="roundRect">
            <a:avLst>
              <a:gd name="adj" fmla="val 4762"/>
            </a:avLst>
          </a:prstGeom>
          <a:solidFill>
            <a:srgbClr val="FFFFFF"/>
          </a:solidFill>
          <a:ln w="12700">
            <a:solidFill>
              <a:srgbClr val="669BBC"/>
            </a:solidFill>
            <a:prstDash val="solid"/>
          </a:ln>
        </p:spPr>
      </p:sp>
      <p:sp>
        <p:nvSpPr>
          <p:cNvPr id="11" name="Text 9"/>
          <p:cNvSpPr/>
          <p:nvPr/>
        </p:nvSpPr>
        <p:spPr>
          <a:xfrm>
            <a:off x="640080" y="2743200"/>
            <a:ext cx="3657600" cy="347472"/>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买家无法区分好车与坏车</a:t>
            </a:r>
            <a:endParaRPr lang="en-US" sz="1300" dirty="0"/>
          </a:p>
        </p:txBody>
      </p:sp>
      <p:sp>
        <p:nvSpPr>
          <p:cNvPr id="12" name="Text 10"/>
          <p:cNvSpPr/>
          <p:nvPr/>
        </p:nvSpPr>
        <p:spPr>
          <a:xfrm>
            <a:off x="640080" y="3090672"/>
            <a:ext cx="3657600" cy="347472"/>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好车价格被低估</a:t>
            </a:r>
            <a:endParaRPr lang="en-US" sz="1300" dirty="0"/>
          </a:p>
        </p:txBody>
      </p:sp>
      <p:sp>
        <p:nvSpPr>
          <p:cNvPr id="13" name="Text 11"/>
          <p:cNvSpPr/>
          <p:nvPr/>
        </p:nvSpPr>
        <p:spPr>
          <a:xfrm>
            <a:off x="640080" y="3438144"/>
            <a:ext cx="3657600" cy="347472"/>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好车车主不愿出售</a:t>
            </a:r>
            <a:endParaRPr lang="en-US" sz="1300" dirty="0"/>
          </a:p>
        </p:txBody>
      </p:sp>
      <p:sp>
        <p:nvSpPr>
          <p:cNvPr id="14" name="Text 12"/>
          <p:cNvSpPr/>
          <p:nvPr/>
        </p:nvSpPr>
        <p:spPr>
          <a:xfrm>
            <a:off x="640080" y="3785616"/>
            <a:ext cx="3657600" cy="347472"/>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市场中只剩坏车（逆向选择）</a:t>
            </a:r>
            <a:endParaRPr lang="en-US" sz="1300" dirty="0"/>
          </a:p>
        </p:txBody>
      </p:sp>
      <p:sp>
        <p:nvSpPr>
          <p:cNvPr id="15" name="Text 13"/>
          <p:cNvSpPr/>
          <p:nvPr/>
        </p:nvSpPr>
        <p:spPr>
          <a:xfrm>
            <a:off x="640080" y="4133088"/>
            <a:ext cx="3657600" cy="347472"/>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市场最终崩溃</a:t>
            </a:r>
            <a:endParaRPr lang="en-US" sz="1300" dirty="0"/>
          </a:p>
        </p:txBody>
      </p:sp>
      <p:sp>
        <p:nvSpPr>
          <p:cNvPr id="16" name="Text 14"/>
          <p:cNvSpPr/>
          <p:nvPr/>
        </p:nvSpPr>
        <p:spPr>
          <a:xfrm>
            <a:off x="4754880" y="2194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斯密时代的解决之道</a:t>
            </a:r>
            <a:endParaRPr lang="en-US" sz="1600" dirty="0"/>
          </a:p>
        </p:txBody>
      </p:sp>
      <p:sp>
        <p:nvSpPr>
          <p:cNvPr id="17" name="Shape 15"/>
          <p:cNvSpPr/>
          <p:nvPr/>
        </p:nvSpPr>
        <p:spPr>
          <a:xfrm>
            <a:off x="4754880" y="2606040"/>
            <a:ext cx="3931920" cy="1920240"/>
          </a:xfrm>
          <a:prstGeom prst="roundRect">
            <a:avLst>
              <a:gd name="adj" fmla="val 4762"/>
            </a:avLst>
          </a:prstGeom>
          <a:solidFill>
            <a:srgbClr val="FFFFFF"/>
          </a:solidFill>
          <a:ln w="12700">
            <a:solidFill>
              <a:srgbClr val="669BBC"/>
            </a:solidFill>
            <a:prstDash val="solid"/>
          </a:ln>
        </p:spPr>
      </p:sp>
      <p:sp>
        <p:nvSpPr>
          <p:cNvPr id="18" name="Text 16"/>
          <p:cNvSpPr/>
          <p:nvPr/>
        </p:nvSpPr>
        <p:spPr>
          <a:xfrm>
            <a:off x="4937760" y="2743200"/>
            <a:ext cx="3657600" cy="41148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声誉机制：重复交易建立信任</a:t>
            </a:r>
            <a:endParaRPr lang="en-US" sz="1300" dirty="0"/>
          </a:p>
        </p:txBody>
      </p:sp>
      <p:sp>
        <p:nvSpPr>
          <p:cNvPr id="19" name="Text 17"/>
          <p:cNvSpPr/>
          <p:nvPr/>
        </p:nvSpPr>
        <p:spPr>
          <a:xfrm>
            <a:off x="4937760" y="3182112"/>
            <a:ext cx="3657600" cy="41148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担保制度：卖方提供质量保证</a:t>
            </a:r>
            <a:endParaRPr lang="en-US" sz="1300" dirty="0"/>
          </a:p>
        </p:txBody>
      </p:sp>
      <p:sp>
        <p:nvSpPr>
          <p:cNvPr id="20" name="Text 18"/>
          <p:cNvSpPr/>
          <p:nvPr/>
        </p:nvSpPr>
        <p:spPr>
          <a:xfrm>
            <a:off x="4937760" y="3621024"/>
            <a:ext cx="3657600" cy="41148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品牌效应：大商家拿声誉担保</a:t>
            </a:r>
            <a:endParaRPr lang="en-US" sz="1300" dirty="0"/>
          </a:p>
        </p:txBody>
      </p:sp>
      <p:sp>
        <p:nvSpPr>
          <p:cNvPr id="21" name="Text 19"/>
          <p:cNvSpPr/>
          <p:nvPr/>
        </p:nvSpPr>
        <p:spPr>
          <a:xfrm>
            <a:off x="4937760" y="4059936"/>
            <a:ext cx="3657600" cy="41148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 </a:t>
            </a:r>
            <a:pPr indent="0" marL="0">
              <a:buNone/>
            </a:pPr>
            <a:r>
              <a:rPr lang="en-US" sz="1300" dirty="0">
                <a:solidFill>
                  <a:srgbClr val="003049"/>
                </a:solidFill>
                <a:latin typeface="Microsoft YaHei" pitchFamily="34" charset="0"/>
                <a:ea typeface="Microsoft YaHei" pitchFamily="34" charset="-122"/>
                <a:cs typeface="Microsoft YaHei" pitchFamily="34" charset="-120"/>
              </a:rPr>
              <a:t>政府监管：强制信息披露</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柠檬市场的机制</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52</a:t>
            </a:r>
            <a:endParaRPr lang="en-US" sz="1100" dirty="0"/>
          </a:p>
        </p:txBody>
      </p:sp>
      <p:sp>
        <p:nvSpPr>
          <p:cNvPr id="6" name="Text 4"/>
          <p:cNvSpPr/>
          <p:nvPr/>
        </p:nvSpPr>
        <p:spPr>
          <a:xfrm>
            <a:off x="457200" y="1051560"/>
            <a:ext cx="8229600" cy="365760"/>
          </a:xfrm>
          <a:prstGeom prst="rect">
            <a:avLst/>
          </a:prstGeom>
          <a:noFill/>
          <a:ln/>
        </p:spPr>
        <p:txBody>
          <a:bodyPr wrap="square" rtlCol="0" anchor="ctr"/>
          <a:lstStyle/>
          <a:p>
            <a:pPr indent="0" marL="0">
              <a:buNone/>
            </a:pPr>
            <a:r>
              <a:rPr lang="en-US" sz="1800" b="1" dirty="0">
                <a:solidFill>
                  <a:srgbClr val="C1121F"/>
                </a:solidFill>
                <a:latin typeface="Microsoft YaHei" pitchFamily="34" charset="0"/>
                <a:ea typeface="Microsoft YaHei" pitchFamily="34" charset="-122"/>
                <a:cs typeface="Microsoft YaHei" pitchFamily="34" charset="-120"/>
              </a:rPr>
              <a:t>市场萎缩的螺旋</a:t>
            </a:r>
            <a:endParaRPr lang="en-US" sz="1800" dirty="0"/>
          </a:p>
        </p:txBody>
      </p:sp>
      <p:sp>
        <p:nvSpPr>
          <p:cNvPr id="7" name="Shape 5"/>
          <p:cNvSpPr/>
          <p:nvPr/>
        </p:nvSpPr>
        <p:spPr>
          <a:xfrm>
            <a:off x="2551130" y="1700830"/>
            <a:ext cx="1280160" cy="640080"/>
          </a:xfrm>
          <a:prstGeom prst="ellipse">
            <a:avLst/>
          </a:prstGeom>
          <a:solidFill>
            <a:srgbClr val="669BBC"/>
          </a:solidFill>
          <a:ln/>
        </p:spPr>
      </p:sp>
      <p:sp>
        <p:nvSpPr>
          <p:cNvPr id="8" name="Text 6"/>
          <p:cNvSpPr/>
          <p:nvPr/>
        </p:nvSpPr>
        <p:spPr>
          <a:xfrm>
            <a:off x="2551130" y="1700830"/>
            <a:ext cx="1280160" cy="64008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信息不对称</a:t>
            </a:r>
            <a:endParaRPr lang="en-US" sz="1000" dirty="0"/>
          </a:p>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存在</a:t>
            </a:r>
            <a:endParaRPr lang="en-US" sz="1000" dirty="0"/>
          </a:p>
        </p:txBody>
      </p:sp>
      <p:sp>
        <p:nvSpPr>
          <p:cNvPr id="9" name="Text 7"/>
          <p:cNvSpPr/>
          <p:nvPr/>
        </p:nvSpPr>
        <p:spPr>
          <a:xfrm>
            <a:off x="3154680" y="2788920"/>
            <a:ext cx="274320" cy="274320"/>
          </a:xfrm>
          <a:prstGeom prst="rect">
            <a:avLst/>
          </a:prstGeom>
          <a:noFill/>
          <a:ln/>
        </p:spPr>
        <p:txBody>
          <a:bodyPr wrap="square" rtlCol="0" anchor="ctr"/>
          <a:lstStyle/>
          <a:p>
            <a:pPr algn="ctr" indent="0" marL="0">
              <a:buNone/>
            </a:pPr>
            <a:r>
              <a:rPr lang="en-US" sz="1400" dirty="0">
                <a:solidFill>
                  <a:srgbClr val="C1121F"/>
                </a:solidFill>
              </a:rPr>
              <a:t>→</a:t>
            </a:r>
            <a:endParaRPr lang="en-US" sz="1400" dirty="0"/>
          </a:p>
        </p:txBody>
      </p:sp>
      <p:sp>
        <p:nvSpPr>
          <p:cNvPr id="10" name="Shape 8"/>
          <p:cNvSpPr/>
          <p:nvPr/>
        </p:nvSpPr>
        <p:spPr>
          <a:xfrm>
            <a:off x="2551130" y="3511250"/>
            <a:ext cx="1280160" cy="640080"/>
          </a:xfrm>
          <a:prstGeom prst="ellipse">
            <a:avLst/>
          </a:prstGeom>
          <a:solidFill>
            <a:srgbClr val="003049"/>
          </a:solidFill>
          <a:ln/>
        </p:spPr>
      </p:sp>
      <p:sp>
        <p:nvSpPr>
          <p:cNvPr id="11" name="Text 9"/>
          <p:cNvSpPr/>
          <p:nvPr/>
        </p:nvSpPr>
        <p:spPr>
          <a:xfrm>
            <a:off x="2551130" y="3511250"/>
            <a:ext cx="1280160" cy="64008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买家只愿</a:t>
            </a:r>
            <a:endParaRPr lang="en-US" sz="1000" dirty="0"/>
          </a:p>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出平均价</a:t>
            </a:r>
            <a:endParaRPr lang="en-US" sz="1000" dirty="0"/>
          </a:p>
        </p:txBody>
      </p:sp>
      <p:sp>
        <p:nvSpPr>
          <p:cNvPr id="12" name="Text 10"/>
          <p:cNvSpPr/>
          <p:nvPr/>
        </p:nvSpPr>
        <p:spPr>
          <a:xfrm>
            <a:off x="2148840" y="3794760"/>
            <a:ext cx="274320" cy="274320"/>
          </a:xfrm>
          <a:prstGeom prst="rect">
            <a:avLst/>
          </a:prstGeom>
          <a:noFill/>
          <a:ln/>
        </p:spPr>
        <p:txBody>
          <a:bodyPr wrap="square" rtlCol="0" anchor="ctr"/>
          <a:lstStyle/>
          <a:p>
            <a:pPr algn="ctr" indent="0" marL="0">
              <a:buNone/>
            </a:pPr>
            <a:r>
              <a:rPr lang="en-US" sz="1400" dirty="0">
                <a:solidFill>
                  <a:srgbClr val="C1121F"/>
                </a:solidFill>
              </a:rPr>
              <a:t>→</a:t>
            </a:r>
            <a:endParaRPr lang="en-US" sz="1400" dirty="0"/>
          </a:p>
        </p:txBody>
      </p:sp>
      <p:sp>
        <p:nvSpPr>
          <p:cNvPr id="13" name="Shape 11"/>
          <p:cNvSpPr/>
          <p:nvPr/>
        </p:nvSpPr>
        <p:spPr>
          <a:xfrm>
            <a:off x="740710" y="3511250"/>
            <a:ext cx="1280160" cy="640080"/>
          </a:xfrm>
          <a:prstGeom prst="ellipse">
            <a:avLst/>
          </a:prstGeom>
          <a:solidFill>
            <a:srgbClr val="C1121F"/>
          </a:solidFill>
          <a:ln/>
        </p:spPr>
      </p:sp>
      <p:sp>
        <p:nvSpPr>
          <p:cNvPr id="14" name="Text 12"/>
          <p:cNvSpPr/>
          <p:nvPr/>
        </p:nvSpPr>
        <p:spPr>
          <a:xfrm>
            <a:off x="740710" y="3511250"/>
            <a:ext cx="1280160" cy="64008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好车车主的</a:t>
            </a:r>
            <a:endParaRPr lang="en-US" sz="1000" dirty="0"/>
          </a:p>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保留价格 &gt; 平均价</a:t>
            </a:r>
            <a:endParaRPr lang="en-US" sz="1000" dirty="0"/>
          </a:p>
        </p:txBody>
      </p:sp>
      <p:sp>
        <p:nvSpPr>
          <p:cNvPr id="15" name="Text 13"/>
          <p:cNvSpPr/>
          <p:nvPr/>
        </p:nvSpPr>
        <p:spPr>
          <a:xfrm>
            <a:off x="1143000" y="2788920"/>
            <a:ext cx="274320" cy="274320"/>
          </a:xfrm>
          <a:prstGeom prst="rect">
            <a:avLst/>
          </a:prstGeom>
          <a:noFill/>
          <a:ln/>
        </p:spPr>
        <p:txBody>
          <a:bodyPr wrap="square" rtlCol="0" anchor="ctr"/>
          <a:lstStyle/>
          <a:p>
            <a:pPr algn="ctr" indent="0" marL="0">
              <a:buNone/>
            </a:pPr>
            <a:r>
              <a:rPr lang="en-US" sz="1400" dirty="0">
                <a:solidFill>
                  <a:srgbClr val="C1121F"/>
                </a:solidFill>
              </a:rPr>
              <a:t>→</a:t>
            </a:r>
            <a:endParaRPr lang="en-US" sz="1400" dirty="0"/>
          </a:p>
        </p:txBody>
      </p:sp>
      <p:sp>
        <p:nvSpPr>
          <p:cNvPr id="16" name="Shape 14"/>
          <p:cNvSpPr/>
          <p:nvPr/>
        </p:nvSpPr>
        <p:spPr>
          <a:xfrm>
            <a:off x="740710" y="1700830"/>
            <a:ext cx="1280160" cy="640080"/>
          </a:xfrm>
          <a:prstGeom prst="ellipse">
            <a:avLst/>
          </a:prstGeom>
          <a:solidFill>
            <a:srgbClr val="780000"/>
          </a:solidFill>
          <a:ln/>
        </p:spPr>
      </p:sp>
      <p:sp>
        <p:nvSpPr>
          <p:cNvPr id="17" name="Text 15"/>
          <p:cNvSpPr/>
          <p:nvPr/>
        </p:nvSpPr>
        <p:spPr>
          <a:xfrm>
            <a:off x="740710" y="1700830"/>
            <a:ext cx="1280160" cy="64008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好车退出</a:t>
            </a:r>
            <a:endParaRPr lang="en-US" sz="1000" dirty="0"/>
          </a:p>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市场</a:t>
            </a:r>
            <a:endParaRPr lang="en-US" sz="1000" dirty="0"/>
          </a:p>
        </p:txBody>
      </p:sp>
      <p:sp>
        <p:nvSpPr>
          <p:cNvPr id="18" name="Shape 16"/>
          <p:cNvSpPr/>
          <p:nvPr/>
        </p:nvSpPr>
        <p:spPr>
          <a:xfrm>
            <a:off x="457200" y="4206240"/>
            <a:ext cx="4114800" cy="457200"/>
          </a:xfrm>
          <a:prstGeom prst="roundRect">
            <a:avLst>
              <a:gd name="adj" fmla="val 16000"/>
            </a:avLst>
          </a:prstGeom>
          <a:solidFill>
            <a:srgbClr val="780000"/>
          </a:solidFill>
          <a:ln/>
        </p:spPr>
      </p:sp>
      <p:sp>
        <p:nvSpPr>
          <p:cNvPr id="19" name="Text 17"/>
          <p:cNvSpPr/>
          <p:nvPr/>
        </p:nvSpPr>
        <p:spPr>
          <a:xfrm>
            <a:off x="457200" y="4206240"/>
            <a:ext cx="4114800" cy="457200"/>
          </a:xfrm>
          <a:prstGeom prst="rect">
            <a:avLst/>
          </a:prstGeom>
          <a:noFill/>
          <a:ln/>
        </p:spPr>
        <p:txBody>
          <a:bodyPr wrap="square" rtlCol="0" anchor="ctr"/>
          <a:lstStyle/>
          <a:p>
            <a:pPr algn="ctr" indent="0" marL="0">
              <a:buNone/>
            </a:pPr>
            <a:r>
              <a:rPr lang="en-US" sz="1300" dirty="0">
                <a:solidFill>
                  <a:srgbClr val="FFFFFF"/>
                </a:solidFill>
                <a:latin typeface="Microsoft YaHei" pitchFamily="34" charset="0"/>
                <a:ea typeface="Microsoft YaHei" pitchFamily="34" charset="-122"/>
                <a:cs typeface="Microsoft YaHei" pitchFamily="34" charset="-120"/>
              </a:rPr>
              <a:t>市场崩溃：只剩坏车 = 柠檬</a:t>
            </a:r>
            <a:endParaRPr lang="en-US" sz="1300" dirty="0"/>
          </a:p>
        </p:txBody>
      </p:sp>
      <p:sp>
        <p:nvSpPr>
          <p:cNvPr id="20" name="Text 18"/>
          <p:cNvSpPr/>
          <p:nvPr/>
        </p:nvSpPr>
        <p:spPr>
          <a:xfrm>
            <a:off x="4846320" y="1051560"/>
            <a:ext cx="384048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信息经济学的现实映射</a:t>
            </a:r>
            <a:endParaRPr lang="en-US" sz="1600" dirty="0"/>
          </a:p>
        </p:txBody>
      </p:sp>
      <p:sp>
        <p:nvSpPr>
          <p:cNvPr id="21" name="Shape 19"/>
          <p:cNvSpPr/>
          <p:nvPr/>
        </p:nvSpPr>
        <p:spPr>
          <a:xfrm>
            <a:off x="4846320" y="1463040"/>
            <a:ext cx="3840480" cy="685800"/>
          </a:xfrm>
          <a:prstGeom prst="roundRect">
            <a:avLst>
              <a:gd name="adj" fmla="val 10667"/>
            </a:avLst>
          </a:prstGeom>
          <a:solidFill>
            <a:srgbClr val="FFFFFF"/>
          </a:solidFill>
          <a:ln w="12700">
            <a:solidFill>
              <a:srgbClr val="669BBC"/>
            </a:solidFill>
            <a:prstDash val="solid"/>
          </a:ln>
        </p:spPr>
      </p:sp>
      <p:sp>
        <p:nvSpPr>
          <p:cNvPr id="22" name="Text 20"/>
          <p:cNvSpPr/>
          <p:nvPr/>
        </p:nvSpPr>
        <p:spPr>
          <a:xfrm>
            <a:off x="4983480" y="1508760"/>
            <a:ext cx="118872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保险市场</a:t>
            </a:r>
            <a:endParaRPr lang="en-US" sz="1200" dirty="0"/>
          </a:p>
        </p:txBody>
      </p:sp>
      <p:sp>
        <p:nvSpPr>
          <p:cNvPr id="23" name="Text 21"/>
          <p:cNvSpPr/>
          <p:nvPr/>
        </p:nvSpPr>
        <p:spPr>
          <a:xfrm>
            <a:off x="4983480" y="1801368"/>
            <a:ext cx="3566160" cy="320040"/>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逆选择：高风险者更倾向投保</a:t>
            </a:r>
            <a:endParaRPr lang="en-US" sz="1100" dirty="0"/>
          </a:p>
        </p:txBody>
      </p:sp>
      <p:sp>
        <p:nvSpPr>
          <p:cNvPr id="24" name="Shape 22"/>
          <p:cNvSpPr/>
          <p:nvPr/>
        </p:nvSpPr>
        <p:spPr>
          <a:xfrm>
            <a:off x="4846320" y="2240280"/>
            <a:ext cx="3840480" cy="685800"/>
          </a:xfrm>
          <a:prstGeom prst="roundRect">
            <a:avLst>
              <a:gd name="adj" fmla="val 10667"/>
            </a:avLst>
          </a:prstGeom>
          <a:solidFill>
            <a:srgbClr val="FFFFFF"/>
          </a:solidFill>
          <a:ln w="12700">
            <a:solidFill>
              <a:srgbClr val="669BBC"/>
            </a:solidFill>
            <a:prstDash val="solid"/>
          </a:ln>
        </p:spPr>
      </p:sp>
      <p:sp>
        <p:nvSpPr>
          <p:cNvPr id="25" name="Text 23"/>
          <p:cNvSpPr/>
          <p:nvPr/>
        </p:nvSpPr>
        <p:spPr>
          <a:xfrm>
            <a:off x="4983480" y="2286000"/>
            <a:ext cx="118872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信贷市场</a:t>
            </a:r>
            <a:endParaRPr lang="en-US" sz="1200" dirty="0"/>
          </a:p>
        </p:txBody>
      </p:sp>
      <p:sp>
        <p:nvSpPr>
          <p:cNvPr id="26" name="Text 24"/>
          <p:cNvSpPr/>
          <p:nvPr/>
        </p:nvSpPr>
        <p:spPr>
          <a:xfrm>
            <a:off x="4983480" y="2578608"/>
            <a:ext cx="3566160" cy="320040"/>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征信缺失导致利率一刀切</a:t>
            </a:r>
            <a:endParaRPr lang="en-US" sz="1100" dirty="0"/>
          </a:p>
        </p:txBody>
      </p:sp>
      <p:sp>
        <p:nvSpPr>
          <p:cNvPr id="27" name="Shape 25"/>
          <p:cNvSpPr/>
          <p:nvPr/>
        </p:nvSpPr>
        <p:spPr>
          <a:xfrm>
            <a:off x="4846320" y="3017520"/>
            <a:ext cx="3840480" cy="685800"/>
          </a:xfrm>
          <a:prstGeom prst="roundRect">
            <a:avLst>
              <a:gd name="adj" fmla="val 10667"/>
            </a:avLst>
          </a:prstGeom>
          <a:solidFill>
            <a:srgbClr val="FFFFFF"/>
          </a:solidFill>
          <a:ln w="12700">
            <a:solidFill>
              <a:srgbClr val="669BBC"/>
            </a:solidFill>
            <a:prstDash val="solid"/>
          </a:ln>
        </p:spPr>
      </p:sp>
      <p:sp>
        <p:nvSpPr>
          <p:cNvPr id="28" name="Text 26"/>
          <p:cNvSpPr/>
          <p:nvPr/>
        </p:nvSpPr>
        <p:spPr>
          <a:xfrm>
            <a:off x="4983480" y="3063240"/>
            <a:ext cx="118872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劳动力市场</a:t>
            </a:r>
            <a:endParaRPr lang="en-US" sz="1200" dirty="0"/>
          </a:p>
        </p:txBody>
      </p:sp>
      <p:sp>
        <p:nvSpPr>
          <p:cNvPr id="29" name="Text 27"/>
          <p:cNvSpPr/>
          <p:nvPr/>
        </p:nvSpPr>
        <p:spPr>
          <a:xfrm>
            <a:off x="4983480" y="3355848"/>
            <a:ext cx="3566160" cy="320040"/>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学历成为信号筛选机制</a:t>
            </a:r>
            <a:endParaRPr lang="en-US" sz="1100" dirty="0"/>
          </a:p>
        </p:txBody>
      </p:sp>
      <p:sp>
        <p:nvSpPr>
          <p:cNvPr id="30" name="Shape 28"/>
          <p:cNvSpPr/>
          <p:nvPr/>
        </p:nvSpPr>
        <p:spPr>
          <a:xfrm>
            <a:off x="4846320" y="3794760"/>
            <a:ext cx="3840480" cy="685800"/>
          </a:xfrm>
          <a:prstGeom prst="roundRect">
            <a:avLst>
              <a:gd name="adj" fmla="val 10667"/>
            </a:avLst>
          </a:prstGeom>
          <a:solidFill>
            <a:srgbClr val="FFFFFF"/>
          </a:solidFill>
          <a:ln w="12700">
            <a:solidFill>
              <a:srgbClr val="669BBC"/>
            </a:solidFill>
            <a:prstDash val="solid"/>
          </a:ln>
        </p:spPr>
      </p:sp>
      <p:sp>
        <p:nvSpPr>
          <p:cNvPr id="31" name="Text 29"/>
          <p:cNvSpPr/>
          <p:nvPr/>
        </p:nvSpPr>
        <p:spPr>
          <a:xfrm>
            <a:off x="4983480" y="3840480"/>
            <a:ext cx="1188720" cy="32004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电商平台</a:t>
            </a:r>
            <a:endParaRPr lang="en-US" sz="1200" dirty="0"/>
          </a:p>
        </p:txBody>
      </p:sp>
      <p:sp>
        <p:nvSpPr>
          <p:cNvPr id="32" name="Text 30"/>
          <p:cNvSpPr/>
          <p:nvPr/>
        </p:nvSpPr>
        <p:spPr>
          <a:xfrm>
            <a:off x="4983480" y="4133088"/>
            <a:ext cx="3566160" cy="320040"/>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评价体系解决信息不对称</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斯密市场理论的当代补充</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53</a:t>
            </a:r>
            <a:endParaRPr lang="en-US" sz="1100" dirty="0"/>
          </a:p>
        </p:txBody>
      </p:sp>
      <p:sp>
        <p:nvSpPr>
          <p:cNvPr id="6" name="Text 4"/>
          <p:cNvSpPr/>
          <p:nvPr/>
        </p:nvSpPr>
        <p:spPr>
          <a:xfrm>
            <a:off x="457200" y="1051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斯密的原创贡献</a:t>
            </a:r>
            <a:endParaRPr lang="en-US" sz="1600" dirty="0"/>
          </a:p>
        </p:txBody>
      </p:sp>
      <p:sp>
        <p:nvSpPr>
          <p:cNvPr id="7" name="Shape 5"/>
          <p:cNvSpPr/>
          <p:nvPr/>
        </p:nvSpPr>
        <p:spPr>
          <a:xfrm>
            <a:off x="457200" y="1463040"/>
            <a:ext cx="3931920" cy="548640"/>
          </a:xfrm>
          <a:prstGeom prst="roundRect">
            <a:avLst>
              <a:gd name="adj" fmla="val 13333"/>
            </a:avLst>
          </a:prstGeom>
          <a:solidFill>
            <a:srgbClr val="FFFFFF"/>
          </a:solidFill>
          <a:ln w="19050">
            <a:solidFill>
              <a:srgbClr val="780000"/>
            </a:solidFill>
            <a:prstDash val="solid"/>
          </a:ln>
        </p:spPr>
      </p:sp>
      <p:sp>
        <p:nvSpPr>
          <p:cNvPr id="8" name="Text 6"/>
          <p:cNvSpPr/>
          <p:nvPr/>
        </p:nvSpPr>
        <p:spPr>
          <a:xfrm>
            <a:off x="594360" y="1481328"/>
            <a:ext cx="1280160" cy="256032"/>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分工理论</a:t>
            </a:r>
            <a:endParaRPr lang="en-US" sz="1300" dirty="0"/>
          </a:p>
        </p:txBody>
      </p:sp>
      <p:sp>
        <p:nvSpPr>
          <p:cNvPr id="9" name="Text 7"/>
          <p:cNvSpPr/>
          <p:nvPr/>
        </p:nvSpPr>
        <p:spPr>
          <a:xfrm>
            <a:off x="594360" y="1737360"/>
            <a:ext cx="3657600" cy="256032"/>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劳动分工受市场范围限制</a:t>
            </a:r>
            <a:endParaRPr lang="en-US" sz="1100" dirty="0"/>
          </a:p>
        </p:txBody>
      </p:sp>
      <p:sp>
        <p:nvSpPr>
          <p:cNvPr id="10" name="Shape 8"/>
          <p:cNvSpPr/>
          <p:nvPr/>
        </p:nvSpPr>
        <p:spPr>
          <a:xfrm>
            <a:off x="457200" y="2103120"/>
            <a:ext cx="3931920" cy="548640"/>
          </a:xfrm>
          <a:prstGeom prst="roundRect">
            <a:avLst>
              <a:gd name="adj" fmla="val 13333"/>
            </a:avLst>
          </a:prstGeom>
          <a:solidFill>
            <a:srgbClr val="FFFFFF"/>
          </a:solidFill>
          <a:ln w="19050">
            <a:solidFill>
              <a:srgbClr val="780000"/>
            </a:solidFill>
            <a:prstDash val="solid"/>
          </a:ln>
        </p:spPr>
      </p:sp>
      <p:sp>
        <p:nvSpPr>
          <p:cNvPr id="11" name="Text 9"/>
          <p:cNvSpPr/>
          <p:nvPr/>
        </p:nvSpPr>
        <p:spPr>
          <a:xfrm>
            <a:off x="594360" y="2121408"/>
            <a:ext cx="1280160" cy="256032"/>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看不见的手</a:t>
            </a:r>
            <a:endParaRPr lang="en-US" sz="1300" dirty="0"/>
          </a:p>
        </p:txBody>
      </p:sp>
      <p:sp>
        <p:nvSpPr>
          <p:cNvPr id="12" name="Text 10"/>
          <p:cNvSpPr/>
          <p:nvPr/>
        </p:nvSpPr>
        <p:spPr>
          <a:xfrm>
            <a:off x="594360" y="2377440"/>
            <a:ext cx="3657600" cy="256032"/>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自利行为自动促进社会福利</a:t>
            </a:r>
            <a:endParaRPr lang="en-US" sz="1100" dirty="0"/>
          </a:p>
        </p:txBody>
      </p:sp>
      <p:sp>
        <p:nvSpPr>
          <p:cNvPr id="13" name="Shape 11"/>
          <p:cNvSpPr/>
          <p:nvPr/>
        </p:nvSpPr>
        <p:spPr>
          <a:xfrm>
            <a:off x="457200" y="2743200"/>
            <a:ext cx="3931920" cy="548640"/>
          </a:xfrm>
          <a:prstGeom prst="roundRect">
            <a:avLst>
              <a:gd name="adj" fmla="val 13333"/>
            </a:avLst>
          </a:prstGeom>
          <a:solidFill>
            <a:srgbClr val="FFFFFF"/>
          </a:solidFill>
          <a:ln w="19050">
            <a:solidFill>
              <a:srgbClr val="780000"/>
            </a:solidFill>
            <a:prstDash val="solid"/>
          </a:ln>
        </p:spPr>
      </p:sp>
      <p:sp>
        <p:nvSpPr>
          <p:cNvPr id="14" name="Text 12"/>
          <p:cNvSpPr/>
          <p:nvPr/>
        </p:nvSpPr>
        <p:spPr>
          <a:xfrm>
            <a:off x="594360" y="2761488"/>
            <a:ext cx="1280160" cy="256032"/>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自由市场</a:t>
            </a:r>
            <a:endParaRPr lang="en-US" sz="1300" dirty="0"/>
          </a:p>
        </p:txBody>
      </p:sp>
      <p:sp>
        <p:nvSpPr>
          <p:cNvPr id="15" name="Text 13"/>
          <p:cNvSpPr/>
          <p:nvPr/>
        </p:nvSpPr>
        <p:spPr>
          <a:xfrm>
            <a:off x="594360" y="3017520"/>
            <a:ext cx="3657600" cy="256032"/>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反对重商主义、政府干预</a:t>
            </a:r>
            <a:endParaRPr lang="en-US" sz="1100" dirty="0"/>
          </a:p>
        </p:txBody>
      </p:sp>
      <p:sp>
        <p:nvSpPr>
          <p:cNvPr id="16" name="Shape 14"/>
          <p:cNvSpPr/>
          <p:nvPr/>
        </p:nvSpPr>
        <p:spPr>
          <a:xfrm>
            <a:off x="457200" y="3383280"/>
            <a:ext cx="3931920" cy="548640"/>
          </a:xfrm>
          <a:prstGeom prst="roundRect">
            <a:avLst>
              <a:gd name="adj" fmla="val 13333"/>
            </a:avLst>
          </a:prstGeom>
          <a:solidFill>
            <a:srgbClr val="FFFFFF"/>
          </a:solidFill>
          <a:ln w="19050">
            <a:solidFill>
              <a:srgbClr val="780000"/>
            </a:solidFill>
            <a:prstDash val="solid"/>
          </a:ln>
        </p:spPr>
      </p:sp>
      <p:sp>
        <p:nvSpPr>
          <p:cNvPr id="17" name="Text 15"/>
          <p:cNvSpPr/>
          <p:nvPr/>
        </p:nvSpPr>
        <p:spPr>
          <a:xfrm>
            <a:off x="594360" y="3401568"/>
            <a:ext cx="1280160" cy="256032"/>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道德情感</a:t>
            </a:r>
            <a:endParaRPr lang="en-US" sz="1300" dirty="0"/>
          </a:p>
        </p:txBody>
      </p:sp>
      <p:sp>
        <p:nvSpPr>
          <p:cNvPr id="18" name="Text 16"/>
          <p:cNvSpPr/>
          <p:nvPr/>
        </p:nvSpPr>
        <p:spPr>
          <a:xfrm>
            <a:off x="594360" y="3657600"/>
            <a:ext cx="3657600" cy="256032"/>
          </a:xfrm>
          <a:prstGeom prst="rect">
            <a:avLst/>
          </a:prstGeom>
          <a:noFill/>
          <a:ln/>
        </p:spPr>
        <p:txBody>
          <a:bodyPr wrap="square" rtlCol="0" anchor="ctr"/>
          <a:lstStyle/>
          <a:p>
            <a:pPr indent="0" marL="0">
              <a:buNone/>
            </a:pPr>
            <a:r>
              <a:rPr lang="en-US" sz="1100" dirty="0">
                <a:solidFill>
                  <a:srgbClr val="003049"/>
                </a:solidFill>
                <a:latin typeface="Calibri" pitchFamily="34" charset="0"/>
                <a:ea typeface="Calibri" pitchFamily="34" charset="-122"/>
                <a:cs typeface="Calibri" pitchFamily="34" charset="-120"/>
              </a:rPr>
              <a:t>市场经济需要正义支撑</a:t>
            </a:r>
            <a:endParaRPr lang="en-US" sz="1100" dirty="0"/>
          </a:p>
        </p:txBody>
      </p:sp>
      <p:sp>
        <p:nvSpPr>
          <p:cNvPr id="19" name="Text 17"/>
          <p:cNvSpPr/>
          <p:nvPr/>
        </p:nvSpPr>
        <p:spPr>
          <a:xfrm>
            <a:off x="4206240" y="2560320"/>
            <a:ext cx="548640" cy="457200"/>
          </a:xfrm>
          <a:prstGeom prst="rect">
            <a:avLst/>
          </a:prstGeom>
          <a:noFill/>
          <a:ln/>
        </p:spPr>
        <p:txBody>
          <a:bodyPr wrap="square" rtlCol="0" anchor="ctr"/>
          <a:lstStyle/>
          <a:p>
            <a:pPr algn="ctr" indent="0" marL="0">
              <a:buNone/>
            </a:pPr>
            <a:r>
              <a:rPr lang="en-US" sz="2800" b="1" dirty="0">
                <a:solidFill>
                  <a:srgbClr val="C1121F"/>
                </a:solidFill>
                <a:latin typeface="Georgia" pitchFamily="34" charset="0"/>
                <a:ea typeface="Georgia" pitchFamily="34" charset="-122"/>
                <a:cs typeface="Georgia" pitchFamily="34" charset="-120"/>
              </a:rPr>
              <a:t>→</a:t>
            </a:r>
            <a:endParaRPr lang="en-US" sz="2800" dirty="0"/>
          </a:p>
        </p:txBody>
      </p:sp>
      <p:sp>
        <p:nvSpPr>
          <p:cNvPr id="20" name="Text 18"/>
          <p:cNvSpPr/>
          <p:nvPr/>
        </p:nvSpPr>
        <p:spPr>
          <a:xfrm>
            <a:off x="4754880" y="1051560"/>
            <a:ext cx="3931920" cy="36576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现代经济学的补充</a:t>
            </a:r>
            <a:endParaRPr lang="en-US" sz="1600" dirty="0"/>
          </a:p>
        </p:txBody>
      </p:sp>
      <p:sp>
        <p:nvSpPr>
          <p:cNvPr id="21" name="Shape 19"/>
          <p:cNvSpPr/>
          <p:nvPr/>
        </p:nvSpPr>
        <p:spPr>
          <a:xfrm>
            <a:off x="4754880" y="1463040"/>
            <a:ext cx="3931920" cy="548640"/>
          </a:xfrm>
          <a:prstGeom prst="roundRect">
            <a:avLst>
              <a:gd name="adj" fmla="val 13333"/>
            </a:avLst>
          </a:prstGeom>
          <a:solidFill>
            <a:srgbClr val="003049"/>
          </a:solidFill>
          <a:ln/>
        </p:spPr>
      </p:sp>
      <p:sp>
        <p:nvSpPr>
          <p:cNvPr id="22" name="Text 20"/>
          <p:cNvSpPr/>
          <p:nvPr/>
        </p:nvSpPr>
        <p:spPr>
          <a:xfrm>
            <a:off x="4892040" y="1481328"/>
            <a:ext cx="1463040" cy="256032"/>
          </a:xfrm>
          <a:prstGeom prst="rect">
            <a:avLst/>
          </a:prstGeom>
          <a:noFill/>
          <a:ln/>
        </p:spPr>
        <p:txBody>
          <a:bodyPr wrap="square" rtlCol="0" anchor="ctr"/>
          <a:lstStyle/>
          <a:p>
            <a:pPr indent="0" marL="0">
              <a:buNone/>
            </a:pPr>
            <a:r>
              <a:rPr lang="en-US" sz="1300" b="1" dirty="0">
                <a:solidFill>
                  <a:srgbClr val="669BBC"/>
                </a:solidFill>
                <a:latin typeface="Microsoft YaHei" pitchFamily="34" charset="0"/>
                <a:ea typeface="Microsoft YaHei" pitchFamily="34" charset="-122"/>
                <a:cs typeface="Microsoft YaHei" pitchFamily="34" charset="-120"/>
              </a:rPr>
              <a:t>信息经济学</a:t>
            </a:r>
            <a:endParaRPr lang="en-US" sz="1300" dirty="0"/>
          </a:p>
        </p:txBody>
      </p:sp>
      <p:sp>
        <p:nvSpPr>
          <p:cNvPr id="23" name="Text 21"/>
          <p:cNvSpPr/>
          <p:nvPr/>
        </p:nvSpPr>
        <p:spPr>
          <a:xfrm>
            <a:off x="4892040" y="1737360"/>
            <a:ext cx="365760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信息不对称导致市场失灵</a:t>
            </a:r>
            <a:endParaRPr lang="en-US" sz="1100" dirty="0"/>
          </a:p>
        </p:txBody>
      </p:sp>
      <p:sp>
        <p:nvSpPr>
          <p:cNvPr id="24" name="Shape 22"/>
          <p:cNvSpPr/>
          <p:nvPr/>
        </p:nvSpPr>
        <p:spPr>
          <a:xfrm>
            <a:off x="4754880" y="2103120"/>
            <a:ext cx="3931920" cy="548640"/>
          </a:xfrm>
          <a:prstGeom prst="roundRect">
            <a:avLst>
              <a:gd name="adj" fmla="val 13333"/>
            </a:avLst>
          </a:prstGeom>
          <a:solidFill>
            <a:srgbClr val="003049"/>
          </a:solidFill>
          <a:ln/>
        </p:spPr>
      </p:sp>
      <p:sp>
        <p:nvSpPr>
          <p:cNvPr id="25" name="Text 23"/>
          <p:cNvSpPr/>
          <p:nvPr/>
        </p:nvSpPr>
        <p:spPr>
          <a:xfrm>
            <a:off x="4892040" y="2121408"/>
            <a:ext cx="1463040" cy="256032"/>
          </a:xfrm>
          <a:prstGeom prst="rect">
            <a:avLst/>
          </a:prstGeom>
          <a:noFill/>
          <a:ln/>
        </p:spPr>
        <p:txBody>
          <a:bodyPr wrap="square" rtlCol="0" anchor="ctr"/>
          <a:lstStyle/>
          <a:p>
            <a:pPr indent="0" marL="0">
              <a:buNone/>
            </a:pPr>
            <a:r>
              <a:rPr lang="en-US" sz="1300" b="1" dirty="0">
                <a:solidFill>
                  <a:srgbClr val="669BBC"/>
                </a:solidFill>
                <a:latin typeface="Microsoft YaHei" pitchFamily="34" charset="0"/>
                <a:ea typeface="Microsoft YaHei" pitchFamily="34" charset="-122"/>
                <a:cs typeface="Microsoft YaHei" pitchFamily="34" charset="-120"/>
              </a:rPr>
              <a:t>行为经济学</a:t>
            </a:r>
            <a:endParaRPr lang="en-US" sz="1300" dirty="0"/>
          </a:p>
        </p:txBody>
      </p:sp>
      <p:sp>
        <p:nvSpPr>
          <p:cNvPr id="26" name="Text 24"/>
          <p:cNvSpPr/>
          <p:nvPr/>
        </p:nvSpPr>
        <p:spPr>
          <a:xfrm>
            <a:off x="4892040" y="2377440"/>
            <a:ext cx="365760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有限理性修正理性人假设</a:t>
            </a:r>
            <a:endParaRPr lang="en-US" sz="1100" dirty="0"/>
          </a:p>
        </p:txBody>
      </p:sp>
      <p:sp>
        <p:nvSpPr>
          <p:cNvPr id="27" name="Shape 25"/>
          <p:cNvSpPr/>
          <p:nvPr/>
        </p:nvSpPr>
        <p:spPr>
          <a:xfrm>
            <a:off x="4754880" y="2743200"/>
            <a:ext cx="3931920" cy="548640"/>
          </a:xfrm>
          <a:prstGeom prst="roundRect">
            <a:avLst>
              <a:gd name="adj" fmla="val 13333"/>
            </a:avLst>
          </a:prstGeom>
          <a:solidFill>
            <a:srgbClr val="003049"/>
          </a:solidFill>
          <a:ln/>
        </p:spPr>
      </p:sp>
      <p:sp>
        <p:nvSpPr>
          <p:cNvPr id="28" name="Text 26"/>
          <p:cNvSpPr/>
          <p:nvPr/>
        </p:nvSpPr>
        <p:spPr>
          <a:xfrm>
            <a:off x="4892040" y="2761488"/>
            <a:ext cx="1463040" cy="256032"/>
          </a:xfrm>
          <a:prstGeom prst="rect">
            <a:avLst/>
          </a:prstGeom>
          <a:noFill/>
          <a:ln/>
        </p:spPr>
        <p:txBody>
          <a:bodyPr wrap="square" rtlCol="0" anchor="ctr"/>
          <a:lstStyle/>
          <a:p>
            <a:pPr indent="0" marL="0">
              <a:buNone/>
            </a:pPr>
            <a:r>
              <a:rPr lang="en-US" sz="1300" b="1" dirty="0">
                <a:solidFill>
                  <a:srgbClr val="669BBC"/>
                </a:solidFill>
                <a:latin typeface="Microsoft YaHei" pitchFamily="34" charset="0"/>
                <a:ea typeface="Microsoft YaHei" pitchFamily="34" charset="-122"/>
                <a:cs typeface="Microsoft YaHei" pitchFamily="34" charset="-120"/>
              </a:rPr>
              <a:t>制度经济学</a:t>
            </a:r>
            <a:endParaRPr lang="en-US" sz="1300" dirty="0"/>
          </a:p>
        </p:txBody>
      </p:sp>
      <p:sp>
        <p:nvSpPr>
          <p:cNvPr id="29" name="Text 27"/>
          <p:cNvSpPr/>
          <p:nvPr/>
        </p:nvSpPr>
        <p:spPr>
          <a:xfrm>
            <a:off x="4892040" y="3017520"/>
            <a:ext cx="365760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制度框架决定交易成本</a:t>
            </a:r>
            <a:endParaRPr lang="en-US" sz="1100" dirty="0"/>
          </a:p>
        </p:txBody>
      </p:sp>
      <p:sp>
        <p:nvSpPr>
          <p:cNvPr id="30" name="Shape 28"/>
          <p:cNvSpPr/>
          <p:nvPr/>
        </p:nvSpPr>
        <p:spPr>
          <a:xfrm>
            <a:off x="4754880" y="3383280"/>
            <a:ext cx="3931920" cy="548640"/>
          </a:xfrm>
          <a:prstGeom prst="roundRect">
            <a:avLst>
              <a:gd name="adj" fmla="val 13333"/>
            </a:avLst>
          </a:prstGeom>
          <a:solidFill>
            <a:srgbClr val="003049"/>
          </a:solidFill>
          <a:ln/>
        </p:spPr>
      </p:sp>
      <p:sp>
        <p:nvSpPr>
          <p:cNvPr id="31" name="Text 29"/>
          <p:cNvSpPr/>
          <p:nvPr/>
        </p:nvSpPr>
        <p:spPr>
          <a:xfrm>
            <a:off x="4892040" y="3401568"/>
            <a:ext cx="1463040" cy="256032"/>
          </a:xfrm>
          <a:prstGeom prst="rect">
            <a:avLst/>
          </a:prstGeom>
          <a:noFill/>
          <a:ln/>
        </p:spPr>
        <p:txBody>
          <a:bodyPr wrap="square" rtlCol="0" anchor="ctr"/>
          <a:lstStyle/>
          <a:p>
            <a:pPr indent="0" marL="0">
              <a:buNone/>
            </a:pPr>
            <a:r>
              <a:rPr lang="en-US" sz="1300" b="1" dirty="0">
                <a:solidFill>
                  <a:srgbClr val="669BBC"/>
                </a:solidFill>
                <a:latin typeface="Microsoft YaHei" pitchFamily="34" charset="0"/>
                <a:ea typeface="Microsoft YaHei" pitchFamily="34" charset="-122"/>
                <a:cs typeface="Microsoft YaHei" pitchFamily="34" charset="-120"/>
              </a:rPr>
              <a:t>博弈论</a:t>
            </a:r>
            <a:endParaRPr lang="en-US" sz="1300" dirty="0"/>
          </a:p>
        </p:txBody>
      </p:sp>
      <p:sp>
        <p:nvSpPr>
          <p:cNvPr id="32" name="Text 30"/>
          <p:cNvSpPr/>
          <p:nvPr/>
        </p:nvSpPr>
        <p:spPr>
          <a:xfrm>
            <a:off x="4892040" y="3657600"/>
            <a:ext cx="3657600" cy="2560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策略互动下的均衡分析</a:t>
            </a:r>
            <a:endParaRPr lang="en-US" sz="1100" dirty="0"/>
          </a:p>
        </p:txBody>
      </p:sp>
      <p:sp>
        <p:nvSpPr>
          <p:cNvPr id="33" name="Shape 31"/>
          <p:cNvSpPr/>
          <p:nvPr/>
        </p:nvSpPr>
        <p:spPr>
          <a:xfrm>
            <a:off x="457200" y="4160520"/>
            <a:ext cx="8229600" cy="457200"/>
          </a:xfrm>
          <a:prstGeom prst="roundRect">
            <a:avLst>
              <a:gd name="adj" fmla="val 16000"/>
            </a:avLst>
          </a:prstGeom>
          <a:solidFill>
            <a:srgbClr val="C1121F"/>
          </a:solidFill>
          <a:ln/>
        </p:spPr>
      </p:sp>
      <p:sp>
        <p:nvSpPr>
          <p:cNvPr id="34" name="Text 32"/>
          <p:cNvSpPr/>
          <p:nvPr/>
        </p:nvSpPr>
        <p:spPr>
          <a:xfrm>
            <a:off x="457200" y="4160520"/>
            <a:ext cx="8229600" cy="457200"/>
          </a:xfrm>
          <a:prstGeom prst="rect">
            <a:avLst/>
          </a:prstGeom>
          <a:noFill/>
          <a:ln/>
        </p:spPr>
        <p:txBody>
          <a:bodyPr wrap="square"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综合：当代市场理论 = 斯密框架 + 信息 + 行为 + 制度</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当代自由市场思想的分野</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54</a:t>
            </a:r>
            <a:endParaRPr lang="en-US" sz="1100" dirty="0"/>
          </a:p>
        </p:txBody>
      </p:sp>
      <p:sp>
        <p:nvSpPr>
          <p:cNvPr id="6" name="Text 4"/>
          <p:cNvSpPr/>
          <p:nvPr/>
        </p:nvSpPr>
        <p:spPr>
          <a:xfrm>
            <a:off x="457200" y="1051560"/>
            <a:ext cx="8229600" cy="365760"/>
          </a:xfrm>
          <a:prstGeom prst="rect">
            <a:avLst/>
          </a:prstGeom>
          <a:noFill/>
          <a:ln/>
        </p:spPr>
        <p:txBody>
          <a:bodyPr wrap="square" rtlCol="0" anchor="ctr"/>
          <a:lstStyle/>
          <a:p>
            <a:pPr indent="0" marL="0">
              <a:buNone/>
            </a:pPr>
            <a:r>
              <a:rPr lang="en-US" sz="1800" b="1" dirty="0">
                <a:solidFill>
                  <a:srgbClr val="C1121F"/>
                </a:solidFill>
                <a:latin typeface="Microsoft YaHei" pitchFamily="34" charset="0"/>
                <a:ea typeface="Microsoft YaHei" pitchFamily="34" charset="-122"/>
                <a:cs typeface="Microsoft YaHei" pitchFamily="34" charset="-120"/>
              </a:rPr>
              <a:t>当代自由市场思想流派</a:t>
            </a:r>
            <a:endParaRPr lang="en-US" sz="1800" dirty="0"/>
          </a:p>
        </p:txBody>
      </p:sp>
      <p:sp>
        <p:nvSpPr>
          <p:cNvPr id="7" name="Shape 5"/>
          <p:cNvSpPr/>
          <p:nvPr/>
        </p:nvSpPr>
        <p:spPr>
          <a:xfrm>
            <a:off x="457200" y="1600200"/>
            <a:ext cx="8229600" cy="228600"/>
          </a:xfrm>
          <a:prstGeom prst="rect">
            <a:avLst/>
          </a:prstGeom>
          <a:solidFill>
            <a:srgbClr val="669BBC"/>
          </a:solidFill>
          <a:ln/>
        </p:spPr>
      </p:sp>
      <p:sp>
        <p:nvSpPr>
          <p:cNvPr id="8" name="Shape 6"/>
          <p:cNvSpPr/>
          <p:nvPr/>
        </p:nvSpPr>
        <p:spPr>
          <a:xfrm>
            <a:off x="1280160" y="1554480"/>
            <a:ext cx="320040" cy="320040"/>
          </a:xfrm>
          <a:prstGeom prst="ellipse">
            <a:avLst/>
          </a:prstGeom>
          <a:solidFill>
            <a:srgbClr val="003049"/>
          </a:solidFill>
          <a:ln/>
        </p:spPr>
      </p:sp>
      <p:sp>
        <p:nvSpPr>
          <p:cNvPr id="9" name="Text 7"/>
          <p:cNvSpPr/>
          <p:nvPr/>
        </p:nvSpPr>
        <p:spPr>
          <a:xfrm>
            <a:off x="777240" y="1920240"/>
            <a:ext cx="1280160" cy="365760"/>
          </a:xfrm>
          <a:prstGeom prst="rect">
            <a:avLst/>
          </a:prstGeom>
          <a:noFill/>
          <a:ln/>
        </p:spPr>
        <p:txBody>
          <a:bodyPr wrap="square" rtlCol="0" anchor="ctr"/>
          <a:lstStyle/>
          <a:p>
            <a:pPr algn="ctr" indent="0" marL="0">
              <a:buNone/>
            </a:pPr>
            <a:r>
              <a:rPr lang="en-US" sz="1100" b="1" dirty="0">
                <a:solidFill>
                  <a:srgbClr val="003049"/>
                </a:solidFill>
                <a:latin typeface="Microsoft YaHei" pitchFamily="34" charset="0"/>
                <a:ea typeface="Microsoft YaHei" pitchFamily="34" charset="-122"/>
                <a:cs typeface="Microsoft YaHei" pitchFamily="34" charset="-120"/>
              </a:rPr>
              <a:t>古典自由主义</a:t>
            </a:r>
            <a:endParaRPr lang="en-US" sz="1100" dirty="0"/>
          </a:p>
        </p:txBody>
      </p:sp>
      <p:sp>
        <p:nvSpPr>
          <p:cNvPr id="10" name="Text 8"/>
          <p:cNvSpPr/>
          <p:nvPr/>
        </p:nvSpPr>
        <p:spPr>
          <a:xfrm>
            <a:off x="777240" y="2240280"/>
            <a:ext cx="1280160" cy="320040"/>
          </a:xfrm>
          <a:prstGeom prst="rect">
            <a:avLst/>
          </a:prstGeom>
          <a:noFill/>
          <a:ln/>
        </p:spPr>
        <p:txBody>
          <a:bodyPr wrap="square" rtlCol="0" anchor="ctr"/>
          <a:lstStyle/>
          <a:p>
            <a:pPr algn="ctr" indent="0" marL="0">
              <a:buNone/>
            </a:pPr>
            <a:r>
              <a:rPr lang="en-US" sz="900" dirty="0">
                <a:solidFill>
                  <a:srgbClr val="003049"/>
                </a:solidFill>
                <a:latin typeface="Calibri" pitchFamily="34" charset="0"/>
                <a:ea typeface="Calibri" pitchFamily="34" charset="-122"/>
                <a:cs typeface="Calibri" pitchFamily="34" charset="-120"/>
              </a:rPr>
              <a:t>斯密、哈耶克</a:t>
            </a:r>
            <a:endParaRPr lang="en-US" sz="900" dirty="0"/>
          </a:p>
        </p:txBody>
      </p:sp>
      <p:sp>
        <p:nvSpPr>
          <p:cNvPr id="11" name="Shape 9"/>
          <p:cNvSpPr/>
          <p:nvPr/>
        </p:nvSpPr>
        <p:spPr>
          <a:xfrm>
            <a:off x="3337560" y="1554480"/>
            <a:ext cx="320040" cy="320040"/>
          </a:xfrm>
          <a:prstGeom prst="ellipse">
            <a:avLst/>
          </a:prstGeom>
          <a:solidFill>
            <a:srgbClr val="780000"/>
          </a:solidFill>
          <a:ln/>
        </p:spPr>
      </p:sp>
      <p:sp>
        <p:nvSpPr>
          <p:cNvPr id="12" name="Text 10"/>
          <p:cNvSpPr/>
          <p:nvPr/>
        </p:nvSpPr>
        <p:spPr>
          <a:xfrm>
            <a:off x="2834640" y="1920240"/>
            <a:ext cx="1280160" cy="36576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新古典经济学</a:t>
            </a:r>
            <a:endParaRPr lang="en-US" sz="1100" dirty="0"/>
          </a:p>
        </p:txBody>
      </p:sp>
      <p:sp>
        <p:nvSpPr>
          <p:cNvPr id="13" name="Text 11"/>
          <p:cNvSpPr/>
          <p:nvPr/>
        </p:nvSpPr>
        <p:spPr>
          <a:xfrm>
            <a:off x="2834640" y="2240280"/>
            <a:ext cx="1280160" cy="320040"/>
          </a:xfrm>
          <a:prstGeom prst="rect">
            <a:avLst/>
          </a:prstGeom>
          <a:noFill/>
          <a:ln/>
        </p:spPr>
        <p:txBody>
          <a:bodyPr wrap="square" rtlCol="0" anchor="ctr"/>
          <a:lstStyle/>
          <a:p>
            <a:pPr algn="ctr" indent="0" marL="0">
              <a:buNone/>
            </a:pPr>
            <a:r>
              <a:rPr lang="en-US" sz="900" dirty="0">
                <a:solidFill>
                  <a:srgbClr val="003049"/>
                </a:solidFill>
                <a:latin typeface="Calibri" pitchFamily="34" charset="0"/>
                <a:ea typeface="Calibri" pitchFamily="34" charset="-122"/>
                <a:cs typeface="Calibri" pitchFamily="34" charset="-120"/>
              </a:rPr>
              <a:t>弗里德曼、贝克尔</a:t>
            </a:r>
            <a:endParaRPr lang="en-US" sz="900" dirty="0"/>
          </a:p>
        </p:txBody>
      </p:sp>
      <p:sp>
        <p:nvSpPr>
          <p:cNvPr id="14" name="Shape 12"/>
          <p:cNvSpPr/>
          <p:nvPr/>
        </p:nvSpPr>
        <p:spPr>
          <a:xfrm>
            <a:off x="5394960" y="1554480"/>
            <a:ext cx="320040" cy="320040"/>
          </a:xfrm>
          <a:prstGeom prst="ellipse">
            <a:avLst/>
          </a:prstGeom>
          <a:solidFill>
            <a:srgbClr val="C1121F"/>
          </a:solidFill>
          <a:ln/>
        </p:spPr>
      </p:sp>
      <p:sp>
        <p:nvSpPr>
          <p:cNvPr id="15" name="Text 13"/>
          <p:cNvSpPr/>
          <p:nvPr/>
        </p:nvSpPr>
        <p:spPr>
          <a:xfrm>
            <a:off x="4892040" y="1920240"/>
            <a:ext cx="1280160" cy="365760"/>
          </a:xfrm>
          <a:prstGeom prst="rect">
            <a:avLst/>
          </a:prstGeom>
          <a:noFill/>
          <a:ln/>
        </p:spPr>
        <p:txBody>
          <a:bodyPr wrap="square" rtlCol="0" anchor="ctr"/>
          <a:lstStyle/>
          <a:p>
            <a:pPr algn="ctr" indent="0" marL="0">
              <a:buNone/>
            </a:pPr>
            <a:r>
              <a:rPr lang="en-US" sz="1100" b="1" dirty="0">
                <a:solidFill>
                  <a:srgbClr val="C1121F"/>
                </a:solidFill>
                <a:latin typeface="Microsoft YaHei" pitchFamily="34" charset="0"/>
                <a:ea typeface="Microsoft YaHei" pitchFamily="34" charset="-122"/>
                <a:cs typeface="Microsoft YaHei" pitchFamily="34" charset="-120"/>
              </a:rPr>
              <a:t>新制度经济学</a:t>
            </a:r>
            <a:endParaRPr lang="en-US" sz="1100" dirty="0"/>
          </a:p>
        </p:txBody>
      </p:sp>
      <p:sp>
        <p:nvSpPr>
          <p:cNvPr id="16" name="Text 14"/>
          <p:cNvSpPr/>
          <p:nvPr/>
        </p:nvSpPr>
        <p:spPr>
          <a:xfrm>
            <a:off x="4892040" y="2240280"/>
            <a:ext cx="1280160" cy="320040"/>
          </a:xfrm>
          <a:prstGeom prst="rect">
            <a:avLst/>
          </a:prstGeom>
          <a:noFill/>
          <a:ln/>
        </p:spPr>
        <p:txBody>
          <a:bodyPr wrap="square" rtlCol="0" anchor="ctr"/>
          <a:lstStyle/>
          <a:p>
            <a:pPr algn="ctr" indent="0" marL="0">
              <a:buNone/>
            </a:pPr>
            <a:r>
              <a:rPr lang="en-US" sz="900" dirty="0">
                <a:solidFill>
                  <a:srgbClr val="003049"/>
                </a:solidFill>
                <a:latin typeface="Calibri" pitchFamily="34" charset="0"/>
                <a:ea typeface="Calibri" pitchFamily="34" charset="-122"/>
                <a:cs typeface="Calibri" pitchFamily="34" charset="-120"/>
              </a:rPr>
              <a:t>科斯、诺斯</a:t>
            </a:r>
            <a:endParaRPr lang="en-US" sz="900" dirty="0"/>
          </a:p>
        </p:txBody>
      </p:sp>
      <p:sp>
        <p:nvSpPr>
          <p:cNvPr id="17" name="Shape 15"/>
          <p:cNvSpPr/>
          <p:nvPr/>
        </p:nvSpPr>
        <p:spPr>
          <a:xfrm>
            <a:off x="7452360" y="1554480"/>
            <a:ext cx="320040" cy="320040"/>
          </a:xfrm>
          <a:prstGeom prst="ellipse">
            <a:avLst/>
          </a:prstGeom>
          <a:solidFill>
            <a:srgbClr val="669BBC"/>
          </a:solidFill>
          <a:ln/>
        </p:spPr>
      </p:sp>
      <p:sp>
        <p:nvSpPr>
          <p:cNvPr id="18" name="Text 16"/>
          <p:cNvSpPr/>
          <p:nvPr/>
        </p:nvSpPr>
        <p:spPr>
          <a:xfrm>
            <a:off x="6949440" y="1920240"/>
            <a:ext cx="1280160" cy="365760"/>
          </a:xfrm>
          <a:prstGeom prst="rect">
            <a:avLst/>
          </a:prstGeom>
          <a:noFill/>
          <a:ln/>
        </p:spPr>
        <p:txBody>
          <a:bodyPr wrap="square" rtlCol="0" anchor="ctr"/>
          <a:lstStyle/>
          <a:p>
            <a:pPr algn="ctr" indent="0" marL="0">
              <a:buNone/>
            </a:pPr>
            <a:r>
              <a:rPr lang="en-US" sz="1100" b="1" dirty="0">
                <a:solidFill>
                  <a:srgbClr val="669BBC"/>
                </a:solidFill>
                <a:latin typeface="Microsoft YaHei" pitchFamily="34" charset="0"/>
                <a:ea typeface="Microsoft YaHei" pitchFamily="34" charset="-122"/>
                <a:cs typeface="Microsoft YaHei" pitchFamily="34" charset="-120"/>
              </a:rPr>
              <a:t>干预主义</a:t>
            </a:r>
            <a:endParaRPr lang="en-US" sz="1100" dirty="0"/>
          </a:p>
        </p:txBody>
      </p:sp>
      <p:sp>
        <p:nvSpPr>
          <p:cNvPr id="19" name="Text 17"/>
          <p:cNvSpPr/>
          <p:nvPr/>
        </p:nvSpPr>
        <p:spPr>
          <a:xfrm>
            <a:off x="6949440" y="2240280"/>
            <a:ext cx="1280160" cy="320040"/>
          </a:xfrm>
          <a:prstGeom prst="rect">
            <a:avLst/>
          </a:prstGeom>
          <a:noFill/>
          <a:ln/>
        </p:spPr>
        <p:txBody>
          <a:bodyPr wrap="square" rtlCol="0" anchor="ctr"/>
          <a:lstStyle/>
          <a:p>
            <a:pPr algn="ctr" indent="0" marL="0">
              <a:buNone/>
            </a:pPr>
            <a:r>
              <a:rPr lang="en-US" sz="900" dirty="0">
                <a:solidFill>
                  <a:srgbClr val="003049"/>
                </a:solidFill>
                <a:latin typeface="Calibri" pitchFamily="34" charset="0"/>
                <a:ea typeface="Calibri" pitchFamily="34" charset="-122"/>
                <a:cs typeface="Calibri" pitchFamily="34" charset="-120"/>
              </a:rPr>
              <a:t>凯恩斯、克鲁格曼</a:t>
            </a:r>
            <a:endParaRPr lang="en-US" sz="900" dirty="0"/>
          </a:p>
        </p:txBody>
      </p:sp>
      <p:sp>
        <p:nvSpPr>
          <p:cNvPr id="20" name="Shape 18"/>
          <p:cNvSpPr/>
          <p:nvPr/>
        </p:nvSpPr>
        <p:spPr>
          <a:xfrm>
            <a:off x="457200" y="2743200"/>
            <a:ext cx="8229600" cy="45720"/>
          </a:xfrm>
          <a:prstGeom prst="rect">
            <a:avLst/>
          </a:prstGeom>
          <a:solidFill>
            <a:srgbClr val="669BBC"/>
          </a:solidFill>
          <a:ln/>
        </p:spPr>
      </p:sp>
      <p:sp>
        <p:nvSpPr>
          <p:cNvPr id="21" name="Text 19"/>
          <p:cNvSpPr/>
          <p:nvPr/>
        </p:nvSpPr>
        <p:spPr>
          <a:xfrm>
            <a:off x="457200" y="2926080"/>
            <a:ext cx="8229600" cy="365760"/>
          </a:xfrm>
          <a:prstGeom prst="rect">
            <a:avLst/>
          </a:prstGeom>
          <a:noFill/>
          <a:ln/>
        </p:spPr>
        <p:txBody>
          <a:bodyPr wrap="square" rtlCol="0" anchor="ctr"/>
          <a:lstStyle/>
          <a:p>
            <a:pPr indent="0" marL="0">
              <a:buNone/>
            </a:pPr>
            <a:r>
              <a:rPr lang="en-US" sz="1500" b="1" dirty="0">
                <a:solidFill>
                  <a:srgbClr val="C1121F"/>
                </a:solidFill>
                <a:latin typeface="Microsoft YaHei" pitchFamily="34" charset="0"/>
                <a:ea typeface="Microsoft YaHei" pitchFamily="34" charset="-122"/>
                <a:cs typeface="Microsoft YaHei" pitchFamily="34" charset="-120"/>
              </a:rPr>
              <a:t>对政府角色的不同主张</a:t>
            </a:r>
            <a:endParaRPr lang="en-US" sz="1500" dirty="0"/>
          </a:p>
        </p:txBody>
      </p:sp>
      <p:sp>
        <p:nvSpPr>
          <p:cNvPr id="22" name="Shape 20"/>
          <p:cNvSpPr/>
          <p:nvPr/>
        </p:nvSpPr>
        <p:spPr>
          <a:xfrm>
            <a:off x="457200" y="3337560"/>
            <a:ext cx="8229600" cy="365760"/>
          </a:xfrm>
          <a:prstGeom prst="rect">
            <a:avLst/>
          </a:prstGeom>
          <a:solidFill>
            <a:srgbClr val="780000"/>
          </a:solidFill>
          <a:ln/>
        </p:spPr>
      </p:sp>
      <p:sp>
        <p:nvSpPr>
          <p:cNvPr id="23" name="Text 21"/>
          <p:cNvSpPr/>
          <p:nvPr/>
        </p:nvSpPr>
        <p:spPr>
          <a:xfrm>
            <a:off x="457200" y="3337560"/>
            <a:ext cx="164592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维度</a:t>
            </a:r>
            <a:endParaRPr lang="en-US" sz="1200" dirty="0"/>
          </a:p>
        </p:txBody>
      </p:sp>
      <p:sp>
        <p:nvSpPr>
          <p:cNvPr id="24" name="Text 22"/>
          <p:cNvSpPr/>
          <p:nvPr/>
        </p:nvSpPr>
        <p:spPr>
          <a:xfrm>
            <a:off x="2103120" y="3337560"/>
            <a:ext cx="306324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古典/奥地利学派</a:t>
            </a:r>
            <a:endParaRPr lang="en-US" sz="1200" dirty="0"/>
          </a:p>
        </p:txBody>
      </p:sp>
      <p:sp>
        <p:nvSpPr>
          <p:cNvPr id="25" name="Text 23"/>
          <p:cNvSpPr/>
          <p:nvPr/>
        </p:nvSpPr>
        <p:spPr>
          <a:xfrm>
            <a:off x="5166360" y="3337560"/>
            <a:ext cx="3520440" cy="3657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现代主流/凯恩斯</a:t>
            </a:r>
            <a:endParaRPr lang="en-US" sz="1200" dirty="0"/>
          </a:p>
        </p:txBody>
      </p:sp>
      <p:sp>
        <p:nvSpPr>
          <p:cNvPr id="26" name="Shape 24"/>
          <p:cNvSpPr/>
          <p:nvPr/>
        </p:nvSpPr>
        <p:spPr>
          <a:xfrm>
            <a:off x="457200" y="3703320"/>
            <a:ext cx="8229600" cy="411480"/>
          </a:xfrm>
          <a:prstGeom prst="rect">
            <a:avLst/>
          </a:prstGeom>
          <a:solidFill>
            <a:srgbClr val="FFFFFF"/>
          </a:solidFill>
          <a:ln w="6350">
            <a:solidFill>
              <a:srgbClr val="669BBC"/>
            </a:solidFill>
            <a:prstDash val="solid"/>
          </a:ln>
        </p:spPr>
      </p:sp>
      <p:sp>
        <p:nvSpPr>
          <p:cNvPr id="27" name="Text 25"/>
          <p:cNvSpPr/>
          <p:nvPr/>
        </p:nvSpPr>
        <p:spPr>
          <a:xfrm>
            <a:off x="548640" y="3703320"/>
            <a:ext cx="1463040" cy="41148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政府边界</a:t>
            </a:r>
            <a:endParaRPr lang="en-US" sz="1100" dirty="0"/>
          </a:p>
        </p:txBody>
      </p:sp>
      <p:sp>
        <p:nvSpPr>
          <p:cNvPr id="28" name="Text 26"/>
          <p:cNvSpPr/>
          <p:nvPr/>
        </p:nvSpPr>
        <p:spPr>
          <a:xfrm>
            <a:off x="2103120" y="3703320"/>
            <a:ext cx="30632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守夜人：国防、司法、治安</a:t>
            </a:r>
            <a:endParaRPr lang="en-US" sz="1100" dirty="0"/>
          </a:p>
        </p:txBody>
      </p:sp>
      <p:sp>
        <p:nvSpPr>
          <p:cNvPr id="29" name="Text 27"/>
          <p:cNvSpPr/>
          <p:nvPr/>
        </p:nvSpPr>
        <p:spPr>
          <a:xfrm>
            <a:off x="5166360" y="3703320"/>
            <a:ext cx="35204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积极干预：财政、货币、产业政策</a:t>
            </a:r>
            <a:endParaRPr lang="en-US" sz="1100" dirty="0"/>
          </a:p>
        </p:txBody>
      </p:sp>
      <p:sp>
        <p:nvSpPr>
          <p:cNvPr id="30" name="Shape 28"/>
          <p:cNvSpPr/>
          <p:nvPr/>
        </p:nvSpPr>
        <p:spPr>
          <a:xfrm>
            <a:off x="457200" y="4114800"/>
            <a:ext cx="8229600" cy="411480"/>
          </a:xfrm>
          <a:prstGeom prst="rect">
            <a:avLst/>
          </a:prstGeom>
          <a:solidFill>
            <a:srgbClr val="FDF0D5"/>
          </a:solidFill>
          <a:ln w="6350">
            <a:solidFill>
              <a:srgbClr val="669BBC"/>
            </a:solidFill>
            <a:prstDash val="solid"/>
          </a:ln>
        </p:spPr>
      </p:sp>
      <p:sp>
        <p:nvSpPr>
          <p:cNvPr id="31" name="Text 29"/>
          <p:cNvSpPr/>
          <p:nvPr/>
        </p:nvSpPr>
        <p:spPr>
          <a:xfrm>
            <a:off x="548640" y="4114800"/>
            <a:ext cx="1463040" cy="41148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市场假设</a:t>
            </a:r>
            <a:endParaRPr lang="en-US" sz="1100" dirty="0"/>
          </a:p>
        </p:txBody>
      </p:sp>
      <p:sp>
        <p:nvSpPr>
          <p:cNvPr id="32" name="Text 30"/>
          <p:cNvSpPr/>
          <p:nvPr/>
        </p:nvSpPr>
        <p:spPr>
          <a:xfrm>
            <a:off x="2103120" y="4114800"/>
            <a:ext cx="30632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信息完全、自发秩序</a:t>
            </a:r>
            <a:endParaRPr lang="en-US" sz="1100" dirty="0"/>
          </a:p>
        </p:txBody>
      </p:sp>
      <p:sp>
        <p:nvSpPr>
          <p:cNvPr id="33" name="Text 31"/>
          <p:cNvSpPr/>
          <p:nvPr/>
        </p:nvSpPr>
        <p:spPr>
          <a:xfrm>
            <a:off x="5166360" y="4114800"/>
            <a:ext cx="35204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信息不对称、需要信号机制</a:t>
            </a:r>
            <a:endParaRPr lang="en-US" sz="1100" dirty="0"/>
          </a:p>
        </p:txBody>
      </p:sp>
      <p:sp>
        <p:nvSpPr>
          <p:cNvPr id="34" name="Shape 32"/>
          <p:cNvSpPr/>
          <p:nvPr/>
        </p:nvSpPr>
        <p:spPr>
          <a:xfrm>
            <a:off x="457200" y="4526280"/>
            <a:ext cx="8229600" cy="411480"/>
          </a:xfrm>
          <a:prstGeom prst="rect">
            <a:avLst/>
          </a:prstGeom>
          <a:solidFill>
            <a:srgbClr val="FFFFFF"/>
          </a:solidFill>
          <a:ln w="6350">
            <a:solidFill>
              <a:srgbClr val="669BBC"/>
            </a:solidFill>
            <a:prstDash val="solid"/>
          </a:ln>
        </p:spPr>
      </p:sp>
      <p:sp>
        <p:nvSpPr>
          <p:cNvPr id="35" name="Text 33"/>
          <p:cNvSpPr/>
          <p:nvPr/>
        </p:nvSpPr>
        <p:spPr>
          <a:xfrm>
            <a:off x="548640" y="4526280"/>
            <a:ext cx="1463040" cy="41148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制度观点</a:t>
            </a:r>
            <a:endParaRPr lang="en-US" sz="1100" dirty="0"/>
          </a:p>
        </p:txBody>
      </p:sp>
      <p:sp>
        <p:nvSpPr>
          <p:cNvPr id="36" name="Text 34"/>
          <p:cNvSpPr/>
          <p:nvPr/>
        </p:nvSpPr>
        <p:spPr>
          <a:xfrm>
            <a:off x="2103120" y="4526280"/>
            <a:ext cx="30632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自然演化</a:t>
            </a:r>
            <a:endParaRPr lang="en-US" sz="1100" dirty="0"/>
          </a:p>
        </p:txBody>
      </p:sp>
      <p:sp>
        <p:nvSpPr>
          <p:cNvPr id="37" name="Text 35"/>
          <p:cNvSpPr/>
          <p:nvPr/>
        </p:nvSpPr>
        <p:spPr>
          <a:xfrm>
            <a:off x="5166360" y="4526280"/>
            <a:ext cx="3520440" cy="41148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设计+演化混合</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7772400" cy="457200"/>
          </a:xfrm>
          <a:prstGeom prst="rect">
            <a:avLst/>
          </a:prstGeom>
          <a:noFill/>
          <a:ln/>
        </p:spPr>
        <p:txBody>
          <a:bodyPr wrap="square" rtlCol="0" anchor="ctr"/>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第三模块小结</a:t>
            </a:r>
            <a:endParaRPr lang="en-US" sz="2600" dirty="0"/>
          </a:p>
        </p:txBody>
      </p:sp>
      <p:sp>
        <p:nvSpPr>
          <p:cNvPr id="4" name="Shape 2"/>
          <p:cNvSpPr/>
          <p:nvPr/>
        </p:nvSpPr>
        <p:spPr>
          <a:xfrm>
            <a:off x="8503920" y="4663440"/>
            <a:ext cx="365760" cy="365760"/>
          </a:xfrm>
          <a:prstGeom prst="ellipse">
            <a:avLst/>
          </a:prstGeom>
          <a:solidFill>
            <a:srgbClr val="780000"/>
          </a:solidFill>
          <a:ln/>
        </p:spPr>
      </p:sp>
      <p:sp>
        <p:nvSpPr>
          <p:cNvPr id="5" name="Text 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55</a:t>
            </a:r>
            <a:endParaRPr lang="en-US" sz="1100" dirty="0"/>
          </a:p>
        </p:txBody>
      </p:sp>
      <p:sp>
        <p:nvSpPr>
          <p:cNvPr id="6" name="Text 4"/>
          <p:cNvSpPr/>
          <p:nvPr/>
        </p:nvSpPr>
        <p:spPr>
          <a:xfrm>
            <a:off x="457200" y="1005840"/>
            <a:ext cx="8229600" cy="457200"/>
          </a:xfrm>
          <a:prstGeom prst="rect">
            <a:avLst/>
          </a:prstGeom>
          <a:noFill/>
          <a:ln/>
        </p:spPr>
        <p:txBody>
          <a:bodyPr wrap="square" rtlCol="0" anchor="ctr"/>
          <a:lstStyle/>
          <a:p>
            <a:pPr algn="ctr" indent="0" marL="0">
              <a:buNone/>
            </a:pPr>
            <a:r>
              <a:rPr lang="en-US" sz="2200" b="1" dirty="0">
                <a:solidFill>
                  <a:srgbClr val="780000"/>
                </a:solidFill>
                <a:latin typeface="Microsoft YaHei" pitchFamily="34" charset="0"/>
                <a:ea typeface="Microsoft YaHei" pitchFamily="34" charset="-122"/>
                <a:cs typeface="Microsoft YaHei" pitchFamily="34" charset="-120"/>
              </a:rPr>
              <a:t>斯密遗产在当代</a:t>
            </a:r>
            <a:endParaRPr lang="en-US" sz="2200" dirty="0"/>
          </a:p>
        </p:txBody>
      </p:sp>
      <p:sp>
        <p:nvSpPr>
          <p:cNvPr id="7" name="Text 5"/>
          <p:cNvSpPr/>
          <p:nvPr/>
        </p:nvSpPr>
        <p:spPr>
          <a:xfrm>
            <a:off x="457200" y="1554480"/>
            <a:ext cx="8229600" cy="32004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三大现代补充</a:t>
            </a:r>
            <a:endParaRPr lang="en-US" sz="1600" dirty="0"/>
          </a:p>
        </p:txBody>
      </p:sp>
      <p:sp>
        <p:nvSpPr>
          <p:cNvPr id="8" name="Shape 6"/>
          <p:cNvSpPr/>
          <p:nvPr/>
        </p:nvSpPr>
        <p:spPr>
          <a:xfrm>
            <a:off x="457200" y="1920240"/>
            <a:ext cx="2651760" cy="2286000"/>
          </a:xfrm>
          <a:prstGeom prst="roundRect">
            <a:avLst>
              <a:gd name="adj" fmla="val 4000"/>
            </a:avLst>
          </a:prstGeom>
          <a:solidFill>
            <a:srgbClr val="FFFFFF"/>
          </a:solidFill>
          <a:ln w="25400">
            <a:solidFill>
              <a:srgbClr val="780000"/>
            </a:solidFill>
            <a:prstDash val="solid"/>
          </a:ln>
        </p:spPr>
      </p:sp>
      <p:sp>
        <p:nvSpPr>
          <p:cNvPr id="9" name="Shape 7"/>
          <p:cNvSpPr/>
          <p:nvPr/>
        </p:nvSpPr>
        <p:spPr>
          <a:xfrm>
            <a:off x="1508760" y="2011680"/>
            <a:ext cx="548640" cy="548640"/>
          </a:xfrm>
          <a:prstGeom prst="ellipse">
            <a:avLst/>
          </a:prstGeom>
          <a:solidFill>
            <a:srgbClr val="C1121F"/>
          </a:solidFill>
          <a:ln/>
        </p:spPr>
      </p:sp>
      <p:sp>
        <p:nvSpPr>
          <p:cNvPr id="10" name="Text 8"/>
          <p:cNvSpPr/>
          <p:nvPr/>
        </p:nvSpPr>
        <p:spPr>
          <a:xfrm>
            <a:off x="1508760" y="201168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1" name="Text 9"/>
          <p:cNvSpPr/>
          <p:nvPr/>
        </p:nvSpPr>
        <p:spPr>
          <a:xfrm>
            <a:off x="548640" y="2651760"/>
            <a:ext cx="2468880" cy="365760"/>
          </a:xfrm>
          <a:prstGeom prst="rect">
            <a:avLst/>
          </a:prstGeom>
          <a:noFill/>
          <a:ln/>
        </p:spPr>
        <p:txBody>
          <a:bodyPr wrap="square" rtlCol="0" anchor="ctr"/>
          <a:lstStyle/>
          <a:p>
            <a:pPr algn="ctr" indent="0" marL="0">
              <a:buNone/>
            </a:pPr>
            <a:r>
              <a:rPr lang="en-US" sz="1500" b="1" dirty="0">
                <a:solidFill>
                  <a:srgbClr val="780000"/>
                </a:solidFill>
                <a:latin typeface="Microsoft YaHei" pitchFamily="34" charset="0"/>
                <a:ea typeface="Microsoft YaHei" pitchFamily="34" charset="-122"/>
                <a:cs typeface="Microsoft YaHei" pitchFamily="34" charset="-120"/>
              </a:rPr>
              <a:t>制度经济学</a:t>
            </a:r>
            <a:endParaRPr lang="en-US" sz="1500" dirty="0"/>
          </a:p>
        </p:txBody>
      </p:sp>
      <p:sp>
        <p:nvSpPr>
          <p:cNvPr id="12" name="Text 10"/>
          <p:cNvSpPr/>
          <p:nvPr/>
        </p:nvSpPr>
        <p:spPr>
          <a:xfrm>
            <a:off x="548640" y="3017520"/>
            <a:ext cx="2468880" cy="320040"/>
          </a:xfrm>
          <a:prstGeom prst="rect">
            <a:avLst/>
          </a:prstGeom>
          <a:noFill/>
          <a:ln/>
        </p:spPr>
        <p:txBody>
          <a:bodyPr wrap="square" rtlCol="0" anchor="ctr"/>
          <a:lstStyle/>
          <a:p>
            <a:pPr algn="ctr" indent="0" marL="0">
              <a:buNone/>
            </a:pPr>
            <a:r>
              <a:rPr lang="en-US" sz="1000" dirty="0">
                <a:solidFill>
                  <a:srgbClr val="669BBC"/>
                </a:solidFill>
                <a:latin typeface="Calibri" pitchFamily="34" charset="0"/>
                <a:ea typeface="Calibri" pitchFamily="34" charset="-122"/>
                <a:cs typeface="Calibri" pitchFamily="34" charset="-120"/>
              </a:rPr>
              <a:t>科斯、诺斯、威廉姆森</a:t>
            </a:r>
            <a:endParaRPr lang="en-US" sz="1000" dirty="0"/>
          </a:p>
        </p:txBody>
      </p:sp>
      <p:sp>
        <p:nvSpPr>
          <p:cNvPr id="13" name="Text 11"/>
          <p:cNvSpPr/>
          <p:nvPr/>
        </p:nvSpPr>
        <p:spPr>
          <a:xfrm>
            <a:off x="594360" y="3383280"/>
            <a:ext cx="2377440" cy="50292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制度决定交易成本，影响经济绩效</a:t>
            </a:r>
            <a:endParaRPr lang="en-US" sz="1100" dirty="0"/>
          </a:p>
        </p:txBody>
      </p:sp>
      <p:sp>
        <p:nvSpPr>
          <p:cNvPr id="14" name="Text 12"/>
          <p:cNvSpPr/>
          <p:nvPr/>
        </p:nvSpPr>
        <p:spPr>
          <a:xfrm>
            <a:off x="548640" y="3886200"/>
            <a:ext cx="2468880" cy="274320"/>
          </a:xfrm>
          <a:prstGeom prst="rect">
            <a:avLst/>
          </a:prstGeom>
          <a:noFill/>
          <a:ln/>
        </p:spPr>
        <p:txBody>
          <a:bodyPr wrap="square" rtlCol="0" anchor="ctr"/>
          <a:lstStyle/>
          <a:p>
            <a:pPr algn="ctr" indent="0" marL="0">
              <a:buNone/>
            </a:pPr>
            <a:r>
              <a:rPr lang="en-US" sz="1000" i="1" dirty="0">
                <a:solidFill>
                  <a:srgbClr val="C1121F"/>
                </a:solidFill>
                <a:latin typeface="Calibri" pitchFamily="34" charset="0"/>
                <a:ea typeface="Calibri" pitchFamily="34" charset="-122"/>
                <a:cs typeface="Calibri" pitchFamily="34" charset="-120"/>
              </a:rPr>
              <a:t>"制度是社会博弈的规则"</a:t>
            </a:r>
            <a:endParaRPr lang="en-US" sz="1000" dirty="0"/>
          </a:p>
        </p:txBody>
      </p:sp>
      <p:sp>
        <p:nvSpPr>
          <p:cNvPr id="15" name="Shape 13"/>
          <p:cNvSpPr/>
          <p:nvPr/>
        </p:nvSpPr>
        <p:spPr>
          <a:xfrm>
            <a:off x="3291840" y="1920240"/>
            <a:ext cx="2651760" cy="2286000"/>
          </a:xfrm>
          <a:prstGeom prst="roundRect">
            <a:avLst>
              <a:gd name="adj" fmla="val 4000"/>
            </a:avLst>
          </a:prstGeom>
          <a:solidFill>
            <a:srgbClr val="FFFFFF"/>
          </a:solidFill>
          <a:ln w="25400">
            <a:solidFill>
              <a:srgbClr val="780000"/>
            </a:solidFill>
            <a:prstDash val="solid"/>
          </a:ln>
        </p:spPr>
      </p:sp>
      <p:sp>
        <p:nvSpPr>
          <p:cNvPr id="16" name="Shape 14"/>
          <p:cNvSpPr/>
          <p:nvPr/>
        </p:nvSpPr>
        <p:spPr>
          <a:xfrm>
            <a:off x="4343400" y="2011680"/>
            <a:ext cx="548640" cy="548640"/>
          </a:xfrm>
          <a:prstGeom prst="ellipse">
            <a:avLst/>
          </a:prstGeom>
          <a:solidFill>
            <a:srgbClr val="C1121F"/>
          </a:solidFill>
          <a:ln/>
        </p:spPr>
      </p:sp>
      <p:sp>
        <p:nvSpPr>
          <p:cNvPr id="17" name="Text 15"/>
          <p:cNvSpPr/>
          <p:nvPr/>
        </p:nvSpPr>
        <p:spPr>
          <a:xfrm>
            <a:off x="4343400" y="201168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8" name="Text 16"/>
          <p:cNvSpPr/>
          <p:nvPr/>
        </p:nvSpPr>
        <p:spPr>
          <a:xfrm>
            <a:off x="3383280" y="2651760"/>
            <a:ext cx="2468880" cy="365760"/>
          </a:xfrm>
          <a:prstGeom prst="rect">
            <a:avLst/>
          </a:prstGeom>
          <a:noFill/>
          <a:ln/>
        </p:spPr>
        <p:txBody>
          <a:bodyPr wrap="square" rtlCol="0" anchor="ctr"/>
          <a:lstStyle/>
          <a:p>
            <a:pPr algn="ctr" indent="0" marL="0">
              <a:buNone/>
            </a:pPr>
            <a:r>
              <a:rPr lang="en-US" sz="1500" b="1" dirty="0">
                <a:solidFill>
                  <a:srgbClr val="780000"/>
                </a:solidFill>
                <a:latin typeface="Microsoft YaHei" pitchFamily="34" charset="0"/>
                <a:ea typeface="Microsoft YaHei" pitchFamily="34" charset="-122"/>
                <a:cs typeface="Microsoft YaHei" pitchFamily="34" charset="-120"/>
              </a:rPr>
              <a:t>行为经济学</a:t>
            </a:r>
            <a:endParaRPr lang="en-US" sz="1500" dirty="0"/>
          </a:p>
        </p:txBody>
      </p:sp>
      <p:sp>
        <p:nvSpPr>
          <p:cNvPr id="19" name="Text 17"/>
          <p:cNvSpPr/>
          <p:nvPr/>
        </p:nvSpPr>
        <p:spPr>
          <a:xfrm>
            <a:off x="3383280" y="3017520"/>
            <a:ext cx="2468880" cy="320040"/>
          </a:xfrm>
          <a:prstGeom prst="rect">
            <a:avLst/>
          </a:prstGeom>
          <a:noFill/>
          <a:ln/>
        </p:spPr>
        <p:txBody>
          <a:bodyPr wrap="square" rtlCol="0" anchor="ctr"/>
          <a:lstStyle/>
          <a:p>
            <a:pPr algn="ctr" indent="0" marL="0">
              <a:buNone/>
            </a:pPr>
            <a:r>
              <a:rPr lang="en-US" sz="1000" dirty="0">
                <a:solidFill>
                  <a:srgbClr val="669BBC"/>
                </a:solidFill>
                <a:latin typeface="Calibri" pitchFamily="34" charset="0"/>
                <a:ea typeface="Calibri" pitchFamily="34" charset="-122"/>
                <a:cs typeface="Calibri" pitchFamily="34" charset="-120"/>
              </a:rPr>
              <a:t>卡尼曼、塞勒、西蒙</a:t>
            </a:r>
            <a:endParaRPr lang="en-US" sz="1000" dirty="0"/>
          </a:p>
        </p:txBody>
      </p:sp>
      <p:sp>
        <p:nvSpPr>
          <p:cNvPr id="20" name="Text 18"/>
          <p:cNvSpPr/>
          <p:nvPr/>
        </p:nvSpPr>
        <p:spPr>
          <a:xfrm>
            <a:off x="3429000" y="3383280"/>
            <a:ext cx="2377440" cy="50292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有限理性、社会偏好改变市场运作</a:t>
            </a:r>
            <a:endParaRPr lang="en-US" sz="1100" dirty="0"/>
          </a:p>
        </p:txBody>
      </p:sp>
      <p:sp>
        <p:nvSpPr>
          <p:cNvPr id="21" name="Text 19"/>
          <p:cNvSpPr/>
          <p:nvPr/>
        </p:nvSpPr>
        <p:spPr>
          <a:xfrm>
            <a:off x="3383280" y="3886200"/>
            <a:ext cx="2468880" cy="274320"/>
          </a:xfrm>
          <a:prstGeom prst="rect">
            <a:avLst/>
          </a:prstGeom>
          <a:noFill/>
          <a:ln/>
        </p:spPr>
        <p:txBody>
          <a:bodyPr wrap="square" rtlCol="0" anchor="ctr"/>
          <a:lstStyle/>
          <a:p>
            <a:pPr algn="ctr" indent="0" marL="0">
              <a:buNone/>
            </a:pPr>
            <a:r>
              <a:rPr lang="en-US" sz="1000" i="1" dirty="0">
                <a:solidFill>
                  <a:srgbClr val="C1121F"/>
                </a:solidFill>
                <a:latin typeface="Calibri" pitchFamily="34" charset="0"/>
                <a:ea typeface="Calibri" pitchFamily="34" charset="-122"/>
                <a:cs typeface="Calibri" pitchFamily="34" charset="-120"/>
              </a:rPr>
              <a:t>"人们不是理性的计算器"</a:t>
            </a:r>
            <a:endParaRPr lang="en-US" sz="1000" dirty="0"/>
          </a:p>
        </p:txBody>
      </p:sp>
      <p:sp>
        <p:nvSpPr>
          <p:cNvPr id="22" name="Shape 20"/>
          <p:cNvSpPr/>
          <p:nvPr/>
        </p:nvSpPr>
        <p:spPr>
          <a:xfrm>
            <a:off x="6126480" y="1920240"/>
            <a:ext cx="2651760" cy="2286000"/>
          </a:xfrm>
          <a:prstGeom prst="roundRect">
            <a:avLst>
              <a:gd name="adj" fmla="val 4000"/>
            </a:avLst>
          </a:prstGeom>
          <a:solidFill>
            <a:srgbClr val="FFFFFF"/>
          </a:solidFill>
          <a:ln w="25400">
            <a:solidFill>
              <a:srgbClr val="780000"/>
            </a:solidFill>
            <a:prstDash val="solid"/>
          </a:ln>
        </p:spPr>
      </p:sp>
      <p:sp>
        <p:nvSpPr>
          <p:cNvPr id="23" name="Shape 21"/>
          <p:cNvSpPr/>
          <p:nvPr/>
        </p:nvSpPr>
        <p:spPr>
          <a:xfrm>
            <a:off x="7178040" y="2011680"/>
            <a:ext cx="548640" cy="548640"/>
          </a:xfrm>
          <a:prstGeom prst="ellipse">
            <a:avLst/>
          </a:prstGeom>
          <a:solidFill>
            <a:srgbClr val="C1121F"/>
          </a:solidFill>
          <a:ln/>
        </p:spPr>
      </p:sp>
      <p:sp>
        <p:nvSpPr>
          <p:cNvPr id="24" name="Text 22"/>
          <p:cNvSpPr/>
          <p:nvPr/>
        </p:nvSpPr>
        <p:spPr>
          <a:xfrm>
            <a:off x="7178040" y="2011680"/>
            <a:ext cx="54864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5" name="Text 23"/>
          <p:cNvSpPr/>
          <p:nvPr/>
        </p:nvSpPr>
        <p:spPr>
          <a:xfrm>
            <a:off x="6217920" y="2651760"/>
            <a:ext cx="2468880" cy="365760"/>
          </a:xfrm>
          <a:prstGeom prst="rect">
            <a:avLst/>
          </a:prstGeom>
          <a:noFill/>
          <a:ln/>
        </p:spPr>
        <p:txBody>
          <a:bodyPr wrap="square" rtlCol="0" anchor="ctr"/>
          <a:lstStyle/>
          <a:p>
            <a:pPr algn="ctr" indent="0" marL="0">
              <a:buNone/>
            </a:pPr>
            <a:r>
              <a:rPr lang="en-US" sz="1500" b="1" dirty="0">
                <a:solidFill>
                  <a:srgbClr val="780000"/>
                </a:solidFill>
                <a:latin typeface="Microsoft YaHei" pitchFamily="34" charset="0"/>
                <a:ea typeface="Microsoft YaHei" pitchFamily="34" charset="-122"/>
                <a:cs typeface="Microsoft YaHei" pitchFamily="34" charset="-120"/>
              </a:rPr>
              <a:t>信息经济学</a:t>
            </a:r>
            <a:endParaRPr lang="en-US" sz="1500" dirty="0"/>
          </a:p>
        </p:txBody>
      </p:sp>
      <p:sp>
        <p:nvSpPr>
          <p:cNvPr id="26" name="Text 24"/>
          <p:cNvSpPr/>
          <p:nvPr/>
        </p:nvSpPr>
        <p:spPr>
          <a:xfrm>
            <a:off x="6217920" y="3017520"/>
            <a:ext cx="2468880" cy="320040"/>
          </a:xfrm>
          <a:prstGeom prst="rect">
            <a:avLst/>
          </a:prstGeom>
          <a:noFill/>
          <a:ln/>
        </p:spPr>
        <p:txBody>
          <a:bodyPr wrap="square" rtlCol="0" anchor="ctr"/>
          <a:lstStyle/>
          <a:p>
            <a:pPr algn="ctr" indent="0" marL="0">
              <a:buNone/>
            </a:pPr>
            <a:r>
              <a:rPr lang="en-US" sz="1000" dirty="0">
                <a:solidFill>
                  <a:srgbClr val="669BBC"/>
                </a:solidFill>
                <a:latin typeface="Calibri" pitchFamily="34" charset="0"/>
                <a:ea typeface="Calibri" pitchFamily="34" charset="-122"/>
                <a:cs typeface="Calibri" pitchFamily="34" charset="-120"/>
              </a:rPr>
              <a:t>阿克洛夫、斯蒂格利茨</a:t>
            </a:r>
            <a:endParaRPr lang="en-US" sz="1000" dirty="0"/>
          </a:p>
        </p:txBody>
      </p:sp>
      <p:sp>
        <p:nvSpPr>
          <p:cNvPr id="27" name="Text 25"/>
          <p:cNvSpPr/>
          <p:nvPr/>
        </p:nvSpPr>
        <p:spPr>
          <a:xfrm>
            <a:off x="6263640" y="3383280"/>
            <a:ext cx="2377440" cy="50292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信息不对称导致市场失灵与信号博弈</a:t>
            </a:r>
            <a:endParaRPr lang="en-US" sz="1100" dirty="0"/>
          </a:p>
        </p:txBody>
      </p:sp>
      <p:sp>
        <p:nvSpPr>
          <p:cNvPr id="28" name="Text 26"/>
          <p:cNvSpPr/>
          <p:nvPr/>
        </p:nvSpPr>
        <p:spPr>
          <a:xfrm>
            <a:off x="6217920" y="3886200"/>
            <a:ext cx="2468880" cy="274320"/>
          </a:xfrm>
          <a:prstGeom prst="rect">
            <a:avLst/>
          </a:prstGeom>
          <a:noFill/>
          <a:ln/>
        </p:spPr>
        <p:txBody>
          <a:bodyPr wrap="square" rtlCol="0" anchor="ctr"/>
          <a:lstStyle/>
          <a:p>
            <a:pPr algn="ctr" indent="0" marL="0">
              <a:buNone/>
            </a:pPr>
            <a:r>
              <a:rPr lang="en-US" sz="1000" i="1" dirty="0">
                <a:solidFill>
                  <a:srgbClr val="C1121F"/>
                </a:solidFill>
                <a:latin typeface="Calibri" pitchFamily="34" charset="0"/>
                <a:ea typeface="Calibri" pitchFamily="34" charset="-122"/>
                <a:cs typeface="Calibri" pitchFamily="34" charset="-120"/>
              </a:rPr>
              <a:t>"信息是市场的心脏"</a:t>
            </a:r>
            <a:endParaRPr lang="en-US" sz="1000" dirty="0"/>
          </a:p>
        </p:txBody>
      </p:sp>
      <p:sp>
        <p:nvSpPr>
          <p:cNvPr id="29" name="Shape 27"/>
          <p:cNvSpPr/>
          <p:nvPr/>
        </p:nvSpPr>
        <p:spPr>
          <a:xfrm>
            <a:off x="457200" y="4343400"/>
            <a:ext cx="8229600" cy="502920"/>
          </a:xfrm>
          <a:prstGeom prst="roundRect">
            <a:avLst>
              <a:gd name="adj" fmla="val 14545"/>
            </a:avLst>
          </a:prstGeom>
          <a:solidFill>
            <a:srgbClr val="003049"/>
          </a:solidFill>
          <a:ln/>
        </p:spPr>
      </p:sp>
      <p:sp>
        <p:nvSpPr>
          <p:cNvPr id="30" name="Text 28"/>
          <p:cNvSpPr/>
          <p:nvPr/>
        </p:nvSpPr>
        <p:spPr>
          <a:xfrm>
            <a:off x="640080" y="4389120"/>
            <a:ext cx="7863840" cy="41148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斯密的核心洞察在当代得到扩展：市场需要制度支撑、信息透明、行为理性的配合</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780000"/>
        </a:solidFill>
      </p:bgPr>
    </p:bg>
    <p:spTree>
      <p:nvGrpSpPr>
        <p:cNvPr id="1" name=""/>
        <p:cNvGrpSpPr/>
        <p:nvPr/>
      </p:nvGrpSpPr>
      <p:grpSpPr>
        <a:xfrm>
          <a:off x="0" y="0"/>
          <a:ext cx="0" cy="0"/>
          <a:chOff x="0" y="0"/>
          <a:chExt cx="0" cy="0"/>
        </a:xfrm>
      </p:grpSpPr>
      <p:sp>
        <p:nvSpPr>
          <p:cNvPr id="2" name="Text 0"/>
          <p:cNvSpPr/>
          <p:nvPr/>
        </p:nvSpPr>
        <p:spPr>
          <a:xfrm>
            <a:off x="457200" y="1097280"/>
            <a:ext cx="8229600" cy="1645920"/>
          </a:xfrm>
          <a:prstGeom prst="rect">
            <a:avLst/>
          </a:prstGeom>
          <a:noFill/>
          <a:ln/>
        </p:spPr>
        <p:txBody>
          <a:bodyPr wrap="square" rtlCol="0" anchor="ctr"/>
          <a:lstStyle/>
          <a:p>
            <a:pPr algn="ctr" indent="0" marL="0">
              <a:buNone/>
            </a:pPr>
            <a:r>
              <a:rPr lang="en-US" sz="12000" b="1" dirty="0">
                <a:solidFill>
                  <a:srgbClr val="FDF0D5"/>
                </a:solidFill>
                <a:latin typeface="Georgia" pitchFamily="34" charset="0"/>
                <a:ea typeface="Georgia" pitchFamily="34" charset="-122"/>
                <a:cs typeface="Georgia" pitchFamily="34" charset="-120"/>
              </a:rPr>
              <a:t>04</a:t>
            </a:r>
            <a:endParaRPr lang="en-US" sz="12000" dirty="0"/>
          </a:p>
        </p:txBody>
      </p:sp>
      <p:sp>
        <p:nvSpPr>
          <p:cNvPr id="3" name="Text 1"/>
          <p:cNvSpPr/>
          <p:nvPr/>
        </p:nvSpPr>
        <p:spPr>
          <a:xfrm>
            <a:off x="457200" y="2560320"/>
            <a:ext cx="8229600" cy="914400"/>
          </a:xfrm>
          <a:prstGeom prst="rect">
            <a:avLst/>
          </a:prstGeom>
          <a:noFill/>
          <a:ln/>
        </p:spPr>
        <p:txBody>
          <a:bodyPr wrap="square" rtlCol="0" anchor="ctr"/>
          <a:lstStyle/>
          <a:p>
            <a:pPr algn="ctr" indent="0" marL="0">
              <a:buNone/>
            </a:pPr>
            <a:r>
              <a:rPr lang="en-US" sz="5400" b="1" dirty="0">
                <a:solidFill>
                  <a:srgbClr val="FDF0D5"/>
                </a:solidFill>
                <a:latin typeface="Microsoft YaHei" pitchFamily="34" charset="0"/>
                <a:ea typeface="Microsoft YaHei" pitchFamily="34" charset="-122"/>
                <a:cs typeface="Microsoft YaHei" pitchFamily="34" charset="-120"/>
              </a:rPr>
              <a:t>回到斯密</a:t>
            </a:r>
            <a:endParaRPr lang="en-US" sz="5400" dirty="0"/>
          </a:p>
        </p:txBody>
      </p:sp>
      <p:sp>
        <p:nvSpPr>
          <p:cNvPr id="4" name="Shape 2"/>
          <p:cNvSpPr/>
          <p:nvPr/>
        </p:nvSpPr>
        <p:spPr>
          <a:xfrm>
            <a:off x="3200400" y="3566160"/>
            <a:ext cx="2743200" cy="54864"/>
          </a:xfrm>
          <a:prstGeom prst="rect">
            <a:avLst/>
          </a:prstGeom>
          <a:solidFill>
            <a:srgbClr val="669BBC"/>
          </a:solidFill>
          <a:ln/>
        </p:spPr>
      </p:sp>
      <p:sp>
        <p:nvSpPr>
          <p:cNvPr id="5" name="Text 3"/>
          <p:cNvSpPr/>
          <p:nvPr/>
        </p:nvSpPr>
        <p:spPr>
          <a:xfrm>
            <a:off x="457200" y="3749040"/>
            <a:ext cx="8229600" cy="548640"/>
          </a:xfrm>
          <a:prstGeom prst="rect">
            <a:avLst/>
          </a:prstGeom>
          <a:noFill/>
          <a:ln/>
        </p:spPr>
        <p:txBody>
          <a:bodyPr wrap="square" rtlCol="0" anchor="ctr"/>
          <a:lstStyle/>
          <a:p>
            <a:pPr algn="ctr" indent="0" marL="0">
              <a:buNone/>
            </a:pPr>
            <a:r>
              <a:rPr lang="en-US" sz="2000" dirty="0">
                <a:solidFill>
                  <a:srgbClr val="669BBC"/>
                </a:solidFill>
                <a:latin typeface="Microsoft YaHei" pitchFamily="34" charset="0"/>
                <a:ea typeface="Microsoft YaHei" pitchFamily="34" charset="-122"/>
                <a:cs typeface="Microsoft YaHei" pitchFamily="34" charset="-120"/>
              </a:rPr>
              <a:t>重新理解古典经济学的现代价值</a:t>
            </a:r>
            <a:endParaRPr lang="en-US" sz="2000" dirty="0"/>
          </a:p>
        </p:txBody>
      </p:sp>
      <p:sp>
        <p:nvSpPr>
          <p:cNvPr id="6" name="Shape 4"/>
          <p:cNvSpPr/>
          <p:nvPr/>
        </p:nvSpPr>
        <p:spPr>
          <a:xfrm>
            <a:off x="8503920" y="4663440"/>
            <a:ext cx="365760" cy="365760"/>
          </a:xfrm>
          <a:prstGeom prst="ellipse">
            <a:avLst/>
          </a:prstGeom>
          <a:solidFill>
            <a:srgbClr val="C1121F"/>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重新理解斯密</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188720"/>
            <a:ext cx="3931920" cy="32918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Shape 4"/>
          <p:cNvSpPr/>
          <p:nvPr/>
        </p:nvSpPr>
        <p:spPr>
          <a:xfrm>
            <a:off x="457200" y="1188720"/>
            <a:ext cx="73152" cy="3291840"/>
          </a:xfrm>
          <a:prstGeom prst="rect">
            <a:avLst/>
          </a:prstGeom>
          <a:solidFill>
            <a:srgbClr val="780000"/>
          </a:solidFill>
          <a:ln/>
        </p:spPr>
      </p:sp>
      <p:sp>
        <p:nvSpPr>
          <p:cNvPr id="7" name="Text 5"/>
          <p:cNvSpPr/>
          <p:nvPr/>
        </p:nvSpPr>
        <p:spPr>
          <a:xfrm>
            <a:off x="685800" y="1325880"/>
            <a:ext cx="347472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核心观点</a:t>
            </a:r>
            <a:endParaRPr lang="en-US" sz="1600" dirty="0"/>
          </a:p>
        </p:txBody>
      </p:sp>
      <p:sp>
        <p:nvSpPr>
          <p:cNvPr id="8" name="Text 6"/>
          <p:cNvSpPr/>
          <p:nvPr/>
        </p:nvSpPr>
        <p:spPr>
          <a:xfrm>
            <a:off x="685800" y="1691640"/>
            <a:ext cx="3474720" cy="73152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斯密被简化为"自由市场之父"，但其思想远比这复杂</a:t>
            </a:r>
            <a:endParaRPr lang="en-US" sz="1400" dirty="0"/>
          </a:p>
        </p:txBody>
      </p:sp>
      <p:sp>
        <p:nvSpPr>
          <p:cNvPr id="9" name="Text 7"/>
          <p:cNvSpPr/>
          <p:nvPr/>
        </p:nvSpPr>
        <p:spPr>
          <a:xfrm>
            <a:off x="685800" y="2468880"/>
            <a:ext cx="3474720"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《国富论》与《道德情感论》共同构成完整的人性理论</a:t>
            </a:r>
            <a:endParaRPr lang="en-US" sz="1300" dirty="0"/>
          </a:p>
          <a:p>
            <a:pPr marL="342900" indent="-342900">
              <a:spcAft>
                <a:spcPts val="8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斯密并非无限制市场经济的支持者</a:t>
            </a:r>
            <a:endParaRPr lang="en-US" sz="1300" dirty="0"/>
          </a:p>
          <a:p>
            <a:pPr marL="342900" indent="-342900">
              <a:spcAft>
                <a:spcPts val="8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理解斯密需要回到他所在的时代与问题意识</a:t>
            </a:r>
            <a:endParaRPr lang="en-US" sz="1300" dirty="0"/>
          </a:p>
        </p:txBody>
      </p:sp>
      <p:sp>
        <p:nvSpPr>
          <p:cNvPr id="10" name="Shape 8"/>
          <p:cNvSpPr/>
          <p:nvPr/>
        </p:nvSpPr>
        <p:spPr>
          <a:xfrm>
            <a:off x="4663440" y="1188720"/>
            <a:ext cx="4023360" cy="1371600"/>
          </a:xfrm>
          <a:prstGeom prst="rect">
            <a:avLst/>
          </a:prstGeom>
          <a:solidFill>
            <a:srgbClr val="003049"/>
          </a:solidFill>
          <a:ln/>
        </p:spPr>
      </p:sp>
      <p:sp>
        <p:nvSpPr>
          <p:cNvPr id="11" name="Text 9"/>
          <p:cNvSpPr/>
          <p:nvPr/>
        </p:nvSpPr>
        <p:spPr>
          <a:xfrm>
            <a:off x="4846320" y="1325880"/>
            <a:ext cx="3657600" cy="320040"/>
          </a:xfrm>
          <a:prstGeom prst="rect">
            <a:avLst/>
          </a:prstGeom>
          <a:noFill/>
          <a:ln/>
        </p:spPr>
        <p:txBody>
          <a:bodyPr wrap="square" rtlCol="0" anchor="ctr"/>
          <a:lstStyle/>
          <a:p>
            <a:pPr indent="0" marL="0">
              <a:buNone/>
            </a:pPr>
            <a:r>
              <a:rPr lang="en-US" sz="1500" b="1" dirty="0">
                <a:solidFill>
                  <a:srgbClr val="669BBC"/>
                </a:solidFill>
                <a:latin typeface="Microsoft YaHei" pitchFamily="34" charset="0"/>
                <a:ea typeface="Microsoft YaHei" pitchFamily="34" charset="-122"/>
                <a:cs typeface="Microsoft YaHei" pitchFamily="34" charset="-120"/>
              </a:rPr>
              <a:t>为什么需要重新理解？</a:t>
            </a:r>
            <a:endParaRPr lang="en-US" sz="1500" dirty="0"/>
          </a:p>
        </p:txBody>
      </p:sp>
      <p:sp>
        <p:nvSpPr>
          <p:cNvPr id="12" name="Text 10"/>
          <p:cNvSpPr/>
          <p:nvPr/>
        </p:nvSpPr>
        <p:spPr>
          <a:xfrm>
            <a:off x="4846320" y="1691640"/>
            <a:ext cx="3657600" cy="77724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现代解读往往将斯密简化为市场原教旨主义的代言人，这种误读既不符合斯密原意，也误导了当代政策讨论。</a:t>
            </a:r>
            <a:endParaRPr lang="en-US" sz="1200" dirty="0"/>
          </a:p>
        </p:txBody>
      </p:sp>
      <p:sp>
        <p:nvSpPr>
          <p:cNvPr id="13" name="Shape 11"/>
          <p:cNvSpPr/>
          <p:nvPr/>
        </p:nvSpPr>
        <p:spPr>
          <a:xfrm>
            <a:off x="4663440" y="2743200"/>
            <a:ext cx="1920240" cy="1737360"/>
          </a:xfrm>
          <a:prstGeom prst="rect">
            <a:avLst/>
          </a:prstGeom>
          <a:solidFill>
            <a:srgbClr val="669BBC"/>
          </a:solidFill>
          <a:ln/>
        </p:spPr>
      </p:sp>
      <p:sp>
        <p:nvSpPr>
          <p:cNvPr id="14" name="Text 12"/>
          <p:cNvSpPr/>
          <p:nvPr/>
        </p:nvSpPr>
        <p:spPr>
          <a:xfrm>
            <a:off x="4754880" y="2880360"/>
            <a:ext cx="173736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经济斯密</a:t>
            </a:r>
            <a:endParaRPr lang="en-US" sz="1400" dirty="0"/>
          </a:p>
        </p:txBody>
      </p:sp>
      <p:sp>
        <p:nvSpPr>
          <p:cNvPr id="15" name="Text 13"/>
          <p:cNvSpPr/>
          <p:nvPr/>
        </p:nvSpPr>
        <p:spPr>
          <a:xfrm>
            <a:off x="4754880" y="3246120"/>
            <a:ext cx="1737360" cy="109728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看不见的手</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市场机制</a:t>
            </a:r>
            <a:endParaRPr lang="en-US" sz="1100" dirty="0"/>
          </a:p>
        </p:txBody>
      </p:sp>
      <p:sp>
        <p:nvSpPr>
          <p:cNvPr id="16" name="Shape 14"/>
          <p:cNvSpPr/>
          <p:nvPr/>
        </p:nvSpPr>
        <p:spPr>
          <a:xfrm>
            <a:off x="6766560" y="2743200"/>
            <a:ext cx="1920240" cy="1737360"/>
          </a:xfrm>
          <a:prstGeom prst="rect">
            <a:avLst/>
          </a:prstGeom>
          <a:solidFill>
            <a:srgbClr val="669BBC"/>
          </a:solidFill>
          <a:ln/>
        </p:spPr>
      </p:sp>
      <p:sp>
        <p:nvSpPr>
          <p:cNvPr id="17" name="Text 15"/>
          <p:cNvSpPr/>
          <p:nvPr/>
        </p:nvSpPr>
        <p:spPr>
          <a:xfrm>
            <a:off x="6858000" y="2880360"/>
            <a:ext cx="173736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道德斯密</a:t>
            </a:r>
            <a:endParaRPr lang="en-US" sz="1400" dirty="0"/>
          </a:p>
        </p:txBody>
      </p:sp>
      <p:sp>
        <p:nvSpPr>
          <p:cNvPr id="18" name="Text 16"/>
          <p:cNvSpPr/>
          <p:nvPr/>
        </p:nvSpPr>
        <p:spPr>
          <a:xfrm>
            <a:off x="6858000" y="3246120"/>
            <a:ext cx="1737360" cy="109728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同情心</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正义感</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旁观者</a:t>
            </a:r>
            <a:endParaRPr lang="en-US" sz="1100" dirty="0"/>
          </a:p>
        </p:txBody>
      </p:sp>
      <p:sp>
        <p:nvSpPr>
          <p:cNvPr id="19" name="Shape 17"/>
          <p:cNvSpPr/>
          <p:nvPr/>
        </p:nvSpPr>
        <p:spPr>
          <a:xfrm>
            <a:off x="8503920" y="4663440"/>
            <a:ext cx="365760" cy="365760"/>
          </a:xfrm>
          <a:prstGeom prst="ellipse">
            <a:avLst/>
          </a:prstGeom>
          <a:solidFill>
            <a:srgbClr val="C1121F"/>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斯密的完整人性观</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143000"/>
            <a:ext cx="3931920" cy="21945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4"/>
          <p:cNvSpPr/>
          <p:nvPr/>
        </p:nvSpPr>
        <p:spPr>
          <a:xfrm>
            <a:off x="457200" y="1143000"/>
            <a:ext cx="3931920" cy="457200"/>
          </a:xfrm>
          <a:prstGeom prst="rect">
            <a:avLst/>
          </a:prstGeom>
          <a:solidFill>
            <a:srgbClr val="003049"/>
          </a:solidFill>
          <a:ln/>
        </p:spPr>
      </p:sp>
      <p:sp>
        <p:nvSpPr>
          <p:cNvPr id="7" name="Text 5"/>
          <p:cNvSpPr/>
          <p:nvPr/>
        </p:nvSpPr>
        <p:spPr>
          <a:xfrm>
            <a:off x="457200" y="114300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"经济人"假设</a:t>
            </a:r>
            <a:endParaRPr lang="en-US" sz="1600" dirty="0"/>
          </a:p>
        </p:txBody>
      </p:sp>
      <p:sp>
        <p:nvSpPr>
          <p:cNvPr id="8" name="Text 6"/>
          <p:cNvSpPr/>
          <p:nvPr/>
        </p:nvSpPr>
        <p:spPr>
          <a:xfrm>
            <a:off x="640080" y="1691640"/>
            <a:ext cx="3566160" cy="1554480"/>
          </a:xfrm>
          <a:prstGeom prst="rect">
            <a:avLst/>
          </a:prstGeom>
          <a:noFill/>
          <a:ln/>
        </p:spPr>
        <p:txBody>
          <a:bodyPr wrap="square" rtlCol="0" anchor="ctr"/>
          <a:lstStyle/>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自利心的驱动作用</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追求个人利益是经济活动的根本动力</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但自利需在正义制度下运行</a:t>
            </a:r>
            <a:endParaRPr lang="en-US" sz="1300" dirty="0"/>
          </a:p>
        </p:txBody>
      </p:sp>
      <p:sp>
        <p:nvSpPr>
          <p:cNvPr id="9" name="Shape 7"/>
          <p:cNvSpPr/>
          <p:nvPr/>
        </p:nvSpPr>
        <p:spPr>
          <a:xfrm>
            <a:off x="4754880" y="1143000"/>
            <a:ext cx="3931920" cy="21945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4754880" y="1143000"/>
            <a:ext cx="3931920" cy="457200"/>
          </a:xfrm>
          <a:prstGeom prst="rect">
            <a:avLst/>
          </a:prstGeom>
          <a:solidFill>
            <a:srgbClr val="780000"/>
          </a:solidFill>
          <a:ln/>
        </p:spPr>
      </p:sp>
      <p:sp>
        <p:nvSpPr>
          <p:cNvPr id="11" name="Text 9"/>
          <p:cNvSpPr/>
          <p:nvPr/>
        </p:nvSpPr>
        <p:spPr>
          <a:xfrm>
            <a:off x="4754880" y="114300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"道德人"维度</a:t>
            </a:r>
            <a:endParaRPr lang="en-US" sz="1600" dirty="0"/>
          </a:p>
        </p:txBody>
      </p:sp>
      <p:sp>
        <p:nvSpPr>
          <p:cNvPr id="12" name="Text 10"/>
          <p:cNvSpPr/>
          <p:nvPr/>
        </p:nvSpPr>
        <p:spPr>
          <a:xfrm>
            <a:off x="4937760" y="1691640"/>
            <a:ext cx="3566160" cy="1554480"/>
          </a:xfrm>
          <a:prstGeom prst="rect">
            <a:avLst/>
          </a:prstGeom>
          <a:noFill/>
          <a:ln/>
        </p:spPr>
        <p:txBody>
          <a:bodyPr wrap="square" rtlCol="0" anchor="ctr"/>
          <a:lstStyle/>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同情心：情感共鸣的基础</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正义感：社会秩序的保障</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旁观者视角：道德判断的他者维度</a:t>
            </a:r>
            <a:endParaRPr lang="en-US" sz="1300" dirty="0"/>
          </a:p>
        </p:txBody>
      </p:sp>
      <p:sp>
        <p:nvSpPr>
          <p:cNvPr id="13" name="Shape 11"/>
          <p:cNvSpPr/>
          <p:nvPr/>
        </p:nvSpPr>
        <p:spPr>
          <a:xfrm>
            <a:off x="4114800" y="2011680"/>
            <a:ext cx="914400" cy="914400"/>
          </a:xfrm>
          <a:prstGeom prst="ellipse">
            <a:avLst/>
          </a:prstGeom>
          <a:solidFill>
            <a:srgbClr val="C1121F"/>
          </a:solidFill>
          <a:ln/>
        </p:spPr>
      </p:sp>
      <p:sp>
        <p:nvSpPr>
          <p:cNvPr id="14" name="Text 12"/>
          <p:cNvSpPr/>
          <p:nvPr/>
        </p:nvSpPr>
        <p:spPr>
          <a:xfrm>
            <a:off x="4114800" y="2011680"/>
            <a:ext cx="914400" cy="91440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a:t>
            </a:r>
            <a:endParaRPr lang="en-US" sz="3600" dirty="0"/>
          </a:p>
        </p:txBody>
      </p:sp>
      <p:sp>
        <p:nvSpPr>
          <p:cNvPr id="15" name="Shape 13"/>
          <p:cNvSpPr/>
          <p:nvPr/>
        </p:nvSpPr>
        <p:spPr>
          <a:xfrm>
            <a:off x="457200" y="3566160"/>
            <a:ext cx="8229600" cy="1188720"/>
          </a:xfrm>
          <a:prstGeom prst="rect">
            <a:avLst/>
          </a:prstGeom>
          <a:solidFill>
            <a:srgbClr val="003049"/>
          </a:solidFill>
          <a:ln/>
        </p:spPr>
      </p:sp>
      <p:sp>
        <p:nvSpPr>
          <p:cNvPr id="16" name="Text 14"/>
          <p:cNvSpPr/>
          <p:nvPr/>
        </p:nvSpPr>
        <p:spPr>
          <a:xfrm>
            <a:off x="640080" y="3657600"/>
            <a:ext cx="1371600" cy="365760"/>
          </a:xfrm>
          <a:prstGeom prst="rect">
            <a:avLst/>
          </a:prstGeom>
          <a:noFill/>
          <a:ln/>
        </p:spPr>
        <p:txBody>
          <a:bodyPr wrap="square" rtlCol="0" anchor="ctr"/>
          <a:lstStyle/>
          <a:p>
            <a:pPr indent="0" marL="0">
              <a:buNone/>
            </a:pPr>
            <a:r>
              <a:rPr lang="en-US" sz="1800" b="1" dirty="0">
                <a:solidFill>
                  <a:srgbClr val="780000"/>
                </a:solidFill>
                <a:latin typeface="Microsoft YaHei" pitchFamily="34" charset="0"/>
                <a:ea typeface="Microsoft YaHei" pitchFamily="34" charset="-122"/>
                <a:cs typeface="Microsoft YaHei" pitchFamily="34" charset="-120"/>
              </a:rPr>
              <a:t>两只手</a:t>
            </a:r>
            <a:endParaRPr lang="en-US" sz="1800" dirty="0"/>
          </a:p>
        </p:txBody>
      </p:sp>
      <p:sp>
        <p:nvSpPr>
          <p:cNvPr id="17" name="Text 15"/>
          <p:cNvSpPr/>
          <p:nvPr/>
        </p:nvSpPr>
        <p:spPr>
          <a:xfrm>
            <a:off x="640080" y="4023360"/>
            <a:ext cx="3657600" cy="68580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看不见的手</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市场机制：价格信号引导资源分配</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自利驱动的经济效率</a:t>
            </a:r>
            <a:endParaRPr lang="en-US" sz="1100" dirty="0"/>
          </a:p>
        </p:txBody>
      </p:sp>
      <p:sp>
        <p:nvSpPr>
          <p:cNvPr id="18" name="Text 16"/>
          <p:cNvSpPr/>
          <p:nvPr/>
        </p:nvSpPr>
        <p:spPr>
          <a:xfrm>
            <a:off x="4754880" y="4023360"/>
            <a:ext cx="3657600" cy="68580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旁观者的眼睛</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道德约束：正义规则维护社会秩序</a:t>
            </a:r>
            <a:endParaRPr lang="en-US" sz="1100" dirty="0"/>
          </a:p>
          <a:p>
            <a:pPr indent="0" marL="0">
              <a:buNone/>
            </a:pPr>
            <a:r>
              <a:rPr lang="en-US" sz="1100" dirty="0">
                <a:solidFill>
                  <a:srgbClr val="003049"/>
                </a:solidFill>
                <a:latin typeface="Microsoft YaHei" pitchFamily="34" charset="0"/>
                <a:ea typeface="Microsoft YaHei" pitchFamily="34" charset="-122"/>
                <a:cs typeface="Microsoft YaHei" pitchFamily="34" charset="-120"/>
              </a:rPr>
              <a:t>同情心支撑的社会合作基础</a:t>
            </a:r>
            <a:endParaRPr lang="en-US" sz="1100" dirty="0"/>
          </a:p>
        </p:txBody>
      </p:sp>
      <p:sp>
        <p:nvSpPr>
          <p:cNvPr id="19" name="Shape 17"/>
          <p:cNvSpPr/>
          <p:nvPr/>
        </p:nvSpPr>
        <p:spPr>
          <a:xfrm>
            <a:off x="8503920" y="4663440"/>
            <a:ext cx="365760" cy="365760"/>
          </a:xfrm>
          <a:prstGeom prst="ellipse">
            <a:avLst/>
          </a:prstGeom>
          <a:solidFill>
            <a:srgbClr val="C1121F"/>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斯密论政府功能</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143000"/>
            <a:ext cx="26517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4"/>
          <p:cNvSpPr/>
          <p:nvPr/>
        </p:nvSpPr>
        <p:spPr>
          <a:xfrm>
            <a:off x="457200" y="1143000"/>
            <a:ext cx="2651760" cy="457200"/>
          </a:xfrm>
          <a:prstGeom prst="rect">
            <a:avLst/>
          </a:prstGeom>
          <a:solidFill>
            <a:srgbClr val="780000"/>
          </a:solidFill>
          <a:ln/>
        </p:spPr>
      </p:sp>
      <p:sp>
        <p:nvSpPr>
          <p:cNvPr id="7" name="Text 5"/>
          <p:cNvSpPr/>
          <p:nvPr/>
        </p:nvSpPr>
        <p:spPr>
          <a:xfrm>
            <a:off x="457200" y="1143000"/>
            <a:ext cx="265176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国防</a:t>
            </a:r>
            <a:endParaRPr lang="en-US" sz="1600" dirty="0"/>
          </a:p>
        </p:txBody>
      </p:sp>
      <p:sp>
        <p:nvSpPr>
          <p:cNvPr id="8" name="Text 6"/>
          <p:cNvSpPr/>
          <p:nvPr/>
        </p:nvSpPr>
        <p:spPr>
          <a:xfrm>
            <a:off x="594360" y="1737360"/>
            <a:ext cx="2377440" cy="12801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保护社会免受外敌入侵，是政府最基本职能</a:t>
            </a:r>
            <a:endParaRPr lang="en-US" sz="1200" dirty="0"/>
          </a:p>
        </p:txBody>
      </p:sp>
      <p:sp>
        <p:nvSpPr>
          <p:cNvPr id="9" name="Shape 7"/>
          <p:cNvSpPr/>
          <p:nvPr/>
        </p:nvSpPr>
        <p:spPr>
          <a:xfrm>
            <a:off x="3291840" y="1143000"/>
            <a:ext cx="26517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3291840" y="1143000"/>
            <a:ext cx="2651760" cy="457200"/>
          </a:xfrm>
          <a:prstGeom prst="rect">
            <a:avLst/>
          </a:prstGeom>
          <a:solidFill>
            <a:srgbClr val="003049"/>
          </a:solidFill>
          <a:ln/>
        </p:spPr>
      </p:sp>
      <p:sp>
        <p:nvSpPr>
          <p:cNvPr id="11" name="Text 9"/>
          <p:cNvSpPr/>
          <p:nvPr/>
        </p:nvSpPr>
        <p:spPr>
          <a:xfrm>
            <a:off x="3291840" y="1143000"/>
            <a:ext cx="265176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司法</a:t>
            </a:r>
            <a:endParaRPr lang="en-US" sz="1600" dirty="0"/>
          </a:p>
        </p:txBody>
      </p:sp>
      <p:sp>
        <p:nvSpPr>
          <p:cNvPr id="12" name="Text 10"/>
          <p:cNvSpPr/>
          <p:nvPr/>
        </p:nvSpPr>
        <p:spPr>
          <a:xfrm>
            <a:off x="3429000" y="1737360"/>
            <a:ext cx="2377440" cy="12801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维护正义，保护公民权利，裁决纠纷</a:t>
            </a:r>
            <a:endParaRPr lang="en-US" sz="1200" dirty="0"/>
          </a:p>
        </p:txBody>
      </p:sp>
      <p:sp>
        <p:nvSpPr>
          <p:cNvPr id="13" name="Shape 11"/>
          <p:cNvSpPr/>
          <p:nvPr/>
        </p:nvSpPr>
        <p:spPr>
          <a:xfrm>
            <a:off x="6126480" y="1143000"/>
            <a:ext cx="2651760" cy="2011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6126480" y="1143000"/>
            <a:ext cx="2651760" cy="457200"/>
          </a:xfrm>
          <a:prstGeom prst="rect">
            <a:avLst/>
          </a:prstGeom>
          <a:solidFill>
            <a:srgbClr val="669BBC"/>
          </a:solidFill>
          <a:ln/>
        </p:spPr>
      </p:sp>
      <p:sp>
        <p:nvSpPr>
          <p:cNvPr id="15" name="Text 13"/>
          <p:cNvSpPr/>
          <p:nvPr/>
        </p:nvSpPr>
        <p:spPr>
          <a:xfrm>
            <a:off x="6126480" y="1143000"/>
            <a:ext cx="2651760" cy="457200"/>
          </a:xfrm>
          <a:prstGeom prst="rect">
            <a:avLst/>
          </a:prstGeom>
          <a:noFill/>
          <a:ln/>
        </p:spPr>
        <p:txBody>
          <a:bodyPr wrap="square" rtlCol="0" anchor="ctr"/>
          <a:lstStyle/>
          <a:p>
            <a:pPr algn="ctr" indent="0" marL="0">
              <a:buNone/>
            </a:pPr>
            <a:r>
              <a:rPr lang="en-US" sz="1600" b="1" dirty="0">
                <a:solidFill>
                  <a:srgbClr val="780000"/>
                </a:solidFill>
                <a:latin typeface="Microsoft YaHei" pitchFamily="34" charset="0"/>
                <a:ea typeface="Microsoft YaHei" pitchFamily="34" charset="-122"/>
                <a:cs typeface="Microsoft YaHei" pitchFamily="34" charset="-120"/>
              </a:rPr>
              <a:t>公共工程</a:t>
            </a:r>
            <a:endParaRPr lang="en-US" sz="1600" dirty="0"/>
          </a:p>
        </p:txBody>
      </p:sp>
      <p:sp>
        <p:nvSpPr>
          <p:cNvPr id="16" name="Text 14"/>
          <p:cNvSpPr/>
          <p:nvPr/>
        </p:nvSpPr>
        <p:spPr>
          <a:xfrm>
            <a:off x="6263640" y="1737360"/>
            <a:ext cx="2377440" cy="128016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道路、桥梁、运河等基础设施及公共机构</a:t>
            </a:r>
            <a:endParaRPr lang="en-US" sz="1200" dirty="0"/>
          </a:p>
        </p:txBody>
      </p:sp>
      <p:sp>
        <p:nvSpPr>
          <p:cNvPr id="17" name="Shape 15"/>
          <p:cNvSpPr/>
          <p:nvPr/>
        </p:nvSpPr>
        <p:spPr>
          <a:xfrm>
            <a:off x="457200" y="3337560"/>
            <a:ext cx="8229600" cy="1417320"/>
          </a:xfrm>
          <a:prstGeom prst="rect">
            <a:avLst/>
          </a:prstGeom>
          <a:solidFill>
            <a:srgbClr val="003049"/>
          </a:solidFill>
          <a:ln/>
        </p:spPr>
      </p:sp>
      <p:sp>
        <p:nvSpPr>
          <p:cNvPr id="18" name="Text 16"/>
          <p:cNvSpPr/>
          <p:nvPr/>
        </p:nvSpPr>
        <p:spPr>
          <a:xfrm>
            <a:off x="640080" y="3429000"/>
            <a:ext cx="786384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斯密的"守夜人"政府</a:t>
            </a:r>
            <a:endParaRPr lang="en-US" sz="1600" dirty="0"/>
          </a:p>
        </p:txBody>
      </p:sp>
      <p:sp>
        <p:nvSpPr>
          <p:cNvPr id="19" name="Text 17"/>
          <p:cNvSpPr/>
          <p:nvPr/>
        </p:nvSpPr>
        <p:spPr>
          <a:xfrm>
            <a:off x="640080" y="3794760"/>
            <a:ext cx="7863840" cy="914400"/>
          </a:xfrm>
          <a:prstGeom prst="rect">
            <a:avLst/>
          </a:prstGeom>
          <a:noFill/>
          <a:ln/>
        </p:spPr>
        <p:txBody>
          <a:bodyPr wrap="square" rtlCol="0" anchor="ctr"/>
          <a:lstStyle/>
          <a:p>
            <a:pPr marL="342900" indent="-342900">
              <a:spcAft>
                <a:spcPts val="4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政府是"守夜人"，而非经济发展的主导者</a:t>
            </a:r>
            <a:endParaRPr lang="en-US" sz="1300" dirty="0"/>
          </a:p>
          <a:p>
            <a:pPr marL="342900" indent="-342900">
              <a:spcAft>
                <a:spcPts val="4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强调有限政府的必要性：不做过多干预</a:t>
            </a:r>
            <a:endParaRPr lang="en-US" sz="1300" dirty="0"/>
          </a:p>
          <a:p>
            <a:pPr marL="342900" indent="-342900">
              <a:spcAft>
                <a:spcPts val="4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教育、医疗等社会服务：政府承担一定责任</a:t>
            </a:r>
            <a:endParaRPr lang="en-US" sz="1300" dirty="0"/>
          </a:p>
        </p:txBody>
      </p:sp>
      <p:sp>
        <p:nvSpPr>
          <p:cNvPr id="20" name="Shape 18"/>
          <p:cNvSpPr/>
          <p:nvPr/>
        </p:nvSpPr>
        <p:spPr>
          <a:xfrm>
            <a:off x="8503920" y="4663440"/>
            <a:ext cx="365760" cy="365760"/>
          </a:xfrm>
          <a:prstGeom prst="ellipse">
            <a:avLst/>
          </a:prstGeom>
          <a:solidFill>
            <a:srgbClr val="C1121F"/>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斯密论教育</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143000"/>
            <a:ext cx="3931920" cy="1371600"/>
          </a:xfrm>
          <a:prstGeom prst="rect">
            <a:avLst/>
          </a:prstGeom>
          <a:solidFill>
            <a:srgbClr val="003049"/>
          </a:solidFill>
          <a:ln/>
        </p:spPr>
      </p:sp>
      <p:sp>
        <p:nvSpPr>
          <p:cNvPr id="6" name="Text 4"/>
          <p:cNvSpPr/>
          <p:nvPr/>
        </p:nvSpPr>
        <p:spPr>
          <a:xfrm>
            <a:off x="640080" y="1234440"/>
            <a:ext cx="3566160" cy="41148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人力资本投资</a:t>
            </a:r>
            <a:endParaRPr lang="en-US" sz="1800" dirty="0"/>
          </a:p>
        </p:txBody>
      </p:sp>
      <p:sp>
        <p:nvSpPr>
          <p:cNvPr id="7" name="Text 5"/>
          <p:cNvSpPr/>
          <p:nvPr/>
        </p:nvSpPr>
        <p:spPr>
          <a:xfrm>
            <a:off x="640080" y="1691640"/>
            <a:ext cx="3566160" cy="73152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斯密最早提出教育作为人力资本投资的概念，认为对人的投资是最有价值的投资。</a:t>
            </a:r>
            <a:endParaRPr lang="en-US" sz="1300" dirty="0"/>
          </a:p>
        </p:txBody>
      </p:sp>
      <p:sp>
        <p:nvSpPr>
          <p:cNvPr id="8" name="Shape 6"/>
          <p:cNvSpPr/>
          <p:nvPr/>
        </p:nvSpPr>
        <p:spPr>
          <a:xfrm>
            <a:off x="4663440" y="1143000"/>
            <a:ext cx="19659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4754880" y="1234440"/>
            <a:ext cx="178308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个人发展</a:t>
            </a:r>
            <a:endParaRPr lang="en-US" sz="1300" dirty="0"/>
          </a:p>
        </p:txBody>
      </p:sp>
      <p:sp>
        <p:nvSpPr>
          <p:cNvPr id="10" name="Text 8"/>
          <p:cNvSpPr/>
          <p:nvPr/>
        </p:nvSpPr>
        <p:spPr>
          <a:xfrm>
            <a:off x="4754880" y="1554480"/>
            <a:ext cx="178308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教育提升个人能力与收入潜力</a:t>
            </a:r>
            <a:endParaRPr lang="en-US" sz="1000" dirty="0"/>
          </a:p>
        </p:txBody>
      </p:sp>
      <p:sp>
        <p:nvSpPr>
          <p:cNvPr id="11" name="Shape 9"/>
          <p:cNvSpPr/>
          <p:nvPr/>
        </p:nvSpPr>
        <p:spPr>
          <a:xfrm>
            <a:off x="6812280" y="1143000"/>
            <a:ext cx="19659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Text 10"/>
          <p:cNvSpPr/>
          <p:nvPr/>
        </p:nvSpPr>
        <p:spPr>
          <a:xfrm>
            <a:off x="6903720" y="1234440"/>
            <a:ext cx="178308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社会进步</a:t>
            </a:r>
            <a:endParaRPr lang="en-US" sz="1300" dirty="0"/>
          </a:p>
        </p:txBody>
      </p:sp>
      <p:sp>
        <p:nvSpPr>
          <p:cNvPr id="13" name="Text 11"/>
          <p:cNvSpPr/>
          <p:nvPr/>
        </p:nvSpPr>
        <p:spPr>
          <a:xfrm>
            <a:off x="6903720" y="1554480"/>
            <a:ext cx="178308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国民素质提升推动社会繁荣</a:t>
            </a:r>
            <a:endParaRPr lang="en-US" sz="1000" dirty="0"/>
          </a:p>
        </p:txBody>
      </p:sp>
      <p:sp>
        <p:nvSpPr>
          <p:cNvPr id="14" name="Shape 12"/>
          <p:cNvSpPr/>
          <p:nvPr/>
        </p:nvSpPr>
        <p:spPr>
          <a:xfrm>
            <a:off x="4663440" y="2286000"/>
            <a:ext cx="19659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5" name="Text 13"/>
          <p:cNvSpPr/>
          <p:nvPr/>
        </p:nvSpPr>
        <p:spPr>
          <a:xfrm>
            <a:off x="4754880" y="2377440"/>
            <a:ext cx="178308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国家教育</a:t>
            </a:r>
            <a:endParaRPr lang="en-US" sz="1300" dirty="0"/>
          </a:p>
        </p:txBody>
      </p:sp>
      <p:sp>
        <p:nvSpPr>
          <p:cNvPr id="16" name="Text 14"/>
          <p:cNvSpPr/>
          <p:nvPr/>
        </p:nvSpPr>
        <p:spPr>
          <a:xfrm>
            <a:off x="4754880" y="2697480"/>
            <a:ext cx="178308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政府有责任普及基础教育</a:t>
            </a:r>
            <a:endParaRPr lang="en-US" sz="1000" dirty="0"/>
          </a:p>
        </p:txBody>
      </p:sp>
      <p:sp>
        <p:nvSpPr>
          <p:cNvPr id="17" name="Shape 15"/>
          <p:cNvSpPr/>
          <p:nvPr/>
        </p:nvSpPr>
        <p:spPr>
          <a:xfrm>
            <a:off x="6812280" y="2286000"/>
            <a:ext cx="196596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Text 16"/>
          <p:cNvSpPr/>
          <p:nvPr/>
        </p:nvSpPr>
        <p:spPr>
          <a:xfrm>
            <a:off x="6903720" y="2377440"/>
            <a:ext cx="178308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市场教育</a:t>
            </a:r>
            <a:endParaRPr lang="en-US" sz="1300" dirty="0"/>
          </a:p>
        </p:txBody>
      </p:sp>
      <p:sp>
        <p:nvSpPr>
          <p:cNvPr id="19" name="Text 17"/>
          <p:cNvSpPr/>
          <p:nvPr/>
        </p:nvSpPr>
        <p:spPr>
          <a:xfrm>
            <a:off x="6903720" y="2697480"/>
            <a:ext cx="178308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市场提供职业与专业培训</a:t>
            </a:r>
            <a:endParaRPr lang="en-US" sz="1000" dirty="0"/>
          </a:p>
        </p:txBody>
      </p:sp>
      <p:sp>
        <p:nvSpPr>
          <p:cNvPr id="20" name="Shape 18"/>
          <p:cNvSpPr/>
          <p:nvPr/>
        </p:nvSpPr>
        <p:spPr>
          <a:xfrm>
            <a:off x="457200" y="2743200"/>
            <a:ext cx="8229600" cy="2011680"/>
          </a:xfrm>
          <a:prstGeom prst="rect">
            <a:avLst/>
          </a:prstGeom>
          <a:solidFill>
            <a:srgbClr val="669BBC"/>
          </a:solidFill>
          <a:ln/>
        </p:spPr>
      </p:sp>
      <p:sp>
        <p:nvSpPr>
          <p:cNvPr id="21" name="Text 19"/>
          <p:cNvSpPr/>
          <p:nvPr/>
        </p:nvSpPr>
        <p:spPr>
          <a:xfrm>
            <a:off x="640080" y="2880360"/>
            <a:ext cx="786384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穷人教育与阶层流动：斯密的远见</a:t>
            </a:r>
            <a:endParaRPr lang="en-US" sz="1600" dirty="0"/>
          </a:p>
        </p:txBody>
      </p:sp>
      <p:sp>
        <p:nvSpPr>
          <p:cNvPr id="22" name="Text 20"/>
          <p:cNvSpPr/>
          <p:nvPr/>
        </p:nvSpPr>
        <p:spPr>
          <a:xfrm>
            <a:off x="640080" y="3291840"/>
            <a:ext cx="7863840" cy="1371600"/>
          </a:xfrm>
          <a:prstGeom prst="rect">
            <a:avLst/>
          </a:prstGeom>
          <a:noFill/>
          <a:ln/>
        </p:spPr>
        <p:txBody>
          <a:bodyPr wrap="square" rtlCol="0" anchor="ctr"/>
          <a:lstStyle/>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斯密认为，穷人的教育关系到整个社会的利益</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教育机会的不平等会固化社会阶层</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国家应确保所有儿童接受基本教育，无论贫富</a:t>
            </a:r>
            <a:endParaRPr lang="en-US" sz="1300" dirty="0"/>
          </a:p>
          <a:p>
            <a:pPr marL="342900" indent="-342900">
              <a:spcAft>
                <a:spcPts val="600"/>
              </a:spcAft>
              <a:buSzPct val="100000"/>
              <a:buChar char="•"/>
            </a:pPr>
            <a:r>
              <a:rPr lang="en-US" sz="1300" dirty="0">
                <a:solidFill>
                  <a:srgbClr val="003049"/>
                </a:solidFill>
                <a:latin typeface="Microsoft YaHei" pitchFamily="34" charset="0"/>
                <a:ea typeface="Microsoft YaHei" pitchFamily="34" charset="-122"/>
                <a:cs typeface="Microsoft YaHei" pitchFamily="34" charset="-120"/>
              </a:rPr>
              <a:t>这一观点领先于时代200年</a:t>
            </a:r>
            <a:endParaRPr lang="en-US" sz="1300" dirty="0"/>
          </a:p>
        </p:txBody>
      </p:sp>
      <p:sp>
        <p:nvSpPr>
          <p:cNvPr id="23" name="Shape 21"/>
          <p:cNvSpPr/>
          <p:nvPr/>
        </p:nvSpPr>
        <p:spPr>
          <a:xfrm>
            <a:off x="8503920" y="4663440"/>
            <a:ext cx="365760" cy="365760"/>
          </a:xfrm>
          <a:prstGeom prst="ellipse">
            <a:avLst/>
          </a:prstGeom>
          <a:solidFill>
            <a:srgbClr val="C1121F"/>
          </a:solidFill>
          <a:ln/>
        </p:spPr>
      </p:sp>
      <p:sp>
        <p:nvSpPr>
          <p:cNvPr id="24" name="Text 2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400" b="1" dirty="0">
                <a:solidFill>
                  <a:srgbClr val="780000"/>
                </a:solidFill>
                <a:latin typeface="Microsoft YaHei" pitchFamily="34" charset="0"/>
                <a:ea typeface="Microsoft YaHei" pitchFamily="34" charset="-122"/>
                <a:cs typeface="Microsoft YaHei" pitchFamily="34" charset="-120"/>
              </a:rPr>
              <a:t>斯密思想的当代启示（一）</a:t>
            </a:r>
            <a:endParaRPr lang="en-US" sz="3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市场与道德的关系</a:t>
            </a:r>
            <a:endParaRPr lang="en-US" sz="1600" dirty="0"/>
          </a:p>
        </p:txBody>
      </p:sp>
      <p:sp>
        <p:nvSpPr>
          <p:cNvPr id="5" name="Shape 3"/>
          <p:cNvSpPr/>
          <p:nvPr/>
        </p:nvSpPr>
        <p:spPr>
          <a:xfrm>
            <a:off x="457200" y="1234440"/>
            <a:ext cx="8229600" cy="1097280"/>
          </a:xfrm>
          <a:prstGeom prst="rect">
            <a:avLst/>
          </a:prstGeom>
          <a:solidFill>
            <a:srgbClr val="003049"/>
          </a:solidFill>
          <a:ln/>
        </p:spPr>
      </p:sp>
      <p:sp>
        <p:nvSpPr>
          <p:cNvPr id="6" name="Text 4"/>
          <p:cNvSpPr/>
          <p:nvPr/>
        </p:nvSpPr>
        <p:spPr>
          <a:xfrm>
            <a:off x="640080" y="1325880"/>
            <a:ext cx="7863840" cy="274320"/>
          </a:xfrm>
          <a:prstGeom prst="rect">
            <a:avLst/>
          </a:prstGeom>
          <a:noFill/>
          <a:ln/>
        </p:spPr>
        <p:txBody>
          <a:bodyPr wrap="square" rtlCol="0" anchor="ctr"/>
          <a:lstStyle/>
          <a:p>
            <a:pPr indent="0" marL="0">
              <a:buNone/>
            </a:pPr>
            <a:r>
              <a:rPr lang="en-US" sz="1400" b="1" dirty="0">
                <a:solidFill>
                  <a:srgbClr val="669BBC"/>
                </a:solidFill>
                <a:latin typeface="Microsoft YaHei" pitchFamily="34" charset="0"/>
                <a:ea typeface="Microsoft YaHei" pitchFamily="34" charset="-122"/>
                <a:cs typeface="Microsoft YaHei" pitchFamily="34" charset="-120"/>
              </a:rPr>
              <a:t>核心洞见</a:t>
            </a:r>
            <a:endParaRPr lang="en-US" sz="1400" dirty="0"/>
          </a:p>
        </p:txBody>
      </p:sp>
      <p:sp>
        <p:nvSpPr>
          <p:cNvPr id="7" name="Text 5"/>
          <p:cNvSpPr/>
          <p:nvPr/>
        </p:nvSpPr>
        <p:spPr>
          <a:xfrm>
            <a:off x="640080" y="1645920"/>
            <a:ext cx="7863840" cy="59436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市场不是孤立的，需要道德框架支撑。斯密：自利需要在正义的制度下运行。纯粹市场原教旨主义违背斯密原意。</a:t>
            </a:r>
            <a:endParaRPr lang="en-US" sz="1400" dirty="0"/>
          </a:p>
        </p:txBody>
      </p:sp>
      <p:sp>
        <p:nvSpPr>
          <p:cNvPr id="8" name="Shape 6"/>
          <p:cNvSpPr/>
          <p:nvPr/>
        </p:nvSpPr>
        <p:spPr>
          <a:xfrm>
            <a:off x="457200" y="2514600"/>
            <a:ext cx="397764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Shape 7"/>
          <p:cNvSpPr/>
          <p:nvPr/>
        </p:nvSpPr>
        <p:spPr>
          <a:xfrm>
            <a:off x="457200" y="2514600"/>
            <a:ext cx="54864" cy="1280160"/>
          </a:xfrm>
          <a:prstGeom prst="rect">
            <a:avLst/>
          </a:prstGeom>
          <a:solidFill>
            <a:srgbClr val="780000"/>
          </a:solidFill>
          <a:ln/>
        </p:spPr>
      </p:sp>
      <p:sp>
        <p:nvSpPr>
          <p:cNvPr id="10" name="Text 8"/>
          <p:cNvSpPr/>
          <p:nvPr/>
        </p:nvSpPr>
        <p:spPr>
          <a:xfrm>
            <a:off x="640080" y="2606040"/>
            <a:ext cx="370332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市场需要道德基础</a:t>
            </a:r>
            <a:endParaRPr lang="en-US" sz="1400" dirty="0"/>
          </a:p>
        </p:txBody>
      </p:sp>
      <p:sp>
        <p:nvSpPr>
          <p:cNvPr id="11" name="Text 9"/>
          <p:cNvSpPr/>
          <p:nvPr/>
        </p:nvSpPr>
        <p:spPr>
          <a:xfrm>
            <a:off x="640080" y="2926080"/>
            <a:ext cx="3703320" cy="7772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市场运行在道德规范和正义制度的框架内，离开这些条件，市场将走向失序</a:t>
            </a:r>
            <a:endParaRPr lang="en-US" sz="1200" dirty="0"/>
          </a:p>
        </p:txBody>
      </p:sp>
      <p:sp>
        <p:nvSpPr>
          <p:cNvPr id="12" name="Shape 10"/>
          <p:cNvSpPr/>
          <p:nvPr/>
        </p:nvSpPr>
        <p:spPr>
          <a:xfrm>
            <a:off x="4709160" y="2514600"/>
            <a:ext cx="397764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3" name="Shape 11"/>
          <p:cNvSpPr/>
          <p:nvPr/>
        </p:nvSpPr>
        <p:spPr>
          <a:xfrm>
            <a:off x="4709160" y="2514600"/>
            <a:ext cx="54864" cy="1280160"/>
          </a:xfrm>
          <a:prstGeom prst="rect">
            <a:avLst/>
          </a:prstGeom>
          <a:solidFill>
            <a:srgbClr val="C1121F"/>
          </a:solidFill>
          <a:ln/>
        </p:spPr>
      </p:sp>
      <p:sp>
        <p:nvSpPr>
          <p:cNvPr id="14" name="Text 12"/>
          <p:cNvSpPr/>
          <p:nvPr/>
        </p:nvSpPr>
        <p:spPr>
          <a:xfrm>
            <a:off x="4892040" y="2606040"/>
            <a:ext cx="370332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自利需要正义约束</a:t>
            </a:r>
            <a:endParaRPr lang="en-US" sz="1400" dirty="0"/>
          </a:p>
        </p:txBody>
      </p:sp>
      <p:sp>
        <p:nvSpPr>
          <p:cNvPr id="15" name="Text 13"/>
          <p:cNvSpPr/>
          <p:nvPr/>
        </p:nvSpPr>
        <p:spPr>
          <a:xfrm>
            <a:off x="4892040" y="2926080"/>
            <a:ext cx="3703320" cy="7772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斯密承认自利驱动，但强调这种自利必须在正义规则允许的范围内运行</a:t>
            </a:r>
            <a:endParaRPr lang="en-US" sz="1200" dirty="0"/>
          </a:p>
        </p:txBody>
      </p:sp>
      <p:sp>
        <p:nvSpPr>
          <p:cNvPr id="16" name="Shape 14"/>
          <p:cNvSpPr/>
          <p:nvPr/>
        </p:nvSpPr>
        <p:spPr>
          <a:xfrm>
            <a:off x="457200" y="3977640"/>
            <a:ext cx="397764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7" name="Shape 15"/>
          <p:cNvSpPr/>
          <p:nvPr/>
        </p:nvSpPr>
        <p:spPr>
          <a:xfrm>
            <a:off x="457200" y="3977640"/>
            <a:ext cx="54864" cy="1280160"/>
          </a:xfrm>
          <a:prstGeom prst="rect">
            <a:avLst/>
          </a:prstGeom>
          <a:solidFill>
            <a:srgbClr val="669BBC"/>
          </a:solidFill>
          <a:ln/>
        </p:spPr>
      </p:sp>
      <p:sp>
        <p:nvSpPr>
          <p:cNvPr id="18" name="Text 16"/>
          <p:cNvSpPr/>
          <p:nvPr/>
        </p:nvSpPr>
        <p:spPr>
          <a:xfrm>
            <a:off x="640080" y="4069080"/>
            <a:ext cx="370332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反对市场原教旨主义</a:t>
            </a:r>
            <a:endParaRPr lang="en-US" sz="1400" dirty="0"/>
          </a:p>
        </p:txBody>
      </p:sp>
      <p:sp>
        <p:nvSpPr>
          <p:cNvPr id="19" name="Text 17"/>
          <p:cNvSpPr/>
          <p:nvPr/>
        </p:nvSpPr>
        <p:spPr>
          <a:xfrm>
            <a:off x="640080" y="4389120"/>
            <a:ext cx="3703320" cy="7772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当代启示：纯粹市场原教旨主义违背斯密原意，是对斯密的误读和简化</a:t>
            </a:r>
            <a:endParaRPr lang="en-US" sz="1200" dirty="0"/>
          </a:p>
        </p:txBody>
      </p:sp>
      <p:sp>
        <p:nvSpPr>
          <p:cNvPr id="20" name="Shape 18"/>
          <p:cNvSpPr/>
          <p:nvPr/>
        </p:nvSpPr>
        <p:spPr>
          <a:xfrm>
            <a:off x="4709160" y="3977640"/>
            <a:ext cx="3977640" cy="12801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Shape 19"/>
          <p:cNvSpPr/>
          <p:nvPr/>
        </p:nvSpPr>
        <p:spPr>
          <a:xfrm>
            <a:off x="4709160" y="3977640"/>
            <a:ext cx="54864" cy="1280160"/>
          </a:xfrm>
          <a:prstGeom prst="rect">
            <a:avLst/>
          </a:prstGeom>
          <a:solidFill>
            <a:srgbClr val="003049"/>
          </a:solidFill>
          <a:ln/>
        </p:spPr>
      </p:sp>
      <p:sp>
        <p:nvSpPr>
          <p:cNvPr id="22" name="Text 20"/>
          <p:cNvSpPr/>
          <p:nvPr/>
        </p:nvSpPr>
        <p:spPr>
          <a:xfrm>
            <a:off x="4892040" y="4069080"/>
            <a:ext cx="3703320" cy="32004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企业社会责任</a:t>
            </a:r>
            <a:endParaRPr lang="en-US" sz="1400" dirty="0"/>
          </a:p>
        </p:txBody>
      </p:sp>
      <p:sp>
        <p:nvSpPr>
          <p:cNvPr id="23" name="Text 21"/>
          <p:cNvSpPr/>
          <p:nvPr/>
        </p:nvSpPr>
        <p:spPr>
          <a:xfrm>
            <a:off x="4892040" y="4389120"/>
            <a:ext cx="3703320" cy="7772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企业社会责任：回到斯密，而非背离斯密。企业的道德基础不可忽视</a:t>
            </a:r>
            <a:endParaRPr lang="en-US" sz="1200" dirty="0"/>
          </a:p>
        </p:txBody>
      </p:sp>
      <p:sp>
        <p:nvSpPr>
          <p:cNvPr id="24" name="Shape 22"/>
          <p:cNvSpPr/>
          <p:nvPr/>
        </p:nvSpPr>
        <p:spPr>
          <a:xfrm>
            <a:off x="8503920" y="4663440"/>
            <a:ext cx="365760" cy="365760"/>
          </a:xfrm>
          <a:prstGeom prst="ellipse">
            <a:avLst/>
          </a:prstGeom>
          <a:solidFill>
            <a:srgbClr val="C1121F"/>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400" b="1" dirty="0">
                <a:solidFill>
                  <a:srgbClr val="780000"/>
                </a:solidFill>
                <a:latin typeface="Microsoft YaHei" pitchFamily="34" charset="0"/>
                <a:ea typeface="Microsoft YaHei" pitchFamily="34" charset="-122"/>
                <a:cs typeface="Microsoft YaHei" pitchFamily="34" charset="-120"/>
              </a:rPr>
              <a:t>斯密思想的当代启示（二）</a:t>
            </a:r>
            <a:endParaRPr lang="en-US" sz="3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600" b="1" dirty="0">
                <a:solidFill>
                  <a:srgbClr val="C1121F"/>
                </a:solidFill>
                <a:latin typeface="Microsoft YaHei" pitchFamily="34" charset="0"/>
                <a:ea typeface="Microsoft YaHei" pitchFamily="34" charset="-122"/>
                <a:cs typeface="Microsoft YaHei" pitchFamily="34" charset="-120"/>
              </a:rPr>
              <a:t>公平与效率的平衡</a:t>
            </a:r>
            <a:endParaRPr lang="en-US" sz="1600" dirty="0"/>
          </a:p>
        </p:txBody>
      </p:sp>
      <p:sp>
        <p:nvSpPr>
          <p:cNvPr id="5" name="Shape 3"/>
          <p:cNvSpPr/>
          <p:nvPr/>
        </p:nvSpPr>
        <p:spPr>
          <a:xfrm>
            <a:off x="457200" y="1234440"/>
            <a:ext cx="3977640" cy="1143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234440"/>
            <a:ext cx="3977640" cy="365760"/>
          </a:xfrm>
          <a:prstGeom prst="rect">
            <a:avLst/>
          </a:prstGeom>
          <a:solidFill>
            <a:srgbClr val="003049"/>
          </a:solidFill>
          <a:ln/>
        </p:spPr>
      </p:sp>
      <p:sp>
        <p:nvSpPr>
          <p:cNvPr id="7" name="Text 5"/>
          <p:cNvSpPr/>
          <p:nvPr/>
        </p:nvSpPr>
        <p:spPr>
          <a:xfrm>
            <a:off x="594360" y="1234440"/>
            <a:ext cx="370332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市场失灵的预见</a:t>
            </a:r>
            <a:endParaRPr lang="en-US" sz="1300" dirty="0"/>
          </a:p>
        </p:txBody>
      </p:sp>
      <p:sp>
        <p:nvSpPr>
          <p:cNvPr id="8" name="Text 6"/>
          <p:cNvSpPr/>
          <p:nvPr/>
        </p:nvSpPr>
        <p:spPr>
          <a:xfrm>
            <a:off x="594360" y="1645920"/>
            <a:ext cx="370332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斯密预见了市场失灵与政府干预的必要性</a:t>
            </a:r>
            <a:endParaRPr lang="en-US" sz="1200" dirty="0"/>
          </a:p>
        </p:txBody>
      </p:sp>
      <p:sp>
        <p:nvSpPr>
          <p:cNvPr id="9" name="Shape 7"/>
          <p:cNvSpPr/>
          <p:nvPr/>
        </p:nvSpPr>
        <p:spPr>
          <a:xfrm>
            <a:off x="457200" y="2514600"/>
            <a:ext cx="3977640" cy="11430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Shape 8"/>
          <p:cNvSpPr/>
          <p:nvPr/>
        </p:nvSpPr>
        <p:spPr>
          <a:xfrm>
            <a:off x="457200" y="2514600"/>
            <a:ext cx="3977640" cy="365760"/>
          </a:xfrm>
          <a:prstGeom prst="rect">
            <a:avLst/>
          </a:prstGeom>
          <a:solidFill>
            <a:srgbClr val="780000"/>
          </a:solidFill>
          <a:ln/>
        </p:spPr>
      </p:sp>
      <p:sp>
        <p:nvSpPr>
          <p:cNvPr id="11" name="Text 9"/>
          <p:cNvSpPr/>
          <p:nvPr/>
        </p:nvSpPr>
        <p:spPr>
          <a:xfrm>
            <a:off x="594360" y="2514600"/>
            <a:ext cx="370332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收入分配观点</a:t>
            </a:r>
            <a:endParaRPr lang="en-US" sz="1300" dirty="0"/>
          </a:p>
        </p:txBody>
      </p:sp>
      <p:sp>
        <p:nvSpPr>
          <p:cNvPr id="12" name="Text 10"/>
          <p:cNvSpPr/>
          <p:nvPr/>
        </p:nvSpPr>
        <p:spPr>
          <a:xfrm>
            <a:off x="594360" y="2926080"/>
            <a:ext cx="3703320" cy="64008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斯密不反对政府对收入分配进行适当调节</a:t>
            </a:r>
            <a:endParaRPr lang="en-US" sz="1200" dirty="0"/>
          </a:p>
        </p:txBody>
      </p:sp>
      <p:sp>
        <p:nvSpPr>
          <p:cNvPr id="13" name="Shape 11"/>
          <p:cNvSpPr/>
          <p:nvPr/>
        </p:nvSpPr>
        <p:spPr>
          <a:xfrm>
            <a:off x="457200" y="3794760"/>
            <a:ext cx="3977640" cy="1005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4" name="Shape 12"/>
          <p:cNvSpPr/>
          <p:nvPr/>
        </p:nvSpPr>
        <p:spPr>
          <a:xfrm>
            <a:off x="457200" y="3794760"/>
            <a:ext cx="3977640" cy="365760"/>
          </a:xfrm>
          <a:prstGeom prst="rect">
            <a:avLst/>
          </a:prstGeom>
          <a:solidFill>
            <a:srgbClr val="669BBC"/>
          </a:solidFill>
          <a:ln/>
        </p:spPr>
      </p:sp>
      <p:sp>
        <p:nvSpPr>
          <p:cNvPr id="15" name="Text 13"/>
          <p:cNvSpPr/>
          <p:nvPr/>
        </p:nvSpPr>
        <p:spPr>
          <a:xfrm>
            <a:off x="594360" y="3794760"/>
            <a:ext cx="370332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垄断与竞争问题</a:t>
            </a:r>
            <a:endParaRPr lang="en-US" sz="1300" dirty="0"/>
          </a:p>
        </p:txBody>
      </p:sp>
      <p:sp>
        <p:nvSpPr>
          <p:cNvPr id="16" name="Text 14"/>
          <p:cNvSpPr/>
          <p:nvPr/>
        </p:nvSpPr>
        <p:spPr>
          <a:xfrm>
            <a:off x="594360" y="4206240"/>
            <a:ext cx="3703320" cy="50292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市场权力问题：斯密早有论述</a:t>
            </a:r>
            <a:endParaRPr lang="en-US" sz="1200" dirty="0"/>
          </a:p>
        </p:txBody>
      </p:sp>
      <p:sp>
        <p:nvSpPr>
          <p:cNvPr id="17" name="Shape 15"/>
          <p:cNvSpPr/>
          <p:nvPr/>
        </p:nvSpPr>
        <p:spPr>
          <a:xfrm>
            <a:off x="4709160" y="1234440"/>
            <a:ext cx="3977640" cy="3566160"/>
          </a:xfrm>
          <a:prstGeom prst="rect">
            <a:avLst/>
          </a:prstGeom>
          <a:solidFill>
            <a:srgbClr val="003049"/>
          </a:solidFill>
          <a:ln/>
        </p:spPr>
      </p:sp>
      <p:sp>
        <p:nvSpPr>
          <p:cNvPr id="18" name="Text 16"/>
          <p:cNvSpPr/>
          <p:nvPr/>
        </p:nvSpPr>
        <p:spPr>
          <a:xfrm>
            <a:off x="4892040" y="1371600"/>
            <a:ext cx="3611880" cy="41148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福利国家思想</a:t>
            </a:r>
            <a:endParaRPr lang="en-US" sz="1800" dirty="0"/>
          </a:p>
        </p:txBody>
      </p:sp>
      <p:sp>
        <p:nvSpPr>
          <p:cNvPr id="19" name="Shape 17"/>
          <p:cNvSpPr/>
          <p:nvPr/>
        </p:nvSpPr>
        <p:spPr>
          <a:xfrm>
            <a:off x="4892040" y="1828800"/>
            <a:ext cx="1371600" cy="36576"/>
          </a:xfrm>
          <a:prstGeom prst="rect">
            <a:avLst/>
          </a:prstGeom>
          <a:solidFill>
            <a:srgbClr val="C1121F"/>
          </a:solidFill>
          <a:ln/>
        </p:spPr>
      </p:sp>
      <p:sp>
        <p:nvSpPr>
          <p:cNvPr id="20" name="Text 18"/>
          <p:cNvSpPr/>
          <p:nvPr/>
        </p:nvSpPr>
        <p:spPr>
          <a:xfrm>
            <a:off x="4892040" y="2011680"/>
            <a:ext cx="3611880" cy="640080"/>
          </a:xfrm>
          <a:prstGeom prst="rect">
            <a:avLst/>
          </a:prstGeom>
          <a:noFill/>
          <a:ln/>
        </p:spPr>
        <p:txBody>
          <a:bodyPr wrap="square" rtlCol="0" anchor="ctr"/>
          <a:lstStyle/>
          <a:p>
            <a:pPr indent="0" marL="0">
              <a:buNone/>
            </a:pPr>
            <a:r>
              <a:rPr lang="en-US" sz="1400" dirty="0">
                <a:solidFill>
                  <a:srgbClr val="FDF0D5"/>
                </a:solidFill>
                <a:latin typeface="Microsoft YaHei" pitchFamily="34" charset="0"/>
                <a:ea typeface="Microsoft YaHei" pitchFamily="34" charset="-122"/>
                <a:cs typeface="Microsoft YaHei" pitchFamily="34" charset="-120"/>
              </a:rPr>
              <a:t>斯密是福利国家思想的鼻祖，不是它的敌人</a:t>
            </a:r>
            <a:endParaRPr lang="en-US" sz="1400" dirty="0"/>
          </a:p>
        </p:txBody>
      </p:sp>
      <p:sp>
        <p:nvSpPr>
          <p:cNvPr id="21" name="Text 19"/>
          <p:cNvSpPr/>
          <p:nvPr/>
        </p:nvSpPr>
        <p:spPr>
          <a:xfrm>
            <a:off x="4892040" y="2697480"/>
            <a:ext cx="3611880" cy="1920240"/>
          </a:xfrm>
          <a:prstGeom prst="rect">
            <a:avLst/>
          </a:prstGeom>
          <a:noFill/>
          <a:ln/>
        </p:spPr>
        <p:txBody>
          <a:bodyPr wrap="square" rtlCol="0" anchor="ctr"/>
          <a:lstStyle/>
          <a:p>
            <a:pPr marL="342900" indent="-342900">
              <a:spcAft>
                <a:spcPts val="8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政府有责任提供基本社会保障</a:t>
            </a:r>
            <a:endParaRPr lang="en-US" sz="1300" dirty="0"/>
          </a:p>
          <a:p>
            <a:pPr marL="342900" indent="-342900">
              <a:spcAft>
                <a:spcPts val="8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教育是每个人都应获得的基本权利</a:t>
            </a:r>
            <a:endParaRPr lang="en-US" sz="1300" dirty="0"/>
          </a:p>
          <a:p>
            <a:pPr marL="342900" indent="-342900">
              <a:spcAft>
                <a:spcPts val="8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公共卫生与基础设施是国家责任</a:t>
            </a:r>
            <a:endParaRPr lang="en-US" sz="1300" dirty="0"/>
          </a:p>
          <a:p>
            <a:pPr marL="342900" indent="-342900">
              <a:spcAft>
                <a:spcPts val="8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累进税制在道德上具有正当性</a:t>
            </a:r>
            <a:endParaRPr lang="en-US" sz="1300" dirty="0"/>
          </a:p>
        </p:txBody>
      </p:sp>
      <p:sp>
        <p:nvSpPr>
          <p:cNvPr id="22" name="Shape 20"/>
          <p:cNvSpPr/>
          <p:nvPr/>
        </p:nvSpPr>
        <p:spPr>
          <a:xfrm>
            <a:off x="8503920" y="4663440"/>
            <a:ext cx="365760" cy="365760"/>
          </a:xfrm>
          <a:prstGeom prst="ellipse">
            <a:avLst/>
          </a:prstGeom>
          <a:solidFill>
            <a:srgbClr val="C1121F"/>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400" b="1" dirty="0">
                <a:solidFill>
                  <a:srgbClr val="780000"/>
                </a:solidFill>
                <a:latin typeface="Microsoft YaHei" pitchFamily="34" charset="0"/>
                <a:ea typeface="Microsoft YaHei" pitchFamily="34" charset="-122"/>
                <a:cs typeface="Microsoft YaHei" pitchFamily="34" charset="-120"/>
              </a:rPr>
              <a:t>重新审视"看不见的手"</a:t>
            </a:r>
            <a:endParaRPr lang="en-US" sz="34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097280"/>
            <a:ext cx="393192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640080" y="1234440"/>
            <a:ext cx="3566160" cy="36576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原文语境</a:t>
            </a:r>
            <a:endParaRPr lang="en-US" sz="1600" dirty="0"/>
          </a:p>
        </p:txBody>
      </p:sp>
      <p:sp>
        <p:nvSpPr>
          <p:cNvPr id="7" name="Text 5"/>
          <p:cNvSpPr/>
          <p:nvPr/>
        </p:nvSpPr>
        <p:spPr>
          <a:xfrm>
            <a:off x="640080" y="1600200"/>
            <a:ext cx="356616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"看不到"≠"不存在"</a:t>
            </a:r>
            <a:endParaRPr lang="en-US" sz="1400" dirty="0"/>
          </a:p>
        </p:txBody>
      </p:sp>
      <p:sp>
        <p:nvSpPr>
          <p:cNvPr id="8" name="Text 6"/>
          <p:cNvSpPr/>
          <p:nvPr/>
        </p:nvSpPr>
        <p:spPr>
          <a:xfrm>
            <a:off x="640080" y="2011680"/>
            <a:ext cx="3566160" cy="1280160"/>
          </a:xfrm>
          <a:prstGeom prst="rect">
            <a:avLst/>
          </a:prstGeom>
          <a:noFill/>
          <a:ln/>
        </p:spPr>
        <p:txBody>
          <a:bodyPr wrap="square" rtlCol="0" anchor="ctr"/>
          <a:lstStyle/>
          <a:p>
            <a:pPr indent="0" marL="0">
              <a:buNone/>
            </a:pPr>
            <a:r>
              <a:rPr lang="en-US" sz="1200" b="1" dirty="0">
                <a:solidFill>
                  <a:srgbClr val="003049"/>
                </a:solidFill>
                <a:latin typeface="Microsoft YaHei" pitchFamily="34" charset="0"/>
                <a:ea typeface="Microsoft YaHei" pitchFamily="34" charset="-122"/>
                <a:cs typeface="Microsoft YaHei" pitchFamily="34" charset="-120"/>
              </a:rPr>
              <a:t>斯密的限定条件：</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完全竞争</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完全信息</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参与者理性</a:t>
            </a:r>
            <a:endParaRPr lang="en-US" sz="1200" dirty="0"/>
          </a:p>
          <a:p>
            <a:pPr indent="0" marL="0">
              <a:buNone/>
            </a:pPr>
            <a:r>
              <a:rPr lang="en-US" sz="1200" dirty="0">
                <a:solidFill>
                  <a:srgbClr val="003049"/>
                </a:solidFill>
                <a:latin typeface="Microsoft YaHei" pitchFamily="34" charset="0"/>
                <a:ea typeface="Microsoft YaHei" pitchFamily="34" charset="-122"/>
                <a:cs typeface="Microsoft YaHei" pitchFamily="34" charset="-120"/>
              </a:rPr>
              <a:t>• 无外部性问题</a:t>
            </a:r>
            <a:endParaRPr lang="en-US" sz="1200" dirty="0"/>
          </a:p>
        </p:txBody>
      </p:sp>
      <p:sp>
        <p:nvSpPr>
          <p:cNvPr id="9" name="Shape 7"/>
          <p:cNvSpPr/>
          <p:nvPr/>
        </p:nvSpPr>
        <p:spPr>
          <a:xfrm>
            <a:off x="4663440" y="1097280"/>
            <a:ext cx="4023360" cy="2286000"/>
          </a:xfrm>
          <a:prstGeom prst="rect">
            <a:avLst/>
          </a:prstGeom>
          <a:solidFill>
            <a:srgbClr val="003049"/>
          </a:solidFill>
          <a:ln/>
        </p:spPr>
      </p:sp>
      <p:sp>
        <p:nvSpPr>
          <p:cNvPr id="10" name="Text 8"/>
          <p:cNvSpPr/>
          <p:nvPr/>
        </p:nvSpPr>
        <p:spPr>
          <a:xfrm>
            <a:off x="4846320" y="1234440"/>
            <a:ext cx="365760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失效场景</a:t>
            </a:r>
            <a:endParaRPr lang="en-US" sz="1600" dirty="0"/>
          </a:p>
        </p:txBody>
      </p:sp>
      <p:sp>
        <p:nvSpPr>
          <p:cNvPr id="11" name="Text 9"/>
          <p:cNvSpPr/>
          <p:nvPr/>
        </p:nvSpPr>
        <p:spPr>
          <a:xfrm>
            <a:off x="4846320" y="1645920"/>
            <a:ext cx="3657600" cy="320040"/>
          </a:xfrm>
          <a:prstGeom prst="rect">
            <a:avLst/>
          </a:prstGeom>
          <a:noFill/>
          <a:ln/>
        </p:spPr>
        <p:txBody>
          <a:bodyPr wrap="square" rtlCol="0" anchor="ctr"/>
          <a:lstStyle/>
          <a:p>
            <a:pPr indent="0" marL="0">
              <a:buNone/>
            </a:pPr>
            <a:r>
              <a:rPr lang="en-US" sz="1200" dirty="0">
                <a:solidFill>
                  <a:srgbClr val="669BBC"/>
                </a:solidFill>
                <a:latin typeface="Microsoft YaHei" pitchFamily="34" charset="0"/>
                <a:ea typeface="Microsoft YaHei" pitchFamily="34" charset="-122"/>
                <a:cs typeface="Microsoft YaHei" pitchFamily="34" charset="-120"/>
              </a:rPr>
              <a:t>当代市场失灵的典型场景：</a:t>
            </a:r>
            <a:endParaRPr lang="en-US" sz="1200" dirty="0"/>
          </a:p>
        </p:txBody>
      </p:sp>
      <p:sp>
        <p:nvSpPr>
          <p:cNvPr id="12" name="Text 10"/>
          <p:cNvSpPr/>
          <p:nvPr/>
        </p:nvSpPr>
        <p:spPr>
          <a:xfrm>
            <a:off x="4846320" y="196596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信息不对称 → 柠檬市场</a:t>
            </a:r>
            <a:endParaRPr lang="en-US" sz="1200" dirty="0"/>
          </a:p>
          <a:p>
            <a:pPr marL="342900" indent="-342900">
              <a:spcAft>
                <a:spcPts val="4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外部性 → 环境污染</a:t>
            </a:r>
            <a:endParaRPr lang="en-US" sz="1200" dirty="0"/>
          </a:p>
          <a:p>
            <a:pPr marL="342900" indent="-342900">
              <a:spcAft>
                <a:spcPts val="4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垄断 → 市场权力滥用</a:t>
            </a:r>
            <a:endParaRPr lang="en-US" sz="1200" dirty="0"/>
          </a:p>
          <a:p>
            <a:pPr marL="342900" indent="-342900">
              <a:spcAft>
                <a:spcPts val="4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公共品 → 供给不足</a:t>
            </a:r>
            <a:endParaRPr lang="en-US" sz="1200" dirty="0"/>
          </a:p>
        </p:txBody>
      </p:sp>
      <p:sp>
        <p:nvSpPr>
          <p:cNvPr id="13" name="Shape 11"/>
          <p:cNvSpPr/>
          <p:nvPr/>
        </p:nvSpPr>
        <p:spPr>
          <a:xfrm>
            <a:off x="457200" y="3566160"/>
            <a:ext cx="8229600" cy="1234440"/>
          </a:xfrm>
          <a:prstGeom prst="rect">
            <a:avLst/>
          </a:prstGeom>
          <a:solidFill>
            <a:srgbClr val="780000"/>
          </a:solidFill>
          <a:ln/>
        </p:spPr>
      </p:sp>
      <p:sp>
        <p:nvSpPr>
          <p:cNvPr id="14" name="Text 12"/>
          <p:cNvSpPr/>
          <p:nvPr/>
        </p:nvSpPr>
        <p:spPr>
          <a:xfrm>
            <a:off x="640080" y="3703320"/>
            <a:ext cx="7863840" cy="3657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重新校准市场与政府的关系边界</a:t>
            </a:r>
            <a:endParaRPr lang="en-US" sz="1600" dirty="0"/>
          </a:p>
        </p:txBody>
      </p:sp>
      <p:sp>
        <p:nvSpPr>
          <p:cNvPr id="15" name="Text 13"/>
          <p:cNvSpPr/>
          <p:nvPr/>
        </p:nvSpPr>
        <p:spPr>
          <a:xfrm>
            <a:off x="640080" y="4114800"/>
            <a:ext cx="3200400" cy="640080"/>
          </a:xfrm>
          <a:prstGeom prst="rect">
            <a:avLst/>
          </a:prstGeom>
          <a:noFill/>
          <a:ln/>
        </p:spPr>
        <p:txBody>
          <a:bodyPr wrap="square" rtlCol="0" anchor="ctr"/>
          <a:lstStyle/>
          <a:p>
            <a:pPr indent="0" marL="0">
              <a:buNone/>
            </a:pPr>
            <a:r>
              <a:rPr lang="en-US" sz="1100" b="1" dirty="0">
                <a:solidFill>
                  <a:srgbClr val="FDF0D5"/>
                </a:solidFill>
                <a:latin typeface="Microsoft YaHei" pitchFamily="34" charset="0"/>
                <a:ea typeface="Microsoft YaHei" pitchFamily="34" charset="-122"/>
                <a:cs typeface="Microsoft YaHei" pitchFamily="34" charset="-120"/>
              </a:rPr>
              <a:t>市场</a:t>
            </a:r>
            <a:endParaRPr lang="en-US" sz="1100" dirty="0"/>
          </a:p>
          <a:p>
            <a:pPr indent="0" marL="0">
              <a:buNone/>
            </a:pPr>
            <a:r>
              <a:rPr lang="en-US" sz="1100" dirty="0">
                <a:solidFill>
                  <a:srgbClr val="FDF0D5"/>
                </a:solidFill>
                <a:latin typeface="Microsoft YaHei" pitchFamily="34" charset="0"/>
                <a:ea typeface="Microsoft YaHei" pitchFamily="34" charset="-122"/>
                <a:cs typeface="Microsoft YaHei" pitchFamily="34" charset="-120"/>
              </a:rPr>
              <a:t>资源配置效率</a:t>
            </a:r>
            <a:endParaRPr lang="en-US" sz="1100" dirty="0"/>
          </a:p>
          <a:p>
            <a:pPr indent="0" marL="0">
              <a:buNone/>
            </a:pPr>
            <a:r>
              <a:rPr lang="en-US" sz="1100" dirty="0">
                <a:solidFill>
                  <a:srgbClr val="FDF0D5"/>
                </a:solidFill>
                <a:latin typeface="Microsoft YaHei" pitchFamily="34" charset="0"/>
                <a:ea typeface="Microsoft YaHei" pitchFamily="34" charset="-122"/>
                <a:cs typeface="Microsoft YaHei" pitchFamily="34" charset="-120"/>
              </a:rPr>
              <a:t>价格信号引导</a:t>
            </a:r>
            <a:endParaRPr lang="en-US" sz="1100" dirty="0"/>
          </a:p>
        </p:txBody>
      </p:sp>
      <p:sp>
        <p:nvSpPr>
          <p:cNvPr id="16" name="Shape 14"/>
          <p:cNvSpPr/>
          <p:nvPr/>
        </p:nvSpPr>
        <p:spPr>
          <a:xfrm>
            <a:off x="4023360" y="4160520"/>
            <a:ext cx="1097280" cy="54864"/>
          </a:xfrm>
          <a:prstGeom prst="rect">
            <a:avLst/>
          </a:prstGeom>
          <a:solidFill>
            <a:srgbClr val="C1121F"/>
          </a:solidFill>
          <a:ln/>
        </p:spPr>
      </p:sp>
      <p:sp>
        <p:nvSpPr>
          <p:cNvPr id="17" name="Text 15"/>
          <p:cNvSpPr/>
          <p:nvPr/>
        </p:nvSpPr>
        <p:spPr>
          <a:xfrm>
            <a:off x="5303520" y="4114800"/>
            <a:ext cx="3200400" cy="640080"/>
          </a:xfrm>
          <a:prstGeom prst="rect">
            <a:avLst/>
          </a:prstGeom>
          <a:noFill/>
          <a:ln/>
        </p:spPr>
        <p:txBody>
          <a:bodyPr wrap="square" rtlCol="0" anchor="ctr"/>
          <a:lstStyle/>
          <a:p>
            <a:pPr indent="0" marL="0">
              <a:buNone/>
            </a:pPr>
            <a:r>
              <a:rPr lang="en-US" sz="1100" b="1" dirty="0">
                <a:solidFill>
                  <a:srgbClr val="FDF0D5"/>
                </a:solidFill>
                <a:latin typeface="Microsoft YaHei" pitchFamily="34" charset="0"/>
                <a:ea typeface="Microsoft YaHei" pitchFamily="34" charset="-122"/>
                <a:cs typeface="Microsoft YaHei" pitchFamily="34" charset="-120"/>
              </a:rPr>
              <a:t>政府</a:t>
            </a:r>
            <a:endParaRPr lang="en-US" sz="1100" dirty="0"/>
          </a:p>
          <a:p>
            <a:pPr indent="0" marL="0">
              <a:buNone/>
            </a:pPr>
            <a:r>
              <a:rPr lang="en-US" sz="1100" dirty="0">
                <a:solidFill>
                  <a:srgbClr val="FDF0D5"/>
                </a:solidFill>
                <a:latin typeface="Microsoft YaHei" pitchFamily="34" charset="0"/>
                <a:ea typeface="Microsoft YaHei" pitchFamily="34" charset="-122"/>
                <a:cs typeface="Microsoft YaHei" pitchFamily="34" charset="-120"/>
              </a:rPr>
              <a:t>制度框架保障</a:t>
            </a:r>
            <a:endParaRPr lang="en-US" sz="1100" dirty="0"/>
          </a:p>
          <a:p>
            <a:pPr indent="0" marL="0">
              <a:buNone/>
            </a:pPr>
            <a:r>
              <a:rPr lang="en-US" sz="1100" dirty="0">
                <a:solidFill>
                  <a:srgbClr val="FDF0D5"/>
                </a:solidFill>
                <a:latin typeface="Microsoft YaHei" pitchFamily="34" charset="0"/>
                <a:ea typeface="Microsoft YaHei" pitchFamily="34" charset="-122"/>
                <a:cs typeface="Microsoft YaHei" pitchFamily="34" charset="-120"/>
              </a:rPr>
              <a:t>纠正市场失灵</a:t>
            </a:r>
            <a:endParaRPr lang="en-US" sz="1100" dirty="0"/>
          </a:p>
        </p:txBody>
      </p:sp>
      <p:sp>
        <p:nvSpPr>
          <p:cNvPr id="18" name="Shape 16"/>
          <p:cNvSpPr/>
          <p:nvPr/>
        </p:nvSpPr>
        <p:spPr>
          <a:xfrm>
            <a:off x="8503920" y="4663440"/>
            <a:ext cx="365760" cy="365760"/>
          </a:xfrm>
          <a:prstGeom prst="ellipse">
            <a:avLst/>
          </a:prstGeom>
          <a:solidFill>
            <a:srgbClr val="C1121F"/>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斯密思想的多维遗产</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097280"/>
            <a:ext cx="3977640" cy="1691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97280"/>
            <a:ext cx="3977640" cy="457200"/>
          </a:xfrm>
          <a:prstGeom prst="rect">
            <a:avLst/>
          </a:prstGeom>
          <a:solidFill>
            <a:srgbClr val="780000"/>
          </a:solidFill>
          <a:ln/>
        </p:spPr>
      </p:sp>
      <p:sp>
        <p:nvSpPr>
          <p:cNvPr id="7" name="Text 5"/>
          <p:cNvSpPr/>
          <p:nvPr/>
        </p:nvSpPr>
        <p:spPr>
          <a:xfrm>
            <a:off x="594360" y="1097280"/>
            <a:ext cx="370332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经济学维度</a:t>
            </a:r>
            <a:endParaRPr lang="en-US" sz="1400" dirty="0"/>
          </a:p>
        </p:txBody>
      </p:sp>
      <p:sp>
        <p:nvSpPr>
          <p:cNvPr id="8" name="Text 6"/>
          <p:cNvSpPr/>
          <p:nvPr/>
        </p:nvSpPr>
        <p:spPr>
          <a:xfrm>
            <a:off x="594360" y="1600200"/>
            <a:ext cx="3703320" cy="274320"/>
          </a:xfrm>
          <a:prstGeom prst="rect">
            <a:avLst/>
          </a:prstGeom>
          <a:noFill/>
          <a:ln/>
        </p:spPr>
        <p:txBody>
          <a:bodyPr wrap="square" rtlCol="0" anchor="ctr"/>
          <a:lstStyle/>
          <a:p>
            <a:pPr indent="0" marL="0">
              <a:buNone/>
            </a:pPr>
            <a:r>
              <a:rPr lang="en-US" sz="1100" b="1" dirty="0">
                <a:solidFill>
                  <a:srgbClr val="780000"/>
                </a:solidFill>
                <a:latin typeface="Microsoft YaHei" pitchFamily="34" charset="0"/>
                <a:ea typeface="Microsoft YaHei" pitchFamily="34" charset="-122"/>
                <a:cs typeface="Microsoft YaHei" pitchFamily="34" charset="-120"/>
              </a:rPr>
              <a:t>古典政治经济学奠基人</a:t>
            </a:r>
            <a:endParaRPr lang="en-US" sz="1100" dirty="0"/>
          </a:p>
        </p:txBody>
      </p:sp>
      <p:sp>
        <p:nvSpPr>
          <p:cNvPr id="9" name="Text 7"/>
          <p:cNvSpPr/>
          <p:nvPr/>
        </p:nvSpPr>
        <p:spPr>
          <a:xfrm>
            <a:off x="594360" y="1874520"/>
            <a:ext cx="3703320" cy="822960"/>
          </a:xfrm>
          <a:prstGeom prst="rect">
            <a:avLst/>
          </a:prstGeom>
          <a:noFill/>
          <a:ln/>
        </p:spPr>
        <p:txBody>
          <a:bodyPr wrap="square" rtlCol="0" anchor="ctr"/>
          <a:lstStyle/>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《国富论》开创性研究</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劳动价值论的早期形式</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分工与专业化理论</a:t>
            </a:r>
            <a:endParaRPr lang="en-US" sz="1000" dirty="0"/>
          </a:p>
        </p:txBody>
      </p:sp>
      <p:sp>
        <p:nvSpPr>
          <p:cNvPr id="10" name="Shape 8"/>
          <p:cNvSpPr/>
          <p:nvPr/>
        </p:nvSpPr>
        <p:spPr>
          <a:xfrm>
            <a:off x="4709160" y="1097280"/>
            <a:ext cx="3977640" cy="1691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1" name="Shape 9"/>
          <p:cNvSpPr/>
          <p:nvPr/>
        </p:nvSpPr>
        <p:spPr>
          <a:xfrm>
            <a:off x="4709160" y="1097280"/>
            <a:ext cx="3977640" cy="457200"/>
          </a:xfrm>
          <a:prstGeom prst="rect">
            <a:avLst/>
          </a:prstGeom>
          <a:solidFill>
            <a:srgbClr val="003049"/>
          </a:solidFill>
          <a:ln/>
        </p:spPr>
      </p:sp>
      <p:sp>
        <p:nvSpPr>
          <p:cNvPr id="12" name="Text 10"/>
          <p:cNvSpPr/>
          <p:nvPr/>
        </p:nvSpPr>
        <p:spPr>
          <a:xfrm>
            <a:off x="4846320" y="1097280"/>
            <a:ext cx="370332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伦理学维度</a:t>
            </a:r>
            <a:endParaRPr lang="en-US" sz="1400" dirty="0"/>
          </a:p>
        </p:txBody>
      </p:sp>
      <p:sp>
        <p:nvSpPr>
          <p:cNvPr id="13" name="Text 11"/>
          <p:cNvSpPr/>
          <p:nvPr/>
        </p:nvSpPr>
        <p:spPr>
          <a:xfrm>
            <a:off x="4846320" y="1600200"/>
            <a:ext cx="3703320" cy="274320"/>
          </a:xfrm>
          <a:prstGeom prst="rect">
            <a:avLst/>
          </a:prstGeom>
          <a:noFill/>
          <a:ln/>
        </p:spPr>
        <p:txBody>
          <a:bodyPr wrap="square" rtlCol="0" anchor="ctr"/>
          <a:lstStyle/>
          <a:p>
            <a:pPr indent="0" marL="0">
              <a:buNone/>
            </a:pPr>
            <a:r>
              <a:rPr lang="en-US" sz="1100" b="1" dirty="0">
                <a:solidFill>
                  <a:srgbClr val="003049"/>
                </a:solidFill>
                <a:latin typeface="Microsoft YaHei" pitchFamily="34" charset="0"/>
                <a:ea typeface="Microsoft YaHei" pitchFamily="34" charset="-122"/>
                <a:cs typeface="Microsoft YaHei" pitchFamily="34" charset="-120"/>
              </a:rPr>
              <a:t>美德伦理学的现代形态</a:t>
            </a:r>
            <a:endParaRPr lang="en-US" sz="1100" dirty="0"/>
          </a:p>
        </p:txBody>
      </p:sp>
      <p:sp>
        <p:nvSpPr>
          <p:cNvPr id="14" name="Text 12"/>
          <p:cNvSpPr/>
          <p:nvPr/>
        </p:nvSpPr>
        <p:spPr>
          <a:xfrm>
            <a:off x="4846320" y="1874520"/>
            <a:ext cx="3703320" cy="822960"/>
          </a:xfrm>
          <a:prstGeom prst="rect">
            <a:avLst/>
          </a:prstGeom>
          <a:noFill/>
          <a:ln/>
        </p:spPr>
        <p:txBody>
          <a:bodyPr wrap="square" rtlCol="0" anchor="ctr"/>
          <a:lstStyle/>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同情心作为道德基础</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旁观者视角的道德判断</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美德与自利的调和</a:t>
            </a:r>
            <a:endParaRPr lang="en-US" sz="1000" dirty="0"/>
          </a:p>
        </p:txBody>
      </p:sp>
      <p:sp>
        <p:nvSpPr>
          <p:cNvPr id="15" name="Shape 13"/>
          <p:cNvSpPr/>
          <p:nvPr/>
        </p:nvSpPr>
        <p:spPr>
          <a:xfrm>
            <a:off x="457200" y="2971800"/>
            <a:ext cx="3977640" cy="1691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6" name="Shape 14"/>
          <p:cNvSpPr/>
          <p:nvPr/>
        </p:nvSpPr>
        <p:spPr>
          <a:xfrm>
            <a:off x="457200" y="2971800"/>
            <a:ext cx="3977640" cy="457200"/>
          </a:xfrm>
          <a:prstGeom prst="rect">
            <a:avLst/>
          </a:prstGeom>
          <a:solidFill>
            <a:srgbClr val="669BBC"/>
          </a:solidFill>
          <a:ln/>
        </p:spPr>
      </p:sp>
      <p:sp>
        <p:nvSpPr>
          <p:cNvPr id="17" name="Text 15"/>
          <p:cNvSpPr/>
          <p:nvPr/>
        </p:nvSpPr>
        <p:spPr>
          <a:xfrm>
            <a:off x="594360" y="2971800"/>
            <a:ext cx="370332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社会学维度</a:t>
            </a:r>
            <a:endParaRPr lang="en-US" sz="1400" dirty="0"/>
          </a:p>
        </p:txBody>
      </p:sp>
      <p:sp>
        <p:nvSpPr>
          <p:cNvPr id="18" name="Text 16"/>
          <p:cNvSpPr/>
          <p:nvPr/>
        </p:nvSpPr>
        <p:spPr>
          <a:xfrm>
            <a:off x="594360" y="3474720"/>
            <a:ext cx="3703320" cy="274320"/>
          </a:xfrm>
          <a:prstGeom prst="rect">
            <a:avLst/>
          </a:prstGeom>
          <a:noFill/>
          <a:ln/>
        </p:spPr>
        <p:txBody>
          <a:bodyPr wrap="square" rtlCol="0" anchor="ctr"/>
          <a:lstStyle/>
          <a:p>
            <a:pPr indent="0" marL="0">
              <a:buNone/>
            </a:pPr>
            <a:r>
              <a:rPr lang="en-US" sz="1100" b="1" dirty="0">
                <a:solidFill>
                  <a:srgbClr val="669BBC"/>
                </a:solidFill>
                <a:latin typeface="Microsoft YaHei" pitchFamily="34" charset="0"/>
                <a:ea typeface="Microsoft YaHei" pitchFamily="34" charset="-122"/>
                <a:cs typeface="Microsoft YaHei" pitchFamily="34" charset="-120"/>
              </a:rPr>
              <a:t>社会分工与合作秩序</a:t>
            </a:r>
            <a:endParaRPr lang="en-US" sz="1100" dirty="0"/>
          </a:p>
        </p:txBody>
      </p:sp>
      <p:sp>
        <p:nvSpPr>
          <p:cNvPr id="19" name="Text 17"/>
          <p:cNvSpPr/>
          <p:nvPr/>
        </p:nvSpPr>
        <p:spPr>
          <a:xfrm>
            <a:off x="594360" y="3749040"/>
            <a:ext cx="3703320" cy="822960"/>
          </a:xfrm>
          <a:prstGeom prst="rect">
            <a:avLst/>
          </a:prstGeom>
          <a:noFill/>
          <a:ln/>
        </p:spPr>
        <p:txBody>
          <a:bodyPr wrap="square" rtlCol="0" anchor="ctr"/>
          <a:lstStyle/>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劳动分工的社会意义</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社会凝聚力的来源</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从孤立到社会性</a:t>
            </a:r>
            <a:endParaRPr lang="en-US" sz="1000" dirty="0"/>
          </a:p>
        </p:txBody>
      </p:sp>
      <p:sp>
        <p:nvSpPr>
          <p:cNvPr id="20" name="Shape 18"/>
          <p:cNvSpPr/>
          <p:nvPr/>
        </p:nvSpPr>
        <p:spPr>
          <a:xfrm>
            <a:off x="4709160" y="2971800"/>
            <a:ext cx="3977640" cy="16916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Shape 19"/>
          <p:cNvSpPr/>
          <p:nvPr/>
        </p:nvSpPr>
        <p:spPr>
          <a:xfrm>
            <a:off x="4709160" y="2971800"/>
            <a:ext cx="3977640" cy="457200"/>
          </a:xfrm>
          <a:prstGeom prst="rect">
            <a:avLst/>
          </a:prstGeom>
          <a:solidFill>
            <a:srgbClr val="C1121F"/>
          </a:solidFill>
          <a:ln/>
        </p:spPr>
      </p:sp>
      <p:sp>
        <p:nvSpPr>
          <p:cNvPr id="22" name="Text 20"/>
          <p:cNvSpPr/>
          <p:nvPr/>
        </p:nvSpPr>
        <p:spPr>
          <a:xfrm>
            <a:off x="4846320" y="2971800"/>
            <a:ext cx="370332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政治学维度</a:t>
            </a:r>
            <a:endParaRPr lang="en-US" sz="1400" dirty="0"/>
          </a:p>
        </p:txBody>
      </p:sp>
      <p:sp>
        <p:nvSpPr>
          <p:cNvPr id="23" name="Text 21"/>
          <p:cNvSpPr/>
          <p:nvPr/>
        </p:nvSpPr>
        <p:spPr>
          <a:xfrm>
            <a:off x="4846320" y="3474720"/>
            <a:ext cx="3703320" cy="274320"/>
          </a:xfrm>
          <a:prstGeom prst="rect">
            <a:avLst/>
          </a:prstGeom>
          <a:noFill/>
          <a:ln/>
        </p:spPr>
        <p:txBody>
          <a:bodyPr wrap="square" rtlCol="0" anchor="ctr"/>
          <a:lstStyle/>
          <a:p>
            <a:pPr indent="0" marL="0">
              <a:buNone/>
            </a:pPr>
            <a:r>
              <a:rPr lang="en-US" sz="1100" b="1" dirty="0">
                <a:solidFill>
                  <a:srgbClr val="C1121F"/>
                </a:solidFill>
                <a:latin typeface="Microsoft YaHei" pitchFamily="34" charset="0"/>
                <a:ea typeface="Microsoft YaHei" pitchFamily="34" charset="-122"/>
                <a:cs typeface="Microsoft YaHei" pitchFamily="34" charset="-120"/>
              </a:rPr>
              <a:t>有限政府与法治精神</a:t>
            </a:r>
            <a:endParaRPr lang="en-US" sz="1100" dirty="0"/>
          </a:p>
        </p:txBody>
      </p:sp>
      <p:sp>
        <p:nvSpPr>
          <p:cNvPr id="24" name="Text 22"/>
          <p:cNvSpPr/>
          <p:nvPr/>
        </p:nvSpPr>
        <p:spPr>
          <a:xfrm>
            <a:off x="4846320" y="3749040"/>
            <a:ext cx="3703320" cy="822960"/>
          </a:xfrm>
          <a:prstGeom prst="rect">
            <a:avLst/>
          </a:prstGeom>
          <a:noFill/>
          <a:ln/>
        </p:spPr>
        <p:txBody>
          <a:bodyPr wrap="square" rtlCol="0" anchor="ctr"/>
          <a:lstStyle/>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守夜人政府理论</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法治优于人治</a:t>
            </a:r>
            <a:endParaRPr lang="en-US" sz="1000" dirty="0"/>
          </a:p>
          <a:p>
            <a:pPr marL="342900" indent="-342900">
              <a:spcAft>
                <a:spcPts val="2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制度与正义框架</a:t>
            </a:r>
            <a:endParaRPr lang="en-US" sz="1000" dirty="0"/>
          </a:p>
        </p:txBody>
      </p:sp>
      <p:sp>
        <p:nvSpPr>
          <p:cNvPr id="25" name="Shape 23"/>
          <p:cNvSpPr/>
          <p:nvPr/>
        </p:nvSpPr>
        <p:spPr>
          <a:xfrm>
            <a:off x="8503920" y="4663440"/>
            <a:ext cx="365760" cy="365760"/>
          </a:xfrm>
          <a:prstGeom prst="ellipse">
            <a:avLst/>
          </a:prstGeom>
          <a:solidFill>
            <a:srgbClr val="C1121F"/>
          </a:solidFill>
          <a:ln/>
        </p:spPr>
      </p:sp>
      <p:sp>
        <p:nvSpPr>
          <p:cNvPr id="26" name="Text 2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斯密与当代中国的关系</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731520" y="1828800"/>
            <a:ext cx="7680960" cy="36576"/>
          </a:xfrm>
          <a:prstGeom prst="rect">
            <a:avLst/>
          </a:prstGeom>
          <a:solidFill>
            <a:srgbClr val="669BBC"/>
          </a:solidFill>
          <a:ln/>
        </p:spPr>
      </p:sp>
      <p:sp>
        <p:nvSpPr>
          <p:cNvPr id="6" name="Shape 4"/>
          <p:cNvSpPr/>
          <p:nvPr/>
        </p:nvSpPr>
        <p:spPr>
          <a:xfrm>
            <a:off x="1051560" y="1691640"/>
            <a:ext cx="274320" cy="274320"/>
          </a:xfrm>
          <a:prstGeom prst="ellipse">
            <a:avLst/>
          </a:prstGeom>
          <a:solidFill>
            <a:srgbClr val="780000"/>
          </a:solidFill>
          <a:ln/>
        </p:spPr>
      </p:sp>
      <p:sp>
        <p:nvSpPr>
          <p:cNvPr id="7" name="Text 5"/>
          <p:cNvSpPr/>
          <p:nvPr/>
        </p:nvSpPr>
        <p:spPr>
          <a:xfrm>
            <a:off x="731520" y="137160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1978</a:t>
            </a:r>
            <a:endParaRPr lang="en-US" sz="1100" dirty="0"/>
          </a:p>
        </p:txBody>
      </p:sp>
      <p:sp>
        <p:nvSpPr>
          <p:cNvPr id="8" name="Text 6"/>
          <p:cNvSpPr/>
          <p:nvPr/>
        </p:nvSpPr>
        <p:spPr>
          <a:xfrm>
            <a:off x="548640" y="2011680"/>
            <a:ext cx="1280160" cy="45720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改革开放</a:t>
            </a:r>
            <a:endParaRPr lang="en-US" sz="1000" dirty="0"/>
          </a:p>
        </p:txBody>
      </p:sp>
      <p:sp>
        <p:nvSpPr>
          <p:cNvPr id="9" name="Shape 7"/>
          <p:cNvSpPr/>
          <p:nvPr/>
        </p:nvSpPr>
        <p:spPr>
          <a:xfrm>
            <a:off x="3063240" y="1691640"/>
            <a:ext cx="274320" cy="274320"/>
          </a:xfrm>
          <a:prstGeom prst="ellipse">
            <a:avLst/>
          </a:prstGeom>
          <a:solidFill>
            <a:srgbClr val="780000"/>
          </a:solidFill>
          <a:ln/>
        </p:spPr>
      </p:sp>
      <p:sp>
        <p:nvSpPr>
          <p:cNvPr id="10" name="Text 8"/>
          <p:cNvSpPr/>
          <p:nvPr/>
        </p:nvSpPr>
        <p:spPr>
          <a:xfrm>
            <a:off x="2743200" y="137160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1990s</a:t>
            </a:r>
            <a:endParaRPr lang="en-US" sz="1100" dirty="0"/>
          </a:p>
        </p:txBody>
      </p:sp>
      <p:sp>
        <p:nvSpPr>
          <p:cNvPr id="11" name="Text 9"/>
          <p:cNvSpPr/>
          <p:nvPr/>
        </p:nvSpPr>
        <p:spPr>
          <a:xfrm>
            <a:off x="2560320" y="2011680"/>
            <a:ext cx="1280160" cy="45720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市场经济改革</a:t>
            </a:r>
            <a:endParaRPr lang="en-US" sz="1000" dirty="0"/>
          </a:p>
        </p:txBody>
      </p:sp>
      <p:sp>
        <p:nvSpPr>
          <p:cNvPr id="12" name="Shape 10"/>
          <p:cNvSpPr/>
          <p:nvPr/>
        </p:nvSpPr>
        <p:spPr>
          <a:xfrm>
            <a:off x="5074920" y="1691640"/>
            <a:ext cx="274320" cy="274320"/>
          </a:xfrm>
          <a:prstGeom prst="ellipse">
            <a:avLst/>
          </a:prstGeom>
          <a:solidFill>
            <a:srgbClr val="780000"/>
          </a:solidFill>
          <a:ln/>
        </p:spPr>
      </p:sp>
      <p:sp>
        <p:nvSpPr>
          <p:cNvPr id="13" name="Text 11"/>
          <p:cNvSpPr/>
          <p:nvPr/>
        </p:nvSpPr>
        <p:spPr>
          <a:xfrm>
            <a:off x="4754880" y="137160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2000s</a:t>
            </a:r>
            <a:endParaRPr lang="en-US" sz="1100" dirty="0"/>
          </a:p>
        </p:txBody>
      </p:sp>
      <p:sp>
        <p:nvSpPr>
          <p:cNvPr id="14" name="Text 12"/>
          <p:cNvSpPr/>
          <p:nvPr/>
        </p:nvSpPr>
        <p:spPr>
          <a:xfrm>
            <a:off x="4572000" y="2011680"/>
            <a:ext cx="1280160" cy="45720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深化市场改革</a:t>
            </a:r>
            <a:endParaRPr lang="en-US" sz="1000" dirty="0"/>
          </a:p>
        </p:txBody>
      </p:sp>
      <p:sp>
        <p:nvSpPr>
          <p:cNvPr id="15" name="Shape 13"/>
          <p:cNvSpPr/>
          <p:nvPr/>
        </p:nvSpPr>
        <p:spPr>
          <a:xfrm>
            <a:off x="7086600" y="1691640"/>
            <a:ext cx="274320" cy="274320"/>
          </a:xfrm>
          <a:prstGeom prst="ellipse">
            <a:avLst/>
          </a:prstGeom>
          <a:solidFill>
            <a:srgbClr val="780000"/>
          </a:solidFill>
          <a:ln/>
        </p:spPr>
      </p:sp>
      <p:sp>
        <p:nvSpPr>
          <p:cNvPr id="16" name="Text 14"/>
          <p:cNvSpPr/>
          <p:nvPr/>
        </p:nvSpPr>
        <p:spPr>
          <a:xfrm>
            <a:off x="6766560" y="137160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Today</a:t>
            </a:r>
            <a:endParaRPr lang="en-US" sz="1100" dirty="0"/>
          </a:p>
        </p:txBody>
      </p:sp>
      <p:sp>
        <p:nvSpPr>
          <p:cNvPr id="17" name="Text 15"/>
          <p:cNvSpPr/>
          <p:nvPr/>
        </p:nvSpPr>
        <p:spPr>
          <a:xfrm>
            <a:off x="6583680" y="2011680"/>
            <a:ext cx="1280160" cy="457200"/>
          </a:xfrm>
          <a:prstGeom prst="rect">
            <a:avLst/>
          </a:prstGeom>
          <a:noFill/>
          <a:ln/>
        </p:spPr>
        <p:txBody>
          <a:bodyPr wrap="square" rtlCol="0" anchor="ctr"/>
          <a:lstStyle/>
          <a:p>
            <a:pPr algn="ctr" indent="0" marL="0">
              <a:buNone/>
            </a:pPr>
            <a:r>
              <a:rPr lang="en-US" sz="1000" dirty="0">
                <a:solidFill>
                  <a:srgbClr val="003049"/>
                </a:solidFill>
                <a:latin typeface="Microsoft YaHei" pitchFamily="34" charset="0"/>
                <a:ea typeface="Microsoft YaHei" pitchFamily="34" charset="-122"/>
                <a:cs typeface="Microsoft YaHei" pitchFamily="34" charset="-120"/>
              </a:rPr>
              <a:t>新发展格局</a:t>
            </a:r>
            <a:endParaRPr lang="en-US" sz="1000" dirty="0"/>
          </a:p>
        </p:txBody>
      </p:sp>
      <p:sp>
        <p:nvSpPr>
          <p:cNvPr id="18" name="Shape 16"/>
          <p:cNvSpPr/>
          <p:nvPr/>
        </p:nvSpPr>
        <p:spPr>
          <a:xfrm>
            <a:off x="457200" y="2651760"/>
            <a:ext cx="2651760" cy="21031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457200" y="2651760"/>
            <a:ext cx="2651760" cy="411480"/>
          </a:xfrm>
          <a:prstGeom prst="rect">
            <a:avLst/>
          </a:prstGeom>
          <a:solidFill>
            <a:srgbClr val="780000"/>
          </a:solidFill>
          <a:ln/>
        </p:spPr>
      </p:sp>
      <p:sp>
        <p:nvSpPr>
          <p:cNvPr id="20" name="Text 18"/>
          <p:cNvSpPr/>
          <p:nvPr/>
        </p:nvSpPr>
        <p:spPr>
          <a:xfrm>
            <a:off x="457200" y="2651760"/>
            <a:ext cx="2651760" cy="4114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重新发现斯密</a:t>
            </a:r>
            <a:endParaRPr lang="en-US" sz="1200" dirty="0"/>
          </a:p>
        </p:txBody>
      </p:sp>
      <p:sp>
        <p:nvSpPr>
          <p:cNvPr id="21" name="Text 19"/>
          <p:cNvSpPr/>
          <p:nvPr/>
        </p:nvSpPr>
        <p:spPr>
          <a:xfrm>
            <a:off x="594360" y="3154680"/>
            <a:ext cx="2377440" cy="14630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改革开放后，中国学者重新认识斯密，摆脱意识形态束缚</a:t>
            </a:r>
            <a:endParaRPr lang="en-US" sz="1100" dirty="0"/>
          </a:p>
        </p:txBody>
      </p:sp>
      <p:sp>
        <p:nvSpPr>
          <p:cNvPr id="22" name="Shape 20"/>
          <p:cNvSpPr/>
          <p:nvPr/>
        </p:nvSpPr>
        <p:spPr>
          <a:xfrm>
            <a:off x="3337560" y="2651760"/>
            <a:ext cx="2651760" cy="21031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3" name="Shape 21"/>
          <p:cNvSpPr/>
          <p:nvPr/>
        </p:nvSpPr>
        <p:spPr>
          <a:xfrm>
            <a:off x="3337560" y="2651760"/>
            <a:ext cx="2651760" cy="411480"/>
          </a:xfrm>
          <a:prstGeom prst="rect">
            <a:avLst/>
          </a:prstGeom>
          <a:solidFill>
            <a:srgbClr val="003049"/>
          </a:solidFill>
          <a:ln/>
        </p:spPr>
      </p:sp>
      <p:sp>
        <p:nvSpPr>
          <p:cNvPr id="24" name="Text 22"/>
          <p:cNvSpPr/>
          <p:nvPr/>
        </p:nvSpPr>
        <p:spPr>
          <a:xfrm>
            <a:off x="3337560" y="2651760"/>
            <a:ext cx="2651760" cy="4114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斯密来了吗？</a:t>
            </a:r>
            <a:endParaRPr lang="en-US" sz="1200" dirty="0"/>
          </a:p>
        </p:txBody>
      </p:sp>
      <p:sp>
        <p:nvSpPr>
          <p:cNvPr id="25" name="Text 23"/>
          <p:cNvSpPr/>
          <p:nvPr/>
        </p:nvSpPr>
        <p:spPr>
          <a:xfrm>
            <a:off x="3474720" y="3154680"/>
            <a:ext cx="2377440" cy="14630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市场经济改革是否意味着斯密的胜利？中国模式与斯密理想的距离</a:t>
            </a:r>
            <a:endParaRPr lang="en-US" sz="1100" dirty="0"/>
          </a:p>
        </p:txBody>
      </p:sp>
      <p:sp>
        <p:nvSpPr>
          <p:cNvPr id="26" name="Shape 24"/>
          <p:cNvSpPr/>
          <p:nvPr/>
        </p:nvSpPr>
        <p:spPr>
          <a:xfrm>
            <a:off x="6217920" y="2651760"/>
            <a:ext cx="2651760" cy="21031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7" name="Shape 25"/>
          <p:cNvSpPr/>
          <p:nvPr/>
        </p:nvSpPr>
        <p:spPr>
          <a:xfrm>
            <a:off x="6217920" y="2651760"/>
            <a:ext cx="2651760" cy="411480"/>
          </a:xfrm>
          <a:prstGeom prst="rect">
            <a:avLst/>
          </a:prstGeom>
          <a:solidFill>
            <a:srgbClr val="C1121F"/>
          </a:solidFill>
          <a:ln/>
        </p:spPr>
      </p:sp>
      <p:sp>
        <p:nvSpPr>
          <p:cNvPr id="28" name="Text 26"/>
          <p:cNvSpPr/>
          <p:nvPr/>
        </p:nvSpPr>
        <p:spPr>
          <a:xfrm>
            <a:off x="6217920" y="2651760"/>
            <a:ext cx="2651760" cy="41148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斯密 vs 凯恩斯</a:t>
            </a:r>
            <a:endParaRPr lang="en-US" sz="1200" dirty="0"/>
          </a:p>
        </p:txBody>
      </p:sp>
      <p:sp>
        <p:nvSpPr>
          <p:cNvPr id="29" name="Text 27"/>
          <p:cNvSpPr/>
          <p:nvPr/>
        </p:nvSpPr>
        <p:spPr>
          <a:xfrm>
            <a:off x="6355080" y="3154680"/>
            <a:ext cx="2377440" cy="14630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政府与市场的边界之争：斯密强调有限政府，凯恩斯主张积极干预</a:t>
            </a:r>
            <a:endParaRPr lang="en-US" sz="1100" dirty="0"/>
          </a:p>
        </p:txBody>
      </p:sp>
      <p:sp>
        <p:nvSpPr>
          <p:cNvPr id="30" name="Shape 28"/>
          <p:cNvSpPr/>
          <p:nvPr/>
        </p:nvSpPr>
        <p:spPr>
          <a:xfrm>
            <a:off x="8503920" y="4663440"/>
            <a:ext cx="365760" cy="365760"/>
          </a:xfrm>
          <a:prstGeom prst="ellipse">
            <a:avLst/>
          </a:prstGeom>
          <a:solidFill>
            <a:srgbClr val="C1121F"/>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3000" b="1" dirty="0">
                <a:solidFill>
                  <a:srgbClr val="780000"/>
                </a:solidFill>
                <a:latin typeface="Microsoft YaHei" pitchFamily="34" charset="0"/>
                <a:ea typeface="Microsoft YaHei" pitchFamily="34" charset="-122"/>
                <a:cs typeface="Microsoft YaHei" pitchFamily="34" charset="-120"/>
              </a:rPr>
              <a:t>自由市场思想谱系图（完整版）</a:t>
            </a:r>
            <a:endParaRPr lang="en-US" sz="3000" dirty="0"/>
          </a:p>
        </p:txBody>
      </p:sp>
      <p:sp>
        <p:nvSpPr>
          <p:cNvPr id="4" name="Shape 2"/>
          <p:cNvSpPr/>
          <p:nvPr/>
        </p:nvSpPr>
        <p:spPr>
          <a:xfrm>
            <a:off x="274320" y="1234440"/>
            <a:ext cx="8595360" cy="27432"/>
          </a:xfrm>
          <a:prstGeom prst="rect">
            <a:avLst/>
          </a:prstGeom>
          <a:solidFill>
            <a:srgbClr val="669BBC"/>
          </a:solidFill>
          <a:ln/>
        </p:spPr>
      </p:sp>
      <p:sp>
        <p:nvSpPr>
          <p:cNvPr id="5" name="Shape 3"/>
          <p:cNvSpPr/>
          <p:nvPr/>
        </p:nvSpPr>
        <p:spPr>
          <a:xfrm>
            <a:off x="804672" y="1133856"/>
            <a:ext cx="219456" cy="219456"/>
          </a:xfrm>
          <a:prstGeom prst="ellipse">
            <a:avLst/>
          </a:prstGeom>
          <a:solidFill>
            <a:srgbClr val="780000"/>
          </a:solidFill>
          <a:ln/>
        </p:spPr>
      </p:sp>
      <p:sp>
        <p:nvSpPr>
          <p:cNvPr id="6" name="Text 4"/>
          <p:cNvSpPr/>
          <p:nvPr/>
        </p:nvSpPr>
        <p:spPr>
          <a:xfrm>
            <a:off x="457200" y="868680"/>
            <a:ext cx="914400" cy="228600"/>
          </a:xfrm>
          <a:prstGeom prst="rect">
            <a:avLst/>
          </a:prstGeom>
          <a:noFill/>
          <a:ln/>
        </p:spPr>
        <p:txBody>
          <a:bodyPr wrap="square" rtlCol="0" anchor="ctr"/>
          <a:lstStyle/>
          <a:p>
            <a:pPr algn="ctr" indent="0" marL="0">
              <a:buNone/>
            </a:pPr>
            <a:r>
              <a:rPr lang="en-US" sz="1000" b="1" dirty="0">
                <a:solidFill>
                  <a:srgbClr val="780000"/>
                </a:solidFill>
                <a:latin typeface="Arial" pitchFamily="34" charset="0"/>
                <a:ea typeface="Arial" pitchFamily="34" charset="-122"/>
                <a:cs typeface="Arial" pitchFamily="34" charset="-120"/>
              </a:rPr>
              <a:t>1776</a:t>
            </a:r>
            <a:endParaRPr lang="en-US" sz="1000" dirty="0"/>
          </a:p>
        </p:txBody>
      </p:sp>
      <p:sp>
        <p:nvSpPr>
          <p:cNvPr id="7" name="Text 5"/>
          <p:cNvSpPr/>
          <p:nvPr/>
        </p:nvSpPr>
        <p:spPr>
          <a:xfrm>
            <a:off x="365760" y="1389888"/>
            <a:ext cx="1097280" cy="36576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古典经济学</a:t>
            </a:r>
            <a:endParaRPr lang="en-US" sz="900" dirty="0"/>
          </a:p>
        </p:txBody>
      </p:sp>
      <p:sp>
        <p:nvSpPr>
          <p:cNvPr id="8" name="Shape 6"/>
          <p:cNvSpPr/>
          <p:nvPr/>
        </p:nvSpPr>
        <p:spPr>
          <a:xfrm>
            <a:off x="2633472" y="1133856"/>
            <a:ext cx="219456" cy="219456"/>
          </a:xfrm>
          <a:prstGeom prst="ellipse">
            <a:avLst/>
          </a:prstGeom>
          <a:solidFill>
            <a:srgbClr val="780000"/>
          </a:solidFill>
          <a:ln/>
        </p:spPr>
      </p:sp>
      <p:sp>
        <p:nvSpPr>
          <p:cNvPr id="9" name="Text 7"/>
          <p:cNvSpPr/>
          <p:nvPr/>
        </p:nvSpPr>
        <p:spPr>
          <a:xfrm>
            <a:off x="2286000" y="868680"/>
            <a:ext cx="914400" cy="228600"/>
          </a:xfrm>
          <a:prstGeom prst="rect">
            <a:avLst/>
          </a:prstGeom>
          <a:noFill/>
          <a:ln/>
        </p:spPr>
        <p:txBody>
          <a:bodyPr wrap="square" rtlCol="0" anchor="ctr"/>
          <a:lstStyle/>
          <a:p>
            <a:pPr algn="ctr" indent="0" marL="0">
              <a:buNone/>
            </a:pPr>
            <a:r>
              <a:rPr lang="en-US" sz="1000" b="1" dirty="0">
                <a:solidFill>
                  <a:srgbClr val="780000"/>
                </a:solidFill>
                <a:latin typeface="Arial" pitchFamily="34" charset="0"/>
                <a:ea typeface="Arial" pitchFamily="34" charset="-122"/>
                <a:cs typeface="Arial" pitchFamily="34" charset="-120"/>
              </a:rPr>
              <a:t>1870s</a:t>
            </a:r>
            <a:endParaRPr lang="en-US" sz="1000" dirty="0"/>
          </a:p>
        </p:txBody>
      </p:sp>
      <p:sp>
        <p:nvSpPr>
          <p:cNvPr id="10" name="Text 8"/>
          <p:cNvSpPr/>
          <p:nvPr/>
        </p:nvSpPr>
        <p:spPr>
          <a:xfrm>
            <a:off x="2194560" y="1389888"/>
            <a:ext cx="1097280" cy="36576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边际革命</a:t>
            </a:r>
            <a:endParaRPr lang="en-US" sz="900" dirty="0"/>
          </a:p>
        </p:txBody>
      </p:sp>
      <p:sp>
        <p:nvSpPr>
          <p:cNvPr id="11" name="Shape 9"/>
          <p:cNvSpPr/>
          <p:nvPr/>
        </p:nvSpPr>
        <p:spPr>
          <a:xfrm>
            <a:off x="4462272" y="1133856"/>
            <a:ext cx="219456" cy="219456"/>
          </a:xfrm>
          <a:prstGeom prst="ellipse">
            <a:avLst/>
          </a:prstGeom>
          <a:solidFill>
            <a:srgbClr val="780000"/>
          </a:solidFill>
          <a:ln/>
        </p:spPr>
      </p:sp>
      <p:sp>
        <p:nvSpPr>
          <p:cNvPr id="12" name="Text 10"/>
          <p:cNvSpPr/>
          <p:nvPr/>
        </p:nvSpPr>
        <p:spPr>
          <a:xfrm>
            <a:off x="4114800" y="868680"/>
            <a:ext cx="914400" cy="228600"/>
          </a:xfrm>
          <a:prstGeom prst="rect">
            <a:avLst/>
          </a:prstGeom>
          <a:noFill/>
          <a:ln/>
        </p:spPr>
        <p:txBody>
          <a:bodyPr wrap="square" rtlCol="0" anchor="ctr"/>
          <a:lstStyle/>
          <a:p>
            <a:pPr algn="ctr" indent="0" marL="0">
              <a:buNone/>
            </a:pPr>
            <a:r>
              <a:rPr lang="en-US" sz="1000" b="1" dirty="0">
                <a:solidFill>
                  <a:srgbClr val="780000"/>
                </a:solidFill>
                <a:latin typeface="Arial" pitchFamily="34" charset="0"/>
                <a:ea typeface="Arial" pitchFamily="34" charset="-122"/>
                <a:cs typeface="Arial" pitchFamily="34" charset="-120"/>
              </a:rPr>
              <a:t>1930s</a:t>
            </a:r>
            <a:endParaRPr lang="en-US" sz="1000" dirty="0"/>
          </a:p>
        </p:txBody>
      </p:sp>
      <p:sp>
        <p:nvSpPr>
          <p:cNvPr id="13" name="Text 11"/>
          <p:cNvSpPr/>
          <p:nvPr/>
        </p:nvSpPr>
        <p:spPr>
          <a:xfrm>
            <a:off x="4023360" y="1389888"/>
            <a:ext cx="1097280" cy="36576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凯恩斯革命</a:t>
            </a:r>
            <a:endParaRPr lang="en-US" sz="900" dirty="0"/>
          </a:p>
        </p:txBody>
      </p:sp>
      <p:sp>
        <p:nvSpPr>
          <p:cNvPr id="14" name="Shape 12"/>
          <p:cNvSpPr/>
          <p:nvPr/>
        </p:nvSpPr>
        <p:spPr>
          <a:xfrm>
            <a:off x="6291072" y="1133856"/>
            <a:ext cx="219456" cy="219456"/>
          </a:xfrm>
          <a:prstGeom prst="ellipse">
            <a:avLst/>
          </a:prstGeom>
          <a:solidFill>
            <a:srgbClr val="780000"/>
          </a:solidFill>
          <a:ln/>
        </p:spPr>
      </p:sp>
      <p:sp>
        <p:nvSpPr>
          <p:cNvPr id="15" name="Text 13"/>
          <p:cNvSpPr/>
          <p:nvPr/>
        </p:nvSpPr>
        <p:spPr>
          <a:xfrm>
            <a:off x="5943600" y="868680"/>
            <a:ext cx="914400" cy="228600"/>
          </a:xfrm>
          <a:prstGeom prst="rect">
            <a:avLst/>
          </a:prstGeom>
          <a:noFill/>
          <a:ln/>
        </p:spPr>
        <p:txBody>
          <a:bodyPr wrap="square" rtlCol="0" anchor="ctr"/>
          <a:lstStyle/>
          <a:p>
            <a:pPr algn="ctr" indent="0" marL="0">
              <a:buNone/>
            </a:pPr>
            <a:r>
              <a:rPr lang="en-US" sz="1000" b="1" dirty="0">
                <a:solidFill>
                  <a:srgbClr val="780000"/>
                </a:solidFill>
                <a:latin typeface="Arial" pitchFamily="34" charset="0"/>
                <a:ea typeface="Arial" pitchFamily="34" charset="-122"/>
                <a:cs typeface="Arial" pitchFamily="34" charset="-120"/>
              </a:rPr>
              <a:t>1970s</a:t>
            </a:r>
            <a:endParaRPr lang="en-US" sz="1000" dirty="0"/>
          </a:p>
        </p:txBody>
      </p:sp>
      <p:sp>
        <p:nvSpPr>
          <p:cNvPr id="16" name="Text 14"/>
          <p:cNvSpPr/>
          <p:nvPr/>
        </p:nvSpPr>
        <p:spPr>
          <a:xfrm>
            <a:off x="5852160" y="1389888"/>
            <a:ext cx="1097280" cy="36576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滞涨危机</a:t>
            </a:r>
            <a:endParaRPr lang="en-US" sz="900" dirty="0"/>
          </a:p>
        </p:txBody>
      </p:sp>
      <p:sp>
        <p:nvSpPr>
          <p:cNvPr id="17" name="Shape 15"/>
          <p:cNvSpPr/>
          <p:nvPr/>
        </p:nvSpPr>
        <p:spPr>
          <a:xfrm>
            <a:off x="8119872" y="1133856"/>
            <a:ext cx="219456" cy="219456"/>
          </a:xfrm>
          <a:prstGeom prst="ellipse">
            <a:avLst/>
          </a:prstGeom>
          <a:solidFill>
            <a:srgbClr val="780000"/>
          </a:solidFill>
          <a:ln/>
        </p:spPr>
      </p:sp>
      <p:sp>
        <p:nvSpPr>
          <p:cNvPr id="18" name="Text 16"/>
          <p:cNvSpPr/>
          <p:nvPr/>
        </p:nvSpPr>
        <p:spPr>
          <a:xfrm>
            <a:off x="7772400" y="868680"/>
            <a:ext cx="914400" cy="228600"/>
          </a:xfrm>
          <a:prstGeom prst="rect">
            <a:avLst/>
          </a:prstGeom>
          <a:noFill/>
          <a:ln/>
        </p:spPr>
        <p:txBody>
          <a:bodyPr wrap="square" rtlCol="0" anchor="ctr"/>
          <a:lstStyle/>
          <a:p>
            <a:pPr algn="ctr" indent="0" marL="0">
              <a:buNone/>
            </a:pPr>
            <a:r>
              <a:rPr lang="en-US" sz="1000" b="1" dirty="0">
                <a:solidFill>
                  <a:srgbClr val="780000"/>
                </a:solidFill>
                <a:latin typeface="Arial" pitchFamily="34" charset="0"/>
                <a:ea typeface="Arial" pitchFamily="34" charset="-122"/>
                <a:cs typeface="Arial" pitchFamily="34" charset="-120"/>
              </a:rPr>
              <a:t>2000s</a:t>
            </a:r>
            <a:endParaRPr lang="en-US" sz="1000" dirty="0"/>
          </a:p>
        </p:txBody>
      </p:sp>
      <p:sp>
        <p:nvSpPr>
          <p:cNvPr id="19" name="Text 17"/>
          <p:cNvSpPr/>
          <p:nvPr/>
        </p:nvSpPr>
        <p:spPr>
          <a:xfrm>
            <a:off x="7680960" y="1389888"/>
            <a:ext cx="1097280" cy="36576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行为经济学</a:t>
            </a:r>
            <a:endParaRPr lang="en-US" sz="900" dirty="0"/>
          </a:p>
        </p:txBody>
      </p:sp>
      <p:sp>
        <p:nvSpPr>
          <p:cNvPr id="20" name="Shape 18"/>
          <p:cNvSpPr/>
          <p:nvPr/>
        </p:nvSpPr>
        <p:spPr>
          <a:xfrm>
            <a:off x="274320" y="1920240"/>
            <a:ext cx="2651760" cy="20116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1" name="Shape 19"/>
          <p:cNvSpPr/>
          <p:nvPr/>
        </p:nvSpPr>
        <p:spPr>
          <a:xfrm>
            <a:off x="274320" y="1920240"/>
            <a:ext cx="2651760" cy="365760"/>
          </a:xfrm>
          <a:prstGeom prst="rect">
            <a:avLst/>
          </a:prstGeom>
          <a:solidFill>
            <a:srgbClr val="780000"/>
          </a:solidFill>
          <a:ln/>
        </p:spPr>
      </p:sp>
      <p:sp>
        <p:nvSpPr>
          <p:cNvPr id="22" name="Text 20"/>
          <p:cNvSpPr/>
          <p:nvPr/>
        </p:nvSpPr>
        <p:spPr>
          <a:xfrm>
            <a:off x="274320" y="1920240"/>
            <a:ext cx="2651760" cy="3657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古典/新古典</a:t>
            </a:r>
            <a:endParaRPr lang="en-US" sz="1100" dirty="0"/>
          </a:p>
        </p:txBody>
      </p:sp>
      <p:sp>
        <p:nvSpPr>
          <p:cNvPr id="23" name="Text 21"/>
          <p:cNvSpPr/>
          <p:nvPr/>
        </p:nvSpPr>
        <p:spPr>
          <a:xfrm>
            <a:off x="365760" y="2377440"/>
            <a:ext cx="2468880" cy="146304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斯密 → 李嘉图 → 穆勒</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马歇尔新古典经济学</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萨缪尔森/新古典综合派</a:t>
            </a:r>
            <a:endParaRPr lang="en-US" sz="900" dirty="0"/>
          </a:p>
        </p:txBody>
      </p:sp>
      <p:sp>
        <p:nvSpPr>
          <p:cNvPr id="24" name="Shape 22"/>
          <p:cNvSpPr/>
          <p:nvPr/>
        </p:nvSpPr>
        <p:spPr>
          <a:xfrm>
            <a:off x="3246120" y="1920240"/>
            <a:ext cx="2651760" cy="20116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5" name="Shape 23"/>
          <p:cNvSpPr/>
          <p:nvPr/>
        </p:nvSpPr>
        <p:spPr>
          <a:xfrm>
            <a:off x="3246120" y="1920240"/>
            <a:ext cx="2651760" cy="365760"/>
          </a:xfrm>
          <a:prstGeom prst="rect">
            <a:avLst/>
          </a:prstGeom>
          <a:solidFill>
            <a:srgbClr val="003049"/>
          </a:solidFill>
          <a:ln/>
        </p:spPr>
      </p:sp>
      <p:sp>
        <p:nvSpPr>
          <p:cNvPr id="26" name="Text 24"/>
          <p:cNvSpPr/>
          <p:nvPr/>
        </p:nvSpPr>
        <p:spPr>
          <a:xfrm>
            <a:off x="3246120" y="1920240"/>
            <a:ext cx="2651760" cy="3657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奥地利学派</a:t>
            </a:r>
            <a:endParaRPr lang="en-US" sz="1100" dirty="0"/>
          </a:p>
        </p:txBody>
      </p:sp>
      <p:sp>
        <p:nvSpPr>
          <p:cNvPr id="27" name="Text 25"/>
          <p:cNvSpPr/>
          <p:nvPr/>
        </p:nvSpPr>
        <p:spPr>
          <a:xfrm>
            <a:off x="3337560" y="2377440"/>
            <a:ext cx="2468880" cy="146304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门格尔 → 庞巴维克</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米塞斯 → 哈耶克</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罗斯巴德 → 德索托</a:t>
            </a:r>
            <a:endParaRPr lang="en-US" sz="900" dirty="0"/>
          </a:p>
        </p:txBody>
      </p:sp>
      <p:sp>
        <p:nvSpPr>
          <p:cNvPr id="28" name="Shape 26"/>
          <p:cNvSpPr/>
          <p:nvPr/>
        </p:nvSpPr>
        <p:spPr>
          <a:xfrm>
            <a:off x="6217920" y="1920240"/>
            <a:ext cx="2651760" cy="20116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9" name="Shape 27"/>
          <p:cNvSpPr/>
          <p:nvPr/>
        </p:nvSpPr>
        <p:spPr>
          <a:xfrm>
            <a:off x="6217920" y="1920240"/>
            <a:ext cx="2651760" cy="365760"/>
          </a:xfrm>
          <a:prstGeom prst="rect">
            <a:avLst/>
          </a:prstGeom>
          <a:solidFill>
            <a:srgbClr val="C1121F"/>
          </a:solidFill>
          <a:ln/>
        </p:spPr>
      </p:sp>
      <p:sp>
        <p:nvSpPr>
          <p:cNvPr id="30" name="Text 28"/>
          <p:cNvSpPr/>
          <p:nvPr/>
        </p:nvSpPr>
        <p:spPr>
          <a:xfrm>
            <a:off x="6217920" y="1920240"/>
            <a:ext cx="2651760" cy="3657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芝加哥学派</a:t>
            </a:r>
            <a:endParaRPr lang="en-US" sz="1100" dirty="0"/>
          </a:p>
        </p:txBody>
      </p:sp>
      <p:sp>
        <p:nvSpPr>
          <p:cNvPr id="31" name="Text 29"/>
          <p:cNvSpPr/>
          <p:nvPr/>
        </p:nvSpPr>
        <p:spPr>
          <a:xfrm>
            <a:off x="6309360" y="2377440"/>
            <a:ext cx="2468880" cy="146304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科斯 → 斯蒂格勒</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弗里德曼 → 卢卡斯</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a:t>
            </a:r>
            <a:endParaRPr lang="en-US" sz="900" dirty="0"/>
          </a:p>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贝克尔 → 法马</a:t>
            </a:r>
            <a:endParaRPr lang="en-US" sz="900" dirty="0"/>
          </a:p>
        </p:txBody>
      </p:sp>
      <p:sp>
        <p:nvSpPr>
          <p:cNvPr id="32" name="Shape 30"/>
          <p:cNvSpPr/>
          <p:nvPr/>
        </p:nvSpPr>
        <p:spPr>
          <a:xfrm>
            <a:off x="274320" y="4069080"/>
            <a:ext cx="8595360" cy="640080"/>
          </a:xfrm>
          <a:prstGeom prst="rect">
            <a:avLst/>
          </a:prstGeom>
          <a:solidFill>
            <a:srgbClr val="669BBC"/>
          </a:solidFill>
          <a:ln/>
        </p:spPr>
      </p:sp>
      <p:sp>
        <p:nvSpPr>
          <p:cNvPr id="33" name="Text 31"/>
          <p:cNvSpPr/>
          <p:nvPr/>
        </p:nvSpPr>
        <p:spPr>
          <a:xfrm>
            <a:off x="457200" y="4160520"/>
            <a:ext cx="8229600" cy="457200"/>
          </a:xfrm>
          <a:prstGeom prst="rect">
            <a:avLst/>
          </a:prstGeom>
          <a:noFill/>
          <a:ln/>
        </p:spPr>
        <p:txBody>
          <a:bodyPr wrap="square" rtlCol="0" anchor="ctr"/>
          <a:lstStyle/>
          <a:p>
            <a:pPr algn="ctr" indent="0" marL="0">
              <a:buNone/>
            </a:pPr>
            <a:r>
              <a:rPr lang="en-US" sz="1100" dirty="0">
                <a:solidFill>
                  <a:srgbClr val="003049"/>
                </a:solidFill>
                <a:latin typeface="Microsoft YaHei" pitchFamily="34" charset="0"/>
                <a:ea typeface="Microsoft YaHei" pitchFamily="34" charset="-122"/>
                <a:cs typeface="Microsoft YaHei" pitchFamily="34" charset="-120"/>
              </a:rPr>
              <a:t>关键争论：政府与市场的边界 | 斯密传统 vs 凯恩斯传统 | 新古典 vs 奥地利 vs 芝加哥</a:t>
            </a:r>
            <a:endParaRPr lang="en-US" sz="1100" dirty="0"/>
          </a:p>
        </p:txBody>
      </p:sp>
      <p:sp>
        <p:nvSpPr>
          <p:cNvPr id="34" name="Shape 32"/>
          <p:cNvSpPr/>
          <p:nvPr/>
        </p:nvSpPr>
        <p:spPr>
          <a:xfrm>
            <a:off x="8503920" y="4663440"/>
            <a:ext cx="365760" cy="365760"/>
          </a:xfrm>
          <a:prstGeom prst="ellipse">
            <a:avLst/>
          </a:prstGeom>
          <a:solidFill>
            <a:srgbClr val="C1121F"/>
          </a:solidFill>
          <a:ln/>
        </p:spPr>
      </p:sp>
      <p:sp>
        <p:nvSpPr>
          <p:cNvPr id="35" name="Text 3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400" b="1" dirty="0">
                <a:solidFill>
                  <a:srgbClr val="780000"/>
                </a:solidFill>
                <a:latin typeface="Microsoft YaHei" pitchFamily="34" charset="0"/>
                <a:ea typeface="Microsoft YaHei" pitchFamily="34" charset="-122"/>
                <a:cs typeface="Microsoft YaHei" pitchFamily="34" charset="-120"/>
              </a:rPr>
              <a:t>思想史坐标系：横向与纵向</a:t>
            </a:r>
            <a:endParaRPr lang="en-US" sz="34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53712" y="731520"/>
            <a:ext cx="36576" cy="3657600"/>
          </a:xfrm>
          <a:prstGeom prst="rect">
            <a:avLst/>
          </a:prstGeom>
          <a:solidFill>
            <a:srgbClr val="003049"/>
          </a:solidFill>
          <a:ln/>
        </p:spPr>
      </p:sp>
      <p:sp>
        <p:nvSpPr>
          <p:cNvPr id="6" name="Shape 4"/>
          <p:cNvSpPr/>
          <p:nvPr/>
        </p:nvSpPr>
        <p:spPr>
          <a:xfrm>
            <a:off x="1371600" y="2542032"/>
            <a:ext cx="6400800" cy="36576"/>
          </a:xfrm>
          <a:prstGeom prst="rect">
            <a:avLst/>
          </a:prstGeom>
          <a:solidFill>
            <a:srgbClr val="003049"/>
          </a:solidFill>
          <a:ln/>
        </p:spPr>
      </p:sp>
      <p:sp>
        <p:nvSpPr>
          <p:cNvPr id="7" name="Text 5"/>
          <p:cNvSpPr/>
          <p:nvPr/>
        </p:nvSpPr>
        <p:spPr>
          <a:xfrm>
            <a:off x="4709160" y="2377440"/>
            <a:ext cx="1371600" cy="320040"/>
          </a:xfrm>
          <a:prstGeom prst="rect">
            <a:avLst/>
          </a:prstGeom>
          <a:noFill/>
          <a:ln/>
        </p:spPr>
        <p:txBody>
          <a:bodyPr wrap="square" rtlCol="0" anchor="ctr"/>
          <a:lstStyle/>
          <a:p>
            <a:pPr indent="0" marL="0">
              <a:buNone/>
            </a:pPr>
            <a:r>
              <a:rPr lang="en-US" sz="1000" b="1" dirty="0">
                <a:solidFill>
                  <a:srgbClr val="003049"/>
                </a:solidFill>
                <a:latin typeface="Microsoft YaHei" pitchFamily="34" charset="0"/>
                <a:ea typeface="Microsoft YaHei" pitchFamily="34" charset="-122"/>
                <a:cs typeface="Microsoft YaHei" pitchFamily="34" charset="-120"/>
              </a:rPr>
              <a:t>纵向：时间演进</a:t>
            </a:r>
            <a:endParaRPr lang="en-US" sz="1000" dirty="0"/>
          </a:p>
        </p:txBody>
      </p:sp>
      <p:sp>
        <p:nvSpPr>
          <p:cNvPr id="8" name="Text 6"/>
          <p:cNvSpPr/>
          <p:nvPr/>
        </p:nvSpPr>
        <p:spPr>
          <a:xfrm>
            <a:off x="3840480" y="2697480"/>
            <a:ext cx="1371600" cy="320040"/>
          </a:xfrm>
          <a:prstGeom prst="rect">
            <a:avLst/>
          </a:prstGeom>
          <a:noFill/>
          <a:ln/>
        </p:spPr>
        <p:txBody>
          <a:bodyPr wrap="square" rtlCol="0" anchor="ctr"/>
          <a:lstStyle/>
          <a:p>
            <a:pPr indent="0" marL="0">
              <a:buNone/>
            </a:pPr>
            <a:r>
              <a:rPr lang="en-US" sz="1000" b="1" dirty="0">
                <a:solidFill>
                  <a:srgbClr val="003049"/>
                </a:solidFill>
                <a:latin typeface="Microsoft YaHei" pitchFamily="34" charset="0"/>
                <a:ea typeface="Microsoft YaHei" pitchFamily="34" charset="-122"/>
                <a:cs typeface="Microsoft YaHei" pitchFamily="34" charset="-120"/>
              </a:rPr>
              <a:t>横向：思想竞争</a:t>
            </a:r>
            <a:endParaRPr lang="en-US" sz="1000" dirty="0"/>
          </a:p>
        </p:txBody>
      </p:sp>
      <p:sp>
        <p:nvSpPr>
          <p:cNvPr id="9" name="Shape 7"/>
          <p:cNvSpPr/>
          <p:nvPr/>
        </p:nvSpPr>
        <p:spPr>
          <a:xfrm>
            <a:off x="1645920" y="1005840"/>
            <a:ext cx="320040" cy="320040"/>
          </a:xfrm>
          <a:prstGeom prst="ellipse">
            <a:avLst/>
          </a:prstGeom>
          <a:solidFill>
            <a:srgbClr val="780000"/>
          </a:solidFill>
          <a:ln/>
        </p:spPr>
      </p:sp>
      <p:sp>
        <p:nvSpPr>
          <p:cNvPr id="10" name="Text 8"/>
          <p:cNvSpPr/>
          <p:nvPr/>
        </p:nvSpPr>
        <p:spPr>
          <a:xfrm>
            <a:off x="1463040" y="731520"/>
            <a:ext cx="640080" cy="228600"/>
          </a:xfrm>
          <a:prstGeom prst="rect">
            <a:avLst/>
          </a:prstGeom>
          <a:noFill/>
          <a:ln/>
        </p:spPr>
        <p:txBody>
          <a:bodyPr wrap="square" rtlCol="0" anchor="ctr"/>
          <a:lstStyle/>
          <a:p>
            <a:pPr algn="ctr" indent="0" marL="0">
              <a:buNone/>
            </a:pPr>
            <a:r>
              <a:rPr lang="en-US" sz="900" b="1" dirty="0">
                <a:solidFill>
                  <a:srgbClr val="780000"/>
                </a:solidFill>
                <a:latin typeface="Microsoft YaHei" pitchFamily="34" charset="0"/>
                <a:ea typeface="Microsoft YaHei" pitchFamily="34" charset="-122"/>
                <a:cs typeface="Microsoft YaHei" pitchFamily="34" charset="-120"/>
              </a:rPr>
              <a:t>斯密</a:t>
            </a:r>
            <a:endParaRPr lang="en-US" sz="900" dirty="0"/>
          </a:p>
        </p:txBody>
      </p:sp>
      <p:sp>
        <p:nvSpPr>
          <p:cNvPr id="11" name="Shape 9"/>
          <p:cNvSpPr/>
          <p:nvPr/>
        </p:nvSpPr>
        <p:spPr>
          <a:xfrm>
            <a:off x="2286000" y="1371600"/>
            <a:ext cx="274320" cy="274320"/>
          </a:xfrm>
          <a:prstGeom prst="ellipse">
            <a:avLst/>
          </a:prstGeom>
          <a:solidFill>
            <a:srgbClr val="C1121F"/>
          </a:solidFill>
          <a:ln/>
        </p:spPr>
      </p:sp>
      <p:sp>
        <p:nvSpPr>
          <p:cNvPr id="12" name="Text 10"/>
          <p:cNvSpPr/>
          <p:nvPr/>
        </p:nvSpPr>
        <p:spPr>
          <a:xfrm>
            <a:off x="2103120" y="1143000"/>
            <a:ext cx="640080" cy="228600"/>
          </a:xfrm>
          <a:prstGeom prst="rect">
            <a:avLst/>
          </a:prstGeom>
          <a:noFill/>
          <a:ln/>
        </p:spPr>
        <p:txBody>
          <a:bodyPr wrap="square" rtlCol="0" anchor="ctr"/>
          <a:lstStyle/>
          <a:p>
            <a:pPr algn="ctr" indent="0" marL="0">
              <a:buNone/>
            </a:pPr>
            <a:r>
              <a:rPr lang="en-US" sz="800" dirty="0">
                <a:solidFill>
                  <a:srgbClr val="C1121F"/>
                </a:solidFill>
                <a:latin typeface="Microsoft YaHei" pitchFamily="34" charset="0"/>
                <a:ea typeface="Microsoft YaHei" pitchFamily="34" charset="-122"/>
                <a:cs typeface="Microsoft YaHei" pitchFamily="34" charset="-120"/>
              </a:rPr>
              <a:t>李嘉图</a:t>
            </a:r>
            <a:endParaRPr lang="en-US" sz="800" dirty="0"/>
          </a:p>
        </p:txBody>
      </p:sp>
      <p:sp>
        <p:nvSpPr>
          <p:cNvPr id="13" name="Shape 11"/>
          <p:cNvSpPr/>
          <p:nvPr/>
        </p:nvSpPr>
        <p:spPr>
          <a:xfrm>
            <a:off x="3840480" y="2103120"/>
            <a:ext cx="274320" cy="274320"/>
          </a:xfrm>
          <a:prstGeom prst="ellipse">
            <a:avLst/>
          </a:prstGeom>
          <a:solidFill>
            <a:srgbClr val="669BBC"/>
          </a:solidFill>
          <a:ln/>
        </p:spPr>
      </p:sp>
      <p:sp>
        <p:nvSpPr>
          <p:cNvPr id="14" name="Text 12"/>
          <p:cNvSpPr/>
          <p:nvPr/>
        </p:nvSpPr>
        <p:spPr>
          <a:xfrm>
            <a:off x="3657600" y="2331720"/>
            <a:ext cx="640080" cy="228600"/>
          </a:xfrm>
          <a:prstGeom prst="rect">
            <a:avLst/>
          </a:prstGeom>
          <a:noFill/>
          <a:ln/>
        </p:spPr>
        <p:txBody>
          <a:bodyPr wrap="square" rtlCol="0" anchor="ctr"/>
          <a:lstStyle/>
          <a:p>
            <a:pPr algn="ctr" indent="0" marL="0">
              <a:buNone/>
            </a:pPr>
            <a:r>
              <a:rPr lang="en-US" sz="800" dirty="0">
                <a:solidFill>
                  <a:srgbClr val="669BBC"/>
                </a:solidFill>
                <a:latin typeface="Microsoft YaHei" pitchFamily="34" charset="0"/>
                <a:ea typeface="Microsoft YaHei" pitchFamily="34" charset="-122"/>
                <a:cs typeface="Microsoft YaHei" pitchFamily="34" charset="-120"/>
              </a:rPr>
              <a:t>凯恩斯</a:t>
            </a:r>
            <a:endParaRPr lang="en-US" sz="800" dirty="0"/>
          </a:p>
        </p:txBody>
      </p:sp>
      <p:sp>
        <p:nvSpPr>
          <p:cNvPr id="15" name="Shape 13"/>
          <p:cNvSpPr/>
          <p:nvPr/>
        </p:nvSpPr>
        <p:spPr>
          <a:xfrm>
            <a:off x="5943600" y="1828800"/>
            <a:ext cx="274320" cy="274320"/>
          </a:xfrm>
          <a:prstGeom prst="ellipse">
            <a:avLst/>
          </a:prstGeom>
          <a:solidFill>
            <a:srgbClr val="003049"/>
          </a:solidFill>
          <a:ln/>
        </p:spPr>
      </p:sp>
      <p:sp>
        <p:nvSpPr>
          <p:cNvPr id="16" name="Text 14"/>
          <p:cNvSpPr/>
          <p:nvPr/>
        </p:nvSpPr>
        <p:spPr>
          <a:xfrm>
            <a:off x="5760720" y="1600200"/>
            <a:ext cx="640080" cy="228600"/>
          </a:xfrm>
          <a:prstGeom prst="rect">
            <a:avLst/>
          </a:prstGeom>
          <a:noFill/>
          <a:ln/>
        </p:spPr>
        <p:txBody>
          <a:bodyPr wrap="square" rtlCol="0" anchor="ctr"/>
          <a:lstStyle/>
          <a:p>
            <a:pPr algn="ctr" indent="0" marL="0">
              <a:buNone/>
            </a:pPr>
            <a:r>
              <a:rPr lang="en-US" sz="800" dirty="0">
                <a:solidFill>
                  <a:srgbClr val="003049"/>
                </a:solidFill>
                <a:latin typeface="Microsoft YaHei" pitchFamily="34" charset="0"/>
                <a:ea typeface="Microsoft YaHei" pitchFamily="34" charset="-122"/>
                <a:cs typeface="Microsoft YaHei" pitchFamily="34" charset="-120"/>
              </a:rPr>
              <a:t>奥地利</a:t>
            </a:r>
            <a:endParaRPr lang="en-US" sz="800" dirty="0"/>
          </a:p>
        </p:txBody>
      </p:sp>
      <p:sp>
        <p:nvSpPr>
          <p:cNvPr id="17" name="Shape 15"/>
          <p:cNvSpPr/>
          <p:nvPr/>
        </p:nvSpPr>
        <p:spPr>
          <a:xfrm>
            <a:off x="2011680" y="3017520"/>
            <a:ext cx="274320" cy="274320"/>
          </a:xfrm>
          <a:prstGeom prst="ellipse">
            <a:avLst/>
          </a:prstGeom>
          <a:solidFill>
            <a:srgbClr val="C1121F"/>
          </a:solidFill>
          <a:ln/>
        </p:spPr>
      </p:sp>
      <p:sp>
        <p:nvSpPr>
          <p:cNvPr id="18" name="Text 16"/>
          <p:cNvSpPr/>
          <p:nvPr/>
        </p:nvSpPr>
        <p:spPr>
          <a:xfrm>
            <a:off x="1828800" y="3291840"/>
            <a:ext cx="640080" cy="228600"/>
          </a:xfrm>
          <a:prstGeom prst="rect">
            <a:avLst/>
          </a:prstGeom>
          <a:noFill/>
          <a:ln/>
        </p:spPr>
        <p:txBody>
          <a:bodyPr wrap="square" rtlCol="0" anchor="ctr"/>
          <a:lstStyle/>
          <a:p>
            <a:pPr algn="ctr" indent="0" marL="0">
              <a:buNone/>
            </a:pPr>
            <a:r>
              <a:rPr lang="en-US" sz="800" dirty="0">
                <a:solidFill>
                  <a:srgbClr val="C1121F"/>
                </a:solidFill>
                <a:latin typeface="Microsoft YaHei" pitchFamily="34" charset="0"/>
                <a:ea typeface="Microsoft YaHei" pitchFamily="34" charset="-122"/>
                <a:cs typeface="Microsoft YaHei" pitchFamily="34" charset="-120"/>
              </a:rPr>
              <a:t>马克思</a:t>
            </a:r>
            <a:endParaRPr lang="en-US" sz="800" dirty="0"/>
          </a:p>
        </p:txBody>
      </p:sp>
      <p:sp>
        <p:nvSpPr>
          <p:cNvPr id="19" name="Shape 17"/>
          <p:cNvSpPr/>
          <p:nvPr/>
        </p:nvSpPr>
        <p:spPr>
          <a:xfrm>
            <a:off x="5943600" y="1097280"/>
            <a:ext cx="2743200" cy="1234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0" name="Shape 18"/>
          <p:cNvSpPr/>
          <p:nvPr/>
        </p:nvSpPr>
        <p:spPr>
          <a:xfrm>
            <a:off x="5943600" y="1097280"/>
            <a:ext cx="54864" cy="1234440"/>
          </a:xfrm>
          <a:prstGeom prst="rect">
            <a:avLst/>
          </a:prstGeom>
          <a:solidFill>
            <a:srgbClr val="003049"/>
          </a:solidFill>
          <a:ln/>
        </p:spPr>
      </p:sp>
      <p:sp>
        <p:nvSpPr>
          <p:cNvPr id="21" name="Text 19"/>
          <p:cNvSpPr/>
          <p:nvPr/>
        </p:nvSpPr>
        <p:spPr>
          <a:xfrm>
            <a:off x="6080760" y="1188720"/>
            <a:ext cx="256032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横向坐标</a:t>
            </a:r>
            <a:endParaRPr lang="en-US" sz="1300" dirty="0"/>
          </a:p>
        </p:txBody>
      </p:sp>
      <p:sp>
        <p:nvSpPr>
          <p:cNvPr id="22" name="Text 20"/>
          <p:cNvSpPr/>
          <p:nvPr/>
        </p:nvSpPr>
        <p:spPr>
          <a:xfrm>
            <a:off x="6080760" y="1463040"/>
            <a:ext cx="2560320" cy="228600"/>
          </a:xfrm>
          <a:prstGeom prst="rect">
            <a:avLst/>
          </a:prstGeom>
          <a:noFill/>
          <a:ln/>
        </p:spPr>
        <p:txBody>
          <a:bodyPr wrap="square" rtlCol="0" anchor="ctr"/>
          <a:lstStyle/>
          <a:p>
            <a:pPr indent="0" marL="0">
              <a:buNone/>
            </a:pPr>
            <a:r>
              <a:rPr lang="en-US" sz="1000" dirty="0">
                <a:solidFill>
                  <a:srgbClr val="C1121F"/>
                </a:solidFill>
                <a:latin typeface="Microsoft YaHei" pitchFamily="34" charset="0"/>
                <a:ea typeface="Microsoft YaHei" pitchFamily="34" charset="-122"/>
                <a:cs typeface="Microsoft YaHei" pitchFamily="34" charset="-120"/>
              </a:rPr>
              <a:t>同一时期不同思想的竞争</a:t>
            </a:r>
            <a:endParaRPr lang="en-US" sz="1000" dirty="0"/>
          </a:p>
        </p:txBody>
      </p:sp>
      <p:sp>
        <p:nvSpPr>
          <p:cNvPr id="23" name="Text 21"/>
          <p:cNvSpPr/>
          <p:nvPr/>
        </p:nvSpPr>
        <p:spPr>
          <a:xfrm>
            <a:off x="6080760" y="1737360"/>
            <a:ext cx="256032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例：斯密 vs 重商主义</a:t>
            </a:r>
            <a:endParaRPr lang="en-US" sz="10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凯恩斯 vs 奥地利学派</a:t>
            </a:r>
            <a:endParaRPr lang="en-US" sz="1000" dirty="0"/>
          </a:p>
        </p:txBody>
      </p:sp>
      <p:sp>
        <p:nvSpPr>
          <p:cNvPr id="24" name="Shape 22"/>
          <p:cNvSpPr/>
          <p:nvPr/>
        </p:nvSpPr>
        <p:spPr>
          <a:xfrm>
            <a:off x="5943600" y="2468880"/>
            <a:ext cx="2743200" cy="1234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5" name="Shape 23"/>
          <p:cNvSpPr/>
          <p:nvPr/>
        </p:nvSpPr>
        <p:spPr>
          <a:xfrm>
            <a:off x="5943600" y="2468880"/>
            <a:ext cx="54864" cy="1234440"/>
          </a:xfrm>
          <a:prstGeom prst="rect">
            <a:avLst/>
          </a:prstGeom>
          <a:solidFill>
            <a:srgbClr val="780000"/>
          </a:solidFill>
          <a:ln/>
        </p:spPr>
      </p:sp>
      <p:sp>
        <p:nvSpPr>
          <p:cNvPr id="26" name="Text 24"/>
          <p:cNvSpPr/>
          <p:nvPr/>
        </p:nvSpPr>
        <p:spPr>
          <a:xfrm>
            <a:off x="6080760" y="2560320"/>
            <a:ext cx="2560320" cy="27432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纵向坐标</a:t>
            </a:r>
            <a:endParaRPr lang="en-US" sz="1300" dirty="0"/>
          </a:p>
        </p:txBody>
      </p:sp>
      <p:sp>
        <p:nvSpPr>
          <p:cNvPr id="27" name="Text 25"/>
          <p:cNvSpPr/>
          <p:nvPr/>
        </p:nvSpPr>
        <p:spPr>
          <a:xfrm>
            <a:off x="6080760" y="2834640"/>
            <a:ext cx="2560320" cy="228600"/>
          </a:xfrm>
          <a:prstGeom prst="rect">
            <a:avLst/>
          </a:prstGeom>
          <a:noFill/>
          <a:ln/>
        </p:spPr>
        <p:txBody>
          <a:bodyPr wrap="square" rtlCol="0" anchor="ctr"/>
          <a:lstStyle/>
          <a:p>
            <a:pPr indent="0" marL="0">
              <a:buNone/>
            </a:pPr>
            <a:r>
              <a:rPr lang="en-US" sz="1000" dirty="0">
                <a:solidFill>
                  <a:srgbClr val="C1121F"/>
                </a:solidFill>
                <a:latin typeface="Microsoft YaHei" pitchFamily="34" charset="0"/>
                <a:ea typeface="Microsoft YaHei" pitchFamily="34" charset="-122"/>
                <a:cs typeface="Microsoft YaHei" pitchFamily="34" charset="-120"/>
              </a:rPr>
              <a:t>思想的历史演进脉络</a:t>
            </a:r>
            <a:endParaRPr lang="en-US" sz="1000" dirty="0"/>
          </a:p>
        </p:txBody>
      </p:sp>
      <p:sp>
        <p:nvSpPr>
          <p:cNvPr id="28" name="Text 26"/>
          <p:cNvSpPr/>
          <p:nvPr/>
        </p:nvSpPr>
        <p:spPr>
          <a:xfrm>
            <a:off x="6080760" y="3108960"/>
            <a:ext cx="2560320" cy="50292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例：斯密 → 李嘉图 → 穆勒</a:t>
            </a:r>
            <a:endParaRPr lang="en-US" sz="1000" dirty="0"/>
          </a:p>
          <a:p>
            <a:pPr indent="0" marL="0">
              <a:buNone/>
            </a:pPr>
            <a:r>
              <a:rPr lang="en-US" sz="1000" dirty="0">
                <a:solidFill>
                  <a:srgbClr val="003049"/>
                </a:solidFill>
                <a:latin typeface="Microsoft YaHei" pitchFamily="34" charset="0"/>
                <a:ea typeface="Microsoft YaHei" pitchFamily="34" charset="-122"/>
                <a:cs typeface="Microsoft YaHei" pitchFamily="34" charset="-120"/>
              </a:rPr>
              <a:t>→ 马歇尔 → 新古典综合</a:t>
            </a:r>
            <a:endParaRPr lang="en-US" sz="1000" dirty="0"/>
          </a:p>
        </p:txBody>
      </p:sp>
      <p:sp>
        <p:nvSpPr>
          <p:cNvPr id="29" name="Shape 27"/>
          <p:cNvSpPr/>
          <p:nvPr/>
        </p:nvSpPr>
        <p:spPr>
          <a:xfrm>
            <a:off x="457200" y="3840480"/>
            <a:ext cx="5212080" cy="868680"/>
          </a:xfrm>
          <a:prstGeom prst="rect">
            <a:avLst/>
          </a:prstGeom>
          <a:solidFill>
            <a:srgbClr val="780000"/>
          </a:solidFill>
          <a:ln/>
        </p:spPr>
      </p:sp>
      <p:sp>
        <p:nvSpPr>
          <p:cNvPr id="30" name="Text 28"/>
          <p:cNvSpPr/>
          <p:nvPr/>
        </p:nvSpPr>
        <p:spPr>
          <a:xfrm>
            <a:off x="640080" y="3931920"/>
            <a:ext cx="4846320" cy="27432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坐标系的价值</a:t>
            </a:r>
            <a:endParaRPr lang="en-US" sz="1300" dirty="0"/>
          </a:p>
        </p:txBody>
      </p:sp>
      <p:sp>
        <p:nvSpPr>
          <p:cNvPr id="31" name="Text 29"/>
          <p:cNvSpPr/>
          <p:nvPr/>
        </p:nvSpPr>
        <p:spPr>
          <a:xfrm>
            <a:off x="640080" y="4206240"/>
            <a:ext cx="4846320" cy="411480"/>
          </a:xfrm>
          <a:prstGeom prst="rect">
            <a:avLst/>
          </a:prstGeom>
          <a:noFill/>
          <a:ln/>
        </p:spPr>
        <p:txBody>
          <a:bodyPr wrap="square" rtlCol="0" anchor="ctr"/>
          <a:lstStyle/>
          <a:p>
            <a:pPr indent="0" marL="0">
              <a:buNone/>
            </a:pPr>
            <a:r>
              <a:rPr lang="en-US" sz="1800" dirty="0">
                <a:solidFill>
                  <a:srgbClr val="FDF0D5"/>
                </a:solidFill>
                <a:latin typeface="Georgia" pitchFamily="34" charset="0"/>
                <a:ea typeface="Georgia" pitchFamily="34" charset="-122"/>
                <a:cs typeface="Georgia" pitchFamily="34" charset="-120"/>
              </a:rPr>
              <a:t>定位 · 理解 · 批判</a:t>
            </a:r>
            <a:endParaRPr lang="en-US" sz="1800" dirty="0"/>
          </a:p>
        </p:txBody>
      </p:sp>
      <p:sp>
        <p:nvSpPr>
          <p:cNvPr id="32" name="Shape 30"/>
          <p:cNvSpPr/>
          <p:nvPr/>
        </p:nvSpPr>
        <p:spPr>
          <a:xfrm>
            <a:off x="8503920" y="4663440"/>
            <a:ext cx="365760" cy="365760"/>
          </a:xfrm>
          <a:prstGeom prst="ellipse">
            <a:avLst/>
          </a:prstGeom>
          <a:solidFill>
            <a:srgbClr val="C1121F"/>
          </a:solidFill>
          <a:ln/>
        </p:spPr>
      </p:sp>
      <p:sp>
        <p:nvSpPr>
          <p:cNvPr id="33" name="Text 3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780000"/>
                </a:solidFill>
                <a:latin typeface="Microsoft YaHei" pitchFamily="34" charset="0"/>
                <a:ea typeface="Microsoft YaHei" pitchFamily="34" charset="-122"/>
                <a:cs typeface="Microsoft YaHei" pitchFamily="34" charset="-120"/>
              </a:rPr>
              <a:t>建立你的经济思想史坐标系</a:t>
            </a:r>
            <a:endParaRPr lang="en-US" sz="32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143000"/>
            <a:ext cx="1965960" cy="2377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548640" y="1234440"/>
            <a:ext cx="457200" cy="457200"/>
          </a:xfrm>
          <a:prstGeom prst="ellipse">
            <a:avLst/>
          </a:prstGeom>
          <a:solidFill>
            <a:srgbClr val="780000"/>
          </a:solidFill>
          <a:ln/>
        </p:spPr>
      </p:sp>
      <p:sp>
        <p:nvSpPr>
          <p:cNvPr id="7" name="Text 5"/>
          <p:cNvSpPr/>
          <p:nvPr/>
        </p:nvSpPr>
        <p:spPr>
          <a:xfrm>
            <a:off x="548640" y="12344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8" name="Text 6"/>
          <p:cNvSpPr/>
          <p:nvPr/>
        </p:nvSpPr>
        <p:spPr>
          <a:xfrm>
            <a:off x="548640" y="1783080"/>
            <a:ext cx="178308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选取坐标轴</a:t>
            </a:r>
            <a:endParaRPr lang="en-US" sz="1300" dirty="0"/>
          </a:p>
        </p:txBody>
      </p:sp>
      <p:sp>
        <p:nvSpPr>
          <p:cNvPr id="9" name="Text 7"/>
          <p:cNvSpPr/>
          <p:nvPr/>
        </p:nvSpPr>
        <p:spPr>
          <a:xfrm>
            <a:off x="548640" y="2194560"/>
            <a:ext cx="1783080" cy="1234440"/>
          </a:xfrm>
          <a:prstGeom prst="rect">
            <a:avLst/>
          </a:prstGeom>
          <a:noFill/>
          <a:ln/>
        </p:spPr>
        <p:txBody>
          <a:bodyPr wrap="square" rtlCol="0" anchor="ctr"/>
          <a:lstStyle/>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时间维度</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学派维度</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问题导向维度</a:t>
            </a:r>
            <a:endParaRPr lang="en-US" sz="1000" dirty="0"/>
          </a:p>
        </p:txBody>
      </p:sp>
      <p:sp>
        <p:nvSpPr>
          <p:cNvPr id="10" name="Text 8"/>
          <p:cNvSpPr/>
          <p:nvPr/>
        </p:nvSpPr>
        <p:spPr>
          <a:xfrm>
            <a:off x="2377440" y="2148840"/>
            <a:ext cx="365760" cy="365760"/>
          </a:xfrm>
          <a:prstGeom prst="rect">
            <a:avLst/>
          </a:prstGeom>
          <a:noFill/>
          <a:ln/>
        </p:spPr>
        <p:txBody>
          <a:bodyPr wrap="square" rtlCol="0" anchor="ctr"/>
          <a:lstStyle/>
          <a:p>
            <a:pPr algn="ctr" indent="0" marL="0">
              <a:buNone/>
            </a:pPr>
            <a:r>
              <a:rPr lang="en-US" sz="2000" b="1" dirty="0">
                <a:solidFill>
                  <a:srgbClr val="C1121F"/>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2606040" y="1143000"/>
            <a:ext cx="1965960" cy="2377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2697480" y="1234440"/>
            <a:ext cx="457200" cy="457200"/>
          </a:xfrm>
          <a:prstGeom prst="ellipse">
            <a:avLst/>
          </a:prstGeom>
          <a:solidFill>
            <a:srgbClr val="780000"/>
          </a:solidFill>
          <a:ln/>
        </p:spPr>
      </p:sp>
      <p:sp>
        <p:nvSpPr>
          <p:cNvPr id="13" name="Text 11"/>
          <p:cNvSpPr/>
          <p:nvPr/>
        </p:nvSpPr>
        <p:spPr>
          <a:xfrm>
            <a:off x="2697480" y="12344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4" name="Text 12"/>
          <p:cNvSpPr/>
          <p:nvPr/>
        </p:nvSpPr>
        <p:spPr>
          <a:xfrm>
            <a:off x="2697480" y="1783080"/>
            <a:ext cx="178308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标注关键节点</a:t>
            </a:r>
            <a:endParaRPr lang="en-US" sz="1300" dirty="0"/>
          </a:p>
        </p:txBody>
      </p:sp>
      <p:sp>
        <p:nvSpPr>
          <p:cNvPr id="15" name="Text 13"/>
          <p:cNvSpPr/>
          <p:nvPr/>
        </p:nvSpPr>
        <p:spPr>
          <a:xfrm>
            <a:off x="2697480" y="2194560"/>
            <a:ext cx="1783080" cy="1234440"/>
          </a:xfrm>
          <a:prstGeom prst="rect">
            <a:avLst/>
          </a:prstGeom>
          <a:noFill/>
          <a:ln/>
        </p:spPr>
        <p:txBody>
          <a:bodyPr wrap="square" rtlCol="0" anchor="ctr"/>
          <a:lstStyle/>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斯密：古典经济学起点</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凯恩斯：宏观革命</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哈耶克：市场秩序</a:t>
            </a:r>
            <a:endParaRPr lang="en-US" sz="1000" dirty="0"/>
          </a:p>
        </p:txBody>
      </p:sp>
      <p:sp>
        <p:nvSpPr>
          <p:cNvPr id="16" name="Text 14"/>
          <p:cNvSpPr/>
          <p:nvPr/>
        </p:nvSpPr>
        <p:spPr>
          <a:xfrm>
            <a:off x="4526280" y="2148840"/>
            <a:ext cx="365760" cy="365760"/>
          </a:xfrm>
          <a:prstGeom prst="rect">
            <a:avLst/>
          </a:prstGeom>
          <a:noFill/>
          <a:ln/>
        </p:spPr>
        <p:txBody>
          <a:bodyPr wrap="square" rtlCol="0" anchor="ctr"/>
          <a:lstStyle/>
          <a:p>
            <a:pPr algn="ctr" indent="0" marL="0">
              <a:buNone/>
            </a:pPr>
            <a:r>
              <a:rPr lang="en-US" sz="2000" b="1" dirty="0">
                <a:solidFill>
                  <a:srgbClr val="C1121F"/>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754880" y="1143000"/>
            <a:ext cx="1965960" cy="2377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4846320" y="1234440"/>
            <a:ext cx="457200" cy="457200"/>
          </a:xfrm>
          <a:prstGeom prst="ellipse">
            <a:avLst/>
          </a:prstGeom>
          <a:solidFill>
            <a:srgbClr val="780000"/>
          </a:solidFill>
          <a:ln/>
        </p:spPr>
      </p:sp>
      <p:sp>
        <p:nvSpPr>
          <p:cNvPr id="19" name="Text 17"/>
          <p:cNvSpPr/>
          <p:nvPr/>
        </p:nvSpPr>
        <p:spPr>
          <a:xfrm>
            <a:off x="4846320" y="12344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20" name="Text 18"/>
          <p:cNvSpPr/>
          <p:nvPr/>
        </p:nvSpPr>
        <p:spPr>
          <a:xfrm>
            <a:off x="4846320" y="1783080"/>
            <a:ext cx="178308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理解思想关系</a:t>
            </a:r>
            <a:endParaRPr lang="en-US" sz="1300" dirty="0"/>
          </a:p>
        </p:txBody>
      </p:sp>
      <p:sp>
        <p:nvSpPr>
          <p:cNvPr id="21" name="Text 19"/>
          <p:cNvSpPr/>
          <p:nvPr/>
        </p:nvSpPr>
        <p:spPr>
          <a:xfrm>
            <a:off x="4846320" y="2194560"/>
            <a:ext cx="1783080" cy="1234440"/>
          </a:xfrm>
          <a:prstGeom prst="rect">
            <a:avLst/>
          </a:prstGeom>
          <a:noFill/>
          <a:ln/>
        </p:spPr>
        <p:txBody>
          <a:bodyPr wrap="square" rtlCol="0" anchor="ctr"/>
          <a:lstStyle/>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继承关系</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批判关系</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融合关系</a:t>
            </a:r>
            <a:endParaRPr lang="en-US" sz="1000" dirty="0"/>
          </a:p>
        </p:txBody>
      </p:sp>
      <p:sp>
        <p:nvSpPr>
          <p:cNvPr id="22" name="Text 20"/>
          <p:cNvSpPr/>
          <p:nvPr/>
        </p:nvSpPr>
        <p:spPr>
          <a:xfrm>
            <a:off x="6675120" y="2148840"/>
            <a:ext cx="365760" cy="365760"/>
          </a:xfrm>
          <a:prstGeom prst="rect">
            <a:avLst/>
          </a:prstGeom>
          <a:noFill/>
          <a:ln/>
        </p:spPr>
        <p:txBody>
          <a:bodyPr wrap="square" rtlCol="0" anchor="ctr"/>
          <a:lstStyle/>
          <a:p>
            <a:pPr algn="ctr" indent="0" marL="0">
              <a:buNone/>
            </a:pPr>
            <a:r>
              <a:rPr lang="en-US" sz="2000" b="1" dirty="0">
                <a:solidFill>
                  <a:srgbClr val="C1121F"/>
                </a:solidFill>
                <a:latin typeface="Arial" pitchFamily="34" charset="0"/>
                <a:ea typeface="Arial" pitchFamily="34" charset="-122"/>
                <a:cs typeface="Arial" pitchFamily="34" charset="-120"/>
              </a:rPr>
              <a:t>→</a:t>
            </a:r>
            <a:endParaRPr lang="en-US" sz="2000" dirty="0"/>
          </a:p>
        </p:txBody>
      </p:sp>
      <p:sp>
        <p:nvSpPr>
          <p:cNvPr id="23" name="Shape 21"/>
          <p:cNvSpPr/>
          <p:nvPr/>
        </p:nvSpPr>
        <p:spPr>
          <a:xfrm>
            <a:off x="6903720" y="1143000"/>
            <a:ext cx="1965960" cy="2377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4" name="Shape 22"/>
          <p:cNvSpPr/>
          <p:nvPr/>
        </p:nvSpPr>
        <p:spPr>
          <a:xfrm>
            <a:off x="6995160" y="1234440"/>
            <a:ext cx="457200" cy="457200"/>
          </a:xfrm>
          <a:prstGeom prst="ellipse">
            <a:avLst/>
          </a:prstGeom>
          <a:solidFill>
            <a:srgbClr val="780000"/>
          </a:solidFill>
          <a:ln/>
        </p:spPr>
      </p:sp>
      <p:sp>
        <p:nvSpPr>
          <p:cNvPr id="25" name="Text 23"/>
          <p:cNvSpPr/>
          <p:nvPr/>
        </p:nvSpPr>
        <p:spPr>
          <a:xfrm>
            <a:off x="6995160" y="12344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6" name="Text 24"/>
          <p:cNvSpPr/>
          <p:nvPr/>
        </p:nvSpPr>
        <p:spPr>
          <a:xfrm>
            <a:off x="6995160" y="1783080"/>
            <a:ext cx="1783080" cy="36576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建立个人视角</a:t>
            </a:r>
            <a:endParaRPr lang="en-US" sz="1300" dirty="0"/>
          </a:p>
        </p:txBody>
      </p:sp>
      <p:sp>
        <p:nvSpPr>
          <p:cNvPr id="27" name="Text 25"/>
          <p:cNvSpPr/>
          <p:nvPr/>
        </p:nvSpPr>
        <p:spPr>
          <a:xfrm>
            <a:off x="6995160" y="2194560"/>
            <a:ext cx="1783080" cy="1234440"/>
          </a:xfrm>
          <a:prstGeom prst="rect">
            <a:avLst/>
          </a:prstGeom>
          <a:noFill/>
          <a:ln/>
        </p:spPr>
        <p:txBody>
          <a:bodyPr wrap="square" rtlCol="0" anchor="ctr"/>
          <a:lstStyle/>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你的立场是什么？</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斯密的位置在哪里？</a:t>
            </a:r>
            <a:endParaRPr lang="en-US" sz="1000" dirty="0"/>
          </a:p>
          <a:p>
            <a:pPr marL="342900" indent="-342900">
              <a:spcAft>
                <a:spcPts val="400"/>
              </a:spcAft>
              <a:buSzPct val="100000"/>
              <a:buChar char="•"/>
            </a:pPr>
            <a:r>
              <a:rPr lang="en-US" sz="1000" dirty="0">
                <a:solidFill>
                  <a:srgbClr val="003049"/>
                </a:solidFill>
                <a:latin typeface="Microsoft YaHei" pitchFamily="34" charset="0"/>
                <a:ea typeface="Microsoft YaHei" pitchFamily="34" charset="-122"/>
                <a:cs typeface="Microsoft YaHei" pitchFamily="34" charset="-120"/>
              </a:rPr>
              <a:t>你的坐标系在哪里？</a:t>
            </a:r>
            <a:endParaRPr lang="en-US" sz="1000" dirty="0"/>
          </a:p>
        </p:txBody>
      </p:sp>
      <p:sp>
        <p:nvSpPr>
          <p:cNvPr id="28" name="Shape 26"/>
          <p:cNvSpPr/>
          <p:nvPr/>
        </p:nvSpPr>
        <p:spPr>
          <a:xfrm>
            <a:off x="457200" y="3703320"/>
            <a:ext cx="8229600" cy="1051560"/>
          </a:xfrm>
          <a:prstGeom prst="rect">
            <a:avLst/>
          </a:prstGeom>
          <a:solidFill>
            <a:srgbClr val="003049"/>
          </a:solidFill>
          <a:ln/>
        </p:spPr>
      </p:sp>
      <p:sp>
        <p:nvSpPr>
          <p:cNvPr id="29" name="Text 27"/>
          <p:cNvSpPr/>
          <p:nvPr/>
        </p:nvSpPr>
        <p:spPr>
          <a:xfrm>
            <a:off x="640080" y="3794760"/>
            <a:ext cx="1371600" cy="320040"/>
          </a:xfrm>
          <a:prstGeom prst="rect">
            <a:avLst/>
          </a:prstGeom>
          <a:noFill/>
          <a:ln/>
        </p:spPr>
        <p:txBody>
          <a:bodyPr wrap="square" rtlCol="0" anchor="ctr"/>
          <a:lstStyle/>
          <a:p>
            <a:pPr indent="0" marL="0">
              <a:buNone/>
            </a:pPr>
            <a:r>
              <a:rPr lang="en-US" sz="1400" b="1" dirty="0">
                <a:solidFill>
                  <a:srgbClr val="669BBC"/>
                </a:solidFill>
                <a:latin typeface="Microsoft YaHei" pitchFamily="34" charset="0"/>
                <a:ea typeface="Microsoft YaHei" pitchFamily="34" charset="-122"/>
                <a:cs typeface="Microsoft YaHei" pitchFamily="34" charset="-120"/>
              </a:rPr>
              <a:t>核心行动</a:t>
            </a:r>
            <a:endParaRPr lang="en-US" sz="1400" dirty="0"/>
          </a:p>
        </p:txBody>
      </p:sp>
      <p:sp>
        <p:nvSpPr>
          <p:cNvPr id="30" name="Text 28"/>
          <p:cNvSpPr/>
          <p:nvPr/>
        </p:nvSpPr>
        <p:spPr>
          <a:xfrm>
            <a:off x="640080" y="4114800"/>
            <a:ext cx="7863840" cy="54864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不要被动接受任何思想家的观点。通过建立自己的坐标系，你才能真正理解每种思想的适用范围与局限性。</a:t>
            </a:r>
            <a:endParaRPr lang="en-US" sz="1300" dirty="0"/>
          </a:p>
        </p:txBody>
      </p:sp>
      <p:sp>
        <p:nvSpPr>
          <p:cNvPr id="31" name="Shape 29"/>
          <p:cNvSpPr/>
          <p:nvPr/>
        </p:nvSpPr>
        <p:spPr>
          <a:xfrm>
            <a:off x="8503920" y="4663440"/>
            <a:ext cx="365760" cy="365760"/>
          </a:xfrm>
          <a:prstGeom prst="ellipse">
            <a:avLst/>
          </a:prstGeom>
          <a:solidFill>
            <a:srgbClr val="C1121F"/>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80000"/>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600" b="1" dirty="0">
                <a:solidFill>
                  <a:srgbClr val="780000"/>
                </a:solidFill>
                <a:latin typeface="Microsoft YaHei" pitchFamily="34" charset="0"/>
                <a:ea typeface="Microsoft YaHei" pitchFamily="34" charset="-122"/>
                <a:cs typeface="Microsoft YaHei" pitchFamily="34" charset="-120"/>
              </a:rPr>
              <a:t>阅读书单：深化学习</a:t>
            </a:r>
            <a:endParaRPr lang="en-US" sz="3600" dirty="0"/>
          </a:p>
        </p:txBody>
      </p:sp>
      <p:sp>
        <p:nvSpPr>
          <p:cNvPr id="4" name="Shape 2"/>
          <p:cNvSpPr/>
          <p:nvPr/>
        </p:nvSpPr>
        <p:spPr>
          <a:xfrm>
            <a:off x="457200" y="868680"/>
            <a:ext cx="1371600" cy="36576"/>
          </a:xfrm>
          <a:prstGeom prst="rect">
            <a:avLst/>
          </a:prstGeom>
          <a:solidFill>
            <a:srgbClr val="C1121F"/>
          </a:solidFill>
          <a:ln/>
        </p:spPr>
      </p:sp>
      <p:sp>
        <p:nvSpPr>
          <p:cNvPr id="5" name="Shape 3"/>
          <p:cNvSpPr/>
          <p:nvPr/>
        </p:nvSpPr>
        <p:spPr>
          <a:xfrm>
            <a:off x="457200" y="1097280"/>
            <a:ext cx="2651760" cy="3520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6" name="Shape 4"/>
          <p:cNvSpPr/>
          <p:nvPr/>
        </p:nvSpPr>
        <p:spPr>
          <a:xfrm>
            <a:off x="457200" y="1097280"/>
            <a:ext cx="2651760" cy="457200"/>
          </a:xfrm>
          <a:prstGeom prst="rect">
            <a:avLst/>
          </a:prstGeom>
          <a:solidFill>
            <a:srgbClr val="780000"/>
          </a:solidFill>
          <a:ln/>
        </p:spPr>
      </p:sp>
      <p:sp>
        <p:nvSpPr>
          <p:cNvPr id="7" name="Text 5"/>
          <p:cNvSpPr/>
          <p:nvPr/>
        </p:nvSpPr>
        <p:spPr>
          <a:xfrm>
            <a:off x="457200" y="1097280"/>
            <a:ext cx="265176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必读经典</a:t>
            </a:r>
            <a:endParaRPr lang="en-US" sz="1400" dirty="0"/>
          </a:p>
        </p:txBody>
      </p:sp>
      <p:sp>
        <p:nvSpPr>
          <p:cNvPr id="8" name="Text 6"/>
          <p:cNvSpPr/>
          <p:nvPr/>
        </p:nvSpPr>
        <p:spPr>
          <a:xfrm>
            <a:off x="594360" y="16916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《国富论》</a:t>
            </a:r>
            <a:endParaRPr lang="en-US" sz="1200" dirty="0"/>
          </a:p>
        </p:txBody>
      </p:sp>
      <p:sp>
        <p:nvSpPr>
          <p:cNvPr id="9" name="Text 7"/>
          <p:cNvSpPr/>
          <p:nvPr/>
        </p:nvSpPr>
        <p:spPr>
          <a:xfrm>
            <a:off x="594360" y="19659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亚当·斯密</a:t>
            </a:r>
            <a:endParaRPr lang="en-US" sz="1000" dirty="0"/>
          </a:p>
        </p:txBody>
      </p:sp>
      <p:sp>
        <p:nvSpPr>
          <p:cNvPr id="10" name="Text 8"/>
          <p:cNvSpPr/>
          <p:nvPr/>
        </p:nvSpPr>
        <p:spPr>
          <a:xfrm>
            <a:off x="594360" y="21945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经济学开山之作，理解市场机制的必读文本</a:t>
            </a:r>
            <a:endParaRPr lang="en-US" sz="900" dirty="0"/>
          </a:p>
        </p:txBody>
      </p:sp>
      <p:sp>
        <p:nvSpPr>
          <p:cNvPr id="11" name="Shape 9"/>
          <p:cNvSpPr/>
          <p:nvPr/>
        </p:nvSpPr>
        <p:spPr>
          <a:xfrm>
            <a:off x="594360" y="2697480"/>
            <a:ext cx="2377440" cy="18288"/>
          </a:xfrm>
          <a:prstGeom prst="rect">
            <a:avLst/>
          </a:prstGeom>
          <a:solidFill>
            <a:srgbClr val="669BBC"/>
          </a:solidFill>
          <a:ln/>
        </p:spPr>
      </p:sp>
      <p:sp>
        <p:nvSpPr>
          <p:cNvPr id="12" name="Text 10"/>
          <p:cNvSpPr/>
          <p:nvPr/>
        </p:nvSpPr>
        <p:spPr>
          <a:xfrm>
            <a:off x="594360" y="28346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《道德情感论》</a:t>
            </a:r>
            <a:endParaRPr lang="en-US" sz="1200" dirty="0"/>
          </a:p>
        </p:txBody>
      </p:sp>
      <p:sp>
        <p:nvSpPr>
          <p:cNvPr id="13" name="Text 11"/>
          <p:cNvSpPr/>
          <p:nvPr/>
        </p:nvSpPr>
        <p:spPr>
          <a:xfrm>
            <a:off x="594360" y="31089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亚当·斯密</a:t>
            </a:r>
            <a:endParaRPr lang="en-US" sz="1000" dirty="0"/>
          </a:p>
        </p:txBody>
      </p:sp>
      <p:sp>
        <p:nvSpPr>
          <p:cNvPr id="14" name="Text 12"/>
          <p:cNvSpPr/>
          <p:nvPr/>
        </p:nvSpPr>
        <p:spPr>
          <a:xfrm>
            <a:off x="594360" y="33375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理解斯密完整人性观的另一把钥匙</a:t>
            </a:r>
            <a:endParaRPr lang="en-US" sz="900" dirty="0"/>
          </a:p>
        </p:txBody>
      </p:sp>
      <p:sp>
        <p:nvSpPr>
          <p:cNvPr id="15" name="Shape 13"/>
          <p:cNvSpPr/>
          <p:nvPr/>
        </p:nvSpPr>
        <p:spPr>
          <a:xfrm>
            <a:off x="594360" y="3840480"/>
            <a:ext cx="2377440" cy="18288"/>
          </a:xfrm>
          <a:prstGeom prst="rect">
            <a:avLst/>
          </a:prstGeom>
          <a:solidFill>
            <a:srgbClr val="669BBC"/>
          </a:solidFill>
          <a:ln/>
        </p:spPr>
      </p:sp>
      <p:sp>
        <p:nvSpPr>
          <p:cNvPr id="16" name="Text 14"/>
          <p:cNvSpPr/>
          <p:nvPr/>
        </p:nvSpPr>
        <p:spPr>
          <a:xfrm>
            <a:off x="594360" y="39776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《通往奴役之路》</a:t>
            </a:r>
            <a:endParaRPr lang="en-US" sz="1200" dirty="0"/>
          </a:p>
        </p:txBody>
      </p:sp>
      <p:sp>
        <p:nvSpPr>
          <p:cNvPr id="17" name="Text 15"/>
          <p:cNvSpPr/>
          <p:nvPr/>
        </p:nvSpPr>
        <p:spPr>
          <a:xfrm>
            <a:off x="594360" y="42519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哈耶克</a:t>
            </a:r>
            <a:endParaRPr lang="en-US" sz="1000" dirty="0"/>
          </a:p>
        </p:txBody>
      </p:sp>
      <p:sp>
        <p:nvSpPr>
          <p:cNvPr id="18" name="Shape 16"/>
          <p:cNvSpPr/>
          <p:nvPr/>
        </p:nvSpPr>
        <p:spPr>
          <a:xfrm>
            <a:off x="3337560" y="1097280"/>
            <a:ext cx="2651760" cy="3520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3337560" y="1097280"/>
            <a:ext cx="2651760" cy="457200"/>
          </a:xfrm>
          <a:prstGeom prst="rect">
            <a:avLst/>
          </a:prstGeom>
          <a:solidFill>
            <a:srgbClr val="003049"/>
          </a:solidFill>
          <a:ln/>
        </p:spPr>
      </p:sp>
      <p:sp>
        <p:nvSpPr>
          <p:cNvPr id="20" name="Text 18"/>
          <p:cNvSpPr/>
          <p:nvPr/>
        </p:nvSpPr>
        <p:spPr>
          <a:xfrm>
            <a:off x="3337560" y="1097280"/>
            <a:ext cx="265176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理解斯密</a:t>
            </a:r>
            <a:endParaRPr lang="en-US" sz="1400" dirty="0"/>
          </a:p>
        </p:txBody>
      </p:sp>
      <p:sp>
        <p:nvSpPr>
          <p:cNvPr id="21" name="Text 19"/>
          <p:cNvSpPr/>
          <p:nvPr/>
        </p:nvSpPr>
        <p:spPr>
          <a:xfrm>
            <a:off x="3474720" y="16916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《亚当·斯密》</a:t>
            </a:r>
            <a:endParaRPr lang="en-US" sz="1200" dirty="0"/>
          </a:p>
        </p:txBody>
      </p:sp>
      <p:sp>
        <p:nvSpPr>
          <p:cNvPr id="22" name="Text 20"/>
          <p:cNvSpPr/>
          <p:nvPr/>
        </p:nvSpPr>
        <p:spPr>
          <a:xfrm>
            <a:off x="3474720" y="19659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章海山</a:t>
            </a:r>
            <a:endParaRPr lang="en-US" sz="1000" dirty="0"/>
          </a:p>
        </p:txBody>
      </p:sp>
      <p:sp>
        <p:nvSpPr>
          <p:cNvPr id="23" name="Text 21"/>
          <p:cNvSpPr/>
          <p:nvPr/>
        </p:nvSpPr>
        <p:spPr>
          <a:xfrm>
            <a:off x="3474720" y="21945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中国学者对斯密的系统性研究</a:t>
            </a:r>
            <a:endParaRPr lang="en-US" sz="900" dirty="0"/>
          </a:p>
        </p:txBody>
      </p:sp>
      <p:sp>
        <p:nvSpPr>
          <p:cNvPr id="24" name="Shape 22"/>
          <p:cNvSpPr/>
          <p:nvPr/>
        </p:nvSpPr>
        <p:spPr>
          <a:xfrm>
            <a:off x="3474720" y="2697480"/>
            <a:ext cx="2377440" cy="18288"/>
          </a:xfrm>
          <a:prstGeom prst="rect">
            <a:avLst/>
          </a:prstGeom>
          <a:solidFill>
            <a:srgbClr val="669BBC"/>
          </a:solidFill>
          <a:ln/>
        </p:spPr>
      </p:sp>
      <p:sp>
        <p:nvSpPr>
          <p:cNvPr id="25" name="Text 23"/>
          <p:cNvSpPr/>
          <p:nvPr/>
        </p:nvSpPr>
        <p:spPr>
          <a:xfrm>
            <a:off x="3474720" y="28346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《斯密忏悔录》</a:t>
            </a:r>
            <a:endParaRPr lang="en-US" sz="1200" dirty="0"/>
          </a:p>
        </p:txBody>
      </p:sp>
      <p:sp>
        <p:nvSpPr>
          <p:cNvPr id="26" name="Text 24"/>
          <p:cNvSpPr/>
          <p:nvPr/>
        </p:nvSpPr>
        <p:spPr>
          <a:xfrm>
            <a:off x="3474720" y="31089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罗伯特·路易斯·史蒂文森</a:t>
            </a:r>
            <a:endParaRPr lang="en-US" sz="1000" dirty="0"/>
          </a:p>
        </p:txBody>
      </p:sp>
      <p:sp>
        <p:nvSpPr>
          <p:cNvPr id="27" name="Text 25"/>
          <p:cNvSpPr/>
          <p:nvPr/>
        </p:nvSpPr>
        <p:spPr>
          <a:xfrm>
            <a:off x="3474720" y="33375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文学大师笔下的斯密传记</a:t>
            </a:r>
            <a:endParaRPr lang="en-US" sz="900" dirty="0"/>
          </a:p>
        </p:txBody>
      </p:sp>
      <p:sp>
        <p:nvSpPr>
          <p:cNvPr id="28" name="Shape 26"/>
          <p:cNvSpPr/>
          <p:nvPr/>
        </p:nvSpPr>
        <p:spPr>
          <a:xfrm>
            <a:off x="6217920" y="1097280"/>
            <a:ext cx="2651760" cy="35204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29" name="Shape 27"/>
          <p:cNvSpPr/>
          <p:nvPr/>
        </p:nvSpPr>
        <p:spPr>
          <a:xfrm>
            <a:off x="6217920" y="1097280"/>
            <a:ext cx="2651760" cy="457200"/>
          </a:xfrm>
          <a:prstGeom prst="rect">
            <a:avLst/>
          </a:prstGeom>
          <a:solidFill>
            <a:srgbClr val="C1121F"/>
          </a:solidFill>
          <a:ln/>
        </p:spPr>
      </p:sp>
      <p:sp>
        <p:nvSpPr>
          <p:cNvPr id="30" name="Text 28"/>
          <p:cNvSpPr/>
          <p:nvPr/>
        </p:nvSpPr>
        <p:spPr>
          <a:xfrm>
            <a:off x="6217920" y="1097280"/>
            <a:ext cx="265176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现代视角</a:t>
            </a:r>
            <a:endParaRPr lang="en-US" sz="1400" dirty="0"/>
          </a:p>
        </p:txBody>
      </p:sp>
      <p:sp>
        <p:nvSpPr>
          <p:cNvPr id="31" name="Text 29"/>
          <p:cNvSpPr/>
          <p:nvPr/>
        </p:nvSpPr>
        <p:spPr>
          <a:xfrm>
            <a:off x="6355080" y="1691640"/>
            <a:ext cx="2377440" cy="274320"/>
          </a:xfrm>
          <a:prstGeom prst="rect">
            <a:avLst/>
          </a:prstGeom>
          <a:noFill/>
          <a:ln/>
        </p:spPr>
        <p:txBody>
          <a:bodyPr wrap="square" rtlCol="0" anchor="ctr"/>
          <a:lstStyle/>
          <a:p>
            <a:pPr indent="0" marL="0">
              <a:buNone/>
            </a:pPr>
            <a:r>
              <a:rPr lang="en-US" sz="1100" b="1" dirty="0">
                <a:solidFill>
                  <a:srgbClr val="780000"/>
                </a:solidFill>
                <a:latin typeface="Georgia" pitchFamily="34" charset="0"/>
                <a:ea typeface="Georgia" pitchFamily="34" charset="-122"/>
                <a:cs typeface="Georgia" pitchFamily="34" charset="-120"/>
              </a:rPr>
              <a:t>《 capitalism, socialism</a:t>
            </a:r>
            <a:endParaRPr lang="en-US" sz="1100" dirty="0"/>
          </a:p>
        </p:txBody>
      </p:sp>
      <p:sp>
        <p:nvSpPr>
          <p:cNvPr id="32" name="Text 30"/>
          <p:cNvSpPr/>
          <p:nvPr/>
        </p:nvSpPr>
        <p:spPr>
          <a:xfrm>
            <a:off x="6355080" y="1920240"/>
            <a:ext cx="2377440" cy="228600"/>
          </a:xfrm>
          <a:prstGeom prst="rect">
            <a:avLst/>
          </a:prstGeom>
          <a:noFill/>
          <a:ln/>
        </p:spPr>
        <p:txBody>
          <a:bodyPr wrap="square" rtlCol="0" anchor="ctr"/>
          <a:lstStyle/>
          <a:p>
            <a:pPr indent="0" marL="0">
              <a:buNone/>
            </a:pPr>
            <a:r>
              <a:rPr lang="en-US" sz="1100" b="1" dirty="0">
                <a:solidFill>
                  <a:srgbClr val="780000"/>
                </a:solidFill>
                <a:latin typeface="Georgia" pitchFamily="34" charset="0"/>
                <a:ea typeface="Georgia" pitchFamily="34" charset="-122"/>
                <a:cs typeface="Georgia" pitchFamily="34" charset="-120"/>
              </a:rPr>
              <a:t>and knowledge》</a:t>
            </a:r>
            <a:endParaRPr lang="en-US" sz="1100" dirty="0"/>
          </a:p>
        </p:txBody>
      </p:sp>
      <p:sp>
        <p:nvSpPr>
          <p:cNvPr id="33" name="Text 31"/>
          <p:cNvSpPr/>
          <p:nvPr/>
        </p:nvSpPr>
        <p:spPr>
          <a:xfrm>
            <a:off x="6355080" y="21945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熊彼特</a:t>
            </a:r>
            <a:endParaRPr lang="en-US" sz="1000" dirty="0"/>
          </a:p>
        </p:txBody>
      </p:sp>
      <p:sp>
        <p:nvSpPr>
          <p:cNvPr id="34" name="Text 32"/>
          <p:cNvSpPr/>
          <p:nvPr/>
        </p:nvSpPr>
        <p:spPr>
          <a:xfrm>
            <a:off x="6355080" y="24231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从创新与知识角度理解经济发展</a:t>
            </a:r>
            <a:endParaRPr lang="en-US" sz="900" dirty="0"/>
          </a:p>
        </p:txBody>
      </p:sp>
      <p:sp>
        <p:nvSpPr>
          <p:cNvPr id="35" name="Shape 33"/>
          <p:cNvSpPr/>
          <p:nvPr/>
        </p:nvSpPr>
        <p:spPr>
          <a:xfrm>
            <a:off x="6355080" y="2926080"/>
            <a:ext cx="2377440" cy="18288"/>
          </a:xfrm>
          <a:prstGeom prst="rect">
            <a:avLst/>
          </a:prstGeom>
          <a:solidFill>
            <a:srgbClr val="669BBC"/>
          </a:solidFill>
          <a:ln/>
        </p:spPr>
      </p:sp>
      <p:sp>
        <p:nvSpPr>
          <p:cNvPr id="36" name="Text 34"/>
          <p:cNvSpPr/>
          <p:nvPr/>
        </p:nvSpPr>
        <p:spPr>
          <a:xfrm>
            <a:off x="6355080" y="3063240"/>
            <a:ext cx="2377440" cy="274320"/>
          </a:xfrm>
          <a:prstGeom prst="rect">
            <a:avLst/>
          </a:prstGeom>
          <a:noFill/>
          <a:ln/>
        </p:spPr>
        <p:txBody>
          <a:bodyPr wrap="square" rtlCol="0" anchor="ctr"/>
          <a:lstStyle/>
          <a:p>
            <a:pPr indent="0" marL="0">
              <a:buNone/>
            </a:pPr>
            <a:r>
              <a:rPr lang="en-US" sz="1200" b="1" dirty="0">
                <a:solidFill>
                  <a:srgbClr val="780000"/>
                </a:solidFill>
                <a:latin typeface="Microsoft YaHei" pitchFamily="34" charset="0"/>
                <a:ea typeface="Microsoft YaHei" pitchFamily="34" charset="-122"/>
                <a:cs typeface="Microsoft YaHei" pitchFamily="34" charset="-120"/>
              </a:rPr>
              <a:t>《自由的伦理》</a:t>
            </a:r>
            <a:endParaRPr lang="en-US" sz="1200" dirty="0"/>
          </a:p>
        </p:txBody>
      </p:sp>
      <p:sp>
        <p:nvSpPr>
          <p:cNvPr id="37" name="Text 35"/>
          <p:cNvSpPr/>
          <p:nvPr/>
        </p:nvSpPr>
        <p:spPr>
          <a:xfrm>
            <a:off x="6355080" y="3337560"/>
            <a:ext cx="2377440" cy="228600"/>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罗斯巴德</a:t>
            </a:r>
            <a:endParaRPr lang="en-US" sz="1000" dirty="0"/>
          </a:p>
        </p:txBody>
      </p:sp>
      <p:sp>
        <p:nvSpPr>
          <p:cNvPr id="38" name="Text 36"/>
          <p:cNvSpPr/>
          <p:nvPr/>
        </p:nvSpPr>
        <p:spPr>
          <a:xfrm>
            <a:off x="6355080" y="3566160"/>
            <a:ext cx="2377440" cy="457200"/>
          </a:xfrm>
          <a:prstGeom prst="rect">
            <a:avLst/>
          </a:prstGeom>
          <a:noFill/>
          <a:ln/>
        </p:spPr>
        <p:txBody>
          <a:bodyPr wrap="square" rtlCol="0" anchor="ctr"/>
          <a:lstStyle/>
          <a:p>
            <a:pPr indent="0" marL="0">
              <a:buNone/>
            </a:pPr>
            <a:r>
              <a:rPr lang="en-US" sz="900" dirty="0">
                <a:solidFill>
                  <a:srgbClr val="003049"/>
                </a:solidFill>
                <a:latin typeface="Microsoft YaHei" pitchFamily="34" charset="0"/>
                <a:ea typeface="Microsoft YaHei" pitchFamily="34" charset="-122"/>
                <a:cs typeface="Microsoft YaHei" pitchFamily="34" charset="-120"/>
              </a:rPr>
              <a:t>奥地利学派视角的自由市场伦理</a:t>
            </a:r>
            <a:endParaRPr lang="en-US" sz="900" dirty="0"/>
          </a:p>
        </p:txBody>
      </p:sp>
      <p:sp>
        <p:nvSpPr>
          <p:cNvPr id="39" name="Shape 37"/>
          <p:cNvSpPr/>
          <p:nvPr/>
        </p:nvSpPr>
        <p:spPr>
          <a:xfrm>
            <a:off x="8503920" y="4663440"/>
            <a:ext cx="365760" cy="365760"/>
          </a:xfrm>
          <a:prstGeom prst="ellipse">
            <a:avLst/>
          </a:prstGeom>
          <a:solidFill>
            <a:srgbClr val="C1121F"/>
          </a:solidFill>
          <a:ln/>
        </p:spPr>
      </p:sp>
      <p:sp>
        <p:nvSpPr>
          <p:cNvPr id="40" name="Text 3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780000"/>
        </a:solidFill>
      </p:bgPr>
    </p:bg>
    <p:spTree>
      <p:nvGrpSpPr>
        <p:cNvPr id="1" name=""/>
        <p:cNvGrpSpPr/>
        <p:nvPr/>
      </p:nvGrpSpPr>
      <p:grpSpPr>
        <a:xfrm>
          <a:off x="0" y="0"/>
          <a:ext cx="0" cy="0"/>
          <a:chOff x="0" y="0"/>
          <a:chExt cx="0" cy="0"/>
        </a:xfrm>
      </p:grpSpPr>
      <p:sp>
        <p:nvSpPr>
          <p:cNvPr id="2" name="Text 0"/>
          <p:cNvSpPr/>
          <p:nvPr/>
        </p:nvSpPr>
        <p:spPr>
          <a:xfrm>
            <a:off x="274320" y="457200"/>
            <a:ext cx="1371600" cy="1371600"/>
          </a:xfrm>
          <a:prstGeom prst="rect">
            <a:avLst/>
          </a:prstGeom>
          <a:noFill/>
          <a:ln/>
        </p:spPr>
        <p:txBody>
          <a:bodyPr wrap="square" rtlCol="0" anchor="ctr"/>
          <a:lstStyle/>
          <a:p>
            <a:pPr indent="0" marL="0">
              <a:buNone/>
            </a:pPr>
            <a:r>
              <a:rPr lang="en-US" sz="15000" dirty="0">
                <a:solidFill>
                  <a:srgbClr val="FDF0D5">
                    <a:alpha val="30000"/>
                  </a:srgbClr>
                </a:solidFill>
                <a:latin typeface="Georgia" pitchFamily="34" charset="0"/>
                <a:ea typeface="Georgia" pitchFamily="34" charset="-122"/>
                <a:cs typeface="Georgia" pitchFamily="34" charset="-120"/>
              </a:rPr>
              <a:t>“</a:t>
            </a:r>
            <a:endParaRPr lang="en-US" sz="15000" dirty="0"/>
          </a:p>
        </p:txBody>
      </p:sp>
      <p:sp>
        <p:nvSpPr>
          <p:cNvPr id="3" name="Text 1"/>
          <p:cNvSpPr/>
          <p:nvPr/>
        </p:nvSpPr>
        <p:spPr>
          <a:xfrm>
            <a:off x="457200" y="914400"/>
            <a:ext cx="8229600" cy="914400"/>
          </a:xfrm>
          <a:prstGeom prst="rect">
            <a:avLst/>
          </a:prstGeom>
          <a:noFill/>
          <a:ln/>
        </p:spPr>
        <p:txBody>
          <a:bodyPr wrap="square" rtlCol="0" anchor="ctr"/>
          <a:lstStyle/>
          <a:p>
            <a:pPr algn="ctr" indent="0" marL="0">
              <a:buNone/>
            </a:pPr>
            <a:r>
              <a:rPr lang="en-US" sz="4800" b="1" dirty="0">
                <a:solidFill>
                  <a:srgbClr val="FDF0D5"/>
                </a:solidFill>
                <a:latin typeface="Microsoft YaHei" pitchFamily="34" charset="0"/>
                <a:ea typeface="Microsoft YaHei" pitchFamily="34" charset="-122"/>
                <a:cs typeface="Microsoft YaHei" pitchFamily="34" charset="-120"/>
              </a:rPr>
              <a:t>站在斯密的肩膀上</a:t>
            </a:r>
            <a:endParaRPr lang="en-US" sz="4800" dirty="0"/>
          </a:p>
        </p:txBody>
      </p:sp>
      <p:sp>
        <p:nvSpPr>
          <p:cNvPr id="4" name="Text 2"/>
          <p:cNvSpPr/>
          <p:nvPr/>
        </p:nvSpPr>
        <p:spPr>
          <a:xfrm>
            <a:off x="457200" y="1691640"/>
            <a:ext cx="8229600" cy="640080"/>
          </a:xfrm>
          <a:prstGeom prst="rect">
            <a:avLst/>
          </a:prstGeom>
          <a:noFill/>
          <a:ln/>
        </p:spPr>
        <p:txBody>
          <a:bodyPr wrap="square" rtlCol="0" anchor="ctr"/>
          <a:lstStyle/>
          <a:p>
            <a:pPr algn="ctr" indent="0" marL="0">
              <a:buNone/>
            </a:pPr>
            <a:r>
              <a:rPr lang="en-US" sz="3200" dirty="0">
                <a:solidFill>
                  <a:srgbClr val="669BBC"/>
                </a:solidFill>
                <a:latin typeface="Microsoft YaHei" pitchFamily="34" charset="0"/>
                <a:ea typeface="Microsoft YaHei" pitchFamily="34" charset="-122"/>
                <a:cs typeface="Microsoft YaHei" pitchFamily="34" charset="-120"/>
              </a:rPr>
              <a:t>我们看得更远</a:t>
            </a:r>
            <a:endParaRPr lang="en-US" sz="3200" dirty="0"/>
          </a:p>
        </p:txBody>
      </p:sp>
      <p:sp>
        <p:nvSpPr>
          <p:cNvPr id="5" name="Shape 3"/>
          <p:cNvSpPr/>
          <p:nvPr/>
        </p:nvSpPr>
        <p:spPr>
          <a:xfrm>
            <a:off x="3200400" y="2468880"/>
            <a:ext cx="2743200" cy="36576"/>
          </a:xfrm>
          <a:prstGeom prst="rect">
            <a:avLst/>
          </a:prstGeom>
          <a:solidFill>
            <a:srgbClr val="C1121F"/>
          </a:solidFill>
          <a:ln/>
        </p:spPr>
      </p:sp>
      <p:sp>
        <p:nvSpPr>
          <p:cNvPr id="6" name="Shape 4"/>
          <p:cNvSpPr/>
          <p:nvPr/>
        </p:nvSpPr>
        <p:spPr>
          <a:xfrm>
            <a:off x="457200" y="2743200"/>
            <a:ext cx="2560320" cy="1371600"/>
          </a:xfrm>
          <a:prstGeom prst="rect">
            <a:avLst/>
          </a:prstGeom>
          <a:solidFill>
            <a:srgbClr val="FDF0D5"/>
          </a:solidFill>
          <a:ln/>
        </p:spPr>
      </p:sp>
      <p:sp>
        <p:nvSpPr>
          <p:cNvPr id="7" name="Text 5"/>
          <p:cNvSpPr/>
          <p:nvPr/>
        </p:nvSpPr>
        <p:spPr>
          <a:xfrm>
            <a:off x="548640" y="2834640"/>
            <a:ext cx="457200" cy="365760"/>
          </a:xfrm>
          <a:prstGeom prst="rect">
            <a:avLst/>
          </a:prstGeom>
          <a:noFill/>
          <a:ln/>
        </p:spPr>
        <p:txBody>
          <a:bodyPr wrap="square" rtlCol="0" anchor="ctr"/>
          <a:lstStyle/>
          <a:p>
            <a:pPr indent="0" marL="0">
              <a:buNone/>
            </a:pPr>
            <a:r>
              <a:rPr lang="en-US" sz="1800" b="1" dirty="0">
                <a:solidFill>
                  <a:srgbClr val="C1121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548640" y="3246120"/>
            <a:ext cx="2377440" cy="7772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斯密不只是"自由市场之父"，他是完整人性观的探索者</a:t>
            </a:r>
            <a:endParaRPr lang="en-US" sz="1100" dirty="0"/>
          </a:p>
        </p:txBody>
      </p:sp>
      <p:sp>
        <p:nvSpPr>
          <p:cNvPr id="9" name="Shape 7"/>
          <p:cNvSpPr/>
          <p:nvPr/>
        </p:nvSpPr>
        <p:spPr>
          <a:xfrm>
            <a:off x="3291840" y="2743200"/>
            <a:ext cx="2560320" cy="1371600"/>
          </a:xfrm>
          <a:prstGeom prst="rect">
            <a:avLst/>
          </a:prstGeom>
          <a:solidFill>
            <a:srgbClr val="FDF0D5"/>
          </a:solidFill>
          <a:ln/>
        </p:spPr>
      </p:sp>
      <p:sp>
        <p:nvSpPr>
          <p:cNvPr id="10" name="Text 8"/>
          <p:cNvSpPr/>
          <p:nvPr/>
        </p:nvSpPr>
        <p:spPr>
          <a:xfrm>
            <a:off x="3383280" y="2834640"/>
            <a:ext cx="457200" cy="365760"/>
          </a:xfrm>
          <a:prstGeom prst="rect">
            <a:avLst/>
          </a:prstGeom>
          <a:noFill/>
          <a:ln/>
        </p:spPr>
        <p:txBody>
          <a:bodyPr wrap="square" rtlCol="0" anchor="ctr"/>
          <a:lstStyle/>
          <a:p>
            <a:pPr indent="0" marL="0">
              <a:buNone/>
            </a:pPr>
            <a:r>
              <a:rPr lang="en-US" sz="1800" b="1" dirty="0">
                <a:solidFill>
                  <a:srgbClr val="C1121F"/>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3383280" y="3246120"/>
            <a:ext cx="2377440" cy="7772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市场与道德不可分离，理解斯密需要读他的全部著作</a:t>
            </a:r>
            <a:endParaRPr lang="en-US" sz="1100" dirty="0"/>
          </a:p>
        </p:txBody>
      </p:sp>
      <p:sp>
        <p:nvSpPr>
          <p:cNvPr id="12" name="Shape 10"/>
          <p:cNvSpPr/>
          <p:nvPr/>
        </p:nvSpPr>
        <p:spPr>
          <a:xfrm>
            <a:off x="6126480" y="2743200"/>
            <a:ext cx="2560320" cy="1371600"/>
          </a:xfrm>
          <a:prstGeom prst="rect">
            <a:avLst/>
          </a:prstGeom>
          <a:solidFill>
            <a:srgbClr val="FDF0D5"/>
          </a:solidFill>
          <a:ln/>
        </p:spPr>
      </p:sp>
      <p:sp>
        <p:nvSpPr>
          <p:cNvPr id="13" name="Text 11"/>
          <p:cNvSpPr/>
          <p:nvPr/>
        </p:nvSpPr>
        <p:spPr>
          <a:xfrm>
            <a:off x="6217920" y="2834640"/>
            <a:ext cx="457200" cy="365760"/>
          </a:xfrm>
          <a:prstGeom prst="rect">
            <a:avLst/>
          </a:prstGeom>
          <a:noFill/>
          <a:ln/>
        </p:spPr>
        <p:txBody>
          <a:bodyPr wrap="square" rtlCol="0" anchor="ctr"/>
          <a:lstStyle/>
          <a:p>
            <a:pPr indent="0" marL="0">
              <a:buNone/>
            </a:pPr>
            <a:r>
              <a:rPr lang="en-US" sz="1800" b="1" dirty="0">
                <a:solidFill>
                  <a:srgbClr val="C1121F"/>
                </a:solidFill>
                <a:latin typeface="Georgia" pitchFamily="34" charset="0"/>
                <a:ea typeface="Georgia" pitchFamily="34" charset="-122"/>
                <a:cs typeface="Georgia" pitchFamily="34" charset="-120"/>
              </a:rPr>
              <a:t>03</a:t>
            </a:r>
            <a:endParaRPr lang="en-US" sz="1800" dirty="0"/>
          </a:p>
        </p:txBody>
      </p:sp>
      <p:sp>
        <p:nvSpPr>
          <p:cNvPr id="14" name="Text 12"/>
          <p:cNvSpPr/>
          <p:nvPr/>
        </p:nvSpPr>
        <p:spPr>
          <a:xfrm>
            <a:off x="6217920" y="3246120"/>
            <a:ext cx="2377440" cy="7772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理解斯密是理解经济思想史的起点，而非终点</a:t>
            </a:r>
            <a:endParaRPr lang="en-US" sz="1100" dirty="0"/>
          </a:p>
        </p:txBody>
      </p:sp>
      <p:sp>
        <p:nvSpPr>
          <p:cNvPr id="15" name="Text 13"/>
          <p:cNvSpPr/>
          <p:nvPr/>
        </p:nvSpPr>
        <p:spPr>
          <a:xfrm>
            <a:off x="457200" y="4297680"/>
            <a:ext cx="8229600" cy="457200"/>
          </a:xfrm>
          <a:prstGeom prst="rect">
            <a:avLst/>
          </a:prstGeom>
          <a:noFill/>
          <a:ln/>
        </p:spPr>
        <p:txBody>
          <a:bodyPr wrap="square" rtlCol="0" anchor="ctr"/>
          <a:lstStyle/>
          <a:p>
            <a:pPr algn="ctr" indent="0" marL="0">
              <a:buNone/>
            </a:pPr>
            <a:r>
              <a:rPr lang="en-US" sz="2000" dirty="0">
                <a:solidFill>
                  <a:srgbClr val="669BBC"/>
                </a:solidFill>
                <a:latin typeface="Microsoft YaHei" pitchFamily="34" charset="0"/>
                <a:ea typeface="Microsoft YaHei" pitchFamily="34" charset="-122"/>
                <a:cs typeface="Microsoft YaHei" pitchFamily="34" charset="-120"/>
              </a:rPr>
              <a:t>感谢聆听</a:t>
            </a:r>
            <a:endParaRPr lang="en-US" sz="2000" dirty="0"/>
          </a:p>
        </p:txBody>
      </p:sp>
      <p:sp>
        <p:nvSpPr>
          <p:cNvPr id="16" name="Shape 14"/>
          <p:cNvSpPr/>
          <p:nvPr/>
        </p:nvSpPr>
        <p:spPr>
          <a:xfrm>
            <a:off x="8503920" y="4663440"/>
            <a:ext cx="365760" cy="365760"/>
          </a:xfrm>
          <a:prstGeom prst="ellipse">
            <a:avLst/>
          </a:prstGeom>
          <a:solidFill>
            <a:srgbClr val="C1121F"/>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780000"/>
          </a:solidFill>
          <a:ln/>
        </p:spPr>
      </p:sp>
      <p:sp>
        <p:nvSpPr>
          <p:cNvPr id="3" name="Text 1"/>
          <p:cNvSpPr/>
          <p:nvPr/>
        </p:nvSpPr>
        <p:spPr>
          <a:xfrm>
            <a:off x="457200" y="274320"/>
            <a:ext cx="1828800" cy="548640"/>
          </a:xfrm>
          <a:prstGeom prst="rect">
            <a:avLst/>
          </a:prstGeom>
          <a:noFill/>
          <a:ln/>
        </p:spPr>
        <p:txBody>
          <a:bodyPr wrap="square"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模块五</a:t>
            </a:r>
            <a:endParaRPr lang="en-US" sz="1800" dirty="0"/>
          </a:p>
        </p:txBody>
      </p:sp>
      <p:sp>
        <p:nvSpPr>
          <p:cNvPr id="4" name="Text 2"/>
          <p:cNvSpPr/>
          <p:nvPr/>
        </p:nvSpPr>
        <p:spPr>
          <a:xfrm>
            <a:off x="457200" y="1463040"/>
            <a:ext cx="8229600" cy="1097280"/>
          </a:xfrm>
          <a:prstGeom prst="rect">
            <a:avLst/>
          </a:prstGeom>
          <a:noFill/>
          <a:ln/>
        </p:spPr>
        <p:txBody>
          <a:bodyPr wrap="square" rtlCol="0" anchor="ctr"/>
          <a:lstStyle/>
          <a:p>
            <a:pPr indent="0" marL="0">
              <a:buNone/>
            </a:pPr>
            <a:r>
              <a:rPr lang="en-US" sz="5400" b="1" dirty="0">
                <a:solidFill>
                  <a:srgbClr val="780000"/>
                </a:solidFill>
                <a:latin typeface="Georgia" pitchFamily="34" charset="0"/>
                <a:ea typeface="Georgia" pitchFamily="34" charset="-122"/>
                <a:cs typeface="Georgia" pitchFamily="34" charset="-120"/>
              </a:rPr>
              <a:t>互动与讨论</a:t>
            </a:r>
            <a:endParaRPr lang="en-US" sz="5400" dirty="0"/>
          </a:p>
        </p:txBody>
      </p:sp>
      <p:sp>
        <p:nvSpPr>
          <p:cNvPr id="5" name="Text 3"/>
          <p:cNvSpPr/>
          <p:nvPr/>
        </p:nvSpPr>
        <p:spPr>
          <a:xfrm>
            <a:off x="457200" y="2560320"/>
            <a:ext cx="8229600" cy="548640"/>
          </a:xfrm>
          <a:prstGeom prst="rect">
            <a:avLst/>
          </a:prstGeom>
          <a:noFill/>
          <a:ln/>
        </p:spPr>
        <p:txBody>
          <a:bodyPr wrap="square" rtlCol="0" anchor="ctr"/>
          <a:lstStyle/>
          <a:p>
            <a:pPr indent="0" marL="0">
              <a:buNone/>
            </a:pPr>
            <a:r>
              <a:rPr lang="en-US" sz="2400" i="1" dirty="0">
                <a:solidFill>
                  <a:srgbClr val="003049"/>
                </a:solidFill>
                <a:latin typeface="Georgia" pitchFamily="34" charset="0"/>
                <a:ea typeface="Georgia" pitchFamily="34" charset="-122"/>
                <a:cs typeface="Georgia" pitchFamily="34" charset="-120"/>
              </a:rPr>
              <a:t>Discussion &amp; Exercises</a:t>
            </a:r>
            <a:endParaRPr lang="en-US" sz="2400" dirty="0"/>
          </a:p>
        </p:txBody>
      </p:sp>
      <p:sp>
        <p:nvSpPr>
          <p:cNvPr id="6" name="Shape 4"/>
          <p:cNvSpPr/>
          <p:nvPr/>
        </p:nvSpPr>
        <p:spPr>
          <a:xfrm>
            <a:off x="457200" y="3291840"/>
            <a:ext cx="2743200" cy="45720"/>
          </a:xfrm>
          <a:prstGeom prst="rect">
            <a:avLst/>
          </a:prstGeom>
          <a:solidFill>
            <a:srgbClr val="C1121F"/>
          </a:solidFill>
          <a:ln/>
        </p:spPr>
      </p:sp>
      <p:sp>
        <p:nvSpPr>
          <p:cNvPr id="7" name="Text 5"/>
          <p:cNvSpPr/>
          <p:nvPr/>
        </p:nvSpPr>
        <p:spPr>
          <a:xfrm>
            <a:off x="457200" y="3657600"/>
            <a:ext cx="8229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 四大讨论问题：斯密的误读、市场边界、自发秩序、信息时代</a:t>
            </a:r>
            <a:endParaRPr lang="en-US" sz="1600" dirty="0"/>
          </a:p>
        </p:txBody>
      </p:sp>
      <p:sp>
        <p:nvSpPr>
          <p:cNvPr id="8" name="Text 6"/>
          <p:cNvSpPr/>
          <p:nvPr/>
        </p:nvSpPr>
        <p:spPr>
          <a:xfrm>
            <a:off x="457200" y="4069080"/>
            <a:ext cx="8229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 五大练习：流派匹配、判断对错、谱系图绘制、案例分析、概念解释</a:t>
            </a:r>
            <a:endParaRPr lang="en-US" sz="1600" dirty="0"/>
          </a:p>
        </p:txBody>
      </p:sp>
      <p:sp>
        <p:nvSpPr>
          <p:cNvPr id="9" name="Text 7"/>
          <p:cNvSpPr/>
          <p:nvPr/>
        </p:nvSpPr>
        <p:spPr>
          <a:xfrm>
            <a:off x="457200" y="4480560"/>
            <a:ext cx="8229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 课程全景回顾与延伸学习路径</a:t>
            </a:r>
            <a:endParaRPr lang="en-US" sz="1600" dirty="0"/>
          </a:p>
        </p:txBody>
      </p:sp>
      <p:sp>
        <p:nvSpPr>
          <p:cNvPr id="10" name="Shape 8"/>
          <p:cNvSpPr/>
          <p:nvPr/>
        </p:nvSpPr>
        <p:spPr>
          <a:xfrm>
            <a:off x="8503920" y="4663440"/>
            <a:ext cx="365760" cy="365760"/>
          </a:xfrm>
          <a:prstGeom prst="ellipse">
            <a:avLst/>
          </a:prstGeom>
          <a:solidFill>
            <a:srgbClr val="C1121F"/>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讨论问题一</a:t>
            </a:r>
            <a:endParaRPr lang="en-US" sz="1400" dirty="0"/>
          </a:p>
        </p:txBody>
      </p:sp>
      <p:sp>
        <p:nvSpPr>
          <p:cNvPr id="4" name="Text 2"/>
          <p:cNvSpPr/>
          <p:nvPr/>
        </p:nvSpPr>
        <p:spPr>
          <a:xfrm>
            <a:off x="457200" y="1097280"/>
            <a:ext cx="8229600" cy="73152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斯密的误读</a:t>
            </a:r>
            <a:endParaRPr lang="en-US" sz="3600" dirty="0"/>
          </a:p>
        </p:txBody>
      </p:sp>
      <p:sp>
        <p:nvSpPr>
          <p:cNvPr id="5" name="Shape 3"/>
          <p:cNvSpPr/>
          <p:nvPr/>
        </p:nvSpPr>
        <p:spPr>
          <a:xfrm>
            <a:off x="457200" y="1920240"/>
            <a:ext cx="8229600" cy="1188720"/>
          </a:xfrm>
          <a:prstGeom prst="rect">
            <a:avLst/>
          </a:prstGeom>
          <a:solidFill>
            <a:srgbClr val="FFFFFF"/>
          </a:solidFill>
          <a:ln w="25400">
            <a:solidFill>
              <a:srgbClr val="C1121F"/>
            </a:solidFill>
            <a:prstDash val="solid"/>
          </a:ln>
        </p:spPr>
      </p:sp>
      <p:sp>
        <p:nvSpPr>
          <p:cNvPr id="6" name="Text 4"/>
          <p:cNvSpPr/>
          <p:nvPr/>
        </p:nvSpPr>
        <p:spPr>
          <a:xfrm>
            <a:off x="640080" y="2011680"/>
            <a:ext cx="18288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核心问题</a:t>
            </a:r>
            <a:endParaRPr lang="en-US" sz="1200" dirty="0"/>
          </a:p>
        </p:txBody>
      </p:sp>
      <p:sp>
        <p:nvSpPr>
          <p:cNvPr id="7" name="Text 5"/>
          <p:cNvSpPr/>
          <p:nvPr/>
        </p:nvSpPr>
        <p:spPr>
          <a:xfrm>
            <a:off x="640080" y="2331720"/>
            <a:ext cx="7863840" cy="640080"/>
          </a:xfrm>
          <a:prstGeom prst="rect">
            <a:avLst/>
          </a:prstGeom>
          <a:noFill/>
          <a:ln/>
        </p:spPr>
        <p:txBody>
          <a:bodyPr wrap="square" rtlCol="0" anchor="ctr"/>
          <a:lstStyle/>
          <a:p>
            <a:pPr indent="0" marL="0">
              <a:buNone/>
            </a:pPr>
            <a:r>
              <a:rPr lang="en-US" sz="2000" dirty="0">
                <a:solidFill>
                  <a:srgbClr val="003049"/>
                </a:solidFill>
                <a:latin typeface="Microsoft YaHei" pitchFamily="34" charset="0"/>
                <a:ea typeface="Microsoft YaHei" pitchFamily="34" charset="-122"/>
                <a:cs typeface="Microsoft YaHei" pitchFamily="34" charset="-120"/>
              </a:rPr>
              <a:t>斯密真的说过自私是美德吗？他被误读了多远？</a:t>
            </a:r>
            <a:endParaRPr lang="en-US" sz="2000" dirty="0"/>
          </a:p>
        </p:txBody>
      </p:sp>
      <p:sp>
        <p:nvSpPr>
          <p:cNvPr id="8" name="Text 6"/>
          <p:cNvSpPr/>
          <p:nvPr/>
        </p:nvSpPr>
        <p:spPr>
          <a:xfrm>
            <a:off x="457200" y="3291840"/>
            <a:ext cx="1097280" cy="41148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误读一</a:t>
            </a:r>
            <a:endParaRPr lang="en-US" sz="1400" dirty="0"/>
          </a:p>
        </p:txBody>
      </p:sp>
      <p:sp>
        <p:nvSpPr>
          <p:cNvPr id="9" name="Text 7"/>
          <p:cNvSpPr/>
          <p:nvPr/>
        </p:nvSpPr>
        <p:spPr>
          <a:xfrm>
            <a:off x="1554480" y="3291840"/>
            <a:ext cx="7132320" cy="41148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斯密是'自私的鼓吹者'——这个标签从何而来？</a:t>
            </a:r>
            <a:endParaRPr lang="en-US" sz="1400" dirty="0"/>
          </a:p>
        </p:txBody>
      </p:sp>
      <p:sp>
        <p:nvSpPr>
          <p:cNvPr id="10" name="Text 8"/>
          <p:cNvSpPr/>
          <p:nvPr/>
        </p:nvSpPr>
        <p:spPr>
          <a:xfrm>
            <a:off x="457200" y="3794760"/>
            <a:ext cx="1097280" cy="41148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误读二</a:t>
            </a:r>
            <a:endParaRPr lang="en-US" sz="1400" dirty="0"/>
          </a:p>
        </p:txBody>
      </p:sp>
      <p:sp>
        <p:nvSpPr>
          <p:cNvPr id="11" name="Text 9"/>
          <p:cNvSpPr/>
          <p:nvPr/>
        </p:nvSpPr>
        <p:spPr>
          <a:xfrm>
            <a:off x="1554480" y="3794760"/>
            <a:ext cx="7132320" cy="41148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《国富论》vs《道德情操论》：两本书的自私观是否矛盾？</a:t>
            </a:r>
            <a:endParaRPr lang="en-US" sz="1400" dirty="0"/>
          </a:p>
        </p:txBody>
      </p:sp>
      <p:sp>
        <p:nvSpPr>
          <p:cNvPr id="12" name="Text 10"/>
          <p:cNvSpPr/>
          <p:nvPr/>
        </p:nvSpPr>
        <p:spPr>
          <a:xfrm>
            <a:off x="457200" y="4297680"/>
            <a:ext cx="1097280" cy="41148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误读三</a:t>
            </a:r>
            <a:endParaRPr lang="en-US" sz="1400" dirty="0"/>
          </a:p>
        </p:txBody>
      </p:sp>
      <p:sp>
        <p:nvSpPr>
          <p:cNvPr id="13" name="Text 11"/>
          <p:cNvSpPr/>
          <p:nvPr/>
        </p:nvSpPr>
        <p:spPr>
          <a:xfrm>
            <a:off x="1554480" y="4297680"/>
            <a:ext cx="7132320" cy="41148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'看不见的手'被用来为市场原教旨主义背书，斯密会同意吗？</a:t>
            </a:r>
            <a:endParaRPr lang="en-US" sz="1400" dirty="0"/>
          </a:p>
        </p:txBody>
      </p:sp>
      <p:sp>
        <p:nvSpPr>
          <p:cNvPr id="14" name="Text 12"/>
          <p:cNvSpPr/>
          <p:nvPr/>
        </p:nvSpPr>
        <p:spPr>
          <a:xfrm>
            <a:off x="457200" y="4800600"/>
            <a:ext cx="1097280" cy="41148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讨论</a:t>
            </a:r>
            <a:endParaRPr lang="en-US" sz="1400" dirty="0"/>
          </a:p>
        </p:txBody>
      </p:sp>
      <p:sp>
        <p:nvSpPr>
          <p:cNvPr id="15" name="Text 13"/>
          <p:cNvSpPr/>
          <p:nvPr/>
        </p:nvSpPr>
        <p:spPr>
          <a:xfrm>
            <a:off x="1554480" y="4800600"/>
            <a:ext cx="7132320" cy="41148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为什么会出现'经济人假设'这样的简化？你能举出身边的例子吗？</a:t>
            </a:r>
            <a:endParaRPr lang="en-US" sz="1400" dirty="0"/>
          </a:p>
        </p:txBody>
      </p:sp>
      <p:sp>
        <p:nvSpPr>
          <p:cNvPr id="16" name="Shape 14"/>
          <p:cNvSpPr/>
          <p:nvPr/>
        </p:nvSpPr>
        <p:spPr>
          <a:xfrm>
            <a:off x="8503920" y="4663440"/>
            <a:ext cx="365760" cy="365760"/>
          </a:xfrm>
          <a:prstGeom prst="ellipse">
            <a:avLst/>
          </a:prstGeom>
          <a:solidFill>
            <a:srgbClr val="C1121F"/>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讨论问题二</a:t>
            </a:r>
            <a:endParaRPr lang="en-US" sz="1400" dirty="0"/>
          </a:p>
        </p:txBody>
      </p:sp>
      <p:sp>
        <p:nvSpPr>
          <p:cNvPr id="4" name="Text 2"/>
          <p:cNvSpPr/>
          <p:nvPr/>
        </p:nvSpPr>
        <p:spPr>
          <a:xfrm>
            <a:off x="457200" y="1097280"/>
            <a:ext cx="8229600" cy="73152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市场的边界</a:t>
            </a:r>
            <a:endParaRPr lang="en-US" sz="3600" dirty="0"/>
          </a:p>
        </p:txBody>
      </p:sp>
      <p:sp>
        <p:nvSpPr>
          <p:cNvPr id="5" name="Shape 3"/>
          <p:cNvSpPr/>
          <p:nvPr/>
        </p:nvSpPr>
        <p:spPr>
          <a:xfrm>
            <a:off x="457200" y="1920240"/>
            <a:ext cx="8229600" cy="1188720"/>
          </a:xfrm>
          <a:prstGeom prst="rect">
            <a:avLst/>
          </a:prstGeom>
          <a:solidFill>
            <a:srgbClr val="FFFFFF"/>
          </a:solidFill>
          <a:ln w="25400">
            <a:solidFill>
              <a:srgbClr val="C1121F"/>
            </a:solidFill>
            <a:prstDash val="solid"/>
          </a:ln>
        </p:spPr>
      </p:sp>
      <p:sp>
        <p:nvSpPr>
          <p:cNvPr id="6" name="Text 4"/>
          <p:cNvSpPr/>
          <p:nvPr/>
        </p:nvSpPr>
        <p:spPr>
          <a:xfrm>
            <a:off x="640080" y="2011680"/>
            <a:ext cx="18288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核心问题</a:t>
            </a:r>
            <a:endParaRPr lang="en-US" sz="1200" dirty="0"/>
          </a:p>
        </p:txBody>
      </p:sp>
      <p:sp>
        <p:nvSpPr>
          <p:cNvPr id="7" name="Text 5"/>
          <p:cNvSpPr/>
          <p:nvPr/>
        </p:nvSpPr>
        <p:spPr>
          <a:xfrm>
            <a:off x="640080" y="2331720"/>
            <a:ext cx="7863840" cy="640080"/>
          </a:xfrm>
          <a:prstGeom prst="rect">
            <a:avLst/>
          </a:prstGeom>
          <a:noFill/>
          <a:ln/>
        </p:spPr>
        <p:txBody>
          <a:bodyPr wrap="square" rtlCol="0" anchor="ctr"/>
          <a:lstStyle/>
          <a:p>
            <a:pPr indent="0" marL="0">
              <a:buNone/>
            </a:pPr>
            <a:r>
              <a:rPr lang="en-US" sz="2000" dirty="0">
                <a:solidFill>
                  <a:srgbClr val="003049"/>
                </a:solidFill>
                <a:latin typeface="Microsoft YaHei" pitchFamily="34" charset="0"/>
                <a:ea typeface="Microsoft YaHei" pitchFamily="34" charset="-122"/>
                <a:cs typeface="Microsoft YaHei" pitchFamily="34" charset="-120"/>
              </a:rPr>
              <a:t>斯密时代的市场与现代市场经济，他的思想还能指导我们到哪里？</a:t>
            </a:r>
            <a:endParaRPr lang="en-US" sz="2000" dirty="0"/>
          </a:p>
        </p:txBody>
      </p:sp>
      <p:sp>
        <p:nvSpPr>
          <p:cNvPr id="8" name="Shape 6"/>
          <p:cNvSpPr/>
          <p:nvPr/>
        </p:nvSpPr>
        <p:spPr>
          <a:xfrm>
            <a:off x="457200" y="3200400"/>
            <a:ext cx="3931920" cy="1554480"/>
          </a:xfrm>
          <a:prstGeom prst="rect">
            <a:avLst/>
          </a:prstGeom>
          <a:solidFill>
            <a:srgbClr val="003049"/>
          </a:solidFill>
          <a:ln/>
          <a:effectLst>
            <a:outerShdw sx="100000" sy="100000" kx="0" ky="0" algn="bl" rotWithShape="0" blurRad="38100" dist="25400" dir="2700000">
              <a:srgbClr val="000000">
                <a:alpha val="20000"/>
              </a:srgbClr>
            </a:outerShdw>
          </a:effectLst>
        </p:spPr>
      </p:sp>
      <p:sp>
        <p:nvSpPr>
          <p:cNvPr id="9" name="Text 7"/>
          <p:cNvSpPr/>
          <p:nvPr/>
        </p:nvSpPr>
        <p:spPr>
          <a:xfrm>
            <a:off x="640080" y="3291840"/>
            <a:ext cx="3657600" cy="36576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斯密的边界观</a:t>
            </a:r>
            <a:endParaRPr lang="en-US" sz="1400" dirty="0"/>
          </a:p>
        </p:txBody>
      </p:sp>
      <p:sp>
        <p:nvSpPr>
          <p:cNvPr id="10" name="Text 8"/>
          <p:cNvSpPr/>
          <p:nvPr/>
        </p:nvSpPr>
        <p:spPr>
          <a:xfrm>
            <a:off x="640080" y="3657600"/>
            <a:ext cx="3657600" cy="100584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 市场经济有其自然边界</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政府职能：国防、司法、公共工程</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反对垄断与特权</a:t>
            </a:r>
            <a:endParaRPr lang="en-US" sz="1300" dirty="0"/>
          </a:p>
        </p:txBody>
      </p:sp>
      <p:sp>
        <p:nvSpPr>
          <p:cNvPr id="11" name="Shape 9"/>
          <p:cNvSpPr/>
          <p:nvPr/>
        </p:nvSpPr>
        <p:spPr>
          <a:xfrm>
            <a:off x="4754880" y="3200400"/>
            <a:ext cx="3931920" cy="1554480"/>
          </a:xfrm>
          <a:prstGeom prst="rect">
            <a:avLst/>
          </a:prstGeom>
          <a:solidFill>
            <a:srgbClr val="669BBC"/>
          </a:solidFill>
          <a:ln/>
          <a:effectLst>
            <a:outerShdw sx="100000" sy="100000" kx="0" ky="0" algn="bl" rotWithShape="0" blurRad="38100" dist="25400" dir="2700000">
              <a:srgbClr val="000000">
                <a:alpha val="20000"/>
              </a:srgbClr>
            </a:outerShdw>
          </a:effectLst>
        </p:spPr>
      </p:sp>
      <p:sp>
        <p:nvSpPr>
          <p:cNvPr id="12" name="Text 10"/>
          <p:cNvSpPr/>
          <p:nvPr/>
        </p:nvSpPr>
        <p:spPr>
          <a:xfrm>
            <a:off x="4937760" y="3291840"/>
            <a:ext cx="365760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现代边界争议</a:t>
            </a:r>
            <a:endParaRPr lang="en-US" sz="1400" dirty="0"/>
          </a:p>
        </p:txBody>
      </p:sp>
      <p:sp>
        <p:nvSpPr>
          <p:cNvPr id="13" name="Text 11"/>
          <p:cNvSpPr/>
          <p:nvPr/>
        </p:nvSpPr>
        <p:spPr>
          <a:xfrm>
            <a:off x="4937760" y="3657600"/>
            <a:ext cx="3657600" cy="1005840"/>
          </a:xfrm>
          <a:prstGeom prst="rect">
            <a:avLst/>
          </a:prstGeom>
          <a:noFill/>
          <a:ln/>
        </p:spPr>
        <p:txBody>
          <a:bodyPr wrap="square" rtlCol="0" anchor="ctr"/>
          <a:lstStyle/>
          <a:p>
            <a:pPr indent="0" marL="0">
              <a:buNone/>
            </a:pPr>
            <a:r>
              <a:rPr lang="en-US" sz="1300" dirty="0">
                <a:solidFill>
                  <a:srgbClr val="780000"/>
                </a:solidFill>
                <a:latin typeface="Microsoft YaHei" pitchFamily="34" charset="0"/>
                <a:ea typeface="Microsoft YaHei" pitchFamily="34" charset="-122"/>
                <a:cs typeface="Microsoft YaHei" pitchFamily="34" charset="-120"/>
              </a:rPr>
              <a:t>• 市场失灵：外部性、 信息不对称</a:t>
            </a:r>
            <a:endParaRPr lang="en-US" sz="1300" dirty="0"/>
          </a:p>
          <a:p>
            <a:pPr indent="0" marL="0">
              <a:buNone/>
            </a:pPr>
            <a:r>
              <a:rPr lang="en-US" sz="1300" dirty="0">
                <a:solidFill>
                  <a:srgbClr val="780000"/>
                </a:solidFill>
                <a:latin typeface="Microsoft YaHei" pitchFamily="34" charset="0"/>
                <a:ea typeface="Microsoft YaHei" pitchFamily="34" charset="-122"/>
                <a:cs typeface="Microsoft YaHei" pitchFamily="34" charset="-120"/>
              </a:rPr>
              <a:t>• 公共品供给不足</a:t>
            </a:r>
            <a:endParaRPr lang="en-US" sz="1300" dirty="0"/>
          </a:p>
          <a:p>
            <a:pPr indent="0" marL="0">
              <a:buNone/>
            </a:pPr>
            <a:r>
              <a:rPr lang="en-US" sz="1300" dirty="0">
                <a:solidFill>
                  <a:srgbClr val="780000"/>
                </a:solidFill>
                <a:latin typeface="Microsoft YaHei" pitchFamily="34" charset="0"/>
                <a:ea typeface="Microsoft YaHei" pitchFamily="34" charset="-122"/>
                <a:cs typeface="Microsoft YaHei" pitchFamily="34" charset="-120"/>
              </a:rPr>
              <a:t>• 平台经济的垄断新形态</a:t>
            </a:r>
            <a:endParaRPr lang="en-US" sz="1300" dirty="0"/>
          </a:p>
        </p:txBody>
      </p:sp>
      <p:sp>
        <p:nvSpPr>
          <p:cNvPr id="14" name="Shape 12"/>
          <p:cNvSpPr/>
          <p:nvPr/>
        </p:nvSpPr>
        <p:spPr>
          <a:xfrm>
            <a:off x="8503920" y="4663440"/>
            <a:ext cx="365760" cy="365760"/>
          </a:xfrm>
          <a:prstGeom prst="ellipse">
            <a:avLst/>
          </a:prstGeom>
          <a:solidFill>
            <a:srgbClr val="C1121F"/>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讨论问题三</a:t>
            </a:r>
            <a:endParaRPr lang="en-US" sz="1400" dirty="0"/>
          </a:p>
        </p:txBody>
      </p:sp>
      <p:sp>
        <p:nvSpPr>
          <p:cNvPr id="4" name="Text 2"/>
          <p:cNvSpPr/>
          <p:nvPr/>
        </p:nvSpPr>
        <p:spPr>
          <a:xfrm>
            <a:off x="457200" y="1097280"/>
            <a:ext cx="8229600" cy="73152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自发秩序与设计</a:t>
            </a:r>
            <a:endParaRPr lang="en-US" sz="3600" dirty="0"/>
          </a:p>
        </p:txBody>
      </p:sp>
      <p:sp>
        <p:nvSpPr>
          <p:cNvPr id="5" name="Shape 3"/>
          <p:cNvSpPr/>
          <p:nvPr/>
        </p:nvSpPr>
        <p:spPr>
          <a:xfrm>
            <a:off x="457200" y="1920240"/>
            <a:ext cx="8229600" cy="1188720"/>
          </a:xfrm>
          <a:prstGeom prst="rect">
            <a:avLst/>
          </a:prstGeom>
          <a:solidFill>
            <a:srgbClr val="FFFFFF"/>
          </a:solidFill>
          <a:ln w="25400">
            <a:solidFill>
              <a:srgbClr val="C1121F"/>
            </a:solidFill>
            <a:prstDash val="solid"/>
          </a:ln>
        </p:spPr>
      </p:sp>
      <p:sp>
        <p:nvSpPr>
          <p:cNvPr id="6" name="Text 4"/>
          <p:cNvSpPr/>
          <p:nvPr/>
        </p:nvSpPr>
        <p:spPr>
          <a:xfrm>
            <a:off x="640080" y="2011680"/>
            <a:ext cx="18288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核心问题</a:t>
            </a:r>
            <a:endParaRPr lang="en-US" sz="1200" dirty="0"/>
          </a:p>
        </p:txBody>
      </p:sp>
      <p:sp>
        <p:nvSpPr>
          <p:cNvPr id="7" name="Text 5"/>
          <p:cNvSpPr/>
          <p:nvPr/>
        </p:nvSpPr>
        <p:spPr>
          <a:xfrm>
            <a:off x="640080" y="2331720"/>
            <a:ext cx="7863840" cy="640080"/>
          </a:xfrm>
          <a:prstGeom prst="rect">
            <a:avLst/>
          </a:prstGeom>
          <a:noFill/>
          <a:ln/>
        </p:spPr>
        <p:txBody>
          <a:bodyPr wrap="square" rtlCol="0" anchor="ctr"/>
          <a:lstStyle/>
          <a:p>
            <a:pPr indent="0" marL="0">
              <a:buNone/>
            </a:pPr>
            <a:r>
              <a:rPr lang="en-US" sz="2000" dirty="0">
                <a:solidFill>
                  <a:srgbClr val="003049"/>
                </a:solidFill>
                <a:latin typeface="Microsoft YaHei" pitchFamily="34" charset="0"/>
                <a:ea typeface="Microsoft YaHei" pitchFamily="34" charset="-122"/>
                <a:cs typeface="Microsoft YaHei" pitchFamily="34" charset="-120"/>
              </a:rPr>
              <a:t>社会秩序是从自由竞争中自发涌现，还是需要精心设计？</a:t>
            </a:r>
            <a:endParaRPr lang="en-US" sz="2000" dirty="0"/>
          </a:p>
        </p:txBody>
      </p:sp>
      <p:sp>
        <p:nvSpPr>
          <p:cNvPr id="8" name="Text 6"/>
          <p:cNvSpPr/>
          <p:nvPr/>
        </p:nvSpPr>
        <p:spPr>
          <a:xfrm>
            <a:off x="457200" y="3200400"/>
            <a:ext cx="1645920" cy="365760"/>
          </a:xfrm>
          <a:prstGeom prst="rect">
            <a:avLst/>
          </a:prstGeom>
          <a:noFill/>
          <a:ln/>
        </p:spPr>
        <p:txBody>
          <a:bodyPr wrap="square" rtlCol="0" anchor="ctr"/>
          <a:lstStyle/>
          <a:p>
            <a:pPr algn="l" indent="0" marL="0">
              <a:buNone/>
            </a:pPr>
            <a:r>
              <a:rPr lang="en-US" sz="1200" dirty="0">
                <a:solidFill>
                  <a:srgbClr val="669BBC"/>
                </a:solidFill>
                <a:latin typeface="Microsoft YaHei" pitchFamily="34" charset="0"/>
                <a:ea typeface="Microsoft YaHei" pitchFamily="34" charset="-122"/>
                <a:cs typeface="Microsoft YaHei" pitchFamily="34" charset="-120"/>
              </a:rPr>
              <a:t>极简设计</a:t>
            </a:r>
            <a:endParaRPr lang="en-US" sz="1200" dirty="0"/>
          </a:p>
        </p:txBody>
      </p:sp>
      <p:sp>
        <p:nvSpPr>
          <p:cNvPr id="9" name="Text 7"/>
          <p:cNvSpPr/>
          <p:nvPr/>
        </p:nvSpPr>
        <p:spPr>
          <a:xfrm>
            <a:off x="7040880" y="3200400"/>
            <a:ext cx="1645920" cy="365760"/>
          </a:xfrm>
          <a:prstGeom prst="rect">
            <a:avLst/>
          </a:prstGeom>
          <a:noFill/>
          <a:ln/>
        </p:spPr>
        <p:txBody>
          <a:bodyPr wrap="square" rtlCol="0" anchor="ctr"/>
          <a:lstStyle/>
          <a:p>
            <a:pPr algn="r" indent="0" marL="0">
              <a:buNone/>
            </a:pPr>
            <a:r>
              <a:rPr lang="en-US" sz="1200" dirty="0">
                <a:solidFill>
                  <a:srgbClr val="669BBC"/>
                </a:solidFill>
                <a:latin typeface="Microsoft YaHei" pitchFamily="34" charset="0"/>
                <a:ea typeface="Microsoft YaHei" pitchFamily="34" charset="-122"/>
                <a:cs typeface="Microsoft YaHei" pitchFamily="34" charset="-120"/>
              </a:rPr>
              <a:t>自发涌现</a:t>
            </a:r>
            <a:endParaRPr lang="en-US" sz="1200" dirty="0"/>
          </a:p>
        </p:txBody>
      </p:sp>
      <p:sp>
        <p:nvSpPr>
          <p:cNvPr id="10" name="Shape 8"/>
          <p:cNvSpPr/>
          <p:nvPr/>
        </p:nvSpPr>
        <p:spPr>
          <a:xfrm>
            <a:off x="2103120" y="3200400"/>
            <a:ext cx="1371600" cy="274320"/>
          </a:xfrm>
          <a:prstGeom prst="rect">
            <a:avLst/>
          </a:prstGeom>
          <a:solidFill>
            <a:srgbClr val="003049"/>
          </a:solidFill>
          <a:ln/>
        </p:spPr>
      </p:sp>
      <p:sp>
        <p:nvSpPr>
          <p:cNvPr id="11" name="Shape 9"/>
          <p:cNvSpPr/>
          <p:nvPr/>
        </p:nvSpPr>
        <p:spPr>
          <a:xfrm>
            <a:off x="3474720" y="3200400"/>
            <a:ext cx="1371600" cy="274320"/>
          </a:xfrm>
          <a:prstGeom prst="rect">
            <a:avLst/>
          </a:prstGeom>
          <a:solidFill>
            <a:srgbClr val="669BBC"/>
          </a:solidFill>
          <a:ln/>
        </p:spPr>
      </p:sp>
      <p:sp>
        <p:nvSpPr>
          <p:cNvPr id="12" name="Shape 10"/>
          <p:cNvSpPr/>
          <p:nvPr/>
        </p:nvSpPr>
        <p:spPr>
          <a:xfrm>
            <a:off x="4846320" y="3200400"/>
            <a:ext cx="1371600" cy="274320"/>
          </a:xfrm>
          <a:prstGeom prst="rect">
            <a:avLst/>
          </a:prstGeom>
          <a:solidFill>
            <a:srgbClr val="C1121F"/>
          </a:solidFill>
          <a:ln/>
        </p:spPr>
      </p:sp>
      <p:sp>
        <p:nvSpPr>
          <p:cNvPr id="13" name="Shape 11"/>
          <p:cNvSpPr/>
          <p:nvPr/>
        </p:nvSpPr>
        <p:spPr>
          <a:xfrm>
            <a:off x="6217920" y="3200400"/>
            <a:ext cx="1371600" cy="274320"/>
          </a:xfrm>
          <a:prstGeom prst="rect">
            <a:avLst/>
          </a:prstGeom>
          <a:solidFill>
            <a:srgbClr val="780000"/>
          </a:solidFill>
          <a:ln/>
        </p:spPr>
      </p:sp>
      <p:sp>
        <p:nvSpPr>
          <p:cNvPr id="14" name="Text 12"/>
          <p:cNvSpPr/>
          <p:nvPr/>
        </p:nvSpPr>
        <p:spPr>
          <a:xfrm>
            <a:off x="2560320" y="352044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哈耶克</a:t>
            </a:r>
            <a:endParaRPr lang="en-US" sz="1100" dirty="0"/>
          </a:p>
        </p:txBody>
      </p:sp>
      <p:sp>
        <p:nvSpPr>
          <p:cNvPr id="15" name="Text 13"/>
          <p:cNvSpPr/>
          <p:nvPr/>
        </p:nvSpPr>
        <p:spPr>
          <a:xfrm>
            <a:off x="2286000" y="3749040"/>
            <a:ext cx="1463040" cy="22860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自发秩序</a:t>
            </a:r>
            <a:endParaRPr lang="en-US" sz="900" dirty="0"/>
          </a:p>
        </p:txBody>
      </p:sp>
      <p:sp>
        <p:nvSpPr>
          <p:cNvPr id="16" name="Text 14"/>
          <p:cNvSpPr/>
          <p:nvPr/>
        </p:nvSpPr>
        <p:spPr>
          <a:xfrm>
            <a:off x="4846320" y="352044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斯密</a:t>
            </a:r>
            <a:endParaRPr lang="en-US" sz="1100" dirty="0"/>
          </a:p>
        </p:txBody>
      </p:sp>
      <p:sp>
        <p:nvSpPr>
          <p:cNvPr id="17" name="Text 15"/>
          <p:cNvSpPr/>
          <p:nvPr/>
        </p:nvSpPr>
        <p:spPr>
          <a:xfrm>
            <a:off x="4572000" y="3749040"/>
            <a:ext cx="1463040" cy="22860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看不见的手</a:t>
            </a:r>
            <a:endParaRPr lang="en-US" sz="900" dirty="0"/>
          </a:p>
        </p:txBody>
      </p:sp>
      <p:sp>
        <p:nvSpPr>
          <p:cNvPr id="18" name="Text 16"/>
          <p:cNvSpPr/>
          <p:nvPr/>
        </p:nvSpPr>
        <p:spPr>
          <a:xfrm>
            <a:off x="6858000" y="352044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凯恩斯</a:t>
            </a:r>
            <a:endParaRPr lang="en-US" sz="1100" dirty="0"/>
          </a:p>
        </p:txBody>
      </p:sp>
      <p:sp>
        <p:nvSpPr>
          <p:cNvPr id="19" name="Text 17"/>
          <p:cNvSpPr/>
          <p:nvPr/>
        </p:nvSpPr>
        <p:spPr>
          <a:xfrm>
            <a:off x="6583680" y="3749040"/>
            <a:ext cx="1463040" cy="22860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政府干预</a:t>
            </a:r>
            <a:endParaRPr lang="en-US" sz="900" dirty="0"/>
          </a:p>
        </p:txBody>
      </p:sp>
      <p:sp>
        <p:nvSpPr>
          <p:cNvPr id="20" name="Text 18"/>
          <p:cNvSpPr/>
          <p:nvPr/>
        </p:nvSpPr>
        <p:spPr>
          <a:xfrm>
            <a:off x="8046720" y="3520440"/>
            <a:ext cx="914400" cy="274320"/>
          </a:xfrm>
          <a:prstGeom prst="rect">
            <a:avLst/>
          </a:prstGeom>
          <a:noFill/>
          <a:ln/>
        </p:spPr>
        <p:txBody>
          <a:bodyPr wrap="square" rtlCol="0" anchor="ctr"/>
          <a:lstStyle/>
          <a:p>
            <a:pPr algn="ctr" indent="0" marL="0">
              <a:buNone/>
            </a:pPr>
            <a:r>
              <a:rPr lang="en-US" sz="1100" b="1" dirty="0">
                <a:solidFill>
                  <a:srgbClr val="780000"/>
                </a:solidFill>
                <a:latin typeface="Microsoft YaHei" pitchFamily="34" charset="0"/>
                <a:ea typeface="Microsoft YaHei" pitchFamily="34" charset="-122"/>
                <a:cs typeface="Microsoft YaHei" pitchFamily="34" charset="-120"/>
              </a:rPr>
              <a:t>计划派</a:t>
            </a:r>
            <a:endParaRPr lang="en-US" sz="1100" dirty="0"/>
          </a:p>
        </p:txBody>
      </p:sp>
      <p:sp>
        <p:nvSpPr>
          <p:cNvPr id="21" name="Text 19"/>
          <p:cNvSpPr/>
          <p:nvPr/>
        </p:nvSpPr>
        <p:spPr>
          <a:xfrm>
            <a:off x="7772400" y="3749040"/>
            <a:ext cx="1463040" cy="228600"/>
          </a:xfrm>
          <a:prstGeom prst="rect">
            <a:avLst/>
          </a:prstGeom>
          <a:noFill/>
          <a:ln/>
        </p:spPr>
        <p:txBody>
          <a:bodyPr wrap="square" rtlCol="0" anchor="ctr"/>
          <a:lstStyle/>
          <a:p>
            <a:pPr algn="ctr" indent="0" marL="0">
              <a:buNone/>
            </a:pPr>
            <a:r>
              <a:rPr lang="en-US" sz="900" dirty="0">
                <a:solidFill>
                  <a:srgbClr val="003049"/>
                </a:solidFill>
                <a:latin typeface="Microsoft YaHei" pitchFamily="34" charset="0"/>
                <a:ea typeface="Microsoft YaHei" pitchFamily="34" charset="-122"/>
                <a:cs typeface="Microsoft YaHei" pitchFamily="34" charset="-120"/>
              </a:rPr>
              <a:t>顶层设计</a:t>
            </a:r>
            <a:endParaRPr lang="en-US" sz="900" dirty="0"/>
          </a:p>
        </p:txBody>
      </p:sp>
      <p:sp>
        <p:nvSpPr>
          <p:cNvPr id="22" name="Shape 20"/>
          <p:cNvSpPr/>
          <p:nvPr/>
        </p:nvSpPr>
        <p:spPr>
          <a:xfrm>
            <a:off x="457200" y="4114800"/>
            <a:ext cx="8229600" cy="822960"/>
          </a:xfrm>
          <a:prstGeom prst="rect">
            <a:avLst/>
          </a:prstGeom>
          <a:solidFill>
            <a:srgbClr val="FFFFFF"/>
          </a:solidFill>
          <a:ln w="12700">
            <a:solidFill>
              <a:srgbClr val="003049"/>
            </a:solidFill>
            <a:prstDash val="solid"/>
          </a:ln>
        </p:spPr>
      </p:sp>
      <p:sp>
        <p:nvSpPr>
          <p:cNvPr id="23" name="Text 21"/>
          <p:cNvSpPr/>
          <p:nvPr/>
        </p:nvSpPr>
        <p:spPr>
          <a:xfrm>
            <a:off x="640080" y="4206240"/>
            <a:ext cx="7863840" cy="64008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思辨题：互联网平台（淘宝、微信）是自发涌现还是设计产物？</a:t>
            </a:r>
            <a:endParaRPr lang="en-US" sz="1400" dirty="0"/>
          </a:p>
        </p:txBody>
      </p:sp>
      <p:sp>
        <p:nvSpPr>
          <p:cNvPr id="24" name="Shape 22"/>
          <p:cNvSpPr/>
          <p:nvPr/>
        </p:nvSpPr>
        <p:spPr>
          <a:xfrm>
            <a:off x="8503920" y="4663440"/>
            <a:ext cx="365760" cy="365760"/>
          </a:xfrm>
          <a:prstGeom prst="ellipse">
            <a:avLst/>
          </a:prstGeom>
          <a:solidFill>
            <a:srgbClr val="C1121F"/>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讨论问题四</a:t>
            </a:r>
            <a:endParaRPr lang="en-US" sz="1400" dirty="0"/>
          </a:p>
        </p:txBody>
      </p:sp>
      <p:sp>
        <p:nvSpPr>
          <p:cNvPr id="4" name="Text 2"/>
          <p:cNvSpPr/>
          <p:nvPr/>
        </p:nvSpPr>
        <p:spPr>
          <a:xfrm>
            <a:off x="457200" y="1097280"/>
            <a:ext cx="8229600" cy="73152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信息时代的看不见的手</a:t>
            </a:r>
            <a:endParaRPr lang="en-US" sz="3600" dirty="0"/>
          </a:p>
        </p:txBody>
      </p:sp>
      <p:sp>
        <p:nvSpPr>
          <p:cNvPr id="5" name="Shape 3"/>
          <p:cNvSpPr/>
          <p:nvPr/>
        </p:nvSpPr>
        <p:spPr>
          <a:xfrm>
            <a:off x="457200" y="1920240"/>
            <a:ext cx="8229600" cy="1188720"/>
          </a:xfrm>
          <a:prstGeom prst="rect">
            <a:avLst/>
          </a:prstGeom>
          <a:solidFill>
            <a:srgbClr val="FFFFFF"/>
          </a:solidFill>
          <a:ln w="25400">
            <a:solidFill>
              <a:srgbClr val="C1121F"/>
            </a:solidFill>
            <a:prstDash val="solid"/>
          </a:ln>
        </p:spPr>
      </p:sp>
      <p:sp>
        <p:nvSpPr>
          <p:cNvPr id="6" name="Text 4"/>
          <p:cNvSpPr/>
          <p:nvPr/>
        </p:nvSpPr>
        <p:spPr>
          <a:xfrm>
            <a:off x="640080" y="2011680"/>
            <a:ext cx="18288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核心问题</a:t>
            </a:r>
            <a:endParaRPr lang="en-US" sz="1200" dirty="0"/>
          </a:p>
        </p:txBody>
      </p:sp>
      <p:sp>
        <p:nvSpPr>
          <p:cNvPr id="7" name="Text 5"/>
          <p:cNvSpPr/>
          <p:nvPr/>
        </p:nvSpPr>
        <p:spPr>
          <a:xfrm>
            <a:off x="640080" y="2331720"/>
            <a:ext cx="7863840" cy="640080"/>
          </a:xfrm>
          <a:prstGeom prst="rect">
            <a:avLst/>
          </a:prstGeom>
          <a:noFill/>
          <a:ln/>
        </p:spPr>
        <p:txBody>
          <a:bodyPr wrap="square" rtlCol="0" anchor="ctr"/>
          <a:lstStyle/>
          <a:p>
            <a:pPr indent="0" marL="0">
              <a:buNone/>
            </a:pPr>
            <a:r>
              <a:rPr lang="en-US" sz="2000" dirty="0">
                <a:solidFill>
                  <a:srgbClr val="003049"/>
                </a:solidFill>
                <a:latin typeface="Microsoft YaHei" pitchFamily="34" charset="0"/>
                <a:ea typeface="Microsoft YaHei" pitchFamily="34" charset="-122"/>
                <a:cs typeface="Microsoft YaHei" pitchFamily="34" charset="-120"/>
              </a:rPr>
              <a:t>算法推荐、大数据定价、平台经济——技术能否替代'看不见的手'？</a:t>
            </a:r>
            <a:endParaRPr lang="en-US" sz="2000" dirty="0"/>
          </a:p>
        </p:txBody>
      </p:sp>
      <p:sp>
        <p:nvSpPr>
          <p:cNvPr id="8" name="Shape 6"/>
          <p:cNvSpPr/>
          <p:nvPr/>
        </p:nvSpPr>
        <p:spPr>
          <a:xfrm>
            <a:off x="457200" y="3200400"/>
            <a:ext cx="3931920" cy="164592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9" name="Text 7"/>
          <p:cNvSpPr/>
          <p:nvPr/>
        </p:nvSpPr>
        <p:spPr>
          <a:xfrm>
            <a:off x="640080" y="3291840"/>
            <a:ext cx="3566160" cy="365760"/>
          </a:xfrm>
          <a:prstGeom prst="rect">
            <a:avLst/>
          </a:prstGeom>
          <a:noFill/>
          <a:ln/>
        </p:spPr>
        <p:txBody>
          <a:bodyPr wrap="square" rtlCol="0" anchor="ctr"/>
          <a:lstStyle/>
          <a:p>
            <a:pPr indent="0" marL="0">
              <a:buNone/>
            </a:pPr>
            <a:r>
              <a:rPr lang="en-US" sz="1500" b="1" dirty="0">
                <a:solidFill>
                  <a:srgbClr val="C1121F"/>
                </a:solidFill>
                <a:latin typeface="Microsoft YaHei" pitchFamily="34" charset="0"/>
                <a:ea typeface="Microsoft YaHei" pitchFamily="34" charset="-122"/>
                <a:cs typeface="Microsoft YaHei" pitchFamily="34" charset="-120"/>
              </a:rPr>
              <a:t>技术乐观派</a:t>
            </a:r>
            <a:endParaRPr lang="en-US" sz="1500" dirty="0"/>
          </a:p>
        </p:txBody>
      </p:sp>
      <p:sp>
        <p:nvSpPr>
          <p:cNvPr id="10" name="Text 8"/>
          <p:cNvSpPr/>
          <p:nvPr/>
        </p:nvSpPr>
        <p:spPr>
          <a:xfrm>
            <a:off x="640080" y="370332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算法实现精准供需匹配</a:t>
            </a:r>
            <a:endParaRPr lang="en-US" sz="1300" dirty="0"/>
          </a:p>
        </p:txBody>
      </p:sp>
      <p:sp>
        <p:nvSpPr>
          <p:cNvPr id="11" name="Text 9"/>
          <p:cNvSpPr/>
          <p:nvPr/>
        </p:nvSpPr>
        <p:spPr>
          <a:xfrm>
            <a:off x="640080" y="406908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大数据消除信息不对称</a:t>
            </a:r>
            <a:endParaRPr lang="en-US" sz="1300" dirty="0"/>
          </a:p>
        </p:txBody>
      </p:sp>
      <p:sp>
        <p:nvSpPr>
          <p:cNvPr id="12" name="Text 10"/>
          <p:cNvSpPr/>
          <p:nvPr/>
        </p:nvSpPr>
        <p:spPr>
          <a:xfrm>
            <a:off x="640080" y="443484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平台替代市场更高效</a:t>
            </a:r>
            <a:endParaRPr lang="en-US" sz="1300" dirty="0"/>
          </a:p>
        </p:txBody>
      </p:sp>
      <p:sp>
        <p:nvSpPr>
          <p:cNvPr id="13" name="Shape 11"/>
          <p:cNvSpPr/>
          <p:nvPr/>
        </p:nvSpPr>
        <p:spPr>
          <a:xfrm>
            <a:off x="4754880" y="3200400"/>
            <a:ext cx="3931920" cy="164592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14" name="Text 12"/>
          <p:cNvSpPr/>
          <p:nvPr/>
        </p:nvSpPr>
        <p:spPr>
          <a:xfrm>
            <a:off x="4937760" y="3291840"/>
            <a:ext cx="3566160" cy="365760"/>
          </a:xfrm>
          <a:prstGeom prst="rect">
            <a:avLst/>
          </a:prstGeom>
          <a:noFill/>
          <a:ln/>
        </p:spPr>
        <p:txBody>
          <a:bodyPr wrap="square" rtlCol="0" anchor="ctr"/>
          <a:lstStyle/>
          <a:p>
            <a:pPr indent="0" marL="0">
              <a:buNone/>
            </a:pPr>
            <a:r>
              <a:rPr lang="en-US" sz="1500" b="1" dirty="0">
                <a:solidFill>
                  <a:srgbClr val="C1121F"/>
                </a:solidFill>
                <a:latin typeface="Microsoft YaHei" pitchFamily="34" charset="0"/>
                <a:ea typeface="Microsoft YaHei" pitchFamily="34" charset="-122"/>
                <a:cs typeface="Microsoft YaHei" pitchFamily="34" charset="-120"/>
              </a:rPr>
              <a:t>斯密视角派</a:t>
            </a:r>
            <a:endParaRPr lang="en-US" sz="1500" dirty="0"/>
          </a:p>
        </p:txBody>
      </p:sp>
      <p:sp>
        <p:nvSpPr>
          <p:cNvPr id="15" name="Text 13"/>
          <p:cNvSpPr/>
          <p:nvPr/>
        </p:nvSpPr>
        <p:spPr>
          <a:xfrm>
            <a:off x="4937760" y="370332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价格信号仍是核心机制</a:t>
            </a:r>
            <a:endParaRPr lang="en-US" sz="1300" dirty="0"/>
          </a:p>
        </p:txBody>
      </p:sp>
      <p:sp>
        <p:nvSpPr>
          <p:cNvPr id="16" name="Text 14"/>
          <p:cNvSpPr/>
          <p:nvPr/>
        </p:nvSpPr>
        <p:spPr>
          <a:xfrm>
            <a:off x="4937760" y="406908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信任机制无法被算法替代</a:t>
            </a:r>
            <a:endParaRPr lang="en-US" sz="1300" dirty="0"/>
          </a:p>
        </p:txBody>
      </p:sp>
      <p:sp>
        <p:nvSpPr>
          <p:cNvPr id="17" name="Text 15"/>
          <p:cNvSpPr/>
          <p:nvPr/>
        </p:nvSpPr>
        <p:spPr>
          <a:xfrm>
            <a:off x="4937760" y="4434840"/>
            <a:ext cx="3566160" cy="32004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 道德情感，市场根基</a:t>
            </a:r>
            <a:endParaRPr lang="en-US" sz="1300" dirty="0"/>
          </a:p>
        </p:txBody>
      </p:sp>
      <p:sp>
        <p:nvSpPr>
          <p:cNvPr id="18" name="Shape 16"/>
          <p:cNvSpPr/>
          <p:nvPr/>
        </p:nvSpPr>
        <p:spPr>
          <a:xfrm>
            <a:off x="8503920" y="4663440"/>
            <a:ext cx="365760" cy="365760"/>
          </a:xfrm>
          <a:prstGeom prst="ellipse">
            <a:avLst/>
          </a:prstGeom>
          <a:solidFill>
            <a:srgbClr val="C1121F"/>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1121F"/>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练习一</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200" b="1" dirty="0">
                <a:solidFill>
                  <a:srgbClr val="780000"/>
                </a:solidFill>
                <a:latin typeface="Georgia" pitchFamily="34" charset="0"/>
                <a:ea typeface="Georgia" pitchFamily="34" charset="-122"/>
                <a:cs typeface="Georgia" pitchFamily="34" charset="-120"/>
              </a:rPr>
              <a:t>思想流派匹配</a:t>
            </a:r>
            <a:endParaRPr lang="en-US" sz="3200" dirty="0"/>
          </a:p>
        </p:txBody>
      </p:sp>
      <p:sp>
        <p:nvSpPr>
          <p:cNvPr id="5" name="Text 3"/>
          <p:cNvSpPr/>
          <p:nvPr/>
        </p:nvSpPr>
        <p:spPr>
          <a:xfrm>
            <a:off x="457200" y="1600200"/>
            <a:ext cx="8229600" cy="36576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连线题：请将思想家与其核心主张配对</a:t>
            </a:r>
            <a:endParaRPr lang="en-US" sz="1400" dirty="0"/>
          </a:p>
        </p:txBody>
      </p:sp>
      <p:sp>
        <p:nvSpPr>
          <p:cNvPr id="6" name="Shape 4"/>
          <p:cNvSpPr/>
          <p:nvPr/>
        </p:nvSpPr>
        <p:spPr>
          <a:xfrm>
            <a:off x="457200" y="2103120"/>
            <a:ext cx="2286000" cy="502920"/>
          </a:xfrm>
          <a:prstGeom prst="rect">
            <a:avLst/>
          </a:prstGeom>
          <a:solidFill>
            <a:srgbClr val="003049"/>
          </a:solidFill>
          <a:ln/>
        </p:spPr>
      </p:sp>
      <p:sp>
        <p:nvSpPr>
          <p:cNvPr id="7" name="Text 5"/>
          <p:cNvSpPr/>
          <p:nvPr/>
        </p:nvSpPr>
        <p:spPr>
          <a:xfrm>
            <a:off x="548640" y="2148840"/>
            <a:ext cx="2103120" cy="41148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① 亚当·斯密</a:t>
            </a:r>
            <a:endParaRPr lang="en-US" sz="1400" dirty="0"/>
          </a:p>
        </p:txBody>
      </p:sp>
      <p:sp>
        <p:nvSpPr>
          <p:cNvPr id="8" name="Shape 6"/>
          <p:cNvSpPr/>
          <p:nvPr/>
        </p:nvSpPr>
        <p:spPr>
          <a:xfrm>
            <a:off x="457200" y="2743200"/>
            <a:ext cx="2286000" cy="502920"/>
          </a:xfrm>
          <a:prstGeom prst="rect">
            <a:avLst/>
          </a:prstGeom>
          <a:solidFill>
            <a:srgbClr val="003049"/>
          </a:solidFill>
          <a:ln/>
        </p:spPr>
      </p:sp>
      <p:sp>
        <p:nvSpPr>
          <p:cNvPr id="9" name="Text 7"/>
          <p:cNvSpPr/>
          <p:nvPr/>
        </p:nvSpPr>
        <p:spPr>
          <a:xfrm>
            <a:off x="548640" y="2788920"/>
            <a:ext cx="2103120" cy="41148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② 哈耶克</a:t>
            </a:r>
            <a:endParaRPr lang="en-US" sz="1400" dirty="0"/>
          </a:p>
        </p:txBody>
      </p:sp>
      <p:sp>
        <p:nvSpPr>
          <p:cNvPr id="10" name="Shape 8"/>
          <p:cNvSpPr/>
          <p:nvPr/>
        </p:nvSpPr>
        <p:spPr>
          <a:xfrm>
            <a:off x="457200" y="3383280"/>
            <a:ext cx="2286000" cy="502920"/>
          </a:xfrm>
          <a:prstGeom prst="rect">
            <a:avLst/>
          </a:prstGeom>
          <a:solidFill>
            <a:srgbClr val="003049"/>
          </a:solidFill>
          <a:ln/>
        </p:spPr>
      </p:sp>
      <p:sp>
        <p:nvSpPr>
          <p:cNvPr id="11" name="Text 9"/>
          <p:cNvSpPr/>
          <p:nvPr/>
        </p:nvSpPr>
        <p:spPr>
          <a:xfrm>
            <a:off x="548640" y="3429000"/>
            <a:ext cx="2103120" cy="41148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③ 凯恩斯</a:t>
            </a:r>
            <a:endParaRPr lang="en-US" sz="1400" dirty="0"/>
          </a:p>
        </p:txBody>
      </p:sp>
      <p:sp>
        <p:nvSpPr>
          <p:cNvPr id="12" name="Shape 10"/>
          <p:cNvSpPr/>
          <p:nvPr/>
        </p:nvSpPr>
        <p:spPr>
          <a:xfrm>
            <a:off x="457200" y="4023360"/>
            <a:ext cx="2286000" cy="502920"/>
          </a:xfrm>
          <a:prstGeom prst="rect">
            <a:avLst/>
          </a:prstGeom>
          <a:solidFill>
            <a:srgbClr val="003049"/>
          </a:solidFill>
          <a:ln/>
        </p:spPr>
      </p:sp>
      <p:sp>
        <p:nvSpPr>
          <p:cNvPr id="13" name="Text 11"/>
          <p:cNvSpPr/>
          <p:nvPr/>
        </p:nvSpPr>
        <p:spPr>
          <a:xfrm>
            <a:off x="548640" y="4069080"/>
            <a:ext cx="2103120" cy="41148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④ 马克思</a:t>
            </a:r>
            <a:endParaRPr lang="en-US" sz="1400" dirty="0"/>
          </a:p>
        </p:txBody>
      </p:sp>
      <p:sp>
        <p:nvSpPr>
          <p:cNvPr id="14" name="Shape 12"/>
          <p:cNvSpPr/>
          <p:nvPr/>
        </p:nvSpPr>
        <p:spPr>
          <a:xfrm>
            <a:off x="5029200" y="2103120"/>
            <a:ext cx="3657600" cy="502920"/>
          </a:xfrm>
          <a:prstGeom prst="rect">
            <a:avLst/>
          </a:prstGeom>
          <a:solidFill>
            <a:srgbClr val="FFFFFF"/>
          </a:solidFill>
          <a:ln w="12700">
            <a:solidFill>
              <a:srgbClr val="669BBC"/>
            </a:solidFill>
            <a:prstDash val="solid"/>
          </a:ln>
        </p:spPr>
      </p:sp>
      <p:sp>
        <p:nvSpPr>
          <p:cNvPr id="15" name="Text 13"/>
          <p:cNvSpPr/>
          <p:nvPr/>
        </p:nvSpPr>
        <p:spPr>
          <a:xfrm>
            <a:off x="5120640" y="2148840"/>
            <a:ext cx="3474720" cy="411480"/>
          </a:xfrm>
          <a:prstGeom prst="rect">
            <a:avLst/>
          </a:prstGeom>
          <a:noFill/>
          <a:ln/>
        </p:spPr>
        <p:txBody>
          <a:bodyPr wrap="square" rtlCol="0" anchor="ctr"/>
          <a:lstStyle/>
          <a:p>
            <a:pPr indent="0" marL="0">
              <a:buNone/>
            </a:pPr>
            <a:r>
              <a:rPr lang="en-US" sz="1300" dirty="0">
                <a:solidFill>
                  <a:srgbClr val="780000"/>
                </a:solidFill>
                <a:latin typeface="Microsoft YaHei" pitchFamily="34" charset="0"/>
                <a:ea typeface="Microsoft YaHei" pitchFamily="34" charset="-122"/>
                <a:cs typeface="Microsoft YaHei" pitchFamily="34" charset="-120"/>
              </a:rPr>
              <a:t>A. 看不见的手，自发秩序</a:t>
            </a:r>
            <a:endParaRPr lang="en-US" sz="1300" dirty="0"/>
          </a:p>
        </p:txBody>
      </p:sp>
      <p:sp>
        <p:nvSpPr>
          <p:cNvPr id="16" name="Shape 14"/>
          <p:cNvSpPr/>
          <p:nvPr/>
        </p:nvSpPr>
        <p:spPr>
          <a:xfrm>
            <a:off x="5029200" y="2743200"/>
            <a:ext cx="3657600" cy="502920"/>
          </a:xfrm>
          <a:prstGeom prst="rect">
            <a:avLst/>
          </a:prstGeom>
          <a:solidFill>
            <a:srgbClr val="FFFFFF"/>
          </a:solidFill>
          <a:ln w="12700">
            <a:solidFill>
              <a:srgbClr val="669BBC"/>
            </a:solidFill>
            <a:prstDash val="solid"/>
          </a:ln>
        </p:spPr>
      </p:sp>
      <p:sp>
        <p:nvSpPr>
          <p:cNvPr id="17" name="Text 15"/>
          <p:cNvSpPr/>
          <p:nvPr/>
        </p:nvSpPr>
        <p:spPr>
          <a:xfrm>
            <a:off x="5120640" y="2788920"/>
            <a:ext cx="3474720" cy="411480"/>
          </a:xfrm>
          <a:prstGeom prst="rect">
            <a:avLst/>
          </a:prstGeom>
          <a:noFill/>
          <a:ln/>
        </p:spPr>
        <p:txBody>
          <a:bodyPr wrap="square" rtlCol="0" anchor="ctr"/>
          <a:lstStyle/>
          <a:p>
            <a:pPr indent="0" marL="0">
              <a:buNone/>
            </a:pPr>
            <a:r>
              <a:rPr lang="en-US" sz="1300" dirty="0">
                <a:solidFill>
                  <a:srgbClr val="780000"/>
                </a:solidFill>
                <a:latin typeface="Microsoft YaHei" pitchFamily="34" charset="0"/>
                <a:ea typeface="Microsoft YaHei" pitchFamily="34" charset="-122"/>
                <a:cs typeface="Microsoft YaHei" pitchFamily="34" charset="-120"/>
              </a:rPr>
              <a:t>B. 政府干预，刺激需求</a:t>
            </a:r>
            <a:endParaRPr lang="en-US" sz="1300" dirty="0"/>
          </a:p>
        </p:txBody>
      </p:sp>
      <p:sp>
        <p:nvSpPr>
          <p:cNvPr id="18" name="Shape 16"/>
          <p:cNvSpPr/>
          <p:nvPr/>
        </p:nvSpPr>
        <p:spPr>
          <a:xfrm>
            <a:off x="5029200" y="3383280"/>
            <a:ext cx="3657600" cy="502920"/>
          </a:xfrm>
          <a:prstGeom prst="rect">
            <a:avLst/>
          </a:prstGeom>
          <a:solidFill>
            <a:srgbClr val="FFFFFF"/>
          </a:solidFill>
          <a:ln w="12700">
            <a:solidFill>
              <a:srgbClr val="669BBC"/>
            </a:solidFill>
            <a:prstDash val="solid"/>
          </a:ln>
        </p:spPr>
      </p:sp>
      <p:sp>
        <p:nvSpPr>
          <p:cNvPr id="19" name="Text 17"/>
          <p:cNvSpPr/>
          <p:nvPr/>
        </p:nvSpPr>
        <p:spPr>
          <a:xfrm>
            <a:off x="5120640" y="3429000"/>
            <a:ext cx="3474720" cy="411480"/>
          </a:xfrm>
          <a:prstGeom prst="rect">
            <a:avLst/>
          </a:prstGeom>
          <a:noFill/>
          <a:ln/>
        </p:spPr>
        <p:txBody>
          <a:bodyPr wrap="square" rtlCol="0" anchor="ctr"/>
          <a:lstStyle/>
          <a:p>
            <a:pPr indent="0" marL="0">
              <a:buNone/>
            </a:pPr>
            <a:r>
              <a:rPr lang="en-US" sz="1300" dirty="0">
                <a:solidFill>
                  <a:srgbClr val="780000"/>
                </a:solidFill>
                <a:latin typeface="Microsoft YaHei" pitchFamily="34" charset="0"/>
                <a:ea typeface="Microsoft YaHei" pitchFamily="34" charset="-122"/>
                <a:cs typeface="Microsoft YaHei" pitchFamily="34" charset="-120"/>
              </a:rPr>
              <a:t>C. 阶级斗争，历史唯物主义</a:t>
            </a:r>
            <a:endParaRPr lang="en-US" sz="1300" dirty="0"/>
          </a:p>
        </p:txBody>
      </p:sp>
      <p:sp>
        <p:nvSpPr>
          <p:cNvPr id="20" name="Shape 18"/>
          <p:cNvSpPr/>
          <p:nvPr/>
        </p:nvSpPr>
        <p:spPr>
          <a:xfrm>
            <a:off x="5029200" y="4023360"/>
            <a:ext cx="3657600" cy="502920"/>
          </a:xfrm>
          <a:prstGeom prst="rect">
            <a:avLst/>
          </a:prstGeom>
          <a:solidFill>
            <a:srgbClr val="FFFFFF"/>
          </a:solidFill>
          <a:ln w="12700">
            <a:solidFill>
              <a:srgbClr val="669BBC"/>
            </a:solidFill>
            <a:prstDash val="solid"/>
          </a:ln>
        </p:spPr>
      </p:sp>
      <p:sp>
        <p:nvSpPr>
          <p:cNvPr id="21" name="Text 19"/>
          <p:cNvSpPr/>
          <p:nvPr/>
        </p:nvSpPr>
        <p:spPr>
          <a:xfrm>
            <a:off x="5120640" y="4069080"/>
            <a:ext cx="3474720" cy="411480"/>
          </a:xfrm>
          <a:prstGeom prst="rect">
            <a:avLst/>
          </a:prstGeom>
          <a:noFill/>
          <a:ln/>
        </p:spPr>
        <p:txBody>
          <a:bodyPr wrap="square" rtlCol="0" anchor="ctr"/>
          <a:lstStyle/>
          <a:p>
            <a:pPr indent="0" marL="0">
              <a:buNone/>
            </a:pPr>
            <a:r>
              <a:rPr lang="en-US" sz="1300" dirty="0">
                <a:solidFill>
                  <a:srgbClr val="780000"/>
                </a:solidFill>
                <a:latin typeface="Microsoft YaHei" pitchFamily="34" charset="0"/>
                <a:ea typeface="Microsoft YaHei" pitchFamily="34" charset="-122"/>
                <a:cs typeface="Microsoft YaHei" pitchFamily="34" charset="-120"/>
              </a:rPr>
              <a:t>D. 知识分工，信息分散</a:t>
            </a:r>
            <a:endParaRPr lang="en-US" sz="1300" dirty="0"/>
          </a:p>
        </p:txBody>
      </p:sp>
      <p:sp>
        <p:nvSpPr>
          <p:cNvPr id="22" name="Text 20"/>
          <p:cNvSpPr/>
          <p:nvPr/>
        </p:nvSpPr>
        <p:spPr>
          <a:xfrm>
            <a:off x="457200" y="4572000"/>
            <a:ext cx="4572000" cy="320040"/>
          </a:xfrm>
          <a:prstGeom prst="rect">
            <a:avLst/>
          </a:prstGeom>
          <a:noFill/>
          <a:ln/>
        </p:spPr>
        <p:txBody>
          <a:bodyPr wrap="square" rtlCol="0" anchor="ctr"/>
          <a:lstStyle/>
          <a:p>
            <a:pPr indent="0" marL="0">
              <a:buNone/>
            </a:pPr>
            <a:r>
              <a:rPr lang="en-US" sz="1200" dirty="0">
                <a:solidFill>
                  <a:srgbClr val="C1121F"/>
                </a:solidFill>
                <a:latin typeface="Microsoft YaHei" pitchFamily="34" charset="0"/>
                <a:ea typeface="Microsoft YaHei" pitchFamily="34" charset="-122"/>
                <a:cs typeface="Microsoft YaHei" pitchFamily="34" charset="-120"/>
              </a:rPr>
              <a:t>连线答案：①—A  ②—D  ③—B  ④—C</a:t>
            </a:r>
            <a:endParaRPr lang="en-US" sz="1200" dirty="0"/>
          </a:p>
        </p:txBody>
      </p:sp>
      <p:sp>
        <p:nvSpPr>
          <p:cNvPr id="23" name="Shape 21"/>
          <p:cNvSpPr/>
          <p:nvPr/>
        </p:nvSpPr>
        <p:spPr>
          <a:xfrm>
            <a:off x="8503920" y="4663440"/>
            <a:ext cx="365760" cy="365760"/>
          </a:xfrm>
          <a:prstGeom prst="ellipse">
            <a:avLst/>
          </a:prstGeom>
          <a:solidFill>
            <a:srgbClr val="780000"/>
          </a:solidFill>
          <a:ln/>
        </p:spPr>
      </p:sp>
      <p:sp>
        <p:nvSpPr>
          <p:cNvPr id="24" name="Text 22"/>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1121F"/>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练习二</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200" b="1" dirty="0">
                <a:solidFill>
                  <a:srgbClr val="780000"/>
                </a:solidFill>
                <a:latin typeface="Georgia" pitchFamily="34" charset="0"/>
                <a:ea typeface="Georgia" pitchFamily="34" charset="-122"/>
                <a:cs typeface="Georgia" pitchFamily="34" charset="-120"/>
              </a:rPr>
              <a:t>判断对错</a:t>
            </a:r>
            <a:endParaRPr lang="en-US" sz="3200" dirty="0"/>
          </a:p>
        </p:txBody>
      </p:sp>
      <p:sp>
        <p:nvSpPr>
          <p:cNvPr id="5" name="Text 3"/>
          <p:cNvSpPr/>
          <p:nvPr/>
        </p:nvSpPr>
        <p:spPr>
          <a:xfrm>
            <a:off x="457200" y="1600200"/>
            <a:ext cx="8229600" cy="36576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请判断以下说法是否正确，并说明理由</a:t>
            </a:r>
            <a:endParaRPr lang="en-US" sz="1400" dirty="0"/>
          </a:p>
        </p:txBody>
      </p:sp>
      <p:sp>
        <p:nvSpPr>
          <p:cNvPr id="6" name="Shape 4"/>
          <p:cNvSpPr/>
          <p:nvPr/>
        </p:nvSpPr>
        <p:spPr>
          <a:xfrm>
            <a:off x="457200" y="2057400"/>
            <a:ext cx="8229600" cy="82296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7" name="Shape 5"/>
          <p:cNvSpPr/>
          <p:nvPr/>
        </p:nvSpPr>
        <p:spPr>
          <a:xfrm>
            <a:off x="457200" y="2057400"/>
            <a:ext cx="457200" cy="822960"/>
          </a:xfrm>
          <a:prstGeom prst="rect">
            <a:avLst/>
          </a:prstGeom>
          <a:solidFill>
            <a:srgbClr val="780000"/>
          </a:solidFill>
          <a:ln/>
        </p:spPr>
      </p:sp>
      <p:sp>
        <p:nvSpPr>
          <p:cNvPr id="8" name="Text 6"/>
          <p:cNvSpPr/>
          <p:nvPr/>
        </p:nvSpPr>
        <p:spPr>
          <a:xfrm>
            <a:off x="457200" y="2057400"/>
            <a:ext cx="457200" cy="822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05840" y="2148840"/>
            <a:ext cx="5029200" cy="365760"/>
          </a:xfrm>
          <a:prstGeom prst="rect">
            <a:avLst/>
          </a:prstGeom>
          <a:noFill/>
          <a:ln/>
        </p:spPr>
        <p:txBody>
          <a:bodyPr wrap="square" rtlCol="0" anchor="ctr"/>
          <a:lstStyle/>
          <a:p>
            <a:pPr indent="0" marL="0">
              <a:buNone/>
            </a:pPr>
            <a:r>
              <a:rPr lang="en-US" sz="1400" dirty="0">
                <a:solidFill>
                  <a:srgbClr val="780000"/>
                </a:solidFill>
                <a:latin typeface="Microsoft YaHei" pitchFamily="34" charset="0"/>
                <a:ea typeface="Microsoft YaHei" pitchFamily="34" charset="-122"/>
                <a:cs typeface="Microsoft YaHei" pitchFamily="34" charset="-120"/>
              </a:rPr>
              <a:t>斯密认为自私是人的唯一本性</a:t>
            </a:r>
            <a:endParaRPr lang="en-US" sz="1400" dirty="0"/>
          </a:p>
        </p:txBody>
      </p:sp>
      <p:sp>
        <p:nvSpPr>
          <p:cNvPr id="10" name="Text 8"/>
          <p:cNvSpPr/>
          <p:nvPr/>
        </p:nvSpPr>
        <p:spPr>
          <a:xfrm>
            <a:off x="1005840" y="2514600"/>
            <a:ext cx="9144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 错</a:t>
            </a:r>
            <a:endParaRPr lang="en-US" sz="1200" dirty="0"/>
          </a:p>
        </p:txBody>
      </p:sp>
      <p:sp>
        <p:nvSpPr>
          <p:cNvPr id="11" name="Text 9"/>
          <p:cNvSpPr/>
          <p:nvPr/>
        </p:nvSpPr>
        <p:spPr>
          <a:xfrm>
            <a:off x="1920240" y="2514600"/>
            <a:ext cx="658368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斯密认为人有多重情感，自私只是其中之一</a:t>
            </a:r>
            <a:endParaRPr lang="en-US" sz="1200" dirty="0"/>
          </a:p>
        </p:txBody>
      </p:sp>
      <p:sp>
        <p:nvSpPr>
          <p:cNvPr id="12" name="Shape 10"/>
          <p:cNvSpPr/>
          <p:nvPr/>
        </p:nvSpPr>
        <p:spPr>
          <a:xfrm>
            <a:off x="457200" y="3017520"/>
            <a:ext cx="8229600" cy="82296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3" name="Shape 11"/>
          <p:cNvSpPr/>
          <p:nvPr/>
        </p:nvSpPr>
        <p:spPr>
          <a:xfrm>
            <a:off x="457200" y="3017520"/>
            <a:ext cx="457200" cy="822960"/>
          </a:xfrm>
          <a:prstGeom prst="rect">
            <a:avLst/>
          </a:prstGeom>
          <a:solidFill>
            <a:srgbClr val="780000"/>
          </a:solidFill>
          <a:ln/>
        </p:spPr>
      </p:sp>
      <p:sp>
        <p:nvSpPr>
          <p:cNvPr id="14" name="Text 12"/>
          <p:cNvSpPr/>
          <p:nvPr/>
        </p:nvSpPr>
        <p:spPr>
          <a:xfrm>
            <a:off x="457200" y="3017520"/>
            <a:ext cx="457200" cy="822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005840" y="3108960"/>
            <a:ext cx="5029200" cy="365760"/>
          </a:xfrm>
          <a:prstGeom prst="rect">
            <a:avLst/>
          </a:prstGeom>
          <a:noFill/>
          <a:ln/>
        </p:spPr>
        <p:txBody>
          <a:bodyPr wrap="square" rtlCol="0" anchor="ctr"/>
          <a:lstStyle/>
          <a:p>
            <a:pPr indent="0" marL="0">
              <a:buNone/>
            </a:pPr>
            <a:r>
              <a:rPr lang="en-US" sz="1400" dirty="0">
                <a:solidFill>
                  <a:srgbClr val="780000"/>
                </a:solidFill>
                <a:latin typeface="Microsoft YaHei" pitchFamily="34" charset="0"/>
                <a:ea typeface="Microsoft YaHei" pitchFamily="34" charset="-122"/>
                <a:cs typeface="Microsoft YaHei" pitchFamily="34" charset="-120"/>
              </a:rPr>
              <a:t>看不见的手可以让所有个人利益与社会利益协调</a:t>
            </a:r>
            <a:endParaRPr lang="en-US" sz="1400" dirty="0"/>
          </a:p>
        </p:txBody>
      </p:sp>
      <p:sp>
        <p:nvSpPr>
          <p:cNvPr id="16" name="Text 14"/>
          <p:cNvSpPr/>
          <p:nvPr/>
        </p:nvSpPr>
        <p:spPr>
          <a:xfrm>
            <a:off x="1005840" y="3474720"/>
            <a:ext cx="9144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 错</a:t>
            </a:r>
            <a:endParaRPr lang="en-US" sz="1200" dirty="0"/>
          </a:p>
        </p:txBody>
      </p:sp>
      <p:sp>
        <p:nvSpPr>
          <p:cNvPr id="17" name="Text 15"/>
          <p:cNvSpPr/>
          <p:nvPr/>
        </p:nvSpPr>
        <p:spPr>
          <a:xfrm>
            <a:off x="1920240" y="3474720"/>
            <a:ext cx="658368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斯密认为存在市场失灵，需要政府干预</a:t>
            </a:r>
            <a:endParaRPr lang="en-US" sz="1200" dirty="0"/>
          </a:p>
        </p:txBody>
      </p:sp>
      <p:sp>
        <p:nvSpPr>
          <p:cNvPr id="18" name="Shape 16"/>
          <p:cNvSpPr/>
          <p:nvPr/>
        </p:nvSpPr>
        <p:spPr>
          <a:xfrm>
            <a:off x="457200" y="3977640"/>
            <a:ext cx="8229600" cy="82296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9" name="Shape 17"/>
          <p:cNvSpPr/>
          <p:nvPr/>
        </p:nvSpPr>
        <p:spPr>
          <a:xfrm>
            <a:off x="457200" y="3977640"/>
            <a:ext cx="457200" cy="822960"/>
          </a:xfrm>
          <a:prstGeom prst="rect">
            <a:avLst/>
          </a:prstGeom>
          <a:solidFill>
            <a:srgbClr val="780000"/>
          </a:solidFill>
          <a:ln/>
        </p:spPr>
      </p:sp>
      <p:sp>
        <p:nvSpPr>
          <p:cNvPr id="20" name="Text 18"/>
          <p:cNvSpPr/>
          <p:nvPr/>
        </p:nvSpPr>
        <p:spPr>
          <a:xfrm>
            <a:off x="457200" y="3977640"/>
            <a:ext cx="457200" cy="822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005840" y="4069080"/>
            <a:ext cx="5029200" cy="365760"/>
          </a:xfrm>
          <a:prstGeom prst="rect">
            <a:avLst/>
          </a:prstGeom>
          <a:noFill/>
          <a:ln/>
        </p:spPr>
        <p:txBody>
          <a:bodyPr wrap="square" rtlCol="0" anchor="ctr"/>
          <a:lstStyle/>
          <a:p>
            <a:pPr indent="0" marL="0">
              <a:buNone/>
            </a:pPr>
            <a:r>
              <a:rPr lang="en-US" sz="1400" dirty="0">
                <a:solidFill>
                  <a:srgbClr val="780000"/>
                </a:solidFill>
                <a:latin typeface="Microsoft YaHei" pitchFamily="34" charset="0"/>
                <a:ea typeface="Microsoft YaHei" pitchFamily="34" charset="-122"/>
                <a:cs typeface="Microsoft YaHei" pitchFamily="34" charset="-120"/>
              </a:rPr>
              <a:t>斯密是自由放任经济的坚定支持者</a:t>
            </a:r>
            <a:endParaRPr lang="en-US" sz="1400" dirty="0"/>
          </a:p>
        </p:txBody>
      </p:sp>
      <p:sp>
        <p:nvSpPr>
          <p:cNvPr id="22" name="Text 20"/>
          <p:cNvSpPr/>
          <p:nvPr/>
        </p:nvSpPr>
        <p:spPr>
          <a:xfrm>
            <a:off x="1005840" y="4434840"/>
            <a:ext cx="914400" cy="320040"/>
          </a:xfrm>
          <a:prstGeom prst="rect">
            <a:avLst/>
          </a:prstGeom>
          <a:noFill/>
          <a:ln/>
        </p:spPr>
        <p:txBody>
          <a:bodyPr wrap="square" rtlCol="0" anchor="ctr"/>
          <a:lstStyle/>
          <a:p>
            <a:pPr indent="0" marL="0">
              <a:buNone/>
            </a:pPr>
            <a:r>
              <a:rPr lang="en-US" sz="1200" b="1" dirty="0">
                <a:solidFill>
                  <a:srgbClr val="C1121F"/>
                </a:solidFill>
                <a:latin typeface="Microsoft YaHei" pitchFamily="34" charset="0"/>
                <a:ea typeface="Microsoft YaHei" pitchFamily="34" charset="-122"/>
                <a:cs typeface="Microsoft YaHei" pitchFamily="34" charset="-120"/>
              </a:rPr>
              <a:t>✗ 错</a:t>
            </a:r>
            <a:endParaRPr lang="en-US" sz="1200" dirty="0"/>
          </a:p>
        </p:txBody>
      </p:sp>
      <p:sp>
        <p:nvSpPr>
          <p:cNvPr id="23" name="Text 21"/>
          <p:cNvSpPr/>
          <p:nvPr/>
        </p:nvSpPr>
        <p:spPr>
          <a:xfrm>
            <a:off x="1920240" y="4434840"/>
            <a:ext cx="658368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斯密主张有限政府，而非无政府</a:t>
            </a:r>
            <a:endParaRPr lang="en-US" sz="1200" dirty="0"/>
          </a:p>
        </p:txBody>
      </p:sp>
      <p:sp>
        <p:nvSpPr>
          <p:cNvPr id="24" name="Shape 22"/>
          <p:cNvSpPr/>
          <p:nvPr/>
        </p:nvSpPr>
        <p:spPr>
          <a:xfrm>
            <a:off x="8503920" y="4663440"/>
            <a:ext cx="365760" cy="365760"/>
          </a:xfrm>
          <a:prstGeom prst="ellipse">
            <a:avLst/>
          </a:prstGeom>
          <a:solidFill>
            <a:srgbClr val="780000"/>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1121F"/>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练习三</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200" b="1" dirty="0">
                <a:solidFill>
                  <a:srgbClr val="780000"/>
                </a:solidFill>
                <a:latin typeface="Georgia" pitchFamily="34" charset="0"/>
                <a:ea typeface="Georgia" pitchFamily="34" charset="-122"/>
                <a:cs typeface="Georgia" pitchFamily="34" charset="-120"/>
              </a:rPr>
              <a:t>绘制思想谱系图</a:t>
            </a:r>
            <a:endParaRPr lang="en-US" sz="3200" dirty="0"/>
          </a:p>
        </p:txBody>
      </p:sp>
      <p:sp>
        <p:nvSpPr>
          <p:cNvPr id="5" name="Text 3"/>
          <p:cNvSpPr/>
          <p:nvPr/>
        </p:nvSpPr>
        <p:spPr>
          <a:xfrm>
            <a:off x="457200" y="1600200"/>
            <a:ext cx="8229600" cy="36576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请在下方空白处绘制斯密思想的影响流变图</a:t>
            </a:r>
            <a:endParaRPr lang="en-US" sz="1400" dirty="0"/>
          </a:p>
        </p:txBody>
      </p:sp>
      <p:sp>
        <p:nvSpPr>
          <p:cNvPr id="6" name="Shape 4"/>
          <p:cNvSpPr/>
          <p:nvPr/>
        </p:nvSpPr>
        <p:spPr>
          <a:xfrm>
            <a:off x="457200" y="2011680"/>
            <a:ext cx="8229600" cy="2286000"/>
          </a:xfrm>
          <a:prstGeom prst="rect">
            <a:avLst/>
          </a:prstGeom>
          <a:solidFill>
            <a:srgbClr val="FFFFFF"/>
          </a:solidFill>
          <a:ln w="12700">
            <a:solidFill>
              <a:srgbClr val="669BBC"/>
            </a:solidFill>
            <a:prstDash val="dash"/>
          </a:ln>
        </p:spPr>
      </p:sp>
      <p:sp>
        <p:nvSpPr>
          <p:cNvPr id="7" name="Text 5"/>
          <p:cNvSpPr/>
          <p:nvPr/>
        </p:nvSpPr>
        <p:spPr>
          <a:xfrm>
            <a:off x="457200" y="2926080"/>
            <a:ext cx="8229600" cy="457200"/>
          </a:xfrm>
          <a:prstGeom prst="rect">
            <a:avLst/>
          </a:prstGeom>
          <a:noFill/>
          <a:ln/>
        </p:spPr>
        <p:txBody>
          <a:bodyPr wrap="square" rtlCol="0" anchor="ctr"/>
          <a:lstStyle/>
          <a:p>
            <a:pPr algn="ctr" indent="0" marL="0">
              <a:buNone/>
            </a:pPr>
            <a:r>
              <a:rPr lang="en-US" sz="1600" dirty="0">
                <a:solidFill>
                  <a:srgbClr val="669BBC"/>
                </a:solidFill>
                <a:latin typeface="Microsoft YaHei" pitchFamily="34" charset="0"/>
                <a:ea typeface="Microsoft YaHei" pitchFamily="34" charset="-122"/>
                <a:cs typeface="Microsoft YaHei" pitchFamily="34" charset="-120"/>
              </a:rPr>
              <a:t>在此绘制你的思想谱系图</a:t>
            </a:r>
            <a:endParaRPr lang="en-US" sz="1600" dirty="0"/>
          </a:p>
        </p:txBody>
      </p:sp>
      <p:sp>
        <p:nvSpPr>
          <p:cNvPr id="8" name="Text 6"/>
          <p:cNvSpPr/>
          <p:nvPr/>
        </p:nvSpPr>
        <p:spPr>
          <a:xfrm>
            <a:off x="457200" y="4297680"/>
            <a:ext cx="822960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提示：从斯密出发，延伸至：古典学派 → 新古典 → 凯恩斯 → 现代经济思想</a:t>
            </a:r>
            <a:endParaRPr lang="en-US" sz="1200" dirty="0"/>
          </a:p>
        </p:txBody>
      </p:sp>
      <p:sp>
        <p:nvSpPr>
          <p:cNvPr id="9" name="Shape 7"/>
          <p:cNvSpPr/>
          <p:nvPr/>
        </p:nvSpPr>
        <p:spPr>
          <a:xfrm>
            <a:off x="6858000" y="2103120"/>
            <a:ext cx="1645920" cy="411480"/>
          </a:xfrm>
          <a:prstGeom prst="rect">
            <a:avLst/>
          </a:prstGeom>
          <a:solidFill>
            <a:srgbClr val="780000"/>
          </a:solidFill>
          <a:ln/>
        </p:spPr>
      </p:sp>
      <p:sp>
        <p:nvSpPr>
          <p:cNvPr id="10" name="Text 8"/>
          <p:cNvSpPr/>
          <p:nvPr/>
        </p:nvSpPr>
        <p:spPr>
          <a:xfrm>
            <a:off x="6858000" y="2103120"/>
            <a:ext cx="1645920" cy="41148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斯密</a:t>
            </a:r>
            <a:endParaRPr lang="en-US" sz="1200" dirty="0"/>
          </a:p>
        </p:txBody>
      </p:sp>
      <p:sp>
        <p:nvSpPr>
          <p:cNvPr id="11" name="Shape 9"/>
          <p:cNvSpPr/>
          <p:nvPr/>
        </p:nvSpPr>
        <p:spPr>
          <a:xfrm>
            <a:off x="6858000" y="2606040"/>
            <a:ext cx="1645920" cy="411480"/>
          </a:xfrm>
          <a:prstGeom prst="rect">
            <a:avLst/>
          </a:prstGeom>
          <a:solidFill>
            <a:srgbClr val="003049"/>
          </a:solidFill>
          <a:ln/>
        </p:spPr>
      </p:sp>
      <p:sp>
        <p:nvSpPr>
          <p:cNvPr id="12" name="Text 10"/>
          <p:cNvSpPr/>
          <p:nvPr/>
        </p:nvSpPr>
        <p:spPr>
          <a:xfrm>
            <a:off x="6858000" y="2606040"/>
            <a:ext cx="1645920" cy="41148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李嘉图</a:t>
            </a:r>
            <a:endParaRPr lang="en-US" sz="1200" dirty="0"/>
          </a:p>
        </p:txBody>
      </p:sp>
      <p:sp>
        <p:nvSpPr>
          <p:cNvPr id="13" name="Shape 11"/>
          <p:cNvSpPr/>
          <p:nvPr/>
        </p:nvSpPr>
        <p:spPr>
          <a:xfrm>
            <a:off x="6858000" y="3108960"/>
            <a:ext cx="1645920" cy="411480"/>
          </a:xfrm>
          <a:prstGeom prst="rect">
            <a:avLst/>
          </a:prstGeom>
          <a:solidFill>
            <a:srgbClr val="669BBC"/>
          </a:solidFill>
          <a:ln/>
        </p:spPr>
      </p:sp>
      <p:sp>
        <p:nvSpPr>
          <p:cNvPr id="14" name="Text 12"/>
          <p:cNvSpPr/>
          <p:nvPr/>
        </p:nvSpPr>
        <p:spPr>
          <a:xfrm>
            <a:off x="6858000" y="3108960"/>
            <a:ext cx="1645920" cy="411480"/>
          </a:xfrm>
          <a:prstGeom prst="rect">
            <a:avLst/>
          </a:prstGeom>
          <a:noFill/>
          <a:ln/>
        </p:spPr>
        <p:txBody>
          <a:bodyPr wrap="square" rtlCol="0" anchor="ctr"/>
          <a:lstStyle/>
          <a:p>
            <a:pPr algn="ctr" indent="0" marL="0">
              <a:buNone/>
            </a:pPr>
            <a:r>
              <a:rPr lang="en-US" sz="1200" dirty="0">
                <a:solidFill>
                  <a:srgbClr val="780000"/>
                </a:solidFill>
                <a:latin typeface="Microsoft YaHei" pitchFamily="34" charset="0"/>
                <a:ea typeface="Microsoft YaHei" pitchFamily="34" charset="-122"/>
                <a:cs typeface="Microsoft YaHei" pitchFamily="34" charset="-120"/>
              </a:rPr>
              <a:t>穆勒</a:t>
            </a:r>
            <a:endParaRPr lang="en-US" sz="1200" dirty="0"/>
          </a:p>
        </p:txBody>
      </p:sp>
      <p:sp>
        <p:nvSpPr>
          <p:cNvPr id="15" name="Shape 13"/>
          <p:cNvSpPr/>
          <p:nvPr/>
        </p:nvSpPr>
        <p:spPr>
          <a:xfrm>
            <a:off x="8503920" y="4663440"/>
            <a:ext cx="365760" cy="365760"/>
          </a:xfrm>
          <a:prstGeom prst="ellipse">
            <a:avLst/>
          </a:prstGeom>
          <a:solidFill>
            <a:srgbClr val="780000"/>
          </a:solidFill>
          <a:ln/>
        </p:spPr>
      </p:sp>
      <p:sp>
        <p:nvSpPr>
          <p:cNvPr id="16" name="Text 14"/>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1121F"/>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练习四</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200" b="1" dirty="0">
                <a:solidFill>
                  <a:srgbClr val="780000"/>
                </a:solidFill>
                <a:latin typeface="Georgia" pitchFamily="34" charset="0"/>
                <a:ea typeface="Georgia" pitchFamily="34" charset="-122"/>
                <a:cs typeface="Georgia" pitchFamily="34" charset="-120"/>
              </a:rPr>
              <a:t>案例分析</a:t>
            </a:r>
            <a:endParaRPr lang="en-US" sz="3200" dirty="0"/>
          </a:p>
        </p:txBody>
      </p:sp>
      <p:sp>
        <p:nvSpPr>
          <p:cNvPr id="5" name="Shape 3"/>
          <p:cNvSpPr/>
          <p:nvPr/>
        </p:nvSpPr>
        <p:spPr>
          <a:xfrm>
            <a:off x="457200" y="1691640"/>
            <a:ext cx="8229600" cy="1463040"/>
          </a:xfrm>
          <a:prstGeom prst="rect">
            <a:avLst/>
          </a:prstGeom>
          <a:solidFill>
            <a:srgbClr val="FFFFFF"/>
          </a:solidFill>
          <a:ln w="25400">
            <a:solidFill>
              <a:srgbClr val="780000"/>
            </a:solidFill>
            <a:prstDash val="solid"/>
          </a:ln>
        </p:spPr>
      </p:sp>
      <p:sp>
        <p:nvSpPr>
          <p:cNvPr id="6" name="Text 4"/>
          <p:cNvSpPr/>
          <p:nvPr/>
        </p:nvSpPr>
        <p:spPr>
          <a:xfrm>
            <a:off x="640080" y="1783080"/>
            <a:ext cx="786384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案例：某城市突然宣布取消全部路边停车收费</a:t>
            </a:r>
            <a:endParaRPr lang="en-US" sz="1400" dirty="0"/>
          </a:p>
        </p:txBody>
      </p:sp>
      <p:sp>
        <p:nvSpPr>
          <p:cNvPr id="7" name="Text 5"/>
          <p:cNvSpPr/>
          <p:nvPr/>
        </p:nvSpPr>
        <p:spPr>
          <a:xfrm>
            <a:off x="640080" y="2194560"/>
            <a:ext cx="7863840" cy="868680"/>
          </a:xfrm>
          <a:prstGeom prst="rect">
            <a:avLst/>
          </a:prstGeom>
          <a:noFill/>
          <a:ln/>
        </p:spPr>
        <p:txBody>
          <a:bodyPr wrap="square" rtlCol="0" anchor="ctr"/>
          <a:lstStyle/>
          <a:p>
            <a:pPr indent="0" marL="0">
              <a:buNone/>
            </a:pPr>
            <a:r>
              <a:rPr lang="en-US" sz="1300" dirty="0">
                <a:solidFill>
                  <a:srgbClr val="003049"/>
                </a:solidFill>
                <a:latin typeface="Microsoft YaHei" pitchFamily="34" charset="0"/>
                <a:ea typeface="Microsoft YaHei" pitchFamily="34" charset="-122"/>
                <a:cs typeface="Microsoft YaHei" pitchFamily="34" charset="-120"/>
              </a:rPr>
              <a:t>背景：政府为解决停车难问题，取消路边停车收费，改为免费停车</a:t>
            </a:r>
            <a:endParaRPr lang="en-US" sz="1300" dirty="0"/>
          </a:p>
          <a:p>
            <a:pPr indent="0" marL="0">
              <a:buNone/>
            </a:pPr>
            <a:r>
              <a:rPr lang="en-US" sz="1300" dirty="0">
                <a:solidFill>
                  <a:srgbClr val="003049"/>
                </a:solidFill>
                <a:latin typeface="Microsoft YaHei" pitchFamily="34" charset="0"/>
                <a:ea typeface="Microsoft YaHei" pitchFamily="34" charset="-122"/>
                <a:cs typeface="Microsoft YaHei" pitchFamily="34" charset="-120"/>
              </a:rPr>
              <a:t>结果：短时间内出现大量僵尸车，普通市民反而更难找到停车位</a:t>
            </a:r>
            <a:endParaRPr lang="en-US" sz="1300" dirty="0"/>
          </a:p>
          <a:p>
            <a:pPr indent="0" marL="0">
              <a:buNone/>
            </a:pPr>
            <a:r>
              <a:rPr lang="en-US" sz="1300" dirty="0">
                <a:solidFill>
                  <a:srgbClr val="003049"/>
                </a:solidFill>
                <a:latin typeface="Microsoft YaHei" pitchFamily="34" charset="0"/>
                <a:ea typeface="Microsoft YaHei" pitchFamily="34" charset="-122"/>
                <a:cs typeface="Microsoft YaHei" pitchFamily="34" charset="-120"/>
              </a:rPr>
              <a:t>问题：为什么会这样？请用斯密的思想分析</a:t>
            </a:r>
            <a:endParaRPr lang="en-US" sz="1300" dirty="0"/>
          </a:p>
        </p:txBody>
      </p:sp>
      <p:sp>
        <p:nvSpPr>
          <p:cNvPr id="8" name="Text 6"/>
          <p:cNvSpPr/>
          <p:nvPr/>
        </p:nvSpPr>
        <p:spPr>
          <a:xfrm>
            <a:off x="457200" y="3291840"/>
            <a:ext cx="1828800" cy="365760"/>
          </a:xfrm>
          <a:prstGeom prst="rect">
            <a:avLst/>
          </a:prstGeom>
          <a:noFill/>
          <a:ln/>
        </p:spPr>
        <p:txBody>
          <a:bodyPr wrap="square" rtlCol="0" anchor="ctr"/>
          <a:lstStyle/>
          <a:p>
            <a:pPr indent="0" marL="0">
              <a:buNone/>
            </a:pPr>
            <a:r>
              <a:rPr lang="en-US" sz="1400" b="1" dirty="0">
                <a:solidFill>
                  <a:srgbClr val="780000"/>
                </a:solidFill>
                <a:latin typeface="Microsoft YaHei" pitchFamily="34" charset="0"/>
                <a:ea typeface="Microsoft YaHei" pitchFamily="34" charset="-122"/>
                <a:cs typeface="Microsoft YaHei" pitchFamily="34" charset="-120"/>
              </a:rPr>
              <a:t>分析框架</a:t>
            </a:r>
            <a:endParaRPr lang="en-US" sz="1400" dirty="0"/>
          </a:p>
        </p:txBody>
      </p:sp>
      <p:sp>
        <p:nvSpPr>
          <p:cNvPr id="9" name="Shape 7"/>
          <p:cNvSpPr/>
          <p:nvPr/>
        </p:nvSpPr>
        <p:spPr>
          <a:xfrm>
            <a:off x="457200" y="3657600"/>
            <a:ext cx="4114800" cy="457200"/>
          </a:xfrm>
          <a:prstGeom prst="rect">
            <a:avLst/>
          </a:prstGeom>
          <a:solidFill>
            <a:srgbClr val="003049"/>
          </a:solidFill>
          <a:ln/>
        </p:spPr>
      </p:sp>
      <p:sp>
        <p:nvSpPr>
          <p:cNvPr id="10" name="Text 8"/>
          <p:cNvSpPr/>
          <p:nvPr/>
        </p:nvSpPr>
        <p:spPr>
          <a:xfrm>
            <a:off x="548640" y="3657600"/>
            <a:ext cx="3931920" cy="4572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价格信号：收费提供了停车位供需的价格信号</a:t>
            </a:r>
            <a:endParaRPr lang="en-US" sz="1100" dirty="0"/>
          </a:p>
        </p:txBody>
      </p:sp>
      <p:sp>
        <p:nvSpPr>
          <p:cNvPr id="11" name="Shape 9"/>
          <p:cNvSpPr/>
          <p:nvPr/>
        </p:nvSpPr>
        <p:spPr>
          <a:xfrm>
            <a:off x="4754880" y="3657600"/>
            <a:ext cx="4114800" cy="457200"/>
          </a:xfrm>
          <a:prstGeom prst="rect">
            <a:avLst/>
          </a:prstGeom>
          <a:solidFill>
            <a:srgbClr val="003049"/>
          </a:solidFill>
          <a:ln/>
        </p:spPr>
      </p:sp>
      <p:sp>
        <p:nvSpPr>
          <p:cNvPr id="12" name="Text 10"/>
          <p:cNvSpPr/>
          <p:nvPr/>
        </p:nvSpPr>
        <p:spPr>
          <a:xfrm>
            <a:off x="4846320" y="3657600"/>
            <a:ext cx="3931920" cy="45720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自我利益：免费导致部分人长期占用停车位</a:t>
            </a:r>
            <a:endParaRPr lang="en-US" sz="1100" dirty="0"/>
          </a:p>
        </p:txBody>
      </p:sp>
      <p:sp>
        <p:nvSpPr>
          <p:cNvPr id="13" name="Shape 11"/>
          <p:cNvSpPr/>
          <p:nvPr/>
        </p:nvSpPr>
        <p:spPr>
          <a:xfrm>
            <a:off x="457200" y="4206240"/>
            <a:ext cx="4114800" cy="457200"/>
          </a:xfrm>
          <a:prstGeom prst="rect">
            <a:avLst/>
          </a:prstGeom>
          <a:solidFill>
            <a:srgbClr val="669BBC"/>
          </a:solidFill>
          <a:ln/>
        </p:spPr>
      </p:sp>
      <p:sp>
        <p:nvSpPr>
          <p:cNvPr id="14" name="Text 12"/>
          <p:cNvSpPr/>
          <p:nvPr/>
        </p:nvSpPr>
        <p:spPr>
          <a:xfrm>
            <a:off x="548640" y="4206240"/>
            <a:ext cx="3931920" cy="457200"/>
          </a:xfrm>
          <a:prstGeom prst="rect">
            <a:avLst/>
          </a:prstGeom>
          <a:noFill/>
          <a:ln/>
        </p:spPr>
        <p:txBody>
          <a:bodyPr wrap="square" rtlCol="0" anchor="ctr"/>
          <a:lstStyle/>
          <a:p>
            <a:pPr indent="0" marL="0">
              <a:buNone/>
            </a:pPr>
            <a:r>
              <a:rPr lang="en-US" sz="1100" dirty="0">
                <a:solidFill>
                  <a:srgbClr val="780000"/>
                </a:solidFill>
                <a:latin typeface="Microsoft YaHei" pitchFamily="34" charset="0"/>
                <a:ea typeface="Microsoft YaHei" pitchFamily="34" charset="-122"/>
                <a:cs typeface="Microsoft YaHei" pitchFamily="34" charset="-120"/>
              </a:rPr>
              <a:t>道德风险：缺乏成本约束，理性人选择最大化便利</a:t>
            </a:r>
            <a:endParaRPr lang="en-US" sz="1100" dirty="0"/>
          </a:p>
        </p:txBody>
      </p:sp>
      <p:sp>
        <p:nvSpPr>
          <p:cNvPr id="15" name="Shape 13"/>
          <p:cNvSpPr/>
          <p:nvPr/>
        </p:nvSpPr>
        <p:spPr>
          <a:xfrm>
            <a:off x="4754880" y="4206240"/>
            <a:ext cx="4114800" cy="457200"/>
          </a:xfrm>
          <a:prstGeom prst="rect">
            <a:avLst/>
          </a:prstGeom>
          <a:solidFill>
            <a:srgbClr val="669BBC"/>
          </a:solidFill>
          <a:ln/>
        </p:spPr>
      </p:sp>
      <p:sp>
        <p:nvSpPr>
          <p:cNvPr id="16" name="Text 14"/>
          <p:cNvSpPr/>
          <p:nvPr/>
        </p:nvSpPr>
        <p:spPr>
          <a:xfrm>
            <a:off x="4846320" y="4206240"/>
            <a:ext cx="3931920" cy="457200"/>
          </a:xfrm>
          <a:prstGeom prst="rect">
            <a:avLst/>
          </a:prstGeom>
          <a:noFill/>
          <a:ln/>
        </p:spPr>
        <p:txBody>
          <a:bodyPr wrap="square" rtlCol="0" anchor="ctr"/>
          <a:lstStyle/>
          <a:p>
            <a:pPr indent="0" marL="0">
              <a:buNone/>
            </a:pPr>
            <a:r>
              <a:rPr lang="en-US" sz="1100" dirty="0">
                <a:solidFill>
                  <a:srgbClr val="780000"/>
                </a:solidFill>
                <a:latin typeface="Microsoft YaHei" pitchFamily="34" charset="0"/>
                <a:ea typeface="Microsoft YaHei" pitchFamily="34" charset="-122"/>
                <a:cs typeface="Microsoft YaHei" pitchFamily="34" charset="-120"/>
              </a:rPr>
              <a:t>政府边界：此案例说明政府干预可能适得其反</a:t>
            </a:r>
            <a:endParaRPr lang="en-US" sz="1100" dirty="0"/>
          </a:p>
        </p:txBody>
      </p:sp>
      <p:sp>
        <p:nvSpPr>
          <p:cNvPr id="17" name="Shape 15"/>
          <p:cNvSpPr/>
          <p:nvPr/>
        </p:nvSpPr>
        <p:spPr>
          <a:xfrm>
            <a:off x="8503920" y="4663440"/>
            <a:ext cx="365760" cy="365760"/>
          </a:xfrm>
          <a:prstGeom prst="ellipse">
            <a:avLst/>
          </a:prstGeom>
          <a:solidFill>
            <a:srgbClr val="780000"/>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1121F"/>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练习五</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200" b="1" dirty="0">
                <a:solidFill>
                  <a:srgbClr val="780000"/>
                </a:solidFill>
                <a:latin typeface="Georgia" pitchFamily="34" charset="0"/>
                <a:ea typeface="Georgia" pitchFamily="34" charset="-122"/>
                <a:cs typeface="Georgia" pitchFamily="34" charset="-120"/>
              </a:rPr>
              <a:t>核心概念解释</a:t>
            </a:r>
            <a:endParaRPr lang="en-US" sz="3200" dirty="0"/>
          </a:p>
        </p:txBody>
      </p:sp>
      <p:sp>
        <p:nvSpPr>
          <p:cNvPr id="5" name="Text 3"/>
          <p:cNvSpPr/>
          <p:nvPr/>
        </p:nvSpPr>
        <p:spPr>
          <a:xfrm>
            <a:off x="457200" y="1600200"/>
            <a:ext cx="8229600" cy="320040"/>
          </a:xfrm>
          <a:prstGeom prst="rect">
            <a:avLst/>
          </a:prstGeom>
          <a:noFill/>
          <a:ln/>
        </p:spPr>
        <p:txBody>
          <a:bodyPr wrap="square" rtlCol="0" anchor="ctr"/>
          <a:lstStyle/>
          <a:p>
            <a:pPr indent="0" marL="0">
              <a:buNone/>
            </a:pPr>
            <a:r>
              <a:rPr lang="en-US" sz="1400" dirty="0">
                <a:solidFill>
                  <a:srgbClr val="003049"/>
                </a:solidFill>
                <a:latin typeface="Microsoft YaHei" pitchFamily="34" charset="0"/>
                <a:ea typeface="Microsoft YaHei" pitchFamily="34" charset="-122"/>
                <a:cs typeface="Microsoft YaHei" pitchFamily="34" charset="-120"/>
              </a:rPr>
              <a:t>请用自己的话解释以下概念（每题不少于50字）</a:t>
            </a:r>
            <a:endParaRPr lang="en-US" sz="1400" dirty="0"/>
          </a:p>
        </p:txBody>
      </p:sp>
      <p:sp>
        <p:nvSpPr>
          <p:cNvPr id="6" name="Shape 4"/>
          <p:cNvSpPr/>
          <p:nvPr/>
        </p:nvSpPr>
        <p:spPr>
          <a:xfrm>
            <a:off x="457200" y="2011680"/>
            <a:ext cx="2286000" cy="822960"/>
          </a:xfrm>
          <a:prstGeom prst="rect">
            <a:avLst/>
          </a:prstGeom>
          <a:solidFill>
            <a:srgbClr val="780000"/>
          </a:solidFill>
          <a:ln/>
        </p:spPr>
      </p:sp>
      <p:sp>
        <p:nvSpPr>
          <p:cNvPr id="7" name="Text 5"/>
          <p:cNvSpPr/>
          <p:nvPr/>
        </p:nvSpPr>
        <p:spPr>
          <a:xfrm>
            <a:off x="457200" y="2011680"/>
            <a:ext cx="2286000" cy="82296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看不见的手</a:t>
            </a:r>
            <a:endParaRPr lang="en-US" sz="1600" dirty="0"/>
          </a:p>
        </p:txBody>
      </p:sp>
      <p:sp>
        <p:nvSpPr>
          <p:cNvPr id="8" name="Shape 6"/>
          <p:cNvSpPr/>
          <p:nvPr/>
        </p:nvSpPr>
        <p:spPr>
          <a:xfrm>
            <a:off x="2834640" y="2011680"/>
            <a:ext cx="5852160" cy="822960"/>
          </a:xfrm>
          <a:prstGeom prst="rect">
            <a:avLst/>
          </a:prstGeom>
          <a:solidFill>
            <a:srgbClr val="FFFFFF"/>
          </a:solidFill>
          <a:ln w="12700">
            <a:solidFill>
              <a:srgbClr val="669BBC"/>
            </a:solidFill>
            <a:prstDash val="solid"/>
          </a:ln>
        </p:spPr>
      </p:sp>
      <p:sp>
        <p:nvSpPr>
          <p:cNvPr id="9" name="Text 7"/>
          <p:cNvSpPr/>
          <p:nvPr/>
        </p:nvSpPr>
        <p:spPr>
          <a:xfrm>
            <a:off x="3017520" y="2286000"/>
            <a:ext cx="5486400" cy="365760"/>
          </a:xfrm>
          <a:prstGeom prst="rect">
            <a:avLst/>
          </a:prstGeom>
          <a:noFill/>
          <a:ln/>
        </p:spPr>
        <p:txBody>
          <a:bodyPr wrap="square" rtlCol="0" anchor="ctr"/>
          <a:lstStyle/>
          <a:p>
            <a:pPr indent="0" marL="0">
              <a:buNone/>
            </a:pPr>
            <a:r>
              <a:rPr lang="en-US" sz="1200" dirty="0">
                <a:solidFill>
                  <a:srgbClr val="669BBC"/>
                </a:solidFill>
                <a:latin typeface="Microsoft YaHei" pitchFamily="34" charset="0"/>
                <a:ea typeface="Microsoft YaHei" pitchFamily="34" charset="-122"/>
                <a:cs typeface="Microsoft YaHei" pitchFamily="34" charset="-120"/>
              </a:rPr>
              <a:t>提示：斯密用这个比喻说明什么经济现象？</a:t>
            </a:r>
            <a:endParaRPr lang="en-US" sz="1200" dirty="0"/>
          </a:p>
        </p:txBody>
      </p:sp>
      <p:sp>
        <p:nvSpPr>
          <p:cNvPr id="10" name="Shape 8"/>
          <p:cNvSpPr/>
          <p:nvPr/>
        </p:nvSpPr>
        <p:spPr>
          <a:xfrm>
            <a:off x="457200" y="3017520"/>
            <a:ext cx="2286000" cy="822960"/>
          </a:xfrm>
          <a:prstGeom prst="rect">
            <a:avLst/>
          </a:prstGeom>
          <a:solidFill>
            <a:srgbClr val="780000"/>
          </a:solidFill>
          <a:ln/>
        </p:spPr>
      </p:sp>
      <p:sp>
        <p:nvSpPr>
          <p:cNvPr id="11" name="Text 9"/>
          <p:cNvSpPr/>
          <p:nvPr/>
        </p:nvSpPr>
        <p:spPr>
          <a:xfrm>
            <a:off x="457200" y="3017520"/>
            <a:ext cx="2286000" cy="82296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劳动分工</a:t>
            </a:r>
            <a:endParaRPr lang="en-US" sz="1600" dirty="0"/>
          </a:p>
        </p:txBody>
      </p:sp>
      <p:sp>
        <p:nvSpPr>
          <p:cNvPr id="12" name="Shape 10"/>
          <p:cNvSpPr/>
          <p:nvPr/>
        </p:nvSpPr>
        <p:spPr>
          <a:xfrm>
            <a:off x="2834640" y="3017520"/>
            <a:ext cx="5852160" cy="822960"/>
          </a:xfrm>
          <a:prstGeom prst="rect">
            <a:avLst/>
          </a:prstGeom>
          <a:solidFill>
            <a:srgbClr val="FFFFFF"/>
          </a:solidFill>
          <a:ln w="12700">
            <a:solidFill>
              <a:srgbClr val="669BBC"/>
            </a:solidFill>
            <a:prstDash val="solid"/>
          </a:ln>
        </p:spPr>
      </p:sp>
      <p:sp>
        <p:nvSpPr>
          <p:cNvPr id="13" name="Text 11"/>
          <p:cNvSpPr/>
          <p:nvPr/>
        </p:nvSpPr>
        <p:spPr>
          <a:xfrm>
            <a:off x="3017520" y="3291840"/>
            <a:ext cx="5486400" cy="365760"/>
          </a:xfrm>
          <a:prstGeom prst="rect">
            <a:avLst/>
          </a:prstGeom>
          <a:noFill/>
          <a:ln/>
        </p:spPr>
        <p:txBody>
          <a:bodyPr wrap="square" rtlCol="0" anchor="ctr"/>
          <a:lstStyle/>
          <a:p>
            <a:pPr indent="0" marL="0">
              <a:buNone/>
            </a:pPr>
            <a:r>
              <a:rPr lang="en-US" sz="1200" dirty="0">
                <a:solidFill>
                  <a:srgbClr val="669BBC"/>
                </a:solidFill>
                <a:latin typeface="Microsoft YaHei" pitchFamily="34" charset="0"/>
                <a:ea typeface="Microsoft YaHei" pitchFamily="34" charset="-122"/>
                <a:cs typeface="Microsoft YaHei" pitchFamily="34" charset="-120"/>
              </a:rPr>
              <a:t>提示：分工如何促进财富增长？</a:t>
            </a:r>
            <a:endParaRPr lang="en-US" sz="1200" dirty="0"/>
          </a:p>
        </p:txBody>
      </p:sp>
      <p:sp>
        <p:nvSpPr>
          <p:cNvPr id="14" name="Shape 12"/>
          <p:cNvSpPr/>
          <p:nvPr/>
        </p:nvSpPr>
        <p:spPr>
          <a:xfrm>
            <a:off x="457200" y="4023360"/>
            <a:ext cx="2286000" cy="822960"/>
          </a:xfrm>
          <a:prstGeom prst="rect">
            <a:avLst/>
          </a:prstGeom>
          <a:solidFill>
            <a:srgbClr val="780000"/>
          </a:solidFill>
          <a:ln/>
        </p:spPr>
      </p:sp>
      <p:sp>
        <p:nvSpPr>
          <p:cNvPr id="15" name="Text 13"/>
          <p:cNvSpPr/>
          <p:nvPr/>
        </p:nvSpPr>
        <p:spPr>
          <a:xfrm>
            <a:off x="457200" y="4023360"/>
            <a:ext cx="2286000" cy="82296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交换倾向</a:t>
            </a:r>
            <a:endParaRPr lang="en-US" sz="1600" dirty="0"/>
          </a:p>
        </p:txBody>
      </p:sp>
      <p:sp>
        <p:nvSpPr>
          <p:cNvPr id="16" name="Shape 14"/>
          <p:cNvSpPr/>
          <p:nvPr/>
        </p:nvSpPr>
        <p:spPr>
          <a:xfrm>
            <a:off x="2834640" y="4023360"/>
            <a:ext cx="5852160" cy="822960"/>
          </a:xfrm>
          <a:prstGeom prst="rect">
            <a:avLst/>
          </a:prstGeom>
          <a:solidFill>
            <a:srgbClr val="FFFFFF"/>
          </a:solidFill>
          <a:ln w="12700">
            <a:solidFill>
              <a:srgbClr val="669BBC"/>
            </a:solidFill>
            <a:prstDash val="solid"/>
          </a:ln>
        </p:spPr>
      </p:sp>
      <p:sp>
        <p:nvSpPr>
          <p:cNvPr id="17" name="Text 15"/>
          <p:cNvSpPr/>
          <p:nvPr/>
        </p:nvSpPr>
        <p:spPr>
          <a:xfrm>
            <a:off x="3017520" y="4297680"/>
            <a:ext cx="5486400" cy="365760"/>
          </a:xfrm>
          <a:prstGeom prst="rect">
            <a:avLst/>
          </a:prstGeom>
          <a:noFill/>
          <a:ln/>
        </p:spPr>
        <p:txBody>
          <a:bodyPr wrap="square" rtlCol="0" anchor="ctr"/>
          <a:lstStyle/>
          <a:p>
            <a:pPr indent="0" marL="0">
              <a:buNone/>
            </a:pPr>
            <a:r>
              <a:rPr lang="en-US" sz="1200" dirty="0">
                <a:solidFill>
                  <a:srgbClr val="669BBC"/>
                </a:solidFill>
                <a:latin typeface="Microsoft YaHei" pitchFamily="34" charset="0"/>
                <a:ea typeface="Microsoft YaHei" pitchFamily="34" charset="-122"/>
                <a:cs typeface="Microsoft YaHei" pitchFamily="34" charset="-120"/>
              </a:rPr>
              <a:t>提示：人类为什么愿意交换而非自给自足？</a:t>
            </a:r>
            <a:endParaRPr lang="en-US" sz="1200" dirty="0"/>
          </a:p>
        </p:txBody>
      </p:sp>
      <p:sp>
        <p:nvSpPr>
          <p:cNvPr id="18" name="Shape 16"/>
          <p:cNvSpPr/>
          <p:nvPr/>
        </p:nvSpPr>
        <p:spPr>
          <a:xfrm>
            <a:off x="8503920" y="4663440"/>
            <a:ext cx="365760" cy="365760"/>
          </a:xfrm>
          <a:prstGeom prst="ellipse">
            <a:avLst/>
          </a:prstGeom>
          <a:solidFill>
            <a:srgbClr val="780000"/>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课程回顾</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全景图</a:t>
            </a:r>
            <a:endParaRPr lang="en-US" sz="3600" dirty="0"/>
          </a:p>
        </p:txBody>
      </p:sp>
      <p:sp>
        <p:nvSpPr>
          <p:cNvPr id="5" name="Shape 3"/>
          <p:cNvSpPr/>
          <p:nvPr/>
        </p:nvSpPr>
        <p:spPr>
          <a:xfrm>
            <a:off x="457200" y="1828800"/>
            <a:ext cx="1554480" cy="2560320"/>
          </a:xfrm>
          <a:prstGeom prst="rect">
            <a:avLst/>
          </a:prstGeom>
          <a:solidFill>
            <a:srgbClr val="780000"/>
          </a:solidFill>
          <a:ln/>
        </p:spPr>
      </p:sp>
      <p:sp>
        <p:nvSpPr>
          <p:cNvPr id="6" name="Text 4"/>
          <p:cNvSpPr/>
          <p:nvPr/>
        </p:nvSpPr>
        <p:spPr>
          <a:xfrm>
            <a:off x="457200" y="1920240"/>
            <a:ext cx="155448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模块一</a:t>
            </a:r>
            <a:endParaRPr lang="en-US" sz="1200" dirty="0"/>
          </a:p>
        </p:txBody>
      </p:sp>
      <p:sp>
        <p:nvSpPr>
          <p:cNvPr id="7" name="Text 5"/>
          <p:cNvSpPr/>
          <p:nvPr/>
        </p:nvSpPr>
        <p:spPr>
          <a:xfrm>
            <a:off x="457200" y="2377440"/>
            <a:ext cx="15544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导论</a:t>
            </a:r>
            <a:endParaRPr lang="en-US" sz="1600" dirty="0"/>
          </a:p>
        </p:txBody>
      </p:sp>
      <p:sp>
        <p:nvSpPr>
          <p:cNvPr id="8" name="Text 6"/>
          <p:cNvSpPr/>
          <p:nvPr/>
        </p:nvSpPr>
        <p:spPr>
          <a:xfrm>
            <a:off x="548640" y="2926080"/>
            <a:ext cx="1371600" cy="12801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斯密生平与时代背景</a:t>
            </a:r>
            <a:endParaRPr lang="en-US" sz="1000" dirty="0"/>
          </a:p>
        </p:txBody>
      </p:sp>
      <p:sp>
        <p:nvSpPr>
          <p:cNvPr id="9" name="Shape 7"/>
          <p:cNvSpPr/>
          <p:nvPr/>
        </p:nvSpPr>
        <p:spPr>
          <a:xfrm>
            <a:off x="2194560" y="1828800"/>
            <a:ext cx="1554480" cy="2560320"/>
          </a:xfrm>
          <a:prstGeom prst="rect">
            <a:avLst/>
          </a:prstGeom>
          <a:solidFill>
            <a:srgbClr val="003049"/>
          </a:solidFill>
          <a:ln/>
        </p:spPr>
      </p:sp>
      <p:sp>
        <p:nvSpPr>
          <p:cNvPr id="10" name="Text 8"/>
          <p:cNvSpPr/>
          <p:nvPr/>
        </p:nvSpPr>
        <p:spPr>
          <a:xfrm>
            <a:off x="2194560" y="1920240"/>
            <a:ext cx="155448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模块二</a:t>
            </a:r>
            <a:endParaRPr lang="en-US" sz="1200" dirty="0"/>
          </a:p>
        </p:txBody>
      </p:sp>
      <p:sp>
        <p:nvSpPr>
          <p:cNvPr id="11" name="Text 9"/>
          <p:cNvSpPr/>
          <p:nvPr/>
        </p:nvSpPr>
        <p:spPr>
          <a:xfrm>
            <a:off x="2194560" y="2377440"/>
            <a:ext cx="15544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人性论</a:t>
            </a:r>
            <a:endParaRPr lang="en-US" sz="1600" dirty="0"/>
          </a:p>
        </p:txBody>
      </p:sp>
      <p:sp>
        <p:nvSpPr>
          <p:cNvPr id="12" name="Text 10"/>
          <p:cNvSpPr/>
          <p:nvPr/>
        </p:nvSpPr>
        <p:spPr>
          <a:xfrm>
            <a:off x="2286000" y="2926080"/>
            <a:ext cx="1371600" cy="12801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道德情感与同情心</a:t>
            </a:r>
            <a:endParaRPr lang="en-US" sz="1000" dirty="0"/>
          </a:p>
        </p:txBody>
      </p:sp>
      <p:sp>
        <p:nvSpPr>
          <p:cNvPr id="13" name="Shape 11"/>
          <p:cNvSpPr/>
          <p:nvPr/>
        </p:nvSpPr>
        <p:spPr>
          <a:xfrm>
            <a:off x="3931920" y="1828800"/>
            <a:ext cx="1554480" cy="2560320"/>
          </a:xfrm>
          <a:prstGeom prst="rect">
            <a:avLst/>
          </a:prstGeom>
          <a:solidFill>
            <a:srgbClr val="C1121F"/>
          </a:solidFill>
          <a:ln/>
        </p:spPr>
      </p:sp>
      <p:sp>
        <p:nvSpPr>
          <p:cNvPr id="14" name="Text 12"/>
          <p:cNvSpPr/>
          <p:nvPr/>
        </p:nvSpPr>
        <p:spPr>
          <a:xfrm>
            <a:off x="3931920" y="1920240"/>
            <a:ext cx="155448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模块三</a:t>
            </a:r>
            <a:endParaRPr lang="en-US" sz="1200" dirty="0"/>
          </a:p>
        </p:txBody>
      </p:sp>
      <p:sp>
        <p:nvSpPr>
          <p:cNvPr id="15" name="Text 13"/>
          <p:cNvSpPr/>
          <p:nvPr/>
        </p:nvSpPr>
        <p:spPr>
          <a:xfrm>
            <a:off x="3931920" y="2377440"/>
            <a:ext cx="15544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市场论</a:t>
            </a:r>
            <a:endParaRPr lang="en-US" sz="1600" dirty="0"/>
          </a:p>
        </p:txBody>
      </p:sp>
      <p:sp>
        <p:nvSpPr>
          <p:cNvPr id="16" name="Text 14"/>
          <p:cNvSpPr/>
          <p:nvPr/>
        </p:nvSpPr>
        <p:spPr>
          <a:xfrm>
            <a:off x="4023360" y="2926080"/>
            <a:ext cx="1371600" cy="12801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看不见的手与价格机制</a:t>
            </a:r>
            <a:endParaRPr lang="en-US" sz="1000" dirty="0"/>
          </a:p>
        </p:txBody>
      </p:sp>
      <p:sp>
        <p:nvSpPr>
          <p:cNvPr id="17" name="Shape 15"/>
          <p:cNvSpPr/>
          <p:nvPr/>
        </p:nvSpPr>
        <p:spPr>
          <a:xfrm>
            <a:off x="5669280" y="1828800"/>
            <a:ext cx="1554480" cy="2560320"/>
          </a:xfrm>
          <a:prstGeom prst="rect">
            <a:avLst/>
          </a:prstGeom>
          <a:solidFill>
            <a:srgbClr val="669BBC"/>
          </a:solidFill>
          <a:ln/>
        </p:spPr>
      </p:sp>
      <p:sp>
        <p:nvSpPr>
          <p:cNvPr id="18" name="Text 16"/>
          <p:cNvSpPr/>
          <p:nvPr/>
        </p:nvSpPr>
        <p:spPr>
          <a:xfrm>
            <a:off x="5669280" y="1920240"/>
            <a:ext cx="155448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模块四</a:t>
            </a:r>
            <a:endParaRPr lang="en-US" sz="1200" dirty="0"/>
          </a:p>
        </p:txBody>
      </p:sp>
      <p:sp>
        <p:nvSpPr>
          <p:cNvPr id="19" name="Text 17"/>
          <p:cNvSpPr/>
          <p:nvPr/>
        </p:nvSpPr>
        <p:spPr>
          <a:xfrm>
            <a:off x="5669280" y="2377440"/>
            <a:ext cx="15544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国家论</a:t>
            </a:r>
            <a:endParaRPr lang="en-US" sz="1600" dirty="0"/>
          </a:p>
        </p:txBody>
      </p:sp>
      <p:sp>
        <p:nvSpPr>
          <p:cNvPr id="20" name="Text 18"/>
          <p:cNvSpPr/>
          <p:nvPr/>
        </p:nvSpPr>
        <p:spPr>
          <a:xfrm>
            <a:off x="5760720" y="2926080"/>
            <a:ext cx="1371600" cy="12801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政府职能与公共工程</a:t>
            </a:r>
            <a:endParaRPr lang="en-US" sz="1000" dirty="0"/>
          </a:p>
        </p:txBody>
      </p:sp>
      <p:sp>
        <p:nvSpPr>
          <p:cNvPr id="21" name="Shape 19"/>
          <p:cNvSpPr/>
          <p:nvPr/>
        </p:nvSpPr>
        <p:spPr>
          <a:xfrm>
            <a:off x="7406640" y="1828800"/>
            <a:ext cx="1554480" cy="2560320"/>
          </a:xfrm>
          <a:prstGeom prst="rect">
            <a:avLst/>
          </a:prstGeom>
          <a:solidFill>
            <a:srgbClr val="780000"/>
          </a:solidFill>
          <a:ln/>
        </p:spPr>
      </p:sp>
      <p:sp>
        <p:nvSpPr>
          <p:cNvPr id="22" name="Text 20"/>
          <p:cNvSpPr/>
          <p:nvPr/>
        </p:nvSpPr>
        <p:spPr>
          <a:xfrm>
            <a:off x="7406640" y="1920240"/>
            <a:ext cx="1554480" cy="36576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模块五</a:t>
            </a:r>
            <a:endParaRPr lang="en-US" sz="1200" dirty="0"/>
          </a:p>
        </p:txBody>
      </p:sp>
      <p:sp>
        <p:nvSpPr>
          <p:cNvPr id="23" name="Text 21"/>
          <p:cNvSpPr/>
          <p:nvPr/>
        </p:nvSpPr>
        <p:spPr>
          <a:xfrm>
            <a:off x="7406640" y="2377440"/>
            <a:ext cx="15544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讨论与练习</a:t>
            </a:r>
            <a:endParaRPr lang="en-US" sz="1600" dirty="0"/>
          </a:p>
        </p:txBody>
      </p:sp>
      <p:sp>
        <p:nvSpPr>
          <p:cNvPr id="24" name="Text 22"/>
          <p:cNvSpPr/>
          <p:nvPr/>
        </p:nvSpPr>
        <p:spPr>
          <a:xfrm>
            <a:off x="7498080" y="2926080"/>
            <a:ext cx="1371600" cy="12801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互动思考与知识巩固</a:t>
            </a:r>
            <a:endParaRPr lang="en-US" sz="1000" dirty="0"/>
          </a:p>
        </p:txBody>
      </p:sp>
      <p:sp>
        <p:nvSpPr>
          <p:cNvPr id="25" name="Shape 23"/>
          <p:cNvSpPr/>
          <p:nvPr/>
        </p:nvSpPr>
        <p:spPr>
          <a:xfrm>
            <a:off x="457200" y="4572000"/>
            <a:ext cx="8229600" cy="457200"/>
          </a:xfrm>
          <a:prstGeom prst="rect">
            <a:avLst/>
          </a:prstGeom>
          <a:solidFill>
            <a:srgbClr val="003049"/>
          </a:solidFill>
          <a:ln/>
        </p:spPr>
      </p:sp>
      <p:sp>
        <p:nvSpPr>
          <p:cNvPr id="26" name="Text 24"/>
          <p:cNvSpPr/>
          <p:nvPr/>
        </p:nvSpPr>
        <p:spPr>
          <a:xfrm>
            <a:off x="457200" y="4572000"/>
            <a:ext cx="8229600" cy="45720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核心主线：人性 → 市场 → 社会制度 → 现代反思</a:t>
            </a:r>
            <a:endParaRPr lang="en-US" sz="1400" dirty="0"/>
          </a:p>
        </p:txBody>
      </p:sp>
      <p:sp>
        <p:nvSpPr>
          <p:cNvPr id="27" name="Shape 25"/>
          <p:cNvSpPr/>
          <p:nvPr/>
        </p:nvSpPr>
        <p:spPr>
          <a:xfrm>
            <a:off x="8503920" y="4663440"/>
            <a:ext cx="365760" cy="365760"/>
          </a:xfrm>
          <a:prstGeom prst="ellipse">
            <a:avLst/>
          </a:prstGeom>
          <a:solidFill>
            <a:srgbClr val="C1121F"/>
          </a:solidFill>
          <a:ln/>
        </p:spPr>
      </p:sp>
      <p:sp>
        <p:nvSpPr>
          <p:cNvPr id="28" name="Text 2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81</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课程回顾</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关键人物地图</a:t>
            </a:r>
            <a:endParaRPr lang="en-US" sz="3600" dirty="0"/>
          </a:p>
        </p:txBody>
      </p:sp>
      <p:sp>
        <p:nvSpPr>
          <p:cNvPr id="5" name="Shape 3"/>
          <p:cNvSpPr/>
          <p:nvPr/>
        </p:nvSpPr>
        <p:spPr>
          <a:xfrm>
            <a:off x="3931920" y="2286000"/>
            <a:ext cx="1280160" cy="1280160"/>
          </a:xfrm>
          <a:prstGeom prst="ellipse">
            <a:avLst/>
          </a:prstGeom>
          <a:solidFill>
            <a:srgbClr val="780000"/>
          </a:solidFill>
          <a:ln/>
        </p:spPr>
      </p:sp>
      <p:sp>
        <p:nvSpPr>
          <p:cNvPr id="6" name="Text 4"/>
          <p:cNvSpPr/>
          <p:nvPr/>
        </p:nvSpPr>
        <p:spPr>
          <a:xfrm>
            <a:off x="3931920" y="2468880"/>
            <a:ext cx="1280160" cy="91440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亚当</a:t>
            </a:r>
            <a:endParaRPr lang="en-US" sz="1400" dirty="0"/>
          </a:p>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斯密</a:t>
            </a:r>
            <a:endParaRPr lang="en-US" sz="1400" dirty="0"/>
          </a:p>
        </p:txBody>
      </p:sp>
      <p:sp>
        <p:nvSpPr>
          <p:cNvPr id="7" name="Shape 5"/>
          <p:cNvSpPr/>
          <p:nvPr/>
        </p:nvSpPr>
        <p:spPr>
          <a:xfrm>
            <a:off x="4572000" y="2926080"/>
            <a:ext cx="-2103120" cy="-1097280"/>
          </a:xfrm>
          <a:prstGeom prst="line">
            <a:avLst/>
          </a:prstGeom>
          <a:noFill/>
          <a:ln w="12700">
            <a:solidFill>
              <a:srgbClr val="669BBC"/>
            </a:solidFill>
            <a:prstDash val="solid"/>
          </a:ln>
        </p:spPr>
      </p:sp>
      <p:sp>
        <p:nvSpPr>
          <p:cNvPr id="8" name="Shape 6"/>
          <p:cNvSpPr/>
          <p:nvPr/>
        </p:nvSpPr>
        <p:spPr>
          <a:xfrm>
            <a:off x="1828800" y="1828800"/>
            <a:ext cx="1188720" cy="640080"/>
          </a:xfrm>
          <a:prstGeom prst="ellipse">
            <a:avLst/>
          </a:prstGeom>
          <a:solidFill>
            <a:srgbClr val="003049"/>
          </a:solidFill>
          <a:ln/>
        </p:spPr>
      </p:sp>
      <p:sp>
        <p:nvSpPr>
          <p:cNvPr id="9" name="Text 7"/>
          <p:cNvSpPr/>
          <p:nvPr/>
        </p:nvSpPr>
        <p:spPr>
          <a:xfrm>
            <a:off x="1828800" y="182880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大卫·休谟</a:t>
            </a:r>
            <a:endParaRPr lang="en-US" sz="1000" dirty="0"/>
          </a:p>
        </p:txBody>
      </p:sp>
      <p:sp>
        <p:nvSpPr>
          <p:cNvPr id="10" name="Text 8"/>
          <p:cNvSpPr/>
          <p:nvPr/>
        </p:nvSpPr>
        <p:spPr>
          <a:xfrm>
            <a:off x="1828800" y="214884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导师/好友</a:t>
            </a:r>
            <a:endParaRPr lang="en-US" sz="800" dirty="0"/>
          </a:p>
        </p:txBody>
      </p:sp>
      <p:sp>
        <p:nvSpPr>
          <p:cNvPr id="11" name="Shape 9"/>
          <p:cNvSpPr/>
          <p:nvPr/>
        </p:nvSpPr>
        <p:spPr>
          <a:xfrm>
            <a:off x="4572000" y="2926080"/>
            <a:ext cx="2011680" cy="-1097280"/>
          </a:xfrm>
          <a:prstGeom prst="line">
            <a:avLst/>
          </a:prstGeom>
          <a:noFill/>
          <a:ln w="12700">
            <a:solidFill>
              <a:srgbClr val="669BBC"/>
            </a:solidFill>
            <a:prstDash val="solid"/>
          </a:ln>
        </p:spPr>
      </p:sp>
      <p:sp>
        <p:nvSpPr>
          <p:cNvPr id="12" name="Shape 10"/>
          <p:cNvSpPr/>
          <p:nvPr/>
        </p:nvSpPr>
        <p:spPr>
          <a:xfrm>
            <a:off x="5943600" y="1828800"/>
            <a:ext cx="1188720" cy="640080"/>
          </a:xfrm>
          <a:prstGeom prst="ellipse">
            <a:avLst/>
          </a:prstGeom>
          <a:solidFill>
            <a:srgbClr val="003049"/>
          </a:solidFill>
          <a:ln/>
        </p:spPr>
      </p:sp>
      <p:sp>
        <p:nvSpPr>
          <p:cNvPr id="13" name="Text 11"/>
          <p:cNvSpPr/>
          <p:nvPr/>
        </p:nvSpPr>
        <p:spPr>
          <a:xfrm>
            <a:off x="5943600" y="182880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约瑟夫·李嘉图</a:t>
            </a:r>
            <a:endParaRPr lang="en-US" sz="1000" dirty="0"/>
          </a:p>
        </p:txBody>
      </p:sp>
      <p:sp>
        <p:nvSpPr>
          <p:cNvPr id="14" name="Text 12"/>
          <p:cNvSpPr/>
          <p:nvPr/>
        </p:nvSpPr>
        <p:spPr>
          <a:xfrm>
            <a:off x="5943600" y="214884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继承者</a:t>
            </a:r>
            <a:endParaRPr lang="en-US" sz="800" dirty="0"/>
          </a:p>
        </p:txBody>
      </p:sp>
      <p:sp>
        <p:nvSpPr>
          <p:cNvPr id="15" name="Shape 13"/>
          <p:cNvSpPr/>
          <p:nvPr/>
        </p:nvSpPr>
        <p:spPr>
          <a:xfrm>
            <a:off x="4572000" y="2926080"/>
            <a:ext cx="-2560320" cy="731520"/>
          </a:xfrm>
          <a:prstGeom prst="line">
            <a:avLst/>
          </a:prstGeom>
          <a:noFill/>
          <a:ln w="12700">
            <a:solidFill>
              <a:srgbClr val="669BBC"/>
            </a:solidFill>
            <a:prstDash val="solid"/>
          </a:ln>
        </p:spPr>
      </p:sp>
      <p:sp>
        <p:nvSpPr>
          <p:cNvPr id="16" name="Shape 14"/>
          <p:cNvSpPr/>
          <p:nvPr/>
        </p:nvSpPr>
        <p:spPr>
          <a:xfrm>
            <a:off x="1371600" y="3657600"/>
            <a:ext cx="1188720" cy="640080"/>
          </a:xfrm>
          <a:prstGeom prst="ellipse">
            <a:avLst/>
          </a:prstGeom>
          <a:solidFill>
            <a:srgbClr val="003049"/>
          </a:solidFill>
          <a:ln/>
        </p:spPr>
      </p:sp>
      <p:sp>
        <p:nvSpPr>
          <p:cNvPr id="17" name="Text 15"/>
          <p:cNvSpPr/>
          <p:nvPr/>
        </p:nvSpPr>
        <p:spPr>
          <a:xfrm>
            <a:off x="1371600" y="365760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约翰·穆勒</a:t>
            </a:r>
            <a:endParaRPr lang="en-US" sz="1000" dirty="0"/>
          </a:p>
        </p:txBody>
      </p:sp>
      <p:sp>
        <p:nvSpPr>
          <p:cNvPr id="18" name="Text 16"/>
          <p:cNvSpPr/>
          <p:nvPr/>
        </p:nvSpPr>
        <p:spPr>
          <a:xfrm>
            <a:off x="1371600" y="397764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修正者</a:t>
            </a:r>
            <a:endParaRPr lang="en-US" sz="800" dirty="0"/>
          </a:p>
        </p:txBody>
      </p:sp>
      <p:sp>
        <p:nvSpPr>
          <p:cNvPr id="19" name="Shape 17"/>
          <p:cNvSpPr/>
          <p:nvPr/>
        </p:nvSpPr>
        <p:spPr>
          <a:xfrm>
            <a:off x="4572000" y="2926080"/>
            <a:ext cx="1554480" cy="914400"/>
          </a:xfrm>
          <a:prstGeom prst="line">
            <a:avLst/>
          </a:prstGeom>
          <a:noFill/>
          <a:ln w="12700">
            <a:solidFill>
              <a:srgbClr val="669BBC"/>
            </a:solidFill>
            <a:prstDash val="solid"/>
          </a:ln>
        </p:spPr>
      </p:sp>
      <p:sp>
        <p:nvSpPr>
          <p:cNvPr id="20" name="Shape 18"/>
          <p:cNvSpPr/>
          <p:nvPr/>
        </p:nvSpPr>
        <p:spPr>
          <a:xfrm>
            <a:off x="5486400" y="3840480"/>
            <a:ext cx="1188720" cy="640080"/>
          </a:xfrm>
          <a:prstGeom prst="ellipse">
            <a:avLst/>
          </a:prstGeom>
          <a:solidFill>
            <a:srgbClr val="003049"/>
          </a:solidFill>
          <a:ln/>
        </p:spPr>
      </p:sp>
      <p:sp>
        <p:nvSpPr>
          <p:cNvPr id="21" name="Text 19"/>
          <p:cNvSpPr/>
          <p:nvPr/>
        </p:nvSpPr>
        <p:spPr>
          <a:xfrm>
            <a:off x="5486400" y="384048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弗里德里希·哈耶克</a:t>
            </a:r>
            <a:endParaRPr lang="en-US" sz="1000" dirty="0"/>
          </a:p>
        </p:txBody>
      </p:sp>
      <p:sp>
        <p:nvSpPr>
          <p:cNvPr id="22" name="Text 20"/>
          <p:cNvSpPr/>
          <p:nvPr/>
        </p:nvSpPr>
        <p:spPr>
          <a:xfrm>
            <a:off x="5486400" y="416052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回响者</a:t>
            </a:r>
            <a:endParaRPr lang="en-US" sz="800" dirty="0"/>
          </a:p>
        </p:txBody>
      </p:sp>
      <p:sp>
        <p:nvSpPr>
          <p:cNvPr id="23" name="Shape 21"/>
          <p:cNvSpPr/>
          <p:nvPr/>
        </p:nvSpPr>
        <p:spPr>
          <a:xfrm>
            <a:off x="4572000" y="2926080"/>
            <a:ext cx="3383280" cy="-365760"/>
          </a:xfrm>
          <a:prstGeom prst="line">
            <a:avLst/>
          </a:prstGeom>
          <a:noFill/>
          <a:ln w="12700">
            <a:solidFill>
              <a:srgbClr val="669BBC"/>
            </a:solidFill>
            <a:prstDash val="solid"/>
          </a:ln>
        </p:spPr>
      </p:sp>
      <p:sp>
        <p:nvSpPr>
          <p:cNvPr id="24" name="Shape 22"/>
          <p:cNvSpPr/>
          <p:nvPr/>
        </p:nvSpPr>
        <p:spPr>
          <a:xfrm>
            <a:off x="7315200" y="2560320"/>
            <a:ext cx="1188720" cy="640080"/>
          </a:xfrm>
          <a:prstGeom prst="ellipse">
            <a:avLst/>
          </a:prstGeom>
          <a:solidFill>
            <a:srgbClr val="003049"/>
          </a:solidFill>
          <a:ln/>
        </p:spPr>
      </p:sp>
      <p:sp>
        <p:nvSpPr>
          <p:cNvPr id="25" name="Text 23"/>
          <p:cNvSpPr/>
          <p:nvPr/>
        </p:nvSpPr>
        <p:spPr>
          <a:xfrm>
            <a:off x="7315200" y="256032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凯恩斯</a:t>
            </a:r>
            <a:endParaRPr lang="en-US" sz="1000" dirty="0"/>
          </a:p>
        </p:txBody>
      </p:sp>
      <p:sp>
        <p:nvSpPr>
          <p:cNvPr id="26" name="Text 24"/>
          <p:cNvSpPr/>
          <p:nvPr/>
        </p:nvSpPr>
        <p:spPr>
          <a:xfrm>
            <a:off x="7315200" y="288036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批判者</a:t>
            </a:r>
            <a:endParaRPr lang="en-US" sz="800" dirty="0"/>
          </a:p>
        </p:txBody>
      </p:sp>
      <p:sp>
        <p:nvSpPr>
          <p:cNvPr id="27" name="Shape 25"/>
          <p:cNvSpPr/>
          <p:nvPr/>
        </p:nvSpPr>
        <p:spPr>
          <a:xfrm>
            <a:off x="4572000" y="2926080"/>
            <a:ext cx="-731520" cy="1005840"/>
          </a:xfrm>
          <a:prstGeom prst="line">
            <a:avLst/>
          </a:prstGeom>
          <a:noFill/>
          <a:ln w="12700">
            <a:solidFill>
              <a:srgbClr val="669BBC"/>
            </a:solidFill>
            <a:prstDash val="solid"/>
          </a:ln>
        </p:spPr>
      </p:sp>
      <p:sp>
        <p:nvSpPr>
          <p:cNvPr id="28" name="Shape 26"/>
          <p:cNvSpPr/>
          <p:nvPr/>
        </p:nvSpPr>
        <p:spPr>
          <a:xfrm>
            <a:off x="3200400" y="3931920"/>
            <a:ext cx="1188720" cy="640080"/>
          </a:xfrm>
          <a:prstGeom prst="ellipse">
            <a:avLst/>
          </a:prstGeom>
          <a:solidFill>
            <a:srgbClr val="003049"/>
          </a:solidFill>
          <a:ln/>
        </p:spPr>
      </p:sp>
      <p:sp>
        <p:nvSpPr>
          <p:cNvPr id="29" name="Text 27"/>
          <p:cNvSpPr/>
          <p:nvPr/>
        </p:nvSpPr>
        <p:spPr>
          <a:xfrm>
            <a:off x="3200400" y="3931920"/>
            <a:ext cx="1188720" cy="365760"/>
          </a:xfrm>
          <a:prstGeom prst="rect">
            <a:avLst/>
          </a:prstGeom>
          <a:noFill/>
          <a:ln/>
        </p:spPr>
        <p:txBody>
          <a:bodyPr wrap="square" rtlCol="0" anchor="ctr"/>
          <a:lstStyle/>
          <a:p>
            <a:pPr algn="ctr" indent="0" marL="0">
              <a:buNone/>
            </a:pPr>
            <a:r>
              <a:rPr lang="en-US" sz="1000" dirty="0">
                <a:solidFill>
                  <a:srgbClr val="FFFFFF"/>
                </a:solidFill>
                <a:latin typeface="Microsoft YaHei" pitchFamily="34" charset="0"/>
                <a:ea typeface="Microsoft YaHei" pitchFamily="34" charset="-122"/>
                <a:cs typeface="Microsoft YaHei" pitchFamily="34" charset="-120"/>
              </a:rPr>
              <a:t>马克思</a:t>
            </a:r>
            <a:endParaRPr lang="en-US" sz="1000" dirty="0"/>
          </a:p>
        </p:txBody>
      </p:sp>
      <p:sp>
        <p:nvSpPr>
          <p:cNvPr id="30" name="Text 28"/>
          <p:cNvSpPr/>
          <p:nvPr/>
        </p:nvSpPr>
        <p:spPr>
          <a:xfrm>
            <a:off x="3200400" y="4251960"/>
            <a:ext cx="1188720" cy="274320"/>
          </a:xfrm>
          <a:prstGeom prst="rect">
            <a:avLst/>
          </a:prstGeom>
          <a:noFill/>
          <a:ln/>
        </p:spPr>
        <p:txBody>
          <a:bodyPr wrap="square" rtlCol="0" anchor="ctr"/>
          <a:lstStyle/>
          <a:p>
            <a:pPr algn="ctr" indent="0" marL="0">
              <a:buNone/>
            </a:pPr>
            <a:r>
              <a:rPr lang="en-US" sz="800" dirty="0">
                <a:solidFill>
                  <a:srgbClr val="FFFFFF"/>
                </a:solidFill>
                <a:latin typeface="Microsoft YaHei" pitchFamily="34" charset="0"/>
                <a:ea typeface="Microsoft YaHei" pitchFamily="34" charset="-122"/>
                <a:cs typeface="Microsoft YaHei" pitchFamily="34" charset="-120"/>
              </a:rPr>
              <a:t>颠覆者</a:t>
            </a:r>
            <a:endParaRPr lang="en-US" sz="800" dirty="0"/>
          </a:p>
        </p:txBody>
      </p:sp>
      <p:sp>
        <p:nvSpPr>
          <p:cNvPr id="31" name="Shape 29"/>
          <p:cNvSpPr/>
          <p:nvPr/>
        </p:nvSpPr>
        <p:spPr>
          <a:xfrm>
            <a:off x="8503920" y="4663440"/>
            <a:ext cx="365760" cy="365760"/>
          </a:xfrm>
          <a:prstGeom prst="ellipse">
            <a:avLst/>
          </a:prstGeom>
          <a:solidFill>
            <a:srgbClr val="C1121F"/>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82</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课程回顾</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核心概念速查</a:t>
            </a:r>
            <a:endParaRPr lang="en-US" sz="3600" dirty="0"/>
          </a:p>
        </p:txBody>
      </p:sp>
      <p:sp>
        <p:nvSpPr>
          <p:cNvPr id="5" name="Shape 3"/>
          <p:cNvSpPr/>
          <p:nvPr/>
        </p:nvSpPr>
        <p:spPr>
          <a:xfrm>
            <a:off x="457200" y="173736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6" name="Shape 4"/>
          <p:cNvSpPr/>
          <p:nvPr/>
        </p:nvSpPr>
        <p:spPr>
          <a:xfrm>
            <a:off x="457200" y="1737360"/>
            <a:ext cx="137160" cy="685800"/>
          </a:xfrm>
          <a:prstGeom prst="rect">
            <a:avLst/>
          </a:prstGeom>
          <a:solidFill>
            <a:srgbClr val="780000"/>
          </a:solidFill>
          <a:ln/>
        </p:spPr>
      </p:sp>
      <p:sp>
        <p:nvSpPr>
          <p:cNvPr id="7" name="Text 5"/>
          <p:cNvSpPr/>
          <p:nvPr/>
        </p:nvSpPr>
        <p:spPr>
          <a:xfrm>
            <a:off x="685800" y="1783080"/>
            <a:ext cx="356616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看不见的手</a:t>
            </a:r>
            <a:endParaRPr lang="en-US" sz="1300" dirty="0"/>
          </a:p>
        </p:txBody>
      </p:sp>
      <p:sp>
        <p:nvSpPr>
          <p:cNvPr id="8" name="Text 6"/>
          <p:cNvSpPr/>
          <p:nvPr/>
        </p:nvSpPr>
        <p:spPr>
          <a:xfrm>
            <a:off x="685800" y="208483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个人追求利益时，不知不觉促进社会利益的现象</a:t>
            </a:r>
            <a:endParaRPr lang="en-US" sz="1000" dirty="0"/>
          </a:p>
        </p:txBody>
      </p:sp>
      <p:sp>
        <p:nvSpPr>
          <p:cNvPr id="9" name="Shape 7"/>
          <p:cNvSpPr/>
          <p:nvPr/>
        </p:nvSpPr>
        <p:spPr>
          <a:xfrm>
            <a:off x="457200" y="251460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0" name="Shape 8"/>
          <p:cNvSpPr/>
          <p:nvPr/>
        </p:nvSpPr>
        <p:spPr>
          <a:xfrm>
            <a:off x="457200" y="2514600"/>
            <a:ext cx="137160" cy="685800"/>
          </a:xfrm>
          <a:prstGeom prst="rect">
            <a:avLst/>
          </a:prstGeom>
          <a:solidFill>
            <a:srgbClr val="780000"/>
          </a:solidFill>
          <a:ln/>
        </p:spPr>
      </p:sp>
      <p:sp>
        <p:nvSpPr>
          <p:cNvPr id="11" name="Text 9"/>
          <p:cNvSpPr/>
          <p:nvPr/>
        </p:nvSpPr>
        <p:spPr>
          <a:xfrm>
            <a:off x="685800" y="2560320"/>
            <a:ext cx="356616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劳动分工</a:t>
            </a:r>
            <a:endParaRPr lang="en-US" sz="1300" dirty="0"/>
          </a:p>
        </p:txBody>
      </p:sp>
      <p:sp>
        <p:nvSpPr>
          <p:cNvPr id="12" name="Text 10"/>
          <p:cNvSpPr/>
          <p:nvPr/>
        </p:nvSpPr>
        <p:spPr>
          <a:xfrm>
            <a:off x="685800" y="286207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将生产过程分解为不同环节的专业化操作</a:t>
            </a:r>
            <a:endParaRPr lang="en-US" sz="1000" dirty="0"/>
          </a:p>
        </p:txBody>
      </p:sp>
      <p:sp>
        <p:nvSpPr>
          <p:cNvPr id="13" name="Shape 11"/>
          <p:cNvSpPr/>
          <p:nvPr/>
        </p:nvSpPr>
        <p:spPr>
          <a:xfrm>
            <a:off x="457200" y="329184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4" name="Shape 12"/>
          <p:cNvSpPr/>
          <p:nvPr/>
        </p:nvSpPr>
        <p:spPr>
          <a:xfrm>
            <a:off x="457200" y="3291840"/>
            <a:ext cx="137160" cy="685800"/>
          </a:xfrm>
          <a:prstGeom prst="rect">
            <a:avLst/>
          </a:prstGeom>
          <a:solidFill>
            <a:srgbClr val="780000"/>
          </a:solidFill>
          <a:ln/>
        </p:spPr>
      </p:sp>
      <p:sp>
        <p:nvSpPr>
          <p:cNvPr id="15" name="Text 13"/>
          <p:cNvSpPr/>
          <p:nvPr/>
        </p:nvSpPr>
        <p:spPr>
          <a:xfrm>
            <a:off x="685800" y="3337560"/>
            <a:ext cx="356616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交换倾向</a:t>
            </a:r>
            <a:endParaRPr lang="en-US" sz="1300" dirty="0"/>
          </a:p>
        </p:txBody>
      </p:sp>
      <p:sp>
        <p:nvSpPr>
          <p:cNvPr id="16" name="Text 14"/>
          <p:cNvSpPr/>
          <p:nvPr/>
        </p:nvSpPr>
        <p:spPr>
          <a:xfrm>
            <a:off x="685800" y="363931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人类天生愿意与他人交换的心理本能</a:t>
            </a:r>
            <a:endParaRPr lang="en-US" sz="1000" dirty="0"/>
          </a:p>
        </p:txBody>
      </p:sp>
      <p:sp>
        <p:nvSpPr>
          <p:cNvPr id="17" name="Shape 15"/>
          <p:cNvSpPr/>
          <p:nvPr/>
        </p:nvSpPr>
        <p:spPr>
          <a:xfrm>
            <a:off x="457200" y="406908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8" name="Shape 16"/>
          <p:cNvSpPr/>
          <p:nvPr/>
        </p:nvSpPr>
        <p:spPr>
          <a:xfrm>
            <a:off x="457200" y="4069080"/>
            <a:ext cx="137160" cy="685800"/>
          </a:xfrm>
          <a:prstGeom prst="rect">
            <a:avLst/>
          </a:prstGeom>
          <a:solidFill>
            <a:srgbClr val="780000"/>
          </a:solidFill>
          <a:ln/>
        </p:spPr>
      </p:sp>
      <p:sp>
        <p:nvSpPr>
          <p:cNvPr id="19" name="Text 17"/>
          <p:cNvSpPr/>
          <p:nvPr/>
        </p:nvSpPr>
        <p:spPr>
          <a:xfrm>
            <a:off x="685800" y="4114800"/>
            <a:ext cx="3566160" cy="320040"/>
          </a:xfrm>
          <a:prstGeom prst="rect">
            <a:avLst/>
          </a:prstGeom>
          <a:noFill/>
          <a:ln/>
        </p:spPr>
        <p:txBody>
          <a:bodyPr wrap="square" rtlCol="0" anchor="ctr"/>
          <a:lstStyle/>
          <a:p>
            <a:pPr indent="0" marL="0">
              <a:buNone/>
            </a:pPr>
            <a:r>
              <a:rPr lang="en-US" sz="1300" b="1" dirty="0">
                <a:solidFill>
                  <a:srgbClr val="780000"/>
                </a:solidFill>
                <a:latin typeface="Microsoft YaHei" pitchFamily="34" charset="0"/>
                <a:ea typeface="Microsoft YaHei" pitchFamily="34" charset="-122"/>
                <a:cs typeface="Microsoft YaHei" pitchFamily="34" charset="-120"/>
              </a:rPr>
              <a:t>同情心</a:t>
            </a:r>
            <a:endParaRPr lang="en-US" sz="1300" dirty="0"/>
          </a:p>
        </p:txBody>
      </p:sp>
      <p:sp>
        <p:nvSpPr>
          <p:cNvPr id="20" name="Text 18"/>
          <p:cNvSpPr/>
          <p:nvPr/>
        </p:nvSpPr>
        <p:spPr>
          <a:xfrm>
            <a:off x="685800" y="441655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设身处地感受他人处境的情感能力</a:t>
            </a:r>
            <a:endParaRPr lang="en-US" sz="1000" dirty="0"/>
          </a:p>
        </p:txBody>
      </p:sp>
      <p:sp>
        <p:nvSpPr>
          <p:cNvPr id="21" name="Shape 19"/>
          <p:cNvSpPr/>
          <p:nvPr/>
        </p:nvSpPr>
        <p:spPr>
          <a:xfrm>
            <a:off x="4754880" y="173736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22" name="Shape 20"/>
          <p:cNvSpPr/>
          <p:nvPr/>
        </p:nvSpPr>
        <p:spPr>
          <a:xfrm>
            <a:off x="4754880" y="1737360"/>
            <a:ext cx="137160" cy="685800"/>
          </a:xfrm>
          <a:prstGeom prst="rect">
            <a:avLst/>
          </a:prstGeom>
          <a:solidFill>
            <a:srgbClr val="C1121F"/>
          </a:solidFill>
          <a:ln/>
        </p:spPr>
      </p:sp>
      <p:sp>
        <p:nvSpPr>
          <p:cNvPr id="23" name="Text 21"/>
          <p:cNvSpPr/>
          <p:nvPr/>
        </p:nvSpPr>
        <p:spPr>
          <a:xfrm>
            <a:off x="4983480" y="1783080"/>
            <a:ext cx="356616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公正旁观者</a:t>
            </a:r>
            <a:endParaRPr lang="en-US" sz="1300" dirty="0"/>
          </a:p>
        </p:txBody>
      </p:sp>
      <p:sp>
        <p:nvSpPr>
          <p:cNvPr id="24" name="Text 22"/>
          <p:cNvSpPr/>
          <p:nvPr/>
        </p:nvSpPr>
        <p:spPr>
          <a:xfrm>
            <a:off x="4983480" y="208483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理性第三人视角，评判行为合宜性</a:t>
            </a:r>
            <a:endParaRPr lang="en-US" sz="1000" dirty="0"/>
          </a:p>
        </p:txBody>
      </p:sp>
      <p:sp>
        <p:nvSpPr>
          <p:cNvPr id="25" name="Shape 23"/>
          <p:cNvSpPr/>
          <p:nvPr/>
        </p:nvSpPr>
        <p:spPr>
          <a:xfrm>
            <a:off x="4754880" y="251460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26" name="Shape 24"/>
          <p:cNvSpPr/>
          <p:nvPr/>
        </p:nvSpPr>
        <p:spPr>
          <a:xfrm>
            <a:off x="4754880" y="2514600"/>
            <a:ext cx="137160" cy="685800"/>
          </a:xfrm>
          <a:prstGeom prst="rect">
            <a:avLst/>
          </a:prstGeom>
          <a:solidFill>
            <a:srgbClr val="C1121F"/>
          </a:solidFill>
          <a:ln/>
        </p:spPr>
      </p:sp>
      <p:sp>
        <p:nvSpPr>
          <p:cNvPr id="27" name="Text 25"/>
          <p:cNvSpPr/>
          <p:nvPr/>
        </p:nvSpPr>
        <p:spPr>
          <a:xfrm>
            <a:off x="4983480" y="2560320"/>
            <a:ext cx="356616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合宜感</a:t>
            </a:r>
            <a:endParaRPr lang="en-US" sz="1300" dirty="0"/>
          </a:p>
        </p:txBody>
      </p:sp>
      <p:sp>
        <p:nvSpPr>
          <p:cNvPr id="28" name="Text 26"/>
          <p:cNvSpPr/>
          <p:nvPr/>
        </p:nvSpPr>
        <p:spPr>
          <a:xfrm>
            <a:off x="4983480" y="286207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行为得体、恰到好处的主观感受</a:t>
            </a:r>
            <a:endParaRPr lang="en-US" sz="1000" dirty="0"/>
          </a:p>
        </p:txBody>
      </p:sp>
      <p:sp>
        <p:nvSpPr>
          <p:cNvPr id="29" name="Shape 27"/>
          <p:cNvSpPr/>
          <p:nvPr/>
        </p:nvSpPr>
        <p:spPr>
          <a:xfrm>
            <a:off x="4754880" y="329184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30" name="Shape 28"/>
          <p:cNvSpPr/>
          <p:nvPr/>
        </p:nvSpPr>
        <p:spPr>
          <a:xfrm>
            <a:off x="4754880" y="3291840"/>
            <a:ext cx="137160" cy="685800"/>
          </a:xfrm>
          <a:prstGeom prst="rect">
            <a:avLst/>
          </a:prstGeom>
          <a:solidFill>
            <a:srgbClr val="C1121F"/>
          </a:solidFill>
          <a:ln/>
        </p:spPr>
      </p:sp>
      <p:sp>
        <p:nvSpPr>
          <p:cNvPr id="31" name="Text 29"/>
          <p:cNvSpPr/>
          <p:nvPr/>
        </p:nvSpPr>
        <p:spPr>
          <a:xfrm>
            <a:off x="4983480" y="3337560"/>
            <a:ext cx="356616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智慧与谨慎</a:t>
            </a:r>
            <a:endParaRPr lang="en-US" sz="1300" dirty="0"/>
          </a:p>
        </p:txBody>
      </p:sp>
      <p:sp>
        <p:nvSpPr>
          <p:cNvPr id="32" name="Text 30"/>
          <p:cNvSpPr/>
          <p:nvPr/>
        </p:nvSpPr>
        <p:spPr>
          <a:xfrm>
            <a:off x="4983480" y="363931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自我利益与道德约束的平衡</a:t>
            </a:r>
            <a:endParaRPr lang="en-US" sz="1000" dirty="0"/>
          </a:p>
        </p:txBody>
      </p:sp>
      <p:sp>
        <p:nvSpPr>
          <p:cNvPr id="33" name="Shape 31"/>
          <p:cNvSpPr/>
          <p:nvPr/>
        </p:nvSpPr>
        <p:spPr>
          <a:xfrm>
            <a:off x="4754880" y="4069080"/>
            <a:ext cx="3931920" cy="6858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34" name="Shape 32"/>
          <p:cNvSpPr/>
          <p:nvPr/>
        </p:nvSpPr>
        <p:spPr>
          <a:xfrm>
            <a:off x="4754880" y="4069080"/>
            <a:ext cx="137160" cy="685800"/>
          </a:xfrm>
          <a:prstGeom prst="rect">
            <a:avLst/>
          </a:prstGeom>
          <a:solidFill>
            <a:srgbClr val="C1121F"/>
          </a:solidFill>
          <a:ln/>
        </p:spPr>
      </p:sp>
      <p:sp>
        <p:nvSpPr>
          <p:cNvPr id="35" name="Text 33"/>
          <p:cNvSpPr/>
          <p:nvPr/>
        </p:nvSpPr>
        <p:spPr>
          <a:xfrm>
            <a:off x="4983480" y="4114800"/>
            <a:ext cx="3566160" cy="320040"/>
          </a:xfrm>
          <a:prstGeom prst="rect">
            <a:avLst/>
          </a:prstGeom>
          <a:noFill/>
          <a:ln/>
        </p:spPr>
        <p:txBody>
          <a:bodyPr wrap="square" rtlCol="0" anchor="ctr"/>
          <a:lstStyle/>
          <a:p>
            <a:pPr indent="0" marL="0">
              <a:buNone/>
            </a:pPr>
            <a:r>
              <a:rPr lang="en-US" sz="1300" b="1" dirty="0">
                <a:solidFill>
                  <a:srgbClr val="C1121F"/>
                </a:solidFill>
                <a:latin typeface="Microsoft YaHei" pitchFamily="34" charset="0"/>
                <a:ea typeface="Microsoft YaHei" pitchFamily="34" charset="-122"/>
                <a:cs typeface="Microsoft YaHei" pitchFamily="34" charset="-120"/>
              </a:rPr>
              <a:t>美德</a:t>
            </a:r>
            <a:endParaRPr lang="en-US" sz="1300" dirty="0"/>
          </a:p>
        </p:txBody>
      </p:sp>
      <p:sp>
        <p:nvSpPr>
          <p:cNvPr id="36" name="Text 34"/>
          <p:cNvSpPr/>
          <p:nvPr/>
        </p:nvSpPr>
        <p:spPr>
          <a:xfrm>
            <a:off x="4983480" y="4416552"/>
            <a:ext cx="3566160" cy="292608"/>
          </a:xfrm>
          <a:prstGeom prst="rect">
            <a:avLst/>
          </a:prstGeom>
          <a:noFill/>
          <a:ln/>
        </p:spPr>
        <p:txBody>
          <a:bodyPr wrap="square" rtlCol="0" anchor="ctr"/>
          <a:lstStyle/>
          <a:p>
            <a:pPr indent="0" marL="0">
              <a:buNone/>
            </a:pPr>
            <a:r>
              <a:rPr lang="en-US" sz="1000" dirty="0">
                <a:solidFill>
                  <a:srgbClr val="003049"/>
                </a:solidFill>
                <a:latin typeface="Microsoft YaHei" pitchFamily="34" charset="0"/>
                <a:ea typeface="Microsoft YaHei" pitchFamily="34" charset="-122"/>
                <a:cs typeface="Microsoft YaHei" pitchFamily="34" charset="-120"/>
              </a:rPr>
              <a:t>克己、仁慈、正义的综合体现</a:t>
            </a:r>
            <a:endParaRPr lang="en-US" sz="1000" dirty="0"/>
          </a:p>
        </p:txBody>
      </p:sp>
      <p:sp>
        <p:nvSpPr>
          <p:cNvPr id="37" name="Shape 35"/>
          <p:cNvSpPr/>
          <p:nvPr/>
        </p:nvSpPr>
        <p:spPr>
          <a:xfrm>
            <a:off x="8503920" y="4663440"/>
            <a:ext cx="365760" cy="365760"/>
          </a:xfrm>
          <a:prstGeom prst="ellipse">
            <a:avLst/>
          </a:prstGeom>
          <a:solidFill>
            <a:srgbClr val="C1121F"/>
          </a:solidFill>
          <a:ln/>
        </p:spPr>
      </p:sp>
      <p:sp>
        <p:nvSpPr>
          <p:cNvPr id="38" name="Text 3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83</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方法论</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思想史研究方法</a:t>
            </a:r>
            <a:endParaRPr lang="en-US" sz="3600" dirty="0"/>
          </a:p>
        </p:txBody>
      </p:sp>
      <p:sp>
        <p:nvSpPr>
          <p:cNvPr id="5" name="Shape 3"/>
          <p:cNvSpPr/>
          <p:nvPr/>
        </p:nvSpPr>
        <p:spPr>
          <a:xfrm>
            <a:off x="457200" y="1783080"/>
            <a:ext cx="4023360" cy="123444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6" name="Shape 4"/>
          <p:cNvSpPr/>
          <p:nvPr/>
        </p:nvSpPr>
        <p:spPr>
          <a:xfrm>
            <a:off x="594360" y="1920240"/>
            <a:ext cx="457200" cy="457200"/>
          </a:xfrm>
          <a:prstGeom prst="ellipse">
            <a:avLst/>
          </a:prstGeom>
          <a:solidFill>
            <a:srgbClr val="C1121F"/>
          </a:solidFill>
          <a:ln/>
        </p:spPr>
      </p:sp>
      <p:sp>
        <p:nvSpPr>
          <p:cNvPr id="7" name="Text 5"/>
          <p:cNvSpPr/>
          <p:nvPr/>
        </p:nvSpPr>
        <p:spPr>
          <a:xfrm>
            <a:off x="594360" y="1920240"/>
            <a:ext cx="4572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143000" y="1920240"/>
            <a:ext cx="3200400" cy="41148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原典阅读</a:t>
            </a:r>
            <a:endParaRPr lang="en-US" sz="1600" dirty="0"/>
          </a:p>
        </p:txBody>
      </p:sp>
      <p:sp>
        <p:nvSpPr>
          <p:cNvPr id="9" name="Text 7"/>
          <p:cNvSpPr/>
          <p:nvPr/>
        </p:nvSpPr>
        <p:spPr>
          <a:xfrm>
            <a:off x="640080" y="2377440"/>
            <a:ext cx="3657600" cy="5486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回到一手文献，追问'斯密实际说了什么'，而非'别人说他说了什么'</a:t>
            </a:r>
            <a:endParaRPr lang="en-US" sz="1100" dirty="0"/>
          </a:p>
        </p:txBody>
      </p:sp>
      <p:sp>
        <p:nvSpPr>
          <p:cNvPr id="10" name="Shape 8"/>
          <p:cNvSpPr/>
          <p:nvPr/>
        </p:nvSpPr>
        <p:spPr>
          <a:xfrm>
            <a:off x="4754880" y="1783080"/>
            <a:ext cx="4023360" cy="123444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11" name="Shape 9"/>
          <p:cNvSpPr/>
          <p:nvPr/>
        </p:nvSpPr>
        <p:spPr>
          <a:xfrm>
            <a:off x="4892040" y="1920240"/>
            <a:ext cx="457200" cy="457200"/>
          </a:xfrm>
          <a:prstGeom prst="ellipse">
            <a:avLst/>
          </a:prstGeom>
          <a:solidFill>
            <a:srgbClr val="C1121F"/>
          </a:solidFill>
          <a:ln/>
        </p:spPr>
      </p:sp>
      <p:sp>
        <p:nvSpPr>
          <p:cNvPr id="12" name="Text 10"/>
          <p:cNvSpPr/>
          <p:nvPr/>
        </p:nvSpPr>
        <p:spPr>
          <a:xfrm>
            <a:off x="4892040" y="1920240"/>
            <a:ext cx="4572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5440680" y="1920240"/>
            <a:ext cx="3200400" cy="41148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语境还原</a:t>
            </a:r>
            <a:endParaRPr lang="en-US" sz="1600" dirty="0"/>
          </a:p>
        </p:txBody>
      </p:sp>
      <p:sp>
        <p:nvSpPr>
          <p:cNvPr id="14" name="Text 12"/>
          <p:cNvSpPr/>
          <p:nvPr/>
        </p:nvSpPr>
        <p:spPr>
          <a:xfrm>
            <a:off x="4937760" y="2377440"/>
            <a:ext cx="3657600" cy="5486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将思想放回18世纪苏格兰的独特语境，理解其针对性问题</a:t>
            </a:r>
            <a:endParaRPr lang="en-US" sz="1100" dirty="0"/>
          </a:p>
        </p:txBody>
      </p:sp>
      <p:sp>
        <p:nvSpPr>
          <p:cNvPr id="15" name="Shape 13"/>
          <p:cNvSpPr/>
          <p:nvPr/>
        </p:nvSpPr>
        <p:spPr>
          <a:xfrm>
            <a:off x="457200" y="3200400"/>
            <a:ext cx="4023360" cy="123444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16" name="Shape 14"/>
          <p:cNvSpPr/>
          <p:nvPr/>
        </p:nvSpPr>
        <p:spPr>
          <a:xfrm>
            <a:off x="594360" y="3337560"/>
            <a:ext cx="457200" cy="457200"/>
          </a:xfrm>
          <a:prstGeom prst="ellipse">
            <a:avLst/>
          </a:prstGeom>
          <a:solidFill>
            <a:srgbClr val="C1121F"/>
          </a:solidFill>
          <a:ln/>
        </p:spPr>
      </p:sp>
      <p:sp>
        <p:nvSpPr>
          <p:cNvPr id="17" name="Text 15"/>
          <p:cNvSpPr/>
          <p:nvPr/>
        </p:nvSpPr>
        <p:spPr>
          <a:xfrm>
            <a:off x="594360" y="3337560"/>
            <a:ext cx="4572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143000" y="3337560"/>
            <a:ext cx="3200400" cy="41148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概念考古</a:t>
            </a:r>
            <a:endParaRPr lang="en-US" sz="1600" dirty="0"/>
          </a:p>
        </p:txBody>
      </p:sp>
      <p:sp>
        <p:nvSpPr>
          <p:cNvPr id="19" name="Text 17"/>
          <p:cNvSpPr/>
          <p:nvPr/>
        </p:nvSpPr>
        <p:spPr>
          <a:xfrm>
            <a:off x="640080" y="3794760"/>
            <a:ext cx="3657600" cy="5486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追踪核心范畴（如'看不见的手'）在后世的流变与借用</a:t>
            </a:r>
            <a:endParaRPr lang="en-US" sz="1100" dirty="0"/>
          </a:p>
        </p:txBody>
      </p:sp>
      <p:sp>
        <p:nvSpPr>
          <p:cNvPr id="20" name="Shape 18"/>
          <p:cNvSpPr/>
          <p:nvPr/>
        </p:nvSpPr>
        <p:spPr>
          <a:xfrm>
            <a:off x="4754880" y="3200400"/>
            <a:ext cx="4023360" cy="1234440"/>
          </a:xfrm>
          <a:prstGeom prst="rect">
            <a:avLst/>
          </a:prstGeom>
          <a:solidFill>
            <a:srgbClr val="FFFFFF"/>
          </a:solidFill>
          <a:ln/>
          <a:effectLst>
            <a:outerShdw sx="100000" sy="100000" kx="0" ky="0" algn="bl" rotWithShape="0" blurRad="38100" dist="25400" dir="2700000">
              <a:srgbClr val="000000">
                <a:alpha val="15000"/>
              </a:srgbClr>
            </a:outerShdw>
          </a:effectLst>
        </p:spPr>
      </p:sp>
      <p:sp>
        <p:nvSpPr>
          <p:cNvPr id="21" name="Shape 19"/>
          <p:cNvSpPr/>
          <p:nvPr/>
        </p:nvSpPr>
        <p:spPr>
          <a:xfrm>
            <a:off x="4892040" y="3337560"/>
            <a:ext cx="457200" cy="457200"/>
          </a:xfrm>
          <a:prstGeom prst="ellipse">
            <a:avLst/>
          </a:prstGeom>
          <a:solidFill>
            <a:srgbClr val="C1121F"/>
          </a:solidFill>
          <a:ln/>
        </p:spPr>
      </p:sp>
      <p:sp>
        <p:nvSpPr>
          <p:cNvPr id="22" name="Text 20"/>
          <p:cNvSpPr/>
          <p:nvPr/>
        </p:nvSpPr>
        <p:spPr>
          <a:xfrm>
            <a:off x="4892040" y="3337560"/>
            <a:ext cx="4572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5440680" y="3337560"/>
            <a:ext cx="3200400" cy="411480"/>
          </a:xfrm>
          <a:prstGeom prst="rect">
            <a:avLst/>
          </a:prstGeom>
          <a:noFill/>
          <a:ln/>
        </p:spPr>
        <p:txBody>
          <a:bodyPr wrap="square" rtlCol="0" anchor="ctr"/>
          <a:lstStyle/>
          <a:p>
            <a:pPr indent="0" marL="0">
              <a:buNone/>
            </a:pPr>
            <a:r>
              <a:rPr lang="en-US" sz="1600" b="1" dirty="0">
                <a:solidFill>
                  <a:srgbClr val="780000"/>
                </a:solidFill>
                <a:latin typeface="Microsoft YaHei" pitchFamily="34" charset="0"/>
                <a:ea typeface="Microsoft YaHei" pitchFamily="34" charset="-122"/>
                <a:cs typeface="Microsoft YaHei" pitchFamily="34" charset="-120"/>
              </a:rPr>
              <a:t>批判继承</a:t>
            </a:r>
            <a:endParaRPr lang="en-US" sz="1600" dirty="0"/>
          </a:p>
        </p:txBody>
      </p:sp>
      <p:sp>
        <p:nvSpPr>
          <p:cNvPr id="24" name="Text 22"/>
          <p:cNvSpPr/>
          <p:nvPr/>
        </p:nvSpPr>
        <p:spPr>
          <a:xfrm>
            <a:off x="4937760" y="3794760"/>
            <a:ext cx="3657600" cy="548640"/>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区分斯密哪些分析仍有效，哪些已被证伪或需要修正</a:t>
            </a:r>
            <a:endParaRPr lang="en-US" sz="1100" dirty="0"/>
          </a:p>
        </p:txBody>
      </p:sp>
      <p:sp>
        <p:nvSpPr>
          <p:cNvPr id="25" name="Shape 23"/>
          <p:cNvSpPr/>
          <p:nvPr/>
        </p:nvSpPr>
        <p:spPr>
          <a:xfrm>
            <a:off x="457200" y="4572000"/>
            <a:ext cx="8229600" cy="457200"/>
          </a:xfrm>
          <a:prstGeom prst="rect">
            <a:avLst/>
          </a:prstGeom>
          <a:solidFill>
            <a:srgbClr val="669BBC"/>
          </a:solidFill>
          <a:ln/>
        </p:spPr>
      </p:sp>
      <p:sp>
        <p:nvSpPr>
          <p:cNvPr id="26" name="Text 24"/>
          <p:cNvSpPr/>
          <p:nvPr/>
        </p:nvSpPr>
        <p:spPr>
          <a:xfrm>
            <a:off x="457200" y="4572000"/>
            <a:ext cx="8229600" cy="457200"/>
          </a:xfrm>
          <a:prstGeom prst="rect">
            <a:avLst/>
          </a:prstGeom>
          <a:noFill/>
          <a:ln/>
        </p:spPr>
        <p:txBody>
          <a:bodyPr wrap="square" rtlCol="0" anchor="ctr"/>
          <a:lstStyle/>
          <a:p>
            <a:pPr algn="ctr" indent="0" marL="0">
              <a:buNone/>
            </a:pPr>
            <a:r>
              <a:rPr lang="en-US" sz="1300" i="1" dirty="0">
                <a:solidFill>
                  <a:srgbClr val="780000"/>
                </a:solidFill>
                <a:latin typeface="Microsoft YaHei" pitchFamily="34" charset="0"/>
                <a:ea typeface="Microsoft YaHei" pitchFamily="34" charset="-122"/>
                <a:cs typeface="Microsoft YaHei" pitchFamily="34" charset="-120"/>
              </a:rPr>
              <a:t>'思想史不是供奉偶像，而是与伟大的心灵对话'</a:t>
            </a:r>
            <a:endParaRPr lang="en-US" sz="1300" dirty="0"/>
          </a:p>
        </p:txBody>
      </p:sp>
      <p:sp>
        <p:nvSpPr>
          <p:cNvPr id="27" name="Shape 25"/>
          <p:cNvSpPr/>
          <p:nvPr/>
        </p:nvSpPr>
        <p:spPr>
          <a:xfrm>
            <a:off x="8503920" y="4663440"/>
            <a:ext cx="365760" cy="365760"/>
          </a:xfrm>
          <a:prstGeom prst="ellipse">
            <a:avLst/>
          </a:prstGeom>
          <a:solidFill>
            <a:srgbClr val="C1121F"/>
          </a:solidFill>
          <a:ln/>
        </p:spPr>
      </p:sp>
      <p:sp>
        <p:nvSpPr>
          <p:cNvPr id="28" name="Text 2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84</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课程总结</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为什么斯密仍然重要？</a:t>
            </a:r>
            <a:endParaRPr lang="en-US" sz="3600" dirty="0"/>
          </a:p>
        </p:txBody>
      </p:sp>
      <p:sp>
        <p:nvSpPr>
          <p:cNvPr id="5" name="Shape 3"/>
          <p:cNvSpPr/>
          <p:nvPr/>
        </p:nvSpPr>
        <p:spPr>
          <a:xfrm>
            <a:off x="457200" y="1783080"/>
            <a:ext cx="4023360" cy="1234440"/>
          </a:xfrm>
          <a:prstGeom prst="rect">
            <a:avLst/>
          </a:prstGeom>
          <a:solidFill>
            <a:srgbClr val="780000"/>
          </a:solidFill>
          <a:ln/>
        </p:spPr>
      </p:sp>
      <p:sp>
        <p:nvSpPr>
          <p:cNvPr id="6" name="Text 4"/>
          <p:cNvSpPr/>
          <p:nvPr/>
        </p:nvSpPr>
        <p:spPr>
          <a:xfrm>
            <a:off x="640080" y="1920240"/>
            <a:ext cx="3657600" cy="41148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分析框架的持久力</a:t>
            </a:r>
            <a:endParaRPr lang="en-US" sz="1500" dirty="0"/>
          </a:p>
        </p:txBody>
      </p:sp>
      <p:sp>
        <p:nvSpPr>
          <p:cNvPr id="7" name="Text 5"/>
          <p:cNvSpPr/>
          <p:nvPr/>
        </p:nvSpPr>
        <p:spPr>
          <a:xfrm>
            <a:off x="640080" y="2331720"/>
            <a:ext cx="3657600" cy="5943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他的许多分析范疇（分工、交换、价格信号）仍是现代经济学的基石</a:t>
            </a:r>
            <a:endParaRPr lang="en-US" sz="1200" dirty="0"/>
          </a:p>
        </p:txBody>
      </p:sp>
      <p:sp>
        <p:nvSpPr>
          <p:cNvPr id="8" name="Shape 6"/>
          <p:cNvSpPr/>
          <p:nvPr/>
        </p:nvSpPr>
        <p:spPr>
          <a:xfrm>
            <a:off x="4754880" y="1783080"/>
            <a:ext cx="4023360" cy="1234440"/>
          </a:xfrm>
          <a:prstGeom prst="rect">
            <a:avLst/>
          </a:prstGeom>
          <a:solidFill>
            <a:srgbClr val="780000"/>
          </a:solidFill>
          <a:ln/>
        </p:spPr>
      </p:sp>
      <p:sp>
        <p:nvSpPr>
          <p:cNvPr id="9" name="Text 7"/>
          <p:cNvSpPr/>
          <p:nvPr/>
        </p:nvSpPr>
        <p:spPr>
          <a:xfrm>
            <a:off x="4937760" y="1920240"/>
            <a:ext cx="3657600" cy="41148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对人性的深刻洞察</a:t>
            </a:r>
            <a:endParaRPr lang="en-US" sz="1500" dirty="0"/>
          </a:p>
        </p:txBody>
      </p:sp>
      <p:sp>
        <p:nvSpPr>
          <p:cNvPr id="10" name="Text 8"/>
          <p:cNvSpPr/>
          <p:nvPr/>
        </p:nvSpPr>
        <p:spPr>
          <a:xfrm>
            <a:off x="4937760" y="2331720"/>
            <a:ext cx="3657600" cy="5943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对人类复杂动机的细腻描写，超越了简单的'经济人'标签</a:t>
            </a:r>
            <a:endParaRPr lang="en-US" sz="1200" dirty="0"/>
          </a:p>
        </p:txBody>
      </p:sp>
      <p:sp>
        <p:nvSpPr>
          <p:cNvPr id="11" name="Shape 9"/>
          <p:cNvSpPr/>
          <p:nvPr/>
        </p:nvSpPr>
        <p:spPr>
          <a:xfrm>
            <a:off x="457200" y="3154680"/>
            <a:ext cx="4023360" cy="1234440"/>
          </a:xfrm>
          <a:prstGeom prst="rect">
            <a:avLst/>
          </a:prstGeom>
          <a:solidFill>
            <a:srgbClr val="003049"/>
          </a:solidFill>
          <a:ln/>
        </p:spPr>
      </p:sp>
      <p:sp>
        <p:nvSpPr>
          <p:cNvPr id="12" name="Text 10"/>
          <p:cNvSpPr/>
          <p:nvPr/>
        </p:nvSpPr>
        <p:spPr>
          <a:xfrm>
            <a:off x="640080" y="3291840"/>
            <a:ext cx="3657600" cy="41148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跨时代的争议性</a:t>
            </a:r>
            <a:endParaRPr lang="en-US" sz="1500" dirty="0"/>
          </a:p>
        </p:txBody>
      </p:sp>
      <p:sp>
        <p:nvSpPr>
          <p:cNvPr id="13" name="Text 11"/>
          <p:cNvSpPr/>
          <p:nvPr/>
        </p:nvSpPr>
        <p:spPr>
          <a:xfrm>
            <a:off x="640080" y="3703320"/>
            <a:ext cx="3657600" cy="5943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他的思想持续引发争议：自由市场vs政府干预，个人利益vs集体利益</a:t>
            </a:r>
            <a:endParaRPr lang="en-US" sz="1200" dirty="0"/>
          </a:p>
        </p:txBody>
      </p:sp>
      <p:sp>
        <p:nvSpPr>
          <p:cNvPr id="14" name="Shape 12"/>
          <p:cNvSpPr/>
          <p:nvPr/>
        </p:nvSpPr>
        <p:spPr>
          <a:xfrm>
            <a:off x="4754880" y="3154680"/>
            <a:ext cx="4023360" cy="1234440"/>
          </a:xfrm>
          <a:prstGeom prst="rect">
            <a:avLst/>
          </a:prstGeom>
          <a:solidFill>
            <a:srgbClr val="003049"/>
          </a:solidFill>
          <a:ln/>
        </p:spPr>
      </p:sp>
      <p:sp>
        <p:nvSpPr>
          <p:cNvPr id="15" name="Text 13"/>
          <p:cNvSpPr/>
          <p:nvPr/>
        </p:nvSpPr>
        <p:spPr>
          <a:xfrm>
            <a:off x="4937760" y="3291840"/>
            <a:ext cx="3657600" cy="411480"/>
          </a:xfrm>
          <a:prstGeom prst="rect">
            <a:avLst/>
          </a:prstGeom>
          <a:noFill/>
          <a:ln/>
        </p:spPr>
        <p:txBody>
          <a:bodyPr wrap="square"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现代思想的源头</a:t>
            </a:r>
            <a:endParaRPr lang="en-US" sz="1500" dirty="0"/>
          </a:p>
        </p:txBody>
      </p:sp>
      <p:sp>
        <p:nvSpPr>
          <p:cNvPr id="16" name="Text 14"/>
          <p:cNvSpPr/>
          <p:nvPr/>
        </p:nvSpPr>
        <p:spPr>
          <a:xfrm>
            <a:off x="4937760" y="3703320"/>
            <a:ext cx="3657600" cy="5943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理解斯密，才能理解从古典经济学到当代制度经济学的思想脉络</a:t>
            </a:r>
            <a:endParaRPr lang="en-US" sz="1200" dirty="0"/>
          </a:p>
        </p:txBody>
      </p:sp>
      <p:sp>
        <p:nvSpPr>
          <p:cNvPr id="17" name="Shape 15"/>
          <p:cNvSpPr/>
          <p:nvPr/>
        </p:nvSpPr>
        <p:spPr>
          <a:xfrm>
            <a:off x="457200" y="4572000"/>
            <a:ext cx="8229600" cy="457200"/>
          </a:xfrm>
          <a:prstGeom prst="rect">
            <a:avLst/>
          </a:prstGeom>
          <a:solidFill>
            <a:srgbClr val="C1121F"/>
          </a:solidFill>
          <a:ln/>
        </p:spPr>
      </p:sp>
      <p:sp>
        <p:nvSpPr>
          <p:cNvPr id="18" name="Text 16"/>
          <p:cNvSpPr/>
          <p:nvPr/>
        </p:nvSpPr>
        <p:spPr>
          <a:xfrm>
            <a:off x="457200" y="4572000"/>
            <a:ext cx="82296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斯密的遗产：不是教条，而是思考市场与道德的起点</a:t>
            </a:r>
            <a:endParaRPr lang="en-US" sz="1400" dirty="0"/>
          </a:p>
        </p:txBody>
      </p:sp>
      <p:sp>
        <p:nvSpPr>
          <p:cNvPr id="19" name="Shape 17"/>
          <p:cNvSpPr/>
          <p:nvPr/>
        </p:nvSpPr>
        <p:spPr>
          <a:xfrm>
            <a:off x="8503920" y="4663440"/>
            <a:ext cx="365760" cy="365760"/>
          </a:xfrm>
          <a:prstGeom prst="ellipse">
            <a:avLst/>
          </a:prstGeom>
          <a:solidFill>
            <a:srgbClr val="669BBC"/>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780000"/>
                </a:solidFill>
                <a:latin typeface="Calibri" pitchFamily="34" charset="0"/>
                <a:ea typeface="Calibri" pitchFamily="34" charset="-122"/>
                <a:cs typeface="Calibri" pitchFamily="34" charset="-120"/>
              </a:rPr>
              <a:t>85</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延伸学习</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延伸学习路径</a:t>
            </a:r>
            <a:endParaRPr lang="en-US" sz="3600" dirty="0"/>
          </a:p>
        </p:txBody>
      </p:sp>
      <p:sp>
        <p:nvSpPr>
          <p:cNvPr id="5" name="Shape 3"/>
          <p:cNvSpPr/>
          <p:nvPr/>
        </p:nvSpPr>
        <p:spPr>
          <a:xfrm>
            <a:off x="457200" y="1737360"/>
            <a:ext cx="1097280" cy="914400"/>
          </a:xfrm>
          <a:prstGeom prst="rect">
            <a:avLst/>
          </a:prstGeom>
          <a:solidFill>
            <a:srgbClr val="669BBC"/>
          </a:solidFill>
          <a:ln/>
        </p:spPr>
      </p:sp>
      <p:sp>
        <p:nvSpPr>
          <p:cNvPr id="6" name="Text 4"/>
          <p:cNvSpPr/>
          <p:nvPr/>
        </p:nvSpPr>
        <p:spPr>
          <a:xfrm>
            <a:off x="457200" y="1737360"/>
            <a:ext cx="1097280" cy="9144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入门</a:t>
            </a:r>
            <a:endParaRPr lang="en-US" sz="1400" dirty="0"/>
          </a:p>
        </p:txBody>
      </p:sp>
      <p:sp>
        <p:nvSpPr>
          <p:cNvPr id="7" name="Text 5"/>
          <p:cNvSpPr/>
          <p:nvPr/>
        </p:nvSpPr>
        <p:spPr>
          <a:xfrm>
            <a:off x="1691640" y="201168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《国富论》导读版</a:t>
            </a:r>
            <a:endParaRPr lang="en-US" sz="1200" dirty="0"/>
          </a:p>
        </p:txBody>
      </p:sp>
      <p:sp>
        <p:nvSpPr>
          <p:cNvPr id="8" name="Text 6"/>
          <p:cNvSpPr/>
          <p:nvPr/>
        </p:nvSpPr>
        <p:spPr>
          <a:xfrm>
            <a:off x="4160520" y="201168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《道德情操论》李华机译本</a:t>
            </a:r>
            <a:endParaRPr lang="en-US" sz="1200" dirty="0"/>
          </a:p>
        </p:txBody>
      </p:sp>
      <p:sp>
        <p:nvSpPr>
          <p:cNvPr id="9" name="Text 7"/>
          <p:cNvSpPr/>
          <p:nvPr/>
        </p:nvSpPr>
        <p:spPr>
          <a:xfrm>
            <a:off x="6629400" y="201168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曼德维尔《蜜蜂的寓言》</a:t>
            </a:r>
            <a:endParaRPr lang="en-US" sz="1200" dirty="0"/>
          </a:p>
        </p:txBody>
      </p:sp>
      <p:sp>
        <p:nvSpPr>
          <p:cNvPr id="10" name="Shape 8"/>
          <p:cNvSpPr/>
          <p:nvPr/>
        </p:nvSpPr>
        <p:spPr>
          <a:xfrm>
            <a:off x="457200" y="2788920"/>
            <a:ext cx="1097280" cy="914400"/>
          </a:xfrm>
          <a:prstGeom prst="rect">
            <a:avLst/>
          </a:prstGeom>
          <a:solidFill>
            <a:srgbClr val="003049"/>
          </a:solidFill>
          <a:ln/>
        </p:spPr>
      </p:sp>
      <p:sp>
        <p:nvSpPr>
          <p:cNvPr id="11" name="Text 9"/>
          <p:cNvSpPr/>
          <p:nvPr/>
        </p:nvSpPr>
        <p:spPr>
          <a:xfrm>
            <a:off x="457200" y="2788920"/>
            <a:ext cx="1097280" cy="9144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进阶</a:t>
            </a:r>
            <a:endParaRPr lang="en-US" sz="1400" dirty="0"/>
          </a:p>
        </p:txBody>
      </p:sp>
      <p:sp>
        <p:nvSpPr>
          <p:cNvPr id="12" name="Text 10"/>
          <p:cNvSpPr/>
          <p:nvPr/>
        </p:nvSpPr>
        <p:spPr>
          <a:xfrm>
            <a:off x="1691640" y="306324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哈耶克《自由秩序原理》</a:t>
            </a:r>
            <a:endParaRPr lang="en-US" sz="1200" dirty="0"/>
          </a:p>
        </p:txBody>
      </p:sp>
      <p:sp>
        <p:nvSpPr>
          <p:cNvPr id="13" name="Text 11"/>
          <p:cNvSpPr/>
          <p:nvPr/>
        </p:nvSpPr>
        <p:spPr>
          <a:xfrm>
            <a:off x="4160520" y="306324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凯恩斯《就业、利息与货币通论》</a:t>
            </a:r>
            <a:endParaRPr lang="en-US" sz="1200" dirty="0"/>
          </a:p>
        </p:txBody>
      </p:sp>
      <p:sp>
        <p:nvSpPr>
          <p:cNvPr id="14" name="Text 12"/>
          <p:cNvSpPr/>
          <p:nvPr/>
        </p:nvSpPr>
        <p:spPr>
          <a:xfrm>
            <a:off x="6629400" y="306324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诺斯《制度、制度变迁与经济绩效》</a:t>
            </a:r>
            <a:endParaRPr lang="en-US" sz="1200" dirty="0"/>
          </a:p>
        </p:txBody>
      </p:sp>
      <p:sp>
        <p:nvSpPr>
          <p:cNvPr id="15" name="Shape 13"/>
          <p:cNvSpPr/>
          <p:nvPr/>
        </p:nvSpPr>
        <p:spPr>
          <a:xfrm>
            <a:off x="457200" y="3840480"/>
            <a:ext cx="1097280" cy="914400"/>
          </a:xfrm>
          <a:prstGeom prst="rect">
            <a:avLst/>
          </a:prstGeom>
          <a:solidFill>
            <a:srgbClr val="780000"/>
          </a:solidFill>
          <a:ln/>
        </p:spPr>
      </p:sp>
      <p:sp>
        <p:nvSpPr>
          <p:cNvPr id="16" name="Text 14"/>
          <p:cNvSpPr/>
          <p:nvPr/>
        </p:nvSpPr>
        <p:spPr>
          <a:xfrm>
            <a:off x="457200" y="3840480"/>
            <a:ext cx="1097280" cy="9144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专题</a:t>
            </a:r>
            <a:endParaRPr lang="en-US" sz="1400" dirty="0"/>
          </a:p>
        </p:txBody>
      </p:sp>
      <p:sp>
        <p:nvSpPr>
          <p:cNvPr id="17" name="Text 15"/>
          <p:cNvSpPr/>
          <p:nvPr/>
        </p:nvSpPr>
        <p:spPr>
          <a:xfrm>
            <a:off x="1691640" y="411480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思想史研究方法</a:t>
            </a:r>
            <a:endParaRPr lang="en-US" sz="1200" dirty="0"/>
          </a:p>
        </p:txBody>
      </p:sp>
      <p:sp>
        <p:nvSpPr>
          <p:cNvPr id="18" name="Text 16"/>
          <p:cNvSpPr/>
          <p:nvPr/>
        </p:nvSpPr>
        <p:spPr>
          <a:xfrm>
            <a:off x="4160520" y="411480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苏格兰启蒙运动研究</a:t>
            </a:r>
            <a:endParaRPr lang="en-US" sz="1200" dirty="0"/>
          </a:p>
        </p:txBody>
      </p:sp>
      <p:sp>
        <p:nvSpPr>
          <p:cNvPr id="19" name="Text 17"/>
          <p:cNvSpPr/>
          <p:nvPr/>
        </p:nvSpPr>
        <p:spPr>
          <a:xfrm>
            <a:off x="6629400" y="4114800"/>
            <a:ext cx="2377440" cy="45720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中国市场经济改革与斯密思想</a:t>
            </a:r>
            <a:endParaRPr lang="en-US" sz="1200" dirty="0"/>
          </a:p>
        </p:txBody>
      </p:sp>
      <p:sp>
        <p:nvSpPr>
          <p:cNvPr id="20" name="Shape 18"/>
          <p:cNvSpPr/>
          <p:nvPr/>
        </p:nvSpPr>
        <p:spPr>
          <a:xfrm>
            <a:off x="8503920" y="4663440"/>
            <a:ext cx="365760" cy="365760"/>
          </a:xfrm>
          <a:prstGeom prst="ellipse">
            <a:avLst/>
          </a:prstGeom>
          <a:solidFill>
            <a:srgbClr val="C1121F"/>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86</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延伸学习</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网络资源推荐</a:t>
            </a:r>
            <a:endParaRPr lang="en-US" sz="3600" dirty="0"/>
          </a:p>
        </p:txBody>
      </p:sp>
      <p:sp>
        <p:nvSpPr>
          <p:cNvPr id="5" name="Shape 3"/>
          <p:cNvSpPr/>
          <p:nvPr/>
        </p:nvSpPr>
        <p:spPr>
          <a:xfrm>
            <a:off x="457200" y="1737360"/>
            <a:ext cx="4023360" cy="1234440"/>
          </a:xfrm>
          <a:prstGeom prst="rect">
            <a:avLst/>
          </a:prstGeom>
          <a:solidFill>
            <a:srgbClr val="FFFFFF"/>
          </a:solidFill>
          <a:ln/>
          <a:effectLst>
            <a:outerShdw sx="100000" sy="100000" kx="0" ky="0" algn="bl" rotWithShape="0" blurRad="25400" dist="12700" dir="2700000">
              <a:srgbClr val="000000">
                <a:alpha val="12000"/>
              </a:srgbClr>
            </a:outerShdw>
          </a:effectLst>
        </p:spPr>
      </p:sp>
      <p:sp>
        <p:nvSpPr>
          <p:cNvPr id="6" name="Shape 4"/>
          <p:cNvSpPr/>
          <p:nvPr/>
        </p:nvSpPr>
        <p:spPr>
          <a:xfrm>
            <a:off x="457200" y="1737360"/>
            <a:ext cx="914400" cy="365760"/>
          </a:xfrm>
          <a:prstGeom prst="rect">
            <a:avLst/>
          </a:prstGeom>
          <a:solidFill>
            <a:srgbClr val="C1121F"/>
          </a:solidFill>
          <a:ln/>
        </p:spPr>
      </p:sp>
      <p:sp>
        <p:nvSpPr>
          <p:cNvPr id="7" name="Text 5"/>
          <p:cNvSpPr/>
          <p:nvPr/>
        </p:nvSpPr>
        <p:spPr>
          <a:xfrm>
            <a:off x="457200" y="1737360"/>
            <a:ext cx="914400" cy="36576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MOOC</a:t>
            </a:r>
            <a:endParaRPr lang="en-US" sz="1100" dirty="0"/>
          </a:p>
        </p:txBody>
      </p:sp>
      <p:sp>
        <p:nvSpPr>
          <p:cNvPr id="8" name="Text 6"/>
          <p:cNvSpPr/>
          <p:nvPr/>
        </p:nvSpPr>
        <p:spPr>
          <a:xfrm>
            <a:off x="594360" y="2148840"/>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中国大学MOOC：经济学原理</a:t>
            </a:r>
            <a:endParaRPr lang="en-US" sz="1100" dirty="0"/>
          </a:p>
        </p:txBody>
      </p:sp>
      <p:sp>
        <p:nvSpPr>
          <p:cNvPr id="9" name="Text 7"/>
          <p:cNvSpPr/>
          <p:nvPr/>
        </p:nvSpPr>
        <p:spPr>
          <a:xfrm>
            <a:off x="594360" y="2404872"/>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Coursera：行为经济学</a:t>
            </a:r>
            <a:endParaRPr lang="en-US" sz="1100" dirty="0"/>
          </a:p>
        </p:txBody>
      </p:sp>
      <p:sp>
        <p:nvSpPr>
          <p:cNvPr id="10" name="Text 8"/>
          <p:cNvSpPr/>
          <p:nvPr/>
        </p:nvSpPr>
        <p:spPr>
          <a:xfrm>
            <a:off x="594360" y="2660904"/>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edX：苏格兰启蒙运动</a:t>
            </a:r>
            <a:endParaRPr lang="en-US" sz="1100" dirty="0"/>
          </a:p>
        </p:txBody>
      </p:sp>
      <p:sp>
        <p:nvSpPr>
          <p:cNvPr id="11" name="Shape 9"/>
          <p:cNvSpPr/>
          <p:nvPr/>
        </p:nvSpPr>
        <p:spPr>
          <a:xfrm>
            <a:off x="4754880" y="1737360"/>
            <a:ext cx="4023360" cy="1234440"/>
          </a:xfrm>
          <a:prstGeom prst="rect">
            <a:avLst/>
          </a:prstGeom>
          <a:solidFill>
            <a:srgbClr val="FFFFFF"/>
          </a:solidFill>
          <a:ln/>
          <a:effectLst>
            <a:outerShdw sx="100000" sy="100000" kx="0" ky="0" algn="bl" rotWithShape="0" blurRad="25400" dist="12700" dir="2700000">
              <a:srgbClr val="000000">
                <a:alpha val="12000"/>
              </a:srgbClr>
            </a:outerShdw>
          </a:effectLst>
        </p:spPr>
      </p:sp>
      <p:sp>
        <p:nvSpPr>
          <p:cNvPr id="12" name="Shape 10"/>
          <p:cNvSpPr/>
          <p:nvPr/>
        </p:nvSpPr>
        <p:spPr>
          <a:xfrm>
            <a:off x="4754880" y="1737360"/>
            <a:ext cx="914400" cy="365760"/>
          </a:xfrm>
          <a:prstGeom prst="rect">
            <a:avLst/>
          </a:prstGeom>
          <a:solidFill>
            <a:srgbClr val="C1121F"/>
          </a:solidFill>
          <a:ln/>
        </p:spPr>
      </p:sp>
      <p:sp>
        <p:nvSpPr>
          <p:cNvPr id="13" name="Text 11"/>
          <p:cNvSpPr/>
          <p:nvPr/>
        </p:nvSpPr>
        <p:spPr>
          <a:xfrm>
            <a:off x="4754880" y="1737360"/>
            <a:ext cx="914400" cy="36576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学术</a:t>
            </a:r>
            <a:endParaRPr lang="en-US" sz="1100" dirty="0"/>
          </a:p>
        </p:txBody>
      </p:sp>
      <p:sp>
        <p:nvSpPr>
          <p:cNvPr id="14" name="Text 12"/>
          <p:cNvSpPr/>
          <p:nvPr/>
        </p:nvSpPr>
        <p:spPr>
          <a:xfrm>
            <a:off x="4892040" y="2148840"/>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JSTOR免费论文</a:t>
            </a:r>
            <a:endParaRPr lang="en-US" sz="1100" dirty="0"/>
          </a:p>
        </p:txBody>
      </p:sp>
      <p:sp>
        <p:nvSpPr>
          <p:cNvPr id="15" name="Text 13"/>
          <p:cNvSpPr/>
          <p:nvPr/>
        </p:nvSpPr>
        <p:spPr>
          <a:xfrm>
            <a:off x="4892040" y="2404872"/>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Google Scholar</a:t>
            </a:r>
            <a:endParaRPr lang="en-US" sz="1100" dirty="0"/>
          </a:p>
        </p:txBody>
      </p:sp>
      <p:sp>
        <p:nvSpPr>
          <p:cNvPr id="16" name="Text 14"/>
          <p:cNvSpPr/>
          <p:nvPr/>
        </p:nvSpPr>
        <p:spPr>
          <a:xfrm>
            <a:off x="4892040" y="2660904"/>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CNKI中国知网</a:t>
            </a:r>
            <a:endParaRPr lang="en-US" sz="1100" dirty="0"/>
          </a:p>
        </p:txBody>
      </p:sp>
      <p:sp>
        <p:nvSpPr>
          <p:cNvPr id="17" name="Shape 15"/>
          <p:cNvSpPr/>
          <p:nvPr/>
        </p:nvSpPr>
        <p:spPr>
          <a:xfrm>
            <a:off x="457200" y="3108960"/>
            <a:ext cx="4023360" cy="1234440"/>
          </a:xfrm>
          <a:prstGeom prst="rect">
            <a:avLst/>
          </a:prstGeom>
          <a:solidFill>
            <a:srgbClr val="FFFFFF"/>
          </a:solidFill>
          <a:ln/>
          <a:effectLst>
            <a:outerShdw sx="100000" sy="100000" kx="0" ky="0" algn="bl" rotWithShape="0" blurRad="25400" dist="12700" dir="2700000">
              <a:srgbClr val="000000">
                <a:alpha val="12000"/>
              </a:srgbClr>
            </a:outerShdw>
          </a:effectLst>
        </p:spPr>
      </p:sp>
      <p:sp>
        <p:nvSpPr>
          <p:cNvPr id="18" name="Shape 16"/>
          <p:cNvSpPr/>
          <p:nvPr/>
        </p:nvSpPr>
        <p:spPr>
          <a:xfrm>
            <a:off x="457200" y="3108960"/>
            <a:ext cx="914400" cy="365760"/>
          </a:xfrm>
          <a:prstGeom prst="rect">
            <a:avLst/>
          </a:prstGeom>
          <a:solidFill>
            <a:srgbClr val="C1121F"/>
          </a:solidFill>
          <a:ln/>
        </p:spPr>
      </p:sp>
      <p:sp>
        <p:nvSpPr>
          <p:cNvPr id="19" name="Text 17"/>
          <p:cNvSpPr/>
          <p:nvPr/>
        </p:nvSpPr>
        <p:spPr>
          <a:xfrm>
            <a:off x="457200" y="3108960"/>
            <a:ext cx="914400" cy="36576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视听</a:t>
            </a:r>
            <a:endParaRPr lang="en-US" sz="1100" dirty="0"/>
          </a:p>
        </p:txBody>
      </p:sp>
      <p:sp>
        <p:nvSpPr>
          <p:cNvPr id="20" name="Text 18"/>
          <p:cNvSpPr/>
          <p:nvPr/>
        </p:nvSpPr>
        <p:spPr>
          <a:xfrm>
            <a:off x="594360" y="3520440"/>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BBC纪录片：苏格兰启蒙运动</a:t>
            </a:r>
            <a:endParaRPr lang="en-US" sz="1100" dirty="0"/>
          </a:p>
        </p:txBody>
      </p:sp>
      <p:sp>
        <p:nvSpPr>
          <p:cNvPr id="21" name="Text 19"/>
          <p:cNvSpPr/>
          <p:nvPr/>
        </p:nvSpPr>
        <p:spPr>
          <a:xfrm>
            <a:off x="594360" y="3776472"/>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Yale Open Courses：哲学与道德生活</a:t>
            </a:r>
            <a:endParaRPr lang="en-US" sz="1100" dirty="0"/>
          </a:p>
        </p:txBody>
      </p:sp>
      <p:sp>
        <p:nvSpPr>
          <p:cNvPr id="22" name="Text 20"/>
          <p:cNvSpPr/>
          <p:nvPr/>
        </p:nvSpPr>
        <p:spPr>
          <a:xfrm>
            <a:off x="594360" y="4032504"/>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3Blue1Brown：经济数学</a:t>
            </a:r>
            <a:endParaRPr lang="en-US" sz="1100" dirty="0"/>
          </a:p>
        </p:txBody>
      </p:sp>
      <p:sp>
        <p:nvSpPr>
          <p:cNvPr id="23" name="Shape 21"/>
          <p:cNvSpPr/>
          <p:nvPr/>
        </p:nvSpPr>
        <p:spPr>
          <a:xfrm>
            <a:off x="4754880" y="3108960"/>
            <a:ext cx="4023360" cy="1234440"/>
          </a:xfrm>
          <a:prstGeom prst="rect">
            <a:avLst/>
          </a:prstGeom>
          <a:solidFill>
            <a:srgbClr val="FFFFFF"/>
          </a:solidFill>
          <a:ln/>
          <a:effectLst>
            <a:outerShdw sx="100000" sy="100000" kx="0" ky="0" algn="bl" rotWithShape="0" blurRad="25400" dist="12700" dir="2700000">
              <a:srgbClr val="000000">
                <a:alpha val="12000"/>
              </a:srgbClr>
            </a:outerShdw>
          </a:effectLst>
        </p:spPr>
      </p:sp>
      <p:sp>
        <p:nvSpPr>
          <p:cNvPr id="24" name="Shape 22"/>
          <p:cNvSpPr/>
          <p:nvPr/>
        </p:nvSpPr>
        <p:spPr>
          <a:xfrm>
            <a:off x="4754880" y="3108960"/>
            <a:ext cx="914400" cy="365760"/>
          </a:xfrm>
          <a:prstGeom prst="rect">
            <a:avLst/>
          </a:prstGeom>
          <a:solidFill>
            <a:srgbClr val="C1121F"/>
          </a:solidFill>
          <a:ln/>
        </p:spPr>
      </p:sp>
      <p:sp>
        <p:nvSpPr>
          <p:cNvPr id="25" name="Text 23"/>
          <p:cNvSpPr/>
          <p:nvPr/>
        </p:nvSpPr>
        <p:spPr>
          <a:xfrm>
            <a:off x="4754880" y="3108960"/>
            <a:ext cx="914400" cy="365760"/>
          </a:xfrm>
          <a:prstGeom prst="rect">
            <a:avLst/>
          </a:prstGeom>
          <a:noFill/>
          <a:ln/>
        </p:spPr>
        <p:txBody>
          <a:bodyPr wrap="square"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工具</a:t>
            </a:r>
            <a:endParaRPr lang="en-US" sz="1100" dirty="0"/>
          </a:p>
        </p:txBody>
      </p:sp>
      <p:sp>
        <p:nvSpPr>
          <p:cNvPr id="26" name="Text 24"/>
          <p:cNvSpPr/>
          <p:nvPr/>
        </p:nvSpPr>
        <p:spPr>
          <a:xfrm>
            <a:off x="4892040" y="3520440"/>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Zotero文献管理</a:t>
            </a:r>
            <a:endParaRPr lang="en-US" sz="1100" dirty="0"/>
          </a:p>
        </p:txBody>
      </p:sp>
      <p:sp>
        <p:nvSpPr>
          <p:cNvPr id="27" name="Text 25"/>
          <p:cNvSpPr/>
          <p:nvPr/>
        </p:nvSpPr>
        <p:spPr>
          <a:xfrm>
            <a:off x="4892040" y="3776472"/>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MindMaster思维导图</a:t>
            </a:r>
            <a:endParaRPr lang="en-US" sz="1100" dirty="0"/>
          </a:p>
        </p:txBody>
      </p:sp>
      <p:sp>
        <p:nvSpPr>
          <p:cNvPr id="28" name="Text 26"/>
          <p:cNvSpPr/>
          <p:nvPr/>
        </p:nvSpPr>
        <p:spPr>
          <a:xfrm>
            <a:off x="4892040" y="4032504"/>
            <a:ext cx="3749040" cy="256032"/>
          </a:xfrm>
          <a:prstGeom prst="rect">
            <a:avLst/>
          </a:prstGeom>
          <a:noFill/>
          <a:ln/>
        </p:spPr>
        <p:txBody>
          <a:bodyPr wrap="square" rtlCol="0" anchor="ctr"/>
          <a:lstStyle/>
          <a:p>
            <a:pPr indent="0" marL="0">
              <a:buNone/>
            </a:pPr>
            <a:r>
              <a:rPr lang="en-US" sz="1100" dirty="0">
                <a:solidFill>
                  <a:srgbClr val="003049"/>
                </a:solidFill>
                <a:latin typeface="Microsoft YaHei" pitchFamily="34" charset="0"/>
                <a:ea typeface="Microsoft YaHei" pitchFamily="34" charset="-122"/>
                <a:cs typeface="Microsoft YaHei" pitchFamily="34" charset="-120"/>
              </a:rPr>
              <a:t>▸ Notion知识库</a:t>
            </a:r>
            <a:endParaRPr lang="en-US" sz="1100" dirty="0"/>
          </a:p>
        </p:txBody>
      </p:sp>
      <p:sp>
        <p:nvSpPr>
          <p:cNvPr id="29" name="Shape 27"/>
          <p:cNvSpPr/>
          <p:nvPr/>
        </p:nvSpPr>
        <p:spPr>
          <a:xfrm>
            <a:off x="8503920" y="4663440"/>
            <a:ext cx="365760" cy="365760"/>
          </a:xfrm>
          <a:prstGeom prst="ellipse">
            <a:avLst/>
          </a:prstGeom>
          <a:solidFill>
            <a:srgbClr val="C1121F"/>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87</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延伸学习</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中国学者对斯密的研究</a:t>
            </a:r>
            <a:endParaRPr lang="en-US" sz="3600" dirty="0"/>
          </a:p>
        </p:txBody>
      </p:sp>
      <p:sp>
        <p:nvSpPr>
          <p:cNvPr id="5" name="Text 3"/>
          <p:cNvSpPr/>
          <p:nvPr/>
        </p:nvSpPr>
        <p:spPr>
          <a:xfrm>
            <a:off x="457200" y="1691640"/>
            <a:ext cx="182880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代表学者</a:t>
            </a:r>
            <a:endParaRPr lang="en-US" sz="1400" dirty="0"/>
          </a:p>
        </p:txBody>
      </p:sp>
      <p:sp>
        <p:nvSpPr>
          <p:cNvPr id="6" name="Shape 4"/>
          <p:cNvSpPr/>
          <p:nvPr/>
        </p:nvSpPr>
        <p:spPr>
          <a:xfrm>
            <a:off x="457200" y="2103120"/>
            <a:ext cx="4023360" cy="548640"/>
          </a:xfrm>
          <a:prstGeom prst="rect">
            <a:avLst/>
          </a:prstGeom>
          <a:solidFill>
            <a:srgbClr val="003049"/>
          </a:solidFill>
          <a:ln/>
        </p:spPr>
      </p:sp>
      <p:sp>
        <p:nvSpPr>
          <p:cNvPr id="7" name="Text 5"/>
          <p:cNvSpPr/>
          <p:nvPr/>
        </p:nvSpPr>
        <p:spPr>
          <a:xfrm>
            <a:off x="548640" y="2194560"/>
            <a:ext cx="109728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严复</a:t>
            </a:r>
            <a:endParaRPr lang="en-US" sz="1300" dirty="0"/>
          </a:p>
        </p:txBody>
      </p:sp>
      <p:sp>
        <p:nvSpPr>
          <p:cNvPr id="8" name="Text 6"/>
          <p:cNvSpPr/>
          <p:nvPr/>
        </p:nvSpPr>
        <p:spPr>
          <a:xfrm>
            <a:off x="1645920" y="2194560"/>
            <a:ext cx="2743200" cy="3657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首位系统译介斯密著作的中国学者</a:t>
            </a:r>
            <a:endParaRPr lang="en-US" sz="1100" dirty="0"/>
          </a:p>
        </p:txBody>
      </p:sp>
      <p:sp>
        <p:nvSpPr>
          <p:cNvPr id="9" name="Shape 7"/>
          <p:cNvSpPr/>
          <p:nvPr/>
        </p:nvSpPr>
        <p:spPr>
          <a:xfrm>
            <a:off x="4754880" y="2103120"/>
            <a:ext cx="4023360" cy="548640"/>
          </a:xfrm>
          <a:prstGeom prst="rect">
            <a:avLst/>
          </a:prstGeom>
          <a:solidFill>
            <a:srgbClr val="669BBC"/>
          </a:solidFill>
          <a:ln/>
        </p:spPr>
      </p:sp>
      <p:sp>
        <p:nvSpPr>
          <p:cNvPr id="10" name="Text 8"/>
          <p:cNvSpPr/>
          <p:nvPr/>
        </p:nvSpPr>
        <p:spPr>
          <a:xfrm>
            <a:off x="4846320" y="2194560"/>
            <a:ext cx="109728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陈寅恪</a:t>
            </a:r>
            <a:endParaRPr lang="en-US" sz="1300" dirty="0"/>
          </a:p>
        </p:txBody>
      </p:sp>
      <p:sp>
        <p:nvSpPr>
          <p:cNvPr id="11" name="Text 9"/>
          <p:cNvSpPr/>
          <p:nvPr/>
        </p:nvSpPr>
        <p:spPr>
          <a:xfrm>
            <a:off x="5943600" y="2194560"/>
            <a:ext cx="2743200" cy="3657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从思想史角度研究斯密</a:t>
            </a:r>
            <a:endParaRPr lang="en-US" sz="1100" dirty="0"/>
          </a:p>
        </p:txBody>
      </p:sp>
      <p:sp>
        <p:nvSpPr>
          <p:cNvPr id="12" name="Shape 10"/>
          <p:cNvSpPr/>
          <p:nvPr/>
        </p:nvSpPr>
        <p:spPr>
          <a:xfrm>
            <a:off x="457200" y="2743200"/>
            <a:ext cx="4023360" cy="548640"/>
          </a:xfrm>
          <a:prstGeom prst="rect">
            <a:avLst/>
          </a:prstGeom>
          <a:solidFill>
            <a:srgbClr val="003049"/>
          </a:solidFill>
          <a:ln/>
        </p:spPr>
      </p:sp>
      <p:sp>
        <p:nvSpPr>
          <p:cNvPr id="13" name="Text 11"/>
          <p:cNvSpPr/>
          <p:nvPr/>
        </p:nvSpPr>
        <p:spPr>
          <a:xfrm>
            <a:off x="548640" y="2834640"/>
            <a:ext cx="109728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汤在新</a:t>
            </a:r>
            <a:endParaRPr lang="en-US" sz="1300" dirty="0"/>
          </a:p>
        </p:txBody>
      </p:sp>
      <p:sp>
        <p:nvSpPr>
          <p:cNvPr id="14" name="Text 12"/>
          <p:cNvSpPr/>
          <p:nvPr/>
        </p:nvSpPr>
        <p:spPr>
          <a:xfrm>
            <a:off x="1645920" y="2834640"/>
            <a:ext cx="2743200" cy="3657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《近代上海 extracredit研究斯密对中国的影响</a:t>
            </a:r>
            <a:endParaRPr lang="en-US" sz="1100" dirty="0"/>
          </a:p>
        </p:txBody>
      </p:sp>
      <p:sp>
        <p:nvSpPr>
          <p:cNvPr id="15" name="Shape 13"/>
          <p:cNvSpPr/>
          <p:nvPr/>
        </p:nvSpPr>
        <p:spPr>
          <a:xfrm>
            <a:off x="4754880" y="2743200"/>
            <a:ext cx="4023360" cy="548640"/>
          </a:xfrm>
          <a:prstGeom prst="rect">
            <a:avLst/>
          </a:prstGeom>
          <a:solidFill>
            <a:srgbClr val="669BBC"/>
          </a:solidFill>
          <a:ln/>
        </p:spPr>
      </p:sp>
      <p:sp>
        <p:nvSpPr>
          <p:cNvPr id="16" name="Text 14"/>
          <p:cNvSpPr/>
          <p:nvPr/>
        </p:nvSpPr>
        <p:spPr>
          <a:xfrm>
            <a:off x="4846320" y="2834640"/>
            <a:ext cx="109728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韦森</a:t>
            </a:r>
            <a:endParaRPr lang="en-US" sz="1300" dirty="0"/>
          </a:p>
        </p:txBody>
      </p:sp>
      <p:sp>
        <p:nvSpPr>
          <p:cNvPr id="17" name="Text 15"/>
          <p:cNvSpPr/>
          <p:nvPr/>
        </p:nvSpPr>
        <p:spPr>
          <a:xfrm>
            <a:off x="5943600" y="2834640"/>
            <a:ext cx="2743200" cy="3657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当代斯密思想与制度变迁研究</a:t>
            </a:r>
            <a:endParaRPr lang="en-US" sz="1100" dirty="0"/>
          </a:p>
        </p:txBody>
      </p:sp>
      <p:sp>
        <p:nvSpPr>
          <p:cNvPr id="18" name="Text 16"/>
          <p:cNvSpPr/>
          <p:nvPr/>
        </p:nvSpPr>
        <p:spPr>
          <a:xfrm>
            <a:off x="457200" y="3520440"/>
            <a:ext cx="1828800" cy="365760"/>
          </a:xfrm>
          <a:prstGeom prst="rect">
            <a:avLst/>
          </a:prstGeom>
          <a:noFill/>
          <a:ln/>
        </p:spPr>
        <p:txBody>
          <a:bodyPr wrap="square" rtlCol="0" anchor="ctr"/>
          <a:lstStyle/>
          <a:p>
            <a:pPr indent="0" marL="0">
              <a:buNone/>
            </a:pPr>
            <a:r>
              <a:rPr lang="en-US" sz="1400" b="1" dirty="0">
                <a:solidFill>
                  <a:srgbClr val="C1121F"/>
                </a:solidFill>
                <a:latin typeface="Microsoft YaHei" pitchFamily="34" charset="0"/>
                <a:ea typeface="Microsoft YaHei" pitchFamily="34" charset="-122"/>
                <a:cs typeface="Microsoft YaHei" pitchFamily="34" charset="-120"/>
              </a:rPr>
              <a:t>研究热点</a:t>
            </a:r>
            <a:endParaRPr lang="en-US" sz="1400" dirty="0"/>
          </a:p>
        </p:txBody>
      </p:sp>
      <p:sp>
        <p:nvSpPr>
          <p:cNvPr id="19" name="Text 17"/>
          <p:cNvSpPr/>
          <p:nvPr/>
        </p:nvSpPr>
        <p:spPr>
          <a:xfrm>
            <a:off x="457200" y="3931920"/>
            <a:ext cx="411480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斯密思想与儒学传统的比较研究</a:t>
            </a:r>
            <a:endParaRPr lang="en-US" sz="1200" dirty="0"/>
          </a:p>
        </p:txBody>
      </p:sp>
      <p:sp>
        <p:nvSpPr>
          <p:cNvPr id="20" name="Text 18"/>
          <p:cNvSpPr/>
          <p:nvPr/>
        </p:nvSpPr>
        <p:spPr>
          <a:xfrm>
            <a:off x="4754880" y="3931920"/>
            <a:ext cx="411480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中国市场经济改革中的斯密思想资源</a:t>
            </a:r>
            <a:endParaRPr lang="en-US" sz="1200" dirty="0"/>
          </a:p>
        </p:txBody>
      </p:sp>
      <p:sp>
        <p:nvSpPr>
          <p:cNvPr id="21" name="Text 19"/>
          <p:cNvSpPr/>
          <p:nvPr/>
        </p:nvSpPr>
        <p:spPr>
          <a:xfrm>
            <a:off x="457200" y="4297680"/>
            <a:ext cx="411480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斯密的国家理论与中国治理现代化</a:t>
            </a:r>
            <a:endParaRPr lang="en-US" sz="1200" dirty="0"/>
          </a:p>
        </p:txBody>
      </p:sp>
      <p:sp>
        <p:nvSpPr>
          <p:cNvPr id="22" name="Text 20"/>
          <p:cNvSpPr/>
          <p:nvPr/>
        </p:nvSpPr>
        <p:spPr>
          <a:xfrm>
            <a:off x="4754880" y="4297680"/>
            <a:ext cx="4114800" cy="320040"/>
          </a:xfrm>
          <a:prstGeom prst="rect">
            <a:avLst/>
          </a:prstGeom>
          <a:noFill/>
          <a:ln/>
        </p:spPr>
        <p:txBody>
          <a:bodyPr wrap="square" rtlCol="0" anchor="ctr"/>
          <a:lstStyle/>
          <a:p>
            <a:pPr indent="0" marL="0">
              <a:buNone/>
            </a:pPr>
            <a:r>
              <a:rPr lang="en-US" sz="1200" dirty="0">
                <a:solidFill>
                  <a:srgbClr val="003049"/>
                </a:solidFill>
                <a:latin typeface="Microsoft YaHei" pitchFamily="34" charset="0"/>
                <a:ea typeface="Microsoft YaHei" pitchFamily="34" charset="-122"/>
                <a:cs typeface="Microsoft YaHei" pitchFamily="34" charset="-120"/>
              </a:rPr>
              <a:t>• 近代中国对斯密理论的接受与变形</a:t>
            </a:r>
            <a:endParaRPr lang="en-US" sz="1200" dirty="0"/>
          </a:p>
        </p:txBody>
      </p:sp>
      <p:sp>
        <p:nvSpPr>
          <p:cNvPr id="23" name="Shape 21"/>
          <p:cNvSpPr/>
          <p:nvPr/>
        </p:nvSpPr>
        <p:spPr>
          <a:xfrm>
            <a:off x="8503920" y="4663440"/>
            <a:ext cx="365760" cy="365760"/>
          </a:xfrm>
          <a:prstGeom prst="ellipse">
            <a:avLst/>
          </a:prstGeom>
          <a:solidFill>
            <a:srgbClr val="C1121F"/>
          </a:solidFill>
          <a:ln/>
        </p:spPr>
      </p:sp>
      <p:sp>
        <p:nvSpPr>
          <p:cNvPr id="24" name="Text 22"/>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80000"/>
          </a:solidFill>
          <a:ln/>
        </p:spPr>
      </p:sp>
      <p:sp>
        <p:nvSpPr>
          <p:cNvPr id="3" name="Text 1"/>
          <p:cNvSpPr/>
          <p:nvPr/>
        </p:nvSpPr>
        <p:spPr>
          <a:xfrm>
            <a:off x="457200" y="182880"/>
            <a:ext cx="3657600" cy="457200"/>
          </a:xfrm>
          <a:prstGeom prst="rect">
            <a:avLst/>
          </a:prstGeom>
          <a:noFill/>
          <a:ln/>
        </p:spPr>
        <p:txBody>
          <a:bodyPr wrap="square" rtlCol="0" anchor="ctr"/>
          <a:lstStyle/>
          <a:p>
            <a:pPr indent="0" marL="0">
              <a:buNone/>
            </a:pPr>
            <a:r>
              <a:rPr lang="en-US" sz="1400" dirty="0">
                <a:solidFill>
                  <a:srgbClr val="FFFFFF"/>
                </a:solidFill>
                <a:latin typeface="Microsoft YaHei" pitchFamily="34" charset="0"/>
                <a:ea typeface="Microsoft YaHei" pitchFamily="34" charset="-122"/>
                <a:cs typeface="Microsoft YaHei" pitchFamily="34" charset="-120"/>
              </a:rPr>
              <a:t>课程总结</a:t>
            </a:r>
            <a:endParaRPr lang="en-US" sz="14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3600" b="1" dirty="0">
                <a:solidFill>
                  <a:srgbClr val="780000"/>
                </a:solidFill>
                <a:latin typeface="Georgia" pitchFamily="34" charset="0"/>
                <a:ea typeface="Georgia" pitchFamily="34" charset="-122"/>
                <a:cs typeface="Georgia" pitchFamily="34" charset="-120"/>
              </a:rPr>
              <a:t>金句摘录</a:t>
            </a:r>
            <a:endParaRPr lang="en-US" sz="3600" dirty="0"/>
          </a:p>
        </p:txBody>
      </p:sp>
      <p:sp>
        <p:nvSpPr>
          <p:cNvPr id="5" name="Shape 3"/>
          <p:cNvSpPr/>
          <p:nvPr/>
        </p:nvSpPr>
        <p:spPr>
          <a:xfrm>
            <a:off x="457200" y="1737360"/>
            <a:ext cx="8229600" cy="9144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6" name="Text 4"/>
          <p:cNvSpPr/>
          <p:nvPr/>
        </p:nvSpPr>
        <p:spPr>
          <a:xfrm>
            <a:off x="548640" y="1645920"/>
            <a:ext cx="457200" cy="457200"/>
          </a:xfrm>
          <a:prstGeom prst="rect">
            <a:avLst/>
          </a:prstGeom>
          <a:noFill/>
          <a:ln/>
        </p:spPr>
        <p:txBody>
          <a:bodyPr wrap="square" rtlCol="0" anchor="ctr"/>
          <a:lstStyle/>
          <a:p>
            <a:pPr indent="0" marL="0">
              <a:buNone/>
            </a:pPr>
            <a:r>
              <a:rPr lang="en-US" sz="3600" dirty="0">
                <a:solidFill>
                  <a:srgbClr val="C1121F"/>
                </a:solidFill>
                <a:latin typeface="Georgia" pitchFamily="34" charset="0"/>
                <a:ea typeface="Georgia" pitchFamily="34" charset="-122"/>
                <a:cs typeface="Georgia" pitchFamily="34" charset="-120"/>
              </a:rPr>
              <a:t>“</a:t>
            </a:r>
            <a:endParaRPr lang="en-US" sz="3600" dirty="0"/>
          </a:p>
        </p:txBody>
      </p:sp>
      <p:sp>
        <p:nvSpPr>
          <p:cNvPr id="7" name="Text 5"/>
          <p:cNvSpPr/>
          <p:nvPr/>
        </p:nvSpPr>
        <p:spPr>
          <a:xfrm>
            <a:off x="914400" y="1874520"/>
            <a:ext cx="7132320" cy="502920"/>
          </a:xfrm>
          <a:prstGeom prst="rect">
            <a:avLst/>
          </a:prstGeom>
          <a:noFill/>
          <a:ln/>
        </p:spPr>
        <p:txBody>
          <a:bodyPr wrap="square" rtlCol="0" anchor="ctr"/>
          <a:lstStyle/>
          <a:p>
            <a:pPr indent="0" marL="0">
              <a:buNone/>
            </a:pPr>
            <a:r>
              <a:rPr lang="en-US" sz="1200" i="1" dirty="0">
                <a:solidFill>
                  <a:srgbClr val="003049"/>
                </a:solidFill>
                <a:latin typeface="Microsoft YaHei" pitchFamily="34" charset="0"/>
                <a:ea typeface="Microsoft YaHei" pitchFamily="34" charset="-122"/>
                <a:cs typeface="Microsoft YaHei" pitchFamily="34" charset="-120"/>
              </a:rPr>
              <a:t>"我们每天所需的食物和饮料，不是出于屠户、酿酒师或烙面师的恩惠，而是出于他们自利的打算。"</a:t>
            </a:r>
            <a:endParaRPr lang="en-US" sz="1200" dirty="0"/>
          </a:p>
        </p:txBody>
      </p:sp>
      <p:sp>
        <p:nvSpPr>
          <p:cNvPr id="8" name="Text 6"/>
          <p:cNvSpPr/>
          <p:nvPr/>
        </p:nvSpPr>
        <p:spPr>
          <a:xfrm>
            <a:off x="914400" y="2377440"/>
            <a:ext cx="7132320" cy="228600"/>
          </a:xfrm>
          <a:prstGeom prst="rect">
            <a:avLst/>
          </a:prstGeom>
          <a:noFill/>
          <a:ln/>
        </p:spPr>
        <p:txBody>
          <a:bodyPr wrap="square" rtlCol="0" anchor="ctr"/>
          <a:lstStyle/>
          <a:p>
            <a:pPr indent="0" marL="0">
              <a:buNone/>
            </a:pPr>
            <a:r>
              <a:rPr lang="en-US" sz="1000" dirty="0">
                <a:solidFill>
                  <a:srgbClr val="669BBC"/>
                </a:solidFill>
                <a:latin typeface="Microsoft YaHei" pitchFamily="34" charset="0"/>
                <a:ea typeface="Microsoft YaHei" pitchFamily="34" charset="-122"/>
                <a:cs typeface="Microsoft YaHei" pitchFamily="34" charset="-120"/>
              </a:rPr>
              <a:t>—— 《国富论》</a:t>
            </a:r>
            <a:endParaRPr lang="en-US" sz="1000" dirty="0"/>
          </a:p>
        </p:txBody>
      </p:sp>
      <p:sp>
        <p:nvSpPr>
          <p:cNvPr id="9" name="Shape 7"/>
          <p:cNvSpPr/>
          <p:nvPr/>
        </p:nvSpPr>
        <p:spPr>
          <a:xfrm>
            <a:off x="457200" y="2788920"/>
            <a:ext cx="8229600" cy="9144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0" name="Text 8"/>
          <p:cNvSpPr/>
          <p:nvPr/>
        </p:nvSpPr>
        <p:spPr>
          <a:xfrm>
            <a:off x="548640" y="2697480"/>
            <a:ext cx="457200" cy="457200"/>
          </a:xfrm>
          <a:prstGeom prst="rect">
            <a:avLst/>
          </a:prstGeom>
          <a:noFill/>
          <a:ln/>
        </p:spPr>
        <p:txBody>
          <a:bodyPr wrap="square" rtlCol="0" anchor="ctr"/>
          <a:lstStyle/>
          <a:p>
            <a:pPr indent="0" marL="0">
              <a:buNone/>
            </a:pPr>
            <a:r>
              <a:rPr lang="en-US" sz="3600" dirty="0">
                <a:solidFill>
                  <a:srgbClr val="C1121F"/>
                </a:solidFill>
                <a:latin typeface="Georgia" pitchFamily="34" charset="0"/>
                <a:ea typeface="Georgia" pitchFamily="34" charset="-122"/>
                <a:cs typeface="Georgia" pitchFamily="34" charset="-120"/>
              </a:rPr>
              <a:t>“</a:t>
            </a:r>
            <a:endParaRPr lang="en-US" sz="3600" dirty="0"/>
          </a:p>
        </p:txBody>
      </p:sp>
      <p:sp>
        <p:nvSpPr>
          <p:cNvPr id="11" name="Text 9"/>
          <p:cNvSpPr/>
          <p:nvPr/>
        </p:nvSpPr>
        <p:spPr>
          <a:xfrm>
            <a:off x="914400" y="2926080"/>
            <a:ext cx="7132320" cy="502920"/>
          </a:xfrm>
          <a:prstGeom prst="rect">
            <a:avLst/>
          </a:prstGeom>
          <a:noFill/>
          <a:ln/>
        </p:spPr>
        <p:txBody>
          <a:bodyPr wrap="square" rtlCol="0" anchor="ctr"/>
          <a:lstStyle/>
          <a:p>
            <a:pPr indent="0" marL="0">
              <a:buNone/>
            </a:pPr>
            <a:r>
              <a:rPr lang="en-US" sz="1200" i="1" dirty="0">
                <a:solidFill>
                  <a:srgbClr val="003049"/>
                </a:solidFill>
                <a:latin typeface="Microsoft YaHei" pitchFamily="34" charset="0"/>
                <a:ea typeface="Microsoft YaHei" pitchFamily="34" charset="-122"/>
                <a:cs typeface="Microsoft YaHei" pitchFamily="34" charset="-120"/>
              </a:rPr>
              <a:t>"个人的野心与公共利益的一致，并非出于人类仁慈，而是因为理性人的自利行为会产生有益的社会结果。"</a:t>
            </a:r>
            <a:endParaRPr lang="en-US" sz="1200" dirty="0"/>
          </a:p>
        </p:txBody>
      </p:sp>
      <p:sp>
        <p:nvSpPr>
          <p:cNvPr id="12" name="Text 10"/>
          <p:cNvSpPr/>
          <p:nvPr/>
        </p:nvSpPr>
        <p:spPr>
          <a:xfrm>
            <a:off x="914400" y="3429000"/>
            <a:ext cx="7132320" cy="228600"/>
          </a:xfrm>
          <a:prstGeom prst="rect">
            <a:avLst/>
          </a:prstGeom>
          <a:noFill/>
          <a:ln/>
        </p:spPr>
        <p:txBody>
          <a:bodyPr wrap="square" rtlCol="0" anchor="ctr"/>
          <a:lstStyle/>
          <a:p>
            <a:pPr indent="0" marL="0">
              <a:buNone/>
            </a:pPr>
            <a:r>
              <a:rPr lang="en-US" sz="1000" dirty="0">
                <a:solidFill>
                  <a:srgbClr val="669BBC"/>
                </a:solidFill>
                <a:latin typeface="Microsoft YaHei" pitchFamily="34" charset="0"/>
                <a:ea typeface="Microsoft YaHei" pitchFamily="34" charset="-122"/>
                <a:cs typeface="Microsoft YaHei" pitchFamily="34" charset="-120"/>
              </a:rPr>
              <a:t>—— 《道德情操论》</a:t>
            </a:r>
            <a:endParaRPr lang="en-US" sz="1000" dirty="0"/>
          </a:p>
        </p:txBody>
      </p:sp>
      <p:sp>
        <p:nvSpPr>
          <p:cNvPr id="13" name="Shape 11"/>
          <p:cNvSpPr/>
          <p:nvPr/>
        </p:nvSpPr>
        <p:spPr>
          <a:xfrm>
            <a:off x="457200" y="3840480"/>
            <a:ext cx="8229600" cy="914400"/>
          </a:xfrm>
          <a:prstGeom prst="rect">
            <a:avLst/>
          </a:prstGeom>
          <a:solidFill>
            <a:srgbClr val="FFFFFF"/>
          </a:solidFill>
          <a:ln/>
          <a:effectLst>
            <a:outerShdw sx="100000" sy="100000" kx="0" ky="0" algn="bl" rotWithShape="0" blurRad="25400" dist="12700" dir="2700000">
              <a:srgbClr val="000000">
                <a:alpha val="10000"/>
              </a:srgbClr>
            </a:outerShdw>
          </a:effectLst>
        </p:spPr>
      </p:sp>
      <p:sp>
        <p:nvSpPr>
          <p:cNvPr id="14" name="Text 12"/>
          <p:cNvSpPr/>
          <p:nvPr/>
        </p:nvSpPr>
        <p:spPr>
          <a:xfrm>
            <a:off x="548640" y="3749040"/>
            <a:ext cx="457200" cy="457200"/>
          </a:xfrm>
          <a:prstGeom prst="rect">
            <a:avLst/>
          </a:prstGeom>
          <a:noFill/>
          <a:ln/>
        </p:spPr>
        <p:txBody>
          <a:bodyPr wrap="square" rtlCol="0" anchor="ctr"/>
          <a:lstStyle/>
          <a:p>
            <a:pPr indent="0" marL="0">
              <a:buNone/>
            </a:pPr>
            <a:r>
              <a:rPr lang="en-US" sz="3600" dirty="0">
                <a:solidFill>
                  <a:srgbClr val="C1121F"/>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914400" y="3977640"/>
            <a:ext cx="7132320" cy="502920"/>
          </a:xfrm>
          <a:prstGeom prst="rect">
            <a:avLst/>
          </a:prstGeom>
          <a:noFill/>
          <a:ln/>
        </p:spPr>
        <p:txBody>
          <a:bodyPr wrap="square" rtlCol="0" anchor="ctr"/>
          <a:lstStyle/>
          <a:p>
            <a:pPr indent="0" marL="0">
              <a:buNone/>
            </a:pPr>
            <a:r>
              <a:rPr lang="en-US" sz="1200" i="1" dirty="0">
                <a:solidFill>
                  <a:srgbClr val="003049"/>
                </a:solidFill>
                <a:latin typeface="Microsoft YaHei" pitchFamily="34" charset="0"/>
                <a:ea typeface="Microsoft YaHei" pitchFamily="34" charset="-122"/>
                <a:cs typeface="Microsoft YaHei" pitchFamily="34" charset="-120"/>
              </a:rPr>
              <a:t>"关于法律和制度，有意识的理性设计往往不如在历史长河中自发演化的制度来得完善。"</a:t>
            </a:r>
            <a:endParaRPr lang="en-US" sz="1200" dirty="0"/>
          </a:p>
        </p:txBody>
      </p:sp>
      <p:sp>
        <p:nvSpPr>
          <p:cNvPr id="16" name="Text 14"/>
          <p:cNvSpPr/>
          <p:nvPr/>
        </p:nvSpPr>
        <p:spPr>
          <a:xfrm>
            <a:off x="914400" y="4480560"/>
            <a:ext cx="7132320" cy="228600"/>
          </a:xfrm>
          <a:prstGeom prst="rect">
            <a:avLst/>
          </a:prstGeom>
          <a:noFill/>
          <a:ln/>
        </p:spPr>
        <p:txBody>
          <a:bodyPr wrap="square" rtlCol="0" anchor="ctr"/>
          <a:lstStyle/>
          <a:p>
            <a:pPr indent="0" marL="0">
              <a:buNone/>
            </a:pPr>
            <a:r>
              <a:rPr lang="en-US" sz="1000" dirty="0">
                <a:solidFill>
                  <a:srgbClr val="669BBC"/>
                </a:solidFill>
                <a:latin typeface="Microsoft YaHei" pitchFamily="34" charset="0"/>
                <a:ea typeface="Microsoft YaHei" pitchFamily="34" charset="-122"/>
                <a:cs typeface="Microsoft YaHei" pitchFamily="34" charset="-120"/>
              </a:rPr>
              <a:t>—— 哈耶克论斯密</a:t>
            </a:r>
            <a:endParaRPr lang="en-US" sz="1000" dirty="0"/>
          </a:p>
        </p:txBody>
      </p:sp>
      <p:sp>
        <p:nvSpPr>
          <p:cNvPr id="17" name="Shape 15"/>
          <p:cNvSpPr/>
          <p:nvPr/>
        </p:nvSpPr>
        <p:spPr>
          <a:xfrm>
            <a:off x="8503920" y="4663440"/>
            <a:ext cx="365760" cy="365760"/>
          </a:xfrm>
          <a:prstGeom prst="ellipse">
            <a:avLst/>
          </a:prstGeom>
          <a:solidFill>
            <a:srgbClr val="C1121F"/>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89</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DF0D5"/>
        </a:solidFill>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780000"/>
          </a:solidFill>
          <a:ln/>
        </p:spPr>
      </p:sp>
      <p:sp>
        <p:nvSpPr>
          <p:cNvPr id="3" name="Text 1"/>
          <p:cNvSpPr/>
          <p:nvPr/>
        </p:nvSpPr>
        <p:spPr>
          <a:xfrm>
            <a:off x="457200" y="731520"/>
            <a:ext cx="8229600" cy="9144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最后的思考</a:t>
            </a:r>
            <a:endParaRPr lang="en-US" sz="4800" dirty="0"/>
          </a:p>
        </p:txBody>
      </p:sp>
      <p:sp>
        <p:nvSpPr>
          <p:cNvPr id="4" name="Shape 2"/>
          <p:cNvSpPr/>
          <p:nvPr/>
        </p:nvSpPr>
        <p:spPr>
          <a:xfrm>
            <a:off x="3657600" y="1691640"/>
            <a:ext cx="1828800" cy="45720"/>
          </a:xfrm>
          <a:prstGeom prst="rect">
            <a:avLst/>
          </a:prstGeom>
          <a:solidFill>
            <a:srgbClr val="C1121F"/>
          </a:solidFill>
          <a:ln/>
        </p:spPr>
      </p:sp>
      <p:sp>
        <p:nvSpPr>
          <p:cNvPr id="5" name="Text 3"/>
          <p:cNvSpPr/>
          <p:nvPr/>
        </p:nvSpPr>
        <p:spPr>
          <a:xfrm>
            <a:off x="457200" y="2377440"/>
            <a:ext cx="8229600" cy="548640"/>
          </a:xfrm>
          <a:prstGeom prst="rect">
            <a:avLst/>
          </a:prstGeom>
          <a:noFill/>
          <a:ln/>
        </p:spPr>
        <p:txBody>
          <a:bodyPr wrap="square" rtlCol="0" anchor="ctr"/>
          <a:lstStyle/>
          <a:p>
            <a:pPr algn="ctr" indent="0" marL="0">
              <a:buNone/>
            </a:pPr>
            <a:r>
              <a:rPr lang="en-US" sz="2200" dirty="0">
                <a:solidFill>
                  <a:srgbClr val="780000"/>
                </a:solidFill>
                <a:latin typeface="Microsoft YaHei" pitchFamily="34" charset="0"/>
                <a:ea typeface="Microsoft YaHei" pitchFamily="34" charset="-122"/>
                <a:cs typeface="Microsoft YaHei" pitchFamily="34" charset="-120"/>
              </a:rPr>
              <a:t>学习斯密，不是为了记住他的结论，</a:t>
            </a:r>
            <a:endParaRPr lang="en-US" sz="2200" dirty="0"/>
          </a:p>
        </p:txBody>
      </p:sp>
      <p:sp>
        <p:nvSpPr>
          <p:cNvPr id="6" name="Text 4"/>
          <p:cNvSpPr/>
          <p:nvPr/>
        </p:nvSpPr>
        <p:spPr>
          <a:xfrm>
            <a:off x="457200" y="2834640"/>
            <a:ext cx="8229600" cy="548640"/>
          </a:xfrm>
          <a:prstGeom prst="rect">
            <a:avLst/>
          </a:prstGeom>
          <a:noFill/>
          <a:ln/>
        </p:spPr>
        <p:txBody>
          <a:bodyPr wrap="square" rtlCol="0" anchor="ctr"/>
          <a:lstStyle/>
          <a:p>
            <a:pPr algn="ctr" indent="0" marL="0">
              <a:buNone/>
            </a:pPr>
            <a:r>
              <a:rPr lang="en-US" sz="2200" dirty="0">
                <a:solidFill>
                  <a:srgbClr val="780000"/>
                </a:solidFill>
                <a:latin typeface="Microsoft YaHei" pitchFamily="34" charset="0"/>
                <a:ea typeface="Microsoft YaHei" pitchFamily="34" charset="-122"/>
                <a:cs typeface="Microsoft YaHei" pitchFamily="34" charset="-120"/>
              </a:rPr>
              <a:t>而是为了学会像他一样思考：</a:t>
            </a:r>
            <a:endParaRPr lang="en-US" sz="2200" dirty="0"/>
          </a:p>
        </p:txBody>
      </p:sp>
      <p:sp>
        <p:nvSpPr>
          <p:cNvPr id="7" name="Shape 5"/>
          <p:cNvSpPr/>
          <p:nvPr/>
        </p:nvSpPr>
        <p:spPr>
          <a:xfrm>
            <a:off x="1371600" y="3429000"/>
            <a:ext cx="365760" cy="365760"/>
          </a:xfrm>
          <a:prstGeom prst="ellipse">
            <a:avLst/>
          </a:prstGeom>
          <a:solidFill>
            <a:srgbClr val="C1121F"/>
          </a:solidFill>
          <a:ln/>
        </p:spPr>
      </p:sp>
      <p:sp>
        <p:nvSpPr>
          <p:cNvPr id="8" name="Text 6"/>
          <p:cNvSpPr/>
          <p:nvPr/>
        </p:nvSpPr>
        <p:spPr>
          <a:xfrm>
            <a:off x="1371600" y="3429000"/>
            <a:ext cx="36576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920240" y="3429000"/>
            <a:ext cx="5943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在自利与利他之间寻找平衡</a:t>
            </a:r>
            <a:endParaRPr lang="en-US" sz="1600" dirty="0"/>
          </a:p>
        </p:txBody>
      </p:sp>
      <p:sp>
        <p:nvSpPr>
          <p:cNvPr id="10" name="Shape 8"/>
          <p:cNvSpPr/>
          <p:nvPr/>
        </p:nvSpPr>
        <p:spPr>
          <a:xfrm>
            <a:off x="1371600" y="3931920"/>
            <a:ext cx="365760" cy="365760"/>
          </a:xfrm>
          <a:prstGeom prst="ellipse">
            <a:avLst/>
          </a:prstGeom>
          <a:solidFill>
            <a:srgbClr val="C1121F"/>
          </a:solidFill>
          <a:ln/>
        </p:spPr>
      </p:sp>
      <p:sp>
        <p:nvSpPr>
          <p:cNvPr id="11" name="Text 9"/>
          <p:cNvSpPr/>
          <p:nvPr/>
        </p:nvSpPr>
        <p:spPr>
          <a:xfrm>
            <a:off x="1371600" y="3931920"/>
            <a:ext cx="36576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920240" y="3931920"/>
            <a:ext cx="5943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在自发秩序与有意设计之间保持谦逊</a:t>
            </a:r>
            <a:endParaRPr lang="en-US" sz="1600" dirty="0"/>
          </a:p>
        </p:txBody>
      </p:sp>
      <p:sp>
        <p:nvSpPr>
          <p:cNvPr id="13" name="Shape 11"/>
          <p:cNvSpPr/>
          <p:nvPr/>
        </p:nvSpPr>
        <p:spPr>
          <a:xfrm>
            <a:off x="1371600" y="4434840"/>
            <a:ext cx="365760" cy="365760"/>
          </a:xfrm>
          <a:prstGeom prst="ellipse">
            <a:avLst/>
          </a:prstGeom>
          <a:solidFill>
            <a:srgbClr val="C1121F"/>
          </a:solidFill>
          <a:ln/>
        </p:spPr>
      </p:sp>
      <p:sp>
        <p:nvSpPr>
          <p:cNvPr id="14" name="Text 12"/>
          <p:cNvSpPr/>
          <p:nvPr/>
        </p:nvSpPr>
        <p:spPr>
          <a:xfrm>
            <a:off x="1371600" y="4434840"/>
            <a:ext cx="36576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920240" y="4434840"/>
            <a:ext cx="5943600" cy="365760"/>
          </a:xfrm>
          <a:prstGeom prst="rect">
            <a:avLst/>
          </a:prstGeom>
          <a:noFill/>
          <a:ln/>
        </p:spPr>
        <p:txBody>
          <a:bodyPr wrap="square" rtlCol="0" anchor="ctr"/>
          <a:lstStyle/>
          <a:p>
            <a:pPr indent="0" marL="0">
              <a:buNone/>
            </a:pPr>
            <a:r>
              <a:rPr lang="en-US" sz="1600" dirty="0">
                <a:solidFill>
                  <a:srgbClr val="003049"/>
                </a:solidFill>
                <a:latin typeface="Microsoft YaHei" pitchFamily="34" charset="0"/>
                <a:ea typeface="Microsoft YaHei" pitchFamily="34" charset="-122"/>
                <a:cs typeface="Microsoft YaHei" pitchFamily="34" charset="-120"/>
              </a:rPr>
              <a:t>在市场效率与道德关怀之间不负良心</a:t>
            </a:r>
            <a:endParaRPr lang="en-US" sz="1600" dirty="0"/>
          </a:p>
        </p:txBody>
      </p:sp>
      <p:sp>
        <p:nvSpPr>
          <p:cNvPr id="16" name="Text 14"/>
          <p:cNvSpPr/>
          <p:nvPr/>
        </p:nvSpPr>
        <p:spPr>
          <a:xfrm>
            <a:off x="457200" y="4709160"/>
            <a:ext cx="8229600" cy="365760"/>
          </a:xfrm>
          <a:prstGeom prst="rect">
            <a:avLst/>
          </a:prstGeom>
          <a:noFill/>
          <a:ln/>
        </p:spPr>
        <p:txBody>
          <a:bodyPr wrap="square" rtlCol="0" anchor="ctr"/>
          <a:lstStyle/>
          <a:p>
            <a:pPr algn="ctr" indent="0" marL="0">
              <a:buNone/>
            </a:pPr>
            <a:r>
              <a:rPr lang="en-US" sz="1400" dirty="0">
                <a:solidFill>
                  <a:srgbClr val="669BBC"/>
                </a:solidFill>
                <a:latin typeface="Microsoft YaHei" pitchFamily="34" charset="0"/>
                <a:ea typeface="Microsoft YaHei" pitchFamily="34" charset="-122"/>
                <a:cs typeface="Microsoft YaHei" pitchFamily="34" charset="-120"/>
              </a:rPr>
              <a:t>感谢聆听</a:t>
            </a:r>
            <a:endParaRPr lang="en-US" sz="1400" dirty="0"/>
          </a:p>
        </p:txBody>
      </p:sp>
      <p:sp>
        <p:nvSpPr>
          <p:cNvPr id="17" name="Shape 15"/>
          <p:cNvSpPr/>
          <p:nvPr/>
        </p:nvSpPr>
        <p:spPr>
          <a:xfrm>
            <a:off x="8503920" y="4663440"/>
            <a:ext cx="365760" cy="365760"/>
          </a:xfrm>
          <a:prstGeom prst="ellipse">
            <a:avLst/>
          </a:prstGeom>
          <a:solidFill>
            <a:srgbClr val="C1121F"/>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90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斯密思想的现代回响</dc:title>
  <dc:subject>PptxGenJS Presentation</dc:subject>
  <dc:creator>Course Generator</dc:creator>
  <cp:lastModifiedBy>Course Generator</cp:lastModifiedBy>
  <cp:revision>1</cp:revision>
  <dcterms:created xsi:type="dcterms:W3CDTF">2026-08-26T01:15:09Z</dcterms:created>
  <dcterms:modified xsi:type="dcterms:W3CDTF">2026-08-26T01:15:09Z</dcterms:modified>
</cp:coreProperties>
</file>