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A365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三条核心结论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8229600" cy="1051560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097280"/>
            <a:ext cx="914400" cy="1051560"/>
          </a:xfrm>
          <a:prstGeom prst="rect">
            <a:avLst/>
          </a:prstGeom>
          <a:solidFill>
            <a:srgbClr val="1A365D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1097280"/>
            <a:ext cx="91440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3600" dirty="0"/>
          </a:p>
        </p:txBody>
      </p:sp>
      <p:sp>
        <p:nvSpPr>
          <p:cNvPr id="7" name="Text 5"/>
          <p:cNvSpPr/>
          <p:nvPr/>
        </p:nvSpPr>
        <p:spPr>
          <a:xfrm>
            <a:off x="1554480" y="1234440"/>
            <a:ext cx="6858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背叛是理性的，但合作是更理性的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1554480" y="1645920"/>
            <a:ext cx="6858000" cy="13716"/>
          </a:xfrm>
          <a:prstGeom prst="rect">
            <a:avLst/>
          </a:prstGeom>
          <a:solidFill>
            <a:srgbClr val="BEE3F8"/>
          </a:solidFill>
          <a:ln/>
        </p:spPr>
      </p:sp>
      <p:sp>
        <p:nvSpPr>
          <p:cNvPr id="9" name="Text 7"/>
          <p:cNvSpPr/>
          <p:nvPr/>
        </p:nvSpPr>
        <p:spPr>
          <a:xfrm>
            <a:off x="1554480" y="1737360"/>
            <a:ext cx="6858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2C528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在单次博弈中背叛看似最优，但重复博弈中，合作的长期回报远超背叛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57200" y="2331720"/>
            <a:ext cx="8229600" cy="1051560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57200" y="2331720"/>
            <a:ext cx="914400" cy="1051560"/>
          </a:xfrm>
          <a:prstGeom prst="rect">
            <a:avLst/>
          </a:prstGeom>
          <a:solidFill>
            <a:srgbClr val="D69E2E"/>
          </a:solidFill>
          <a:ln/>
        </p:spPr>
      </p:sp>
      <p:sp>
        <p:nvSpPr>
          <p:cNvPr id="12" name="Text 10"/>
          <p:cNvSpPr/>
          <p:nvPr/>
        </p:nvSpPr>
        <p:spPr>
          <a:xfrm>
            <a:off x="457200" y="2331720"/>
            <a:ext cx="91440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3600" dirty="0"/>
          </a:p>
        </p:txBody>
      </p:sp>
      <p:sp>
        <p:nvSpPr>
          <p:cNvPr id="13" name="Text 11"/>
          <p:cNvSpPr/>
          <p:nvPr/>
        </p:nvSpPr>
        <p:spPr>
          <a:xfrm>
            <a:off x="1554480" y="2468880"/>
            <a:ext cx="6858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机制设计决定合作能否持续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1554480" y="2880360"/>
            <a:ext cx="6858000" cy="13716"/>
          </a:xfrm>
          <a:prstGeom prst="rect">
            <a:avLst/>
          </a:prstGeom>
          <a:solidFill>
            <a:srgbClr val="BEE3F8"/>
          </a:solidFill>
          <a:ln/>
        </p:spPr>
      </p:sp>
      <p:sp>
        <p:nvSpPr>
          <p:cNvPr id="15" name="Text 13"/>
          <p:cNvSpPr/>
          <p:nvPr/>
        </p:nvSpPr>
        <p:spPr>
          <a:xfrm>
            <a:off x="1554480" y="2971800"/>
            <a:ext cx="6858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2C528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没有保障机制的合作是脆弱的，好的机制让合作成为必然选择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457200" y="3566160"/>
            <a:ext cx="8229600" cy="1051560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57200" y="3566160"/>
            <a:ext cx="914400" cy="1051560"/>
          </a:xfrm>
          <a:prstGeom prst="rect">
            <a:avLst/>
          </a:prstGeom>
          <a:solidFill>
            <a:srgbClr val="2C5282"/>
          </a:solidFill>
          <a:ln/>
        </p:spPr>
      </p:sp>
      <p:sp>
        <p:nvSpPr>
          <p:cNvPr id="18" name="Text 16"/>
          <p:cNvSpPr/>
          <p:nvPr/>
        </p:nvSpPr>
        <p:spPr>
          <a:xfrm>
            <a:off x="457200" y="3566160"/>
            <a:ext cx="91440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3600" dirty="0"/>
          </a:p>
        </p:txBody>
      </p:sp>
      <p:sp>
        <p:nvSpPr>
          <p:cNvPr id="19" name="Text 17"/>
          <p:cNvSpPr/>
          <p:nvPr/>
        </p:nvSpPr>
        <p:spPr>
          <a:xfrm>
            <a:off x="1554480" y="3703320"/>
            <a:ext cx="6858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声誉是长期最重要的资产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1554480" y="4114800"/>
            <a:ext cx="6858000" cy="13716"/>
          </a:xfrm>
          <a:prstGeom prst="rect">
            <a:avLst/>
          </a:prstGeom>
          <a:solidFill>
            <a:srgbClr val="BEE3F8"/>
          </a:solidFill>
          <a:ln/>
        </p:spPr>
      </p:sp>
      <p:sp>
        <p:nvSpPr>
          <p:cNvPr id="21" name="Text 19"/>
          <p:cNvSpPr/>
          <p:nvPr/>
        </p:nvSpPr>
        <p:spPr>
          <a:xfrm>
            <a:off x="1554480" y="4206240"/>
            <a:ext cx="6858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2C528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声誉一旦建立，就是无法被夺走的竞争优势；声誉一旦丧失，代价极其高昂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457200" y="4572000"/>
            <a:ext cx="8229600" cy="411480"/>
          </a:xfrm>
          <a:prstGeom prst="roundRect">
            <a:avLst>
              <a:gd name="adj" fmla="val 17778"/>
            </a:avLst>
          </a:prstGeom>
          <a:solidFill>
            <a:srgbClr val="D69E2E"/>
          </a:solidFill>
          <a:ln/>
        </p:spPr>
      </p:sp>
      <p:sp>
        <p:nvSpPr>
          <p:cNvPr id="23" name="Text 21"/>
          <p:cNvSpPr/>
          <p:nvPr/>
        </p:nvSpPr>
        <p:spPr>
          <a:xfrm>
            <a:off x="457200" y="457200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理解博弈论，看透人性；运用博弈论，改变局面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8503920" y="4663440"/>
            <a:ext cx="457200" cy="457200"/>
          </a:xfrm>
          <a:prstGeom prst="ellipse">
            <a:avLst/>
          </a:prstGeom>
          <a:solidFill>
            <a:srgbClr val="D69E2E"/>
          </a:solidFill>
          <a:ln/>
        </p:spPr>
      </p:sp>
      <p:sp>
        <p:nvSpPr>
          <p:cNvPr id="25" name="Text 23"/>
          <p:cNvSpPr/>
          <p:nvPr/>
        </p:nvSpPr>
        <p:spPr>
          <a:xfrm>
            <a:off x="8503920" y="46634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116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2026-08-26T00:35:59Z</dcterms:created>
  <dcterms:modified xsi:type="dcterms:W3CDTF">2026-08-26T00:35:59Z</dcterms:modified>
</cp:coreProperties>
</file>