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B3141A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1645920"/>
          </a:xfrm>
          <a:prstGeom prst="rect">
            <a:avLst/>
          </a:prstGeom>
          <a:solidFill>
            <a:srgbClr val="B3141A">
              <a:alpha val="8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046720" y="1645920"/>
            <a:ext cx="1097280" cy="45720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7160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B314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模块十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548640" y="23774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智能体与Skill初探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30175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D4A5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下一步能做什么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48640" y="43891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华润三九AI工作坊 · 第四部分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4206240"/>
            <a:ext cx="2743200" cy="27432"/>
          </a:xfrm>
          <a:prstGeom prst="rect">
            <a:avLst/>
          </a:prstGeom>
          <a:solidFill>
            <a:srgbClr val="B3141A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B3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2743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0" b="1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什么是智能体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6" name="Shape 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314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B314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智能体是什么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91440" cy="2011680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1430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提示词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600200"/>
            <a:ext cx="34747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你每次都要去跟AI说一遍的工作指令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206240" y="16459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480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39319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05840"/>
            <a:ext cx="91440" cy="2011680"/>
          </a:xfrm>
          <a:prstGeom prst="rect">
            <a:avLst/>
          </a:prstGeom>
          <a:solidFill>
            <a:srgbClr val="B3141A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1430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B314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智能体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029200" y="1600200"/>
            <a:ext cx="34747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你把这件事完整设定好一次，之后只要触发，AI就能稳定地反复执行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200400"/>
            <a:ext cx="8229600" cy="1645920"/>
          </a:xfrm>
          <a:prstGeom prst="rect">
            <a:avLst/>
          </a:prstGeom>
          <a:solidFill>
            <a:srgbClr val="B3141A">
              <a:alpha val="92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2918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314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打比方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3703320"/>
            <a:ext cx="3657600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79476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提示词就像</a:t>
            </a:r>
            <a:pPr algn="l" indent="0" marL="0">
              <a:buNone/>
            </a:pPr>
            <a:r>
              <a:rPr lang="en-US" sz="13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你每次做菜都要重新看一遍菜谱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480560" y="3703320"/>
            <a:ext cx="4023360" cy="1005840"/>
          </a:xfrm>
          <a:prstGeom prst="rect">
            <a:avLst/>
          </a:prstGeom>
          <a:solidFill>
            <a:srgbClr val="B3141A"/>
          </a:solidFill>
          <a:ln/>
        </p:spPr>
      </p:sp>
      <p:sp>
        <p:nvSpPr>
          <p:cNvPr id="18" name="Text 16"/>
          <p:cNvSpPr/>
          <p:nvPr/>
        </p:nvSpPr>
        <p:spPr>
          <a:xfrm>
            <a:off x="4617720" y="379476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智能体就像</a:t>
            </a:r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把菜谱录进自动烹饪机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D4A574"/>
          </a:solidFill>
          <a:ln/>
        </p:spPr>
      </p:sp>
      <p:sp>
        <p:nvSpPr>
          <p:cNvPr id="20" name="Text 1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314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B314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智能体核心价值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109728" cy="1463040"/>
          </a:xfrm>
          <a:prstGeom prst="rect">
            <a:avLst/>
          </a:prstGeom>
          <a:solidFill>
            <a:srgbClr val="B3141A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143000"/>
            <a:ext cx="7680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把一套固定的工作流程封装起来，让它在一个场景里稳定、可复用地工作。不再需要每次手动拼凑提示词和工具。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2697480"/>
            <a:ext cx="8229600" cy="1463040"/>
          </a:xfrm>
          <a:prstGeom prst="rect">
            <a:avLst/>
          </a:prstGeom>
          <a:solidFill>
            <a:srgbClr val="B3141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834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企业价值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24612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一个好的智能体，可以让培训部门的每个人都有一个「全时在线的助手」。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57200" y="4389120"/>
            <a:ext cx="2651760" cy="50292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43891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稳定可复用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291840" y="4389120"/>
            <a:ext cx="2651760" cy="50292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13" name="Text 11"/>
          <p:cNvSpPr/>
          <p:nvPr/>
        </p:nvSpPr>
        <p:spPr>
          <a:xfrm>
            <a:off x="3291840" y="43891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封装工作流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126480" y="4389120"/>
            <a:ext cx="2651760" cy="50292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0" y="43891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全时在线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D4A574"/>
          </a:solidFill>
          <a:ln/>
        </p:spPr>
      </p:sp>
      <p:sp>
        <p:nvSpPr>
          <p:cNvPr id="17" name="Text 1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4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2743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0" b="1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什么是Skill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FFFFFF">
                    <a:alpha val="6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技能单元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6" name="Shape 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Skill的定义与关系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91440" cy="128016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0058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4A5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132588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Skill是比智能体更细粒度的概念——它是把一个特定任务的完整处理逻辑固化成一个可复用的「技能模块」。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3774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3200400" cy="914400"/>
          </a:xfrm>
          <a:prstGeom prst="rect">
            <a:avLst/>
          </a:prstGeom>
          <a:solidFill>
            <a:srgbClr val="B3141A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7432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智能体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32004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一整套工作流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749040" y="2880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3600" dirty="0"/>
          </a:p>
        </p:txBody>
      </p:sp>
      <p:sp>
        <p:nvSpPr>
          <p:cNvPr id="13" name="Shape 11"/>
          <p:cNvSpPr/>
          <p:nvPr/>
        </p:nvSpPr>
        <p:spPr>
          <a:xfrm>
            <a:off x="4389120" y="2743200"/>
            <a:ext cx="4297680" cy="91440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14" name="Text 12"/>
          <p:cNvSpPr/>
          <p:nvPr/>
        </p:nvSpPr>
        <p:spPr>
          <a:xfrm>
            <a:off x="4389120" y="274320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多个Skill组合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389120" y="320040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更细粒度的任务处理模块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840480"/>
            <a:ext cx="8229600" cy="1051560"/>
          </a:xfrm>
          <a:prstGeom prst="rect">
            <a:avLst/>
          </a:prstGeom>
          <a:solidFill>
            <a:srgbClr val="E8E0DC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9319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例子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42519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WorkBuddy里的本地文件处理规则，千问里保存的自定义提示词配置，都是Skill的具体体现。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D4A574"/>
          </a:solidFill>
          <a:ln/>
        </p:spPr>
      </p:sp>
      <p:sp>
        <p:nvSpPr>
          <p:cNvPr id="20" name="Text 1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D4A57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2743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0" b="1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WorkBuddy实际应用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FFFFFF">
                    <a:alpha val="6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案例演示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B3141A"/>
          </a:solidFill>
          <a:ln/>
        </p:spPr>
      </p:sp>
      <p:sp>
        <p:nvSpPr>
          <p:cNvPr id="6" name="Shape 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演示场景：年度培训需求表处理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05156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部门收到40份员工提交的年度培训需求表（Word格式）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457200" cy="457200"/>
          </a:xfrm>
          <a:prstGeom prst="ellipse">
            <a:avLst/>
          </a:prstGeom>
          <a:solidFill>
            <a:srgbClr val="B3141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188720" y="2194560"/>
            <a:ext cx="7498080" cy="594360"/>
          </a:xfrm>
          <a:prstGeom prst="rect">
            <a:avLst/>
          </a:prstGeom>
          <a:solidFill>
            <a:srgbClr val="E8E0DC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2194560"/>
            <a:ext cx="7223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自动提取「部门名称」「优先培训主题」「估计参与人数」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971800"/>
            <a:ext cx="457200" cy="457200"/>
          </a:xfrm>
          <a:prstGeom prst="ellipse">
            <a:avLst/>
          </a:prstGeom>
          <a:solidFill>
            <a:srgbClr val="B3141A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971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188720" y="2971800"/>
            <a:ext cx="7498080" cy="594360"/>
          </a:xfrm>
          <a:prstGeom prst="rect">
            <a:avLst/>
          </a:prstGeom>
          <a:solidFill>
            <a:srgbClr val="E8E0DC"/>
          </a:solidFill>
          <a:ln/>
        </p:spPr>
      </p:sp>
      <p:sp>
        <p:nvSpPr>
          <p:cNvPr id="13" name="Text 11"/>
          <p:cNvSpPr/>
          <p:nvPr/>
        </p:nvSpPr>
        <p:spPr>
          <a:xfrm>
            <a:off x="1371600" y="2971800"/>
            <a:ext cx="7223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汇总到Excel表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3749040"/>
            <a:ext cx="457200" cy="457200"/>
          </a:xfrm>
          <a:prstGeom prst="ellipse">
            <a:avLst/>
          </a:prstGeom>
          <a:solidFill>
            <a:srgbClr val="B3141A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749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188720" y="3749040"/>
            <a:ext cx="7498080" cy="594360"/>
          </a:xfrm>
          <a:prstGeom prst="rect">
            <a:avLst/>
          </a:prstGeom>
          <a:solidFill>
            <a:srgbClr val="E8E0DC"/>
          </a:solidFill>
          <a:ln/>
        </p:spPr>
      </p:sp>
      <p:sp>
        <p:nvSpPr>
          <p:cNvPr id="17" name="Text 15"/>
          <p:cNvSpPr/>
          <p:nvPr/>
        </p:nvSpPr>
        <p:spPr>
          <a:xfrm>
            <a:off x="1371600" y="3749040"/>
            <a:ext cx="7223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对「优先培训主题」做词频统计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solidFill>
            <a:srgbClr val="B3141A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一次性设置后 自动批量处理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D4A574"/>
          </a:solidFill>
          <a:ln/>
        </p:spPr>
      </p:sp>
      <p:sp>
        <p:nvSpPr>
          <p:cNvPr id="21" name="Text 1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效率对比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3931920" cy="548640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0584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传统方式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3-4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457200" y="27432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小时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48640" y="31089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人工打开40个文件，手动复制粘贴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0" y="182880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4754880" y="1005840"/>
            <a:ext cx="39319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005840"/>
            <a:ext cx="3931920" cy="548640"/>
          </a:xfrm>
          <a:prstGeom prst="rect">
            <a:avLst/>
          </a:prstGeom>
          <a:solidFill>
            <a:srgbClr val="B3141A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100584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WorkBuddy方式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754880" y="1737360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B31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3-5</a:t>
            </a:r>
            <a:endParaRPr lang="en-US" sz="7200" dirty="0"/>
          </a:p>
        </p:txBody>
      </p:sp>
      <p:sp>
        <p:nvSpPr>
          <p:cNvPr id="15" name="Text 13"/>
          <p:cNvSpPr/>
          <p:nvPr/>
        </p:nvSpPr>
        <p:spPr>
          <a:xfrm>
            <a:off x="4754880" y="27432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314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分钟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846320" y="31089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一次性设置后自动批量处理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566160"/>
            <a:ext cx="8229600" cy="1280160"/>
          </a:xfrm>
          <a:prstGeom prst="rect">
            <a:avLst/>
          </a:prstGeom>
          <a:solidFill>
            <a:srgbClr val="B3141A">
              <a:alpha val="92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657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314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复利价值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406908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第一次设置花了时间，但以后每次使用都在回收投资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D4A574"/>
          </a:solidFill>
          <a:ln/>
        </p:spPr>
      </p:sp>
      <p:sp>
        <p:nvSpPr>
          <p:cNvPr id="21" name="Text 1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314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B314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智能体和Skill认知自测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325880"/>
            <a:ext cx="457200" cy="457200"/>
          </a:xfrm>
          <a:prstGeom prst="ellipse">
            <a:avLst/>
          </a:prstGeom>
          <a:solidFill>
            <a:srgbClr val="B3141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114300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智能体和我每次写提示词有什么本质区别？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80160" y="1645920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4A5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（用类比说）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2606040"/>
            <a:ext cx="457200" cy="457200"/>
          </a:xfrm>
          <a:prstGeom prst="ellipse">
            <a:avLst/>
          </a:prstGeom>
          <a:solidFill>
            <a:srgbClr val="B3141A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606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80160" y="242316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Skill和智能体有什么区别？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80160" y="2926080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4A5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（一个更「大」，一个更「小」，大小的区别在哪里？）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56616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3886200"/>
            <a:ext cx="457200" cy="457200"/>
          </a:xfrm>
          <a:prstGeom prst="ellipse">
            <a:avLst/>
          </a:prstGeom>
          <a:solidFill>
            <a:srgbClr val="B3141A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886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80160" y="370332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在你自己的工作中，哪个场景最适合做成智能体或Skill？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80160" y="4206240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4A5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（想到一个就行）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D4A574"/>
          </a:solidFill>
          <a:ln/>
        </p:spPr>
      </p:sp>
      <p:sp>
        <p:nvSpPr>
          <p:cNvPr id="20" name="Text 1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B3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2743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0" b="1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知识框架总结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FFFFFF">
                    <a:alpha val="6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第四部分 · 能力进阶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6" name="Shape 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3141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74320"/>
            <a:ext cx="1097280" cy="457200"/>
          </a:xfrm>
          <a:prstGeom prst="rect">
            <a:avLst/>
          </a:prstGeom>
          <a:solidFill>
            <a:srgbClr val="B3141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模块八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691640" y="27432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结构化提示词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39319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914400"/>
            <a:ext cx="91440" cy="1828800"/>
          </a:xfrm>
          <a:prstGeom prst="rect">
            <a:avLst/>
          </a:prstGeom>
          <a:solidFill>
            <a:srgbClr val="B3141A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0515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314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核心差距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1417320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个人用 vs 给别人用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754880" y="914400"/>
            <a:ext cx="39319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914400"/>
            <a:ext cx="91440" cy="182880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12" name="Text 10"/>
          <p:cNvSpPr/>
          <p:nvPr/>
        </p:nvSpPr>
        <p:spPr>
          <a:xfrm>
            <a:off x="4983480" y="10515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4A5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六要素框架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83480" y="1417320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 / 背景 / 任务 / 输出要求 / 约束条件 / 质量标准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1325880" cy="548640"/>
          </a:xfrm>
          <a:prstGeom prst="rect">
            <a:avLst/>
          </a:prstGeom>
          <a:solidFill>
            <a:srgbClr val="E8E0DC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017520"/>
            <a:ext cx="1325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691640" y="301752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874520" y="3017520"/>
            <a:ext cx="1325880" cy="548640"/>
          </a:xfrm>
          <a:prstGeom prst="rect">
            <a:avLst/>
          </a:prstGeom>
          <a:solidFill>
            <a:srgbClr val="E8E0DC"/>
          </a:solidFill>
          <a:ln/>
        </p:spPr>
      </p:sp>
      <p:sp>
        <p:nvSpPr>
          <p:cNvPr id="18" name="Text 16"/>
          <p:cNvSpPr/>
          <p:nvPr/>
        </p:nvSpPr>
        <p:spPr>
          <a:xfrm>
            <a:off x="1874520" y="3017520"/>
            <a:ext cx="1325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背景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108960" y="301752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291840" y="3017520"/>
            <a:ext cx="1325880" cy="548640"/>
          </a:xfrm>
          <a:prstGeom prst="rect">
            <a:avLst/>
          </a:prstGeom>
          <a:solidFill>
            <a:srgbClr val="E8E0DC"/>
          </a:solidFill>
          <a:ln/>
        </p:spPr>
      </p:sp>
      <p:sp>
        <p:nvSpPr>
          <p:cNvPr id="21" name="Text 19"/>
          <p:cNvSpPr/>
          <p:nvPr/>
        </p:nvSpPr>
        <p:spPr>
          <a:xfrm>
            <a:off x="3291840" y="3017520"/>
            <a:ext cx="1325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26280" y="301752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709160" y="3017520"/>
            <a:ext cx="1325880" cy="548640"/>
          </a:xfrm>
          <a:prstGeom prst="rect">
            <a:avLst/>
          </a:prstGeom>
          <a:solidFill>
            <a:srgbClr val="E8E0DC"/>
          </a:solidFill>
          <a:ln/>
        </p:spPr>
      </p:sp>
      <p:sp>
        <p:nvSpPr>
          <p:cNvPr id="24" name="Text 22"/>
          <p:cNvSpPr/>
          <p:nvPr/>
        </p:nvSpPr>
        <p:spPr>
          <a:xfrm>
            <a:off x="4709160" y="3017520"/>
            <a:ext cx="1325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输出要求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943600" y="301752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126480" y="3017520"/>
            <a:ext cx="1325880" cy="548640"/>
          </a:xfrm>
          <a:prstGeom prst="rect">
            <a:avLst/>
          </a:prstGeom>
          <a:solidFill>
            <a:srgbClr val="E8E0DC"/>
          </a:solidFill>
          <a:ln/>
        </p:spPr>
      </p:sp>
      <p:sp>
        <p:nvSpPr>
          <p:cNvPr id="27" name="Text 25"/>
          <p:cNvSpPr/>
          <p:nvPr/>
        </p:nvSpPr>
        <p:spPr>
          <a:xfrm>
            <a:off x="6126480" y="3017520"/>
            <a:ext cx="1325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约束条件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360920" y="301752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543800" y="3017520"/>
            <a:ext cx="1325880" cy="548640"/>
          </a:xfrm>
          <a:prstGeom prst="rect">
            <a:avLst/>
          </a:prstGeom>
          <a:solidFill>
            <a:srgbClr val="E8E0DC"/>
          </a:solidFill>
          <a:ln/>
        </p:spPr>
      </p:sp>
      <p:sp>
        <p:nvSpPr>
          <p:cNvPr id="30" name="Text 28"/>
          <p:cNvSpPr/>
          <p:nvPr/>
        </p:nvSpPr>
        <p:spPr>
          <a:xfrm>
            <a:off x="7543800" y="3017520"/>
            <a:ext cx="1325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质量标准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57200" y="3840480"/>
            <a:ext cx="8229600" cy="1005840"/>
          </a:xfrm>
          <a:prstGeom prst="rect">
            <a:avLst/>
          </a:prstGeom>
          <a:solidFill>
            <a:srgbClr val="B3141A">
              <a:alpha val="92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" y="384048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B314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让AI在相同场景下稳定输出一致结果的保证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D4A574"/>
          </a:solidFill>
          <a:ln/>
        </p:spPr>
      </p:sp>
      <p:sp>
        <p:nvSpPr>
          <p:cNvPr id="34" name="Text 32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74320"/>
            <a:ext cx="1097280" cy="457200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模块九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691640" y="27432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知识库应用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8229600" cy="914400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86868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核心价值：把你的业务语境注入AI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2651760" cy="640080"/>
          </a:xfrm>
          <a:prstGeom prst="rect">
            <a:avLst/>
          </a:prstGeom>
          <a:solidFill>
            <a:srgbClr val="B3141A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96596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案例库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291840" y="1965960"/>
            <a:ext cx="2651760" cy="64008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196596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规则库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126480" y="1965960"/>
            <a:ext cx="2651760" cy="640080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13" name="Text 11"/>
          <p:cNvSpPr/>
          <p:nvPr/>
        </p:nvSpPr>
        <p:spPr>
          <a:xfrm>
            <a:off x="6126480" y="196596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模板库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7200" y="2834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建库路径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246120"/>
            <a:ext cx="1554480" cy="502920"/>
          </a:xfrm>
          <a:prstGeom prst="rect">
            <a:avLst/>
          </a:prstGeom>
          <a:solidFill>
            <a:srgbClr val="E8E0DC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24612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录音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920240" y="3246120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2194560" y="3246120"/>
            <a:ext cx="1554480" cy="502920"/>
          </a:xfrm>
          <a:prstGeom prst="rect">
            <a:avLst/>
          </a:prstGeom>
          <a:solidFill>
            <a:srgbClr val="E8E0DC"/>
          </a:solidFill>
          <a:ln/>
        </p:spPr>
      </p:sp>
      <p:sp>
        <p:nvSpPr>
          <p:cNvPr id="19" name="Text 17"/>
          <p:cNvSpPr/>
          <p:nvPr/>
        </p:nvSpPr>
        <p:spPr>
          <a:xfrm>
            <a:off x="2194560" y="324612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GET转写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0" y="3246120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3931920" y="3246120"/>
            <a:ext cx="1554480" cy="502920"/>
          </a:xfrm>
          <a:prstGeom prst="rect">
            <a:avLst/>
          </a:prstGeom>
          <a:solidFill>
            <a:srgbClr val="E8E0DC"/>
          </a:solidFill>
          <a:ln/>
        </p:spPr>
      </p:sp>
      <p:sp>
        <p:nvSpPr>
          <p:cNvPr id="22" name="Text 20"/>
          <p:cNvSpPr/>
          <p:nvPr/>
        </p:nvSpPr>
        <p:spPr>
          <a:xfrm>
            <a:off x="3931920" y="324612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千问整理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94960" y="3246120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5669280" y="3246120"/>
            <a:ext cx="1554480" cy="502920"/>
          </a:xfrm>
          <a:prstGeom prst="rect">
            <a:avLst/>
          </a:prstGeom>
          <a:solidFill>
            <a:srgbClr val="E8E0DC"/>
          </a:solidFill>
          <a:ln/>
        </p:spPr>
      </p:sp>
      <p:sp>
        <p:nvSpPr>
          <p:cNvPr id="25" name="Text 23"/>
          <p:cNvSpPr/>
          <p:nvPr/>
        </p:nvSpPr>
        <p:spPr>
          <a:xfrm>
            <a:off x="5669280" y="324612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人工核实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132320" y="3246120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7406640" y="3246120"/>
            <a:ext cx="1554480" cy="502920"/>
          </a:xfrm>
          <a:prstGeom prst="rect">
            <a:avLst/>
          </a:prstGeom>
          <a:solidFill>
            <a:srgbClr val="E8E0DC"/>
          </a:solidFill>
          <a:ln/>
        </p:spPr>
      </p:sp>
      <p:sp>
        <p:nvSpPr>
          <p:cNvPr id="28" name="Text 26"/>
          <p:cNvSpPr/>
          <p:nvPr/>
        </p:nvSpPr>
        <p:spPr>
          <a:xfrm>
            <a:off x="7406640" y="324612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脱敏归档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3977640"/>
            <a:ext cx="8229600" cy="914400"/>
          </a:xfrm>
          <a:prstGeom prst="rect">
            <a:avLst/>
          </a:prstGeom>
          <a:solidFill>
            <a:srgbClr val="B3141A">
              <a:alpha val="92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40233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314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今天就能做的第一步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40080" y="43891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找一份现有的合规文档，跑一次对比测试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D4A574"/>
          </a:solidFill>
          <a:ln/>
        </p:spPr>
      </p:sp>
      <p:sp>
        <p:nvSpPr>
          <p:cNvPr id="33" name="Text 3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3141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74320"/>
            <a:ext cx="1097280" cy="457200"/>
          </a:xfrm>
          <a:prstGeom prst="rect">
            <a:avLst/>
          </a:prstGeom>
          <a:solidFill>
            <a:srgbClr val="B3141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模块十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691640" y="2743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智能体与Skill初探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39319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914400"/>
            <a:ext cx="3931920" cy="502920"/>
          </a:xfrm>
          <a:prstGeom prst="rect">
            <a:avLst/>
          </a:prstGeom>
          <a:solidFill>
            <a:srgbClr val="B3141A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91440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智能体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1554480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把一套工作流封装，稳定可复用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54880" y="914400"/>
            <a:ext cx="39319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914400"/>
            <a:ext cx="3931920" cy="50292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91440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937760" y="1554480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更细粒度的任务处理模块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154680"/>
            <a:ext cx="8229600" cy="1645920"/>
          </a:xfrm>
          <a:prstGeom prst="rect">
            <a:avLst/>
          </a:prstGeom>
          <a:solidFill>
            <a:srgbClr val="B3141A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2918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当前目标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374904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看懂、有感觉、知道下一步能做什么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D4A574"/>
          </a:solidFill>
          <a:ln/>
        </p:spPr>
      </p:sp>
      <p:sp>
        <p:nvSpPr>
          <p:cNvPr id="18" name="Text 1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314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B314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第四部分 · 能力进阶 知识框架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474720" y="914400"/>
            <a:ext cx="2194560" cy="640080"/>
          </a:xfrm>
          <a:prstGeom prst="rect">
            <a:avLst/>
          </a:prstGeom>
          <a:solidFill>
            <a:srgbClr val="B3141A"/>
          </a:solidFill>
          <a:ln/>
        </p:spPr>
      </p:sp>
      <p:sp>
        <p:nvSpPr>
          <p:cNvPr id="5" name="Text 3"/>
          <p:cNvSpPr/>
          <p:nvPr/>
        </p:nvSpPr>
        <p:spPr>
          <a:xfrm>
            <a:off x="3474720" y="91440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第四部分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0" y="1554480"/>
            <a:ext cx="0" cy="365760"/>
          </a:xfrm>
          <a:prstGeom prst="line">
            <a:avLst/>
          </a:prstGeom>
          <a:noFill/>
          <a:ln w="25400">
            <a:solidFill>
              <a:srgbClr val="4A4A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0" y="1920240"/>
            <a:ext cx="6400800" cy="0"/>
          </a:xfrm>
          <a:prstGeom prst="line">
            <a:avLst/>
          </a:prstGeom>
          <a:noFill/>
          <a:ln w="25400">
            <a:solidFill>
              <a:srgbClr val="4A4A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37360" y="1920240"/>
            <a:ext cx="0" cy="320040"/>
          </a:xfrm>
          <a:prstGeom prst="line">
            <a:avLst/>
          </a:prstGeom>
          <a:noFill/>
          <a:ln w="25400">
            <a:solidFill>
              <a:srgbClr val="4A4A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2240280"/>
            <a:ext cx="1645920" cy="502920"/>
          </a:xfrm>
          <a:prstGeom prst="rect">
            <a:avLst/>
          </a:prstGeom>
          <a:solidFill>
            <a:srgbClr val="B3141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24028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模块八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27889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结构化提示词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0" y="1920240"/>
            <a:ext cx="0" cy="320040"/>
          </a:xfrm>
          <a:prstGeom prst="line">
            <a:avLst/>
          </a:prstGeom>
          <a:noFill/>
          <a:ln w="25400">
            <a:solidFill>
              <a:srgbClr val="4A4A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749040" y="2240280"/>
            <a:ext cx="1645920" cy="502920"/>
          </a:xfrm>
          <a:prstGeom prst="rect">
            <a:avLst/>
          </a:prstGeom>
          <a:solidFill>
            <a:srgbClr val="B3141A"/>
          </a:solidFill>
          <a:ln/>
        </p:spPr>
      </p:sp>
      <p:sp>
        <p:nvSpPr>
          <p:cNvPr id="14" name="Text 12"/>
          <p:cNvSpPr/>
          <p:nvPr/>
        </p:nvSpPr>
        <p:spPr>
          <a:xfrm>
            <a:off x="3749040" y="224028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模块九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566160" y="27889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知识库应用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406640" y="1920240"/>
            <a:ext cx="0" cy="320040"/>
          </a:xfrm>
          <a:prstGeom prst="line">
            <a:avLst/>
          </a:prstGeom>
          <a:noFill/>
          <a:ln w="25400">
            <a:solidFill>
              <a:srgbClr val="4A4A4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0" y="2240280"/>
            <a:ext cx="1645920" cy="502920"/>
          </a:xfrm>
          <a:prstGeom prst="rect">
            <a:avLst/>
          </a:prstGeom>
          <a:solidFill>
            <a:srgbClr val="B3141A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0" y="224028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模块十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0" y="27889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智能体与Skill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200400"/>
            <a:ext cx="1143000" cy="411480"/>
          </a:xfrm>
          <a:prstGeom prst="rect">
            <a:avLst/>
          </a:prstGeom>
          <a:solidFill>
            <a:srgbClr val="E8E0DC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200400"/>
            <a:ext cx="1143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核心差距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691640" y="3200400"/>
            <a:ext cx="1143000" cy="411480"/>
          </a:xfrm>
          <a:prstGeom prst="rect">
            <a:avLst/>
          </a:prstGeom>
          <a:solidFill>
            <a:srgbClr val="E8E0DC"/>
          </a:solidFill>
          <a:ln/>
        </p:spPr>
      </p:sp>
      <p:sp>
        <p:nvSpPr>
          <p:cNvPr id="23" name="Text 21"/>
          <p:cNvSpPr/>
          <p:nvPr/>
        </p:nvSpPr>
        <p:spPr>
          <a:xfrm>
            <a:off x="1691640" y="3200400"/>
            <a:ext cx="1143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六要素框架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91840" y="3200400"/>
            <a:ext cx="1143000" cy="411480"/>
          </a:xfrm>
          <a:prstGeom prst="rect">
            <a:avLst/>
          </a:prstGeom>
          <a:solidFill>
            <a:srgbClr val="E8E0DC"/>
          </a:solidFill>
          <a:ln/>
        </p:spPr>
      </p:sp>
      <p:sp>
        <p:nvSpPr>
          <p:cNvPr id="25" name="Text 23"/>
          <p:cNvSpPr/>
          <p:nvPr/>
        </p:nvSpPr>
        <p:spPr>
          <a:xfrm>
            <a:off x="3291840" y="3200400"/>
            <a:ext cx="1143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三类内容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26280" y="3200400"/>
            <a:ext cx="1143000" cy="411480"/>
          </a:xfrm>
          <a:prstGeom prst="rect">
            <a:avLst/>
          </a:prstGeom>
          <a:solidFill>
            <a:srgbClr val="E8E0DC"/>
          </a:solidFill>
          <a:ln/>
        </p:spPr>
      </p:sp>
      <p:sp>
        <p:nvSpPr>
          <p:cNvPr id="27" name="Text 25"/>
          <p:cNvSpPr/>
          <p:nvPr/>
        </p:nvSpPr>
        <p:spPr>
          <a:xfrm>
            <a:off x="4526280" y="3200400"/>
            <a:ext cx="1143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建库路径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126480" y="3200400"/>
            <a:ext cx="1143000" cy="411480"/>
          </a:xfrm>
          <a:prstGeom prst="rect">
            <a:avLst/>
          </a:prstGeom>
          <a:solidFill>
            <a:srgbClr val="E8E0DC"/>
          </a:solidFill>
          <a:ln/>
        </p:spPr>
      </p:sp>
      <p:sp>
        <p:nvSpPr>
          <p:cNvPr id="29" name="Text 27"/>
          <p:cNvSpPr/>
          <p:nvPr/>
        </p:nvSpPr>
        <p:spPr>
          <a:xfrm>
            <a:off x="6126480" y="3200400"/>
            <a:ext cx="1143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智能体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360920" y="3200400"/>
            <a:ext cx="1143000" cy="411480"/>
          </a:xfrm>
          <a:prstGeom prst="rect">
            <a:avLst/>
          </a:prstGeom>
          <a:solidFill>
            <a:srgbClr val="E8E0DC"/>
          </a:solidFill>
          <a:ln/>
        </p:spPr>
      </p:sp>
      <p:sp>
        <p:nvSpPr>
          <p:cNvPr id="31" name="Text 29"/>
          <p:cNvSpPr/>
          <p:nvPr/>
        </p:nvSpPr>
        <p:spPr>
          <a:xfrm>
            <a:off x="7360920" y="3200400"/>
            <a:ext cx="1143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3840480"/>
            <a:ext cx="8229600" cy="1005840"/>
          </a:xfrm>
          <a:prstGeom prst="rect">
            <a:avLst/>
          </a:prstGeom>
          <a:solidFill>
            <a:srgbClr val="B3141A">
              <a:alpha val="92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" y="384048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B314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从提示词编写 &gt; 知识注入 &gt; 工作流封装，循序渐进的能力进阶之路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D4A574"/>
          </a:solidFill>
          <a:ln/>
        </p:spPr>
      </p:sp>
      <p:sp>
        <p:nvSpPr>
          <p:cNvPr id="35" name="Text 3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D4A57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2743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0" b="1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下午预告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FFFFFF">
                    <a:alpha val="6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把学习变成成果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B3141A"/>
          </a:solidFill>
          <a:ln/>
        </p:spPr>
      </p:sp>
      <p:sp>
        <p:nvSpPr>
          <p:cNvPr id="6" name="Shape 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下午的学习目标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182880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515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你已经掌握了提示词、工具组合、知识库、结构化封装。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下午的任务，是把这两天所学的一切，落到你自己的一个真实工作场景上。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143000" y="3017520"/>
            <a:ext cx="548640" cy="548640"/>
          </a:xfrm>
          <a:prstGeom prst="ellipse">
            <a:avLst/>
          </a:prstGeom>
          <a:solidFill>
            <a:srgbClr val="B3141A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3017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57200" y="3657600"/>
            <a:ext cx="1920240" cy="640080"/>
          </a:xfrm>
          <a:prstGeom prst="rect">
            <a:avLst/>
          </a:prstGeom>
          <a:solidFill>
            <a:srgbClr val="E8E0DC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36576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识别场景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286000" y="365760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3337560" y="3017520"/>
            <a:ext cx="548640" cy="548640"/>
          </a:xfrm>
          <a:prstGeom prst="ellipse">
            <a:avLst/>
          </a:prstGeom>
          <a:solidFill>
            <a:srgbClr val="B3141A"/>
          </a:solidFill>
          <a:ln/>
        </p:spPr>
      </p:sp>
      <p:sp>
        <p:nvSpPr>
          <p:cNvPr id="13" name="Text 11"/>
          <p:cNvSpPr/>
          <p:nvPr/>
        </p:nvSpPr>
        <p:spPr>
          <a:xfrm>
            <a:off x="3337560" y="3017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651760" y="3657600"/>
            <a:ext cx="1920240" cy="640080"/>
          </a:xfrm>
          <a:prstGeom prst="rect">
            <a:avLst/>
          </a:prstGeom>
          <a:solidFill>
            <a:srgbClr val="E8E0DC"/>
          </a:solidFill>
          <a:ln/>
        </p:spPr>
      </p:sp>
      <p:sp>
        <p:nvSpPr>
          <p:cNvPr id="15" name="Text 13"/>
          <p:cNvSpPr/>
          <p:nvPr/>
        </p:nvSpPr>
        <p:spPr>
          <a:xfrm>
            <a:off x="2651760" y="36576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设计方案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480560" y="365760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5532120" y="3017520"/>
            <a:ext cx="548640" cy="548640"/>
          </a:xfrm>
          <a:prstGeom prst="ellipse">
            <a:avLst/>
          </a:prstGeom>
          <a:solidFill>
            <a:srgbClr val="B3141A"/>
          </a:solidFill>
          <a:ln/>
        </p:spPr>
      </p:sp>
      <p:sp>
        <p:nvSpPr>
          <p:cNvPr id="18" name="Text 16"/>
          <p:cNvSpPr/>
          <p:nvPr/>
        </p:nvSpPr>
        <p:spPr>
          <a:xfrm>
            <a:off x="5532120" y="3017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4846320" y="3657600"/>
            <a:ext cx="1920240" cy="640080"/>
          </a:xfrm>
          <a:prstGeom prst="rect">
            <a:avLst/>
          </a:prstGeom>
          <a:solidFill>
            <a:srgbClr val="E8E0DC"/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0" y="36576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实操跑通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675120" y="365760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7726680" y="3017520"/>
            <a:ext cx="548640" cy="548640"/>
          </a:xfrm>
          <a:prstGeom prst="ellipse">
            <a:avLst/>
          </a:prstGeom>
          <a:solidFill>
            <a:srgbClr val="B3141A"/>
          </a:solidFill>
          <a:ln/>
        </p:spPr>
      </p:sp>
      <p:sp>
        <p:nvSpPr>
          <p:cNvPr id="23" name="Text 21"/>
          <p:cNvSpPr/>
          <p:nvPr/>
        </p:nvSpPr>
        <p:spPr>
          <a:xfrm>
            <a:off x="7726680" y="3017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7040880" y="3657600"/>
            <a:ext cx="1920240" cy="640080"/>
          </a:xfrm>
          <a:prstGeom prst="rect">
            <a:avLst/>
          </a:prstGeom>
          <a:solidFill>
            <a:srgbClr val="E8E0DC"/>
          </a:solidFill>
          <a:ln/>
        </p:spPr>
      </p:sp>
      <p:sp>
        <p:nvSpPr>
          <p:cNvPr id="25" name="Text 23"/>
          <p:cNvSpPr/>
          <p:nvPr/>
        </p:nvSpPr>
        <p:spPr>
          <a:xfrm>
            <a:off x="7040880" y="36576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形成成果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solidFill>
            <a:srgbClr val="B3141A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从学习到实践，最后汇聚成一个可以立刻拿走使用的东西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D4A574"/>
          </a:solidFill>
          <a:ln/>
        </p:spPr>
      </p:sp>
      <p:sp>
        <p:nvSpPr>
          <p:cNvPr id="29" name="Text 2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两天的学习成果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40233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4023360" cy="548640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1440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第一天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16002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AI认知与工具基础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1488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提示词核心技能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26974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结构化方法论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54880" y="914400"/>
            <a:ext cx="40233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914400"/>
            <a:ext cx="4023360" cy="548640"/>
          </a:xfrm>
          <a:prstGeom prst="rect">
            <a:avLst/>
          </a:prstGeom>
          <a:solidFill>
            <a:srgbClr val="B3141A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91440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第二天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029200" y="16002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知识库应用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0" y="21488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智能体与Skill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0" y="26974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真实场景实践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657600"/>
            <a:ext cx="8229600" cy="1188720"/>
          </a:xfrm>
          <a:prstGeom prst="rect">
            <a:avLst/>
          </a:prstGeom>
          <a:solidFill>
            <a:srgbClr val="B3141A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7947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两天的学习，将在下午汇聚成一个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0080" y="425196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可以立刻拿走使用的东西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D4A574"/>
          </a:solidFill>
          <a:ln/>
        </p:spPr>
      </p:sp>
      <p:sp>
        <p:nvSpPr>
          <p:cNvPr id="20" name="Text 1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314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B314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下午的行动地图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0233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508760"/>
            <a:ext cx="548640" cy="548640"/>
          </a:xfrm>
          <a:prstGeom prst="ellipse">
            <a:avLst/>
          </a:prstGeom>
          <a:solidFill>
            <a:srgbClr val="B3141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08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71600" y="12801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识别场景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71600" y="178308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找到最适合AI介入的工作场景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40233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937760" y="1508760"/>
            <a:ext cx="548640" cy="548640"/>
          </a:xfrm>
          <a:prstGeom prst="ellipse">
            <a:avLst/>
          </a:prstGeom>
          <a:solidFill>
            <a:srgbClr val="4A4A4A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508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669280" y="12801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设计方案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669280" y="178308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设计AI介入的方式和流程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834640"/>
            <a:ext cx="40233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3337560"/>
            <a:ext cx="548640" cy="548640"/>
          </a:xfrm>
          <a:prstGeom prst="ellipse">
            <a:avLst/>
          </a:prstGeom>
          <a:solidFill>
            <a:srgbClr val="D4A574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337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371600" y="31089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实操跑通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71600" y="361188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动手配置和调试智能体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54880" y="2834640"/>
            <a:ext cx="40233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937760" y="3337560"/>
            <a:ext cx="548640" cy="548640"/>
          </a:xfrm>
          <a:prstGeom prst="ellipse">
            <a:avLst/>
          </a:prstGeom>
          <a:solidFill>
            <a:srgbClr val="B3141A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3337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669280" y="31089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展示成果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669280" y="361188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形成可复用的成果文档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D4A574"/>
          </a:solidFill>
          <a:ln/>
        </p:spPr>
      </p:sp>
      <p:sp>
        <p:nvSpPr>
          <p:cNvPr id="25" name="Text 2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你的技能工具箱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201168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2011680" cy="91440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提示词编写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14400" y="1828800"/>
            <a:ext cx="1097280" cy="365760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8288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651760" y="914400"/>
            <a:ext cx="201168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651760" y="914400"/>
            <a:ext cx="2011680" cy="91440"/>
          </a:xfrm>
          <a:prstGeom prst="rect">
            <a:avLst/>
          </a:prstGeom>
          <a:solidFill>
            <a:srgbClr val="B3141A"/>
          </a:solidFill>
          <a:ln/>
        </p:spPr>
      </p:sp>
      <p:sp>
        <p:nvSpPr>
          <p:cNvPr id="11" name="Text 9"/>
          <p:cNvSpPr/>
          <p:nvPr/>
        </p:nvSpPr>
        <p:spPr>
          <a:xfrm>
            <a:off x="2651760" y="118872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结构化封装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108960" y="1828800"/>
            <a:ext cx="1097280" cy="365760"/>
          </a:xfrm>
          <a:prstGeom prst="rect">
            <a:avLst/>
          </a:prstGeom>
          <a:solidFill>
            <a:srgbClr val="B3141A"/>
          </a:solidFill>
          <a:ln/>
        </p:spPr>
      </p:sp>
      <p:sp>
        <p:nvSpPr>
          <p:cNvPr id="13" name="Text 11"/>
          <p:cNvSpPr/>
          <p:nvPr/>
        </p:nvSpPr>
        <p:spPr>
          <a:xfrm>
            <a:off x="3108960" y="18288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进阶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846320" y="914400"/>
            <a:ext cx="201168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46320" y="914400"/>
            <a:ext cx="2011680" cy="9144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118872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知识库建设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303520" y="1828800"/>
            <a:ext cx="1097280" cy="36576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18" name="Text 16"/>
          <p:cNvSpPr/>
          <p:nvPr/>
        </p:nvSpPr>
        <p:spPr>
          <a:xfrm>
            <a:off x="5303520" y="18288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进阶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040880" y="914400"/>
            <a:ext cx="201168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040880" y="914400"/>
            <a:ext cx="2011680" cy="91440"/>
          </a:xfrm>
          <a:prstGeom prst="rect">
            <a:avLst/>
          </a:prstGeom>
          <a:solidFill>
            <a:srgbClr val="B3141A"/>
          </a:solidFill>
          <a:ln/>
        </p:spPr>
      </p:sp>
      <p:sp>
        <p:nvSpPr>
          <p:cNvPr id="21" name="Text 19"/>
          <p:cNvSpPr/>
          <p:nvPr/>
        </p:nvSpPr>
        <p:spPr>
          <a:xfrm>
            <a:off x="7040880" y="118872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智能体设计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7498080" y="1828800"/>
            <a:ext cx="1097280" cy="365760"/>
          </a:xfrm>
          <a:prstGeom prst="rect">
            <a:avLst/>
          </a:prstGeom>
          <a:solidFill>
            <a:srgbClr val="B3141A"/>
          </a:solidFill>
          <a:ln/>
        </p:spPr>
      </p:sp>
      <p:sp>
        <p:nvSpPr>
          <p:cNvPr id="23" name="Text 21"/>
          <p:cNvSpPr/>
          <p:nvPr/>
        </p:nvSpPr>
        <p:spPr>
          <a:xfrm>
            <a:off x="7498080" y="18288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高级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200400"/>
            <a:ext cx="8229600" cy="73152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3337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4A5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从基础到高级，循序渐进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57200" y="3840480"/>
            <a:ext cx="8229600" cy="1005840"/>
          </a:xfrm>
          <a:prstGeom prst="rect">
            <a:avLst/>
          </a:prstGeom>
          <a:solidFill>
            <a:srgbClr val="B3141A">
              <a:alpha val="92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384048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B314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所有技能，最终都要落到你自己的真实工作场景上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D4A574"/>
          </a:solidFill>
          <a:ln/>
        </p:spPr>
      </p:sp>
      <p:sp>
        <p:nvSpPr>
          <p:cNvPr id="29" name="Text 2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314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B314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立刻行动的三件事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914400" cy="1005840"/>
          </a:xfrm>
          <a:prstGeom prst="rect">
            <a:avLst/>
          </a:prstGeom>
          <a:solidFill>
            <a:srgbClr val="B3141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05840"/>
            <a:ext cx="914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554480" y="1143000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找一个场景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155448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想想你现在最花时间的重复性工作是什么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194560"/>
            <a:ext cx="82296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194560"/>
            <a:ext cx="914400" cy="1005840"/>
          </a:xfrm>
          <a:prstGeom prst="rect">
            <a:avLst/>
          </a:prstGeom>
          <a:solidFill>
            <a:srgbClr val="B3141A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194560"/>
            <a:ext cx="914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554480" y="2331720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画一个流程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554480" y="274320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把那个工作拆解成3-5个明确的步骤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383280"/>
            <a:ext cx="82296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383280"/>
            <a:ext cx="914400" cy="1005840"/>
          </a:xfrm>
          <a:prstGeom prst="rect">
            <a:avLst/>
          </a:prstGeom>
          <a:solidFill>
            <a:srgbClr val="B3141A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383280"/>
            <a:ext cx="914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554480" y="3520440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试一个工具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554480" y="393192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用一个简单工具先跑通最小可行方案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不要等到完美，先跑通再迭代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D4A574"/>
          </a:solidFill>
          <a:ln/>
        </p:spPr>
      </p:sp>
      <p:sp>
        <p:nvSpPr>
          <p:cNvPr id="22" name="Text 2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B3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457200"/>
            <a:ext cx="2286000" cy="2286000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第四部分总结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FFFFFF">
                    <a:alpha val="6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能力进阶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6" name="Shape 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314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B314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模块十关键收获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109728" cy="1280160"/>
          </a:xfrm>
          <a:prstGeom prst="rect">
            <a:avLst/>
          </a:prstGeom>
          <a:solidFill>
            <a:srgbClr val="B3141A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1234440"/>
            <a:ext cx="640080" cy="640080"/>
          </a:xfrm>
          <a:prstGeom prst="ellipse">
            <a:avLst/>
          </a:prstGeom>
          <a:solidFill>
            <a:srgbClr val="B3141A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234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645920" y="10515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智能体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645920" y="1508760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把一套固定的工作流程封装起来，稳定、可复用。不再需要每次手动拼凑提示词和工具。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377440"/>
            <a:ext cx="82296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377440"/>
            <a:ext cx="109728" cy="128016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12" name="Shape 10"/>
          <p:cNvSpPr/>
          <p:nvPr/>
        </p:nvSpPr>
        <p:spPr>
          <a:xfrm>
            <a:off x="777240" y="2697480"/>
            <a:ext cx="640080" cy="640080"/>
          </a:xfrm>
          <a:prstGeom prst="ellipse">
            <a:avLst/>
          </a:prstGeom>
          <a:solidFill>
            <a:srgbClr val="D4A574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697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645920" y="25146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645920" y="2971800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更细粒度的任务处理模块。智能体可以由多个Skill组合而成。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4023360"/>
            <a:ext cx="8229600" cy="868680"/>
          </a:xfrm>
          <a:prstGeom prst="rect">
            <a:avLst/>
          </a:prstGeom>
          <a:solidFill>
            <a:srgbClr val="B3141A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023360"/>
            <a:ext cx="7863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下一步：找到你工作中最值得封装的场景，开始动手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D4A574"/>
          </a:solidFill>
          <a:ln/>
        </p:spPr>
      </p:sp>
      <p:sp>
        <p:nvSpPr>
          <p:cNvPr id="19" name="Text 1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B3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3200400"/>
            <a:ext cx="2743200" cy="274320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-457200"/>
            <a:ext cx="2286000" cy="228600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开启你的AI工作流之旅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从提示词到智能体，从学习到实践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371600" y="3108960"/>
            <a:ext cx="6400800" cy="10972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310896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314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两天的学习，将在下午汇聚成一个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B314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可以立刻拿走使用的东西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>
                    <a:alpha val="5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华润三九AI工作坊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D4A574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华润三九AI工作坊 - 模块十：智能体与Skill初探</dc:title>
  <dc:subject>PptxGenJS Presentation</dc:subject>
  <dc:creator>Huarun</dc:creator>
  <cp:lastModifiedBy>Huarun</cp:lastModifiedBy>
  <cp:revision>1</cp:revision>
  <dcterms:created xsi:type="dcterms:W3CDTF">2026-05-12T08:34:51Z</dcterms:created>
  <dcterms:modified xsi:type="dcterms:W3CDTF">2026-05-12T08:34:51Z</dcterms:modified>
</cp:coreProperties>
</file>