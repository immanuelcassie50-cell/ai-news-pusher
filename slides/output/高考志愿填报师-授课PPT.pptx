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EF233C">
              <a:alpha val="4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EF233C">
              <a:alpha val="3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560320"/>
            <a:ext cx="731520" cy="731520"/>
          </a:xfrm>
          <a:prstGeom prst="ellipse">
            <a:avLst/>
          </a:prstGeom>
          <a:solidFill>
            <a:srgbClr val="C1121F">
              <a:alpha val="6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54864" cy="201168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42062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C1121F">
              <a:alpha val="2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5486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F233C">
              <a:alpha val="5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决策分级实战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哪些绩效决策必须人来扛，哪些可以放心交给AI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2286000" cy="3657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HR绩效管理赋能工作坊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09728" cy="1097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97680"/>
            <a:ext cx="109728" cy="109728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97680"/>
            <a:ext cx="109728" cy="109728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4297680"/>
            <a:ext cx="109728" cy="109728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4297680"/>
            <a:ext cx="109728" cy="109728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62456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62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1508760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23444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决策分级的三个维度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1536192"/>
            <a:ext cx="109728" cy="109728"/>
          </a:xfrm>
          <a:prstGeom prst="ellipse">
            <a:avLst/>
          </a:prstGeom>
          <a:solidFill>
            <a:srgbClr val="C1121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39112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231343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2039112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四类决策分级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0" y="2340864"/>
            <a:ext cx="109728" cy="109728"/>
          </a:xfrm>
          <a:prstGeom prst="ellipse">
            <a:avLst/>
          </a:prstGeom>
          <a:solidFill>
            <a:srgbClr val="C1121F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43784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80160" y="3118104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2843784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人机决策边界设计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229600" y="3145536"/>
            <a:ext cx="109728" cy="109728"/>
          </a:xfrm>
          <a:prstGeom prst="ellipse">
            <a:avLst/>
          </a:prstGeom>
          <a:solidFill>
            <a:srgbClr val="C1121F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48456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776472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80160" y="3922776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1600200" y="3648456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护栏机制与升级路径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229600" y="3950208"/>
            <a:ext cx="109728" cy="109728"/>
          </a:xfrm>
          <a:prstGeom prst="ellipse">
            <a:avLst/>
          </a:prstGeom>
          <a:solidFill>
            <a:srgbClr val="C1121F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45312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" y="4581144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581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280160" y="4727448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1600200" y="4453128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229600" y="4754880"/>
            <a:ext cx="109728" cy="109728"/>
          </a:xfrm>
          <a:prstGeom prst="ellipse">
            <a:avLst/>
          </a:prstGeom>
          <a:solidFill>
            <a:srgbClr val="C1121F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1097280"/>
            <a:ext cx="822960" cy="2926080"/>
          </a:xfrm>
          <a:prstGeom prst="roundRect">
            <a:avLst>
              <a:gd name="adj" fmla="val 13333"/>
            </a:avLst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828800"/>
            <a:ext cx="365760" cy="1645920"/>
          </a:xfrm>
          <a:prstGeom prst="roundRect">
            <a:avLst>
              <a:gd name="adj" fmla="val 20000"/>
            </a:avLst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F233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754880" y="2743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构建决策分级的核心框架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3383280"/>
            <a:ext cx="13716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82396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15087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Shape 6"/>
          <p:cNvSpPr/>
          <p:nvPr/>
        </p:nvSpPr>
        <p:spPr>
          <a:xfrm>
            <a:off x="982980" y="1828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决策分级的三个维度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96012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重要性/紧急度/可逆性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38428" y="2139696"/>
            <a:ext cx="146304" cy="14630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1680" y="2121408"/>
            <a:ext cx="228600" cy="146304"/>
          </a:xfrm>
          <a:prstGeom prst="rightArrow">
            <a:avLst/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16459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0" y="1645920"/>
            <a:ext cx="1508760" cy="5486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Shape 15"/>
          <p:cNvSpPr/>
          <p:nvPr/>
        </p:nvSpPr>
        <p:spPr>
          <a:xfrm>
            <a:off x="2811780" y="1828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28117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24231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四类决策分级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3063240"/>
            <a:ext cx="96012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2377440" y="31546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战略/战术/操作/应急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67228" y="2139696"/>
            <a:ext cx="146304" cy="146304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0" y="2121408"/>
            <a:ext cx="228600" cy="146304"/>
          </a:xfrm>
          <a:prstGeom prst="rightArrow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0" y="16459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0" y="1645920"/>
            <a:ext cx="15087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6" name="Shape 24"/>
          <p:cNvSpPr/>
          <p:nvPr/>
        </p:nvSpPr>
        <p:spPr>
          <a:xfrm>
            <a:off x="4640580" y="1828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7" name="Text 25"/>
          <p:cNvSpPr/>
          <p:nvPr/>
        </p:nvSpPr>
        <p:spPr>
          <a:xfrm>
            <a:off x="46405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06240" y="24231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人机决策边界设计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0" y="3063240"/>
            <a:ext cx="96012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31546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AI擅长/人类判断/协同点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96028" y="2139696"/>
            <a:ext cx="146304" cy="14630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0" y="2121408"/>
            <a:ext cx="228600" cy="146304"/>
          </a:xfrm>
          <a:prstGeom prst="rightArrow">
            <a:avLst/>
          </a:prstGeom>
          <a:solidFill>
            <a:srgbClr val="EF233C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0" y="16459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0" y="1645920"/>
            <a:ext cx="1508760" cy="5486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5" name="Shape 33"/>
          <p:cNvSpPr/>
          <p:nvPr/>
        </p:nvSpPr>
        <p:spPr>
          <a:xfrm>
            <a:off x="6469380" y="1828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64693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35040" y="24231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护栏机制与升级路径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3063240"/>
            <a:ext cx="96012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31546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风险控制/审批流程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4828" y="2139696"/>
            <a:ext cx="146304" cy="146304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1" name="Shape 39"/>
          <p:cNvSpPr/>
          <p:nvPr/>
        </p:nvSpPr>
        <p:spPr>
          <a:xfrm>
            <a:off x="7498080" y="2121408"/>
            <a:ext cx="228600" cy="146304"/>
          </a:xfrm>
          <a:prstGeom prst="rightArrow">
            <a:avLst/>
          </a:prstGeom>
          <a:solidFill>
            <a:srgbClr val="EF233C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0" y="16459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72400" y="1645920"/>
            <a:ext cx="15087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4" name="Shape 42"/>
          <p:cNvSpPr/>
          <p:nvPr/>
        </p:nvSpPr>
        <p:spPr>
          <a:xfrm>
            <a:off x="8298180" y="1828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45" name="Text 43"/>
          <p:cNvSpPr/>
          <p:nvPr/>
        </p:nvSpPr>
        <p:spPr>
          <a:xfrm>
            <a:off x="82981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863840" y="24231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46720" y="3063240"/>
            <a:ext cx="96012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0" y="31546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真实案例模拟决策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53628" y="2139696"/>
            <a:ext cx="146304" cy="14630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0" name="Shape 48"/>
          <p:cNvSpPr/>
          <p:nvPr/>
        </p:nvSpPr>
        <p:spPr>
          <a:xfrm>
            <a:off x="365760" y="4297680"/>
            <a:ext cx="777240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  Learning Path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开篇认知自测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请先思考以下几个问题，带着你的答案进入今天的学习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10972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78308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你目前如何判断哪些绩效决策需要人工审核？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17320"/>
            <a:ext cx="2651760" cy="10972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78308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32461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AI在绩效管理中的应用边界在哪里？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17320"/>
            <a:ext cx="2651760" cy="10972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78308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09360" y="32461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你的团队遇到过哪些决策风险案例？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777240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2860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决策分级的三个维度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 · 可逆性 · 紧迫性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为什么决策分级在AI时代变得更重要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8288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73152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AI决策透明度要求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决策过程可解释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73152" cy="10972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50876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法律责任归属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2356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人类必须保留最终决策权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74720"/>
            <a:ext cx="73152" cy="10972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520440"/>
            <a:ext cx="502920" cy="50292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算法偏见风险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需要人工监督高风险决策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474720"/>
            <a:ext cx="73152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Shape 25"/>
          <p:cNvSpPr/>
          <p:nvPr/>
        </p:nvSpPr>
        <p:spPr>
          <a:xfrm>
            <a:off x="4983480" y="352044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2356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员工信任建设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235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关键决策需要人文关怀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维度一：风险等级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64592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09728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087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决策影响大、涉及多方利益、后果严重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FFE0B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560320"/>
            <a:ext cx="109728" cy="10972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8803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4028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2880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有一定影响、需多方协调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C8E6C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109728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251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51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4028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4251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4251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影响有限、可逆性较强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维度二：可逆性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46304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E8F5E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1097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146304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可逆决策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3108960"/>
            <a:ext cx="2468880" cy="18288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337560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绩效改进计划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任务调整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EBEE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1188720"/>
            <a:ext cx="3931920" cy="10972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1463040"/>
            <a:ext cx="731520" cy="7315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不可逆决策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3108960"/>
            <a:ext cx="2468880" cy="18288"/>
          </a:xfrm>
          <a:prstGeom prst="rect">
            <a:avLst/>
          </a:prstGeom>
          <a:solidFill>
            <a:srgbClr val="2B2D42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94960" y="333756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末位淘汰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94960" y="374904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晋升提名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94960" y="416052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薪酬调整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维度三：紧迫性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46304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Shape 2"/>
          <p:cNvSpPr/>
          <p:nvPr/>
        </p:nvSpPr>
        <p:spPr>
          <a:xfrm>
            <a:off x="4297680" y="2606040"/>
            <a:ext cx="73152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657600" cy="914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155448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紧急决策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需要立即处理、时间敏感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37360" y="36576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即时响应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28016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ECEFF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280160"/>
            <a:ext cx="3657600" cy="914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1554480"/>
            <a:ext cx="822960" cy="8229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🕘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常规决策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按周期处理、可计划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36576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按计划执行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三个维度的交叉影响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3716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640080"/>
            <a:ext cx="1280160" cy="1280160"/>
          </a:xfrm>
          <a:prstGeom prst="ellipse">
            <a:avLst/>
          </a:prstGeom>
          <a:solidFill>
            <a:srgbClr val="2B2D42">
              <a:alpha val="85000"/>
            </a:srgbClr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822960"/>
            <a:ext cx="914400" cy="9144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960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风险程度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371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19760" y="2697480"/>
            <a:ext cx="1280160" cy="1280160"/>
          </a:xfrm>
          <a:prstGeom prst="ellipse">
            <a:avLst/>
          </a:prstGeom>
          <a:solidFill>
            <a:srgbClr val="C1121F">
              <a:alpha val="85000"/>
            </a:srgbClr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2640" y="2880360"/>
            <a:ext cx="914400" cy="9144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511976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19760" y="3429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Reversibility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4080" y="2697480"/>
            <a:ext cx="1280160" cy="1280160"/>
          </a:xfrm>
          <a:prstGeom prst="ellipse">
            <a:avLst/>
          </a:prstGeom>
          <a:solidFill>
            <a:srgbClr val="8D99AE">
              <a:alpha val="85000"/>
            </a:srgbClr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960" y="2880360"/>
            <a:ext cx="914400" cy="9144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274408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4080" y="3429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3017520"/>
            <a:ext cx="77724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846320" y="3017520"/>
            <a:ext cx="77724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2B2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4114800"/>
            <a:ext cx="109728" cy="777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+ 不可逆 + 紧急 = 必须人类决策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绩效决策风险案例分析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真实场景中的决策困境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651760" cy="10972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60020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34440" y="2377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技术骨干的末位淘汰争议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+ 不可逆 + 紧急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280160"/>
            <a:ext cx="2651760" cy="10972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Shape 14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114800" y="2377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834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跨部门调岗的灰度决策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 + 可逆 + 紧急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280160"/>
            <a:ext cx="2651760" cy="10972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0" y="1600200"/>
            <a:ext cx="640080" cy="6400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995160" y="2377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834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年度优秀评选的算法应用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364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 + 不可逆 + 常规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案例A：技术骨干的末位淘汰争议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8288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某技术骨干绩效垫底但项目贡献突出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年度评估结果与实际业务价值存在明显偏差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05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决策一旦执行，将直接影响员工职业发展和团队稳定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F233C">
              <a:alpha val="50000"/>
            </a:srgbClr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17520"/>
            <a:ext cx="109728" cy="1371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决策难点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数据准确性与人为判断的冲突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绩效数据是否真实反映了员工价值？算法决策与管理者主观判断哪个更可信？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案例B与C：灰度决策场景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8288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10972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132588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跨部门调岗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56032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 + 可逆 + 紧急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调岗决定可调整，紧急性较高，需要快速响应业务需求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AI参与方式：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可辅助分析候选人匹配度，提供决策参考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4114800" cy="10972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325880"/>
            <a:ext cx="640080" cy="6400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年度优秀评选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20640" y="256032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 + 不可逆 + 常规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9718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年度评选频次低，结果具有标杆效应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AI参与方式：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可辅助数据分析，但最终评选应保留人类决定权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2651760"/>
            <a:ext cx="6400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模块一小结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3716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132588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0972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决策分级是AI时代HR的核心能力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228600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0574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三个维度：风险、可逆性、紧迫性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324612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0175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高风险+不可逆决策必须保留人类决策权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34440" y="42062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12344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39776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案例帮助理解决策分级的实际应用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掌握决策分级，胜任AI时代的HR角色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四类决策分级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0" y="3337560"/>
            <a:ext cx="18288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A·B·C·D四象限分类法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73152" cy="1828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8705088" y="2286000"/>
            <a:ext cx="73152" cy="1828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四象限矩阵介绍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280160"/>
            <a:ext cx="2514600" cy="1600200"/>
          </a:xfrm>
          <a:prstGeom prst="rect">
            <a:avLst>
              <a:gd name="adj" fmla="val 4571"/>
            </a:avLst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680210"/>
            <a:ext cx="251460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2160270"/>
            <a:ext cx="25146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高风险+可逆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280160"/>
            <a:ext cx="2514600" cy="1600200"/>
          </a:xfrm>
          <a:prstGeom prst="rect">
            <a:avLst>
              <a:gd name="adj" fmla="val 4571"/>
            </a:avLst>
          </a:prstGeom>
          <a:solidFill>
            <a:srgbClr val="EF53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680210"/>
            <a:ext cx="251460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43400" y="2160270"/>
            <a:ext cx="25146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高风险+不可逆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880360"/>
            <a:ext cx="2514600" cy="1600200"/>
          </a:xfrm>
          <a:prstGeom prst="rect">
            <a:avLst>
              <a:gd name="adj" fmla="val 4571"/>
            </a:avLst>
          </a:prstGeom>
          <a:solidFill>
            <a:srgbClr val="FFCDD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280410"/>
            <a:ext cx="251460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828800" y="3760470"/>
            <a:ext cx="25146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低风险+可逆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880360"/>
            <a:ext cx="2514600" cy="1600200"/>
          </a:xfrm>
          <a:prstGeom prst="rect">
            <a:avLst>
              <a:gd name="adj" fmla="val 4571"/>
            </a:avLst>
          </a:prstGeom>
          <a:solidFill>
            <a:srgbClr val="4242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3280410"/>
            <a:ext cx="251460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343400" y="3760470"/>
            <a:ext cx="25146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低风险+不可逆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8720" y="1554480"/>
            <a:ext cx="0" cy="2651760"/>
          </a:xfrm>
          <a:prstGeom prst="line">
            <a:avLst/>
          </a:prstGeom>
          <a:noFill/>
          <a:ln w="19050">
            <a:solidFill>
              <a:srgbClr val="4242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800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800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4937760"/>
            <a:ext cx="4480560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A类决策：高风险 + 不可逆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必须人类决策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3152" cy="7772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7909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270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影响重大、后果难以挽回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73152" cy="7772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31720"/>
            <a:ext cx="7909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F2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414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末位淘汰、晋升提名、薪酬调整、裁员决定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73152" cy="77724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246120"/>
            <a:ext cx="7909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F2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558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数据支持、信息收集、风险预警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73152" cy="7772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160520"/>
            <a:ext cx="7909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F2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702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最终决策、责任承担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B类决策：高风险 + 可逆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AI辅助+人类监督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813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1508760"/>
            <a:ext cx="18288" cy="50292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48132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有风险但可纠错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957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11680" y="2423160"/>
            <a:ext cx="18288" cy="50292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239572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绩效改进计划、调岗安排、项目重组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101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11680" y="3337560"/>
            <a:ext cx="18288" cy="50292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331012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进度跟踪、异常预警、方案推荐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245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11680" y="4251960"/>
            <a:ext cx="18288" cy="50292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422452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批准执行、定期review、干预时机把控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C类决策：低风险 + 不可逆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AI建议+人类确认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73152" cy="7315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03120" y="1737360"/>
            <a:ext cx="18288" cy="45720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6916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影响有限但需谨慎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41448"/>
            <a:ext cx="73152" cy="7315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03120" y="2578608"/>
            <a:ext cx="18288" cy="45720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253288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年度优秀评选、荣誉授予、资格认定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82696"/>
            <a:ext cx="73152" cy="7315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741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03120" y="3419856"/>
            <a:ext cx="18288" cy="45720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33741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候选人筛选、数据整理、排名推荐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123944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23944"/>
            <a:ext cx="73152" cy="7315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215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03120" y="4261104"/>
            <a:ext cx="18288" cy="45720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421538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最终审批、例外处理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2743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F233C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030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03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463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大多数家庭志愿填报顺序：从分数出发→决定档次→选专业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631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63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148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4231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正确顺序：先弄清人，再拿分数框定方向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232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33832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「这个人是谁」需要至少1-2小时深聊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1833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83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43434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方向对了，冲稳保才有意义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信息收集不是查数据，是替人过滤噪音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这两年信息不是不够了，是太多了，多到大部分家长已经分不清哪条是真的对他们有用的。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0" y="301752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关键能力：过滤噪音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4114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286000" y="406908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4640" y="4114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4114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29768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真正有用的信息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0" y="2743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信息过载的代价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家长刷到「某专业天坑」文章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直接划掉孩子喜欢了三年的方向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一条「保研率超高」的短视频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硬把孩子塞进完全不搭的方向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核心问题：局部真实，但脱离具体的人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三道筛子过滤噪音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487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487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08960" y="1280160"/>
            <a:ext cx="18288" cy="68580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时间戳对不对？（行业变化快，两年前的「热门」可能已过剩）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53746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374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颗粒度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108960" y="2468880"/>
            <a:ext cx="18288" cy="68580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2860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这是「专业整体」还是「这所学校这个具体方向」？（避免统计概括具体）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2618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261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108960" y="3657600"/>
            <a:ext cx="18288" cy="68580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47472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背后有没有利益相关？（招生宣传、机构广告、从业者经验）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过滤后的信息不超过原来的1/3是正常的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极端个案≠真实分布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34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某专业毕业生失业送外卖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传播力强、情绪冲击大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566160" cy="18288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用极端样本代表整体分布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B2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2344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主动找相对完整的就业分布数据对比，感受极端案例在整体里的比例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490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家长容易因小概率事件被牵着情绪走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2743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0302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03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信息收集的真正工作量不在「找到」，在「过滤」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631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63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2402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三道筛子：时间戳、颗粒度、利益相关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232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保留信息的不确定性，不过度简化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833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83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过滤后的信息不超过原来的1/3是正常的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为什么现在的判断比过去更难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产业变化慢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专业热度是水平线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产业变化快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专业热度是快速变化的曲线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计算机专业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3977640"/>
            <a:ext cx="5029200" cy="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840480"/>
            <a:ext cx="274320" cy="2743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赶上移动互联网黄金期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840480"/>
            <a:ext cx="274320" cy="2743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遇上收缩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384048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四年后AI影响未知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产业判断三问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463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需求真实吗？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这个行业解决的问题是真实且长期存在的需求吗？（不是短期政策或风口催出来的）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463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壁垒可替代吗？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核心壁垒是容易被AI替代的重复性劳动，还是需要长期积累的复杂判断？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1463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处于哪个阶段？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现在处于扩张期、成熟期还是收缩期？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如何判断产业趋势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看招聘网站真实岗位JD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看招聘网站真实岗位JD的变化（要求、薪资、数量）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0" cy="18288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访谈从业者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访谈从业者（五年前入行的人现在在干什么）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788920"/>
            <a:ext cx="0" cy="18288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看行业中层的能力结构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看行业中层的能力结构（是靠执行速度还是综合判断）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"比任何专业介绍册子都真实的是市场真正在发生的事"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1248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53312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产业判断≠专业现在的行情，是四年后的真实趋势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1920240"/>
            <a:ext cx="731520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221992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21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1488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三个判断维度：需求真实性、壁垒可替代性、生命周期阶段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2788920"/>
            <a:ext cx="731520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090672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017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真实岗位JD和从业者访谈比专业介绍更可靠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3657600"/>
            <a:ext cx="731520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59352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59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886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判断力靠的是持续、日常的更新积累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1248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倒推的起点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罗老师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你希望十年后过什么样的生活？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24231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423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答不上来，从来没人问过这个问题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788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0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罗老师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换一种问法：什么事情你做的时候会忘记看手机？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566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397764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977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喜欢把混乱的东西整理出规律，从乱到整齐让他觉得踏实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结果：落在工程管理和质量控制方向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41248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倒推规划的路径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1874520"/>
            <a:ext cx="36576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18872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2801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十年后想过什么日子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6002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状态描述，非职业名称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672" y="2788920"/>
            <a:ext cx="36576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210312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1945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这种状态对应哪些工作领域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4672" y="3703320"/>
            <a:ext cx="36576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301752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1089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这些领域现在对应哪些专业方向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371600" y="393192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40233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哪些是这个孩子分数能够到的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114800" y="4572000"/>
            <a:ext cx="9144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4663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倒推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倒推能暴露家庭分歧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母女在"金融"和"设计"上僵持多年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挖掘后发现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妈妈要的是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"稳定收入"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68880" y="21945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女儿要的是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"创造性"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这两件事拆开看并不冲突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金融行业里也有需要创造性的岗位，设计领域也有稳定的职业路径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"母女俩用具体专业名词在吵架，从没拆到更底层的诉求"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1248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53312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正向推演：分数→学校→专业→工作（被动）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50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3774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倒推规划：十年后日子→工作领域→专业方向→分数框定（主动）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1353312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280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先问"状态"而非"职业"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2450592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450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0" y="2377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倒推让选择变成孩子真正认同的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传统路径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→ 学校 → 专业 → 工作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倒推路径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十年后日子 → 工作 → 专业 → 分数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1248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AI能算的和算不出的，中间那条线在哪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91440" cy="2743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C1121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AI能替你把冲稳保算得比谁都精确，它算不出的是那道题背后那道题——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这个人到底是谁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C1121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94360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——本章核心问题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AI擅长做的事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2344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输入明确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规则清晰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可结构化计算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2344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给定分数位次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结合历年数据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算出技术合理梯度表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2344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效率极高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又快又准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比人工效率高得多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F233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429000"/>
            <a:ext cx="73152" cy="10972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这部分工作，用工具做是效率问题，不是价值问题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AI取代不了的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核心：排梯度表之前那道题——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"这个孩子是谁"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他对什么真正投入过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011680"/>
            <a:ext cx="54864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011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他家庭的真实处境和顾虑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54864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他嘴上说的和心里想的是否一致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09160" y="32004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200400"/>
            <a:ext cx="54864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五年后行业产业逻辑会怎么变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F233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343400"/>
            <a:ext cx="73152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43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这些需要的是判断力，不是计算力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警惕AI工具的"过度自信"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69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工具生成内容的方式本质是把海量公开信息按统计规律组织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54864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2585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560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它不知道自己哪里可能错，也不会主动告诉你"这条建议我其实没有把握"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37560"/>
            <a:ext cx="54864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472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749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用户很难从语气上分辨可靠信息和统计拼凑的内容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297680"/>
            <a:ext cx="73152" cy="7315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97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工具本该用来解放时间打磨核心能力，如果被用成提高接单效率的手段，反而在透支真正的能力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报考政策解读、位次换算、历年数据整理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AI取代不了的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信息过滤、产业判断、倒推规划、跟人打交道建立信任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收费结构决定被替代的风险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389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工具该用来解放时间投入真正有价值的地方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认知重塑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核心观点回顾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它负责落地，不负责方向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96596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468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先问人，再问分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信息收集是过滤噪音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三道筛子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38328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5661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产业判断看四年后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886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"真正的核心资产是信息、判断力和产业认知，不是冲稳保的排列组合"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协作与沟通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 · 志愿表意义 · 家长沟通 · 冲突处理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同样的分数，不同的风险偏好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抗压能力一般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复读会造成心理打击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3566160" cy="18288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冲的比例应该小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敢闯型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家里支持复读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有较强的心理承受力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2651760"/>
            <a:ext cx="3566160" cy="18288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788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冲的比例可以放大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680分求稳的孩子，冲的比例可能比620分敢闯的孩子还要小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如何判断真实的风险偏好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问保底接受度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掉到保底档能不能接受，接受到什么程度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411480" cy="4114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问调剂意愿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冲的学校录到不喜欢的调剂专业，愿不愿意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了解家庭态度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291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家里对复读的真实态度是什么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问过去的挫折经历如何走出，比一句"我能接受"更能反映真实抗压能力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冲的代价不只是"没冲上"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为了冲，放弃原本能选到的更合适的专业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73152" cy="320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F233C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把"孩子嘴上说的胆子大"和"真实能承受的风险"混为一谈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73152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有些孩子嘴上说无所谓，真面临落榜情绪反应比预想强烈得多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判断风险偏好不能只听一次表态，需要结合过去真实反应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冲稳保是风险偏好的翻译工具，不是排列组合规则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2103120"/>
            <a:ext cx="768096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31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同样的分数，不同的人冲的比例应该完全不同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2880360"/>
            <a:ext cx="768096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08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判断风险偏好需要多次校验，不是听一次表态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" y="3657600"/>
            <a:ext cx="768096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886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886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"名校优先"和"专业匹配优先"背后是不同的风险偏好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097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志愿表是孩子第一次为自己做重大决定的练习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2103120"/>
            <a:ext cx="768096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31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选择过程本身的价值可能比结果更重要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2880360"/>
            <a:ext cx="768096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08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真正好的服务：孩子走的时候状态是笃定的，不是勉强的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" y="3657600"/>
            <a:ext cx="768096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886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886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信任建立在这个过程里孩子被当成完整的人认真对待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320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和家长谈，不是说服，是让他们看见信息差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说服是我告诉你我是对的，你听我的；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这份工作里真正管用的，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是把你看不到的信息摆出来，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让你自己得出跟我一样的结论。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1121F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摆信息差的要点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0058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摆出来的信息必须真实、经得起对方再核实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9202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不能只摆对自己有利的，要呈现完整的有正反两面的信息全貌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8346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根据谈话对象调整语言密度和角度（数据型 vs 直觉型家长）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7490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摆完之后，接受和消化的节奏是对方的，不是你能控制的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0058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沟通不是辩论，是摆信息差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659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人对自己想通的事接受度比被说服的高得多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260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292608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摆信息差需要平时扎实的案头功夫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862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80160" y="388620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坦诚呈现不确定性，长期看是在建立信任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320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孩子和家长意见相反时，你到底站哪边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这个问题没有标准答案，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但有一条底线：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你不是替任何一方说话的人，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你是那个让两边都能听见彼此在说什么的人。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1121F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两类不同的分歧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事实层面的分歧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"专业现在的就业行情好不好"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548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解法：摆事实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21945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价值排序层面的分歧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"家长看重稳定，孩子看重热爱"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468880"/>
            <a:ext cx="3566160" cy="548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解法：让双方看到彼此的合理性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C1121F">
              <a:alpha val="85000"/>
            </a:srgbClr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分不清这两类，容易在该讲事实时陷入价值观辩论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0972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972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0972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让人产生扎实信任的案例是用来被质疑的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0116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20116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0116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主动暴露瑕疵反而增加可信度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9260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29260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29260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内部人视角的案例比引用外部权威更有说服力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8404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38404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38404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定期回忆不完美的案例也是在提醒自己别活成只有成功案例的样子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· 关于干活这件事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Q1：客户临时反悔怎么办？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7818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A：不去跟那句话较劲，重新回到信息本身，把亲戚那句话的判断逻辑找出来一起看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Q2：遇到孩子和家长都配合但自己心里没底，要不要说实话？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697480"/>
            <a:ext cx="54864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97480"/>
            <a:ext cx="7818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A：要说，坦诚是真正的专业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Q3：碰到明显不合理的诉求，劝了没用，要不要按他意思做？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023360"/>
            <a:ext cx="54864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23360"/>
            <a:ext cx="7818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A：底线是把该说的说清楚，最终决定权是客户的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协作与沟通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核心观点回顾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2011680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志愿表是第一次为自己做主的练习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2011680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9204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家长沟通是摆信息差，不是说服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2011680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冲突处理是让两边都能被听见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3749040"/>
            <a:ext cx="9144000" cy="914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判断力越强，说服力越强，越要警惕替人做决定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 · 口碑与转介绍 · AI时代发展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914400"/>
            <a:ext cx="548640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1645920"/>
            <a:ext cx="365760" cy="365760"/>
          </a:xfrm>
          <a:prstGeom prst="rect">
            <a:avLst/>
          </a:prstGeom>
          <a:solidFill>
            <a:srgbClr val="C1121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2103120"/>
            <a:ext cx="457200" cy="4572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0972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972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0972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口碑应该是把每一次服务做扎实之后自然生长的结果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0116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20116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0116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衡量标准：这个孩子五年后回头看，认不认这个判断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9260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29260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29260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真正的转介绍来自真实的判断经过时间检验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8404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38404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38404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争取口碑的方式不能牺牲判断质量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职业分化已经开始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103120"/>
          </a:xfrm>
          <a:prstGeom prst="rect">
            <a:avLst/>
          </a:prstGeom>
          <a:solidFill>
            <a:srgbClr val="8D99AE">
              <a:alpha val="15000"/>
            </a:srgbClr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会被替代的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只会算冲稳保、不做前面判断题的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103120"/>
          </a:xfrm>
          <a:prstGeom prst="rect">
            <a:avLst/>
          </a:prstGeom>
          <a:solidFill>
            <a:srgbClr val="C1121F">
              <a:alpha val="12000"/>
            </a:srgbClr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会活得更好的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真正花时间在信息过滤、产业判断、倒推规划上的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AI把基础计算工作接管后，这些人有更多时间投入真正有价值的环节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门槛被抬高了，对愿意打磨真本事的人来说，从来都是好事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0972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972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0972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这行真正被替代的是纯计算、纯信息整理的工作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0116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20116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0116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判断力、产业认知、跟人打交道的经验，AI短期内替代不了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9260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29260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29260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把工具用得更熟练，而不是抗拒它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840480"/>
            <a:ext cx="7589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3840480"/>
            <a:ext cx="54864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38404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把信息、判断力、产业认知打磨扎实，永远是不会贬值的部分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C112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228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模块一：认知重塑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984248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395728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信息收集是过滤噪音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807208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产业判断看四年后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218688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倒推规划从十年后往回算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630168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AI与人的分工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86868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324612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1097280"/>
            <a:ext cx="26517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模块二：协作与沟通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1572768"/>
            <a:ext cx="91440" cy="914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1984248"/>
            <a:ext cx="91440" cy="914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353872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志愿表是第一次为自己做主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395728"/>
            <a:ext cx="91440" cy="914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家长沟通是摆信息差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2807208"/>
            <a:ext cx="91440" cy="914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353872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冲突处理让两边都被听见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3218688"/>
            <a:ext cx="91440" cy="914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353872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案例是用来证伪的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868680"/>
            <a:ext cx="26517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8" name="Shape 36"/>
          <p:cNvSpPr/>
          <p:nvPr/>
        </p:nvSpPr>
        <p:spPr>
          <a:xfrm>
            <a:off x="603504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8D99AE"/>
          </a:solidFill>
          <a:ln/>
        </p:spPr>
      </p:sp>
      <p:sp>
        <p:nvSpPr>
          <p:cNvPr id="39" name="Shape 37"/>
          <p:cNvSpPr/>
          <p:nvPr/>
        </p:nvSpPr>
        <p:spPr>
          <a:xfrm>
            <a:off x="6035040" y="1097280"/>
            <a:ext cx="2651760" cy="2286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模块三：职业心态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72200" y="1572768"/>
            <a:ext cx="91440" cy="914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2" name="Text 40"/>
          <p:cNvSpPr/>
          <p:nvPr/>
        </p:nvSpPr>
        <p:spPr>
          <a:xfrm>
            <a:off x="632764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替人做决定是最大的风险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1984248"/>
            <a:ext cx="91440" cy="914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2395728"/>
            <a:ext cx="91440" cy="914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AI时代判断力更值钱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2807208"/>
            <a:ext cx="91440" cy="914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8" name="Text 46"/>
          <p:cNvSpPr/>
          <p:nvPr/>
        </p:nvSpPr>
        <p:spPr>
          <a:xfrm>
            <a:off x="632764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从"算得对"到"看得准"是道坎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高考志愿填报师工作手册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291840"/>
            <a:ext cx="182880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“希望这本手册，能帮刚入行的人少走一点弯路，也能给还在这行里摸爬滚打的老手，提供一点点不一样的角度。”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延伸学习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6984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698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868680"/>
            <a:ext cx="717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每年关注招聘网站JD变化，建立自己的产业信息库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48256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847088"/>
            <a:ext cx="717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定期与不同行业的从业者聊天，更新产业认知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26664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266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825496"/>
            <a:ext cx="717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建立案例复盘习惯，记录判断失误和调整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005072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050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803904"/>
            <a:ext cx="717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把每一次服务当作打磨判断力的机会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祝各位从业顺利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每次服务前，先问自己：这个孩子是谁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每次服务后，问孩子：这个方向是你自己想清楚要选的吗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4300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143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每天留出时间更新产业判断，不靠经验吃老本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1488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把每一次服务都当成打磨判断力的机会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34290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工具会越来越强，但判断力永远在人身上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记住：我们的价值不在于提供答案，而在于帮孩子学会问对的问题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66760" y="480060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推荐阅读与资源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4300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1430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持续关注招聘网站上的岗位JD变化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373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每年更新各行业产业报告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3317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建立自己的行业人脉网络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92608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9260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关注教育部和各高校招生政策变化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79476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产业判断力需要每天更新，不是一劳永逸的事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66760" y="480060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自我检视清单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我最近一次问“这个孩子是谁”是什么时候？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35608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35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3560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我有没有把决定权留给孩子自己？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11096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11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91109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我上次更新产业判断是什么时候？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386584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865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386584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我有没有在追求口碑而不是追求判断质量？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862072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62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86207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我愿不愿意放下经验，重新老老实实问基础问题？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005840" y="37490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判断力越强、经验越丰富的人，越容易不自觉地把‘我觉得这样更好’变成‘这就是最好的选择’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47091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005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005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8686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1005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005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协作与沟通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2900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风险偏好翻译与家长沟通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005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005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4章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替人做决定的风险与口碑思维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3520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15章核心内容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14800" y="35204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46320" y="3520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6760" y="480060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2743200" cy="2743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倒推十年 · 高考志愿填报师工作手册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2743200" cy="2743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学员手册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"/>
            <a:ext cx="54864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365760"/>
            <a:ext cx="73152" cy="548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4686300"/>
            <a:ext cx="54864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Shape 9"/>
          <p:cNvSpPr/>
          <p:nvPr/>
        </p:nvSpPr>
        <p:spPr>
          <a:xfrm>
            <a:off x="8705088" y="4229100"/>
            <a:ext cx="73152" cy="548640"/>
          </a:xfrm>
          <a:prstGeom prst="rect">
            <a:avLst/>
          </a:prstGeom>
          <a:solidFill>
            <a:srgbClr val="C1121F"/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版权声明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44168"/>
            <a:ext cx="146304" cy="14630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本手册版权归作者所有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984248"/>
            <a:ext cx="146304" cy="14630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未经许可，禁止翻印或用于商业目的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624328"/>
            <a:ext cx="146304" cy="14630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14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课堂内容仅供内部学习使用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倒推十年 · 高考志愿填报师工作手册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作者：罗宏伟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66760" y="480060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预期收益与时间投资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时间投资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学习摸索期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56616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每天练习时间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15-30分钟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形成习惯期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356616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预计回本时间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预期收益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时间节省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30-60分钟/天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2148840"/>
            <a:ext cx="356616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工作质量提升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明显改善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560320"/>
            <a:ext cx="356616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心理负担降低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减少内耗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2971800"/>
            <a:ext cx="3566160" cy="914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竞争力提升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超越同龄人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计算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每周时间投入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2-3.5小时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0040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每周潜在收益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4434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5-7小时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94360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净收益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434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+2.5-4小时/周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高考志愿填报师工作手册</dc:title>
  <dc:subject>PptxGenJS Presentation</dc:subject>
  <dc:creator>罗宏伟</dc:creator>
  <cp:lastModifiedBy>罗宏伟</cp:lastModifiedBy>
  <cp:revision>1</cp:revision>
  <dcterms:created xsi:type="dcterms:W3CDTF">2026-08-05T19:36:50Z</dcterms:created>
  <dcterms:modified xsi:type="dcterms:W3CDTF">2026-08-05T19:36:50Z</dcterms:modified>
</cp:coreProperties>
</file>