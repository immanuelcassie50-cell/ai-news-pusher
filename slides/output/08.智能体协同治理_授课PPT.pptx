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notesMasterIdLst>
    <p:notesMasterId r:id="rId1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45720" cy="25603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D4122B">
              <a:alpha val="25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B81025">
              <a:alpha val="4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4A4748">
              <a:alpha val="20000"/>
            </a:srgbClr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智能体协同治理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跨公司AI自主决策的边界怎么划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27432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绩效改进系列课 · 第8门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核心问题：哪些决策可以由AI自主完成，哪些必须由人类拍板？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91440" cy="9144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663440"/>
            <a:ext cx="91440" cy="91440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4663440"/>
            <a:ext cx="91440" cy="91440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4663440"/>
            <a:ext cx="91440" cy="91440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AI决策边界的本质理解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280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3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280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502920" cy="502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三维度四象限分级模型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075688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3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0756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02920" cy="502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9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340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三方权责与L1-L4权限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2871216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3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8712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502920" cy="502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529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849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透明度、公平性、可纠错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3666744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3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36667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502920" cy="502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325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97280" y="4645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工作坊场景化练习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446227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3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462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180分钟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1097280"/>
            <a:ext cx="36576" cy="3474720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2286000"/>
            <a:ext cx="1828800" cy="1828800"/>
          </a:xfrm>
          <a:prstGeom prst="ellipse">
            <a:avLst/>
          </a:prstGeom>
          <a:solidFill>
            <a:srgbClr val="D4122B">
              <a:alpha val="2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914400"/>
            <a:ext cx="1371600" cy="1371600"/>
          </a:xfrm>
          <a:prstGeom prst="ellipse">
            <a:avLst/>
          </a:prstGeom>
          <a:solidFill>
            <a:srgbClr val="B81025">
              <a:alpha val="15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跨公司AI协作时，哪些决策可以由AI自主完成，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哪些必须由人类拍板？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如何设计「AI建议、人类决策」的机制？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42900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边界意识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明确AI能做什么、不能做什么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2918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42900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按风险、可逆性、急迫性分层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2918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2900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权责清晰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谁决策、谁负责、谁监督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跨公司AI协作的四个真实困境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采购超量事故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A公司AI向供应商B发送大额订单，超出授权额度，供应商备货后A公司无法取消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548640" cy="228600"/>
          </a:xfrm>
          <a:prstGeom prst="rect">
            <a:avLst/>
          </a:prstGeom>
          <a:solidFill>
            <a:srgbClr val="D4122B">
              <a:alpha val="7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100万库存积压，供应商关系受损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定价权冲突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A公司AI根据市场数据调低价格，B公司AI同时调高价格，双方AI陷入死循环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240280"/>
            <a:ext cx="548640" cy="228600"/>
          </a:xfrm>
          <a:prstGeom prst="rect">
            <a:avLst/>
          </a:prstGeom>
          <a:solidFill>
            <a:srgbClr val="D4122B">
              <a:alpha val="7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240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3212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客户困惑，品牌声誉受损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数据泄露风险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A公司AI向B公司AI传输客户数据用于联合建模，数据用途超出原始范围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160520"/>
            <a:ext cx="548640" cy="228600"/>
          </a:xfrm>
          <a:prstGeom prst="rect">
            <a:avLst/>
          </a:prstGeom>
          <a:solidFill>
            <a:srgbClr val="D4122B">
              <a:alpha val="7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违反GDPR，面临巨额罚款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0632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决策责任真空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9204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AI建议导致合作方损失，但合同未约定AI决策责任，各方互相推诿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4160520"/>
            <a:ext cx="548640" cy="228600"/>
          </a:xfrm>
          <a:prstGeom prst="rect">
            <a:avLst/>
          </a:prstGeom>
          <a:solidFill>
            <a:srgbClr val="D4122B">
              <a:alpha val="7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关系破裂，商业诉讼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传统做法的三种模式对比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2651760" cy="73152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全部人类决策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人工判断精准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责任清晰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效率低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无法应对大量决策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AI优势无法发挥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05840"/>
            <a:ext cx="265176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52044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全部AI决策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效率极高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一致性高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风险不可控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责任真空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4434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员工抵触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005840"/>
            <a:ext cx="265176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4652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兼顾效率与安全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责任可追溯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员工接受度高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需要清晰边界设计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确认流程可能繁琐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4572000"/>
            <a:ext cx="73152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480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本课程的解决思路概览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理解AI决策边界本质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9456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41732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三维度评估决策风险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2336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明确各方权限与责任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41732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6072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建立透明可纠错机制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0664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1417320"/>
            <a:ext cx="640080" cy="64008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9808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808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场景化工作坊实践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不是简单地把决策分为"AI做"或"人类做"，而是设计一套机制，让AI和人类在各自擅长的领域发挥作用，实现真正的协同治理。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学员收益清单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掌握三维度四象限决策分级方法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权责工具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获得L1-L4决策权限设计模板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诊断能力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学会诊断现有AI决策边界问题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实用表单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带走F1-F7全套工具表单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实战经验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通过工作坊演练场景化应用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合规知识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了解GDPR及中国AI合规要求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D4122B">
              <a:alpha val="3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完成课程后，学员将能够设计并落地跨公司AI协同治理方案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课程结构导航（详细版）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960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34416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B81025">
              <a:alpha val="2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344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8686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AI决策三层边界 · 跨公司协作三大挑战 · 边界意识三层次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19072"/>
            <a:ext cx="73152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19072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18105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21945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A1A1A">
              <a:alpha val="2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194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171907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风险程度/可逆性/紧迫性 · 四象限决策模型 · 三维度分级矩阵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6946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69464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69464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660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4440" y="304495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B81025">
              <a:alpha val="2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56946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三方权责模型 · L1-L4权限等级 · 四步权责设计法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1985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19856"/>
            <a:ext cx="73152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19856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5112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34440" y="389534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A1A1A">
              <a:alpha val="2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8953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341985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AI决策信任三要素 · 算法审计框架 · 跨국合规要点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7024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70248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7024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34440" y="4361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34440" y="474573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B81025">
              <a:alpha val="2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745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180分钟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427024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场景还原工作坊 · 决策分级实战 · 权责设计与角色扮演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总时长约 295 分钟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课前自评引导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请先思考以下几个问题，带着你的答案进入今天的学习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265176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60020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你目前如何判断哪些AI决策需要人工审核？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325880"/>
            <a:ext cx="265176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60020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576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跨公司AI协作时遇到过哪些边界模糊的决策场景？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13258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325880"/>
            <a:ext cx="265176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60920" y="160020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294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294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你认为AI和人类在决策上各自的优势是什么？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思考完毕后，可以举手与同伴分享你的观点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122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286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AI决策边界的本质理解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122B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学习目标：理解边界意识 · 识别协作挑战 · 建立分级思维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3657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365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一个AI采购超量事故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事件经过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A公司启用新的AI采购系统，系统根据历史数据和市场预测，自动向供应商B发送了一份大额订单。然而，订单金额超出了A公司设定的授权额度，且正值市场需求下降，供应商B已按订单备货。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500万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超出授权额度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9436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库存积压损失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A公司无法取消订单，库存积压100万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供应商关系受损，商业信任破裂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AI采购系统被紧急停用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采购总监被追责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关键问题：AI的决策权限边界在哪里？谁该为这次事故负责？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AI决策的三层边界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 · 权限边界 · 价值边界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36576" cy="3200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280160"/>
            <a:ext cx="7406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280160"/>
            <a:ext cx="137160" cy="1143000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23060"/>
            <a:ext cx="457200" cy="45720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23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AI能做什么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技术能力限制、算法局限、数据质量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4A4748">
              <a:alpha val="15000"/>
            </a:srgbClr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图像识别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4A4748">
              <a:alpha val="15000"/>
            </a:srgbClr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16916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4A4748">
              <a:alpha val="15000"/>
            </a:srgbClr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2560320"/>
            <a:ext cx="7406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2560320"/>
            <a:ext cx="137160" cy="11430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2903220"/>
            <a:ext cx="457200" cy="45720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903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832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AI被允许做什么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授权范围、合同约定、合规要求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9718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B81025">
              <a:alpha val="15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订单限额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9718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B81025">
              <a:alpha val="15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价格浮动范围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29718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B81025">
              <a:alpha val="15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客户数据访问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3840480"/>
            <a:ext cx="7406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3840480"/>
            <a:ext cx="13716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" y="418338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83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544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价值边界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3832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AI应该做什么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5448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商业伦理、社会责任、长期价值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1A1A1A">
              <a:alpha val="1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员工福祉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1A1A1A">
              <a:alpha val="1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1A1A1A">
              <a:alpha val="1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可持续发展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D4122B">
              <a:alpha val="4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三层边界必须同时满足，AI才能自主执行决策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跨公司AI协作的三大独特挑战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65176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目标不一致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各方AI优化目标不同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237744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A公司AI追求成本最优，B公司AI追求利润最大，双方目标冲突时缺乏协调机制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4864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价格战、资源争夺、关系破裂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9144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914400"/>
            <a:ext cx="265176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097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118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数据不互通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信息孤岛与数据安全矛盾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2514600"/>
            <a:ext cx="237744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联合决策需要数据共享，但数据泄露风险、合规要求限制了信息流动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3611880"/>
            <a:ext cx="54864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611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1188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决策依据不完整、信任缺失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9144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914400"/>
            <a:ext cx="265176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097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5836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责任难追溯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跨边界决策的责任归属模糊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2514600"/>
            <a:ext cx="237744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AI决策影响他方利益时，合同中往往没有明确的责任约定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3611880"/>
            <a:ext cx="54864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611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纠纷难处理、追责困难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边界意识的三个层次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感知边界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意识到AI决策的存在和影响范围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0" y="118872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4A4748">
              <a:alpha val="10000"/>
            </a:srgbClr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188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知道AI在哪些场景下参与决策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688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理解边界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理解AI决策的逻辑和局限性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394960" y="246888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B81025">
              <a:alpha val="1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468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能解释AI为什么这样建议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4904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490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驾驭边界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01168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主动设计和管理AI决策边界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394960" y="374904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A1A1A">
              <a:alpha val="1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能根据业务需求调整AI权限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境界提升路径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 → 理解 → 驾驭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诊断你的边界意识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请根据你所在组织的实际情况，回答以下问题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3716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你们公司有哪些AI参与的业务决策场景？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提示：思考：采购、销售、人事、客服等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哪些AI决策你认为是恰当的，哪些让你担心？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2004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提示：从风险、可逆性、紧迫性三个维度思考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如果AI决策出错，谁来负责？如何纠错？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提示：检查你们是否有明确的权责约定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46634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4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参考时间：5分钟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边界意识诊断卡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帮助团队系统性识别和梳理AI决策边界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5029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边界意识诊断卡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业务场景：_______________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AI当前参与方式：_______________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 / 中 / 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可逆性：可逆 / 不可逆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紧迫性：紧急 / 常规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建议决策模式：_______________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当前边界问题：_______________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234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0" y="1783080"/>
            <a:ext cx="365760" cy="3657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选择业务场景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2331720"/>
            <a:ext cx="365760" cy="3657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331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填写AI参与方式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2880360"/>
            <a:ext cx="365760" cy="3657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评估三个维度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3429000"/>
            <a:ext cx="365760" cy="3657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3429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确定决策模式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3977640"/>
            <a:ext cx="365760" cy="3657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识别边界问题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0" y="448056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4122B">
              <a:alpha val="4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完整表单见学员手册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模块一小结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认知重建的四个要点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边界意识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AI有边界，不是所有决策都适合AI介入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5544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73736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人机互补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AI擅长数据处理，人类擅长价值判断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不同风险等级需要不同的AI参与程度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1546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33756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0060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AI辅助决策不改变最终责任归属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下一模块：决策分级 — 三维度四象限分级模型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122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286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三维度四象限分级模型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122B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学习目标：理解风险维度 · 掌握可逆性判断 · 运用四象限模型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3657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365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同一家公司，不同的AI权限场景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某互联网公司的人力资源部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202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决策事项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本月迟到人员统计与通报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233172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AI权限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AI全权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无需过问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178308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9202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决策事项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绩效面谈时间协调建议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9000" y="3200400"/>
            <a:ext cx="233172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AI权限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9000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114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178308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9202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决策事项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年终奖分配方案审批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3200400"/>
            <a:ext cx="233172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AI权限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人类决策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4114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AI仅提供数据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48056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思考：同样的AI系统，为什么在不同场景下权限差异这么大？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维度一：风险程度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决策错误会造成多大影响？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风险程度 = 决策错误可能带来的最坏后果的严重程度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397764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人员淘汰、晋升、薪酬调整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重大业务决策、战略方向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涉及法律合规的风险事件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数据支持为主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286000"/>
            <a:ext cx="3977640" cy="457200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286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日常事务性通知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常规任务分配调整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信息统计与查询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160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可独立执行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维度二：可逆性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决策错误是否可以纠正？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 = 决策执行后，如果发现错误，能否恢复到决策前的状态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4A474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部分可逆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人员开除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撤销荣誉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降低职级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AI禁入，人类全权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154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部分可逆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岗位调整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培训安排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251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154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日程提醒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信息更新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4251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AI可独立执行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维度三：紧迫性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决策需要在多长时间内完成？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紧迫性 = 决策的时间敏感程度，以及延迟决策的代价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3977640" cy="5029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高紧迫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时间要求: 需立即处理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紧急人员问题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突发事件应对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AI预处理，人类最终确认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86000"/>
            <a:ext cx="397764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2860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低紧迫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时间要求: 可延迟处理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常规绩效评估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计划性人事调整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4206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AI建议+人类决策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777240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注：高紧迫场景下，AI可先行处理，但需保留人类最终确认权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F2三维度分级矩阵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" y="26517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风险程度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4480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" y="4892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73936"/>
            <a:ext cx="251460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57200" y="2318004"/>
            <a:ext cx="2514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高风险+可逆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71800" y="14630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B810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773936"/>
            <a:ext cx="251460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971800" y="2318004"/>
            <a:ext cx="2514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高风险+不可逆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4A4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28416"/>
            <a:ext cx="251460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57200" y="3872484"/>
            <a:ext cx="2514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低风险+可逆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71800" y="30175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7575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328416"/>
            <a:ext cx="251460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2971800" y="3872484"/>
            <a:ext cx="2514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低风险+不可逆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14630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决策规则速查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97880" y="210312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人类全权决策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269748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58978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3291840"/>
            <a:ext cx="365760" cy="365760"/>
          </a:xfrm>
          <a:prstGeom prst="ellipse">
            <a:avLst/>
          </a:prstGeom>
          <a:solidFill>
            <a:srgbClr val="757575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3886200"/>
            <a:ext cx="365760" cy="3657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8978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AI可独立执行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60720" y="443484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D4122B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拿到一个决策，先问两个问题：风险高吗？可逆吗？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四象限决策模型概述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人类全权区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AI禁入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高风险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可逆性: 不可逆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3611880" cy="18288"/>
          </a:xfrm>
          <a:prstGeom prst="rect">
            <a:avLst/>
          </a:prstGeom>
          <a:solidFill>
            <a:srgbClr val="B81025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40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数据支持、风险预警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18120" y="12344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人类确认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高风险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可逆性: 可逆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148840"/>
            <a:ext cx="3611880" cy="18288"/>
          </a:xfrm>
          <a:prstGeom prst="rect">
            <a:avLst/>
          </a:prstGeom>
          <a:solidFill>
            <a:srgbClr val="1A1A1A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240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方案推荐、进度跟踪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D4122B"/>
          </a:solidFill>
          <a:ln w="25400">
            <a:solidFill>
              <a:srgbClr val="7575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75757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8016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566160" y="315468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757575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人类确认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低风险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可逆性: 不可逆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069080"/>
            <a:ext cx="3611880" cy="18288"/>
          </a:xfrm>
          <a:prstGeom prst="rect">
            <a:avLst/>
          </a:prstGeom>
          <a:solidFill>
            <a:srgbClr val="75757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60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筛选建议、排名推荐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9260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108960"/>
            <a:ext cx="502920" cy="50292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3212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AI自主区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818120" y="315468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4A4748"/>
          </a:solidFill>
          <a:ln/>
        </p:spPr>
      </p:sp>
      <p:sp>
        <p:nvSpPr>
          <p:cNvPr id="40" name="Text 38"/>
          <p:cNvSpPr/>
          <p:nvPr/>
        </p:nvSpPr>
        <p:spPr>
          <a:xfrm>
            <a:off x="781812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人类备案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低风险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08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可逆性: 可逆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4069080"/>
            <a:ext cx="3611880" cy="18288"/>
          </a:xfrm>
          <a:prstGeom prst="rect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4160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AI角色: 全自动执行、定时推送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两维度交叉定位决策类型，对号入座即可确定AI权限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象限一：人类全权区（AI禁入）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不可逆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3152" cy="3200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影响重大，后果难以挽回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3152" cy="3200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涉及人员切身利益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3152" cy="3200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法律合规风险高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不可逆的操作一旦执行无法撤回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末位淘汰 | 晋升提名 | 薪酬调整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裁员决定 | 荣誉撤销 | 处分决定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D4122B">
              <a:alpha val="30000"/>
            </a:srgbClr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AI不得参与最终决策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核心原则：人类对A类决策承担全部责任，AI只是工具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象限二：AI建议+人类确认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可逆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3152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有风险但可以纠错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3152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错误后果可控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3152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需要人类最终把关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适合渐进式决策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绩效改进计划 | 岗位调整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项目重组 | 培训安排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进度跟踪 | 异常预警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方案推荐 | 数据监控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人类保留批准和干预权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核心原则：AI建议 + 人类确认 = 双重保障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75757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象限三：AI自主+人类备案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75757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不可逆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3152" cy="3200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影响有限但需谨慎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3152" cy="3200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不可逆但后果可控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3152" cy="3200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AI可以独立处理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人类需要事后知晓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7575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年度优秀评选 | 荣誉授予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资格认定 | 职称评审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7575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候选人筛选 | 数据整理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排名推荐 | 结果整理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人类保留最终审批权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75757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核心原则：AI执行 + 人类备案 = 效率与监督并重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D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人机边界设计与实战演练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2286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3840480"/>
            <a:ext cx="1097280" cy="1097280"/>
          </a:xfrm>
          <a:prstGeom prst="ellipse">
            <a:avLst/>
          </a:prstGeom>
          <a:solidFill>
            <a:srgbClr val="B81025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4114800"/>
            <a:ext cx="731520" cy="731520"/>
          </a:xfrm>
          <a:prstGeom prst="ellipse">
            <a:avLst/>
          </a:prstGeom>
          <a:solidFill>
            <a:srgbClr val="D4122B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第二天课程预告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103120"/>
            <a:ext cx="36576" cy="256032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288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173736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737360"/>
            <a:ext cx="73152" cy="8229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模块三：人机决策边界设计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明确谁拍板、谁审计、谁执行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2834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63040" y="2743200"/>
            <a:ext cx="73152" cy="8229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2788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模块四：护栏机制与升级路径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建立安全边界与风险应对策略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" y="384048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374904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63040" y="3749040"/>
            <a:ext cx="73152" cy="8229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169164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模块五：实战演练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真实案例模拟与方案产出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" y="2240280"/>
            <a:ext cx="73152" cy="2286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3246120"/>
            <a:ext cx="73152" cy="2286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1371600" cy="1371600"/>
          </a:xfrm>
          <a:prstGeom prst="ellipse">
            <a:avLst/>
          </a:prstGeom>
          <a:solidFill>
            <a:srgbClr val="B8102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840480"/>
            <a:ext cx="731520" cy="731520"/>
          </a:xfrm>
          <a:prstGeom prst="ellipse">
            <a:avLst/>
          </a:prstGeom>
          <a:solidFill>
            <a:srgbClr val="D4122B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人机决策边界设计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谁拍板 · 谁审计 · 谁执行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3291840"/>
            <a:ext cx="18288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明确人机分工边界，建立清晰的决策权限体系，确保AI辅助决策的安全性与有效性。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- F3决策分级操作卡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F3决策分级卡是一套用于在实际工作中快速判断AI决策权限的工具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0140" y="16916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AI自主决策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600200" cy="27432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无需人工介入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系统自动执行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事后记录即可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适用：D类低风险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150876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8980" y="169164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32689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9748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AI执行+通知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88920" y="2880360"/>
            <a:ext cx="1600200" cy="27432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AI自动执行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383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同步通知负责人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无需事前审批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4114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适用：C类中风险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17820" y="169164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6" name="Text 24"/>
          <p:cNvSpPr/>
          <p:nvPr/>
        </p:nvSpPr>
        <p:spPr>
          <a:xfrm>
            <a:off x="54178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4632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AI建议+确认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2880360"/>
            <a:ext cx="1600200" cy="27432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AI提供决策建议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383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人类审核确认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双方共同决策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114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适用：B类较高风险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150876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66660" y="1691640"/>
            <a:ext cx="640080" cy="6400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5" name="Text 33"/>
          <p:cNvSpPr/>
          <p:nvPr/>
        </p:nvSpPr>
        <p:spPr>
          <a:xfrm>
            <a:off x="75666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9516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多方协商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086600" y="2880360"/>
            <a:ext cx="1600200" cy="27432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3017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多方共同参与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3383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人类最终拍板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AI仅提供参考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4114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适用：A类高风险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828800" cy="1828800"/>
          </a:xfrm>
          <a:prstGeom prst="ellipse">
            <a:avLst/>
          </a:prstGeom>
          <a:solidFill>
            <a:srgbClr val="B81025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3840480"/>
            <a:ext cx="1097280" cy="1097280"/>
          </a:xfrm>
          <a:prstGeom prst="ellipse">
            <a:avLst/>
          </a:prstGeom>
          <a:solidFill>
            <a:srgbClr val="D4122B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365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109728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972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98448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1207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智能体分类与角色定义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将AI智能体分为不同类型，明确其在绩效管理中的角色与职能边界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1031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304288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212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人机协作模式设计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设计高效的人机协作流程，确保AI辅助与人类决策的有效衔接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310128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决策分级体系建立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566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建立L1-L4决策分级体系，明确不同风险等级对应的决策权限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41148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4315968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4224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F3决策分级操作卡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4572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提供实用的工具卡片，帮助在实际工作中快速判断AI决策权限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457200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模块三预告：权责设计 - 明确人与AI的决策边界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1371600" cy="1371600"/>
          </a:xfrm>
          <a:prstGeom prst="ellipse">
            <a:avLst/>
          </a:prstGeom>
          <a:solidFill>
            <a:srgbClr val="B8102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840480"/>
            <a:ext cx="731520" cy="731520"/>
          </a:xfrm>
          <a:prstGeom prst="ellipse">
            <a:avLst/>
          </a:prstGeom>
          <a:solidFill>
            <a:srgbClr val="D4122B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 · 谁决策 · 谁承担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3291840"/>
            <a:ext cx="18288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明确人机分工的权责边界，建立清晰的决策责任体系，确保AI辅助决策的安全性与有效性。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B8102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AI决策引发的供应商纠纷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530352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某制造企业在引入AI供应商评估系统后，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系统自动将一家合作十年的供应商评级从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"优"下调至"差"，并建议终止合作。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然而，AI的评估基于片面数据，未考虑到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该供应商在关键时刻的灵活供货能力，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最终引发了严重的商业纠纷。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9144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AI决策权限过大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缺乏人工复核机制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权责边界不清晰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申诉渠道不畅通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11880"/>
            <a:ext cx="73152" cy="13258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教训启示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高风险决策必须有人类参与，不能完全交给AI。权责设计的第一步，是明确哪些决策AI可以自主完成，哪些必须有人类把关。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三方权责模型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明确智能体协同治理中各方的角色与责任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1097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645920"/>
            <a:ext cx="731520" cy="7315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192024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最终决策权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承担决策责任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602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设定AI权限边界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审核高风险决策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处理重大申诉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3258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325880"/>
            <a:ext cx="2651760" cy="109728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03320" y="2880360"/>
            <a:ext cx="192024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执行日常任务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提供决策建议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3602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数据收集分析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38953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按权限自动执行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记录决策过程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3258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325880"/>
            <a:ext cx="2651760" cy="109728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30" name="Shape 28"/>
          <p:cNvSpPr/>
          <p:nvPr/>
        </p:nvSpPr>
        <p:spPr>
          <a:xfrm>
            <a:off x="7178040" y="1645920"/>
            <a:ext cx="731520" cy="73152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丙方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监督者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2880360"/>
            <a:ext cx="192024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审计AI决策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检查公平性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3602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监控算法偏见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38953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报告治理效果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推动持续优化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7772400" cy="365760"/>
          </a:xfrm>
          <a:prstGeom prst="roundRect">
            <a:avLst>
              <a:gd name="adj" fmla="val 15000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617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核心原则：三方各司其职，相互制约，共同保障智能体系统的健康运行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甲方权责详解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 - 承担最终责任，掌控关键决策权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核心权力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30552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设定AI决策权限边界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决定AI能自主处理哪些事项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60904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87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最终否决AI决策建议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843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对高风险决策拥有一票否决权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91256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18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审批特殊豁免情况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3741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处理规则之外的边缘案例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48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决定组织变革方向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904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对人机协作模式拥有决策权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核心责任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9202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13055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承担决策后果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313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为所有最终决策承担法律责任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0904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587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保障员工权益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2843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确保AI应用不损害员工利益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191256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3118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建立申诉机制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33741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提供员工对AI决策的申诉渠道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721608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648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定期审计AI系统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3904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确保AI决策符合伦理与法规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4348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甲方角色定位：不是技术的奴隶，而是AI的主人，始终掌控决策主导权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模块三小结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828800" cy="2743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人机边界设计是HR的新核心职责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54864" cy="10058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9202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214884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人类：最终决策、责任承担、例外处理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057400"/>
            <a:ext cx="54864" cy="10058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4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AI：执行、数据、建议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54864" cy="10058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3474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370332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HR：算法审计、申诉处理、效果评估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54864" cy="10058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754880"/>
            <a:ext cx="137160" cy="1371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4754880"/>
            <a:ext cx="137160" cy="13716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4754880"/>
            <a:ext cx="137160" cy="137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286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护栏机制与升级路径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安全网与应急机制设计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什么是护栏机制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D412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98448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984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2984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防止AI决策失控的安全保障体系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7680960" cy="2286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6060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" y="283464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287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设定红线边界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4023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设定AI决策的红线和边界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26060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7540" y="283464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31775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3611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实时监控过程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24328" y="4023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实时监控AI决策的执行过程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6380" y="283464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53263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54880" y="3611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触发人工干预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4023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发现异常时自动触发人工干预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260604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5220" y="283464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7" name="Text 25"/>
          <p:cNvSpPr/>
          <p:nvPr/>
        </p:nvSpPr>
        <p:spPr>
          <a:xfrm>
            <a:off x="74752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03720" y="3611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确保可追溯性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22008" y="4023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确保决策可追溯和可纠正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1234440"/>
            <a:ext cx="731520" cy="731520"/>
          </a:xfrm>
          <a:prstGeom prst="ellipse">
            <a:avLst/>
          </a:prstGeom>
          <a:solidFill>
            <a:srgbClr val="1A1A1A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1371600"/>
            <a:ext cx="457200" cy="457200"/>
          </a:xfrm>
          <a:prstGeom prst="ellipse">
            <a:avLst/>
          </a:prstGeom>
          <a:solidFill>
            <a:srgbClr val="1A1A1A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护栏设计的三个要素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256032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6916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246888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规则要素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明确什么能做、什么不能做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71600"/>
            <a:ext cx="256032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6916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43400" y="246888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2044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监控要素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实时跟踪决策过程和结果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371600"/>
            <a:ext cx="2560320" cy="7315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16916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223760" y="246888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干预要素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4652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发现异常时的处理机制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08960" y="2807208"/>
            <a:ext cx="2286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9320" y="2807208"/>
            <a:ext cx="2286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升级路径的触发条件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自动触发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AI检测到异常模式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决策偏差超阈值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52044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数据质量异常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人工触发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74720" y="26974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员工申诉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管理者质疑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52044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突发事件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0" y="141732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定时触发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5080" y="26974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定期审查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310896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周期性评估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升级路径的设计方法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4173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定义触发条件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什么情况需要升级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286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确定升级路径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谁先收到通知，谁最终决策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286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9377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4173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设定响应时限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不同级别有不同的处理时间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2237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0" y="14173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记录与复盘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每次升级都留有记录用于改进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四级升级路径详解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0372" y="1600200"/>
            <a:ext cx="36576" cy="3657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097280"/>
            <a:ext cx="7132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143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1234440"/>
            <a:ext cx="18288" cy="32004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1430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基础问题解答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标准流程处理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80%问题当场解决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10972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B8102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" y="2468880"/>
            <a:ext cx="36576" cy="3657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965960"/>
            <a:ext cx="7132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高级客服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6080" y="2103120"/>
            <a:ext cx="18288" cy="32004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2011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复杂问题跟进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技术指导支持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专项技能培训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19659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" y="3337560"/>
            <a:ext cx="36576" cy="3657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2834640"/>
            <a:ext cx="7132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54480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专家团队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26080" y="2971800"/>
            <a:ext cx="18288" cy="32004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疑难杂症处理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深度技术分析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系统性问题反馈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28346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4A474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371600" y="3703320"/>
            <a:ext cx="7132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55448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926080" y="3840480"/>
            <a:ext cx="18288" cy="32004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3" name="Text 31"/>
          <p:cNvSpPr/>
          <p:nvPr/>
        </p:nvSpPr>
        <p:spPr>
          <a:xfrm>
            <a:off x="3108960" y="3749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重大决策升级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资源协调调配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战略优化建议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38160" y="3703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升级原则：每级处理时限内未解决，自动升级至下一级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升级路径决策树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188720"/>
            <a:ext cx="146304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828800"/>
            <a:ext cx="0" cy="36576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194560"/>
            <a:ext cx="3108960" cy="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194560"/>
            <a:ext cx="0" cy="27432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194560"/>
            <a:ext cx="0" cy="27432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194560"/>
            <a:ext cx="1280160" cy="5486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1280160" cy="5486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低置信度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&lt;90%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743200"/>
            <a:ext cx="0" cy="45720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3200400"/>
            <a:ext cx="457200" cy="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3200400"/>
            <a:ext cx="-1554480" cy="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3200400"/>
            <a:ext cx="0" cy="25146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3200400"/>
            <a:ext cx="0" cy="25146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743200"/>
            <a:ext cx="0" cy="45720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200400"/>
            <a:ext cx="-457200" cy="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3200400"/>
            <a:ext cx="-2468880" cy="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200400"/>
            <a:ext cx="0" cy="25146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3200400"/>
            <a:ext cx="0" cy="251460"/>
          </a:xfrm>
          <a:prstGeom prst="line">
            <a:avLst/>
          </a:prstGeom>
          <a:noFill/>
          <a:ln w="19050">
            <a:solidFill>
              <a:srgbClr val="4A4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00400"/>
            <a:ext cx="1280160" cy="50292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200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AI自动执行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200400"/>
            <a:ext cx="1280160" cy="502920"/>
          </a:xfrm>
          <a:prstGeom prst="ellipse">
            <a:avLst/>
          </a:prstGeom>
          <a:solidFill>
            <a:srgbClr val="B81025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200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1280160" cy="50292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0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3200400"/>
            <a:ext cx="1280160" cy="502920"/>
          </a:xfrm>
          <a:prstGeom prst="ellipse">
            <a:avLst/>
          </a:prstGeom>
          <a:solidFill>
            <a:srgbClr val="1A1A1A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200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人工决策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20624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决策节点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420624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315468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高置信度分支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4206240"/>
            <a:ext cx="228600" cy="22860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8" name="Text 36"/>
          <p:cNvSpPr/>
          <p:nvPr/>
        </p:nvSpPr>
        <p:spPr>
          <a:xfrm>
            <a:off x="525780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低置信度分支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40880" y="4206240"/>
            <a:ext cx="228600" cy="2286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40" name="Text 38"/>
          <p:cNvSpPr/>
          <p:nvPr/>
        </p:nvSpPr>
        <p:spPr>
          <a:xfrm>
            <a:off x="736092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26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1A1A">
              <a:alpha val="1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526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核心原则：AI置信度是升级路径的触发器，而非替代人责任的借口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案例：护栏失效与升级成功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7764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24712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24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护栏失效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规则模糊：边界条件未明确界定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监控缺失：异常行为未触发警报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干预滞后：问题升级通道堵塞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D4122B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90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后果：决策失控，风险扩散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05156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051560"/>
            <a:ext cx="397764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1124712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124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升级成功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74920" y="169164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规则清晰：边界条件明确可量化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74920" y="246888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实时监控：异常秒级触发预警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324612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2356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快速干预：升级通道畅通有保障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83480" y="40690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0690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结果：风险可控，决策安全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9144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根据事项重要性划分决策级别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35608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280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645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建立有效的风险防控机制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明确触发条件和响应时限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715768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案例验证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9260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通过真实案例加深理解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D4122B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核心：建立完善的决策分级与护栏机制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实战演练介绍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真实案例深度解读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7373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2514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情境模拟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志愿填报场景模拟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64592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17373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制定个性化方案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645920"/>
            <a:ext cx="822960" cy="82296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7373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66560" y="2514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复盘总结优化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2039112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2039112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2039112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3832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520440"/>
            <a:ext cx="137160" cy="1371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演练目标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掌握志愿填报的核心决策框架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学会分析不同方案的利弊得失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提升与孩子的沟通质量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为自己的团队做决策分级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350008"/>
            <a:ext cx="5120640" cy="54864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828800"/>
            <a:ext cx="1097280" cy="109728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8288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团队成员自主决定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828800"/>
            <a:ext cx="1097280" cy="1097280"/>
          </a:xfrm>
          <a:prstGeom prst="ellipse">
            <a:avLst/>
          </a:prstGeom>
          <a:solidFill>
            <a:srgbClr val="B8102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8288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团队负责人决定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1097280" cy="109728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部门负责人决定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→ 高风险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87952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14800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明确各层级决策范围，避免过度上报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07992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434840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根据团队成熟度动态调整决策权限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28032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754880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重大决策保留审批机制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实战工作表使用说明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527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填写考生号、姓名、分数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" y="1737360"/>
            <a:ext cx="27432" cy="4114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风险测评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完成五道风险偏好测试题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" y="2651760"/>
            <a:ext cx="27432" cy="4114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院校筛选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355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根据分数筛选目标院校范围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" y="3566160"/>
            <a:ext cx="27432" cy="4114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志愿排序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按冲稳保原则安排志愿顺序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1234440"/>
            <a:ext cx="3017520" cy="3337560"/>
          </a:xfrm>
          <a:prstGeom prst="roundRect">
            <a:avLst>
              <a:gd name="adj" fmla="val 3636"/>
            </a:avLst>
          </a:prstGeom>
          <a:solidFill>
            <a:srgbClr val="D4122B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12280" y="141732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521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233172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240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每步操作前先保存草稿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283464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风险测评结果仅供參考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33756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志愿填报截止前2小时完成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38404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3749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打印前检查页面设置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8229600" cy="27432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列出团队所有绩效决策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将过去一年团队做出的所有绩效相关决策一一列出，包括晋升、调薪、绩效评级、奖金分配等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182880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晋升决策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谁被晋升，晋升理由是否充分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82880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调薪决策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调薪幅度与绩效是否匹配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82880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绩效评级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评级结果是否公正透明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82880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奖金分配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奖金与贡献度是否成正比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D4122B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打开绩效系统，导出年度绩效数据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按时间线梳理每个绩效决策的时间、对象、结果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标注每个决策当时的背景和依据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从三个核心维度对每个决策进行全面评估，识别潜在问题和改进机会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公正性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决策过程是否公开透明，标准是否统一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87452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决策依据是否充分，信息是否完整准确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87452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决策结果是否达到预期目标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D4122B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86200"/>
            <a:ext cx="73152" cy="9144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综合三个维度的评分，生成决策质量矩阵，识别需要重点关注的决策项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D41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步骤三：四类分级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根据风险等级和可逆性，将绩效决策分为四类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" y="1828800"/>
            <a:ext cx="594360" cy="5943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不可逆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54680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裁员决策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薪酬调整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岗位任命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24328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7268" y="1828800"/>
            <a:ext cx="594360" cy="5943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328726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24328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可逆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98648" y="292608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807208" y="315468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2990088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跨部门调岗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07208" y="347472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2990088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07208" y="379476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2990088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晋升提名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91456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54396" y="1828800"/>
            <a:ext cx="594360" cy="5943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454396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91456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不可逆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65776" y="292608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974336" y="315468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5" name="Text 33"/>
          <p:cNvSpPr/>
          <p:nvPr/>
        </p:nvSpPr>
        <p:spPr>
          <a:xfrm>
            <a:off x="5157216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年度评优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74336" y="347472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157216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培训安排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74336" y="379476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9" name="Text 37"/>
          <p:cNvSpPr/>
          <p:nvPr/>
        </p:nvSpPr>
        <p:spPr>
          <a:xfrm>
            <a:off x="5157216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58584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1524" y="1828800"/>
            <a:ext cx="594360" cy="59436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42" name="Text 40"/>
          <p:cNvSpPr/>
          <p:nvPr/>
        </p:nvSpPr>
        <p:spPr>
          <a:xfrm>
            <a:off x="7621524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958584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可逆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32904" y="292608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45" name="Shape 43"/>
          <p:cNvSpPr/>
          <p:nvPr/>
        </p:nvSpPr>
        <p:spPr>
          <a:xfrm>
            <a:off x="7141464" y="3154680"/>
            <a:ext cx="91440" cy="9144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46" name="Text 44"/>
          <p:cNvSpPr/>
          <p:nvPr/>
        </p:nvSpPr>
        <p:spPr>
          <a:xfrm>
            <a:off x="7324344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请假审批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41464" y="3474720"/>
            <a:ext cx="91440" cy="9144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48" name="Text 46"/>
          <p:cNvSpPr/>
          <p:nvPr/>
        </p:nvSpPr>
        <p:spPr>
          <a:xfrm>
            <a:off x="7324344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简单奖惩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141464" y="3794760"/>
            <a:ext cx="91440" cy="9144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50" name="Text 48"/>
          <p:cNvSpPr/>
          <p:nvPr/>
        </p:nvSpPr>
        <p:spPr>
          <a:xfrm>
            <a:off x="7324344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日常调度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4122B"/>
          </a:solidFill>
          <a:ln/>
        </p:spPr>
      </p:sp>
      <p:sp>
        <p:nvSpPr>
          <p:cNvPr id="52" name="Shape 50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300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提示：先为每个决策打上 A/B/C/D 标签，再针对性设计人机协作方式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步骤四：人机边界设计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Human-Machine Boundary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91440" cy="10972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明确哪些决策必须由人类完成，哪些可以由AI辅助或独立执行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43200"/>
            <a:ext cx="91440" cy="10972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责任归属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确定每个决策节点的责任人，建立清晰的责任追溯机制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91440" cy="10972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干预机制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设计人类干预的触发条件和介入方式，确保关键节点可控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边界光谱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1828800"/>
            <a:ext cx="1463040" cy="1463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8288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2377440"/>
            <a:ext cx="182880" cy="1828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715" y="2360295"/>
            <a:ext cx="217170" cy="21717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8" name="Shape 26"/>
          <p:cNvSpPr/>
          <p:nvPr/>
        </p:nvSpPr>
        <p:spPr>
          <a:xfrm>
            <a:off x="7143750" y="2343150"/>
            <a:ext cx="251460" cy="2514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Shape 27"/>
          <p:cNvSpPr/>
          <p:nvPr/>
        </p:nvSpPr>
        <p:spPr>
          <a:xfrm>
            <a:off x="7423785" y="2326005"/>
            <a:ext cx="285750" cy="28575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Shape 28"/>
          <p:cNvSpPr/>
          <p:nvPr/>
        </p:nvSpPr>
        <p:spPr>
          <a:xfrm>
            <a:off x="7703820" y="2308860"/>
            <a:ext cx="32004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1828800"/>
            <a:ext cx="1463040" cy="14630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18288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人类主导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AI主导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84048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D4122B">
              <a:alpha val="50000"/>
            </a:srgbClr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40690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关键原则：人类始终保留最终否决权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即使AI完成99%的决策，最后1%的人类判断才是责任归属的终点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步骤五：护栏设定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决策的质量保障机制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" y="1728216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4A4748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260604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1" name="Shape 9"/>
          <p:cNvSpPr/>
          <p:nvPr/>
        </p:nvSpPr>
        <p:spPr>
          <a:xfrm>
            <a:off x="1440180" y="201168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4401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87452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边界设定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AI 可独立决策的范围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74136" y="1728216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4A4748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1691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691640"/>
            <a:ext cx="260604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0540" y="201168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1" name="Text 19"/>
          <p:cNvSpPr/>
          <p:nvPr/>
        </p:nvSpPr>
        <p:spPr>
          <a:xfrm>
            <a:off x="43205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87452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监控机制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7472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实时追踪 AI 决策执行情况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54496" y="1728216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4A4748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691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691640"/>
            <a:ext cx="260604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9" name="Shape 27"/>
          <p:cNvSpPr/>
          <p:nvPr/>
        </p:nvSpPr>
        <p:spPr>
          <a:xfrm>
            <a:off x="7200900" y="201168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0" name="Text 28"/>
          <p:cNvSpPr/>
          <p:nvPr/>
        </p:nvSpPr>
        <p:spPr>
          <a:xfrm>
            <a:off x="72009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187452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干预触发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异常情况下快速人工介入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A1A1A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4297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护栏不是限制 AI，而是让 AI 决策更安全、更可控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升级路径规划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" y="1920240"/>
            <a:ext cx="36576" cy="2286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现状评估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709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了解当前所处阶段和基础条件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2606040"/>
            <a:ext cx="36576" cy="2286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目标确定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395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明确想要达到的升级目标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" y="3291840"/>
            <a:ext cx="36576" cy="2286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081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规划从现状到目标的路线图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8952" y="3977640"/>
            <a:ext cx="36576" cy="2286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里程碑设定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767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设置阶段性检查点和验收标准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资源准备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453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配置所需的时间、资金和支持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417320"/>
            <a:ext cx="2743200" cy="91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1691640"/>
            <a:ext cx="548640" cy="5486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264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升级不是突变，而是持续迭代的过程。每一步都要稳扎稳打，避免跳跃式升级带来的风险。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小组分享与反馈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0" y="411480"/>
            <a:ext cx="320040" cy="3200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" name="Shape 3"/>
          <p:cNvSpPr/>
          <p:nvPr/>
        </p:nvSpPr>
        <p:spPr>
          <a:xfrm>
            <a:off x="5349240" y="50292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365760"/>
            <a:ext cx="274320" cy="27432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讨论步骤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每组分享自己的决策分级方案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其他小组提供反馈和建议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讨论人机协作中的挑战和解决方案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4630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23560" y="1719072"/>
            <a:ext cx="402336" cy="402336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最大的挑战是什么？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2560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2816352"/>
            <a:ext cx="402336" cy="402336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2816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最成功的实践是什么？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3657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23560" y="3913632"/>
            <a:ext cx="402336" cy="402336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3913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2200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需要哪些支持？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27432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"/>
            <a:ext cx="1097280" cy="1097280"/>
          </a:xfrm>
          <a:prstGeom prst="ellipse">
            <a:avLst/>
          </a:prstGeom>
          <a:solidFill>
            <a:srgbClr val="D4122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1005840"/>
            <a:ext cx="731520" cy="731520"/>
          </a:xfrm>
          <a:prstGeom prst="ellipse">
            <a:avLst/>
          </a:prstGeom>
          <a:solidFill>
            <a:srgbClr val="B8102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0"/>
            <a:ext cx="548640" cy="548640"/>
          </a:xfrm>
          <a:prstGeom prst="ellipse">
            <a:avLst/>
          </a:prstGeom>
          <a:solidFill>
            <a:srgbClr val="1A1A1A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840480"/>
            <a:ext cx="914400" cy="914400"/>
          </a:xfrm>
          <a:prstGeom prst="ellipse">
            <a:avLst/>
          </a:prstGeom>
          <a:solidFill>
            <a:srgbClr val="B81025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1A1A1A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"/>
            <a:ext cx="109728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实战成果展示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31520" y="1280160"/>
            <a:ext cx="914400" cy="9144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377440" y="128016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0312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023360" y="1280160"/>
            <a:ext cx="914400" cy="9144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4904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669280" y="128016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9496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377440" y="3291840"/>
            <a:ext cx="914400" cy="9144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1031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023360" y="329184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74904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创新项目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669280" y="3291840"/>
            <a:ext cx="914400" cy="9144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39496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行业奖项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858000" y="2194560"/>
            <a:ext cx="1828800" cy="2377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2194560"/>
            <a:ext cx="73152" cy="23774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7" name="Text 45"/>
          <p:cNvSpPr/>
          <p:nvPr/>
        </p:nvSpPr>
        <p:spPr>
          <a:xfrm>
            <a:off x="694944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94944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94944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B81025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模块五小结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878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68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决策分级需要结合实际情况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6878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68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23444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护栏设计要明确三要素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36042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升级路径要清晰可执行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12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36042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926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团队协作是落地关键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课程全景回顾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219456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2194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2331720"/>
            <a:ext cx="1005840" cy="10058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906311"/>
            <a:ext cx="1005840" cy="10058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906311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906311"/>
            <a:ext cx="1005840" cy="10058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06311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2331720"/>
            <a:ext cx="1005840" cy="10058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0662" y="3566160"/>
            <a:ext cx="1097280" cy="10972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7" name="Text 15"/>
          <p:cNvSpPr/>
          <p:nvPr/>
        </p:nvSpPr>
        <p:spPr>
          <a:xfrm>
            <a:off x="6240662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4846320"/>
            <a:ext cx="1097280" cy="10972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4846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06058" y="3566160"/>
            <a:ext cx="1097280" cy="10972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1" name="Text 19"/>
          <p:cNvSpPr/>
          <p:nvPr/>
        </p:nvSpPr>
        <p:spPr>
          <a:xfrm>
            <a:off x="1806058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06058" y="1005840"/>
            <a:ext cx="1097280" cy="10972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3" name="Text 21"/>
          <p:cNvSpPr/>
          <p:nvPr/>
        </p:nvSpPr>
        <p:spPr>
          <a:xfrm>
            <a:off x="1806058" y="1005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291840"/>
            <a:ext cx="18288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5" name="Shape 23"/>
          <p:cNvSpPr/>
          <p:nvPr/>
        </p:nvSpPr>
        <p:spPr>
          <a:xfrm>
            <a:off x="4206240" y="1866431"/>
            <a:ext cx="18288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1866431"/>
            <a:ext cx="18288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3291840"/>
            <a:ext cx="18288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1148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D4122B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14800"/>
            <a:ext cx="73152" cy="8229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沟通的本质是摆信息差，人机协作是AI时代新技能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41605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8181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七步决策分级法总结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决策分类是应对不确定性的核心能力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明确决策要解决的问题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收集信息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为判断提供事实基础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315468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8036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评估风险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判断不可逆程度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06908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分级确认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确定A/B/C/D类型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553212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选择流程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对应级别的处理路径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4652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执行监控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确保按方案执行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0" y="15544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1691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3524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4380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沉淀经验改进分级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0120" y="1874520"/>
            <a:ext cx="7132320" cy="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200400"/>
            <a:ext cx="73152" cy="12801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四类决策分级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72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高+不可逆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72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人类决策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97480" y="356616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26974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1546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高+可逆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546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AI+监督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3566160"/>
            <a:ext cx="411480" cy="4114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120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低+不可逆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120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AI建议+确认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12280" y="3566160"/>
            <a:ext cx="411480" cy="4114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D类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2694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低+可逆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2694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AI全自动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学员心得分享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来自学员的真实反馈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691640"/>
            <a:ext cx="731520" cy="7315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王学员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28803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4122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沟通训练营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之前总觉得沟通就是说话，现在才明白倾听和确认才是关键。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李学员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0" y="28803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4122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谈判技巧班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42900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最实用的部分是那个「分歧确认清单」，每次谈判前过一遍，心里特别有底。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691640"/>
            <a:ext cx="731520" cy="73152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赵学员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28803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4122B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1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1792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以前遇到冲突就回避，现在能区分「事实分歧」和「价值分歧」了。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从今天开始，每天进步一点点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9164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9476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89788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822960" cy="8229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9164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79476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89788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949440" y="2606040"/>
            <a:ext cx="822960" cy="8229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69164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6" name="Text 34"/>
          <p:cNvSpPr/>
          <p:nvPr/>
        </p:nvSpPr>
        <p:spPr>
          <a:xfrm>
            <a:off x="16916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74320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79476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0" name="Text 38"/>
          <p:cNvSpPr/>
          <p:nvPr/>
        </p:nvSpPr>
        <p:spPr>
          <a:xfrm>
            <a:off x="379476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84632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89788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4" name="Text 42"/>
          <p:cNvSpPr/>
          <p:nvPr/>
        </p:nvSpPr>
        <p:spPr>
          <a:xfrm>
            <a:off x="58978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949440" y="3657600"/>
            <a:ext cx="822960" cy="8229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64008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69164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0" name="Text 48"/>
          <p:cNvSpPr/>
          <p:nvPr/>
        </p:nvSpPr>
        <p:spPr>
          <a:xfrm>
            <a:off x="169164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274320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379476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4" name="Text 52"/>
          <p:cNvSpPr/>
          <p:nvPr/>
        </p:nvSpPr>
        <p:spPr>
          <a:xfrm>
            <a:off x="379476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484632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89788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8" name="Text 56"/>
          <p:cNvSpPr/>
          <p:nvPr/>
        </p:nvSpPr>
        <p:spPr>
          <a:xfrm>
            <a:off x="589788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694944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60" name="Text 58"/>
          <p:cNvSpPr/>
          <p:nvPr/>
        </p:nvSpPr>
        <p:spPr>
          <a:xfrm>
            <a:off x="694944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800100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62" name="Text 60"/>
          <p:cNvSpPr/>
          <p:nvPr/>
        </p:nvSpPr>
        <p:spPr>
          <a:xfrm>
            <a:off x="800100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9052560" y="4709160"/>
            <a:ext cx="822960" cy="82296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64" name="Text 62"/>
          <p:cNvSpPr/>
          <p:nvPr/>
        </p:nvSpPr>
        <p:spPr>
          <a:xfrm>
            <a:off x="905256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457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720" y="4892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46720" y="228600"/>
            <a:ext cx="731520" cy="731520"/>
          </a:xfrm>
          <a:prstGeom prst="ellipse">
            <a:avLst/>
          </a:prstGeom>
          <a:solidFill>
            <a:srgbClr val="D4122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548640"/>
            <a:ext cx="457200" cy="457200"/>
          </a:xfrm>
          <a:prstGeom prst="ellipse">
            <a:avLst/>
          </a:prstGeom>
          <a:solidFill>
            <a:srgbClr val="B81025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573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57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0972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我承诺在提出建议前，充分了解客户真实需求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717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0116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我承诺在分歧面前，先倾听再表达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0861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我承诺坦诚面对自己的判断失误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0005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00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8404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我承诺用对方能接受的方式沟通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943600" y="4892040"/>
            <a:ext cx="2743200" cy="18288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承诺人签名：__________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日期：__________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-182880" y="4206240"/>
            <a:ext cx="548640" cy="54864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" y="4572000"/>
            <a:ext cx="365760" cy="365760"/>
          </a:xfrm>
          <a:prstGeom prst="ellipse">
            <a:avLst/>
          </a:prstGeom>
          <a:solidFill>
            <a:srgbClr val="B81025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2286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39572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80720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产业判断看四年后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倒推规划从十年后往回算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3016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AI与人的分工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1097280"/>
            <a:ext cx="265176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模块二：协作与沟通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157276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198424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志愿表是第一次为自己做主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39572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353872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家长沟通是摆信息差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80720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冲突处理让两边都被听见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21868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353872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A4748"/>
          </a:solidFill>
          <a:ln/>
        </p:spPr>
      </p:sp>
      <p:sp>
        <p:nvSpPr>
          <p:cNvPr id="36" name="Shape 34"/>
          <p:cNvSpPr/>
          <p:nvPr/>
        </p:nvSpPr>
        <p:spPr>
          <a:xfrm>
            <a:off x="6035040" y="1097280"/>
            <a:ext cx="2651760" cy="228600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157276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替人做决定是最大的风险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198424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239572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AI时代判断力更值钱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80720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5" name="Text 43"/>
          <p:cNvSpPr/>
          <p:nvPr/>
        </p:nvSpPr>
        <p:spPr>
          <a:xfrm>
            <a:off x="632764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从"算得对"到"看得准"是道坎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4709160"/>
            <a:ext cx="457200" cy="3200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推荐阅读与资源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持续成长，从阅读开始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5486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《故事思维》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Annette Simmons 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4708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560320"/>
            <a:ext cx="3474720" cy="914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560320"/>
            <a:ext cx="5486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《非暴力沟通》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Marshall Rosenberg 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03580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3035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749040"/>
            <a:ext cx="3474720" cy="914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3749040"/>
            <a:ext cx="5486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《人性的弱点》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Dale Carnegie 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2245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224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46304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2080" y="1371600"/>
            <a:ext cx="3474720" cy="914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1371600"/>
            <a:ext cx="5486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《思考，快与慢》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Daniel Kahneman 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184708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8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决策力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65176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2560320"/>
            <a:ext cx="3474720" cy="914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212080" y="2560320"/>
            <a:ext cx="5486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《原子习惯》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James Clear 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303580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81025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3035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执行力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212080" y="3749040"/>
            <a:ext cx="3474720" cy="9144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48" name="Shape 46"/>
          <p:cNvSpPr/>
          <p:nvPr/>
        </p:nvSpPr>
        <p:spPr>
          <a:xfrm>
            <a:off x="5212080" y="3749040"/>
            <a:ext cx="54864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Text 47"/>
          <p:cNvSpPr/>
          <p:nvPr/>
        </p:nvSpPr>
        <p:spPr>
          <a:xfrm>
            <a:off x="539496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《原则》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94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 Dalio 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680960" y="42245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81025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4224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思维力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提示：每本书都值得反复阅读，结合实践加深理解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延伸学习路径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持续精进的四个阶段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100584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基础夯实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框架搭建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2395728"/>
            <a:ext cx="146304" cy="146304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82880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965960"/>
            <a:ext cx="100584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395728"/>
            <a:ext cx="146304" cy="146304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82880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1965960"/>
            <a:ext cx="100584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技巧打磨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沟通话术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专项训练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395728"/>
            <a:ext cx="146304" cy="146304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82880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965960"/>
            <a:ext cx="100584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122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思维进阶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决策升级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推荐资源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行业报告研读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446227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案例库持续更新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46227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定期复盘工作坊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D4122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1A1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731520"/>
            <a:ext cx="731520" cy="731520"/>
          </a:xfrm>
          <a:prstGeom prst="ellipse">
            <a:avLst/>
          </a:prstGeom>
          <a:solidFill>
            <a:srgbClr val="B8102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25603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3840480"/>
            <a:ext cx="274320" cy="274320"/>
          </a:xfrm>
          <a:prstGeom prst="ellipse">
            <a:avLst/>
          </a:prstGeom>
          <a:solidFill>
            <a:srgbClr val="1A1A1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27432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402336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402336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4023360"/>
            <a:ext cx="228600" cy="22860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A类决策：深入案例分析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什么是A类决策？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2011680"/>
            <a:ext cx="548640" cy="54864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914400" cy="91440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011680"/>
            <a:ext cx="457200" cy="54864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0" y="1874520"/>
            <a:ext cx="640080" cy="640080"/>
          </a:xfrm>
          <a:prstGeom prst="ellipse">
            <a:avLst/>
          </a:prstGeom>
          <a:solidFill>
            <a:srgbClr val="B8102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2240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7373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志愿填报是典型的A类决策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383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替孩子做决定，本质上是剥夺了孩子"为自己承担后果"的成长机会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遇到困难时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推卸责任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411480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8620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无法建立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自我效能感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411480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长期依赖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外部决策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731520" cy="73152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548640"/>
            <a:ext cx="457200" cy="457200"/>
          </a:xfrm>
          <a:prstGeom prst="ellipse">
            <a:avLst/>
          </a:prstGeom>
          <a:solidFill>
            <a:srgbClr val="B8102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B类决策：深入案例分析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463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高风险+可逆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08760"/>
            <a:ext cx="73152" cy="100584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某科技公司中层管理岗重组：AI系统建议合并三个团队，人力总监在AI方案基础上增加了「过渡期关怀」模块，最终方案员工满意度提升40%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274320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201168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数据分析与方案生成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风险评估与模拟预测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多方案对比参考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74320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160" y="3566160"/>
            <a:ext cx="201168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最终方案审批权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权衡利益相关方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把控干预时机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2743200"/>
            <a:ext cx="365760" cy="3657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3566160"/>
            <a:ext cx="201168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不是替代，是增强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AI跑腿，人类决策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可逆性保障信任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617720"/>
            <a:ext cx="274320" cy="2743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核心：AI负责推演，人类负责决断 — 权限边界清晰才能协作顺畅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C类决策：深入案例分析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60120"/>
            <a:ext cx="73152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考生高考失利，家长在未充分沟通的情况下，替他选择了复读并填报志愿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011680"/>
            <a:ext cx="548640" cy="5486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决策时刻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家长认为「这是为他好」，单方面决定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260604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9202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011680"/>
            <a:ext cx="548640" cy="5486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考生表面配合，内心抵触，学习动力不足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260604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9202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2011680"/>
            <a:ext cx="548640" cy="5486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6364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结果呈现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复读效果不理想，亲子关系出现裂痕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C类决策的本质：用「爱」和「责任」的名义，剥夺了当事人的主体性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6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286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工作坊与角色扮演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工作坊目标与准备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五环节实战演练，全面掌握智能体协同治理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熟练运用F2/F3工具进行决策分级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掌握F4工具设计权责分配方案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建立信任机制设计思维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15468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提升跨部门协调能力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37160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371600"/>
            <a:ext cx="73152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课前准备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92024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复盘模块一至四核心知识点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33172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携带企业实际案例资料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74320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准备名片用于小组组建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15468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笔记本电脑安装最新工具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总时长：4小时  |  五个环节  |  角色扮演 + 工具实操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常见错误与避免方法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640080" cy="25603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51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033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只看分数，忽视孩子真实需求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1463040"/>
            <a:ext cx="640080" cy="256032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444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先问「这个选择谁获益、获益多少」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17320" y="1307592"/>
            <a:ext cx="18288" cy="15544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2331720"/>
            <a:ext cx="640080" cy="25603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331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3134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把转介绍当成核心目标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7280" y="2743200"/>
            <a:ext cx="640080" cy="256032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743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724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口碑是做好判断后的自然副产品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17320" y="2587752"/>
            <a:ext cx="18288" cy="15544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3611880"/>
            <a:ext cx="640080" cy="256032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611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3593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用别人的成功案例套自己孩子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97280" y="4023360"/>
            <a:ext cx="640080" cy="256032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每个孩子的路径都要单独设计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417320" y="3867912"/>
            <a:ext cx="18288" cy="15544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34840"/>
            <a:ext cx="73152" cy="5943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43484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核心原则：每次判断都问自己「这是为了谁的好」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实操练习：场景模拟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场景一：口碑判断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463040"/>
            <a:ext cx="7406640" cy="6400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463040"/>
            <a:ext cx="54864" cy="6400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46304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家长问：这个老师好不好？您会怎么回答？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场景二：转介绍边界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2697480"/>
            <a:ext cx="7406640" cy="6400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2697480"/>
            <a:ext cx="54864" cy="6400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269748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客户想用「成功案例」换取优惠，您怎么处理？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场景三：时间检验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3931920"/>
            <a:ext cx="7406640" cy="6400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80160" y="3931920"/>
            <a:ext cx="54864" cy="6400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393192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三年前的选择被证明「错误」，家长回来质问，您怎么应对？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每个场景背后都涉及「真实判断」与「口碑维护」的平衡点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选定核心演练场景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讲师根据汇报情况，选择2-3个典型场景进入后续深度演练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场景选定标准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116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具有普遍代表性，学员能举一反三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874520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0116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涉及多方利益，需要权衡取舍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0116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可操作性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能够在工作坊时间内完成深度分析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演练场景模板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745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涉及部门：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AI应用环节：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45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核心决策点：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决策分级实战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高风险+不可逆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人类决策主导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91440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5156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高风险+可逆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AI辅助+监督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1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05156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C类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低风险+不可逆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AI建议+确认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91440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51560"/>
            <a:ext cx="640080" cy="6400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低风险+可逆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AI独立执行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743200"/>
            <a:ext cx="73152" cy="7315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实操流程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选定场景 → 逐项分析 → 使用F2/F3工具定级 → 小组讨论确认 → 讲师点评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环节产出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每组完成「决策分级表」：对选定场景的每个决策点进行A/B/C/D分类，明确人机分工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使用F2/F3工具进行分级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决策分级二维矩阵与检查清单配合使用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97764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F2 - 决策分级矩阵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影响范围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201168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01168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B81025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影响时长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265176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65176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B8102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329184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D4122B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329184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B81025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3977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371600"/>
            <a:ext cx="397764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371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F3 - 分级检查清单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1965960"/>
            <a:ext cx="228600" cy="2286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是否涉及人员重大权益？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350008"/>
            <a:ext cx="228600" cy="2286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错误决策是否难以挽回？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734056"/>
            <a:ext cx="228600" cy="2286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734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2715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是否有明确的法律/合规要求？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118104"/>
            <a:ext cx="228600" cy="2286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099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涉及金额或资源是否重大？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502152"/>
            <a:ext cx="228600" cy="2286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502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3483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影响是否具有长期不可逆性？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5个问题中有3个及以上「是」，则该决策至少为B类，需人类参与最终决策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小组汇报与讲师点评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每组5分钟汇报 + 3分钟点评与互动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决策分级结果展示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分级依据与逻辑说明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15468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遇到的问题与困惑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37160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371600"/>
            <a:ext cx="73152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讲师点评重点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92024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分级逻辑是否自洽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33172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工具使用是否规范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74320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人机分工是否合理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15468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问题分析是否深入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点评的目的是帮助学员深化理解，而非评判对错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权责设计实战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0116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05156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负责具体操作执行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914400"/>
            <a:ext cx="20116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负责最终批准决策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20116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1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05156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提供专业意见建议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914400"/>
            <a:ext cx="20116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4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51560"/>
            <a:ext cx="640080" cy="6400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及时知会相关方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606040"/>
            <a:ext cx="73152" cy="7315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实操流程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选定场景 → 识别决策节点 → 明确各角色权责 → 使用F4工具 → 小组讨论 → 讲师点评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环节产出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每组完成「权责分配表」：明确每个决策节点的RACI角色配置，清晰界定人机协作边界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使用F4工具设计权责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RACI矩阵工具在人机协同场景中的应用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决策节点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AI系统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人类主管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执行人员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最终审批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知会对象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6F3E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招聘筛选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1920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绩效评估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2468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F6F3E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培训安排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017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017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017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017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3017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R=执行  A=审批  C=咨询  I=知会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角色扮演与模拟对话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模拟真实场景，演练人机协作沟通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55448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AI系统扮演者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按照设定的AI逻辑输出建议，接受人类质疑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554480"/>
            <a:ext cx="914400" cy="9144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人类主管扮演者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审阅AI建议，做出最终决策或否决AI方案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554480"/>
            <a:ext cx="914400" cy="9144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记录沟通过程中的关键节点和问题点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7315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演练场景示例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AI招聘系统推荐了一位候选人，但人类主管发现该候选人的背景信息存在疑虑...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B8102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信任机制设计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122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05156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AI决策过程可解释，结果可追溯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051560"/>
            <a:ext cx="914400" cy="9144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可纠正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人类可以修正AI错误，有申诉通道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12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051560"/>
            <a:ext cx="914400" cy="9144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持续验证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定期评估AI表现，动态调整权限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D4122B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51760"/>
            <a:ext cx="73152" cy="7315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实操流程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分析场景 → 识别信任风险点 → 设计信任机制 → 沟通方案制定 → 审计计划完善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环节产出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每组完成「信任机制设计方案」：包含透明度措施、纠错机制、验证周期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我的行动承诺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每天做一件事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哪怕只有15分钟，也要为长期目标推进一点点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176272"/>
            <a:ext cx="7498080" cy="0"/>
          </a:xfrm>
          <a:prstGeom prst="line">
            <a:avLst/>
          </a:prstGeom>
          <a:noFill/>
          <a:ln w="12700">
            <a:solidFill>
              <a:srgbClr val="D41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不只是记录结论，更重要的是当时的判断依据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3044952"/>
            <a:ext cx="7498080" cy="0"/>
          </a:xfrm>
          <a:prstGeom prst="line">
            <a:avLst/>
          </a:prstGeom>
          <a:noFill/>
          <a:ln w="12700">
            <a:solidFill>
              <a:srgbClr val="D412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定期复盘验证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015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每周回顾：哪些判断对了，哪些错了，为什么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913632"/>
            <a:ext cx="7498080" cy="0"/>
          </a:xfrm>
          <a:prstGeom prst="line">
            <a:avLst/>
          </a:prstGeom>
          <a:noFill/>
          <a:ln w="12700">
            <a:solidFill>
              <a:srgbClr val="D412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7764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主动寻求反馈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不等别人来找你，主动问：我哪里可以做得更好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709160"/>
            <a:ext cx="274320" cy="274320"/>
          </a:xfrm>
          <a:prstGeom prst="ellipse">
            <a:avLst/>
          </a:prstGeom>
          <a:solidFill>
            <a:srgbClr val="1A1A1A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457200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承诺人签字：________________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B8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2286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39572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产业判断看四年后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21868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倒推规划从十年后往回算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630168"/>
            <a:ext cx="91440" cy="914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AI与人的分工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868680"/>
            <a:ext cx="265176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4612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1097280"/>
            <a:ext cx="265176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模块二：协作与沟通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157276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198424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353872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志愿表是第一次为自己做主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39572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家长沟通是摆信息差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80720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353872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冲突处理让两边都被听见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321868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353872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868680"/>
            <a:ext cx="2651760" cy="457200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504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A4748"/>
          </a:solidFill>
          <a:ln/>
        </p:spPr>
      </p:sp>
      <p:sp>
        <p:nvSpPr>
          <p:cNvPr id="39" name="Shape 37"/>
          <p:cNvSpPr/>
          <p:nvPr/>
        </p:nvSpPr>
        <p:spPr>
          <a:xfrm>
            <a:off x="6035040" y="1097280"/>
            <a:ext cx="2651760" cy="228600"/>
          </a:xfrm>
          <a:prstGeom prst="rect">
            <a:avLst/>
          </a:prstGeom>
          <a:solidFill>
            <a:srgbClr val="4A4748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72200" y="157276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替人做决定是最大的风险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198424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239572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AI时代判断力更值钱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2807208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8" name="Text 46"/>
          <p:cNvSpPr/>
          <p:nvPr/>
        </p:nvSpPr>
        <p:spPr>
          <a:xfrm>
            <a:off x="632764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从"算得对"到"看得准"是道坎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0" y="-731520"/>
            <a:ext cx="2011680" cy="201168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365760" y="4389120"/>
            <a:ext cx="914400" cy="914400"/>
          </a:xfrm>
          <a:prstGeom prst="ellipse">
            <a:avLst/>
          </a:prstGeom>
          <a:solidFill>
            <a:srgbClr val="B81025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推荐阅读与资源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82880"/>
            <a:ext cx="731520" cy="731520"/>
          </a:xfrm>
          <a:prstGeom prst="ellipse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548640"/>
            <a:ext cx="457200" cy="457200"/>
          </a:xfrm>
          <a:prstGeom prst="ellipse">
            <a:avLst/>
          </a:prstGeom>
          <a:solidFill>
            <a:srgbClr val="B81025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书籍推荐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2103120" cy="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688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《志愿填报300问》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基础工具书，快速建立认知框架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《大学城》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了解各层级高校特点与差异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411480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《就业蓝皮书》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年度产业人才需求分析报告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20440" y="2194560"/>
            <a:ext cx="2103120" cy="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24688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各省考试院官网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2651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官方招生政策与计划数据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29184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阳光高考平台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高校专业库与录取统计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411480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第三方数据验证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交叉比对，降低信息误差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4088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264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2194560"/>
            <a:ext cx="2103120" cy="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46888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产业新闻追踪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2651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政策变化、行业发展动态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329184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案例复盘总结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每季整理典型案例库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4114800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同行交流社群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信息互通，经验共享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延伸学习路径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1691640"/>
            <a:ext cx="6766560" cy="36576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914400" cy="91440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B810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544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基础入门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手册核心章节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914400" cy="91440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B810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5544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实战积累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案例分析与练习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1325880"/>
            <a:ext cx="914400" cy="91440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B810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15544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进阶提升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高阶技巧与方法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325880"/>
            <a:ext cx="914400" cy="91440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B810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5544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资源拓展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工具与数据源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1325880"/>
            <a:ext cx="914400" cy="91440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B810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15544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行业动态追踪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2651760" cy="15544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200400"/>
            <a:ext cx="54864" cy="15544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推荐书单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3657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《金字塔原理》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《思考的技术》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《麦肯锡方法》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200400"/>
            <a:ext cx="2651760" cy="15544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291840" y="3200400"/>
            <a:ext cx="54864" cy="15544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工具清单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74720" y="3657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数据查询网站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可视化工具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200400"/>
            <a:ext cx="2651760" cy="1554480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40" name="Shape 38"/>
          <p:cNvSpPr/>
          <p:nvPr/>
        </p:nvSpPr>
        <p:spPr>
          <a:xfrm>
            <a:off x="6126480" y="3200400"/>
            <a:ext cx="54864" cy="15544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社区交流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09360" y="3657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行业社群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线下活动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同行交流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748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365760"/>
            <a:ext cx="1097280" cy="1097280"/>
          </a:xfrm>
          <a:prstGeom prst="ellipse">
            <a:avLst/>
          </a:prstGeom>
          <a:solidFill>
            <a:srgbClr val="FFCDD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731520" cy="731520"/>
          </a:xfrm>
          <a:prstGeom prst="ellipse">
            <a:avLst/>
          </a:prstGeom>
          <a:solidFill>
            <a:srgbClr val="EF535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" y="731520"/>
            <a:ext cx="457200" cy="457200"/>
          </a:xfrm>
          <a:prstGeom prst="ellipse">
            <a:avLst/>
          </a:prstGeom>
          <a:solidFill>
            <a:srgbClr val="C6282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840480"/>
            <a:ext cx="1371600" cy="1371600"/>
          </a:xfrm>
          <a:prstGeom prst="ellipse">
            <a:avLst/>
          </a:prstGeom>
          <a:solidFill>
            <a:srgbClr val="FFCDD2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3200400"/>
            <a:ext cx="822960" cy="822960"/>
          </a:xfrm>
          <a:prstGeom prst="ellipse">
            <a:avLst/>
          </a:prstGeom>
          <a:solidFill>
            <a:srgbClr val="EF5350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4572000"/>
            <a:ext cx="548640" cy="548640"/>
          </a:xfrm>
          <a:prstGeom prst="ellipse">
            <a:avLst/>
          </a:prstGeom>
          <a:solidFill>
            <a:srgbClr val="C6282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371600"/>
            <a:ext cx="2194560" cy="21945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FFCD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1645920"/>
            <a:ext cx="1645920" cy="1645920"/>
          </a:xfrm>
          <a:prstGeom prst="ellipse">
            <a:avLst/>
          </a:prstGeom>
          <a:solidFill>
            <a:srgbClr val="FAFAFA"/>
          </a:solidFill>
          <a:ln w="25400">
            <a:solidFill>
              <a:srgbClr val="EF535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0" y="3931920"/>
            <a:ext cx="1828800" cy="73152"/>
          </a:xfrm>
          <a:prstGeom prst="ellipse">
            <a:avLst/>
          </a:prstGeom>
          <a:solidFill>
            <a:srgbClr val="EF5350"/>
          </a:solidFill>
          <a:ln/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A类决策：深入案例分析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通过具体案例，深入理解高风险决策的判断框架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1280160" cy="1280160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64592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服务对象面临关键选择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280160" cy="1280160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164592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信息收集与风险评估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463040"/>
            <a:ext cx="1280160" cy="1280160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645920"/>
            <a:ext cx="914400" cy="9144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结果复盘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决策效果与经验沉淀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103120"/>
            <a:ext cx="1463040" cy="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120640" y="2103120"/>
            <a:ext cx="1463040" cy="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" y="3383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83280"/>
            <a:ext cx="39319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A：关键转折点决策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服务对象在职业选择关键期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选择稳定平台 vs 创业机会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风险承受度决定了决策空间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383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383280"/>
            <a:ext cx="3931920" cy="36576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B：资源分配决策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多方资源有限需取舍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优先保障核心需求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聚焦关键目标，避免资源分散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B类决策：深入案例分析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731520" cy="7315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考生：理科分数565分，省排名2.3万名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家长坚持要报临床医学，孩子自己对计算机更感兴趣。父亲是当地医院副院长，认为医学资源更稳定。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7269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信息收集：发现孩子的计算机兴趣并非一时兴起，而是有完整的学习经历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56032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560320"/>
            <a:ext cx="7269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风险评估：医学培养周期长，依赖家庭资源；计算机更看重个人能力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926080"/>
            <a:ext cx="7269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沟通策略：分别与家长和孩子深度沟通，找到共同点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41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52044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最终孩子选择了计算机科学与技术专业，家长最终理解并支持。关键在于把选择权还给孩子，让他为自己的决定负责。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498848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4389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B类决策的核心：不是替人做决定，而是帮他们看清每个选择的长期后果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C类决策：深入案例分析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信息有限、时间紧迫情况下的快速决策模式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考生小明：分数边缘、志愿纠结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56232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分数刚过一本线5分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家长希望稳、孩子想冲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109728" cy="10972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信息渠道有限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C类决策路径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783080"/>
            <a:ext cx="292608" cy="29260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783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确定风险底线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194560"/>
            <a:ext cx="292608" cy="29260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194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找最大公约数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292608" cy="292608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606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快速验证可行性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D412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32004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在家长和孩子分歧中找到共同目标：既保底又保留可能性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C类决策核心：不是选最优解，而是选各方都能接受的可行解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核心知识点全景回顾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构建跨公司AI协同治理的完整知识图谱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37160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51560" cy="18288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45059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AI决策的本质是概率推断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95351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人类判断的本质是价值权衡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45643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边界划分的核心是责任归属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12344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88920" y="137160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2240280"/>
            <a:ext cx="1051560" cy="18288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245059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2377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A类：高风险必须人类决策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295351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880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B类：AI建议+人类确认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45643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383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C类：AI自主+事后复盘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12344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137160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06240" y="2240280"/>
            <a:ext cx="1051560" cy="18288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69080" y="245059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2377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发起方：定义边界与底线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69080" y="295351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2880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协作方：执行与反馈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69080" y="345643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3383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治理方：仲裁与优化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12344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137160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0" y="2240280"/>
            <a:ext cx="1051560" cy="18288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06440" y="245059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2377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透明度：决策链路可追溯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06440" y="295351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2880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公平性：利益各方可检验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345643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3383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可纠错：问题发生可修正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12344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001000" y="137160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9808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680960" y="2240280"/>
            <a:ext cx="1051560" cy="18288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43800" y="245059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5" name="Text 53"/>
          <p:cNvSpPr/>
          <p:nvPr/>
        </p:nvSpPr>
        <p:spPr>
          <a:xfrm>
            <a:off x="7680960" y="2377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工作坊场景化练习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43800" y="295351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7" name="Text 55"/>
          <p:cNvSpPr/>
          <p:nvPr/>
        </p:nvSpPr>
        <p:spPr>
          <a:xfrm>
            <a:off x="7680960" y="2880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真实案例分组讨论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543800" y="3456432"/>
            <a:ext cx="73152" cy="7315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9" name="Text 57"/>
          <p:cNvSpPr/>
          <p:nvPr/>
        </p:nvSpPr>
        <p:spPr>
          <a:xfrm>
            <a:off x="7680960" y="3383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行动计划制定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核心框架：边界清晰 → 权责明确 → 信任可建 → 协同有效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关键工具速查表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课程中提到的核心工具与方法论一览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工具/方法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关键价值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三维度决策分级模型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18288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任何AI参与决策的场景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快速判断决策归属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solidFill>
            <a:srgbClr val="F6F3E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四象限权限矩阵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237744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权责不清时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明确各方权限边界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决策链路图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292608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9748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需要向他人解释时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提升透明度与可信度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solidFill>
            <a:srgbClr val="F6F3E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337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风险底线清单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34747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A类决策前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337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确保不越过红线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事后复盘模板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97480" y="40233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697480" y="4023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83280" y="3886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C类/B类决策后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持续优化决策质量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6F3E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信任建设检查表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97480" y="45720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B81025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697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83280" y="4434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建立协作前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43600" y="4434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评估信任基础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983480"/>
            <a:ext cx="8229600" cy="18288"/>
          </a:xfrm>
          <a:prstGeom prst="rect">
            <a:avLst/>
          </a:prstGeom>
          <a:solidFill>
            <a:srgbClr val="4A4748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D4122B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提示：建议将本表打印或保存，作为日常工作的快速参考工具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将课程知识转化为实际行动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3716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认知落地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920240" cy="18288"/>
          </a:xfrm>
          <a:prstGeom prst="rect">
            <a:avLst/>
          </a:prstGeom>
          <a:solidFill>
            <a:srgbClr val="B81025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514600"/>
            <a:ext cx="256032" cy="25603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梳理当前工作中的AI决策场景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256032" cy="25603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使用三维度模型分级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256032" cy="25603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识别高风险决策边界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2344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13716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D4122B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制度设计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0" y="2286000"/>
            <a:ext cx="1920240" cy="18288"/>
          </a:xfrm>
          <a:prstGeom prst="rect">
            <a:avLst/>
          </a:prstGeom>
          <a:solidFill>
            <a:srgbClr val="D4122B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2514600"/>
            <a:ext cx="256032" cy="256032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制定权责清单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3063240"/>
            <a:ext cx="256032" cy="256032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9476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设计决策流程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3611880"/>
            <a:ext cx="256032" cy="256032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611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9476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建立审批机制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2344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13716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92240" y="2286000"/>
            <a:ext cx="1920240" cy="18288"/>
          </a:xfrm>
          <a:prstGeom prst="rect">
            <a:avLst/>
          </a:prstGeom>
          <a:solidFill>
            <a:srgbClr val="1A1A1A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514600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试点运行新流程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3063240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2940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收集反馈意见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3611880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3611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2940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迭代优化方案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27248" y="251460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961888" y="251460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每周复盘一次进度，第30天做整体总结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行为承诺与签署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郑重承诺，将课程理念付诸实践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1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我承诺在跨公司AI协作中，坚持以下原则：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边界清晰 · 权责明确 · 信任可建 · 协同有效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在启动任何AI协作前，明确界定决策边界与责任归属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73552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对AI提供的数据和建议进行独立判断，不盲目依赖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76472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建立透明的决策链路，确保各方可追溯、可审计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79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为AI决策保留人工干预通道，确保可纠错、可控制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签署人：________________    日期：________________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延展学习资源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持续深化跨公司AI协同治理的知识体系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28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AI伦理与治理专项课程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跨组织协作管理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算法透明度与可解释AI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行业报告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92040" y="187452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AI治理白皮书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10312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跨公司协作案例集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33172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行业最佳实践报告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28346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工具平台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333756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决策分级辅助工具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56616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520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权责矩阵生成器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79476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复盘模板库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6974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8346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社区交流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892040" y="333756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AI治理交流群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356616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520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案例研讨会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3794760"/>
            <a:ext cx="54864" cy="54864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专家答疑渠道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扫码获取完整资源包（课程PPT、工具模板、延伸阅读清单）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推荐阅读（5本书）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深化对AI治理、协作与伦理的理解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53312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5331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《Principles of AI Governance》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Stanford HAI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389888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B81025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3898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AI治理框架与原则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10312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D4122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03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29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《The Ethical Algorithm》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04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Michael Kearns &amp; Aaron Roth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139696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D4122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1396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算法伦理与公平性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852928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5292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7797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《Human Compatible》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0540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Stuart Russell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889504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1A1A1A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8895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AI与人类价值对齐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3814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602736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6027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35295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《AI 2041》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8039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李开复 &amp; 陈楸帆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3639312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B81025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639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AI未来十年预判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8795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4352544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D4122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5254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8872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《The Age of AI》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553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Henry Kissinger 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38912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D4122B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3891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AI时代的国际治理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相关课程推荐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绩效改进系列课 · 其他精彩课程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B8102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提示词工程实战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掌握高效AI交互的核心技巧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A1A1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716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AI项目需求分析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从业务问题到AI解决方案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137160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A1A1A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3716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92608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337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AI辅助决策方法论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用AI提升判断质量与效率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292608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A1A1A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9260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7889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92608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337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AI团队协作与管理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3703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人机混合团队的高效管理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292608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D4122B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29260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筹备中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扫码了解完整课程体系，开启AI能力进阶之路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课程核心框架图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智能体协同治理的完整知识体系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B810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AI决策本质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概率推断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人类判断本质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价值权衡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边界划分核心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责任归属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D412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03120" y="2514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人类决策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11880" y="2514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4A4748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1188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AI建议+确认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2514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AI自主+复盘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2514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D4122B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D类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AI自主执行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3383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703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860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三方权责 L1-L4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9768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9768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透明·公平·可纠错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复盘·迭代·升级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43434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6F3EF"/>
          </a:solidFill>
          <a:ln w="19050">
            <a:solidFill>
              <a:srgbClr val="B810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目标：边界清晰 → 权责明确 → 信任可建 → 协同有效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A4748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建立人机互信机制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20440" y="1828800"/>
            <a:ext cx="1645920" cy="1645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35204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39479" y="3312681"/>
            <a:ext cx="128016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7" name="Shape 5"/>
          <p:cNvSpPr/>
          <p:nvPr/>
        </p:nvSpPr>
        <p:spPr>
          <a:xfrm>
            <a:off x="2950959" y="3404121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8" name="Text 6"/>
          <p:cNvSpPr/>
          <p:nvPr/>
        </p:nvSpPr>
        <p:spPr>
          <a:xfrm>
            <a:off x="2585199" y="3815601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9479" y="4025913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明确告知AI的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能力与局限性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67161" y="3312681"/>
            <a:ext cx="128016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1" name="Shape 9"/>
          <p:cNvSpPr/>
          <p:nvPr/>
        </p:nvSpPr>
        <p:spPr>
          <a:xfrm>
            <a:off x="5278641" y="3404121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4912881" y="3815601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7161" y="4025913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可追溯理解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39479" y="984999"/>
            <a:ext cx="128016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50959" y="1076439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2585199" y="1487919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9479" y="1698231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输出稳定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符合预期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67161" y="984999"/>
            <a:ext cx="1280160" cy="100584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8641" y="1076439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2881" y="1487919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7161" y="1698231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持续兑现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承诺价值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64493" y="3298338"/>
            <a:ext cx="32329" cy="32329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989978" y="3298338"/>
            <a:ext cx="32329" cy="32329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64493" y="1972853"/>
            <a:ext cx="32329" cy="32329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989978" y="1972853"/>
            <a:ext cx="32329" cy="32329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4251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设定明确边界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438912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持续反馈优化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38912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渐进式建立信任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持续优化与迭代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64592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D4122B">
              <a:alpha val="50000"/>
            </a:srgbClr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920240"/>
            <a:ext cx="1645920" cy="1645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9202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822960" cy="8229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205740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2651760"/>
            <a:ext cx="822960" cy="8229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347472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3749040"/>
            <a:ext cx="822960" cy="8229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749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457200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2651760"/>
            <a:ext cx="822960" cy="82296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65960" y="347472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优化原则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178308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1691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小步快跑，避免大步冒进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2468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数据驱动，量化效果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228600" cy="228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定期回顾，持续改进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173736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1691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建立反馈收集机制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5146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设定迭代周期（周/月）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追踪关键指标（KPI）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持续优化是AI方案成功的关键，而非一次性的技术实现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1280160"/>
            <a:ext cx="1371600" cy="1371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280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50876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本质是增强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3716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150876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508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29260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4440" y="306324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063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566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提示词设计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9260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306324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063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566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1828800"/>
            <a:ext cx="18288" cy="36576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303520" y="1828800"/>
            <a:ext cx="457200" cy="36576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926080" y="3200400"/>
            <a:ext cx="18288" cy="36576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303520" y="3200400"/>
            <a:ext cx="457200" cy="36576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掌握AI赋能核心，实现人机协作价值最大化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280160"/>
            <a:ext cx="3291840" cy="3291840"/>
          </a:xfrm>
          <a:prstGeom prst="ellipse">
            <a:avLst/>
          </a:prstGeom>
          <a:solidFill>
            <a:srgbClr val="D4122B">
              <a:alpha val="60000"/>
            </a:srgbClr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1A1A1A">
              <a:alpha val="90000"/>
            </a:srgbClr>
          </a:solidFill>
          <a:ln w="25400">
            <a:solidFill>
              <a:srgbClr val="1A1A1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931920" y="2286000"/>
            <a:ext cx="1280160" cy="12801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2860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3258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AI方案设计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52360" y="132588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783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关键考量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37947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规划方法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65760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37947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434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1828800"/>
            <a:ext cx="0" cy="9144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0" y="1828800"/>
            <a:ext cx="0" cy="9144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103120" y="3291840"/>
            <a:ext cx="0" cy="9144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00800" y="3291840"/>
            <a:ext cx="0" cy="9144"/>
          </a:xfrm>
          <a:prstGeom prst="line">
            <a:avLst/>
          </a:prstGeom>
          <a:noFill/>
          <a:ln w="19050">
            <a:solidFill>
              <a:srgbClr val="B8102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温故而知新：回顾重点，夯实AI方案设计能力基础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463040"/>
            <a:ext cx="1828800" cy="18288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1280160" cy="128016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1280160" cy="128016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2926080"/>
            <a:ext cx="1280160" cy="128016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926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1280160" cy="128016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26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178308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78308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269748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697480"/>
            <a:ext cx="91440" cy="9144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09728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097280"/>
            <a:ext cx="109728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1719072"/>
            <a:ext cx="182880" cy="1828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164592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理论基础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542032"/>
            <a:ext cx="182880" cy="1828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46888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364992"/>
            <a:ext cx="182880" cy="1828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109728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1097280"/>
            <a:ext cx="1097280" cy="4114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169164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16916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164592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251460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246888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实践方法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333756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92440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后续步骤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掌握重点，巩固学习成果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19456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280160"/>
            <a:ext cx="2194560" cy="21945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280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8745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29184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37947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343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37947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343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201168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201168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310896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310896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8404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840480"/>
            <a:ext cx="109728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学习要点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系统梳理模块核心内容，巩固知识体系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840480"/>
            <a:ext cx="109728" cy="10972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4251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回顾重点，检验理解效果，准备进入下一模块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19456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280160"/>
            <a:ext cx="2194560" cy="21945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280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8745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29184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37947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343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1463040" cy="146304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379476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343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201168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201168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310896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3108960"/>
            <a:ext cx="137160" cy="13716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8404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840480"/>
            <a:ext cx="109728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学习要点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系统梳理模块核心内容，巩固知识体系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840480"/>
            <a:ext cx="109728" cy="10972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4251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回顾重点，检验理解效果，准备进入下一模块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决策分级在企业管理中的应用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0" y="1097280"/>
            <a:ext cx="2286000" cy="2286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9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长期规划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全局视角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1828800" cy="182880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资源配置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0"/>
            <a:ext cx="1828800" cy="182880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运营决策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日常执行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1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流程优化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560320"/>
            <a:ext cx="731520" cy="45720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669280" y="2560320"/>
            <a:ext cx="731520" cy="457200"/>
          </a:xfrm>
          <a:prstGeom prst="line">
            <a:avLst/>
          </a:prstGeom>
          <a:noFill/>
          <a:ln w="25400">
            <a:solidFill>
              <a:srgbClr val="D4122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决策分级特征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160020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战略、全局、长期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01168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战术、部门、中期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42316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运营、流程、短期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164592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战略规划与投资决策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205740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组织架构与流程变革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2468880"/>
            <a:ext cx="228600" cy="2286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日常运营与绩效管理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D4122B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核心原则：分级授权 | 权责对等 | 逐级汇报 | 效率与风险平衡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跨部门协作中的决策分级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371600"/>
            <a:ext cx="3291840" cy="3291840"/>
          </a:xfrm>
          <a:prstGeom prst="ellipse">
            <a:avLst/>
          </a:prstGeom>
          <a:solidFill>
            <a:srgbClr val="D4122B">
              <a:alpha val="60000"/>
            </a:srgbClr>
          </a:solidFill>
          <a:ln w="25400">
            <a:solidFill>
              <a:srgbClr val="1A1A1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383280" y="1828800"/>
            <a:ext cx="2377440" cy="2377440"/>
          </a:xfrm>
          <a:prstGeom prst="ellipse">
            <a:avLst/>
          </a:prstGeom>
          <a:solidFill>
            <a:srgbClr val="B81025">
              <a:alpha val="70000"/>
            </a:srgbClr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2286000"/>
            <a:ext cx="1463040" cy="1463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1463040"/>
            <a:ext cx="1005840" cy="100584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182880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463040"/>
            <a:ext cx="1005840" cy="10058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82880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3474720"/>
            <a:ext cx="1005840" cy="100584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474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84048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3474720"/>
            <a:ext cx="1005840" cy="100584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474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3840480"/>
            <a:ext cx="182880" cy="1828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决策权限矩阵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18288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跨部门重大决策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2240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高管层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697480"/>
            <a:ext cx="274320" cy="2743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战术级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部门协同决策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3108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部门负责人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566160"/>
            <a:ext cx="274320" cy="27432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执行级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日常运营决策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" y="3977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项目经理/专员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协作原则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00800" y="173736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560" y="1691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信息对称，减少沟通损耗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25146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6656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责任明确，边界清晰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656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逐级升级，避免越俎代庖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分级明确才能协作高效，避免"责任真空"与"权力重叠"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决策分级的组织文化支撑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611880" y="1280160"/>
            <a:ext cx="1005840" cy="10058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361188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2286000"/>
            <a:ext cx="0" cy="457200"/>
          </a:xfrm>
          <a:prstGeom prst="line">
            <a:avLst/>
          </a:prstGeom>
          <a:noFill/>
          <a:ln w="19050">
            <a:solidFill>
              <a:srgbClr val="4A474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2331720"/>
            <a:ext cx="1371600" cy="13716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3703320"/>
            <a:ext cx="0" cy="457200"/>
          </a:xfrm>
          <a:prstGeom prst="line">
            <a:avLst/>
          </a:prstGeom>
          <a:noFill/>
          <a:ln w="19050">
            <a:solidFill>
              <a:srgbClr val="4A474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0" y="3520440"/>
            <a:ext cx="1828800" cy="182880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520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0020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授权文化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信任员工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适度放权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1920240"/>
            <a:ext cx="1737360" cy="0"/>
          </a:xfrm>
          <a:prstGeom prst="line">
            <a:avLst/>
          </a:prstGeom>
          <a:noFill/>
          <a:ln w="12700">
            <a:solidFill>
              <a:srgbClr val="B81025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1097280" y="2560320"/>
            <a:ext cx="1097280" cy="109728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278892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责任文化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2971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明确职责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担责到位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108960"/>
            <a:ext cx="1737360" cy="0"/>
          </a:xfrm>
          <a:prstGeom prst="line">
            <a:avLst/>
          </a:prstGeom>
          <a:noFill/>
          <a:ln w="12700">
            <a:solidFill>
              <a:srgbClr val="B81025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1097280" y="3749040"/>
            <a:ext cx="1097280" cy="1097280"/>
          </a:xfrm>
          <a:prstGeom prst="ellipse">
            <a:avLst/>
          </a:prstGeom>
          <a:solidFill>
            <a:srgbClr val="D4122B"/>
          </a:solidFill>
          <a:ln w="25400">
            <a:solidFill>
              <a:srgbClr val="B8102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3977640"/>
            <a:ext cx="457200" cy="45720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860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学习文化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允许试错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4297680"/>
            <a:ext cx="1737360" cy="0"/>
          </a:xfrm>
          <a:prstGeom prst="line">
            <a:avLst/>
          </a:prstGeom>
          <a:noFill/>
          <a:ln w="12700">
            <a:solidFill>
              <a:srgbClr val="B81025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6035040" y="118872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188720"/>
            <a:ext cx="27432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文化支撑要素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178308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决策透明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信息共享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246888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15468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154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培训赋能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能力升级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3840480"/>
            <a:ext cx="411480" cy="4114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6656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容错机制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创新鼓励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文化是决策分级落地的土壤，授权与责任并重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决策分级的绩效指标设计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188720"/>
            <a:ext cx="640080" cy="64008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日常事务决策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96312"/>
            <a:ext cx="164592" cy="164592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164592" cy="164592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34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19272"/>
            <a:ext cx="164592" cy="164592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46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标准化执行度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105156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88720"/>
            <a:ext cx="640080" cy="64008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专业判断决策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0" y="228600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49631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方案通过率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290779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2834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319272"/>
            <a:ext cx="164592" cy="164592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6" name="Text 24"/>
          <p:cNvSpPr/>
          <p:nvPr/>
        </p:nvSpPr>
        <p:spPr>
          <a:xfrm>
            <a:off x="3063240" y="3246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专业成长度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05156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1887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776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战略方向决策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640" y="228600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2496312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907792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2834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资源利用效率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3319272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3246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团队协同指数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105156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80960" y="1188720"/>
            <a:ext cx="640080" cy="640080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3232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危机应对决策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315200" y="2286000"/>
            <a:ext cx="1371600" cy="18288"/>
          </a:xfrm>
          <a:prstGeom prst="rect">
            <a:avLst/>
          </a:prstGeom>
          <a:solidFill>
            <a:srgbClr val="D4122B"/>
          </a:solidFill>
          <a:ln/>
        </p:spPr>
      </p:sp>
      <p:sp>
        <p:nvSpPr>
          <p:cNvPr id="43" name="Shape 41"/>
          <p:cNvSpPr/>
          <p:nvPr/>
        </p:nvSpPr>
        <p:spPr>
          <a:xfrm>
            <a:off x="7223760" y="2496312"/>
            <a:ext cx="164592" cy="164592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4" name="Text 42"/>
          <p:cNvSpPr/>
          <p:nvPr/>
        </p:nvSpPr>
        <p:spPr>
          <a:xfrm>
            <a:off x="745236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问题解决速度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23760" y="2907792"/>
            <a:ext cx="164592" cy="164592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6" name="Text 44"/>
          <p:cNvSpPr/>
          <p:nvPr/>
        </p:nvSpPr>
        <p:spPr>
          <a:xfrm>
            <a:off x="7452360" y="2834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损失控制率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23760" y="3319272"/>
            <a:ext cx="164592" cy="164592"/>
          </a:xfrm>
          <a:prstGeom prst="ellipse">
            <a:avLst/>
          </a:prstGeom>
          <a:solidFill>
            <a:srgbClr val="4A4748"/>
          </a:solidFill>
          <a:ln/>
        </p:spPr>
      </p:sp>
      <p:sp>
        <p:nvSpPr>
          <p:cNvPr id="48" name="Text 46"/>
          <p:cNvSpPr/>
          <p:nvPr/>
        </p:nvSpPr>
        <p:spPr>
          <a:xfrm>
            <a:off x="7452360" y="3246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应急响应能力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3794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D4122B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371600" y="4297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过程指标为主，量化执行质量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663440" y="4297680"/>
            <a:ext cx="502920" cy="50292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6" name="Text 54"/>
          <p:cNvSpPr/>
          <p:nvPr/>
        </p:nvSpPr>
        <p:spPr>
          <a:xfrm>
            <a:off x="46634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L3-L4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03520" y="4297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结果指标为主，衡量决策效果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决策分级的技术支持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0" y="1188720"/>
            <a:ext cx="2286000" cy="2286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188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1645920" cy="1645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1645920" cy="1645920"/>
          </a:xfrm>
          <a:prstGeom prst="ellipse">
            <a:avLst/>
          </a:prstGeom>
          <a:solidFill>
            <a:srgbClr val="B81025"/>
          </a:solidFill>
          <a:ln w="12700">
            <a:solidFill>
              <a:srgbClr val="B810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战术决策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1097280" cy="109728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931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4114800"/>
            <a:ext cx="1097280" cy="109728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114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4114800"/>
            <a:ext cx="1097280" cy="109728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14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3931920"/>
            <a:ext cx="1097280" cy="1097280"/>
          </a:xfrm>
          <a:prstGeom prst="ellipse">
            <a:avLst/>
          </a:prstGeom>
          <a:solidFill>
            <a:srgbClr val="4A4748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931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560320"/>
            <a:ext cx="457200" cy="0"/>
          </a:xfrm>
          <a:prstGeom prst="line">
            <a:avLst/>
          </a:prstGeom>
          <a:noFill/>
          <a:ln w="25400">
            <a:solidFill>
              <a:srgbClr val="D412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560320"/>
            <a:ext cx="457200" cy="0"/>
          </a:xfrm>
          <a:prstGeom prst="line">
            <a:avLst/>
          </a:prstGeom>
          <a:noFill/>
          <a:ln w="25400">
            <a:solidFill>
              <a:srgbClr val="D41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566160"/>
            <a:ext cx="365760" cy="36576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3566160"/>
            <a:ext cx="182880" cy="45720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566160"/>
            <a:ext cx="182880" cy="45720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566160"/>
            <a:ext cx="365760" cy="365760"/>
          </a:xfrm>
          <a:prstGeom prst="line">
            <a:avLst/>
          </a:prstGeom>
          <a:noFill/>
          <a:ln w="19050">
            <a:solidFill>
              <a:srgbClr val="D412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0972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技术支撑体系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012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数据采集与处理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算法模型支撑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012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系统集成能力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10972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B81025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分级标准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1737360"/>
            <a:ext cx="45720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1737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全局性、长期性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2286000"/>
            <a:ext cx="45720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4944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局部性、中期性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2834640"/>
            <a:ext cx="457200" cy="320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4944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日常性、短期性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分级决策需要分级技术支撑，实现精准匹配与高效执行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1025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智能体协同治理</dc:title>
  <dc:subject>跨公司AI自主决策的边界怎么划</dc:subject>
  <dc:creator>罗宏伟</dc:creator>
  <cp:lastModifiedBy>罗宏伟</cp:lastModifiedBy>
  <cp:revision>1</cp:revision>
  <dcterms:created xsi:type="dcterms:W3CDTF">2026-08-06T16:19:14Z</dcterms:created>
  <dcterms:modified xsi:type="dcterms:W3CDTF">2026-08-06T16:19:14Z</dcterms:modified>
</cp:coreProperties>
</file>