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45720" cy="25603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D4D4D4">
              <a:alpha val="25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200400"/>
            <a:ext cx="1097280" cy="1097280"/>
          </a:xfrm>
          <a:prstGeom prst="ellipse">
            <a:avLst/>
          </a:prstGeom>
          <a:solidFill>
            <a:srgbClr val="C41E3A">
              <a:alpha val="4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4A4A4A">
              <a:alpha val="20000"/>
            </a:srgbClr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智能体协同治理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跨公司AI自主决策的边界怎么划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27432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绩效改进系列课 · 第8门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核心问题：哪些决策可以由AI自主完成，哪些必须由人类拍板？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663440"/>
            <a:ext cx="91440" cy="914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663440"/>
            <a:ext cx="91440" cy="91440"/>
          </a:xfrm>
          <a:prstGeom prst="ellipse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4663440"/>
            <a:ext cx="91440" cy="91440"/>
          </a:xfrm>
          <a:prstGeom prst="ellipse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08760" y="4663440"/>
            <a:ext cx="91440" cy="91440"/>
          </a:xfrm>
          <a:prstGeom prst="ellipse">
            <a:avLst/>
          </a:prstGeom>
          <a:solidFill>
            <a:srgbClr val="D4D4D4"/>
          </a:solidFill>
          <a:ln w="12700">
            <a:solidFill>
              <a:srgbClr val="D4D4D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课程结构导航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AI决策边界的本质理解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1280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4D4D4">
              <a:alpha val="3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280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502920" cy="5029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938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258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三维度四象限分级模型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2075688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4D4D4">
              <a:alpha val="3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0756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35分钟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502920" cy="5029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79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7340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0540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三方权责与L1-L4权限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2871216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4D4D4">
              <a:alpha val="3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8712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35分钟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75304"/>
            <a:ext cx="502920" cy="5029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5295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8496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透明度、公平性、可纠错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3666744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4D4D4">
              <a:alpha val="3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36667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70832"/>
            <a:ext cx="502920" cy="5029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4325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97280" y="4645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工作坊场景化练习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4462272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D4D4D4">
              <a:alpha val="3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44622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180分钟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1097280"/>
            <a:ext cx="36576" cy="3474720"/>
          </a:xfrm>
          <a:prstGeom prst="rect">
            <a:avLst/>
          </a:prstGeom>
          <a:solidFill>
            <a:srgbClr val="D4D4D4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0" y="2286000"/>
            <a:ext cx="1828800" cy="1828800"/>
          </a:xfrm>
          <a:prstGeom prst="ellipse">
            <a:avLst/>
          </a:prstGeom>
          <a:solidFill>
            <a:srgbClr val="D4D4D4">
              <a:alpha val="2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914400"/>
            <a:ext cx="1371600" cy="1371600"/>
          </a:xfrm>
          <a:prstGeom prst="ellipse">
            <a:avLst/>
          </a:prstGeom>
          <a:solidFill>
            <a:srgbClr val="C41E3A">
              <a:alpha val="1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跨公司AI协作时，哪些决策可以由AI自主完成，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哪些必须由人类拍板？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如何设计「AI建议、人类决策」的机制？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2918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342900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边界意识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明确AI能做什么、不能做什么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2918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342900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按风险、可逆性、急迫性分层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2918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42900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权责清晰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谁决策、谁负责、谁监督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跨公司AI协作的四个真实困境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采购超量事故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A公司AI向供应商B发送大额订单，超出授权额度，供应商备货后A公司无法取消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240280"/>
            <a:ext cx="548640" cy="228600"/>
          </a:xfrm>
          <a:prstGeom prst="rect">
            <a:avLst/>
          </a:prstGeom>
          <a:solidFill>
            <a:srgbClr val="D4D4D4">
              <a:alpha val="7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0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3444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100万库存积压，供应商关系受损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14300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43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定价权冲突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A公司AI根据市场数据调低价格，B公司AI同时调高价格，双方AI陷入死循环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240280"/>
            <a:ext cx="548640" cy="228600"/>
          </a:xfrm>
          <a:prstGeom prst="rect">
            <a:avLst/>
          </a:prstGeom>
          <a:solidFill>
            <a:srgbClr val="D4D4D4">
              <a:alpha val="7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2402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32120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客户困惑，品牌声誉受损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0632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063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数据泄露风险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A公司AI向B公司AI传输客户数据用于联合建模，数据用途超出原始范围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4160520"/>
            <a:ext cx="548640" cy="228600"/>
          </a:xfrm>
          <a:prstGeom prst="rect">
            <a:avLst/>
          </a:prstGeom>
          <a:solidFill>
            <a:srgbClr val="D4D4D4">
              <a:alpha val="7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60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3444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违反GDPR，面临巨额罚款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3931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0632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063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决策责任真空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9204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AI建议导致合作方损失，但合同未约定AI决策责任，各方互相推诿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4160520"/>
            <a:ext cx="548640" cy="228600"/>
          </a:xfrm>
          <a:prstGeom prst="rect">
            <a:avLst/>
          </a:prstGeom>
          <a:solidFill>
            <a:srgbClr val="D4D4D4">
              <a:alpha val="7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160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关系破裂，商业诉讼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传统做法的三种模式对比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2651760" cy="7315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全部人类决策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人工判断精准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责任清晰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效率低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无法应对大量决策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AI优势无法发挥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005840"/>
            <a:ext cx="265176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520440" y="1783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全部AI决策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616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效率极高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一致性高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风险不可控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责任真空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4434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员工抵触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100584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446520" y="1783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AI建议+人类确认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兼顾效率与安全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责任可追溯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员工接受度高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需要清晰边界设计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确认流程可能繁琐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4572000"/>
            <a:ext cx="73152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4480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本课程的解决思路概览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理解AI决策边界本质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94560" y="1188720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41732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860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三维度评估决策风险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931920" y="1188720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41732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02336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明确各方权限与责任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69280" y="1188720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41732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76072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6072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建立透明可纠错机制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406640" y="1188720"/>
            <a:ext cx="1554480" cy="21945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141732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9808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9808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场景化工作坊实践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不是简单地把决策分为"AI做"或"人类做"，而是设计一套机制，让AI和人类在各自擅长的领域发挥作用，实现真正的协同治理。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学员收益清单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分级模型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掌握三维度四象限决策分级方法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权责工具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获得L1-L4决策权限设计模板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诊断能力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学会诊断现有AI决策边界问题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实用表单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带走F1-F7全套工具表单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实战经验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通过工作坊演练场景化应用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778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合规知识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了解GDPR及中国AI合规要求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D4D4D4">
              <a:alpha val="3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完成课程后，学员将能够设计并落地跨公司AI协同治理方案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课程结构导航（详细版）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686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960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134416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C41E3A">
              <a:alpha val="2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3441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86868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AI决策三层边界 · 跨公司协作三大挑战 · 边界意识三层次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19072"/>
            <a:ext cx="73152" cy="7772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19072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18105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4440" y="219456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8B0000">
              <a:alpha val="20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1945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35分钟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171907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风险程度/可逆性/紧迫性 · 四象限决策模型 · 三维度分级矩阵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56946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569464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569464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26609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4440" y="304495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C41E3A">
              <a:alpha val="2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3044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35分钟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569464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三方权责模型 · L1-L4权限等级 · 四步权责设计法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19856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419856"/>
            <a:ext cx="73152" cy="7772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419856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35112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34440" y="389534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8B0000">
              <a:alpha val="20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38953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51760" y="3419856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AI决策信任三要素 · 算法审计框架 · 跨국合规要点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270248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70248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70248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234440" y="43616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34440" y="474573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C41E3A">
              <a:alpha val="2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7457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180分钟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427024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场景还原工作坊 · 决策分级实战 · 权责设计与角色扮演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4754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总时长约 295 分钟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课前自评引导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请先思考以下几个问题，带着你的答案进入今天的学习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265176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600200"/>
            <a:ext cx="822960" cy="822960"/>
          </a:xfrm>
          <a:prstGeom prst="ellipse">
            <a:avLst/>
          </a:prstGeom>
          <a:solidFill>
            <a:srgbClr val="D4D4D4">
              <a:alpha val="5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你目前如何判断哪些AI决策需要人工审核？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13258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325880"/>
            <a:ext cx="265176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600200"/>
            <a:ext cx="822960" cy="822960"/>
          </a:xfrm>
          <a:prstGeom prst="ellipse">
            <a:avLst/>
          </a:prstGeom>
          <a:solidFill>
            <a:srgbClr val="D4D4D4">
              <a:alpha val="5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5760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跨公司AI协作时遇到过哪些边界模糊的决策场景？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13258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325880"/>
            <a:ext cx="265176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60920" y="1600200"/>
            <a:ext cx="822960" cy="822960"/>
          </a:xfrm>
          <a:prstGeom prst="ellipse">
            <a:avLst/>
          </a:prstGeom>
          <a:solidFill>
            <a:srgbClr val="D4D4D4">
              <a:alpha val="5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629400" y="2606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2940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你认为AI和人类在决策上各自的优势是什么？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思考完毕后，可以举手与同伴分享你的观点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4D4D4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286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认知重建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AI决策边界的本质理解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4D4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学习目标：理解边界意识 · 识别协作挑战 · 建立分级思维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0" y="36576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365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基金分类概览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根据投资标的和风险收益特征分类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8590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1508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股票型基金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590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高风险高收益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5900" y="2103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</a:rPr>
              <a:t>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混合型基金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风险收益平衡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6060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4A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债券型基金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中风险中收益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0" y="26060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D4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2743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货币型基金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低风险低收益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7315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高收益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核心原则：风险与收益成正比 — 没有免费午餐，只有风险溢价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股票型基金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定义：80%以上资产投资于股票市场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886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240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收益潜力大，波动也大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737360"/>
            <a:ext cx="3886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205740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适合人群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2240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能承受较大波动，有一定投资经验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886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154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常见类型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指数基金、行业股票基金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2971800"/>
            <a:ext cx="3886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32918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收益预期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年化收益可达10%-20%或更高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注意：股票型基金净值波动较大，短期可能出现较大亏损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债券型基金 vs 货币型基金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0" y="1097280"/>
            <a:ext cx="0" cy="3200400"/>
          </a:xfrm>
          <a:prstGeom prst="line">
            <a:avLst/>
          </a:prstGeom>
          <a:noFill/>
          <a:ln w="25400">
            <a:solidFill>
              <a:srgbClr val="D4D4D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206240" y="246888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2062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4A4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债券型基金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7647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9842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年化3-6%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4505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700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136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3558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稳健型投资者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38221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0416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国债、企业债、可转债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D4D4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005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货币型基金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846320" y="169164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0680" y="17647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19842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年化2-3%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237744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24505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26700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极低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46320" y="306324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0680" y="3136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3558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现金管理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46320" y="3749040"/>
            <a:ext cx="3840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40680" y="38221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40680" y="40416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大额银行存款、短期债券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货币基金适合放置应急资金，债券基金适合追求稳定收益的投资者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6" name="Text 44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基金投资成本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了解这些费用，避免收益被侵蚀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533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申购费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买基金时的手续费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 - 1.5%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前端收费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3533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31920" y="1353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基金公司管理费用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年化 0.5% - 1.5%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474720" y="292608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8F8F8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按日计提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28016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3533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💵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1353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赎回费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0936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卖基金时的费用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持有越久越低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309360" y="292608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通常&lt;7天最高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示例：投入1万元，假设申购费1%+管理费1%/年+赎回费0.5% = 实际成本约250元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风险与收益的关系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核心原则：高风险 = 高收益潜力  |  低风险 = 稳定但收益有限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9144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0" cy="219456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77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低收益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840480"/>
            <a:ext cx="731520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3977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高收益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45920"/>
            <a:ext cx="3657600" cy="2194560"/>
          </a:xfrm>
          <a:prstGeom prst="rect">
            <a:avLst/>
          </a:prstGeom>
          <a:solidFill>
            <a:srgbClr val="8B0000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645920"/>
            <a:ext cx="3657600" cy="2194560"/>
          </a:xfrm>
          <a:prstGeom prst="rect">
            <a:avLst/>
          </a:prstGeom>
          <a:solidFill>
            <a:srgbClr val="C41E3A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3840480"/>
            <a:ext cx="3657600" cy="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840480"/>
            <a:ext cx="3657600" cy="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2011680"/>
            <a:ext cx="320040" cy="320040"/>
          </a:xfrm>
          <a:prstGeom prst="ellipse">
            <a:avLst/>
          </a:prstGeom>
          <a:solidFill>
            <a:srgbClr val="8B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2560320"/>
            <a:ext cx="320040" cy="320040"/>
          </a:xfrm>
          <a:prstGeom prst="ellipse">
            <a:avLst/>
          </a:prstGeom>
          <a:solidFill>
            <a:srgbClr val="C41E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108960"/>
            <a:ext cx="320040" cy="320040"/>
          </a:xfrm>
          <a:prstGeom prst="ellipse">
            <a:avLst/>
          </a:prstGeom>
          <a:solidFill>
            <a:srgbClr val="4A4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108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债券型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3474720"/>
            <a:ext cx="320040" cy="320040"/>
          </a:xfrm>
          <a:prstGeom prst="ellipse">
            <a:avLst/>
          </a:prstGeom>
          <a:solidFill>
            <a:srgbClr val="D4D4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货币型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3657600"/>
            <a:ext cx="6858000" cy="-2011680"/>
          </a:xfrm>
          <a:prstGeom prst="line">
            <a:avLst/>
          </a:prstGeom>
          <a:noFill/>
          <a:ln w="25400">
            <a:solidFill>
              <a:srgbClr val="C41E3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重要：追求高收益必须承受高波动；稳健型投资者应选择与自己风险承受能力匹配的基金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基金净值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基金净值 = 基金总资产 ÷ 份额总数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计算示例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买入时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净值 1.2 元/份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 1000 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566160" y="20574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 元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66160" y="2880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× 1000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126480" y="2057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净值涨到 1.5 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市值 1500 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盈利 +25%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8F8F8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净值高低不是判断基金好坏的唯一标准，关键是净值增长能力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净值会随基金盈亏而波动，低净值不代表便宜，高净值不代表贵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基金分红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229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将基金收益以现金或份额形式返还给投资者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两种分红方式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886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3886200" cy="45720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286000"/>
            <a:ext cx="3886200" cy="1828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💵 现金分红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方式：</a:t>
            </a:r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直接发放现金到账户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落袋为安，灵活使用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</a:t>
            </a:r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不再享受复利增长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2011680"/>
            <a:ext cx="38862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11680"/>
            <a:ext cx="388620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0600" y="2286000"/>
            <a:ext cx="3886200" cy="1828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0116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红利再投资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25603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方式：</a:t>
            </a:r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分红自动购买份额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份额增加，复利增长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</a:t>
            </a:r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份额分散，心理感受弱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重要提示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分红 ≠ 额外收益！只是资产形式转换：钱从基金资产变成现金/更多份额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申购与赎回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申购流程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资金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1234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12344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34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🏦 基金公司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09360" y="12344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234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获得份额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赎回流程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份额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34640" y="2606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383280" y="26060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4A4A4A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🏦 基金公司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60720" y="26060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309360" y="26060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资金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确认制度 (T+1 / T+2)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T日：</a:t>
            </a:r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提交申购/赎回申请当天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T+1/T+2日：</a:t>
            </a:r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确认份额/资金到账（货币基金T+1，股票基金通常T+2）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互动练习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182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基金分类练习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判断以下基金属于哪种类型？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43584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43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18872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主要投资国债、企业债的基金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1243584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8F8F8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2435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固定收益类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6537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0116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1956816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投资沪深300指数成分股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201168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8F8F8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3347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779776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779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724912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同时投资股票和债券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75120" y="2779776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8F8F8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7797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灵活配置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0156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54787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493008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投资大额银行存款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75120" y="354787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8F8F8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5478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现金管理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16966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31596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261104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主要投资科技行业股票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75120" y="4315968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F8F8F8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43159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行业股票型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提示：根据基金的投资标的来判断其类型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1168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基金基础知识总结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15568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15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051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基金是专业管理的分散投资工具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3898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由基金经理和团队帮你选股、配置、调整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121408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214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057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根据风险偏好选择基金类型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3957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股票型→混合型→债券型→货币型，风险由高到低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27248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272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0632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注意交易成本影响收益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4015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申购费、管理费、赎回费都要考虑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133088"/>
            <a:ext cx="54864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33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069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理解净值、分红、申赎等核心术语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40740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搞懂这些才能做出明智的投资决策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下一模块：学习如何挑选优质基金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22860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选基策略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五大维度选好基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C41E3A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1371600"/>
            <a:ext cx="731520" cy="731520"/>
          </a:xfrm>
          <a:prstGeom prst="ellipse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4114800"/>
            <a:ext cx="548640" cy="548640"/>
          </a:xfrm>
          <a:prstGeom prst="ellipse">
            <a:avLst/>
          </a:prstGeom>
          <a:solidFill>
            <a:srgbClr val="D4D4D4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选基五大维度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0" y="1188720"/>
            <a:ext cx="1391434" cy="1010936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63434" y="2199656"/>
            <a:ext cx="-531480" cy="1635728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31953" y="3835384"/>
            <a:ext cx="-1719907" cy="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12047" y="3835384"/>
            <a:ext cx="-531480" cy="-1635728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80566" y="2199656"/>
            <a:ext cx="1391434" cy="-1010936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2194560"/>
            <a:ext cx="914400" cy="9144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0520" y="7772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16052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0" y="1005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业绩分析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1280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赚钱能力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51954" y="1788176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5551954" y="17881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20634" y="2016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经理筛选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20634" y="229109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人选对了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0473" y="3423904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0473" y="342390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89153" y="36525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团队支持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89153" y="39268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平台实力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00567" y="3423904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3300567" y="342390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340447" y="36525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规模适中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40447" y="39268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太大了不好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69086" y="1788176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2769086" y="17881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808966" y="2016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费率低廉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08966" y="229109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成本控制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4805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优秀基金 = 业绩好 + 经理强 + 平台稳 + 规模合适 + 费率合理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业绩分析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近1年收益率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短期表现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960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近3年收益率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中期表现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8686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960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近5年收益率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长期表现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其他重要指标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436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业绩比较基准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能否跑赢指数?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331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38328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同类基金排名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在同类中表现如何?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3317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7220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夏普比率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风险调整后的收益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749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重要提示：不要只看短期收益！至少看3年以上的长期表现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夏普比率越高，说明基金在承担单位风险时获得的超额回报越多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如何看懂业绩曲线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65176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上涨市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能否跑赢指数?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57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超额收益越多越好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960120"/>
            <a:ext cx="265176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📉 下跌市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回撤是否更小?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83280" y="205740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057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跌得少才是真本事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960120"/>
            <a:ext cx="2651760" cy="4572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960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震荡市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能否稳定超额收益?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205740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2057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穿越牛熊才是高手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核心观点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看长期，不看短期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不要被短期波动迷惑，3-5年以上的表现更能说明问题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看相对，不看绝对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关键看能否跑赢基准和同类，而不是单纯看收益数字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"好基金的特点：牛市跟得上，熊市跌得少，震荡有超额"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228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基金经理筛选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从业年限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 &gt; 5年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管理规模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百亿以上需谨慎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86868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投资风格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7800" y="1325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价值/成长/均衡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87452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578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变更频率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57800" y="2331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频繁换人不好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关键问题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154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"你能信任这个基金经理吗？"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信任来自于：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长期稳定业绩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0" y="41148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风格不漂移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41148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逻辑自洽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41148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41148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坦诚沟通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风险警示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92024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警惕明星经理陷阱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过去业绩不代表未来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508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明星经理的历史收益是通过特定市场风格获得的，市场风格会切换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规模是业绩的杀手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651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规模从10亿扩到500亿后，明星基金经理操作难度倍增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3429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过度依赖单一明星有风险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794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一旦明星经理离职或奔私，投资策略可能失效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1005840"/>
            <a:ext cx="3017520" cy="3291840"/>
          </a:xfrm>
          <a:prstGeom prst="roundRect">
            <a:avLst>
              <a:gd name="adj" fmla="val 3030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52160" y="1600200"/>
            <a:ext cx="109728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某明星基金经理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0" y="2240280"/>
            <a:ext cx="2651760" cy="731520"/>
          </a:xfrm>
          <a:prstGeom prst="roundRect">
            <a:avLst>
              <a:gd name="adj" fmla="val 625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2286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管理规模变化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2560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10亿 → 500亿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85216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52160" y="3383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换手率大幅下降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3675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持仓集中度被迫提高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39684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业绩排名从前10%滑落至后30%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52628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5262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核心提示：选择基金不要只看明星经理，要看团队、体系、长期稳定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选基维度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2560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维度三：基金公司实力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公司规模与口碑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554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资产管理规模、市场声誉、成立年限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32588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投研团队实力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32120" y="1554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研究团队稳定性、核心分析师背景、获奖记录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产品线丰富程度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能否满足一站式配置需求、风险层级是否完整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33172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65176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风险控制能力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3212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历史最大回撤、止损机制、合规运营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国内头部基金公司参考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06908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069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4023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易方达 | 华夏 | 广发 | 汇添富 | 富国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480560"/>
            <a:ext cx="548640" cy="274320"/>
          </a:xfrm>
          <a:prstGeom prst="roundRect">
            <a:avLst>
              <a:gd name="adj" fmla="val 13333"/>
            </a:avLst>
          </a:prstGeom>
          <a:solidFill>
            <a:srgbClr val="4A4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480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80160" y="44348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嘉实 | 南方 | 博时 | 工银瑞信 | 招商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选基维度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2560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维度四：基金规模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2286000" cy="2560320"/>
          </a:xfrm>
          <a:prstGeom prst="roundRect">
            <a:avLst>
              <a:gd name="adj" fmla="val 4000"/>
            </a:avLst>
          </a:prstGeom>
          <a:solidFill>
            <a:srgbClr val="C41E3A">
              <a:alpha val="85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太小不行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1亿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清盘风险高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运营不稳定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研究投入不足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2286000" cy="2560320"/>
          </a:xfrm>
          <a:prstGeom prst="roundRect">
            <a:avLst>
              <a:gd name="adj" fmla="val 4000"/>
            </a:avLst>
          </a:prstGeom>
          <a:solidFill>
            <a:srgbClr val="4A4A4A">
              <a:alpha val="85000"/>
            </a:srgbClr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太大不行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200亿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调仓困难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灵活性下降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超额收益难获取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1188720"/>
            <a:ext cx="3291840" cy="2834640"/>
          </a:xfrm>
          <a:prstGeom prst="roundRect">
            <a:avLst>
              <a:gd name="adj" fmla="val 3226"/>
            </a:avLst>
          </a:prstGeom>
          <a:solidFill>
            <a:srgbClr val="2E7D32">
              <a:alpha val="85000"/>
            </a:srgbClr>
          </a:solidFill>
          <a:ln w="381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适中为宜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26080" y="1828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5 - 100亿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108960" y="25603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规模适中，灵活操作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研究资源充足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业绩可持续性好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清盘风险低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36576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33832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0" y="31089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0" y="31089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0" y="3383280"/>
            <a:ext cx="365760" cy="3657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0" y="3657600"/>
            <a:ext cx="365760" cy="3657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554480" y="3840480"/>
            <a:ext cx="6035040" cy="0"/>
          </a:xfrm>
          <a:prstGeom prst="line">
            <a:avLst/>
          </a:prstGeom>
          <a:noFill/>
          <a:ln w="25400">
            <a:solidFill>
              <a:srgbClr val="D4D4D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" y="452628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262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核心提示：规模是业绩的天敌，适中规模才能兼顾收益与流动性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选基维度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2560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维度五：费率结构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申购费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 - 1.5%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一次性费用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购买时扣除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005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- 2%/年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按日计提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持有期间扣除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005840"/>
            <a:ext cx="2651760" cy="7315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赎回费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0 - 1.5%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3796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持有时间越短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费率越高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长期持有费率影响计算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3291840"/>
            <a:ext cx="36576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24612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1% 费率差 × 20年复利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2960" y="3977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228600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收益损失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0" y="33832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假设A基金费率1%/年，B基金费率2%/年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20年后，两者收益可能相差23%以上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时间越长，复利效应越明显，费率差影响越大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023360" y="4480560"/>
            <a:ext cx="4480560" cy="27432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0" y="4480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低费率是长期收益的保障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实操工具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25603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选基工具推荐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258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天天基金网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08760" y="15544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1554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全面数据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基金净值、持仓、经理、费率全部可查，支持基金对比和筛选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3258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7607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晨星网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0720" y="155448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15544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专业评级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国际权威基金评级机构，提供专业的基金研究报告和分析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0632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5087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支付宝/微信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508760" y="32918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1508760" y="3291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方便购买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0876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操作便捷，购买方便，适合入门投资者，但数据相对简单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06324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韭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76072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韭圈儿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60720" y="32918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3291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社群氛围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年轻投资者聚集地，讨论活跃，能获取很多实战经验和资讯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5262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建议：先用晨星看评级，再用天天基金网深入分析，最后支付宝购买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选基五大误区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06984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069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109728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C41E3A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1097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只看收益率排名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1051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83480" y="1097280"/>
            <a:ext cx="3520440" cy="411480"/>
          </a:xfrm>
          <a:prstGeom prst="roundRect">
            <a:avLst>
              <a:gd name="adj" fmla="val 11111"/>
            </a:avLst>
          </a:prstGeom>
          <a:solidFill>
            <a:srgbClr val="2E7D32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0972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看长期稳健收益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4440" y="187452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C41E3A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追捧明星基金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18288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983480" y="1874520"/>
            <a:ext cx="3520440" cy="411480"/>
          </a:xfrm>
          <a:prstGeom prst="roundRect">
            <a:avLst>
              <a:gd name="adj" fmla="val 11111"/>
            </a:avLst>
          </a:prstGeom>
          <a:solidFill>
            <a:srgbClr val="2E7D32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8745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规模是业绩杀手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62432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34440" y="265176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C41E3A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2651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忽略费用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26060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983480" y="2651760"/>
            <a:ext cx="3520440" cy="411480"/>
          </a:xfrm>
          <a:prstGeom prst="roundRect">
            <a:avLst>
              <a:gd name="adj" fmla="val 11111"/>
            </a:avLst>
          </a:prstGeom>
          <a:solidFill>
            <a:srgbClr val="2E7D32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2651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费率差累积损失大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29184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40156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34440" y="342900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C41E3A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71600" y="3429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追涨杀跌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80560" y="3383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4983480" y="3429000"/>
            <a:ext cx="3520440" cy="411480"/>
          </a:xfrm>
          <a:prstGeom prst="roundRect">
            <a:avLst>
              <a:gd name="adj" fmla="val 11111"/>
            </a:avLst>
          </a:prstGeom>
          <a:solidFill>
            <a:srgbClr val="2E7D32">
              <a:alpha val="8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34290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买基金同样要止损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40690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4178808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178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34440" y="4206240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C41E3A">
              <a:alpha val="8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371600" y="4206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过度分散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480560" y="4160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4983480" y="4206240"/>
            <a:ext cx="3520440" cy="411480"/>
          </a:xfrm>
          <a:prstGeom prst="roundRect">
            <a:avLst>
              <a:gd name="adj" fmla="val 11111"/>
            </a:avLst>
          </a:prstGeom>
          <a:solidFill>
            <a:srgbClr val="2E7D32">
              <a:alpha val="8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0" y="42062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5-8只基金足够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457200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5720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核心：逆向思考，与大众心理反着来，往往更安全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互动练习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选基判断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请判断：以下这只基金是否值得投资？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50292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基金档案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近3年收益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011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4663440" cy="9144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基金经理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560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新人，上任6个月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4663440" cy="9144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基金规模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3108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280亿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4663440" cy="9144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57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管理费率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0" y="3657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2%/年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20116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297680" y="25603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297680" y="36576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69280" y="1417320"/>
            <a:ext cx="3017520" cy="2926080"/>
          </a:xfrm>
          <a:prstGeom prst="roundRect">
            <a:avLst>
              <a:gd name="adj" fmla="val 3125"/>
            </a:avLst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思考问题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52160" y="2011680"/>
            <a:ext cx="9144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这只基金值得投资吗？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52160" y="2697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有哪些风险点？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5216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你如何验证你的判断？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5216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如果你是基金经理，会怎么做？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5262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请举手发言，分享你的分析和判断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模块总结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1828800" cy="1828800"/>
          </a:xfrm>
          <a:prstGeom prst="ellipse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3840480"/>
            <a:ext cx="1097280" cy="1097280"/>
          </a:xfrm>
          <a:prstGeom prst="ellipse">
            <a:avLst/>
          </a:prstGeom>
          <a:solidFill>
            <a:srgbClr val="D4D4D4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365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0972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29844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12070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五大维度全面评估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1554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业绩稳定性、基金经理、基金公司、基金规模、费率结构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075688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27685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2185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明星经理要警惕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25328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规模是业绩杀手，过度依赖单一明星存在重大风险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054096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55264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1638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工具有助决策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35112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天天基金网、晨星网、支付宝等工具辅助选基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4032504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423367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4142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避开常见误区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0" y="44897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逆向思考，不追涨杀跌，不只看排名，长期视角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4572000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C41E3A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4572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模块三预告：定投原理 - 微笑曲线与智能定投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286000" y="3474720"/>
            <a:ext cx="1371600" cy="1371600"/>
          </a:xfrm>
          <a:prstGeom prst="ellipse">
            <a:avLst/>
          </a:prstGeom>
          <a:solidFill>
            <a:srgbClr val="C41E3A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3840480"/>
            <a:ext cx="731520" cy="731520"/>
          </a:xfrm>
          <a:prstGeom prst="ellipse">
            <a:avLst/>
          </a:prstGeom>
          <a:solidFill>
            <a:srgbClr val="D4D4D4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定投原理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93192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微笑曲线 · 智能定投 · 金额频率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3337560"/>
            <a:ext cx="18288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3566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深入理解基金定投的核心原理，学会如何通过定投实现稳健收益，掌握智能定投策略。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核心概念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什么是基金定投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定义：定期定额投资开放式基金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在固定的时间，以固定的金额，投资到固定的基金中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63040" y="214884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固定时间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每月/每周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约定日期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20116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214884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52044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固定金额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每次投入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相同金额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0116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0" y="214884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5508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固定基金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长期持有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同一基金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94360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1363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定投计算公式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343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每月投入金额 ÷ 当前净值 = 获得的份额数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669280" y="4389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例: 1000元 ÷ 1.5元 = 667份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微笑曲线：定投的数学原理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05840"/>
            <a:ext cx="7680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2801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净值2.0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买500份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28346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净值1.0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94760" y="2468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买1000份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128016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1737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净值2.0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1965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买500份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25880" y="1508760"/>
            <a:ext cx="2834640" cy="1371600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3063240"/>
            <a:ext cx="2834640" cy="-1371600"/>
          </a:xfrm>
          <a:prstGeom prst="line">
            <a:avLst/>
          </a:prstGeom>
          <a:noFill/>
          <a:ln w="38100">
            <a:solidFill>
              <a:srgbClr val="8B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5880" y="3063240"/>
            <a:ext cx="5897880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47472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--&gt;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011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低点买入更多份额，摊薄成本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市场下跌时，同样的钱能买更多份额；市场上涨时，所有份额都盈利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微笑曲线案例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0584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005840"/>
            <a:ext cx="237744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33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净值: 净值2.0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投入: 1000元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500份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100584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005840"/>
            <a:ext cx="2377440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033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净值: 净值1.0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投入: 1000元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1188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1000份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00584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005840"/>
            <a:ext cx="237744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0332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净值: 净值2.0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投入: 1000元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500份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6324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89788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457200" y="2514600"/>
            <a:ext cx="8229600" cy="1965960"/>
          </a:xfrm>
          <a:prstGeom prst="roundRect">
            <a:avLst>
              <a:gd name="adj" fmla="val 4651"/>
            </a:avLst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总投入: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3000元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548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总份额: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2000份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008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平均成本: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28600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1.5元/份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75488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最终市值: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0080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4000元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40080" y="4206240"/>
            <a:ext cx="7863840" cy="2286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收益率: 33.3% (1000元盈利)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5720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微笑曲线: 先跌后涨的行情最适合定投，摊薄成本效果最明显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 vs 一次性投资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3810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定投优势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无需择时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避免追涨杀跌的人性弱点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240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分散风险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514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分批买入，摊薄成本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强制储蓄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适合月光族，积少成多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429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心态平稳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不在乎短期波动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005840"/>
            <a:ext cx="397764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03327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一次性优势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92040" y="160020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单边上涨时收益更高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资金效率最大化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1945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2194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资金效率更高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满仓操作不等待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788920"/>
            <a:ext cx="3977640" cy="411480"/>
          </a:xfrm>
          <a:prstGeom prst="roundRect">
            <a:avLst>
              <a:gd name="adj" fmla="val 11111"/>
            </a:avLst>
          </a:prstGeom>
          <a:solidFill>
            <a:srgbClr val="C41E3A">
              <a:alpha val="85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8346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前提: 必须判断准确时机，否则风险巨大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383280"/>
            <a:ext cx="3977640" cy="73152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92040" y="37490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对大多数普通人，定投更适合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2E7D32">
              <a:alpha val="85000"/>
            </a:srgbClr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定投适合人群: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86000" y="43434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上班族 · 月光族 · 投资新手 · 没时间研究市场的人群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进阶策略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智能定投策略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5880" y="11430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143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均线策略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210312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低于均线多买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高于均线少买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指数低于均线时加大投入，高于均线时减少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0058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1430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143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估值策略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3320" y="2148840"/>
            <a:ext cx="210312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低估值多买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高估值少买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参考PE/PB百分位，低位多买高位少买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10058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69480" y="114300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1143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1737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目标市值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75120" y="2148840"/>
            <a:ext cx="210312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涨了卖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跌了买更多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设定目标市值，涨超卖出一部分，跌了补足差额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57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实操工具推荐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017520" y="37033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0" y="3703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支付宝智能定投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7033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703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天天基金慧定投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370332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3703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蛋卷基金智能投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可自动根据均线或估值调整每月定投金额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57200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5720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智能定投能在普通定投基础上进一步提升收益，适合想获得超额收益的投资者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2560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定投金额怎么定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闲钱投资，不影响生活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63040" y="20116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建议比例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月收入10-20%用于定投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不影响日常生活的闲置资金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1920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20116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20440" y="2697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执行顺序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971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发了工资先定投再消费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200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先存后花，强迫储蓄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192024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06640" y="20116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92240" y="2697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2971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根据收入变化调整金额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200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升职加薪后适当提高定投金额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393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不同收入级别参考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069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月入5-8千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2976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定投500-1000元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4805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培养习惯为主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4069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月入1-2万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37560" y="42976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定投1500-3000元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44805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积累第一桶金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26480" y="4069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月入3万以上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26480" y="42976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定投5000元以上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448056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资产增值加速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617720"/>
            <a:ext cx="7772400" cy="365760"/>
          </a:xfrm>
          <a:prstGeom prst="roundRect">
            <a:avLst>
              <a:gd name="adj" fmla="val 15000"/>
            </a:avLst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617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坚持是胜利：定投需要3-5年以上才能看到明显效果，切忌半途而废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定投频率：周投还是月投？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月投 (每月1次)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856232"/>
            <a:ext cx="164592" cy="16459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适合工薪族，发工资后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67712"/>
            <a:ext cx="164592" cy="16459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操作简单，不易忘记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79192"/>
            <a:ext cx="164592" cy="16459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差异不大，手续简单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090672"/>
            <a:ext cx="164592" cy="164592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心理负担小，易坚持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周投 (每周1次)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92040" y="185623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频率更高，成本更平滑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226771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适合大额资金分批入场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67919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需要更多关注和管理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309067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不适合记性差的人群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8B0000">
              <a:alpha val="10000"/>
            </a:srgbClr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49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测算显示：周投和月投的最终收益差异 &lt; 5%，几乎可以忽略不计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443484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4434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根据现金流决定，月投即可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定投常见问题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Q1: 市场跌了要不要停止定投?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1645920"/>
            <a:ext cx="54864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6459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恰恰相反，低位积累更多份额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80160" y="2514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Q2: 定投要投多久?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80160" y="2926080"/>
            <a:ext cx="54864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9260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至少3-5年，一个完整牛熊周期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💪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80160" y="37947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Q3: 亏钱了怎么办?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80160" y="4206240"/>
            <a:ext cx="54864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42062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检视基金是否变质，不变则坚持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核心原则：定投的本质是时间换空间，坚持是成功的关键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互动练习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916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计算定投收益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已知条件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每月定投: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1554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定投期限: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平均年化收益率: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8B0000">
              <a:alpha val="8000"/>
            </a:srgbClr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计算问题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3年后账户有多少钱?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提示：用复利计算器思维引导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计算过程：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794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每月500元 × 12个月 × 3年 = 18,000元（本金）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年化8%，3年累计收益约 3,000元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33832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3383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21,000元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模块总结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6596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模块三总结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188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定投通过微笑曲线摊薄成本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508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市场下跌时积累更多份额，上涨时享受收益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1488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智能定投可增强收益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4688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根据市场点位调整金额，低位多投高位少投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1089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金额频率根据收入灵活调整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429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月投适合工薪族，关键是根据现金流坚持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坚持3-5年以上效果显著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389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跨越牛熊周期，用时间换空间，效果惊人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0" y="4572000"/>
            <a:ext cx="5486400" cy="411480"/>
          </a:xfrm>
          <a:prstGeom prst="round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0" y="4572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定投是普通人最简单的理财方式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止盈策略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四种策略详解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457200"/>
            <a:ext cx="1371600" cy="13716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109728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会买是徒弟，会卖是师傅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定义决策权限等级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根据风险程度为每个决策分配合适的L1-L4等级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风险评估维度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影响程度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决策对组织运营和员工权益的影响范围与深度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7830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8620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可逆性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决策结果的可撤回性和恢复难度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决策的时间敏感性和延迟容忍度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等级判定流程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评估影响程度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42900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606040" y="3429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判断可逆性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342900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3429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D4D4D4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考量紧迫性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29400" y="342900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03720" y="34290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4A4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3429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确定L1-L4等级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等级判定示例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4348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日常考勤统计 → L1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6451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低影响、可逆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14600" y="438912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44348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绩效评分调整 → L2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06040" y="46451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中影响、较可逆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0" y="438912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4348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晋升推荐审核 → L3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46451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高影响、难逆转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29400" y="438912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443484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终止劳动合同 → L4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20840" y="46451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重大影响、不可逆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设计复核机制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建立人类复核AI决策的流程、标准和触发条件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265176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复核清单设计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明确需要复核的决策类型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制定清单式复核检查点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05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设定通过/驳回标准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4173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417320"/>
            <a:ext cx="265176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异常检测机制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设定偏差阈值触发报警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监控决策结果分布异常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505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检测算法偏见信号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4173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4A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417320"/>
            <a:ext cx="2651760" cy="3657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417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记录追溯体系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完整记录AI决策过程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保存人类复核意见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505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建立审计追踪链条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复核流程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AI提交决策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194560" y="33832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19456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系统初筛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6616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840480" y="33832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人类复核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577840" y="33832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通过/驳回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4944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23760" y="33832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722376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执行/调整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复核触发条件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429768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C41E3A">
              <a:alpha val="8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97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高风险决策 (L3/L4)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0" y="429768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8B0000">
              <a:alpha val="80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0" y="4297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结果偏离预期阈值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429768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D4D4D4">
              <a:alpha val="80000"/>
            </a:srgbClr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297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员工提出申诉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6560" y="4297680"/>
            <a:ext cx="1965960" cy="411480"/>
          </a:xfrm>
          <a:prstGeom prst="roundRect">
            <a:avLst>
              <a:gd name="adj" fmla="val 13333"/>
            </a:avLst>
          </a:prstGeom>
          <a:solidFill>
            <a:srgbClr val="4A4A4A">
              <a:alpha val="80000"/>
            </a:srgbClr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4297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系统检测到异常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建立沟通协议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制定人机协作中的信息传递、通知和上报规则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通知流程标准化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明确通知对象和渠道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67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规定通知时限和格式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569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确认回执和已读状态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跟踪未处理情况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417320"/>
            <a:ext cx="265176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多方协调机制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建立定期沟通会议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267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指定协调人对接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569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明确升级汇报路线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记录协调过程和结论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4173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417320"/>
            <a:ext cx="2651760" cy="4114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定期评审优化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月度运行回顾分析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267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季度协议执行评估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569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年度体系审计优化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问题反馈持续改进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沟通矩阵示例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决策等级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通知对象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0624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通知时限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反馈要求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023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20240" y="40233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无需通知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06240" y="40233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4023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记录存档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315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20240" y="43159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直接上级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06240" y="4315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43159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确认回执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608576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608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920240" y="46085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上级+HR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06240" y="46085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24小时内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35040" y="4608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书面反馈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901184"/>
            <a:ext cx="8229600" cy="29260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49011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920240" y="4901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管理层+HR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06240" y="49011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035040" y="49011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会议讨论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向团队传达分工逻辑的原则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让团队成员理解并接受人机协作的权责边界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透明清晰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用通俗易懂的语言向团队解释AI能做什么、不能做什么，以及人类如何把关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5544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双向沟通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21031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倾听团队成员对AI决策的疑虑和建议，建立反馈渠道并认真对待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权责对等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明确告知团队成员在不同决策等级下的权利、义务和申诉途径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3977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43600" y="3154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持续教育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92040" y="3703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定期开展培训，帮助团队理解权责边界设计的原因和具体操作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E3A">
              <a:alpha val="15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3159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核心信息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5445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AI是辅助工具，人类是最终责任人。权责边界的设计不是为了限制AI，而是为了保护团队成员，确保AI的应用符合大家的共同利益。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822960" cy="320040"/>
          </a:xfrm>
          <a:prstGeom prst="roundRect">
            <a:avLst>
              <a:gd name="adj" fmla="val 14286"/>
            </a:avLst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实战练习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17320" y="25603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权责设计实战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场景设定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某互联网公司计划引入AI绩效管理系统，涉及以下决策场景：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6916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季度绩效评分（影响全体员工）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8745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年度晋升候选人推荐（影响核心人才）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0574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优化绩效落后员工（可能涉及裁员）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你的任务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260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953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识别决策点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为每个场景识别关键决策点和涉及的Stakeholder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9260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2953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分配权限等级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根据风险程度为每个决策分配合适的L1-L4等级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29260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29535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设计复核机制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为每个决策设计相应的人类复核机制和触发条件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D4D4D4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519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完成一份权责设计文档，包含决策清单、权限等级分配表、复核机制说明，提交至学习平台参与互评。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三维评估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从三个核心维度对每个决策进行全面评估，识别潜在问题和改进机会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187452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公正性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决策过程是否公开透明，标准是否统一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6916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87452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决策依据是否充分，信息是否完整准确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187452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874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决策结果是否达到预期目标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D4D4D4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886200"/>
            <a:ext cx="73152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297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综合三个维度的评分，生成决策质量矩阵，识别需要重点关注的决策项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5720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572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D4D4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步骤三：四类分级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根据风险等级和可逆性，将绩效决策分为四类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140" y="1828800"/>
            <a:ext cx="594360" cy="5943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 + 不可逆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137160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154680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裁员决策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薪酬调整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岗位任命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24328" y="16002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87268" y="1828800"/>
            <a:ext cx="594360" cy="5943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328726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624328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 + 可逆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98648" y="2926080"/>
            <a:ext cx="137160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2807208" y="3154680"/>
            <a:ext cx="91440" cy="914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2990088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跨部门调岗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07208" y="3474720"/>
            <a:ext cx="91440" cy="914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2990088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项目分配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07208" y="3794760"/>
            <a:ext cx="91440" cy="914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2990088" y="3703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晋升提名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91456" y="16002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54396" y="1828800"/>
            <a:ext cx="594360" cy="5943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454396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791456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 + 不可逆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65776" y="2926080"/>
            <a:ext cx="137160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4" name="Shape 32"/>
          <p:cNvSpPr/>
          <p:nvPr/>
        </p:nvSpPr>
        <p:spPr>
          <a:xfrm>
            <a:off x="4974336" y="3154680"/>
            <a:ext cx="91440" cy="914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5" name="Text 33"/>
          <p:cNvSpPr/>
          <p:nvPr/>
        </p:nvSpPr>
        <p:spPr>
          <a:xfrm>
            <a:off x="5157216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年度评优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74336" y="3474720"/>
            <a:ext cx="91440" cy="914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7" name="Text 35"/>
          <p:cNvSpPr/>
          <p:nvPr/>
        </p:nvSpPr>
        <p:spPr>
          <a:xfrm>
            <a:off x="5157216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培训安排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74336" y="3794760"/>
            <a:ext cx="91440" cy="914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9" name="Text 37"/>
          <p:cNvSpPr/>
          <p:nvPr/>
        </p:nvSpPr>
        <p:spPr>
          <a:xfrm>
            <a:off x="5157216" y="3703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58584" y="160020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21524" y="1828800"/>
            <a:ext cx="594360" cy="594360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42" name="Text 40"/>
          <p:cNvSpPr/>
          <p:nvPr/>
        </p:nvSpPr>
        <p:spPr>
          <a:xfrm>
            <a:off x="7621524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958584" y="2514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 + 可逆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32904" y="2926080"/>
            <a:ext cx="137160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45" name="Shape 43"/>
          <p:cNvSpPr/>
          <p:nvPr/>
        </p:nvSpPr>
        <p:spPr>
          <a:xfrm>
            <a:off x="7141464" y="3154680"/>
            <a:ext cx="91440" cy="91440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46" name="Text 44"/>
          <p:cNvSpPr/>
          <p:nvPr/>
        </p:nvSpPr>
        <p:spPr>
          <a:xfrm>
            <a:off x="7324344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请假审批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41464" y="3474720"/>
            <a:ext cx="91440" cy="91440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48" name="Text 46"/>
          <p:cNvSpPr/>
          <p:nvPr/>
        </p:nvSpPr>
        <p:spPr>
          <a:xfrm>
            <a:off x="7324344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简单奖惩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141464" y="3794760"/>
            <a:ext cx="91440" cy="91440"/>
          </a:xfrm>
          <a:prstGeom prst="ellipse">
            <a:avLst/>
          </a:prstGeom>
          <a:solidFill>
            <a:srgbClr val="78909C"/>
          </a:solidFill>
          <a:ln/>
        </p:spPr>
      </p:sp>
      <p:sp>
        <p:nvSpPr>
          <p:cNvPr id="50" name="Text 48"/>
          <p:cNvSpPr/>
          <p:nvPr/>
        </p:nvSpPr>
        <p:spPr>
          <a:xfrm>
            <a:off x="7324344" y="3703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日常调度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D4D4D4"/>
          </a:solidFill>
          <a:ln/>
        </p:spPr>
      </p:sp>
      <p:sp>
        <p:nvSpPr>
          <p:cNvPr id="52" name="Shape 50"/>
          <p:cNvSpPr/>
          <p:nvPr/>
        </p:nvSpPr>
        <p:spPr>
          <a:xfrm>
            <a:off x="640080" y="42976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43000" y="4160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提示：先为每个决策打上 A/B/C/D 标签，再针对性设计人机协作方式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步骤四：人机边界设计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Human-Machine Boundary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91440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明确哪些决策必须由人类完成，哪些可以由AI辅助或独立执行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743200"/>
            <a:ext cx="91440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责任归属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确定每个决策节点的责任人，建立清晰的责任追溯机制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69080"/>
            <a:ext cx="91440" cy="10972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干预机制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设计人类干预的触发条件和介入方式，确保关键节点可控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边界光谱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1828800"/>
            <a:ext cx="1463040" cy="1463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8288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2377440"/>
            <a:ext cx="182880" cy="18288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6863715" y="2360295"/>
            <a:ext cx="217170" cy="21717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28" name="Shape 26"/>
          <p:cNvSpPr/>
          <p:nvPr/>
        </p:nvSpPr>
        <p:spPr>
          <a:xfrm>
            <a:off x="7143750" y="2343150"/>
            <a:ext cx="251460" cy="2514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Shape 27"/>
          <p:cNvSpPr/>
          <p:nvPr/>
        </p:nvSpPr>
        <p:spPr>
          <a:xfrm>
            <a:off x="7423785" y="2326005"/>
            <a:ext cx="285750" cy="28575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Shape 28"/>
          <p:cNvSpPr/>
          <p:nvPr/>
        </p:nvSpPr>
        <p:spPr>
          <a:xfrm>
            <a:off x="7703820" y="230886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1828800"/>
            <a:ext cx="1463040" cy="1463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182880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人类主导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AI主导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84048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D4D4D4">
              <a:alpha val="5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40690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3212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关键原则：人类始终保留最终否决权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32120" y="4343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即使AI完成99%的决策，最后1%的人类判断才是责任归属的终点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步骤五：护栏设定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决策的质量保障机制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" y="1728216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4A4A4A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916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260604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1440180" y="2011680"/>
            <a:ext cx="640080" cy="64008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14401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18745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边界设定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AI 可独立决策的范围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74136" y="1728216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4A4A4A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37560" y="16916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691640"/>
            <a:ext cx="260604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0" name="Shape 18"/>
          <p:cNvSpPr/>
          <p:nvPr/>
        </p:nvSpPr>
        <p:spPr>
          <a:xfrm>
            <a:off x="4320540" y="2011680"/>
            <a:ext cx="640080" cy="64008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21" name="Text 19"/>
          <p:cNvSpPr/>
          <p:nvPr/>
        </p:nvSpPr>
        <p:spPr>
          <a:xfrm>
            <a:off x="43205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0680" y="18745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54406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2788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监控机制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7472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实时追踪 AI 决策执行情况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54496" y="1728216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4A4A4A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16916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691640"/>
            <a:ext cx="260604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Shape 27"/>
          <p:cNvSpPr/>
          <p:nvPr/>
        </p:nvSpPr>
        <p:spPr>
          <a:xfrm>
            <a:off x="7200900" y="2011680"/>
            <a:ext cx="640080" cy="64008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30" name="Text 28"/>
          <p:cNvSpPr/>
          <p:nvPr/>
        </p:nvSpPr>
        <p:spPr>
          <a:xfrm>
            <a:off x="72009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18745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27889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干预触发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异常情况下快速人工介入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8B0000">
              <a:alpha val="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4407408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" y="4297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护栏不是限制 AI，而是让 AI 决策更安全、更可控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升级路径规划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8952" y="1920240"/>
            <a:ext cx="36576" cy="2286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现状评估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709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了解当前所处阶段和基础条件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" y="2606040"/>
            <a:ext cx="36576" cy="2286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目标确定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395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明确想要达到的升级目标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" y="3291840"/>
            <a:ext cx="36576" cy="2286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路径设计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081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规划从现状到目标的路线图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8952" y="3977640"/>
            <a:ext cx="36576" cy="2286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里程碑设定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767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设置阶段性检查点和验收标准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资源准备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453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配置所需的时间、资金和支持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141732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1417320"/>
            <a:ext cx="2743200" cy="91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2" name="Shape 30"/>
          <p:cNvSpPr/>
          <p:nvPr/>
        </p:nvSpPr>
        <p:spPr>
          <a:xfrm>
            <a:off x="6903720" y="1691640"/>
            <a:ext cx="548640" cy="54864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2648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26480" y="278892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升级不是突变，而是持续迭代的过程。每一步都要稳扎稳打，避免跳跃式升级带来的风险。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小组分享与反馈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0" y="411480"/>
            <a:ext cx="320040" cy="32004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5" name="Shape 3"/>
          <p:cNvSpPr/>
          <p:nvPr/>
        </p:nvSpPr>
        <p:spPr>
          <a:xfrm>
            <a:off x="5349240" y="50292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365760"/>
            <a:ext cx="274320" cy="27432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讨论步骤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每组分享自己的决策分级方案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其他小组提供反馈和建议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讨论人机协作中的挑战和解决方案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讨论问题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146304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23560" y="1719072"/>
            <a:ext cx="402336" cy="402336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最大的挑战是什么？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256032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23560" y="2816352"/>
            <a:ext cx="402336" cy="402336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2816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72200" y="25603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最成功的实践是什么？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0" y="365760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23560" y="3913632"/>
            <a:ext cx="402336" cy="402336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28" name="Text 26"/>
          <p:cNvSpPr/>
          <p:nvPr/>
        </p:nvSpPr>
        <p:spPr>
          <a:xfrm>
            <a:off x="5623560" y="3913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72200" y="3657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需要哪些支持？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892040"/>
            <a:ext cx="8412480" cy="2743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"/>
            <a:ext cx="1097280" cy="1097280"/>
          </a:xfrm>
          <a:prstGeom prst="ellipse">
            <a:avLst/>
          </a:prstGeom>
          <a:solidFill>
            <a:srgbClr val="D4D4D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1005840"/>
            <a:ext cx="731520" cy="731520"/>
          </a:xfrm>
          <a:prstGeom prst="ellipse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731520"/>
            <a:ext cx="548640" cy="548640"/>
          </a:xfrm>
          <a:prstGeom prst="ellipse">
            <a:avLst/>
          </a:prstGeom>
          <a:solidFill>
            <a:srgbClr val="8B000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3840480"/>
            <a:ext cx="914400" cy="914400"/>
          </a:xfrm>
          <a:prstGeom prst="ellipse">
            <a:avLst/>
          </a:prstGeom>
          <a:solidFill>
            <a:srgbClr val="C41E3A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D4D4D4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8B0000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"/>
            <a:ext cx="109728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5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320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实战成果展示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31520" y="1280160"/>
            <a:ext cx="914400" cy="9144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项目完成率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377440" y="128016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0312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023360" y="1280160"/>
            <a:ext cx="914400" cy="9144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4904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669280" y="128016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9496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31520" y="329184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5720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团队成长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377440" y="3291840"/>
            <a:ext cx="914400" cy="9144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237744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210312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成本节约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03120" y="4663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023360" y="329184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402336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374904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创新项目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49040" y="4663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669280" y="3291840"/>
            <a:ext cx="914400" cy="9144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0" y="3291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39496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行业奖项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94960" y="4663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6858000" y="2194560"/>
            <a:ext cx="1828800" cy="2377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6858000" y="2194560"/>
            <a:ext cx="73152" cy="23774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7" name="Text 45"/>
          <p:cNvSpPr/>
          <p:nvPr/>
        </p:nvSpPr>
        <p:spPr>
          <a:xfrm>
            <a:off x="694944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4944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949440" y="3291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694944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模块五小结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687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687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23444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决策分级需要结合实际情况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6878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687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23444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护栏设计要明确三要素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3604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360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92608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升级路径要清晰可执行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29260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36042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360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292608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团队协作是落地关键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课程全景回顾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2194560"/>
            <a:ext cx="1280160" cy="12801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219456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2331720"/>
            <a:ext cx="1005840" cy="10058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906311"/>
            <a:ext cx="1005840" cy="10058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906311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906311"/>
            <a:ext cx="1005840" cy="10058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906311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0" y="2331720"/>
            <a:ext cx="1005840" cy="10058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0662" y="3566160"/>
            <a:ext cx="1097280" cy="10972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240662" y="3566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4846320"/>
            <a:ext cx="1097280" cy="10972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4846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06058" y="3566160"/>
            <a:ext cx="1097280" cy="10972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806058" y="3566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06058" y="1005840"/>
            <a:ext cx="1097280" cy="10972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806058" y="1005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3291840"/>
            <a:ext cx="18288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206240" y="1866431"/>
            <a:ext cx="18288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0" y="1866431"/>
            <a:ext cx="18288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0" y="3291840"/>
            <a:ext cx="18288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1148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D4D4D4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11480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沟通的本质是摆信息差，人机协作是AI时代新技能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2320" y="416052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8181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5720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七步决策分级法总结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决策分类是应对不确定性的核心能力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明确决策要解决的问题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15544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965960" y="1691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收集信息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为判断提供事实基础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15544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154680" y="1691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88036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评估风险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892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判断不可逆程度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15544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1691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06908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分级确认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7764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确定A/B/C/D类型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94960" y="15544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532120" y="1691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5780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选择流程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对应级别的处理路径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15544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6720840" y="1691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4652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执行监控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确保按方案执行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72400" y="15544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7909560" y="16916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63524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复盘优化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43800" y="2514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沉淀经验改进分级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60120" y="1874520"/>
            <a:ext cx="7132320" cy="0"/>
          </a:xfrm>
          <a:prstGeom prst="line">
            <a:avLst/>
          </a:prstGeom>
          <a:noFill/>
          <a:ln w="25400">
            <a:solidFill>
              <a:srgbClr val="D4D4D4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D4D4D4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320040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四类决策分级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356616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97280" y="3566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高+不可逆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97280" y="3749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人类决策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97480" y="356616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26974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154680" y="3566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高+可逆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154680" y="3749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AI+监督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754880" y="3566160"/>
            <a:ext cx="411480" cy="4114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212080" y="3566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低+不可逆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12080" y="3749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AI建议+确认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12280" y="3566160"/>
            <a:ext cx="411480" cy="4114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58" name="Text 56"/>
          <p:cNvSpPr/>
          <p:nvPr/>
        </p:nvSpPr>
        <p:spPr>
          <a:xfrm>
            <a:off x="681228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D类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269480" y="35661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低+可逆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269480" y="37490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AI全自动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学员心得分享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来自学员的真实反馈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691640"/>
            <a:ext cx="731520" cy="7315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王学员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34440" y="28803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沟通训练营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之前总觉得沟通就是说话，现在才明白倾听和确认才是关键。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李学员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23360" y="28803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D4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谈判技巧班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429000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最实用的部分是那个「分歧确认清单」，每次谈判前过一遍，心里特别有底。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146304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691640"/>
            <a:ext cx="731520" cy="73152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72200" y="2514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赵学员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12280" y="28803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D4D4D4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冲突处理课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217920" y="3520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以前遇到冲突就回避，现在能区分「事实分歧」和「价值分歧」了。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从今天开始，每天进步一点点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91640" y="155448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155448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94760" y="155448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897880" y="155448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49440" y="1554480"/>
            <a:ext cx="822960" cy="8229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2606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91640" y="2606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743200" y="2606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794760" y="2606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846320" y="2606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897880" y="2606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949440" y="2606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691640" y="3657600"/>
            <a:ext cx="822960" cy="8229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6" name="Text 34"/>
          <p:cNvSpPr/>
          <p:nvPr/>
        </p:nvSpPr>
        <p:spPr>
          <a:xfrm>
            <a:off x="169164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2743200" y="3657600"/>
            <a:ext cx="822960" cy="8229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3794760" y="3657600"/>
            <a:ext cx="822960" cy="8229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40" name="Text 38"/>
          <p:cNvSpPr/>
          <p:nvPr/>
        </p:nvSpPr>
        <p:spPr>
          <a:xfrm>
            <a:off x="379476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4846320" y="3657600"/>
            <a:ext cx="822960" cy="8229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5897880" y="3657600"/>
            <a:ext cx="822960" cy="8229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44" name="Text 42"/>
          <p:cNvSpPr/>
          <p:nvPr/>
        </p:nvSpPr>
        <p:spPr>
          <a:xfrm>
            <a:off x="589788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949440" y="3657600"/>
            <a:ext cx="822960" cy="8229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0" y="3657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640080" y="470916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1691640" y="470916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50" name="Text 48"/>
          <p:cNvSpPr/>
          <p:nvPr/>
        </p:nvSpPr>
        <p:spPr>
          <a:xfrm>
            <a:off x="169164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2743200" y="470916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3794760" y="470916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54" name="Text 52"/>
          <p:cNvSpPr/>
          <p:nvPr/>
        </p:nvSpPr>
        <p:spPr>
          <a:xfrm>
            <a:off x="379476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4846320" y="470916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5897880" y="470916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58" name="Text 56"/>
          <p:cNvSpPr/>
          <p:nvPr/>
        </p:nvSpPr>
        <p:spPr>
          <a:xfrm>
            <a:off x="589788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6949440" y="470916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60" name="Text 58"/>
          <p:cNvSpPr/>
          <p:nvPr/>
        </p:nvSpPr>
        <p:spPr>
          <a:xfrm>
            <a:off x="694944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8001000" y="470916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62" name="Text 60"/>
          <p:cNvSpPr/>
          <p:nvPr/>
        </p:nvSpPr>
        <p:spPr>
          <a:xfrm>
            <a:off x="800100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9052560" y="4709160"/>
            <a:ext cx="822960" cy="8229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64" name="Text 62"/>
          <p:cNvSpPr/>
          <p:nvPr/>
        </p:nvSpPr>
        <p:spPr>
          <a:xfrm>
            <a:off x="905256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4572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572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572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5720" y="4892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行动承诺书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46720" y="228600"/>
            <a:ext cx="731520" cy="731520"/>
          </a:xfrm>
          <a:prstGeom prst="ellipse">
            <a:avLst/>
          </a:prstGeom>
          <a:solidFill>
            <a:srgbClr val="D4D4D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548640"/>
            <a:ext cx="457200" cy="457200"/>
          </a:xfrm>
          <a:prstGeom prst="ellipse">
            <a:avLst/>
          </a:prstGeom>
          <a:solidFill>
            <a:srgbClr val="C41E3A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573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57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09728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我承诺在提出建议前，充分了解客户真实需求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1717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01168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我承诺在分歧面前，先倾听再表达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0861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86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292608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我承诺坦诚面对自己的判断失误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40005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00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5880" y="3840480"/>
            <a:ext cx="7178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我承诺用对方能接受的方式沟通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943600" y="4892040"/>
            <a:ext cx="2743200" cy="1828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480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承诺人签名：__________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日期：__________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-182880" y="4206240"/>
            <a:ext cx="548640" cy="548640"/>
          </a:xfrm>
          <a:prstGeom prst="ellipse">
            <a:avLst/>
          </a:prstGeom>
          <a:solidFill>
            <a:srgbClr val="D4D4D4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" y="4572000"/>
            <a:ext cx="365760" cy="365760"/>
          </a:xfrm>
          <a:prstGeom prst="ellipse">
            <a:avLst/>
          </a:prstGeom>
          <a:solidFill>
            <a:srgbClr val="C41E3A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2286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模块一：认知重塑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冲稳保是语法不是方法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1984248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分数是最后一个变量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395728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信息收集是过滤噪音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807208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产业判断看四年后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218688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倒推规划从十年后往回算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630168"/>
            <a:ext cx="91440" cy="914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520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AI与人的分工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46120" y="1097280"/>
            <a:ext cx="2651760" cy="2286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模块二：协作与沟通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1572768"/>
            <a:ext cx="91440" cy="914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353872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冲稳保是风险偏好的翻译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1984248"/>
            <a:ext cx="91440" cy="914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53872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志愿表是第一次为自己做主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2395728"/>
            <a:ext cx="91440" cy="914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353872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家长沟通是摆信息差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2807208"/>
            <a:ext cx="91440" cy="914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353872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冲突处理让两边都被听见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3218688"/>
            <a:ext cx="91440" cy="914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3538728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案例是用来证伪的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8686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6035040" y="1097280"/>
            <a:ext cx="2651760" cy="2286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模块三：职业心态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72200" y="1572768"/>
            <a:ext cx="91440" cy="914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9" name="Text 37"/>
          <p:cNvSpPr/>
          <p:nvPr/>
        </p:nvSpPr>
        <p:spPr>
          <a:xfrm>
            <a:off x="6327648" y="1463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替人做决定是最大的风险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1984248"/>
            <a:ext cx="91440" cy="914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1874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口碑是副产品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2395728"/>
            <a:ext cx="91440" cy="914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43" name="Text 41"/>
          <p:cNvSpPr/>
          <p:nvPr/>
        </p:nvSpPr>
        <p:spPr>
          <a:xfrm>
            <a:off x="6327648" y="22860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AI时代判断力更值钱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2807208"/>
            <a:ext cx="91440" cy="914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45" name="Text 43"/>
          <p:cNvSpPr/>
          <p:nvPr/>
        </p:nvSpPr>
        <p:spPr>
          <a:xfrm>
            <a:off x="6327648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从"算得对"到"看得准"是道坎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12480" y="4709160"/>
            <a:ext cx="457200" cy="320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47" name="Text 45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推荐阅读与资源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持续成长，从阅读开始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71600"/>
            <a:ext cx="54864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《故事思维》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Annette Simmons 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84708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847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沟通力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560320"/>
            <a:ext cx="347472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2560320"/>
            <a:ext cx="54864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《非暴力沟通》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Marshall Rosenberg 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03580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3035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表达力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749040"/>
            <a:ext cx="347472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3749040"/>
            <a:ext cx="54864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《人性的弱点》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Dale Carnegie 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422452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42245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社交力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4630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463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12080" y="1371600"/>
            <a:ext cx="347472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2" name="Shape 30"/>
          <p:cNvSpPr/>
          <p:nvPr/>
        </p:nvSpPr>
        <p:spPr>
          <a:xfrm>
            <a:off x="5212080" y="1371600"/>
            <a:ext cx="54864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539496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《思考，快与慢》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Daniel Kahneman 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80960" y="184708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1847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决策力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6517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12080" y="2560320"/>
            <a:ext cx="347472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40" name="Shape 38"/>
          <p:cNvSpPr/>
          <p:nvPr/>
        </p:nvSpPr>
        <p:spPr>
          <a:xfrm>
            <a:off x="5212080" y="2560320"/>
            <a:ext cx="54864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5394960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《原子习惯》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James Clear 著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80960" y="303580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C41E3A"/>
          </a:solidFill>
          <a:ln/>
        </p:spPr>
      </p:sp>
      <p:sp>
        <p:nvSpPr>
          <p:cNvPr id="44" name="Text 42"/>
          <p:cNvSpPr/>
          <p:nvPr/>
        </p:nvSpPr>
        <p:spPr>
          <a:xfrm>
            <a:off x="7680960" y="3035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执行力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84048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212080" y="3749040"/>
            <a:ext cx="3474720" cy="914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48" name="Shape 46"/>
          <p:cNvSpPr/>
          <p:nvPr/>
        </p:nvSpPr>
        <p:spPr>
          <a:xfrm>
            <a:off x="5212080" y="3749040"/>
            <a:ext cx="54864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539496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《原则》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39496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Ray Dalio 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680960" y="4224528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C41E3A"/>
          </a:solidFill>
          <a:ln/>
        </p:spPr>
      </p:sp>
      <p:sp>
        <p:nvSpPr>
          <p:cNvPr id="52" name="Text 50"/>
          <p:cNvSpPr/>
          <p:nvPr/>
        </p:nvSpPr>
        <p:spPr>
          <a:xfrm>
            <a:off x="7680960" y="42245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思维力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663440"/>
            <a:ext cx="228600" cy="2286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7772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提示：每本书都值得反复阅读，结合实践加深理解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延伸学习路径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持续精进的四个阶段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280160" cy="12801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1005840" cy="100584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基础夯实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框架搭建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2395728"/>
            <a:ext cx="146304" cy="14630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1828800"/>
            <a:ext cx="1280160" cy="12801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965960"/>
            <a:ext cx="1005840" cy="100584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146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2395728"/>
            <a:ext cx="146304" cy="14630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828800"/>
            <a:ext cx="1280160" cy="12801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4920" y="1965960"/>
            <a:ext cx="1005840" cy="100584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技巧打磨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沟通话术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专项训练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395728"/>
            <a:ext cx="146304" cy="146304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86600" y="1828800"/>
            <a:ext cx="1280160" cy="12801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965960"/>
            <a:ext cx="1005840" cy="100584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122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思维进阶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决策升级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推荐资源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46227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行业报告研读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446227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案例库持续更新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4462272"/>
            <a:ext cx="164592" cy="164592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407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定期复盘工作坊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D4D4D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8B00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731520"/>
            <a:ext cx="731520" cy="731520"/>
          </a:xfrm>
          <a:prstGeom prst="ellipse">
            <a:avLst/>
          </a:prstGeom>
          <a:solidFill>
            <a:srgbClr val="C41E3A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25603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3840480"/>
            <a:ext cx="274320" cy="274320"/>
          </a:xfrm>
          <a:prstGeom prst="ellipse">
            <a:avLst/>
          </a:prstGeom>
          <a:solidFill>
            <a:srgbClr val="8B0000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0" y="3657600"/>
            <a:ext cx="27432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4023360"/>
            <a:ext cx="228600" cy="2286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4023360"/>
            <a:ext cx="228600" cy="228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4023360"/>
            <a:ext cx="228600" cy="2286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A类决策：深入案例分析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什么是A类决策？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280160" cy="12801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2011680"/>
            <a:ext cx="548640" cy="54864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51760" y="1691640"/>
            <a:ext cx="914400" cy="9144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2011680"/>
            <a:ext cx="457200" cy="54864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89120" y="1874520"/>
            <a:ext cx="640080" cy="640080"/>
          </a:xfrm>
          <a:prstGeom prst="ellipse">
            <a:avLst/>
          </a:prstGeom>
          <a:solidFill>
            <a:srgbClr val="C41E3A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965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0" y="2240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1737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志愿填报是典型的A类决策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10058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33832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替孩子做决定，本质上是剥夺了孩子"为自己承担后果"的成长机会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遇到困难时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推卸责任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411480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32918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8620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无法建立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自我效能感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411480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84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长期依赖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外部决策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A4A4A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信任建设：制度透明与面对面温度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构建组织信任的双支柱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737360"/>
            <a:ext cx="822960" cy="10058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1920240"/>
            <a:ext cx="54864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2148840" y="2103120"/>
            <a:ext cx="54864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2148840" y="2286000"/>
            <a:ext cx="36576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制度透明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政策公开可查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流程清晰透明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标准一致执行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决策有据可依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63040"/>
            <a:ext cx="393192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2286000"/>
            <a:ext cx="365760" cy="3657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2286000"/>
            <a:ext cx="365760" cy="36576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面对面温度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064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直接沟通交流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情感真实传递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信任面对面建立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关怀触手可及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2834640"/>
            <a:ext cx="91440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制度是骨骼，面对面是血液 — 二者缺一不可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AI时代的信任挑战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数字化浪潮中的信任危机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265176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645920"/>
            <a:ext cx="640080" cy="64008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1828800"/>
            <a:ext cx="274320" cy="2286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1673352" y="1737360"/>
            <a:ext cx="219456" cy="182880"/>
          </a:xfrm>
          <a:prstGeom prst="ellips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数据隐私担忧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834640"/>
            <a:ext cx="173736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71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员工担心个人信息被收集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AI监控引发不安全感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数据用途不透明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4173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417320"/>
            <a:ext cx="265176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1645920"/>
            <a:ext cx="640080" cy="64008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4840" y="1783080"/>
            <a:ext cx="36576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44568" y="1874520"/>
            <a:ext cx="146304" cy="1371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算法黑箱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49040" y="2834640"/>
            <a:ext cx="173736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971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决策过程难以理解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结果无法预测和解释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公平性存疑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417320"/>
            <a:ext cx="26517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417320"/>
            <a:ext cx="2651760" cy="54864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0" y="1645920"/>
            <a:ext cx="640080" cy="640080"/>
          </a:xfrm>
          <a:prstGeom prst="ellipse">
            <a:avLst/>
          </a:prstGeom>
          <a:solidFill>
            <a:srgbClr val="D4D4D4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1801368"/>
            <a:ext cx="274320" cy="256032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人际温度流失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83680" y="2834640"/>
            <a:ext cx="173736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9718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远程办公减少互动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情感连接被削弱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归属感降低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挑战即机遇 — 把AI变成信任的桥梁而非屏障</a:t>
            </a:r>
            <a:endParaRPr lang="en-US" sz="1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制度透明的四个维度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构建可信赖的组织运营体系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1691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政策公开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Transparency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规章制度、决策依据、考核标准全部公开可查，消除"暗箱操作"疑虑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371600"/>
            <a:ext cx="73152" cy="1691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00200"/>
            <a:ext cx="502920" cy="5029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321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流程可视化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3212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Visibility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关键业务流程透明展示，每一步都有记录可追溯，结果可解释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46120"/>
            <a:ext cx="73152" cy="1691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474720"/>
            <a:ext cx="502920" cy="50292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标准一致性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Consistency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160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统一的标准应用于所有成员，不因人因事而异，一视同仁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2461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246120"/>
            <a:ext cx="73152" cy="1691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347472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3474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反馈机制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321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Mechanism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160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建立畅通的申诉渠道和意见反馈途径，闭环处理全程透明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透明是信任的起点，可视是信任的保障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84048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面对面沟通的价值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为什么数字沟通无法替代真实的温度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0515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9164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更丰富的反馈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眼神、表情、语气、肢体语言 — 沟通中93%的信息来自非语言表达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06040"/>
            <a:ext cx="73152" cy="10515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92608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建立情感连接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真实的微笑、握手、点头 — 这些微小的身体接触能激活信任激素分泌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303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40480"/>
            <a:ext cx="73152" cy="10515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160520"/>
            <a:ext cx="411480" cy="4114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高效解决冲突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343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当面沟通可以即时澄清误解，避免文字沟通中的冷漠感和猜疑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1371600"/>
            <a:ext cx="2651760" cy="3520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6309360" y="2194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当面的一个小时，胜过线上的一整天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35040" y="3931920"/>
            <a:ext cx="2651760" cy="9601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977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04088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信任度提升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当面沟通vs文字沟通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5303520" cy="3657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709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创造更多"当面"的机会，是管理者的重要责任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如何设计信任建设活动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从设计到落地的完整指南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402336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活动类型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一对一谈心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67712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67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团队建设活动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06624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开放日/参观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274320" cy="2743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45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意见征集会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325880"/>
            <a:ext cx="182880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频率建议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828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每月1次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267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团队活动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267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每季度1次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7066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7066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每半年1次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145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意见征集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3145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每月1次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13258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1325880"/>
            <a:ext cx="2011680" cy="4114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成功指标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66560" y="1901952"/>
            <a:ext cx="137160" cy="1371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员工满意度分数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2340864"/>
            <a:ext cx="137160" cy="1371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995160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主动反馈数量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2779776"/>
            <a:ext cx="137160" cy="1371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27066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参与覆盖率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3218688"/>
            <a:ext cx="137160" cy="1371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995160" y="3145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问题解决闭环率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Checklist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42062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965960" y="42062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4" name="Text 42"/>
          <p:cNvSpPr/>
          <p:nvPr/>
        </p:nvSpPr>
        <p:spPr>
          <a:xfrm>
            <a:off x="196596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33172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选择形式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91840" y="42062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65760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准备话题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17720" y="42062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0" name="Text 48"/>
          <p:cNvSpPr/>
          <p:nvPr/>
        </p:nvSpPr>
        <p:spPr>
          <a:xfrm>
            <a:off x="461772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98348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营造安全氛围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43600" y="42062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3" name="Text 51"/>
          <p:cNvSpPr/>
          <p:nvPr/>
        </p:nvSpPr>
        <p:spPr>
          <a:xfrm>
            <a:off x="594360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0936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跟踪反馈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69480" y="42062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6" name="Text 54"/>
          <p:cNvSpPr/>
          <p:nvPr/>
        </p:nvSpPr>
        <p:spPr>
          <a:xfrm>
            <a:off x="726948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63524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31520" cy="3657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月度沟通会设计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某科技公司信任建设实践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会议结构（90分钟）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91640"/>
            <a:ext cx="118872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91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0-10分钟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开场破冰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轻松话题、日常分享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31720"/>
            <a:ext cx="118872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31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10-40分钟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业务透明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0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公司业绩、数据分享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971800"/>
            <a:ext cx="118872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71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40-70分钟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开放讨论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2971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员工提问、现场解答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611880"/>
            <a:ext cx="1188720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70-90分钟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茶歇交流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0" y="3611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非正式、深入沟通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跟进机制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48小时内回复所有问题 | 每月输出会议纪要 | 跟踪问题闭环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88620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886200"/>
            <a:ext cx="73152" cy="7772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成功关键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领导层亲自出席 | 真实回答不回避 | 承诺必兑现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效果：员工满意度从72分提升至89分，主动反馈量增加3倍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3152" cy="502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情景演练说明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即将进入实战练习环节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53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角色扮演练习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通过模拟真实工作场景，练习在复杂情境下建立和维护信任的沟通技巧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265176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331720"/>
            <a:ext cx="82296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31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团队冲突调解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两位核心成员因项目方向产生严重分歧，影响团队协作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840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练习重点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如何透明沟通、化解矛盾、重建信任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14884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148840"/>
            <a:ext cx="265176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2331720"/>
            <a:ext cx="82296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331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新员工适应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3154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新入职员工感觉被孤立，融入困难，开始质疑公司文化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840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练习重点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如何主动关怀、消除隔阂、建立归属感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14884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148840"/>
            <a:ext cx="2651760" cy="7315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263640" y="2331720"/>
            <a:ext cx="822960" cy="3200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3317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AI监控担忧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63640" y="3154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员工得知公司引入AI监控系统后，产生强烈不安和抵触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840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练习重点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如何公开透明、解释说明、消除疑虑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4434840"/>
            <a:ext cx="73152" cy="5943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498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练习方式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47365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两人一组，一人扮演管理者，一人扮演员工，交换角色重复练习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学习资源推荐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173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天天基金网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基金数据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晨星网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基金评级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4173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投资社区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337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简七读财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320040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337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8328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《解读基金》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8328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经典书籍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投资工具清单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7772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8016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C41E3A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天天基金APP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买卖基金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7772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240280"/>
            <a:ext cx="73152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8B0000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方便定投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7772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200400"/>
            <a:ext cx="73152" cy="8229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4A4A4A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资金计算器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算复利收益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4160520"/>
            <a:ext cx="7772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160520"/>
            <a:ext cx="73152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C41E3A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番茄todo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876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培养定投习惯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进阶学习路径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1645920"/>
            <a:ext cx="54864" cy="29260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17320"/>
            <a:ext cx="411480" cy="4114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280160"/>
            <a:ext cx="68580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417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基金定投实战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737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0" y="1508760"/>
            <a:ext cx="73152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508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331720"/>
            <a:ext cx="411480" cy="4114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54480" y="2194560"/>
            <a:ext cx="6858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股票投资入门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2651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选股技巧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2423160"/>
            <a:ext cx="73152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2423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411480" cy="4114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54480" y="3108960"/>
            <a:ext cx="6858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全球资产配置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737360" y="3566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分散风险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4160520"/>
            <a:ext cx="411480" cy="4114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54480" y="4023360"/>
            <a:ext cx="6858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投资心理学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737360" y="4480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心态管理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课程回顾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86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91440" cy="1554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选基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五维评估法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1280160"/>
            <a:ext cx="3886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80160"/>
            <a:ext cx="91440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5544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74920" y="21945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微笑曲线原理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886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91440" cy="1554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918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止盈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四种策略选择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38862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017520"/>
            <a:ext cx="91440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2918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074920" y="3931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核心+卫星模型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114800" y="2468880"/>
            <a:ext cx="914400" cy="73152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6400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0" y="13716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"选基金就是选人"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468880" y="2011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基金经理是灵魂，研究经理比研究基金更重要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3017520"/>
            <a:ext cx="1828800" cy="1828800"/>
          </a:xfrm>
          <a:prstGeom prst="ellipse">
            <a:avLst/>
          </a:prstGeom>
          <a:solidFill>
            <a:srgbClr val="D4D4D4">
              <a:alpha val="50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3931920"/>
            <a:ext cx="1280160" cy="7315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基金经理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看人 &gt; 看数据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6400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0" y="13716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"定投是时间的朋友"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468880" y="2011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微笑曲线需要耐心，坚持3-5年效果显著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solidFill>
            <a:srgbClr val="C41E3A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3474720"/>
            <a:ext cx="2286000" cy="1097280"/>
          </a:xfrm>
          <a:prstGeom prst="line">
            <a:avLst/>
          </a:prstGeom>
          <a:noFill/>
          <a:ln w="50800">
            <a:solidFill>
              <a:srgbClr val="C41E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4572000"/>
            <a:ext cx="2286000" cy="-1097280"/>
          </a:xfrm>
          <a:prstGeom prst="line">
            <a:avLst/>
          </a:prstGeom>
          <a:noFill/>
          <a:ln w="50800">
            <a:solidFill>
              <a:srgbClr val="8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4572000"/>
            <a:ext cx="457200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8872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开始定投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时间创造价值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6400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0" y="13716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"止盈是利润的守护神"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468880" y="2011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会买是徒弟，会卖是师傅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86200" y="2926080"/>
            <a:ext cx="1371600" cy="1645920"/>
          </a:xfrm>
          <a:prstGeom prst="rect">
            <a:avLst/>
          </a:prstGeom>
          <a:solidFill>
            <a:srgbClr val="C41E3A"/>
          </a:solidFill>
          <a:ln/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0" y="3200400"/>
            <a:ext cx="914400" cy="9144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锁定利润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会卖才是师傅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2286000" y="1188720"/>
            <a:ext cx="6400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0" y="13716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"组合优于单一"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468880" y="20116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分散风险，稳健收益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4114800"/>
            <a:ext cx="27432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3017520"/>
            <a:ext cx="4572000" cy="914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3200400"/>
            <a:ext cx="109728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3063240"/>
            <a:ext cx="91440" cy="1828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3200400"/>
            <a:ext cx="109728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3063240"/>
            <a:ext cx="91440" cy="1828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分散风险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成功投资者特质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0876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有耐心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不急于求成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50876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508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3504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有纪律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执行定投计划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2880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有判断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不盲目跟风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3429000"/>
            <a:ext cx="914400" cy="9144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429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35040" y="3474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有学习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3504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持续提升认知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常见投资心理偏差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0" y="182880"/>
            <a:ext cx="548640" cy="54864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182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88720"/>
            <a:ext cx="73152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389888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损失厌恶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亏1万比赚1万更痛苦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463040"/>
            <a:ext cx="73152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463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167128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167128"/>
            <a:ext cx="73152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368296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368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2304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从众心理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2670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大家买我也买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2441448"/>
            <a:ext cx="731520" cy="3200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24414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145536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145536"/>
            <a:ext cx="73152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346704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32826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过度自信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25880" y="36484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我能预测市场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06640" y="3419856"/>
            <a:ext cx="73152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341985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123944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123944"/>
            <a:ext cx="73152" cy="8686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4325112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25880" y="42611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锚定效应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25880" y="4626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死死盯着买入价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06640" y="4398264"/>
            <a:ext cx="73152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7406640" y="439826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克服心理偏差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384048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设置自动定投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排除情绪干扰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188720"/>
            <a:ext cx="384048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46720" y="1325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56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少看净值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2356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多做正事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926080"/>
            <a:ext cx="384048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048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坚持记录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强化理性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26080"/>
            <a:ext cx="384048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315468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04672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2356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找到社群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2356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互相监督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案例分享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月光族的蜕变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2514600"/>
            <a:ext cx="6949440" cy="54864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377440"/>
            <a:ext cx="365760" cy="36576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" y="2880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月薪8000的小李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0880" y="2377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86512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99360" y="2880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月光，不知道钱花哪了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47360" y="2377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18160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5840" y="2880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开始定投指数基金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2377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880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3年后账户有15万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474720"/>
            <a:ext cx="2743200" cy="1097280"/>
          </a:xfrm>
          <a:prstGeom prst="rect">
            <a:avLst/>
          </a:prstGeom>
          <a:solidFill>
            <a:srgbClr val="C41E3A">
              <a:alpha val="90000"/>
            </a:srgbClr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520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15万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2004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3年积累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每月省下2000元定投，3年实现财务蜕变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案例分享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教师的养老规划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40岁教师王老师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20年后退休有钱花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股债组合+定投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4572000" cy="1097280"/>
          </a:xfrm>
          <a:prstGeom prst="rect">
            <a:avLst/>
          </a:prstGeom>
          <a:solidFill>
            <a:srgbClr val="C41E3A">
              <a:alpha val="10000"/>
            </a:srgbClr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测算假设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月投3000元 | 年化8%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投资期限 20年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1097280"/>
            <a:ext cx="3017520" cy="3749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20年后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400万+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66928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总资产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3291840"/>
            <a:ext cx="246888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3429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本金: 72万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收益: 328万+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4206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收益/本金 = 4.5倍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互动环节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分享你的定投计划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思考并与同伴交流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6517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你准备每月定投多少钱?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20440" y="24688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6517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你选择了哪只基金?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2468880"/>
            <a:ext cx="25603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26517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你的止盈目标是多少?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 3-5 分钟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环节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2743200" cy="2743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4630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0" y="29260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关于选基...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560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关于定投...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关于止盈...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关于组合...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请自由提问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课程顾问将逐一解答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学习效果自检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课程结束前，对照检查自己的学习成果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91640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54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能说出五维选基法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095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28600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423160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能解释微笑曲线原理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0956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01752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154680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30175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能选择适合自己的止盈策略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095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74904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886200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3749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能设计简单的基金组合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0956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4480560"/>
            <a:ext cx="7772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44805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知道如何开始第一步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0956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全部通过 = 已具备开始定投的能力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恭喜你完成课程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86200" y="1188720"/>
            <a:ext cx="1371600" cy="13716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1188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7315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你已经掌握了基金投资的核心知识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3520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下一步就是开始行动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记住：小步前进，持续迭代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2560320"/>
            <a:ext cx="91440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附录：核心术语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8229600" cy="685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71800" y="11887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18745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基金每份的价值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560320"/>
            <a:ext cx="8229600" cy="685800"/>
          </a:xfrm>
          <a:prstGeom prst="rect">
            <a:avLst/>
          </a:prstGeom>
          <a:solidFill>
            <a:srgbClr val="F8F8F8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60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71800" y="25603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定期定额投资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461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申购/赎回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71800" y="32461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买入/卖出基金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8229600" cy="685800"/>
          </a:xfrm>
          <a:prstGeom prst="rect">
            <a:avLst/>
          </a:prstGeom>
          <a:solidFill>
            <a:srgbClr val="F8F8F8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319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71800" y="39319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卖出锁定利润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46177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617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再平衡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71800" y="46177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调整资产比例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附录：选基检查清单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3560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801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近3年收益率 &gt; 50%?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0956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0574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基金经理从业 &gt; 5年?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99008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8346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基金规模 5-100亿?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0956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76732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6118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管理费率 &lt; 1.5%?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0956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38912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54456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3891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基金公司口碑好?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0956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附录：定投检查清单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3560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801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 = 月收入10-20%?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0956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0574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 = 发薪日后1-3天?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299008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8346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已设置自动扣款?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09560" y="2990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76732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6118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选择智能定投?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0956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38912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54456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3891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记录每次定投?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0956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附录：止盈检查清单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8132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801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已设定止盈目标?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0956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167128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368296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16712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已选择止盈策略?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09560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054096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255264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054096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知道如何再投资?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09560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941064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142232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C41E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941064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制定了纠错机制?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0956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止盈后不要让资金闲置，及时再投资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附录：组合检查清单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81328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801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核心基金占比60-70%?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09560" y="1481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167128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368296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16712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卫星基金占比30-40%?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09560" y="2368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054096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255264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054096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股债比例匹配年龄?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09560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941064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142232"/>
            <a:ext cx="365760" cy="365760"/>
          </a:xfrm>
          <a:prstGeom prst="rect">
            <a:avLst/>
          </a:prstGeom>
          <a:solidFill>
            <a:srgbClr val="F8F8F8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941064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已制定再平衡计划?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0956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297680"/>
            <a:ext cx="7772400" cy="548640"/>
          </a:xfrm>
          <a:prstGeom prst="rect">
            <a:avLst/>
          </a:prstGeom>
          <a:solidFill>
            <a:srgbClr val="8B0000">
              <a:alpha val="10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97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提示：年龄越大，债券比例应越高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课程顾问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[机构名称]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客服热线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400-XXX-XXXX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3760" y="173736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金融学员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如有疑问，欢迎随时咨询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课程反馈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您的反馈对我们很重要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课程整体评分: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691640"/>
            <a:ext cx="4846320" cy="411480"/>
          </a:xfrm>
          <a:prstGeom prst="rect">
            <a:avLst/>
          </a:prstGeom>
          <a:solidFill>
            <a:srgbClr val="F8F8F8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[1-5星]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37744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77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最喜欢的模块: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2560320"/>
            <a:ext cx="4846320" cy="411480"/>
          </a:xfrm>
          <a:prstGeom prst="rect">
            <a:avLst/>
          </a:prstGeom>
          <a:solidFill>
            <a:srgbClr val="F8F8F8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560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[选择]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46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3429000"/>
            <a:ext cx="4846320" cy="411480"/>
          </a:xfrm>
          <a:prstGeom prst="rect">
            <a:avLst/>
          </a:prstGeom>
          <a:solidFill>
            <a:srgbClr val="F8F8F8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429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[填空]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114800"/>
            <a:ext cx="7772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1148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是否推荐给朋友: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4297680"/>
            <a:ext cx="4846320" cy="411480"/>
          </a:xfrm>
          <a:prstGeom prst="rect">
            <a:avLst/>
          </a:prstGeom>
          <a:solidFill>
            <a:srgbClr val="F8F8F8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4297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[是/否]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4572000"/>
            <a:ext cx="3657600" cy="411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4572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感谢您的反馈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1887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感谢学习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2606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祝您投资顺利，早日实现财务目标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0" y="3383280"/>
            <a:ext cx="5486400" cy="9144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383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基金定投实战 - 选基择时与止盈策略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4572000"/>
            <a:ext cx="54864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03-基金定投实战-选基择时与止盈策略</dc:title>
  <dc:subject>基金投资教学</dc:subject>
  <dc:creator>AI 课程开发团队</dc:creator>
  <cp:lastModifiedBy>AI 课程开发团队</cp:lastModifiedBy>
  <cp:revision>1</cp:revision>
  <dcterms:created xsi:type="dcterms:W3CDTF">2026-08-19T06:25:59Z</dcterms:created>
  <dcterms:modified xsi:type="dcterms:W3CDTF">2026-08-19T06:25:59Z</dcterms:modified>
</cp:coreProperties>
</file>