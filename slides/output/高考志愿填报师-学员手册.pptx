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Lst>
  <p:notesMasterIdLst>
    <p:notesMasterId r:id="rId9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notesMaster" Target="notesMasters/notesMaster1.xml"/><Relationship Id="rId98" Type="http://schemas.openxmlformats.org/officeDocument/2006/relationships/presProps" Target="presProps.xml"/><Relationship Id="rId99" Type="http://schemas.openxmlformats.org/officeDocument/2006/relationships/viewProps" Target="viewProps.xml"/><Relationship Id="rId100" Type="http://schemas.openxmlformats.org/officeDocument/2006/relationships/theme" Target="theme/theme1.xml"/><Relationship Id="rId10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D42"/>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F233C"/>
          </a:solidFill>
          <a:ln/>
        </p:spPr>
      </p:sp>
      <p:sp>
        <p:nvSpPr>
          <p:cNvPr id="3" name="Shape 1"/>
          <p:cNvSpPr/>
          <p:nvPr/>
        </p:nvSpPr>
        <p:spPr>
          <a:xfrm>
            <a:off x="731520" y="2103120"/>
            <a:ext cx="2743200" cy="27432"/>
          </a:xfrm>
          <a:prstGeom prst="rect">
            <a:avLst/>
          </a:prstGeom>
          <a:solidFill>
            <a:srgbClr val="EF233C"/>
          </a:solidFill>
          <a:ln/>
        </p:spPr>
      </p:sp>
      <p:sp>
        <p:nvSpPr>
          <p:cNvPr id="4" name="Text 2"/>
          <p:cNvSpPr/>
          <p:nvPr/>
        </p:nvSpPr>
        <p:spPr>
          <a:xfrm>
            <a:off x="731520" y="1280160"/>
            <a:ext cx="7772400" cy="822960"/>
          </a:xfrm>
          <a:prstGeom prst="rect">
            <a:avLst/>
          </a:prstGeom>
          <a:noFill/>
          <a:ln/>
        </p:spPr>
        <p:txBody>
          <a:bodyPr wrap="square" rtlCol="0" anchor="b"/>
          <a:lstStyle/>
          <a:p>
            <a:pPr algn="l" indent="0" marL="0">
              <a:buNone/>
            </a:pPr>
            <a:r>
              <a:rPr lang="en-US" sz="5400" b="1" dirty="0">
                <a:solidFill>
                  <a:srgbClr val="FFFFFF"/>
                </a:solidFill>
                <a:latin typeface="Microsoft YaHei" pitchFamily="34" charset="0"/>
                <a:ea typeface="Microsoft YaHei" pitchFamily="34" charset="-122"/>
                <a:cs typeface="Microsoft YaHei" pitchFamily="34" charset="-120"/>
              </a:rPr>
              <a:t>倒推十年</a:t>
            </a:r>
            <a:endParaRPr lang="en-US" sz="5400" dirty="0"/>
          </a:p>
        </p:txBody>
      </p:sp>
      <p:sp>
        <p:nvSpPr>
          <p:cNvPr id="5" name="Text 3"/>
          <p:cNvSpPr/>
          <p:nvPr/>
        </p:nvSpPr>
        <p:spPr>
          <a:xfrm>
            <a:off x="731520" y="2286000"/>
            <a:ext cx="7772400" cy="548640"/>
          </a:xfrm>
          <a:prstGeom prst="rect">
            <a:avLst/>
          </a:prstGeom>
          <a:noFill/>
          <a:ln/>
        </p:spPr>
        <p:txBody>
          <a:bodyPr wrap="square" rtlCol="0" anchor="t"/>
          <a:lstStyle/>
          <a:p>
            <a:pPr algn="l" indent="0" marL="0">
              <a:buNone/>
            </a:pPr>
            <a:r>
              <a:rPr lang="en-US" sz="2400" dirty="0">
                <a:solidFill>
                  <a:srgbClr val="EDF2F4"/>
                </a:solidFill>
                <a:latin typeface="Microsoft YaHei" pitchFamily="34" charset="0"/>
                <a:ea typeface="Microsoft YaHei" pitchFamily="34" charset="-122"/>
                <a:cs typeface="Microsoft YaHei" pitchFamily="34" charset="-120"/>
              </a:rPr>
              <a:t>高考志愿填报师工作手册</a:t>
            </a:r>
            <a:endParaRPr lang="en-US" sz="2400" dirty="0"/>
          </a:p>
        </p:txBody>
      </p:sp>
      <p:sp>
        <p:nvSpPr>
          <p:cNvPr id="6" name="Text 4"/>
          <p:cNvSpPr/>
          <p:nvPr/>
        </p:nvSpPr>
        <p:spPr>
          <a:xfrm>
            <a:off x="731520" y="3108960"/>
            <a:ext cx="3657600" cy="457200"/>
          </a:xfrm>
          <a:prstGeom prst="rect">
            <a:avLst/>
          </a:prstGeom>
          <a:noFill/>
          <a:ln/>
        </p:spPr>
        <p:txBody>
          <a:bodyPr wrap="square" rtlCol="0" anchor="ctr"/>
          <a:lstStyle/>
          <a:p>
            <a:pPr algn="l" indent="0" marL="0">
              <a:buNone/>
            </a:pPr>
            <a:r>
              <a:rPr lang="en-US" sz="2000" dirty="0">
                <a:solidFill>
                  <a:srgbClr val="8D99AE"/>
                </a:solidFill>
                <a:latin typeface="Microsoft YaHei" pitchFamily="34" charset="0"/>
                <a:ea typeface="Microsoft YaHei" pitchFamily="34" charset="-122"/>
                <a:cs typeface="Microsoft YaHei" pitchFamily="34" charset="-120"/>
              </a:rPr>
              <a:t>罗宏伟</a:t>
            </a:r>
            <a:endParaRPr lang="en-US" sz="2000" dirty="0"/>
          </a:p>
        </p:txBody>
      </p:sp>
      <p:sp>
        <p:nvSpPr>
          <p:cNvPr id="7" name="Shape 5"/>
          <p:cNvSpPr/>
          <p:nvPr/>
        </p:nvSpPr>
        <p:spPr>
          <a:xfrm>
            <a:off x="731520" y="4389120"/>
            <a:ext cx="1645920" cy="457200"/>
          </a:xfrm>
          <a:prstGeom prst="rect">
            <a:avLst/>
          </a:prstGeom>
          <a:solidFill>
            <a:srgbClr val="EF233C"/>
          </a:solidFill>
          <a:ln/>
        </p:spPr>
      </p:sp>
      <p:sp>
        <p:nvSpPr>
          <p:cNvPr id="8" name="Text 6"/>
          <p:cNvSpPr/>
          <p:nvPr/>
        </p:nvSpPr>
        <p:spPr>
          <a:xfrm>
            <a:off x="731520" y="4389120"/>
            <a:ext cx="164592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学员手册</a:t>
            </a:r>
            <a:endParaRPr lang="en-US" sz="1400" dirty="0"/>
          </a:p>
        </p:txBody>
      </p:sp>
      <p:sp>
        <p:nvSpPr>
          <p:cNvPr id="9" name="Shape 7"/>
          <p:cNvSpPr/>
          <p:nvPr/>
        </p:nvSpPr>
        <p:spPr>
          <a:xfrm rot="2700000">
            <a:off x="7772400" y="731520"/>
            <a:ext cx="1097280" cy="1097280"/>
          </a:xfrm>
          <a:prstGeom prst="rect">
            <a:avLst/>
          </a:prstGeom>
          <a:solidFill>
            <a:srgbClr val="EF233C"/>
          </a:solidFill>
          <a:ln/>
        </p:spPr>
      </p:sp>
      <p:sp>
        <p:nvSpPr>
          <p:cNvPr id="10" name="Shape 8"/>
          <p:cNvSpPr/>
          <p:nvPr/>
        </p:nvSpPr>
        <p:spPr>
          <a:xfrm rot="2700000">
            <a:off x="7132320" y="1371600"/>
            <a:ext cx="731520" cy="731520"/>
          </a:xfrm>
          <a:prstGeom prst="rect">
            <a:avLst/>
          </a:prstGeom>
          <a:solidFill>
            <a:srgbClr val="8D99A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F233C"/>
          </a:solidFill>
          <a:ln/>
        </p:spPr>
      </p:sp>
      <p:sp>
        <p:nvSpPr>
          <p:cNvPr id="3" name="Text 1"/>
          <p:cNvSpPr/>
          <p:nvPr/>
        </p:nvSpPr>
        <p:spPr>
          <a:xfrm>
            <a:off x="457200" y="274320"/>
            <a:ext cx="8229600" cy="731520"/>
          </a:xfrm>
          <a:prstGeom prst="rect">
            <a:avLst/>
          </a:prstGeom>
          <a:noFill/>
          <a:ln/>
        </p:spPr>
        <p:txBody>
          <a:bodyPr wrap="square" rtlCol="0" anchor="ctr"/>
          <a:lstStyle/>
          <a:p>
            <a:pPr indent="0" marL="0">
              <a:buNone/>
            </a:pPr>
            <a:r>
              <a:rPr lang="en-US" sz="3600" b="1" dirty="0">
                <a:solidFill>
                  <a:srgbClr val="2B2D42"/>
                </a:solidFill>
                <a:latin typeface="Microsoft YaHei" pitchFamily="34" charset="0"/>
                <a:ea typeface="Microsoft YaHei" pitchFamily="34" charset="-122"/>
                <a:cs typeface="Microsoft YaHei" pitchFamily="34" charset="-120"/>
              </a:rPr>
              <a:t>目录</a:t>
            </a:r>
            <a:endParaRPr lang="en-US" sz="3600" dirty="0"/>
          </a:p>
        </p:txBody>
      </p:sp>
      <p:sp>
        <p:nvSpPr>
          <p:cNvPr id="4" name="Shape 2"/>
          <p:cNvSpPr/>
          <p:nvPr/>
        </p:nvSpPr>
        <p:spPr>
          <a:xfrm>
            <a:off x="457200" y="914400"/>
            <a:ext cx="1097280" cy="36576"/>
          </a:xfrm>
          <a:prstGeom prst="rect">
            <a:avLst/>
          </a:prstGeom>
          <a:solidFill>
            <a:srgbClr val="EF233C"/>
          </a:solidFill>
          <a:ln/>
        </p:spPr>
      </p:sp>
      <p:sp>
        <p:nvSpPr>
          <p:cNvPr id="5" name="Shape 3"/>
          <p:cNvSpPr/>
          <p:nvPr/>
        </p:nvSpPr>
        <p:spPr>
          <a:xfrm>
            <a:off x="457200" y="1280160"/>
            <a:ext cx="457200" cy="457200"/>
          </a:xfrm>
          <a:prstGeom prst="roundRect">
            <a:avLst>
              <a:gd name="adj" fmla="val 10000"/>
            </a:avLst>
          </a:prstGeom>
          <a:solidFill>
            <a:srgbClr val="EF233C"/>
          </a:solidFill>
          <a:ln/>
        </p:spPr>
      </p:sp>
      <p:sp>
        <p:nvSpPr>
          <p:cNvPr id="6" name="Text 4"/>
          <p:cNvSpPr/>
          <p:nvPr/>
        </p:nvSpPr>
        <p:spPr>
          <a:xfrm>
            <a:off x="457200" y="128016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01</a:t>
            </a:r>
            <a:endParaRPr lang="en-US" sz="1800" dirty="0"/>
          </a:p>
        </p:txBody>
      </p:sp>
      <p:sp>
        <p:nvSpPr>
          <p:cNvPr id="7" name="Text 5"/>
          <p:cNvSpPr/>
          <p:nvPr/>
        </p:nvSpPr>
        <p:spPr>
          <a:xfrm>
            <a:off x="1097280" y="1280160"/>
            <a:ext cx="3657600" cy="457200"/>
          </a:xfrm>
          <a:prstGeom prst="rect">
            <a:avLst/>
          </a:prstGeom>
          <a:noFill/>
          <a:ln/>
        </p:spPr>
        <p:txBody>
          <a:bodyPr wrap="square" rtlCol="0" anchor="ctr"/>
          <a:lstStyle/>
          <a:p>
            <a:pPr indent="0" marL="0">
              <a:buNone/>
            </a:pPr>
            <a:r>
              <a:rPr lang="en-US" sz="2200" b="1" dirty="0">
                <a:solidFill>
                  <a:srgbClr val="2B2D42"/>
                </a:solidFill>
                <a:latin typeface="Microsoft YaHei" pitchFamily="34" charset="0"/>
                <a:ea typeface="Microsoft YaHei" pitchFamily="34" charset="-122"/>
                <a:cs typeface="Microsoft YaHei" pitchFamily="34" charset="-120"/>
              </a:rPr>
              <a:t>模块一：认知重塑</a:t>
            </a:r>
            <a:endParaRPr lang="en-US" sz="2200" dirty="0"/>
          </a:p>
        </p:txBody>
      </p:sp>
      <p:sp>
        <p:nvSpPr>
          <p:cNvPr id="8" name="Text 6"/>
          <p:cNvSpPr/>
          <p:nvPr/>
        </p:nvSpPr>
        <p:spPr>
          <a:xfrm>
            <a:off x="4754880" y="1280160"/>
            <a:ext cx="1828800" cy="45720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第1-6章</a:t>
            </a:r>
            <a:endParaRPr lang="en-US" sz="1400" dirty="0"/>
          </a:p>
        </p:txBody>
      </p:sp>
      <p:sp>
        <p:nvSpPr>
          <p:cNvPr id="9" name="Shape 7"/>
          <p:cNvSpPr/>
          <p:nvPr/>
        </p:nvSpPr>
        <p:spPr>
          <a:xfrm>
            <a:off x="457200" y="2011680"/>
            <a:ext cx="457200" cy="457200"/>
          </a:xfrm>
          <a:prstGeom prst="roundRect">
            <a:avLst>
              <a:gd name="adj" fmla="val 10000"/>
            </a:avLst>
          </a:prstGeom>
          <a:solidFill>
            <a:srgbClr val="EF233C"/>
          </a:solidFill>
          <a:ln/>
        </p:spPr>
      </p:sp>
      <p:sp>
        <p:nvSpPr>
          <p:cNvPr id="10" name="Text 8"/>
          <p:cNvSpPr/>
          <p:nvPr/>
        </p:nvSpPr>
        <p:spPr>
          <a:xfrm>
            <a:off x="457200" y="201168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02</a:t>
            </a:r>
            <a:endParaRPr lang="en-US" sz="1800" dirty="0"/>
          </a:p>
        </p:txBody>
      </p:sp>
      <p:sp>
        <p:nvSpPr>
          <p:cNvPr id="11" name="Text 9"/>
          <p:cNvSpPr/>
          <p:nvPr/>
        </p:nvSpPr>
        <p:spPr>
          <a:xfrm>
            <a:off x="1097280" y="2011680"/>
            <a:ext cx="3657600" cy="457200"/>
          </a:xfrm>
          <a:prstGeom prst="rect">
            <a:avLst/>
          </a:prstGeom>
          <a:noFill/>
          <a:ln/>
        </p:spPr>
        <p:txBody>
          <a:bodyPr wrap="square" rtlCol="0" anchor="ctr"/>
          <a:lstStyle/>
          <a:p>
            <a:pPr indent="0" marL="0">
              <a:buNone/>
            </a:pPr>
            <a:r>
              <a:rPr lang="en-US" sz="2200" b="1" dirty="0">
                <a:solidFill>
                  <a:srgbClr val="2B2D42"/>
                </a:solidFill>
                <a:latin typeface="Microsoft YaHei" pitchFamily="34" charset="0"/>
                <a:ea typeface="Microsoft YaHei" pitchFamily="34" charset="-122"/>
                <a:cs typeface="Microsoft YaHei" pitchFamily="34" charset="-120"/>
              </a:rPr>
              <a:t>模块二：协作与沟通</a:t>
            </a:r>
            <a:endParaRPr lang="en-US" sz="2200" dirty="0"/>
          </a:p>
        </p:txBody>
      </p:sp>
      <p:sp>
        <p:nvSpPr>
          <p:cNvPr id="12" name="Text 10"/>
          <p:cNvSpPr/>
          <p:nvPr/>
        </p:nvSpPr>
        <p:spPr>
          <a:xfrm>
            <a:off x="4754880" y="2011680"/>
            <a:ext cx="1828800" cy="45720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第7-11章</a:t>
            </a:r>
            <a:endParaRPr lang="en-US" sz="1400" dirty="0"/>
          </a:p>
        </p:txBody>
      </p:sp>
      <p:sp>
        <p:nvSpPr>
          <p:cNvPr id="13" name="Shape 11"/>
          <p:cNvSpPr/>
          <p:nvPr/>
        </p:nvSpPr>
        <p:spPr>
          <a:xfrm>
            <a:off x="457200" y="2743200"/>
            <a:ext cx="457200" cy="457200"/>
          </a:xfrm>
          <a:prstGeom prst="roundRect">
            <a:avLst>
              <a:gd name="adj" fmla="val 10000"/>
            </a:avLst>
          </a:prstGeom>
          <a:solidFill>
            <a:srgbClr val="EF233C"/>
          </a:solidFill>
          <a:ln/>
        </p:spPr>
      </p:sp>
      <p:sp>
        <p:nvSpPr>
          <p:cNvPr id="14" name="Text 12"/>
          <p:cNvSpPr/>
          <p:nvPr/>
        </p:nvSpPr>
        <p:spPr>
          <a:xfrm>
            <a:off x="457200" y="274320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03</a:t>
            </a:r>
            <a:endParaRPr lang="en-US" sz="1800" dirty="0"/>
          </a:p>
        </p:txBody>
      </p:sp>
      <p:sp>
        <p:nvSpPr>
          <p:cNvPr id="15" name="Text 13"/>
          <p:cNvSpPr/>
          <p:nvPr/>
        </p:nvSpPr>
        <p:spPr>
          <a:xfrm>
            <a:off x="1097280" y="2743200"/>
            <a:ext cx="3657600" cy="457200"/>
          </a:xfrm>
          <a:prstGeom prst="rect">
            <a:avLst/>
          </a:prstGeom>
          <a:noFill/>
          <a:ln/>
        </p:spPr>
        <p:txBody>
          <a:bodyPr wrap="square" rtlCol="0" anchor="ctr"/>
          <a:lstStyle/>
          <a:p>
            <a:pPr indent="0" marL="0">
              <a:buNone/>
            </a:pPr>
            <a:r>
              <a:rPr lang="en-US" sz="2200" b="1" dirty="0">
                <a:solidFill>
                  <a:srgbClr val="2B2D42"/>
                </a:solidFill>
                <a:latin typeface="Microsoft YaHei" pitchFamily="34" charset="0"/>
                <a:ea typeface="Microsoft YaHei" pitchFamily="34" charset="-122"/>
                <a:cs typeface="Microsoft YaHei" pitchFamily="34" charset="-120"/>
              </a:rPr>
              <a:t>模块三：职业心态</a:t>
            </a:r>
            <a:endParaRPr lang="en-US" sz="2200" dirty="0"/>
          </a:p>
        </p:txBody>
      </p:sp>
      <p:sp>
        <p:nvSpPr>
          <p:cNvPr id="16" name="Text 14"/>
          <p:cNvSpPr/>
          <p:nvPr/>
        </p:nvSpPr>
        <p:spPr>
          <a:xfrm>
            <a:off x="4754880" y="2743200"/>
            <a:ext cx="1828800" cy="45720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第12-15章</a:t>
            </a:r>
            <a:endParaRPr lang="en-US" sz="1400" dirty="0"/>
          </a:p>
        </p:txBody>
      </p:sp>
      <p:sp>
        <p:nvSpPr>
          <p:cNvPr id="17" name="Shape 15"/>
          <p:cNvSpPr/>
          <p:nvPr/>
        </p:nvSpPr>
        <p:spPr>
          <a:xfrm>
            <a:off x="457200" y="3474720"/>
            <a:ext cx="457200" cy="457200"/>
          </a:xfrm>
          <a:prstGeom prst="roundRect">
            <a:avLst>
              <a:gd name="adj" fmla="val 10000"/>
            </a:avLst>
          </a:prstGeom>
          <a:solidFill>
            <a:srgbClr val="8D99AE"/>
          </a:solidFill>
          <a:ln/>
        </p:spPr>
      </p:sp>
      <p:sp>
        <p:nvSpPr>
          <p:cNvPr id="18" name="Text 16"/>
          <p:cNvSpPr/>
          <p:nvPr/>
        </p:nvSpPr>
        <p:spPr>
          <a:xfrm>
            <a:off x="457200" y="347472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04</a:t>
            </a:r>
            <a:endParaRPr lang="en-US" sz="1800" dirty="0"/>
          </a:p>
        </p:txBody>
      </p:sp>
      <p:sp>
        <p:nvSpPr>
          <p:cNvPr id="19" name="Text 17"/>
          <p:cNvSpPr/>
          <p:nvPr/>
        </p:nvSpPr>
        <p:spPr>
          <a:xfrm>
            <a:off x="1097280" y="3474720"/>
            <a:ext cx="3657600" cy="457200"/>
          </a:xfrm>
          <a:prstGeom prst="rect">
            <a:avLst/>
          </a:prstGeom>
          <a:noFill/>
          <a:ln/>
        </p:spPr>
        <p:txBody>
          <a:bodyPr wrap="square" rtlCol="0" anchor="ctr"/>
          <a:lstStyle/>
          <a:p>
            <a:pPr indent="0" marL="0">
              <a:buNone/>
            </a:pPr>
            <a:r>
              <a:rPr lang="en-US" sz="2200" b="1" dirty="0">
                <a:solidFill>
                  <a:srgbClr val="2B2D42"/>
                </a:solidFill>
                <a:latin typeface="Microsoft YaHei" pitchFamily="34" charset="0"/>
                <a:ea typeface="Microsoft YaHei" pitchFamily="34" charset="-122"/>
                <a:cs typeface="Microsoft YaHei" pitchFamily="34" charset="-120"/>
              </a:rPr>
              <a:t>Q&amp;A与总结</a:t>
            </a:r>
            <a:endParaRPr lang="en-US" sz="2200" dirty="0"/>
          </a:p>
        </p:txBody>
      </p:sp>
      <p:sp>
        <p:nvSpPr>
          <p:cNvPr id="20" name="Shape 18"/>
          <p:cNvSpPr/>
          <p:nvPr/>
        </p:nvSpPr>
        <p:spPr>
          <a:xfrm>
            <a:off x="8503920" y="4663440"/>
            <a:ext cx="365760" cy="365760"/>
          </a:xfrm>
          <a:prstGeom prst="ellipse">
            <a:avLst/>
          </a:prstGeom>
          <a:solidFill>
            <a:srgbClr val="EF233C"/>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F233C"/>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这门课适合谁</a:t>
            </a:r>
            <a:endParaRPr lang="en-US" sz="3200" dirty="0"/>
          </a:p>
        </p:txBody>
      </p:sp>
      <p:sp>
        <p:nvSpPr>
          <p:cNvPr id="4" name="Shape 2"/>
          <p:cNvSpPr/>
          <p:nvPr/>
        </p:nvSpPr>
        <p:spPr>
          <a:xfrm>
            <a:off x="457200" y="1188720"/>
            <a:ext cx="365760" cy="365760"/>
          </a:xfrm>
          <a:prstGeom prst="ellipse">
            <a:avLst/>
          </a:prstGeom>
          <a:solidFill>
            <a:srgbClr val="EF233C"/>
          </a:solidFill>
          <a:ln/>
        </p:spPr>
      </p:sp>
      <p:sp>
        <p:nvSpPr>
          <p:cNvPr id="5" name="Text 3"/>
          <p:cNvSpPr/>
          <p:nvPr/>
        </p:nvSpPr>
        <p:spPr>
          <a:xfrm>
            <a:off x="457200" y="118872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p:nvPr/>
        </p:nvSpPr>
        <p:spPr>
          <a:xfrm>
            <a:off x="1005840" y="1143000"/>
            <a:ext cx="3657600" cy="32004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新入行的志愿填报师</a:t>
            </a:r>
            <a:endParaRPr lang="en-US" sz="1600" dirty="0"/>
          </a:p>
        </p:txBody>
      </p:sp>
      <p:sp>
        <p:nvSpPr>
          <p:cNvPr id="7" name="Text 5"/>
          <p:cNvSpPr/>
          <p:nvPr/>
        </p:nvSpPr>
        <p:spPr>
          <a:xfrm>
            <a:off x="1005840" y="1444752"/>
            <a:ext cx="3657600" cy="274320"/>
          </a:xfrm>
          <a:prstGeom prst="rect">
            <a:avLst/>
          </a:prstGeom>
          <a:noFill/>
          <a:ln/>
        </p:spPr>
        <p:txBody>
          <a:bodyPr wrap="square" rtlCol="0" anchor="ctr"/>
          <a:lstStyle/>
          <a:p>
            <a:pPr indent="0" marL="0">
              <a:buNone/>
            </a:pPr>
            <a:r>
              <a:rPr lang="en-US" sz="1300" dirty="0">
                <a:solidFill>
                  <a:srgbClr val="8D99AE"/>
                </a:solidFill>
                <a:latin typeface="Microsoft YaHei" pitchFamily="34" charset="0"/>
                <a:ea typeface="Microsoft YaHei" pitchFamily="34" charset="-122"/>
                <a:cs typeface="Microsoft YaHei" pitchFamily="34" charset="-120"/>
              </a:rPr>
              <a:t>想建立系统的认知框架</a:t>
            </a:r>
            <a:endParaRPr lang="en-US" sz="1300" dirty="0"/>
          </a:p>
        </p:txBody>
      </p:sp>
      <p:sp>
        <p:nvSpPr>
          <p:cNvPr id="8" name="Shape 6"/>
          <p:cNvSpPr/>
          <p:nvPr/>
        </p:nvSpPr>
        <p:spPr>
          <a:xfrm>
            <a:off x="457200" y="1965960"/>
            <a:ext cx="365760" cy="365760"/>
          </a:xfrm>
          <a:prstGeom prst="ellipse">
            <a:avLst/>
          </a:prstGeom>
          <a:solidFill>
            <a:srgbClr val="EF233C"/>
          </a:solidFill>
          <a:ln/>
        </p:spPr>
      </p:sp>
      <p:sp>
        <p:nvSpPr>
          <p:cNvPr id="9" name="Text 7"/>
          <p:cNvSpPr/>
          <p:nvPr/>
        </p:nvSpPr>
        <p:spPr>
          <a:xfrm>
            <a:off x="457200" y="196596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p:nvPr/>
        </p:nvSpPr>
        <p:spPr>
          <a:xfrm>
            <a:off x="1005840" y="1920240"/>
            <a:ext cx="3657600" cy="32004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想转型的教育从业者</a:t>
            </a:r>
            <a:endParaRPr lang="en-US" sz="1600" dirty="0"/>
          </a:p>
        </p:txBody>
      </p:sp>
      <p:sp>
        <p:nvSpPr>
          <p:cNvPr id="11" name="Text 9"/>
          <p:cNvSpPr/>
          <p:nvPr/>
        </p:nvSpPr>
        <p:spPr>
          <a:xfrm>
            <a:off x="1005840" y="2221992"/>
            <a:ext cx="3657600" cy="274320"/>
          </a:xfrm>
          <a:prstGeom prst="rect">
            <a:avLst/>
          </a:prstGeom>
          <a:noFill/>
          <a:ln/>
        </p:spPr>
        <p:txBody>
          <a:bodyPr wrap="square" rtlCol="0" anchor="ctr"/>
          <a:lstStyle/>
          <a:p>
            <a:pPr indent="0" marL="0">
              <a:buNone/>
            </a:pPr>
            <a:r>
              <a:rPr lang="en-US" sz="1300" dirty="0">
                <a:solidFill>
                  <a:srgbClr val="8D99AE"/>
                </a:solidFill>
                <a:latin typeface="Microsoft YaHei" pitchFamily="34" charset="0"/>
                <a:ea typeface="Microsoft YaHei" pitchFamily="34" charset="-122"/>
                <a:cs typeface="Microsoft YaHei" pitchFamily="34" charset="-120"/>
              </a:rPr>
              <a:t>想从工具依赖转向判断力驱动</a:t>
            </a:r>
            <a:endParaRPr lang="en-US" sz="1300" dirty="0"/>
          </a:p>
        </p:txBody>
      </p:sp>
      <p:sp>
        <p:nvSpPr>
          <p:cNvPr id="12" name="Shape 10"/>
          <p:cNvSpPr/>
          <p:nvPr/>
        </p:nvSpPr>
        <p:spPr>
          <a:xfrm>
            <a:off x="457200" y="2743200"/>
            <a:ext cx="365760" cy="365760"/>
          </a:xfrm>
          <a:prstGeom prst="ellipse">
            <a:avLst/>
          </a:prstGeom>
          <a:solidFill>
            <a:srgbClr val="EF233C"/>
          </a:solidFill>
          <a:ln/>
        </p:spPr>
      </p:sp>
      <p:sp>
        <p:nvSpPr>
          <p:cNvPr id="13" name="Text 11"/>
          <p:cNvSpPr/>
          <p:nvPr/>
        </p:nvSpPr>
        <p:spPr>
          <a:xfrm>
            <a:off x="457200" y="274320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p:nvPr/>
        </p:nvSpPr>
        <p:spPr>
          <a:xfrm>
            <a:off x="1005840" y="2697480"/>
            <a:ext cx="3657600" cy="32004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焦虑的资深从业者</a:t>
            </a:r>
            <a:endParaRPr lang="en-US" sz="1600" dirty="0"/>
          </a:p>
        </p:txBody>
      </p:sp>
      <p:sp>
        <p:nvSpPr>
          <p:cNvPr id="15" name="Text 13"/>
          <p:cNvSpPr/>
          <p:nvPr/>
        </p:nvSpPr>
        <p:spPr>
          <a:xfrm>
            <a:off x="1005840" y="2999232"/>
            <a:ext cx="3657600" cy="274320"/>
          </a:xfrm>
          <a:prstGeom prst="rect">
            <a:avLst/>
          </a:prstGeom>
          <a:noFill/>
          <a:ln/>
        </p:spPr>
        <p:txBody>
          <a:bodyPr wrap="square" rtlCol="0" anchor="ctr"/>
          <a:lstStyle/>
          <a:p>
            <a:pPr indent="0" marL="0">
              <a:buNone/>
            </a:pPr>
            <a:r>
              <a:rPr lang="en-US" sz="1300" dirty="0">
                <a:solidFill>
                  <a:srgbClr val="8D99AE"/>
                </a:solidFill>
                <a:latin typeface="Microsoft YaHei" pitchFamily="34" charset="0"/>
                <a:ea typeface="Microsoft YaHei" pitchFamily="34" charset="-122"/>
                <a:cs typeface="Microsoft YaHei" pitchFamily="34" charset="-120"/>
              </a:rPr>
              <a:t>想厘清AI时代的核心竞争力</a:t>
            </a:r>
            <a:endParaRPr lang="en-US" sz="1300" dirty="0"/>
          </a:p>
        </p:txBody>
      </p:sp>
      <p:sp>
        <p:nvSpPr>
          <p:cNvPr id="16" name="Shape 14"/>
          <p:cNvSpPr/>
          <p:nvPr/>
        </p:nvSpPr>
        <p:spPr>
          <a:xfrm>
            <a:off x="5029200" y="1188720"/>
            <a:ext cx="3657600" cy="2286000"/>
          </a:xfrm>
          <a:prstGeom prst="roundRect">
            <a:avLst>
              <a:gd name="adj" fmla="val 4000"/>
            </a:avLst>
          </a:prstGeom>
          <a:solidFill>
            <a:srgbClr val="2B2D42"/>
          </a:solidFill>
          <a:ln/>
        </p:spPr>
      </p:sp>
      <p:sp>
        <p:nvSpPr>
          <p:cNvPr id="17" name="Text 15"/>
          <p:cNvSpPr/>
          <p:nvPr/>
        </p:nvSpPr>
        <p:spPr>
          <a:xfrm>
            <a:off x="5212080" y="1371600"/>
            <a:ext cx="3291840" cy="365760"/>
          </a:xfrm>
          <a:prstGeom prst="rect">
            <a:avLst/>
          </a:prstGeom>
          <a:noFill/>
          <a:ln/>
        </p:spPr>
        <p:txBody>
          <a:bodyPr wrap="square" rtlCol="0" anchor="ctr"/>
          <a:lstStyle/>
          <a:p>
            <a:pPr indent="0" marL="0">
              <a:buNone/>
            </a:pPr>
            <a:r>
              <a:rPr lang="en-US" sz="1400" dirty="0">
                <a:solidFill>
                  <a:srgbClr val="EDF2F4"/>
                </a:solidFill>
                <a:latin typeface="Microsoft YaHei" pitchFamily="34" charset="0"/>
                <a:ea typeface="Microsoft YaHei" pitchFamily="34" charset="-122"/>
                <a:cs typeface="Microsoft YaHei" pitchFamily="34" charset="-120"/>
              </a:rPr>
              <a:t>核心洞察</a:t>
            </a:r>
            <a:endParaRPr lang="en-US" sz="1400" dirty="0"/>
          </a:p>
        </p:txBody>
      </p:sp>
      <p:sp>
        <p:nvSpPr>
          <p:cNvPr id="18" name="Text 16"/>
          <p:cNvSpPr/>
          <p:nvPr/>
        </p:nvSpPr>
        <p:spPr>
          <a:xfrm>
            <a:off x="5212080" y="1783080"/>
            <a:ext cx="3291840" cy="457200"/>
          </a:xfrm>
          <a:prstGeom prst="rect">
            <a:avLst/>
          </a:prstGeom>
          <a:noFill/>
          <a:ln/>
        </p:spPr>
        <p:txBody>
          <a:bodyPr wrap="square"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工具越来越强</a:t>
            </a:r>
            <a:endParaRPr lang="en-US" sz="2000" dirty="0"/>
          </a:p>
        </p:txBody>
      </p:sp>
      <p:sp>
        <p:nvSpPr>
          <p:cNvPr id="19" name="Text 17"/>
          <p:cNvSpPr/>
          <p:nvPr/>
        </p:nvSpPr>
        <p:spPr>
          <a:xfrm>
            <a:off x="5212080" y="2194560"/>
            <a:ext cx="3291840" cy="365760"/>
          </a:xfrm>
          <a:prstGeom prst="rect">
            <a:avLst/>
          </a:prstGeom>
          <a:noFill/>
          <a:ln/>
        </p:spPr>
        <p:txBody>
          <a:bodyPr wrap="square" rtlCol="0" anchor="ctr"/>
          <a:lstStyle/>
          <a:p>
            <a:pPr algn="ctr" indent="0" marL="0">
              <a:buNone/>
            </a:pPr>
            <a:r>
              <a:rPr lang="en-US" sz="2400" dirty="0">
                <a:solidFill>
                  <a:srgbClr val="EF233C"/>
                </a:solidFill>
                <a:latin typeface="Arial" pitchFamily="34" charset="0"/>
                <a:ea typeface="Arial" pitchFamily="34" charset="-122"/>
                <a:cs typeface="Arial" pitchFamily="34" charset="-120"/>
              </a:rPr>
              <a:t>↓</a:t>
            </a:r>
            <a:endParaRPr lang="en-US" sz="2400" dirty="0"/>
          </a:p>
        </p:txBody>
      </p:sp>
      <p:sp>
        <p:nvSpPr>
          <p:cNvPr id="20" name="Text 18"/>
          <p:cNvSpPr/>
          <p:nvPr/>
        </p:nvSpPr>
        <p:spPr>
          <a:xfrm>
            <a:off x="5212080" y="2560320"/>
            <a:ext cx="3291840" cy="457200"/>
          </a:xfrm>
          <a:prstGeom prst="rect">
            <a:avLst/>
          </a:prstGeom>
          <a:noFill/>
          <a:ln/>
        </p:spPr>
        <p:txBody>
          <a:bodyPr wrap="square"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判断力越来越重要</a:t>
            </a:r>
            <a:endParaRPr lang="en-US" sz="2000" dirty="0"/>
          </a:p>
        </p:txBody>
      </p:sp>
      <p:sp>
        <p:nvSpPr>
          <p:cNvPr id="21" name="Shape 19"/>
          <p:cNvSpPr/>
          <p:nvPr/>
        </p:nvSpPr>
        <p:spPr>
          <a:xfrm>
            <a:off x="457200" y="3840480"/>
            <a:ext cx="8229600" cy="36576"/>
          </a:xfrm>
          <a:prstGeom prst="rect">
            <a:avLst/>
          </a:prstGeom>
          <a:solidFill>
            <a:srgbClr val="EDF2F4"/>
          </a:solidFill>
          <a:ln/>
        </p:spPr>
      </p:sp>
      <p:sp>
        <p:nvSpPr>
          <p:cNvPr id="22" name="Text 20"/>
          <p:cNvSpPr/>
          <p:nvPr/>
        </p:nvSpPr>
        <p:spPr>
          <a:xfrm>
            <a:off x="457200" y="4023360"/>
            <a:ext cx="8229600" cy="548640"/>
          </a:xfrm>
          <a:prstGeom prst="rect">
            <a:avLst/>
          </a:prstGeom>
          <a:noFill/>
          <a:ln/>
        </p:spPr>
        <p:txBody>
          <a:bodyPr wrap="square" rtlCol="0" anchor="ctr"/>
          <a:lstStyle/>
          <a:p>
            <a:pPr algn="ctr" indent="0" marL="0">
              <a:buNone/>
            </a:pPr>
            <a:r>
              <a:rPr lang="en-US" sz="1400" i="1" dirty="0">
                <a:solidFill>
                  <a:srgbClr val="8D99AE"/>
                </a:solidFill>
                <a:latin typeface="Microsoft YaHei" pitchFamily="34" charset="0"/>
                <a:ea typeface="Microsoft YaHei" pitchFamily="34" charset="-122"/>
                <a:cs typeface="Microsoft YaHei" pitchFamily="34" charset="-120"/>
              </a:rPr>
              <a:t>"会做这四件事的人，不管手里有没有工具，都能把这份工作做扎实"</a:t>
            </a:r>
            <a:endParaRPr lang="en-US" sz="1400" dirty="0"/>
          </a:p>
        </p:txBody>
      </p:sp>
      <p:sp>
        <p:nvSpPr>
          <p:cNvPr id="23" name="Shape 21"/>
          <p:cNvSpPr/>
          <p:nvPr/>
        </p:nvSpPr>
        <p:spPr>
          <a:xfrm>
            <a:off x="8503920" y="4663440"/>
            <a:ext cx="365760" cy="365760"/>
          </a:xfrm>
          <a:prstGeom prst="ellipse">
            <a:avLst/>
          </a:prstGeom>
          <a:solidFill>
            <a:srgbClr val="EF233C"/>
          </a:solidFill>
          <a:ln/>
        </p:spPr>
      </p:sp>
      <p:sp>
        <p:nvSpPr>
          <p:cNvPr id="24" name="Text 22"/>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F233C"/>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核心价值主张</a:t>
            </a:r>
            <a:endParaRPr lang="en-US" sz="3200" dirty="0"/>
          </a:p>
        </p:txBody>
      </p:sp>
      <p:sp>
        <p:nvSpPr>
          <p:cNvPr id="4" name="Shape 2"/>
          <p:cNvSpPr/>
          <p:nvPr/>
        </p:nvSpPr>
        <p:spPr>
          <a:xfrm>
            <a:off x="457200" y="1097280"/>
            <a:ext cx="2651760" cy="2560320"/>
          </a:xfrm>
          <a:prstGeom prst="roundRect">
            <a:avLst>
              <a:gd name="adj" fmla="val 2857"/>
            </a:avLst>
          </a:prstGeom>
          <a:solidFill>
            <a:srgbClr val="FFFFFF"/>
          </a:solidFill>
          <a:ln/>
          <a:effectLst>
            <a:outerShdw sx="100000" sy="100000" kx="0" ky="0" algn="bl" rotWithShape="0" blurRad="101600" dist="25400" dir="8100000">
              <a:srgbClr val="000000">
                <a:alpha val="10000"/>
              </a:srgbClr>
            </a:outerShdw>
          </a:effectLst>
        </p:spPr>
      </p:sp>
      <p:sp>
        <p:nvSpPr>
          <p:cNvPr id="5" name="Shape 3"/>
          <p:cNvSpPr/>
          <p:nvPr/>
        </p:nvSpPr>
        <p:spPr>
          <a:xfrm>
            <a:off x="457200" y="1097280"/>
            <a:ext cx="2651760" cy="73152"/>
          </a:xfrm>
          <a:prstGeom prst="rect">
            <a:avLst/>
          </a:prstGeom>
          <a:solidFill>
            <a:srgbClr val="EF233C"/>
          </a:solidFill>
          <a:ln/>
        </p:spPr>
      </p:sp>
      <p:sp>
        <p:nvSpPr>
          <p:cNvPr id="6" name="Text 4"/>
          <p:cNvSpPr/>
          <p:nvPr/>
        </p:nvSpPr>
        <p:spPr>
          <a:xfrm>
            <a:off x="640080" y="1371600"/>
            <a:ext cx="457200" cy="457200"/>
          </a:xfrm>
          <a:prstGeom prst="rect">
            <a:avLst/>
          </a:prstGeom>
          <a:noFill/>
          <a:ln/>
        </p:spPr>
        <p:txBody>
          <a:bodyPr wrap="square" rtlCol="0" anchor="ctr"/>
          <a:lstStyle/>
          <a:p>
            <a:pPr indent="0" marL="0">
              <a:buNone/>
            </a:pPr>
            <a:r>
              <a:rPr lang="en-US" sz="2800" b="1" dirty="0">
                <a:solidFill>
                  <a:srgbClr val="EF233C"/>
                </a:solidFill>
                <a:latin typeface="Arial" pitchFamily="34" charset="0"/>
                <a:ea typeface="Arial" pitchFamily="34" charset="-122"/>
                <a:cs typeface="Arial" pitchFamily="34" charset="-120"/>
              </a:rPr>
              <a:t>1</a:t>
            </a:r>
            <a:endParaRPr lang="en-US" sz="2800" dirty="0"/>
          </a:p>
        </p:txBody>
      </p:sp>
      <p:sp>
        <p:nvSpPr>
          <p:cNvPr id="7" name="Text 5"/>
          <p:cNvSpPr/>
          <p:nvPr/>
        </p:nvSpPr>
        <p:spPr>
          <a:xfrm>
            <a:off x="640080" y="1920240"/>
            <a:ext cx="2286000" cy="73152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信息收集与过滤</a:t>
            </a:r>
            <a:endParaRPr lang="en-US" sz="1600" dirty="0"/>
          </a:p>
        </p:txBody>
      </p:sp>
      <p:sp>
        <p:nvSpPr>
          <p:cNvPr id="8" name="Text 6"/>
          <p:cNvSpPr/>
          <p:nvPr/>
        </p:nvSpPr>
        <p:spPr>
          <a:xfrm>
            <a:off x="640080" y="2606040"/>
            <a:ext cx="2286000" cy="731520"/>
          </a:xfrm>
          <a:prstGeom prst="rect">
            <a:avLst/>
          </a:prstGeom>
          <a:noFill/>
          <a:ln/>
        </p:spPr>
        <p:txBody>
          <a:bodyPr wrap="square" rtlCol="0" anchor="ctr"/>
          <a:lstStyle/>
          <a:p>
            <a:pPr indent="0" marL="0">
              <a:buNone/>
            </a:pPr>
            <a:r>
              <a:rPr lang="en-US" sz="1300" dirty="0">
                <a:solidFill>
                  <a:srgbClr val="8D99AE"/>
                </a:solidFill>
                <a:latin typeface="Microsoft YaHei" pitchFamily="34" charset="0"/>
                <a:ea typeface="Microsoft YaHei" pitchFamily="34" charset="-122"/>
                <a:cs typeface="Microsoft YaHei" pitchFamily="34" charset="-120"/>
              </a:rPr>
              <a:t>不是查数据，是替人过滤噪音</a:t>
            </a:r>
            <a:endParaRPr lang="en-US" sz="1300" dirty="0"/>
          </a:p>
        </p:txBody>
      </p:sp>
      <p:sp>
        <p:nvSpPr>
          <p:cNvPr id="9" name="Shape 7"/>
          <p:cNvSpPr/>
          <p:nvPr/>
        </p:nvSpPr>
        <p:spPr>
          <a:xfrm>
            <a:off x="3291840" y="1097280"/>
            <a:ext cx="2651760" cy="2560320"/>
          </a:xfrm>
          <a:prstGeom prst="roundRect">
            <a:avLst>
              <a:gd name="adj" fmla="val 2857"/>
            </a:avLst>
          </a:prstGeom>
          <a:solidFill>
            <a:srgbClr val="FFFFFF"/>
          </a:solidFill>
          <a:ln/>
          <a:effectLst>
            <a:outerShdw sx="100000" sy="100000" kx="0" ky="0" algn="bl" rotWithShape="0" blurRad="101600" dist="25400" dir="8100000">
              <a:srgbClr val="000000">
                <a:alpha val="10000"/>
              </a:srgbClr>
            </a:outerShdw>
          </a:effectLst>
        </p:spPr>
      </p:sp>
      <p:sp>
        <p:nvSpPr>
          <p:cNvPr id="10" name="Shape 8"/>
          <p:cNvSpPr/>
          <p:nvPr/>
        </p:nvSpPr>
        <p:spPr>
          <a:xfrm>
            <a:off x="3291840" y="1097280"/>
            <a:ext cx="2651760" cy="73152"/>
          </a:xfrm>
          <a:prstGeom prst="rect">
            <a:avLst/>
          </a:prstGeom>
          <a:solidFill>
            <a:srgbClr val="EF233C"/>
          </a:solidFill>
          <a:ln/>
        </p:spPr>
      </p:sp>
      <p:sp>
        <p:nvSpPr>
          <p:cNvPr id="11" name="Text 9"/>
          <p:cNvSpPr/>
          <p:nvPr/>
        </p:nvSpPr>
        <p:spPr>
          <a:xfrm>
            <a:off x="3474720" y="1371600"/>
            <a:ext cx="457200" cy="457200"/>
          </a:xfrm>
          <a:prstGeom prst="rect">
            <a:avLst/>
          </a:prstGeom>
          <a:noFill/>
          <a:ln/>
        </p:spPr>
        <p:txBody>
          <a:bodyPr wrap="square" rtlCol="0" anchor="ctr"/>
          <a:lstStyle/>
          <a:p>
            <a:pPr indent="0" marL="0">
              <a:buNone/>
            </a:pPr>
            <a:r>
              <a:rPr lang="en-US" sz="2800" b="1" dirty="0">
                <a:solidFill>
                  <a:srgbClr val="EF233C"/>
                </a:solidFill>
                <a:latin typeface="Arial" pitchFamily="34" charset="0"/>
                <a:ea typeface="Arial" pitchFamily="34" charset="-122"/>
                <a:cs typeface="Arial" pitchFamily="34" charset="-120"/>
              </a:rPr>
              <a:t>2</a:t>
            </a:r>
            <a:endParaRPr lang="en-US" sz="2800" dirty="0"/>
          </a:p>
        </p:txBody>
      </p:sp>
      <p:sp>
        <p:nvSpPr>
          <p:cNvPr id="12" name="Text 10"/>
          <p:cNvSpPr/>
          <p:nvPr/>
        </p:nvSpPr>
        <p:spPr>
          <a:xfrm>
            <a:off x="3474720" y="1920240"/>
            <a:ext cx="2286000" cy="73152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产业判断力</a:t>
            </a:r>
            <a:endParaRPr lang="en-US" sz="1600" dirty="0"/>
          </a:p>
        </p:txBody>
      </p:sp>
      <p:sp>
        <p:nvSpPr>
          <p:cNvPr id="13" name="Text 11"/>
          <p:cNvSpPr/>
          <p:nvPr/>
        </p:nvSpPr>
        <p:spPr>
          <a:xfrm>
            <a:off x="3474720" y="2606040"/>
            <a:ext cx="2286000" cy="731520"/>
          </a:xfrm>
          <a:prstGeom prst="rect">
            <a:avLst/>
          </a:prstGeom>
          <a:noFill/>
          <a:ln/>
        </p:spPr>
        <p:txBody>
          <a:bodyPr wrap="square" rtlCol="0" anchor="ctr"/>
          <a:lstStyle/>
          <a:p>
            <a:pPr indent="0" marL="0">
              <a:buNone/>
            </a:pPr>
            <a:r>
              <a:rPr lang="en-US" sz="1300" dirty="0">
                <a:solidFill>
                  <a:srgbClr val="8D99AE"/>
                </a:solidFill>
                <a:latin typeface="Microsoft YaHei" pitchFamily="34" charset="0"/>
                <a:ea typeface="Microsoft YaHei" pitchFamily="34" charset="-122"/>
                <a:cs typeface="Microsoft YaHei" pitchFamily="34" charset="-120"/>
              </a:rPr>
              <a:t>判断五年后这行还在不在</a:t>
            </a:r>
            <a:endParaRPr lang="en-US" sz="1300" dirty="0"/>
          </a:p>
        </p:txBody>
      </p:sp>
      <p:sp>
        <p:nvSpPr>
          <p:cNvPr id="14" name="Shape 12"/>
          <p:cNvSpPr/>
          <p:nvPr/>
        </p:nvSpPr>
        <p:spPr>
          <a:xfrm>
            <a:off x="6126480" y="1097280"/>
            <a:ext cx="2651760" cy="2560320"/>
          </a:xfrm>
          <a:prstGeom prst="roundRect">
            <a:avLst>
              <a:gd name="adj" fmla="val 2857"/>
            </a:avLst>
          </a:prstGeom>
          <a:solidFill>
            <a:srgbClr val="FFFFFF"/>
          </a:solidFill>
          <a:ln/>
          <a:effectLst>
            <a:outerShdw sx="100000" sy="100000" kx="0" ky="0" algn="bl" rotWithShape="0" blurRad="101600" dist="25400" dir="8100000">
              <a:srgbClr val="000000">
                <a:alpha val="10000"/>
              </a:srgbClr>
            </a:outerShdw>
          </a:effectLst>
        </p:spPr>
      </p:sp>
      <p:sp>
        <p:nvSpPr>
          <p:cNvPr id="15" name="Shape 13"/>
          <p:cNvSpPr/>
          <p:nvPr/>
        </p:nvSpPr>
        <p:spPr>
          <a:xfrm>
            <a:off x="6126480" y="1097280"/>
            <a:ext cx="2651760" cy="73152"/>
          </a:xfrm>
          <a:prstGeom prst="rect">
            <a:avLst/>
          </a:prstGeom>
          <a:solidFill>
            <a:srgbClr val="EF233C"/>
          </a:solidFill>
          <a:ln/>
        </p:spPr>
      </p:sp>
      <p:sp>
        <p:nvSpPr>
          <p:cNvPr id="16" name="Text 14"/>
          <p:cNvSpPr/>
          <p:nvPr/>
        </p:nvSpPr>
        <p:spPr>
          <a:xfrm>
            <a:off x="6309360" y="1371600"/>
            <a:ext cx="457200" cy="457200"/>
          </a:xfrm>
          <a:prstGeom prst="rect">
            <a:avLst/>
          </a:prstGeom>
          <a:noFill/>
          <a:ln/>
        </p:spPr>
        <p:txBody>
          <a:bodyPr wrap="square" rtlCol="0" anchor="ctr"/>
          <a:lstStyle/>
          <a:p>
            <a:pPr indent="0" marL="0">
              <a:buNone/>
            </a:pPr>
            <a:r>
              <a:rPr lang="en-US" sz="2800" b="1" dirty="0">
                <a:solidFill>
                  <a:srgbClr val="EF233C"/>
                </a:solidFill>
                <a:latin typeface="Arial" pitchFamily="34" charset="0"/>
                <a:ea typeface="Arial" pitchFamily="34" charset="-122"/>
                <a:cs typeface="Arial" pitchFamily="34" charset="-120"/>
              </a:rPr>
              <a:t>3</a:t>
            </a:r>
            <a:endParaRPr lang="en-US" sz="2800" dirty="0"/>
          </a:p>
        </p:txBody>
      </p:sp>
      <p:sp>
        <p:nvSpPr>
          <p:cNvPr id="17" name="Text 15"/>
          <p:cNvSpPr/>
          <p:nvPr/>
        </p:nvSpPr>
        <p:spPr>
          <a:xfrm>
            <a:off x="6309360" y="1920240"/>
            <a:ext cx="2286000" cy="73152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倒推规划法</a:t>
            </a:r>
            <a:endParaRPr lang="en-US" sz="1600" dirty="0"/>
          </a:p>
        </p:txBody>
      </p:sp>
      <p:sp>
        <p:nvSpPr>
          <p:cNvPr id="18" name="Text 16"/>
          <p:cNvSpPr/>
          <p:nvPr/>
        </p:nvSpPr>
        <p:spPr>
          <a:xfrm>
            <a:off x="6309360" y="2606040"/>
            <a:ext cx="2286000" cy="731520"/>
          </a:xfrm>
          <a:prstGeom prst="rect">
            <a:avLst/>
          </a:prstGeom>
          <a:noFill/>
          <a:ln/>
        </p:spPr>
        <p:txBody>
          <a:bodyPr wrap="square" rtlCol="0" anchor="ctr"/>
          <a:lstStyle/>
          <a:p>
            <a:pPr indent="0" marL="0">
              <a:buNone/>
            </a:pPr>
            <a:r>
              <a:rPr lang="en-US" sz="1300" dirty="0">
                <a:solidFill>
                  <a:srgbClr val="8D99AE"/>
                </a:solidFill>
                <a:latin typeface="Microsoft YaHei" pitchFamily="34" charset="0"/>
                <a:ea typeface="Microsoft YaHei" pitchFamily="34" charset="-122"/>
                <a:cs typeface="Microsoft YaHei" pitchFamily="34" charset="-120"/>
              </a:rPr>
              <a:t>先问十年后想过什么日子</a:t>
            </a:r>
            <a:endParaRPr lang="en-US" sz="1300" dirty="0"/>
          </a:p>
        </p:txBody>
      </p:sp>
      <p:sp>
        <p:nvSpPr>
          <p:cNvPr id="19" name="Shape 17"/>
          <p:cNvSpPr/>
          <p:nvPr/>
        </p:nvSpPr>
        <p:spPr>
          <a:xfrm>
            <a:off x="457200" y="3931920"/>
            <a:ext cx="8229600" cy="731520"/>
          </a:xfrm>
          <a:prstGeom prst="roundRect">
            <a:avLst>
              <a:gd name="adj" fmla="val 6250"/>
            </a:avLst>
          </a:prstGeom>
          <a:solidFill>
            <a:srgbClr val="2B2D42"/>
          </a:solidFill>
          <a:ln/>
        </p:spPr>
      </p:sp>
      <p:sp>
        <p:nvSpPr>
          <p:cNvPr id="20" name="Text 18"/>
          <p:cNvSpPr/>
          <p:nvPr/>
        </p:nvSpPr>
        <p:spPr>
          <a:xfrm>
            <a:off x="457200" y="3931920"/>
            <a:ext cx="8229600" cy="73152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AI能算冲稳保，算不出这个人该往哪走</a:t>
            </a:r>
            <a:endParaRPr lang="en-US" sz="1800" dirty="0"/>
          </a:p>
        </p:txBody>
      </p:sp>
      <p:sp>
        <p:nvSpPr>
          <p:cNvPr id="21" name="Shape 19"/>
          <p:cNvSpPr/>
          <p:nvPr/>
        </p:nvSpPr>
        <p:spPr>
          <a:xfrm>
            <a:off x="8503920" y="4663440"/>
            <a:ext cx="365760" cy="365760"/>
          </a:xfrm>
          <a:prstGeom prst="ellipse">
            <a:avLst/>
          </a:prstGeom>
          <a:solidFill>
            <a:srgbClr val="EF233C"/>
          </a:solidFill>
          <a:ln/>
        </p:spPr>
      </p:sp>
      <p:sp>
        <p:nvSpPr>
          <p:cNvPr id="22" name="Text 20"/>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F233C"/>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课程内容概览</a:t>
            </a:r>
            <a:endParaRPr lang="en-US" sz="3200" dirty="0"/>
          </a:p>
        </p:txBody>
      </p:sp>
      <p:sp>
        <p:nvSpPr>
          <p:cNvPr id="4" name="Shape 2"/>
          <p:cNvSpPr/>
          <p:nvPr/>
        </p:nvSpPr>
        <p:spPr>
          <a:xfrm>
            <a:off x="457200" y="1051560"/>
            <a:ext cx="2651760" cy="3657600"/>
          </a:xfrm>
          <a:prstGeom prst="roundRect">
            <a:avLst>
              <a:gd name="adj" fmla="val 2759"/>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051560"/>
            <a:ext cx="2651760" cy="640080"/>
          </a:xfrm>
          <a:prstGeom prst="rect">
            <a:avLst/>
          </a:prstGeom>
          <a:solidFill>
            <a:srgbClr val="2B2D42"/>
          </a:solidFill>
          <a:ln/>
        </p:spPr>
      </p:sp>
      <p:sp>
        <p:nvSpPr>
          <p:cNvPr id="6" name="Text 4"/>
          <p:cNvSpPr/>
          <p:nvPr/>
        </p:nvSpPr>
        <p:spPr>
          <a:xfrm>
            <a:off x="594360" y="1143000"/>
            <a:ext cx="457200" cy="457200"/>
          </a:xfrm>
          <a:prstGeom prst="rect">
            <a:avLst/>
          </a:prstGeom>
          <a:noFill/>
          <a:ln/>
        </p:spPr>
        <p:txBody>
          <a:bodyPr wrap="square" rtlCol="0" anchor="ctr"/>
          <a:lstStyle/>
          <a:p>
            <a:pPr indent="0" marL="0">
              <a:buNone/>
            </a:pPr>
            <a:r>
              <a:rPr lang="en-US" sz="2000" b="1" dirty="0">
                <a:solidFill>
                  <a:srgbClr val="EF233C"/>
                </a:solidFill>
                <a:latin typeface="Arial" pitchFamily="34" charset="0"/>
                <a:ea typeface="Arial" pitchFamily="34" charset="-122"/>
                <a:cs typeface="Arial" pitchFamily="34" charset="-120"/>
              </a:rPr>
              <a:t>01</a:t>
            </a:r>
            <a:endParaRPr lang="en-US" sz="2000" dirty="0"/>
          </a:p>
        </p:txBody>
      </p:sp>
      <p:sp>
        <p:nvSpPr>
          <p:cNvPr id="7" name="Text 5"/>
          <p:cNvSpPr/>
          <p:nvPr/>
        </p:nvSpPr>
        <p:spPr>
          <a:xfrm>
            <a:off x="1051560" y="1170432"/>
            <a:ext cx="1920240" cy="41148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认知重塑</a:t>
            </a:r>
            <a:endParaRPr lang="en-US" sz="1400" dirty="0"/>
          </a:p>
        </p:txBody>
      </p:sp>
      <p:sp>
        <p:nvSpPr>
          <p:cNvPr id="8" name="Shape 6"/>
          <p:cNvSpPr/>
          <p:nvPr/>
        </p:nvSpPr>
        <p:spPr>
          <a:xfrm>
            <a:off x="640080" y="1874520"/>
            <a:ext cx="109728" cy="109728"/>
          </a:xfrm>
          <a:prstGeom prst="ellipse">
            <a:avLst/>
          </a:prstGeom>
          <a:solidFill>
            <a:srgbClr val="EF233C"/>
          </a:solidFill>
          <a:ln/>
        </p:spPr>
      </p:sp>
      <p:sp>
        <p:nvSpPr>
          <p:cNvPr id="9" name="Text 7"/>
          <p:cNvSpPr/>
          <p:nvPr/>
        </p:nvSpPr>
        <p:spPr>
          <a:xfrm>
            <a:off x="868680" y="1783080"/>
            <a:ext cx="2103120" cy="36576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冲稳保是语法不是方法</a:t>
            </a:r>
            <a:endParaRPr lang="en-US" sz="1100" dirty="0"/>
          </a:p>
        </p:txBody>
      </p:sp>
      <p:sp>
        <p:nvSpPr>
          <p:cNvPr id="10" name="Shape 8"/>
          <p:cNvSpPr/>
          <p:nvPr/>
        </p:nvSpPr>
        <p:spPr>
          <a:xfrm>
            <a:off x="640080" y="2313432"/>
            <a:ext cx="109728" cy="109728"/>
          </a:xfrm>
          <a:prstGeom prst="ellipse">
            <a:avLst/>
          </a:prstGeom>
          <a:solidFill>
            <a:srgbClr val="EF233C"/>
          </a:solidFill>
          <a:ln/>
        </p:spPr>
      </p:sp>
      <p:sp>
        <p:nvSpPr>
          <p:cNvPr id="11" name="Text 9"/>
          <p:cNvSpPr/>
          <p:nvPr/>
        </p:nvSpPr>
        <p:spPr>
          <a:xfrm>
            <a:off x="868680" y="2221992"/>
            <a:ext cx="2103120" cy="36576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分数是最后一个变量</a:t>
            </a:r>
            <a:endParaRPr lang="en-US" sz="1100" dirty="0"/>
          </a:p>
        </p:txBody>
      </p:sp>
      <p:sp>
        <p:nvSpPr>
          <p:cNvPr id="12" name="Shape 10"/>
          <p:cNvSpPr/>
          <p:nvPr/>
        </p:nvSpPr>
        <p:spPr>
          <a:xfrm>
            <a:off x="640080" y="2752344"/>
            <a:ext cx="109728" cy="109728"/>
          </a:xfrm>
          <a:prstGeom prst="ellipse">
            <a:avLst/>
          </a:prstGeom>
          <a:solidFill>
            <a:srgbClr val="EF233C"/>
          </a:solidFill>
          <a:ln/>
        </p:spPr>
      </p:sp>
      <p:sp>
        <p:nvSpPr>
          <p:cNvPr id="13" name="Text 11"/>
          <p:cNvSpPr/>
          <p:nvPr/>
        </p:nvSpPr>
        <p:spPr>
          <a:xfrm>
            <a:off x="868680" y="2660904"/>
            <a:ext cx="2103120" cy="36576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信息收集</a:t>
            </a:r>
            <a:endParaRPr lang="en-US" sz="1100" dirty="0"/>
          </a:p>
        </p:txBody>
      </p:sp>
      <p:sp>
        <p:nvSpPr>
          <p:cNvPr id="14" name="Shape 12"/>
          <p:cNvSpPr/>
          <p:nvPr/>
        </p:nvSpPr>
        <p:spPr>
          <a:xfrm>
            <a:off x="640080" y="3191256"/>
            <a:ext cx="109728" cy="109728"/>
          </a:xfrm>
          <a:prstGeom prst="ellipse">
            <a:avLst/>
          </a:prstGeom>
          <a:solidFill>
            <a:srgbClr val="EF233C"/>
          </a:solidFill>
          <a:ln/>
        </p:spPr>
      </p:sp>
      <p:sp>
        <p:nvSpPr>
          <p:cNvPr id="15" name="Text 13"/>
          <p:cNvSpPr/>
          <p:nvPr/>
        </p:nvSpPr>
        <p:spPr>
          <a:xfrm>
            <a:off x="868680" y="3099816"/>
            <a:ext cx="2103120" cy="36576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产业判断</a:t>
            </a:r>
            <a:endParaRPr lang="en-US" sz="1100" dirty="0"/>
          </a:p>
        </p:txBody>
      </p:sp>
      <p:sp>
        <p:nvSpPr>
          <p:cNvPr id="16" name="Shape 14"/>
          <p:cNvSpPr/>
          <p:nvPr/>
        </p:nvSpPr>
        <p:spPr>
          <a:xfrm>
            <a:off x="640080" y="3630168"/>
            <a:ext cx="109728" cy="109728"/>
          </a:xfrm>
          <a:prstGeom prst="ellipse">
            <a:avLst/>
          </a:prstGeom>
          <a:solidFill>
            <a:srgbClr val="EF233C"/>
          </a:solidFill>
          <a:ln/>
        </p:spPr>
      </p:sp>
      <p:sp>
        <p:nvSpPr>
          <p:cNvPr id="17" name="Text 15"/>
          <p:cNvSpPr/>
          <p:nvPr/>
        </p:nvSpPr>
        <p:spPr>
          <a:xfrm>
            <a:off x="868680" y="3538728"/>
            <a:ext cx="2103120" cy="36576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倒推规划</a:t>
            </a:r>
            <a:endParaRPr lang="en-US" sz="1100" dirty="0"/>
          </a:p>
        </p:txBody>
      </p:sp>
      <p:sp>
        <p:nvSpPr>
          <p:cNvPr id="18" name="Shape 16"/>
          <p:cNvSpPr/>
          <p:nvPr/>
        </p:nvSpPr>
        <p:spPr>
          <a:xfrm>
            <a:off x="640080" y="4069080"/>
            <a:ext cx="109728" cy="109728"/>
          </a:xfrm>
          <a:prstGeom prst="ellipse">
            <a:avLst/>
          </a:prstGeom>
          <a:solidFill>
            <a:srgbClr val="EF233C"/>
          </a:solidFill>
          <a:ln/>
        </p:spPr>
      </p:sp>
      <p:sp>
        <p:nvSpPr>
          <p:cNvPr id="19" name="Text 17"/>
          <p:cNvSpPr/>
          <p:nvPr/>
        </p:nvSpPr>
        <p:spPr>
          <a:xfrm>
            <a:off x="868680" y="3977640"/>
            <a:ext cx="2103120" cy="36576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AI分工</a:t>
            </a:r>
            <a:endParaRPr lang="en-US" sz="1100" dirty="0"/>
          </a:p>
        </p:txBody>
      </p:sp>
      <p:sp>
        <p:nvSpPr>
          <p:cNvPr id="20" name="Shape 18"/>
          <p:cNvSpPr/>
          <p:nvPr/>
        </p:nvSpPr>
        <p:spPr>
          <a:xfrm>
            <a:off x="3291840" y="1051560"/>
            <a:ext cx="2651760" cy="3657600"/>
          </a:xfrm>
          <a:prstGeom prst="roundRect">
            <a:avLst>
              <a:gd name="adj" fmla="val 2759"/>
            </a:avLst>
          </a:prstGeom>
          <a:solidFill>
            <a:srgbClr val="FFFFFF"/>
          </a:solidFill>
          <a:ln/>
          <a:effectLst>
            <a:outerShdw sx="100000" sy="100000" kx="0" ky="0" algn="bl" rotWithShape="0" blurRad="76200" dist="25400" dir="8100000">
              <a:srgbClr val="000000">
                <a:alpha val="8000"/>
              </a:srgbClr>
            </a:outerShdw>
          </a:effectLst>
        </p:spPr>
      </p:sp>
      <p:sp>
        <p:nvSpPr>
          <p:cNvPr id="21" name="Shape 19"/>
          <p:cNvSpPr/>
          <p:nvPr/>
        </p:nvSpPr>
        <p:spPr>
          <a:xfrm>
            <a:off x="3291840" y="1051560"/>
            <a:ext cx="2651760" cy="640080"/>
          </a:xfrm>
          <a:prstGeom prst="rect">
            <a:avLst/>
          </a:prstGeom>
          <a:solidFill>
            <a:srgbClr val="2B2D42"/>
          </a:solidFill>
          <a:ln/>
        </p:spPr>
      </p:sp>
      <p:sp>
        <p:nvSpPr>
          <p:cNvPr id="22" name="Text 20"/>
          <p:cNvSpPr/>
          <p:nvPr/>
        </p:nvSpPr>
        <p:spPr>
          <a:xfrm>
            <a:off x="3429000" y="1143000"/>
            <a:ext cx="457200" cy="457200"/>
          </a:xfrm>
          <a:prstGeom prst="rect">
            <a:avLst/>
          </a:prstGeom>
          <a:noFill/>
          <a:ln/>
        </p:spPr>
        <p:txBody>
          <a:bodyPr wrap="square" rtlCol="0" anchor="ctr"/>
          <a:lstStyle/>
          <a:p>
            <a:pPr indent="0" marL="0">
              <a:buNone/>
            </a:pPr>
            <a:r>
              <a:rPr lang="en-US" sz="2000" b="1" dirty="0">
                <a:solidFill>
                  <a:srgbClr val="EF233C"/>
                </a:solidFill>
                <a:latin typeface="Arial" pitchFamily="34" charset="0"/>
                <a:ea typeface="Arial" pitchFamily="34" charset="-122"/>
                <a:cs typeface="Arial" pitchFamily="34" charset="-120"/>
              </a:rPr>
              <a:t>02</a:t>
            </a:r>
            <a:endParaRPr lang="en-US" sz="2000" dirty="0"/>
          </a:p>
        </p:txBody>
      </p:sp>
      <p:sp>
        <p:nvSpPr>
          <p:cNvPr id="23" name="Text 21"/>
          <p:cNvSpPr/>
          <p:nvPr/>
        </p:nvSpPr>
        <p:spPr>
          <a:xfrm>
            <a:off x="3886200" y="1170432"/>
            <a:ext cx="1920240" cy="41148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协作与沟通</a:t>
            </a:r>
            <a:endParaRPr lang="en-US" sz="1400" dirty="0"/>
          </a:p>
        </p:txBody>
      </p:sp>
      <p:sp>
        <p:nvSpPr>
          <p:cNvPr id="24" name="Shape 22"/>
          <p:cNvSpPr/>
          <p:nvPr/>
        </p:nvSpPr>
        <p:spPr>
          <a:xfrm>
            <a:off x="3474720" y="1874520"/>
            <a:ext cx="109728" cy="109728"/>
          </a:xfrm>
          <a:prstGeom prst="ellipse">
            <a:avLst/>
          </a:prstGeom>
          <a:solidFill>
            <a:srgbClr val="EF233C"/>
          </a:solidFill>
          <a:ln/>
        </p:spPr>
      </p:sp>
      <p:sp>
        <p:nvSpPr>
          <p:cNvPr id="25" name="Text 23"/>
          <p:cNvSpPr/>
          <p:nvPr/>
        </p:nvSpPr>
        <p:spPr>
          <a:xfrm>
            <a:off x="3703320" y="1783080"/>
            <a:ext cx="2103120" cy="36576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风险偏好翻译</a:t>
            </a:r>
            <a:endParaRPr lang="en-US" sz="1100" dirty="0"/>
          </a:p>
        </p:txBody>
      </p:sp>
      <p:sp>
        <p:nvSpPr>
          <p:cNvPr id="26" name="Shape 24"/>
          <p:cNvSpPr/>
          <p:nvPr/>
        </p:nvSpPr>
        <p:spPr>
          <a:xfrm>
            <a:off x="3474720" y="2313432"/>
            <a:ext cx="109728" cy="109728"/>
          </a:xfrm>
          <a:prstGeom prst="ellipse">
            <a:avLst/>
          </a:prstGeom>
          <a:solidFill>
            <a:srgbClr val="EF233C"/>
          </a:solidFill>
          <a:ln/>
        </p:spPr>
      </p:sp>
      <p:sp>
        <p:nvSpPr>
          <p:cNvPr id="27" name="Text 25"/>
          <p:cNvSpPr/>
          <p:nvPr/>
        </p:nvSpPr>
        <p:spPr>
          <a:xfrm>
            <a:off x="3703320" y="2221992"/>
            <a:ext cx="2103120" cy="36576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志愿表的意义</a:t>
            </a:r>
            <a:endParaRPr lang="en-US" sz="1100" dirty="0"/>
          </a:p>
        </p:txBody>
      </p:sp>
      <p:sp>
        <p:nvSpPr>
          <p:cNvPr id="28" name="Shape 26"/>
          <p:cNvSpPr/>
          <p:nvPr/>
        </p:nvSpPr>
        <p:spPr>
          <a:xfrm>
            <a:off x="3474720" y="2752344"/>
            <a:ext cx="109728" cy="109728"/>
          </a:xfrm>
          <a:prstGeom prst="ellipse">
            <a:avLst/>
          </a:prstGeom>
          <a:solidFill>
            <a:srgbClr val="EF233C"/>
          </a:solidFill>
          <a:ln/>
        </p:spPr>
      </p:sp>
      <p:sp>
        <p:nvSpPr>
          <p:cNvPr id="29" name="Text 27"/>
          <p:cNvSpPr/>
          <p:nvPr/>
        </p:nvSpPr>
        <p:spPr>
          <a:xfrm>
            <a:off x="3703320" y="2660904"/>
            <a:ext cx="2103120" cy="36576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家长沟通</a:t>
            </a:r>
            <a:endParaRPr lang="en-US" sz="1100" dirty="0"/>
          </a:p>
        </p:txBody>
      </p:sp>
      <p:sp>
        <p:nvSpPr>
          <p:cNvPr id="30" name="Shape 28"/>
          <p:cNvSpPr/>
          <p:nvPr/>
        </p:nvSpPr>
        <p:spPr>
          <a:xfrm>
            <a:off x="3474720" y="3191256"/>
            <a:ext cx="109728" cy="109728"/>
          </a:xfrm>
          <a:prstGeom prst="ellipse">
            <a:avLst/>
          </a:prstGeom>
          <a:solidFill>
            <a:srgbClr val="EF233C"/>
          </a:solidFill>
          <a:ln/>
        </p:spPr>
      </p:sp>
      <p:sp>
        <p:nvSpPr>
          <p:cNvPr id="31" name="Text 29"/>
          <p:cNvSpPr/>
          <p:nvPr/>
        </p:nvSpPr>
        <p:spPr>
          <a:xfrm>
            <a:off x="3703320" y="3099816"/>
            <a:ext cx="2103120" cy="36576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冲突处理</a:t>
            </a:r>
            <a:endParaRPr lang="en-US" sz="1100" dirty="0"/>
          </a:p>
        </p:txBody>
      </p:sp>
      <p:sp>
        <p:nvSpPr>
          <p:cNvPr id="32" name="Shape 30"/>
          <p:cNvSpPr/>
          <p:nvPr/>
        </p:nvSpPr>
        <p:spPr>
          <a:xfrm>
            <a:off x="3474720" y="3630168"/>
            <a:ext cx="109728" cy="109728"/>
          </a:xfrm>
          <a:prstGeom prst="ellipse">
            <a:avLst/>
          </a:prstGeom>
          <a:solidFill>
            <a:srgbClr val="EF233C"/>
          </a:solidFill>
          <a:ln/>
        </p:spPr>
      </p:sp>
      <p:sp>
        <p:nvSpPr>
          <p:cNvPr id="33" name="Text 31"/>
          <p:cNvSpPr/>
          <p:nvPr/>
        </p:nvSpPr>
        <p:spPr>
          <a:xfrm>
            <a:off x="3703320" y="3538728"/>
            <a:ext cx="2103120" cy="36576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案例证伪</a:t>
            </a:r>
            <a:endParaRPr lang="en-US" sz="1100" dirty="0"/>
          </a:p>
        </p:txBody>
      </p:sp>
      <p:sp>
        <p:nvSpPr>
          <p:cNvPr id="34" name="Shape 32"/>
          <p:cNvSpPr/>
          <p:nvPr/>
        </p:nvSpPr>
        <p:spPr>
          <a:xfrm>
            <a:off x="6126480" y="1051560"/>
            <a:ext cx="2651760" cy="3657600"/>
          </a:xfrm>
          <a:prstGeom prst="roundRect">
            <a:avLst>
              <a:gd name="adj" fmla="val 2759"/>
            </a:avLst>
          </a:prstGeom>
          <a:solidFill>
            <a:srgbClr val="FFFFFF"/>
          </a:solidFill>
          <a:ln/>
          <a:effectLst>
            <a:outerShdw sx="100000" sy="100000" kx="0" ky="0" algn="bl" rotWithShape="0" blurRad="76200" dist="25400" dir="8100000">
              <a:srgbClr val="000000">
                <a:alpha val="8000"/>
              </a:srgbClr>
            </a:outerShdw>
          </a:effectLst>
        </p:spPr>
      </p:sp>
      <p:sp>
        <p:nvSpPr>
          <p:cNvPr id="35" name="Shape 33"/>
          <p:cNvSpPr/>
          <p:nvPr/>
        </p:nvSpPr>
        <p:spPr>
          <a:xfrm>
            <a:off x="6126480" y="1051560"/>
            <a:ext cx="2651760" cy="640080"/>
          </a:xfrm>
          <a:prstGeom prst="rect">
            <a:avLst/>
          </a:prstGeom>
          <a:solidFill>
            <a:srgbClr val="2B2D42"/>
          </a:solidFill>
          <a:ln/>
        </p:spPr>
      </p:sp>
      <p:sp>
        <p:nvSpPr>
          <p:cNvPr id="36" name="Text 34"/>
          <p:cNvSpPr/>
          <p:nvPr/>
        </p:nvSpPr>
        <p:spPr>
          <a:xfrm>
            <a:off x="6263640" y="1143000"/>
            <a:ext cx="457200" cy="457200"/>
          </a:xfrm>
          <a:prstGeom prst="rect">
            <a:avLst/>
          </a:prstGeom>
          <a:noFill/>
          <a:ln/>
        </p:spPr>
        <p:txBody>
          <a:bodyPr wrap="square" rtlCol="0" anchor="ctr"/>
          <a:lstStyle/>
          <a:p>
            <a:pPr indent="0" marL="0">
              <a:buNone/>
            </a:pPr>
            <a:r>
              <a:rPr lang="en-US" sz="2000" b="1" dirty="0">
                <a:solidFill>
                  <a:srgbClr val="EF233C"/>
                </a:solidFill>
                <a:latin typeface="Arial" pitchFamily="34" charset="0"/>
                <a:ea typeface="Arial" pitchFamily="34" charset="-122"/>
                <a:cs typeface="Arial" pitchFamily="34" charset="-120"/>
              </a:rPr>
              <a:t>03</a:t>
            </a:r>
            <a:endParaRPr lang="en-US" sz="2000" dirty="0"/>
          </a:p>
        </p:txBody>
      </p:sp>
      <p:sp>
        <p:nvSpPr>
          <p:cNvPr id="37" name="Text 35"/>
          <p:cNvSpPr/>
          <p:nvPr/>
        </p:nvSpPr>
        <p:spPr>
          <a:xfrm>
            <a:off x="6720840" y="1170432"/>
            <a:ext cx="1920240" cy="41148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职业心态</a:t>
            </a:r>
            <a:endParaRPr lang="en-US" sz="1400" dirty="0"/>
          </a:p>
        </p:txBody>
      </p:sp>
      <p:sp>
        <p:nvSpPr>
          <p:cNvPr id="38" name="Shape 36"/>
          <p:cNvSpPr/>
          <p:nvPr/>
        </p:nvSpPr>
        <p:spPr>
          <a:xfrm>
            <a:off x="6309360" y="1874520"/>
            <a:ext cx="109728" cy="109728"/>
          </a:xfrm>
          <a:prstGeom prst="ellipse">
            <a:avLst/>
          </a:prstGeom>
          <a:solidFill>
            <a:srgbClr val="EF233C"/>
          </a:solidFill>
          <a:ln/>
        </p:spPr>
      </p:sp>
      <p:sp>
        <p:nvSpPr>
          <p:cNvPr id="39" name="Text 37"/>
          <p:cNvSpPr/>
          <p:nvPr/>
        </p:nvSpPr>
        <p:spPr>
          <a:xfrm>
            <a:off x="6537960" y="1783080"/>
            <a:ext cx="2103120" cy="36576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替人做决定的风险</a:t>
            </a:r>
            <a:endParaRPr lang="en-US" sz="1100" dirty="0"/>
          </a:p>
        </p:txBody>
      </p:sp>
      <p:sp>
        <p:nvSpPr>
          <p:cNvPr id="40" name="Shape 38"/>
          <p:cNvSpPr/>
          <p:nvPr/>
        </p:nvSpPr>
        <p:spPr>
          <a:xfrm>
            <a:off x="6309360" y="2313432"/>
            <a:ext cx="109728" cy="109728"/>
          </a:xfrm>
          <a:prstGeom prst="ellipse">
            <a:avLst/>
          </a:prstGeom>
          <a:solidFill>
            <a:srgbClr val="EF233C"/>
          </a:solidFill>
          <a:ln/>
        </p:spPr>
      </p:sp>
      <p:sp>
        <p:nvSpPr>
          <p:cNvPr id="41" name="Text 39"/>
          <p:cNvSpPr/>
          <p:nvPr/>
        </p:nvSpPr>
        <p:spPr>
          <a:xfrm>
            <a:off x="6537960" y="2221992"/>
            <a:ext cx="2103120" cy="36576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口碑与转介绍</a:t>
            </a:r>
            <a:endParaRPr lang="en-US" sz="1100" dirty="0"/>
          </a:p>
        </p:txBody>
      </p:sp>
      <p:sp>
        <p:nvSpPr>
          <p:cNvPr id="42" name="Shape 40"/>
          <p:cNvSpPr/>
          <p:nvPr/>
        </p:nvSpPr>
        <p:spPr>
          <a:xfrm>
            <a:off x="6309360" y="2752344"/>
            <a:ext cx="109728" cy="109728"/>
          </a:xfrm>
          <a:prstGeom prst="ellipse">
            <a:avLst/>
          </a:prstGeom>
          <a:solidFill>
            <a:srgbClr val="EF233C"/>
          </a:solidFill>
          <a:ln/>
        </p:spPr>
      </p:sp>
      <p:sp>
        <p:nvSpPr>
          <p:cNvPr id="43" name="Text 41"/>
          <p:cNvSpPr/>
          <p:nvPr/>
        </p:nvSpPr>
        <p:spPr>
          <a:xfrm>
            <a:off x="6537960" y="2660904"/>
            <a:ext cx="2103120" cy="36576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AI时代发展</a:t>
            </a:r>
            <a:endParaRPr lang="en-US" sz="1100" dirty="0"/>
          </a:p>
        </p:txBody>
      </p:sp>
      <p:sp>
        <p:nvSpPr>
          <p:cNvPr id="44" name="Shape 42"/>
          <p:cNvSpPr/>
          <p:nvPr/>
        </p:nvSpPr>
        <p:spPr>
          <a:xfrm>
            <a:off x="6309360" y="3191256"/>
            <a:ext cx="109728" cy="109728"/>
          </a:xfrm>
          <a:prstGeom prst="ellipse">
            <a:avLst/>
          </a:prstGeom>
          <a:solidFill>
            <a:srgbClr val="EF233C"/>
          </a:solidFill>
          <a:ln/>
        </p:spPr>
      </p:sp>
      <p:sp>
        <p:nvSpPr>
          <p:cNvPr id="45" name="Text 43"/>
          <p:cNvSpPr/>
          <p:nvPr/>
        </p:nvSpPr>
        <p:spPr>
          <a:xfrm>
            <a:off x="6537960" y="3099816"/>
            <a:ext cx="2103120" cy="36576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新手到专家</a:t>
            </a:r>
            <a:endParaRPr lang="en-US" sz="1100" dirty="0"/>
          </a:p>
        </p:txBody>
      </p:sp>
      <p:sp>
        <p:nvSpPr>
          <p:cNvPr id="46" name="Shape 44"/>
          <p:cNvSpPr/>
          <p:nvPr/>
        </p:nvSpPr>
        <p:spPr>
          <a:xfrm>
            <a:off x="8503920" y="4663440"/>
            <a:ext cx="365760" cy="365760"/>
          </a:xfrm>
          <a:prstGeom prst="ellipse">
            <a:avLst/>
          </a:prstGeom>
          <a:solidFill>
            <a:srgbClr val="EF233C"/>
          </a:solidFill>
          <a:ln/>
        </p:spPr>
      </p:sp>
      <p:sp>
        <p:nvSpPr>
          <p:cNvPr id="47" name="Text 4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rect">
            <a:avLst/>
          </a:prstGeom>
          <a:solidFill>
            <a:srgbClr val="2B2D42"/>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4" name="Text 2"/>
          <p:cNvSpPr/>
          <p:nvPr/>
        </p:nvSpPr>
        <p:spPr>
          <a:xfrm>
            <a:off x="457200" y="365760"/>
            <a:ext cx="7772400" cy="54864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安全须知</a:t>
            </a:r>
            <a:endParaRPr lang="en-US" sz="3200" dirty="0"/>
          </a:p>
        </p:txBody>
      </p:sp>
      <p:sp>
        <p:nvSpPr>
          <p:cNvPr id="5" name="Shape 3"/>
          <p:cNvSpPr/>
          <p:nvPr/>
        </p:nvSpPr>
        <p:spPr>
          <a:xfrm>
            <a:off x="457200" y="868680"/>
            <a:ext cx="1097280" cy="45720"/>
          </a:xfrm>
          <a:prstGeom prst="rect">
            <a:avLst/>
          </a:prstGeom>
          <a:solidFill>
            <a:srgbClr val="2B2D42"/>
          </a:solidFill>
          <a:ln/>
        </p:spPr>
      </p:sp>
      <p:sp>
        <p:nvSpPr>
          <p:cNvPr id="6" name="Shape 4"/>
          <p:cNvSpPr/>
          <p:nvPr/>
        </p:nvSpPr>
        <p:spPr>
          <a:xfrm>
            <a:off x="548640" y="1353312"/>
            <a:ext cx="411480" cy="411480"/>
          </a:xfrm>
          <a:prstGeom prst="ellipse">
            <a:avLst/>
          </a:prstGeom>
          <a:solidFill>
            <a:srgbClr val="EF233C"/>
          </a:solidFill>
          <a:ln/>
        </p:spPr>
      </p:sp>
      <p:sp>
        <p:nvSpPr>
          <p:cNvPr id="7" name="Text 5"/>
          <p:cNvSpPr/>
          <p:nvPr/>
        </p:nvSpPr>
        <p:spPr>
          <a:xfrm>
            <a:off x="548640" y="1353312"/>
            <a:ext cx="411480" cy="41148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8" name="Text 6"/>
          <p:cNvSpPr/>
          <p:nvPr/>
        </p:nvSpPr>
        <p:spPr>
          <a:xfrm>
            <a:off x="1143000" y="1280160"/>
            <a:ext cx="7589520" cy="548640"/>
          </a:xfrm>
          <a:prstGeom prst="rect">
            <a:avLst/>
          </a:prstGeom>
          <a:noFill/>
          <a:ln/>
        </p:spPr>
        <p:txBody>
          <a:bodyPr wrap="square" rtlCol="0" anchor="ctr"/>
          <a:lstStyle/>
          <a:p>
            <a:pPr indent="0" marL="0">
              <a:buNone/>
            </a:pPr>
            <a:r>
              <a:rPr lang="en-US" sz="1800" dirty="0">
                <a:solidFill>
                  <a:srgbClr val="8D99AE"/>
                </a:solidFill>
                <a:latin typeface="Microsoft YaHei" pitchFamily="34" charset="0"/>
                <a:ea typeface="Microsoft YaHei" pitchFamily="34" charset="-122"/>
                <a:cs typeface="Microsoft YaHei" pitchFamily="34" charset="-120"/>
              </a:rPr>
              <a:t>课堂内容仅供内部学习使用，请勿外传</a:t>
            </a:r>
            <a:endParaRPr lang="en-US" sz="1800" dirty="0"/>
          </a:p>
        </p:txBody>
      </p:sp>
      <p:sp>
        <p:nvSpPr>
          <p:cNvPr id="9" name="Shape 7"/>
          <p:cNvSpPr/>
          <p:nvPr/>
        </p:nvSpPr>
        <p:spPr>
          <a:xfrm>
            <a:off x="548640" y="2130552"/>
            <a:ext cx="411480" cy="411480"/>
          </a:xfrm>
          <a:prstGeom prst="ellipse">
            <a:avLst/>
          </a:prstGeom>
          <a:solidFill>
            <a:srgbClr val="EF233C"/>
          </a:solidFill>
          <a:ln/>
        </p:spPr>
      </p:sp>
      <p:sp>
        <p:nvSpPr>
          <p:cNvPr id="10" name="Text 8"/>
          <p:cNvSpPr/>
          <p:nvPr/>
        </p:nvSpPr>
        <p:spPr>
          <a:xfrm>
            <a:off x="548640" y="2130552"/>
            <a:ext cx="411480" cy="41148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1143000" y="2057400"/>
            <a:ext cx="7589520" cy="548640"/>
          </a:xfrm>
          <a:prstGeom prst="rect">
            <a:avLst/>
          </a:prstGeom>
          <a:noFill/>
          <a:ln/>
        </p:spPr>
        <p:txBody>
          <a:bodyPr wrap="square" rtlCol="0" anchor="ctr"/>
          <a:lstStyle/>
          <a:p>
            <a:pPr indent="0" marL="0">
              <a:buNone/>
            </a:pPr>
            <a:r>
              <a:rPr lang="en-US" sz="1800" dirty="0">
                <a:solidFill>
                  <a:srgbClr val="8D99AE"/>
                </a:solidFill>
                <a:latin typeface="Microsoft YaHei" pitchFamily="34" charset="0"/>
                <a:ea typeface="Microsoft YaHei" pitchFamily="34" charset="-122"/>
                <a:cs typeface="Microsoft YaHei" pitchFamily="34" charset="-120"/>
              </a:rPr>
              <a:t>尊重每位学员的分享，保护隐私</a:t>
            </a:r>
            <a:endParaRPr lang="en-US" sz="1800" dirty="0"/>
          </a:p>
        </p:txBody>
      </p:sp>
      <p:sp>
        <p:nvSpPr>
          <p:cNvPr id="12" name="Shape 10"/>
          <p:cNvSpPr/>
          <p:nvPr/>
        </p:nvSpPr>
        <p:spPr>
          <a:xfrm>
            <a:off x="548640" y="2907792"/>
            <a:ext cx="411480" cy="411480"/>
          </a:xfrm>
          <a:prstGeom prst="ellipse">
            <a:avLst/>
          </a:prstGeom>
          <a:solidFill>
            <a:srgbClr val="EF233C"/>
          </a:solidFill>
          <a:ln/>
        </p:spPr>
      </p:sp>
      <p:sp>
        <p:nvSpPr>
          <p:cNvPr id="13" name="Text 11"/>
          <p:cNvSpPr/>
          <p:nvPr/>
        </p:nvSpPr>
        <p:spPr>
          <a:xfrm>
            <a:off x="548640" y="2907792"/>
            <a:ext cx="411480" cy="41148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4" name="Text 12"/>
          <p:cNvSpPr/>
          <p:nvPr/>
        </p:nvSpPr>
        <p:spPr>
          <a:xfrm>
            <a:off x="1143000" y="2834640"/>
            <a:ext cx="7589520" cy="548640"/>
          </a:xfrm>
          <a:prstGeom prst="rect">
            <a:avLst/>
          </a:prstGeom>
          <a:noFill/>
          <a:ln/>
        </p:spPr>
        <p:txBody>
          <a:bodyPr wrap="square" rtlCol="0" anchor="ctr"/>
          <a:lstStyle/>
          <a:p>
            <a:pPr indent="0" marL="0">
              <a:buNone/>
            </a:pPr>
            <a:r>
              <a:rPr lang="en-US" sz="1800" dirty="0">
                <a:solidFill>
                  <a:srgbClr val="8D99AE"/>
                </a:solidFill>
                <a:latin typeface="Microsoft YaHei" pitchFamily="34" charset="0"/>
                <a:ea typeface="Microsoft YaHei" pitchFamily="34" charset="-122"/>
                <a:cs typeface="Microsoft YaHei" pitchFamily="34" charset="-120"/>
              </a:rPr>
              <a:t>鼓励提问与讨论，但避免偏离主题</a:t>
            </a:r>
            <a:endParaRPr lang="en-US" sz="1800" dirty="0"/>
          </a:p>
        </p:txBody>
      </p:sp>
      <p:sp>
        <p:nvSpPr>
          <p:cNvPr id="15" name="Shape 13"/>
          <p:cNvSpPr/>
          <p:nvPr/>
        </p:nvSpPr>
        <p:spPr>
          <a:xfrm>
            <a:off x="548640" y="3685032"/>
            <a:ext cx="411480" cy="411480"/>
          </a:xfrm>
          <a:prstGeom prst="ellipse">
            <a:avLst/>
          </a:prstGeom>
          <a:solidFill>
            <a:srgbClr val="EF233C"/>
          </a:solidFill>
          <a:ln/>
        </p:spPr>
      </p:sp>
      <p:sp>
        <p:nvSpPr>
          <p:cNvPr id="16" name="Text 14"/>
          <p:cNvSpPr/>
          <p:nvPr/>
        </p:nvSpPr>
        <p:spPr>
          <a:xfrm>
            <a:off x="548640" y="3685032"/>
            <a:ext cx="411480" cy="41148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1143000" y="3611880"/>
            <a:ext cx="7589520" cy="548640"/>
          </a:xfrm>
          <a:prstGeom prst="rect">
            <a:avLst/>
          </a:prstGeom>
          <a:noFill/>
          <a:ln/>
        </p:spPr>
        <p:txBody>
          <a:bodyPr wrap="square" rtlCol="0" anchor="ctr"/>
          <a:lstStyle/>
          <a:p>
            <a:pPr indent="0" marL="0">
              <a:buNone/>
            </a:pPr>
            <a:r>
              <a:rPr lang="en-US" sz="1800" dirty="0">
                <a:solidFill>
                  <a:srgbClr val="8D99AE"/>
                </a:solidFill>
                <a:latin typeface="Microsoft YaHei" pitchFamily="34" charset="0"/>
                <a:ea typeface="Microsoft YaHei" pitchFamily="34" charset="-122"/>
                <a:cs typeface="Microsoft YaHei" pitchFamily="34" charset="-120"/>
              </a:rPr>
              <a:t>案例分析时，请勿对号入座</a:t>
            </a:r>
            <a:endParaRPr lang="en-US" sz="1800" dirty="0"/>
          </a:p>
        </p:txBody>
      </p:sp>
      <p:sp>
        <p:nvSpPr>
          <p:cNvPr id="18" name="Shape 16"/>
          <p:cNvSpPr/>
          <p:nvPr/>
        </p:nvSpPr>
        <p:spPr>
          <a:xfrm>
            <a:off x="457200" y="4434840"/>
            <a:ext cx="8229600" cy="457200"/>
          </a:xfrm>
          <a:prstGeom prst="rect">
            <a:avLst>
              <a:gd name="adj" fmla="val 16000"/>
            </a:avLst>
          </a:prstGeom>
          <a:solidFill>
            <a:srgbClr val="EDF2F4"/>
          </a:solidFill>
          <a:ln/>
        </p:spPr>
      </p:sp>
      <p:sp>
        <p:nvSpPr>
          <p:cNvPr id="19" name="Text 17"/>
          <p:cNvSpPr/>
          <p:nvPr/>
        </p:nvSpPr>
        <p:spPr>
          <a:xfrm>
            <a:off x="457200" y="4434840"/>
            <a:ext cx="8229600" cy="457200"/>
          </a:xfrm>
          <a:prstGeom prst="rect">
            <a:avLst/>
          </a:prstGeom>
          <a:noFill/>
          <a:ln/>
        </p:spPr>
        <p:txBody>
          <a:bodyPr wrap="square" rtlCol="0" anchor="ctr"/>
          <a:lstStyle/>
          <a:p>
            <a:pPr algn="ctr" indent="0" marL="0">
              <a:buNone/>
            </a:pPr>
            <a:r>
              <a:rPr lang="en-US" sz="1400" dirty="0">
                <a:solidFill>
                  <a:srgbClr val="EF233C"/>
                </a:solidFill>
                <a:latin typeface="Microsoft YaHei" pitchFamily="34" charset="0"/>
                <a:ea typeface="Microsoft YaHei" pitchFamily="34" charset="-122"/>
                <a:cs typeface="Microsoft YaHei" pitchFamily="34" charset="-120"/>
              </a:rPr>
              <a:t>如有不适，请随时告知工作人员</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rect">
            <a:avLst/>
          </a:prstGeom>
          <a:solidFill>
            <a:srgbClr val="2B2D42"/>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7</a:t>
            </a:r>
            <a:endParaRPr lang="en-US" sz="1800" dirty="0"/>
          </a:p>
        </p:txBody>
      </p:sp>
      <p:sp>
        <p:nvSpPr>
          <p:cNvPr id="4" name="Text 2"/>
          <p:cNvSpPr/>
          <p:nvPr/>
        </p:nvSpPr>
        <p:spPr>
          <a:xfrm>
            <a:off x="457200" y="365760"/>
            <a:ext cx="7772400" cy="54864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课堂约定</a:t>
            </a:r>
            <a:endParaRPr lang="en-US" sz="3200" dirty="0"/>
          </a:p>
        </p:txBody>
      </p:sp>
      <p:sp>
        <p:nvSpPr>
          <p:cNvPr id="5" name="Shape 3"/>
          <p:cNvSpPr/>
          <p:nvPr/>
        </p:nvSpPr>
        <p:spPr>
          <a:xfrm>
            <a:off x="457200" y="868680"/>
            <a:ext cx="1097280" cy="45720"/>
          </a:xfrm>
          <a:prstGeom prst="rect">
            <a:avLst/>
          </a:prstGeom>
          <a:solidFill>
            <a:srgbClr val="2B2D42"/>
          </a:solidFill>
          <a:ln/>
        </p:spPr>
      </p:sp>
      <p:sp>
        <p:nvSpPr>
          <p:cNvPr id="6" name="Shape 4"/>
          <p:cNvSpPr/>
          <p:nvPr/>
        </p:nvSpPr>
        <p:spPr>
          <a:xfrm>
            <a:off x="457200" y="1188720"/>
            <a:ext cx="3931920" cy="457200"/>
          </a:xfrm>
          <a:prstGeom prst="rect">
            <a:avLst>
              <a:gd name="adj" fmla="val 16000"/>
            </a:avLst>
          </a:prstGeom>
          <a:solidFill>
            <a:srgbClr val="4CAF50"/>
          </a:solidFill>
          <a:ln/>
        </p:spPr>
      </p:sp>
      <p:sp>
        <p:nvSpPr>
          <p:cNvPr id="7" name="Text 5"/>
          <p:cNvSpPr/>
          <p:nvPr/>
        </p:nvSpPr>
        <p:spPr>
          <a:xfrm>
            <a:off x="457200" y="1188720"/>
            <a:ext cx="3931920" cy="45720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我们鼓励</a:t>
            </a:r>
            <a:endParaRPr lang="en-US" sz="1800" dirty="0"/>
          </a:p>
        </p:txBody>
      </p:sp>
      <p:sp>
        <p:nvSpPr>
          <p:cNvPr id="8" name="Shape 6"/>
          <p:cNvSpPr/>
          <p:nvPr/>
        </p:nvSpPr>
        <p:spPr>
          <a:xfrm>
            <a:off x="640080" y="1920240"/>
            <a:ext cx="365760" cy="365760"/>
          </a:xfrm>
          <a:prstGeom prst="ellipse">
            <a:avLst/>
          </a:prstGeom>
          <a:solidFill>
            <a:srgbClr val="4CAF50"/>
          </a:solidFill>
          <a:ln/>
        </p:spPr>
      </p:sp>
      <p:sp>
        <p:nvSpPr>
          <p:cNvPr id="9" name="Text 7"/>
          <p:cNvSpPr/>
          <p:nvPr/>
        </p:nvSpPr>
        <p:spPr>
          <a:xfrm>
            <a:off x="640080" y="19202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1188720" y="1828800"/>
            <a:ext cx="3017520" cy="548640"/>
          </a:xfrm>
          <a:prstGeom prst="rect">
            <a:avLst/>
          </a:prstGeom>
          <a:noFill/>
          <a:ln/>
        </p:spPr>
        <p:txBody>
          <a:bodyPr wrap="square" rtlCol="0" anchor="ctr"/>
          <a:lstStyle/>
          <a:p>
            <a:pPr indent="0" marL="0">
              <a:buNone/>
            </a:pPr>
            <a:r>
              <a:rPr lang="en-US" sz="1600" dirty="0">
                <a:solidFill>
                  <a:srgbClr val="8D99AE"/>
                </a:solidFill>
                <a:latin typeface="Microsoft YaHei" pitchFamily="34" charset="0"/>
                <a:ea typeface="Microsoft YaHei" pitchFamily="34" charset="-122"/>
                <a:cs typeface="Microsoft YaHei" pitchFamily="34" charset="-120"/>
              </a:rPr>
              <a:t>开放的心态</a:t>
            </a:r>
            <a:endParaRPr lang="en-US" sz="1600" dirty="0"/>
          </a:p>
        </p:txBody>
      </p:sp>
      <p:sp>
        <p:nvSpPr>
          <p:cNvPr id="11" name="Shape 9"/>
          <p:cNvSpPr/>
          <p:nvPr/>
        </p:nvSpPr>
        <p:spPr>
          <a:xfrm>
            <a:off x="640080" y="2743200"/>
            <a:ext cx="365760" cy="365760"/>
          </a:xfrm>
          <a:prstGeom prst="ellipse">
            <a:avLst/>
          </a:prstGeom>
          <a:solidFill>
            <a:srgbClr val="4CAF50"/>
          </a:solidFill>
          <a:ln/>
        </p:spPr>
      </p:sp>
      <p:sp>
        <p:nvSpPr>
          <p:cNvPr id="12" name="Text 10"/>
          <p:cNvSpPr/>
          <p:nvPr/>
        </p:nvSpPr>
        <p:spPr>
          <a:xfrm>
            <a:off x="640080" y="274320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3" name="Text 11"/>
          <p:cNvSpPr/>
          <p:nvPr/>
        </p:nvSpPr>
        <p:spPr>
          <a:xfrm>
            <a:off x="1188720" y="2651760"/>
            <a:ext cx="3017520" cy="548640"/>
          </a:xfrm>
          <a:prstGeom prst="rect">
            <a:avLst/>
          </a:prstGeom>
          <a:noFill/>
          <a:ln/>
        </p:spPr>
        <p:txBody>
          <a:bodyPr wrap="square" rtlCol="0" anchor="ctr"/>
          <a:lstStyle/>
          <a:p>
            <a:pPr indent="0" marL="0">
              <a:buNone/>
            </a:pPr>
            <a:r>
              <a:rPr lang="en-US" sz="1600" dirty="0">
                <a:solidFill>
                  <a:srgbClr val="8D99AE"/>
                </a:solidFill>
                <a:latin typeface="Microsoft YaHei" pitchFamily="34" charset="0"/>
                <a:ea typeface="Microsoft YaHei" pitchFamily="34" charset="-122"/>
                <a:cs typeface="Microsoft YaHei" pitchFamily="34" charset="-120"/>
              </a:rPr>
              <a:t>真诚的分享</a:t>
            </a:r>
            <a:endParaRPr lang="en-US" sz="1600" dirty="0"/>
          </a:p>
        </p:txBody>
      </p:sp>
      <p:sp>
        <p:nvSpPr>
          <p:cNvPr id="14" name="Shape 12"/>
          <p:cNvSpPr/>
          <p:nvPr/>
        </p:nvSpPr>
        <p:spPr>
          <a:xfrm>
            <a:off x="640080" y="3566160"/>
            <a:ext cx="365760" cy="365760"/>
          </a:xfrm>
          <a:prstGeom prst="ellipse">
            <a:avLst/>
          </a:prstGeom>
          <a:solidFill>
            <a:srgbClr val="4CAF50"/>
          </a:solidFill>
          <a:ln/>
        </p:spPr>
      </p:sp>
      <p:sp>
        <p:nvSpPr>
          <p:cNvPr id="15" name="Text 13"/>
          <p:cNvSpPr/>
          <p:nvPr/>
        </p:nvSpPr>
        <p:spPr>
          <a:xfrm>
            <a:off x="640080" y="356616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6" name="Text 14"/>
          <p:cNvSpPr/>
          <p:nvPr/>
        </p:nvSpPr>
        <p:spPr>
          <a:xfrm>
            <a:off x="1188720" y="3474720"/>
            <a:ext cx="3017520" cy="548640"/>
          </a:xfrm>
          <a:prstGeom prst="rect">
            <a:avLst/>
          </a:prstGeom>
          <a:noFill/>
          <a:ln/>
        </p:spPr>
        <p:txBody>
          <a:bodyPr wrap="square" rtlCol="0" anchor="ctr"/>
          <a:lstStyle/>
          <a:p>
            <a:pPr indent="0" marL="0">
              <a:buNone/>
            </a:pPr>
            <a:r>
              <a:rPr lang="en-US" sz="1600" dirty="0">
                <a:solidFill>
                  <a:srgbClr val="8D99AE"/>
                </a:solidFill>
                <a:latin typeface="Microsoft YaHei" pitchFamily="34" charset="0"/>
                <a:ea typeface="Microsoft YaHei" pitchFamily="34" charset="-122"/>
                <a:cs typeface="Microsoft YaHei" pitchFamily="34" charset="-120"/>
              </a:rPr>
              <a:t>独立的思考</a:t>
            </a:r>
            <a:endParaRPr lang="en-US" sz="1600" dirty="0"/>
          </a:p>
        </p:txBody>
      </p:sp>
      <p:sp>
        <p:nvSpPr>
          <p:cNvPr id="17" name="Shape 15"/>
          <p:cNvSpPr/>
          <p:nvPr/>
        </p:nvSpPr>
        <p:spPr>
          <a:xfrm>
            <a:off x="4754880" y="1188720"/>
            <a:ext cx="3931920" cy="457200"/>
          </a:xfrm>
          <a:prstGeom prst="rect">
            <a:avLst>
              <a:gd name="adj" fmla="val 16000"/>
            </a:avLst>
          </a:prstGeom>
          <a:solidFill>
            <a:srgbClr val="EF233C"/>
          </a:solidFill>
          <a:ln/>
        </p:spPr>
      </p:sp>
      <p:sp>
        <p:nvSpPr>
          <p:cNvPr id="18" name="Text 16"/>
          <p:cNvSpPr/>
          <p:nvPr/>
        </p:nvSpPr>
        <p:spPr>
          <a:xfrm>
            <a:off x="4754880" y="1188720"/>
            <a:ext cx="3931920" cy="45720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我们避免</a:t>
            </a:r>
            <a:endParaRPr lang="en-US" sz="1800" dirty="0"/>
          </a:p>
        </p:txBody>
      </p:sp>
      <p:sp>
        <p:nvSpPr>
          <p:cNvPr id="19" name="Shape 17"/>
          <p:cNvSpPr/>
          <p:nvPr/>
        </p:nvSpPr>
        <p:spPr>
          <a:xfrm>
            <a:off x="4937760" y="1920240"/>
            <a:ext cx="365760" cy="365760"/>
          </a:xfrm>
          <a:prstGeom prst="ellipse">
            <a:avLst/>
          </a:prstGeom>
          <a:solidFill>
            <a:srgbClr val="EF233C"/>
          </a:solidFill>
          <a:ln/>
        </p:spPr>
      </p:sp>
      <p:sp>
        <p:nvSpPr>
          <p:cNvPr id="20" name="Text 18"/>
          <p:cNvSpPr/>
          <p:nvPr/>
        </p:nvSpPr>
        <p:spPr>
          <a:xfrm>
            <a:off x="4937760" y="19202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1" name="Text 19"/>
          <p:cNvSpPr/>
          <p:nvPr/>
        </p:nvSpPr>
        <p:spPr>
          <a:xfrm>
            <a:off x="5486400" y="1828800"/>
            <a:ext cx="3017520" cy="548640"/>
          </a:xfrm>
          <a:prstGeom prst="rect">
            <a:avLst/>
          </a:prstGeom>
          <a:noFill/>
          <a:ln/>
        </p:spPr>
        <p:txBody>
          <a:bodyPr wrap="square" rtlCol="0" anchor="ctr"/>
          <a:lstStyle/>
          <a:p>
            <a:pPr indent="0" marL="0">
              <a:buNone/>
            </a:pPr>
            <a:r>
              <a:rPr lang="en-US" sz="1600" dirty="0">
                <a:solidFill>
                  <a:srgbClr val="8D99AE"/>
                </a:solidFill>
                <a:latin typeface="Microsoft YaHei" pitchFamily="34" charset="0"/>
                <a:ea typeface="Microsoft YaHei" pitchFamily="34" charset="-122"/>
                <a:cs typeface="Microsoft YaHei" pitchFamily="34" charset="-120"/>
              </a:rPr>
              <a:t>急于下定论</a:t>
            </a:r>
            <a:endParaRPr lang="en-US" sz="1600" dirty="0"/>
          </a:p>
        </p:txBody>
      </p:sp>
      <p:sp>
        <p:nvSpPr>
          <p:cNvPr id="22" name="Shape 20"/>
          <p:cNvSpPr/>
          <p:nvPr/>
        </p:nvSpPr>
        <p:spPr>
          <a:xfrm>
            <a:off x="4937760" y="2743200"/>
            <a:ext cx="365760" cy="365760"/>
          </a:xfrm>
          <a:prstGeom prst="ellipse">
            <a:avLst/>
          </a:prstGeom>
          <a:solidFill>
            <a:srgbClr val="EF233C"/>
          </a:solidFill>
          <a:ln/>
        </p:spPr>
      </p:sp>
      <p:sp>
        <p:nvSpPr>
          <p:cNvPr id="23" name="Text 21"/>
          <p:cNvSpPr/>
          <p:nvPr/>
        </p:nvSpPr>
        <p:spPr>
          <a:xfrm>
            <a:off x="4937760" y="274320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4" name="Text 22"/>
          <p:cNvSpPr/>
          <p:nvPr/>
        </p:nvSpPr>
        <p:spPr>
          <a:xfrm>
            <a:off x="5486400" y="2651760"/>
            <a:ext cx="3017520" cy="548640"/>
          </a:xfrm>
          <a:prstGeom prst="rect">
            <a:avLst/>
          </a:prstGeom>
          <a:noFill/>
          <a:ln/>
        </p:spPr>
        <p:txBody>
          <a:bodyPr wrap="square" rtlCol="0" anchor="ctr"/>
          <a:lstStyle/>
          <a:p>
            <a:pPr indent="0" marL="0">
              <a:buNone/>
            </a:pPr>
            <a:r>
              <a:rPr lang="en-US" sz="1600" dirty="0">
                <a:solidFill>
                  <a:srgbClr val="8D99AE"/>
                </a:solidFill>
                <a:latin typeface="Microsoft YaHei" pitchFamily="34" charset="0"/>
                <a:ea typeface="Microsoft YaHei" pitchFamily="34" charset="-122"/>
                <a:cs typeface="Microsoft YaHei" pitchFamily="34" charset="-120"/>
              </a:rPr>
              <a:t>攻击性争论</a:t>
            </a:r>
            <a:endParaRPr lang="en-US" sz="1600" dirty="0"/>
          </a:p>
        </p:txBody>
      </p:sp>
      <p:sp>
        <p:nvSpPr>
          <p:cNvPr id="25" name="Shape 23"/>
          <p:cNvSpPr/>
          <p:nvPr/>
        </p:nvSpPr>
        <p:spPr>
          <a:xfrm>
            <a:off x="4937760" y="3566160"/>
            <a:ext cx="365760" cy="365760"/>
          </a:xfrm>
          <a:prstGeom prst="ellipse">
            <a:avLst/>
          </a:prstGeom>
          <a:solidFill>
            <a:srgbClr val="EF233C"/>
          </a:solidFill>
          <a:ln/>
        </p:spPr>
      </p:sp>
      <p:sp>
        <p:nvSpPr>
          <p:cNvPr id="26" name="Text 24"/>
          <p:cNvSpPr/>
          <p:nvPr/>
        </p:nvSpPr>
        <p:spPr>
          <a:xfrm>
            <a:off x="4937760" y="356616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7" name="Text 25"/>
          <p:cNvSpPr/>
          <p:nvPr/>
        </p:nvSpPr>
        <p:spPr>
          <a:xfrm>
            <a:off x="5486400" y="3474720"/>
            <a:ext cx="3017520" cy="548640"/>
          </a:xfrm>
          <a:prstGeom prst="rect">
            <a:avLst/>
          </a:prstGeom>
          <a:noFill/>
          <a:ln/>
        </p:spPr>
        <p:txBody>
          <a:bodyPr wrap="square" rtlCol="0" anchor="ctr"/>
          <a:lstStyle/>
          <a:p>
            <a:pPr indent="0" marL="0">
              <a:buNone/>
            </a:pPr>
            <a:r>
              <a:rPr lang="en-US" sz="1600" dirty="0">
                <a:solidFill>
                  <a:srgbClr val="8D99AE"/>
                </a:solidFill>
                <a:latin typeface="Microsoft YaHei" pitchFamily="34" charset="0"/>
                <a:ea typeface="Microsoft YaHei" pitchFamily="34" charset="-122"/>
                <a:cs typeface="Microsoft YaHei" pitchFamily="34" charset="-120"/>
              </a:rPr>
              <a:t>沉默旁观</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rect">
            <a:avLst/>
          </a:prstGeom>
          <a:solidFill>
            <a:srgbClr val="2B2D42"/>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8</a:t>
            </a:r>
            <a:endParaRPr lang="en-US" sz="1800" dirty="0"/>
          </a:p>
        </p:txBody>
      </p:sp>
      <p:sp>
        <p:nvSpPr>
          <p:cNvPr id="4" name="Shape 2"/>
          <p:cNvSpPr/>
          <p:nvPr/>
        </p:nvSpPr>
        <p:spPr>
          <a:xfrm>
            <a:off x="0" y="1371600"/>
            <a:ext cx="9144000" cy="2560320"/>
          </a:xfrm>
          <a:prstGeom prst="rect">
            <a:avLst/>
          </a:prstGeom>
          <a:solidFill>
            <a:srgbClr val="2B2D42"/>
          </a:solidFill>
          <a:ln/>
        </p:spPr>
      </p:sp>
      <p:sp>
        <p:nvSpPr>
          <p:cNvPr id="5" name="Text 3"/>
          <p:cNvSpPr/>
          <p:nvPr/>
        </p:nvSpPr>
        <p:spPr>
          <a:xfrm>
            <a:off x="457200" y="1463040"/>
            <a:ext cx="2286000" cy="1371600"/>
          </a:xfrm>
          <a:prstGeom prst="rect">
            <a:avLst/>
          </a:prstGeom>
          <a:noFill/>
          <a:ln/>
        </p:spPr>
        <p:txBody>
          <a:bodyPr wrap="square" rtlCol="0" anchor="ctr"/>
          <a:lstStyle/>
          <a:p>
            <a:pPr indent="0" marL="0">
              <a:buNone/>
            </a:pPr>
            <a:r>
              <a:rPr lang="en-US" sz="7200" b="1" dirty="0">
                <a:solidFill>
                  <a:srgbClr val="FFFFFF"/>
                </a:solidFill>
                <a:latin typeface="Arial" pitchFamily="34" charset="0"/>
                <a:ea typeface="Arial" pitchFamily="34" charset="-122"/>
                <a:cs typeface="Arial" pitchFamily="34" charset="-120"/>
              </a:rPr>
              <a:t>01</a:t>
            </a:r>
            <a:endParaRPr lang="en-US" sz="7200" dirty="0"/>
          </a:p>
        </p:txBody>
      </p:sp>
      <p:sp>
        <p:nvSpPr>
          <p:cNvPr id="6" name="Text 4"/>
          <p:cNvSpPr/>
          <p:nvPr/>
        </p:nvSpPr>
        <p:spPr>
          <a:xfrm>
            <a:off x="2926080" y="1554480"/>
            <a:ext cx="5760720" cy="640080"/>
          </a:xfrm>
          <a:prstGeom prst="rect">
            <a:avLst/>
          </a:prstGeom>
          <a:noFill/>
          <a:ln/>
        </p:spPr>
        <p:txBody>
          <a:bodyPr wrap="square"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模块一</a:t>
            </a:r>
            <a:endParaRPr lang="en-US" sz="2800" dirty="0"/>
          </a:p>
        </p:txBody>
      </p:sp>
      <p:sp>
        <p:nvSpPr>
          <p:cNvPr id="7" name="Text 5"/>
          <p:cNvSpPr/>
          <p:nvPr/>
        </p:nvSpPr>
        <p:spPr>
          <a:xfrm>
            <a:off x="2926080" y="2194560"/>
            <a:ext cx="5760720" cy="731520"/>
          </a:xfrm>
          <a:prstGeom prst="rect">
            <a:avLst/>
          </a:prstGeom>
          <a:noFill/>
          <a:ln/>
        </p:spPr>
        <p:txBody>
          <a:bodyPr wrap="square" rtlCol="0" anchor="ctr"/>
          <a:lstStyle/>
          <a:p>
            <a:pPr indent="0" marL="0">
              <a:buNone/>
            </a:pPr>
            <a:r>
              <a:rPr lang="en-US" sz="4200" b="1" dirty="0">
                <a:solidFill>
                  <a:srgbClr val="FFFFFF"/>
                </a:solidFill>
                <a:latin typeface="Microsoft YaHei" pitchFamily="34" charset="0"/>
                <a:ea typeface="Microsoft YaHei" pitchFamily="34" charset="-122"/>
                <a:cs typeface="Microsoft YaHei" pitchFamily="34" charset="-120"/>
              </a:rPr>
              <a:t>认知重塑</a:t>
            </a:r>
            <a:endParaRPr lang="en-US" sz="4200" dirty="0"/>
          </a:p>
        </p:txBody>
      </p:sp>
      <p:sp>
        <p:nvSpPr>
          <p:cNvPr id="8" name="Text 6"/>
          <p:cNvSpPr/>
          <p:nvPr/>
        </p:nvSpPr>
        <p:spPr>
          <a:xfrm>
            <a:off x="2926080" y="3017520"/>
            <a:ext cx="5760720" cy="457200"/>
          </a:xfrm>
          <a:prstGeom prst="rect">
            <a:avLst/>
          </a:prstGeom>
          <a:noFill/>
          <a:ln/>
        </p:spPr>
        <p:txBody>
          <a:bodyPr wrap="square" rtlCol="0" anchor="ctr"/>
          <a:lstStyle/>
          <a:p>
            <a:pPr indent="0" marL="0">
              <a:buNone/>
            </a:pPr>
            <a:r>
              <a:rPr lang="en-US" sz="1600" dirty="0">
                <a:solidFill>
                  <a:srgbClr val="EDF2F4"/>
                </a:solidFill>
                <a:latin typeface="Microsoft YaHei" pitchFamily="34" charset="0"/>
                <a:ea typeface="Microsoft YaHei" pitchFamily="34" charset="-122"/>
                <a:cs typeface="Microsoft YaHei" pitchFamily="34" charset="-120"/>
              </a:rPr>
              <a:t>从冲稳保的语法，到判断力的核心</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rect">
            <a:avLst/>
          </a:prstGeom>
          <a:solidFill>
            <a:srgbClr val="2B2D42"/>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9</a:t>
            </a:r>
            <a:endParaRPr lang="en-US" sz="1800" dirty="0"/>
          </a:p>
        </p:txBody>
      </p:sp>
      <p:sp>
        <p:nvSpPr>
          <p:cNvPr id="4" name="Text 2"/>
          <p:cNvSpPr/>
          <p:nvPr/>
        </p:nvSpPr>
        <p:spPr>
          <a:xfrm>
            <a:off x="457200" y="365760"/>
            <a:ext cx="914400" cy="548640"/>
          </a:xfrm>
          <a:prstGeom prst="rect">
            <a:avLst/>
          </a:prstGeom>
          <a:noFill/>
          <a:ln/>
        </p:spPr>
        <p:txBody>
          <a:bodyPr wrap="square" rtlCol="0" anchor="ctr"/>
          <a:lstStyle/>
          <a:p>
            <a:pPr indent="0" marL="0">
              <a:buNone/>
            </a:pPr>
            <a:r>
              <a:rPr lang="en-US" sz="2400" b="1" dirty="0">
                <a:solidFill>
                  <a:srgbClr val="EF233C"/>
                </a:solidFill>
                <a:latin typeface="Arial" pitchFamily="34" charset="0"/>
                <a:ea typeface="Arial" pitchFamily="34" charset="-122"/>
                <a:cs typeface="Arial" pitchFamily="34" charset="-120"/>
              </a:rPr>
              <a:t>01</a:t>
            </a:r>
            <a:endParaRPr lang="en-US" sz="2400" dirty="0"/>
          </a:p>
        </p:txBody>
      </p:sp>
      <p:sp>
        <p:nvSpPr>
          <p:cNvPr id="5" name="Text 3"/>
          <p:cNvSpPr/>
          <p:nvPr/>
        </p:nvSpPr>
        <p:spPr>
          <a:xfrm>
            <a:off x="457200" y="868680"/>
            <a:ext cx="8229600" cy="54864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冲稳保是语法，不是方法</a:t>
            </a:r>
            <a:endParaRPr lang="en-US" sz="2800" dirty="0"/>
          </a:p>
        </p:txBody>
      </p:sp>
      <p:sp>
        <p:nvSpPr>
          <p:cNvPr id="6" name="Shape 4"/>
          <p:cNvSpPr/>
          <p:nvPr/>
        </p:nvSpPr>
        <p:spPr>
          <a:xfrm>
            <a:off x="457200" y="1371600"/>
            <a:ext cx="1097280" cy="45720"/>
          </a:xfrm>
          <a:prstGeom prst="rect">
            <a:avLst/>
          </a:prstGeom>
          <a:solidFill>
            <a:srgbClr val="2B2D42"/>
          </a:solidFill>
          <a:ln/>
        </p:spPr>
      </p:sp>
      <p:sp>
        <p:nvSpPr>
          <p:cNvPr id="7" name="Shape 5"/>
          <p:cNvSpPr/>
          <p:nvPr/>
        </p:nvSpPr>
        <p:spPr>
          <a:xfrm>
            <a:off x="457200" y="1645920"/>
            <a:ext cx="8229600" cy="1188720"/>
          </a:xfrm>
          <a:prstGeom prst="rect">
            <a:avLst/>
          </a:prstGeom>
          <a:solidFill>
            <a:srgbClr val="2B2D42"/>
          </a:solidFill>
          <a:ln/>
        </p:spPr>
      </p:sp>
      <p:sp>
        <p:nvSpPr>
          <p:cNvPr id="8" name="Text 6"/>
          <p:cNvSpPr/>
          <p:nvPr/>
        </p:nvSpPr>
        <p:spPr>
          <a:xfrm>
            <a:off x="640080" y="1645920"/>
            <a:ext cx="7863840" cy="1188720"/>
          </a:xfrm>
          <a:prstGeom prst="rect">
            <a:avLst/>
          </a:prstGeom>
          <a:noFill/>
          <a:ln/>
        </p:spPr>
        <p:txBody>
          <a:bodyPr wrap="square" rtlCol="0" anchor="ctr"/>
          <a:lstStyle/>
          <a:p>
            <a:pPr algn="ctr" indent="0" marL="0">
              <a:buNone/>
            </a:pPr>
            <a:r>
              <a:rPr lang="en-US" sz="2400" b="1" dirty="0">
                <a:solidFill>
                  <a:srgbClr val="FFFFFF"/>
                </a:solidFill>
                <a:latin typeface="Microsoft YaHei" pitchFamily="34" charset="0"/>
                <a:ea typeface="Microsoft YaHei" pitchFamily="34" charset="-122"/>
                <a:cs typeface="Microsoft YaHei" pitchFamily="34" charset="-120"/>
              </a:rPr>
              <a:t>“冲稳保不是志愿填报的思想，是它的标点符号。”</a:t>
            </a:r>
            <a:endParaRPr lang="en-US" sz="2400" dirty="0"/>
          </a:p>
        </p:txBody>
      </p:sp>
      <p:sp>
        <p:nvSpPr>
          <p:cNvPr id="9" name="Shape 7"/>
          <p:cNvSpPr/>
          <p:nvPr/>
        </p:nvSpPr>
        <p:spPr>
          <a:xfrm>
            <a:off x="457200" y="3108960"/>
            <a:ext cx="8229600" cy="1463040"/>
          </a:xfrm>
          <a:prstGeom prst="rect">
            <a:avLst>
              <a:gd name="adj" fmla="val 6250"/>
            </a:avLst>
          </a:prstGeom>
          <a:solidFill>
            <a:srgbClr val="EDF2F4"/>
          </a:solidFill>
          <a:ln/>
        </p:spPr>
      </p:sp>
      <p:sp>
        <p:nvSpPr>
          <p:cNvPr id="10" name="Shape 8"/>
          <p:cNvSpPr/>
          <p:nvPr/>
        </p:nvSpPr>
        <p:spPr>
          <a:xfrm>
            <a:off x="457200" y="3108960"/>
            <a:ext cx="91440" cy="1463040"/>
          </a:xfrm>
          <a:prstGeom prst="rect">
            <a:avLst/>
          </a:prstGeom>
          <a:solidFill>
            <a:srgbClr val="EF233C"/>
          </a:solidFill>
          <a:ln/>
        </p:spPr>
      </p:sp>
      <p:sp>
        <p:nvSpPr>
          <p:cNvPr id="11" name="Text 9"/>
          <p:cNvSpPr/>
          <p:nvPr/>
        </p:nvSpPr>
        <p:spPr>
          <a:xfrm>
            <a:off x="731520" y="3246120"/>
            <a:ext cx="914400" cy="365760"/>
          </a:xfrm>
          <a:prstGeom prst="rect">
            <a:avLst/>
          </a:prstGeom>
          <a:noFill/>
          <a:ln/>
        </p:spPr>
        <p:txBody>
          <a:bodyPr wrap="square" rtlCol="0" anchor="ctr"/>
          <a:lstStyle/>
          <a:p>
            <a:pPr indent="0" marL="0">
              <a:buNone/>
            </a:pPr>
            <a:r>
              <a:rPr lang="en-US" sz="1400" b="1" dirty="0">
                <a:solidFill>
                  <a:srgbClr val="EF233C"/>
                </a:solidFill>
                <a:latin typeface="Microsoft YaHei" pitchFamily="34" charset="0"/>
                <a:ea typeface="Microsoft YaHei" pitchFamily="34" charset="-122"/>
                <a:cs typeface="Microsoft YaHei" pitchFamily="34" charset="-120"/>
              </a:rPr>
              <a:t>案例</a:t>
            </a:r>
            <a:endParaRPr lang="en-US" sz="1400" dirty="0"/>
          </a:p>
        </p:txBody>
      </p:sp>
      <p:sp>
        <p:nvSpPr>
          <p:cNvPr id="12" name="Text 10"/>
          <p:cNvSpPr/>
          <p:nvPr/>
        </p:nvSpPr>
        <p:spPr>
          <a:xfrm>
            <a:off x="731520" y="3611880"/>
            <a:ext cx="7772400" cy="822960"/>
          </a:xfrm>
          <a:prstGeom prst="rect">
            <a:avLst/>
          </a:prstGeom>
          <a:noFill/>
          <a:ln/>
        </p:spPr>
        <p:txBody>
          <a:bodyPr wrap="square" rtlCol="0" anchor="t"/>
          <a:lstStyle/>
          <a:p>
            <a:pPr indent="0" marL="0">
              <a:buNone/>
            </a:pPr>
            <a:r>
              <a:rPr lang="en-US" sz="1800" dirty="0">
                <a:solidFill>
                  <a:srgbClr val="8D99AE"/>
                </a:solidFill>
                <a:latin typeface="Microsoft YaHei" pitchFamily="34" charset="0"/>
                <a:ea typeface="Microsoft YaHei" pitchFamily="34" charset="-122"/>
                <a:cs typeface="Microsoft YaHei" pitchFamily="34" charset="-120"/>
              </a:rPr>
              <a:t>去年，一位爸爸拿着自己用小程序排好的梯度表来找我...</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rect">
            <a:avLst/>
          </a:prstGeom>
          <a:solidFill>
            <a:srgbClr val="2B2D42"/>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10</a:t>
            </a:r>
            <a:endParaRPr lang="en-US" sz="1600" dirty="0"/>
          </a:p>
        </p:txBody>
      </p:sp>
      <p:sp>
        <p:nvSpPr>
          <p:cNvPr id="4" name="Text 2"/>
          <p:cNvSpPr/>
          <p:nvPr/>
        </p:nvSpPr>
        <p:spPr>
          <a:xfrm>
            <a:off x="457200" y="365760"/>
            <a:ext cx="7772400" cy="54864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冲稳保的陷阱</a:t>
            </a:r>
            <a:endParaRPr lang="en-US" sz="3200" dirty="0"/>
          </a:p>
        </p:txBody>
      </p:sp>
      <p:sp>
        <p:nvSpPr>
          <p:cNvPr id="5" name="Shape 3"/>
          <p:cNvSpPr/>
          <p:nvPr/>
        </p:nvSpPr>
        <p:spPr>
          <a:xfrm>
            <a:off x="457200" y="868680"/>
            <a:ext cx="1097280" cy="45720"/>
          </a:xfrm>
          <a:prstGeom prst="rect">
            <a:avLst/>
          </a:prstGeom>
          <a:solidFill>
            <a:srgbClr val="2B2D42"/>
          </a:solidFill>
          <a:ln/>
        </p:spPr>
      </p:sp>
      <p:sp>
        <p:nvSpPr>
          <p:cNvPr id="6" name="Shape 4"/>
          <p:cNvSpPr/>
          <p:nvPr/>
        </p:nvSpPr>
        <p:spPr>
          <a:xfrm>
            <a:off x="457200" y="1188720"/>
            <a:ext cx="4114800" cy="1645920"/>
          </a:xfrm>
          <a:prstGeom prst="rect">
            <a:avLst>
              <a:gd name="adj" fmla="val 5556"/>
            </a:avLst>
          </a:prstGeom>
          <a:solidFill>
            <a:srgbClr val="EDF2F4"/>
          </a:solidFill>
          <a:ln/>
        </p:spPr>
      </p:sp>
      <p:sp>
        <p:nvSpPr>
          <p:cNvPr id="7" name="Shape 5"/>
          <p:cNvSpPr/>
          <p:nvPr/>
        </p:nvSpPr>
        <p:spPr>
          <a:xfrm>
            <a:off x="457200" y="1188720"/>
            <a:ext cx="91440" cy="1645920"/>
          </a:xfrm>
          <a:prstGeom prst="rect">
            <a:avLst/>
          </a:prstGeom>
          <a:solidFill>
            <a:srgbClr val="8D99AE"/>
          </a:solidFill>
          <a:ln/>
        </p:spPr>
      </p:sp>
      <p:sp>
        <p:nvSpPr>
          <p:cNvPr id="8" name="Text 6"/>
          <p:cNvSpPr/>
          <p:nvPr/>
        </p:nvSpPr>
        <p:spPr>
          <a:xfrm>
            <a:off x="685800" y="1280160"/>
            <a:ext cx="3749040" cy="365760"/>
          </a:xfrm>
          <a:prstGeom prst="rect">
            <a:avLst/>
          </a:prstGeom>
          <a:noFill/>
          <a:ln/>
        </p:spPr>
        <p:txBody>
          <a:bodyPr wrap="square" rtlCol="0" anchor="ctr"/>
          <a:lstStyle/>
          <a:p>
            <a:pPr indent="0" marL="0">
              <a:buNone/>
            </a:pPr>
            <a:r>
              <a:rPr lang="en-US" sz="1400" b="1" dirty="0">
                <a:solidFill>
                  <a:srgbClr val="8D99AE"/>
                </a:solidFill>
                <a:latin typeface="Microsoft YaHei" pitchFamily="34" charset="0"/>
                <a:ea typeface="Microsoft YaHei" pitchFamily="34" charset="-122"/>
                <a:cs typeface="Microsoft YaHei" pitchFamily="34" charset="-120"/>
              </a:rPr>
              <a:t>常见思维</a:t>
            </a:r>
            <a:endParaRPr lang="en-US" sz="1400" dirty="0"/>
          </a:p>
        </p:txBody>
      </p:sp>
      <p:sp>
        <p:nvSpPr>
          <p:cNvPr id="9" name="Text 7"/>
          <p:cNvSpPr/>
          <p:nvPr/>
        </p:nvSpPr>
        <p:spPr>
          <a:xfrm>
            <a:off x="685800" y="1691640"/>
            <a:ext cx="3749040" cy="45720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分数 → 冲稳保梯度 → 填表</a:t>
            </a:r>
            <a:endParaRPr lang="en-US" sz="1600" dirty="0"/>
          </a:p>
        </p:txBody>
      </p:sp>
      <p:sp>
        <p:nvSpPr>
          <p:cNvPr id="10" name="Text 8"/>
          <p:cNvSpPr/>
          <p:nvPr/>
        </p:nvSpPr>
        <p:spPr>
          <a:xfrm>
            <a:off x="685800" y="2240280"/>
            <a:ext cx="3749040" cy="457200"/>
          </a:xfrm>
          <a:prstGeom prst="rect">
            <a:avLst/>
          </a:prstGeom>
          <a:noFill/>
          <a:ln/>
        </p:spPr>
        <p:txBody>
          <a:bodyPr wrap="square" rtlCol="0" anchor="ctr"/>
          <a:lstStyle/>
          <a:p>
            <a:pPr indent="0" marL="0">
              <a:buNone/>
            </a:pPr>
            <a:r>
              <a:rPr lang="en-US" sz="1300" dirty="0">
                <a:solidFill>
                  <a:srgbClr val="8D99AE"/>
                </a:solidFill>
                <a:latin typeface="Microsoft YaHei" pitchFamily="34" charset="0"/>
                <a:ea typeface="Microsoft YaHei" pitchFamily="34" charset="-122"/>
                <a:cs typeface="Microsoft YaHei" pitchFamily="34" charset="-120"/>
              </a:rPr>
              <a:t>忽略了对学生个体的理解</a:t>
            </a:r>
            <a:endParaRPr lang="en-US" sz="1300" dirty="0"/>
          </a:p>
        </p:txBody>
      </p:sp>
      <p:sp>
        <p:nvSpPr>
          <p:cNvPr id="11" name="Shape 9"/>
          <p:cNvSpPr/>
          <p:nvPr/>
        </p:nvSpPr>
        <p:spPr>
          <a:xfrm>
            <a:off x="4572000" y="1188720"/>
            <a:ext cx="4114800" cy="1645920"/>
          </a:xfrm>
          <a:prstGeom prst="rect">
            <a:avLst>
              <a:gd name="adj" fmla="val 5556"/>
            </a:avLst>
          </a:prstGeom>
          <a:solidFill>
            <a:srgbClr val="EDF2F4"/>
          </a:solidFill>
          <a:ln/>
        </p:spPr>
      </p:sp>
      <p:sp>
        <p:nvSpPr>
          <p:cNvPr id="12" name="Shape 10"/>
          <p:cNvSpPr/>
          <p:nvPr/>
        </p:nvSpPr>
        <p:spPr>
          <a:xfrm>
            <a:off x="4572000" y="1188720"/>
            <a:ext cx="91440" cy="1645920"/>
          </a:xfrm>
          <a:prstGeom prst="rect">
            <a:avLst/>
          </a:prstGeom>
          <a:solidFill>
            <a:srgbClr val="EF233C"/>
          </a:solidFill>
          <a:ln/>
        </p:spPr>
      </p:sp>
      <p:sp>
        <p:nvSpPr>
          <p:cNvPr id="13" name="Text 11"/>
          <p:cNvSpPr/>
          <p:nvPr/>
        </p:nvSpPr>
        <p:spPr>
          <a:xfrm>
            <a:off x="4800600" y="1280160"/>
            <a:ext cx="3749040" cy="365760"/>
          </a:xfrm>
          <a:prstGeom prst="rect">
            <a:avLst/>
          </a:prstGeom>
          <a:noFill/>
          <a:ln/>
        </p:spPr>
        <p:txBody>
          <a:bodyPr wrap="square" rtlCol="0" anchor="ctr"/>
          <a:lstStyle/>
          <a:p>
            <a:pPr indent="0" marL="0">
              <a:buNone/>
            </a:pPr>
            <a:r>
              <a:rPr lang="en-US" sz="1400" b="1" dirty="0">
                <a:solidFill>
                  <a:srgbClr val="EF233C"/>
                </a:solidFill>
                <a:latin typeface="Microsoft YaHei" pitchFamily="34" charset="0"/>
                <a:ea typeface="Microsoft YaHei" pitchFamily="34" charset="-122"/>
                <a:cs typeface="Microsoft YaHei" pitchFamily="34" charset="-120"/>
              </a:rPr>
              <a:t>问题</a:t>
            </a:r>
            <a:endParaRPr lang="en-US" sz="1400" dirty="0"/>
          </a:p>
        </p:txBody>
      </p:sp>
      <p:sp>
        <p:nvSpPr>
          <p:cNvPr id="14" name="Text 12"/>
          <p:cNvSpPr/>
          <p:nvPr/>
        </p:nvSpPr>
        <p:spPr>
          <a:xfrm>
            <a:off x="4800600" y="1691640"/>
            <a:ext cx="3749040" cy="45720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这个孩子是谁？</a:t>
            </a:r>
            <a:endParaRPr lang="en-US" sz="1600" dirty="0"/>
          </a:p>
        </p:txBody>
      </p:sp>
      <p:sp>
        <p:nvSpPr>
          <p:cNvPr id="15" name="Text 13"/>
          <p:cNvSpPr/>
          <p:nvPr/>
        </p:nvSpPr>
        <p:spPr>
          <a:xfrm>
            <a:off x="4800600" y="2148840"/>
            <a:ext cx="3749040" cy="45720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ta想学什么？</a:t>
            </a:r>
            <a:endParaRPr lang="en-US" sz="1600" dirty="0"/>
          </a:p>
        </p:txBody>
      </p:sp>
      <p:sp>
        <p:nvSpPr>
          <p:cNvPr id="16" name="Text 14"/>
          <p:cNvSpPr/>
          <p:nvPr/>
        </p:nvSpPr>
        <p:spPr>
          <a:xfrm>
            <a:off x="4160520" y="1737360"/>
            <a:ext cx="457200" cy="548640"/>
          </a:xfrm>
          <a:prstGeom prst="rect">
            <a:avLst/>
          </a:prstGeom>
          <a:noFill/>
          <a:ln/>
        </p:spPr>
        <p:txBody>
          <a:bodyPr wrap="square" rtlCol="0" anchor="ctr"/>
          <a:lstStyle/>
          <a:p>
            <a:pPr algn="ctr" indent="0" marL="0">
              <a:buNone/>
            </a:pPr>
            <a:r>
              <a:rPr lang="en-US" sz="2800" b="1" dirty="0">
                <a:solidFill>
                  <a:srgbClr val="EF233C"/>
                </a:solidFill>
                <a:latin typeface="Arial" pitchFamily="34" charset="0"/>
                <a:ea typeface="Arial" pitchFamily="34" charset="-122"/>
                <a:cs typeface="Arial" pitchFamily="34" charset="-120"/>
              </a:rPr>
              <a:t>→</a:t>
            </a:r>
            <a:endParaRPr lang="en-US" sz="2800" dirty="0"/>
          </a:p>
        </p:txBody>
      </p:sp>
      <p:sp>
        <p:nvSpPr>
          <p:cNvPr id="17" name="Shape 15"/>
          <p:cNvSpPr/>
          <p:nvPr/>
        </p:nvSpPr>
        <p:spPr>
          <a:xfrm>
            <a:off x="457200" y="3200400"/>
            <a:ext cx="8229600" cy="1371600"/>
          </a:xfrm>
          <a:prstGeom prst="rect">
            <a:avLst/>
          </a:prstGeom>
          <a:solidFill>
            <a:srgbClr val="2B2D42"/>
          </a:solidFill>
          <a:ln/>
        </p:spPr>
      </p:sp>
      <p:sp>
        <p:nvSpPr>
          <p:cNvPr id="18" name="Text 16"/>
          <p:cNvSpPr/>
          <p:nvPr/>
        </p:nvSpPr>
        <p:spPr>
          <a:xfrm>
            <a:off x="640080" y="3337560"/>
            <a:ext cx="1828800" cy="365760"/>
          </a:xfrm>
          <a:prstGeom prst="rect">
            <a:avLst/>
          </a:prstGeom>
          <a:noFill/>
          <a:ln/>
        </p:spPr>
        <p:txBody>
          <a:bodyPr wrap="square" rtlCol="0" anchor="ctr"/>
          <a:lstStyle/>
          <a:p>
            <a:pPr indent="0" marL="0">
              <a:buNone/>
            </a:pPr>
            <a:r>
              <a:rPr lang="en-US" sz="1200" dirty="0">
                <a:solidFill>
                  <a:srgbClr val="EDF2F4"/>
                </a:solidFill>
                <a:latin typeface="Microsoft YaHei" pitchFamily="34" charset="0"/>
                <a:ea typeface="Microsoft YaHei" pitchFamily="34" charset="-122"/>
                <a:cs typeface="Microsoft YaHei" pitchFamily="34" charset="-120"/>
              </a:rPr>
              <a:t>核心洞察</a:t>
            </a:r>
            <a:endParaRPr lang="en-US" sz="1200" dirty="0"/>
          </a:p>
        </p:txBody>
      </p:sp>
      <p:sp>
        <p:nvSpPr>
          <p:cNvPr id="19" name="Text 17"/>
          <p:cNvSpPr/>
          <p:nvPr/>
        </p:nvSpPr>
        <p:spPr>
          <a:xfrm>
            <a:off x="640080" y="3703320"/>
            <a:ext cx="7863840" cy="777240"/>
          </a:xfrm>
          <a:prstGeom prst="rect">
            <a:avLst/>
          </a:prstGeom>
          <a:noFill/>
          <a:ln/>
        </p:spPr>
        <p:txBody>
          <a:bodyPr wrap="square"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分数只是硬约束，约束的是“你能进哪个范围”，</a:t>
            </a:r>
            <a:endParaRPr lang="en-US" sz="1800" dirty="0"/>
          </a:p>
          <a:p>
            <a:pPr indent="0" marL="0">
              <a:buNone/>
            </a:pPr>
            <a:r>
              <a:rPr lang="en-US" sz="1800" b="1" dirty="0">
                <a:solidFill>
                  <a:srgbClr val="FFFFFF"/>
                </a:solidFill>
                <a:latin typeface="Microsoft YaHei" pitchFamily="34" charset="0"/>
                <a:ea typeface="Microsoft YaHei" pitchFamily="34" charset="-122"/>
                <a:cs typeface="Microsoft YaHei" pitchFamily="34" charset="-120"/>
              </a:rPr>
              <a:t>不是“你该往哪个方向走”</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rect">
            <a:avLst/>
          </a:prstGeom>
          <a:solidFill>
            <a:srgbClr val="EF233C"/>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11</a:t>
            </a:r>
            <a:endParaRPr lang="en-US" sz="1600" dirty="0"/>
          </a:p>
        </p:txBody>
      </p:sp>
      <p:sp>
        <p:nvSpPr>
          <p:cNvPr id="4" name="Text 2"/>
          <p:cNvSpPr/>
          <p:nvPr/>
        </p:nvSpPr>
        <p:spPr>
          <a:xfrm>
            <a:off x="457200" y="365760"/>
            <a:ext cx="7772400" cy="54864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一个真实的案例</a:t>
            </a:r>
            <a:endParaRPr lang="en-US" sz="3200" dirty="0"/>
          </a:p>
        </p:txBody>
      </p:sp>
      <p:sp>
        <p:nvSpPr>
          <p:cNvPr id="5" name="Shape 3"/>
          <p:cNvSpPr/>
          <p:nvPr/>
        </p:nvSpPr>
        <p:spPr>
          <a:xfrm>
            <a:off x="457200" y="868680"/>
            <a:ext cx="1097280" cy="45720"/>
          </a:xfrm>
          <a:prstGeom prst="rect">
            <a:avLst/>
          </a:prstGeom>
          <a:solidFill>
            <a:srgbClr val="EF233C"/>
          </a:solidFill>
          <a:ln/>
        </p:spPr>
      </p:sp>
      <p:sp>
        <p:nvSpPr>
          <p:cNvPr id="6" name="Shape 4"/>
          <p:cNvSpPr/>
          <p:nvPr/>
        </p:nvSpPr>
        <p:spPr>
          <a:xfrm>
            <a:off x="457200" y="1188720"/>
            <a:ext cx="3931920" cy="1645920"/>
          </a:xfrm>
          <a:prstGeom prst="rect">
            <a:avLst>
              <a:gd name="adj" fmla="val 5556"/>
            </a:avLst>
          </a:prstGeom>
          <a:solidFill>
            <a:srgbClr val="EDF2F4"/>
          </a:solidFill>
          <a:ln/>
        </p:spPr>
      </p:sp>
      <p:sp>
        <p:nvSpPr>
          <p:cNvPr id="7" name="Shape 5"/>
          <p:cNvSpPr/>
          <p:nvPr/>
        </p:nvSpPr>
        <p:spPr>
          <a:xfrm>
            <a:off x="457200" y="1188720"/>
            <a:ext cx="3931920" cy="457200"/>
          </a:xfrm>
          <a:prstGeom prst="rect">
            <a:avLst>
              <a:gd name="adj" fmla="val 20000"/>
            </a:avLst>
          </a:prstGeom>
          <a:solidFill>
            <a:srgbClr val="2B2D42"/>
          </a:solidFill>
          <a:ln/>
        </p:spPr>
      </p:sp>
      <p:sp>
        <p:nvSpPr>
          <p:cNvPr id="8" name="Shape 6"/>
          <p:cNvSpPr/>
          <p:nvPr/>
        </p:nvSpPr>
        <p:spPr>
          <a:xfrm>
            <a:off x="457200" y="1417320"/>
            <a:ext cx="3931920" cy="228600"/>
          </a:xfrm>
          <a:prstGeom prst="rect">
            <a:avLst/>
          </a:prstGeom>
          <a:solidFill>
            <a:srgbClr val="2B2D42"/>
          </a:solidFill>
          <a:ln/>
        </p:spPr>
      </p:sp>
      <p:sp>
        <p:nvSpPr>
          <p:cNvPr id="9" name="Text 7"/>
          <p:cNvSpPr/>
          <p:nvPr/>
        </p:nvSpPr>
        <p:spPr>
          <a:xfrm>
            <a:off x="457200" y="1188720"/>
            <a:ext cx="393192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学生档案</a:t>
            </a:r>
            <a:endParaRPr lang="en-US" sz="1400" dirty="0"/>
          </a:p>
        </p:txBody>
      </p:sp>
      <p:sp>
        <p:nvSpPr>
          <p:cNvPr id="10" name="Text 8"/>
          <p:cNvSpPr/>
          <p:nvPr/>
        </p:nvSpPr>
        <p:spPr>
          <a:xfrm>
            <a:off x="731520" y="1737360"/>
            <a:ext cx="3383280" cy="32004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理科男生</a:t>
            </a:r>
            <a:endParaRPr lang="en-US" sz="1400" dirty="0"/>
          </a:p>
        </p:txBody>
      </p:sp>
      <p:sp>
        <p:nvSpPr>
          <p:cNvPr id="11" name="Text 9"/>
          <p:cNvSpPr/>
          <p:nvPr/>
        </p:nvSpPr>
        <p:spPr>
          <a:xfrm>
            <a:off x="731520" y="2057400"/>
            <a:ext cx="3383280" cy="32004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分数够985</a:t>
            </a:r>
            <a:endParaRPr lang="en-US" sz="1400" dirty="0"/>
          </a:p>
        </p:txBody>
      </p:sp>
      <p:sp>
        <p:nvSpPr>
          <p:cNvPr id="12" name="Text 10"/>
          <p:cNvSpPr/>
          <p:nvPr/>
        </p:nvSpPr>
        <p:spPr>
          <a:xfrm>
            <a:off x="731520" y="2377440"/>
            <a:ext cx="3383280" cy="32004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喜欢打游戏</a:t>
            </a:r>
            <a:endParaRPr lang="en-US" sz="1400" dirty="0"/>
          </a:p>
        </p:txBody>
      </p:sp>
      <p:sp>
        <p:nvSpPr>
          <p:cNvPr id="13" name="Shape 11"/>
          <p:cNvSpPr/>
          <p:nvPr/>
        </p:nvSpPr>
        <p:spPr>
          <a:xfrm>
            <a:off x="4754880" y="1188720"/>
            <a:ext cx="3931920" cy="1645920"/>
          </a:xfrm>
          <a:prstGeom prst="rect">
            <a:avLst>
              <a:gd name="adj" fmla="val 5556"/>
            </a:avLst>
          </a:prstGeom>
          <a:solidFill>
            <a:srgbClr val="EDF2F4"/>
          </a:solidFill>
          <a:ln/>
        </p:spPr>
      </p:sp>
      <p:sp>
        <p:nvSpPr>
          <p:cNvPr id="14" name="Shape 12"/>
          <p:cNvSpPr/>
          <p:nvPr/>
        </p:nvSpPr>
        <p:spPr>
          <a:xfrm>
            <a:off x="4754880" y="1188720"/>
            <a:ext cx="3931920" cy="457200"/>
          </a:xfrm>
          <a:prstGeom prst="rect">
            <a:avLst>
              <a:gd name="adj" fmla="val 20000"/>
            </a:avLst>
          </a:prstGeom>
          <a:solidFill>
            <a:srgbClr val="EF233C"/>
          </a:solidFill>
          <a:ln/>
        </p:spPr>
      </p:sp>
      <p:sp>
        <p:nvSpPr>
          <p:cNvPr id="15" name="Shape 13"/>
          <p:cNvSpPr/>
          <p:nvPr/>
        </p:nvSpPr>
        <p:spPr>
          <a:xfrm>
            <a:off x="4754880" y="1417320"/>
            <a:ext cx="3931920" cy="228600"/>
          </a:xfrm>
          <a:prstGeom prst="rect">
            <a:avLst/>
          </a:prstGeom>
          <a:solidFill>
            <a:srgbClr val="EF233C"/>
          </a:solidFill>
          <a:ln/>
        </p:spPr>
      </p:sp>
      <p:sp>
        <p:nvSpPr>
          <p:cNvPr id="16" name="Text 14"/>
          <p:cNvSpPr/>
          <p:nvPr/>
        </p:nvSpPr>
        <p:spPr>
          <a:xfrm>
            <a:off x="4754880" y="1188720"/>
            <a:ext cx="393192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隐藏优势</a:t>
            </a:r>
            <a:endParaRPr lang="en-US" sz="1400" dirty="0"/>
          </a:p>
        </p:txBody>
      </p:sp>
      <p:sp>
        <p:nvSpPr>
          <p:cNvPr id="17" name="Text 15"/>
          <p:cNvSpPr/>
          <p:nvPr/>
        </p:nvSpPr>
        <p:spPr>
          <a:xfrm>
            <a:off x="4937760" y="1737360"/>
            <a:ext cx="3566160" cy="100584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对策略类游戏的资源调度和数值平衡特别有研究</a:t>
            </a:r>
            <a:endParaRPr lang="en-US" sz="1400" dirty="0"/>
          </a:p>
        </p:txBody>
      </p:sp>
      <p:sp>
        <p:nvSpPr>
          <p:cNvPr id="18" name="Shape 16"/>
          <p:cNvSpPr/>
          <p:nvPr/>
        </p:nvSpPr>
        <p:spPr>
          <a:xfrm>
            <a:off x="457200" y="3017520"/>
            <a:ext cx="8229600" cy="914400"/>
          </a:xfrm>
          <a:prstGeom prst="rect">
            <a:avLst>
              <a:gd name="adj" fmla="val 10000"/>
            </a:avLst>
          </a:prstGeom>
          <a:solidFill>
            <a:srgbClr val="2B2D42">
              <a:alpha val="5000"/>
            </a:srgbClr>
          </a:solidFill>
          <a:ln w="19050">
            <a:solidFill>
              <a:srgbClr val="2B2D42"/>
            </a:solidFill>
            <a:prstDash val="solid"/>
          </a:ln>
        </p:spPr>
      </p:sp>
      <p:sp>
        <p:nvSpPr>
          <p:cNvPr id="19" name="Text 17"/>
          <p:cNvSpPr/>
          <p:nvPr/>
        </p:nvSpPr>
        <p:spPr>
          <a:xfrm>
            <a:off x="640080" y="3108960"/>
            <a:ext cx="914400" cy="274320"/>
          </a:xfrm>
          <a:prstGeom prst="rect">
            <a:avLst/>
          </a:prstGeom>
          <a:noFill/>
          <a:ln/>
        </p:spPr>
        <p:txBody>
          <a:bodyPr wrap="square" rtlCol="0" anchor="ctr"/>
          <a:lstStyle/>
          <a:p>
            <a:pPr indent="0" marL="0">
              <a:buNone/>
            </a:pPr>
            <a:r>
              <a:rPr lang="en-US" sz="1100" b="1" dirty="0">
                <a:solidFill>
                  <a:srgbClr val="2B2D42"/>
                </a:solidFill>
                <a:latin typeface="Microsoft YaHei" pitchFamily="34" charset="0"/>
                <a:ea typeface="Microsoft YaHei" pitchFamily="34" charset="-122"/>
                <a:cs typeface="Microsoft YaHei" pitchFamily="34" charset="-120"/>
              </a:rPr>
              <a:t>问题</a:t>
            </a:r>
            <a:endParaRPr lang="en-US" sz="1100" dirty="0"/>
          </a:p>
        </p:txBody>
      </p:sp>
      <p:sp>
        <p:nvSpPr>
          <p:cNvPr id="20" name="Text 18"/>
          <p:cNvSpPr/>
          <p:nvPr/>
        </p:nvSpPr>
        <p:spPr>
          <a:xfrm>
            <a:off x="640080" y="3383280"/>
            <a:ext cx="7863840" cy="457200"/>
          </a:xfrm>
          <a:prstGeom prst="rect">
            <a:avLst/>
          </a:prstGeom>
          <a:noFill/>
          <a:ln/>
        </p:spPr>
        <p:txBody>
          <a:bodyPr wrap="square" rtlCol="0" anchor="ctr"/>
          <a:lstStyle/>
          <a:p>
            <a:pPr indent="0" marL="0">
              <a:buNone/>
            </a:pPr>
            <a:r>
              <a:rPr lang="en-US" sz="1600" dirty="0">
                <a:solidFill>
                  <a:srgbClr val="2B2D42"/>
                </a:solidFill>
                <a:latin typeface="Microsoft YaHei" pitchFamily="34" charset="0"/>
                <a:ea typeface="Microsoft YaHei" pitchFamily="34" charset="-122"/>
                <a:cs typeface="Microsoft YaHei" pitchFamily="34" charset="-120"/>
              </a:rPr>
              <a:t>梯度表前八个冲的专业全是热门商科和计算机</a:t>
            </a:r>
            <a:endParaRPr lang="en-US" sz="1600" dirty="0"/>
          </a:p>
        </p:txBody>
      </p:sp>
      <p:sp>
        <p:nvSpPr>
          <p:cNvPr id="21" name="Shape 19"/>
          <p:cNvSpPr/>
          <p:nvPr/>
        </p:nvSpPr>
        <p:spPr>
          <a:xfrm>
            <a:off x="457200" y="4114800"/>
            <a:ext cx="8229600" cy="731520"/>
          </a:xfrm>
          <a:prstGeom prst="rect">
            <a:avLst>
              <a:gd name="adj" fmla="val 12500"/>
            </a:avLst>
          </a:prstGeom>
          <a:solidFill>
            <a:srgbClr val="EF233C"/>
          </a:solidFill>
          <a:ln/>
        </p:spPr>
      </p:sp>
      <p:sp>
        <p:nvSpPr>
          <p:cNvPr id="22" name="Text 20"/>
          <p:cNvSpPr/>
          <p:nvPr/>
        </p:nvSpPr>
        <p:spPr>
          <a:xfrm>
            <a:off x="457200" y="4114800"/>
            <a:ext cx="8229600" cy="731520"/>
          </a:xfrm>
          <a:prstGeom prst="rect">
            <a:avLst/>
          </a:prstGeom>
          <a:noFill/>
          <a:ln/>
        </p:spPr>
        <p:txBody>
          <a:bodyPr wrap="square" rtlCol="0" anchor="ctr"/>
          <a:lstStyle/>
          <a:p>
            <a:pPr algn="ctr" indent="0" marL="0">
              <a:buNone/>
            </a:pPr>
            <a:r>
              <a:rPr lang="en-US" sz="2200" b="1" dirty="0">
                <a:solidFill>
                  <a:srgbClr val="FFFFFF"/>
                </a:solidFill>
                <a:latin typeface="Microsoft YaHei" pitchFamily="34" charset="0"/>
                <a:ea typeface="Microsoft YaHei" pitchFamily="34" charset="-122"/>
                <a:cs typeface="Microsoft YaHei" pitchFamily="34" charset="-120"/>
              </a:rPr>
              <a:t>有没有人问过，他想学什么？</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rect">
            <a:avLst/>
          </a:prstGeom>
          <a:solidFill>
            <a:srgbClr val="EF233C"/>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12</a:t>
            </a:r>
            <a:endParaRPr lang="en-US" sz="1600" dirty="0"/>
          </a:p>
        </p:txBody>
      </p:sp>
      <p:sp>
        <p:nvSpPr>
          <p:cNvPr id="4" name="Text 2"/>
          <p:cNvSpPr/>
          <p:nvPr/>
        </p:nvSpPr>
        <p:spPr>
          <a:xfrm>
            <a:off x="457200" y="365760"/>
            <a:ext cx="7772400" cy="54864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冲稳保的真正位置</a:t>
            </a:r>
            <a:endParaRPr lang="en-US" sz="3200" dirty="0"/>
          </a:p>
        </p:txBody>
      </p:sp>
      <p:sp>
        <p:nvSpPr>
          <p:cNvPr id="5" name="Shape 3"/>
          <p:cNvSpPr/>
          <p:nvPr/>
        </p:nvSpPr>
        <p:spPr>
          <a:xfrm>
            <a:off x="457200" y="868680"/>
            <a:ext cx="1097280" cy="45720"/>
          </a:xfrm>
          <a:prstGeom prst="rect">
            <a:avLst/>
          </a:prstGeom>
          <a:solidFill>
            <a:srgbClr val="EF233C"/>
          </a:solidFill>
          <a:ln/>
        </p:spPr>
      </p:sp>
      <p:sp>
        <p:nvSpPr>
          <p:cNvPr id="6" name="Shape 4"/>
          <p:cNvSpPr/>
          <p:nvPr/>
        </p:nvSpPr>
        <p:spPr>
          <a:xfrm>
            <a:off x="457200" y="1097280"/>
            <a:ext cx="8229600" cy="640080"/>
          </a:xfrm>
          <a:prstGeom prst="rect">
            <a:avLst>
              <a:gd name="adj" fmla="val 14286"/>
            </a:avLst>
          </a:prstGeom>
          <a:solidFill>
            <a:srgbClr val="EDF2F4"/>
          </a:solidFill>
          <a:ln/>
        </p:spPr>
      </p:sp>
      <p:sp>
        <p:nvSpPr>
          <p:cNvPr id="7" name="Text 5"/>
          <p:cNvSpPr/>
          <p:nvPr/>
        </p:nvSpPr>
        <p:spPr>
          <a:xfrm>
            <a:off x="457200" y="1097280"/>
            <a:ext cx="8229600" cy="640080"/>
          </a:xfrm>
          <a:prstGeom prst="rect">
            <a:avLst/>
          </a:prstGeom>
          <a:noFill/>
          <a:ln/>
        </p:spPr>
        <p:txBody>
          <a:bodyPr wrap="square" rtlCol="0" anchor="ctr"/>
          <a:lstStyle/>
          <a:p>
            <a:pPr algn="ctr" indent="0" marL="0">
              <a:buNone/>
            </a:pPr>
            <a:r>
              <a:rPr lang="en-US" sz="2000" b="1" dirty="0">
                <a:solidFill>
                  <a:srgbClr val="2B2D42"/>
                </a:solidFill>
                <a:latin typeface="Microsoft YaHei" pitchFamily="34" charset="0"/>
                <a:ea typeface="Microsoft YaHei" pitchFamily="34" charset="-122"/>
                <a:cs typeface="Microsoft YaHei" pitchFamily="34" charset="-120"/>
              </a:rPr>
              <a:t>它是这份工作的语法，不是方法</a:t>
            </a:r>
            <a:endParaRPr lang="en-US" sz="2000" dirty="0"/>
          </a:p>
        </p:txBody>
      </p:sp>
      <p:sp>
        <p:nvSpPr>
          <p:cNvPr id="8" name="Shape 6"/>
          <p:cNvSpPr/>
          <p:nvPr/>
        </p:nvSpPr>
        <p:spPr>
          <a:xfrm>
            <a:off x="457200" y="1920240"/>
            <a:ext cx="3931920" cy="914400"/>
          </a:xfrm>
          <a:prstGeom prst="rect">
            <a:avLst>
              <a:gd name="adj" fmla="val 10000"/>
            </a:avLst>
          </a:prstGeom>
          <a:solidFill>
            <a:srgbClr val="2B2D42"/>
          </a:solidFill>
          <a:ln/>
        </p:spPr>
      </p:sp>
      <p:sp>
        <p:nvSpPr>
          <p:cNvPr id="9" name="Text 7"/>
          <p:cNvSpPr/>
          <p:nvPr/>
        </p:nvSpPr>
        <p:spPr>
          <a:xfrm>
            <a:off x="457200" y="1920240"/>
            <a:ext cx="3931920" cy="9144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语法学得再熟</a:t>
            </a:r>
            <a:endParaRPr lang="en-US" sz="1600" dirty="0"/>
          </a:p>
        </p:txBody>
      </p:sp>
      <p:sp>
        <p:nvSpPr>
          <p:cNvPr id="10" name="Text 8"/>
          <p:cNvSpPr/>
          <p:nvPr/>
        </p:nvSpPr>
        <p:spPr>
          <a:xfrm>
            <a:off x="4114800" y="1920240"/>
            <a:ext cx="914400" cy="914400"/>
          </a:xfrm>
          <a:prstGeom prst="rect">
            <a:avLst/>
          </a:prstGeom>
          <a:noFill/>
          <a:ln/>
        </p:spPr>
        <p:txBody>
          <a:bodyPr wrap="square" rtlCol="0" anchor="ctr"/>
          <a:lstStyle/>
          <a:p>
            <a:pPr algn="ctr" indent="0" marL="0">
              <a:buNone/>
            </a:pPr>
            <a:r>
              <a:rPr lang="en-US" sz="2800" b="1" dirty="0">
                <a:solidFill>
                  <a:srgbClr val="EF233C"/>
                </a:solidFill>
                <a:latin typeface="Arial" pitchFamily="34" charset="0"/>
                <a:ea typeface="Arial" pitchFamily="34" charset="-122"/>
                <a:cs typeface="Arial" pitchFamily="34" charset="-120"/>
              </a:rPr>
              <a:t>=</a:t>
            </a:r>
            <a:endParaRPr lang="en-US" sz="2800" dirty="0"/>
          </a:p>
        </p:txBody>
      </p:sp>
      <p:sp>
        <p:nvSpPr>
          <p:cNvPr id="11" name="Shape 9"/>
          <p:cNvSpPr/>
          <p:nvPr/>
        </p:nvSpPr>
        <p:spPr>
          <a:xfrm>
            <a:off x="4754880" y="1920240"/>
            <a:ext cx="3931920" cy="914400"/>
          </a:xfrm>
          <a:prstGeom prst="rect">
            <a:avLst>
              <a:gd name="adj" fmla="val 10000"/>
            </a:avLst>
          </a:prstGeom>
          <a:solidFill>
            <a:srgbClr val="EDF2F4"/>
          </a:solidFill>
          <a:ln/>
        </p:spPr>
      </p:sp>
      <p:sp>
        <p:nvSpPr>
          <p:cNvPr id="12" name="Text 10"/>
          <p:cNvSpPr/>
          <p:nvPr/>
        </p:nvSpPr>
        <p:spPr>
          <a:xfrm>
            <a:off x="4754880" y="1920240"/>
            <a:ext cx="3931920" cy="914400"/>
          </a:xfrm>
          <a:prstGeom prst="rect">
            <a:avLst/>
          </a:prstGeom>
          <a:noFill/>
          <a:ln/>
        </p:spPr>
        <p:txBody>
          <a:bodyPr wrap="square" rtlCol="0" anchor="ctr"/>
          <a:lstStyle/>
          <a:p>
            <a:pPr algn="ctr" indent="0" marL="0">
              <a:buNone/>
            </a:pPr>
            <a:r>
              <a:rPr lang="en-US" sz="1400" dirty="0">
                <a:solidFill>
                  <a:srgbClr val="8D99AE"/>
                </a:solidFill>
                <a:latin typeface="Microsoft YaHei" pitchFamily="34" charset="0"/>
                <a:ea typeface="Microsoft YaHei" pitchFamily="34" charset="-122"/>
                <a:cs typeface="Microsoft YaHei" pitchFamily="34" charset="-120"/>
              </a:rPr>
              <a:t>也写不出一篇好文章</a:t>
            </a:r>
            <a:endParaRPr lang="en-US" sz="1400" dirty="0"/>
          </a:p>
        </p:txBody>
      </p:sp>
      <p:sp>
        <p:nvSpPr>
          <p:cNvPr id="13" name="Shape 11"/>
          <p:cNvSpPr/>
          <p:nvPr/>
        </p:nvSpPr>
        <p:spPr>
          <a:xfrm>
            <a:off x="457200" y="3108960"/>
            <a:ext cx="3931920" cy="914400"/>
          </a:xfrm>
          <a:prstGeom prst="rect">
            <a:avLst>
              <a:gd name="adj" fmla="val 10000"/>
            </a:avLst>
          </a:prstGeom>
          <a:solidFill>
            <a:srgbClr val="2B2D42"/>
          </a:solidFill>
          <a:ln/>
        </p:spPr>
      </p:sp>
      <p:sp>
        <p:nvSpPr>
          <p:cNvPr id="14" name="Text 12"/>
          <p:cNvSpPr/>
          <p:nvPr/>
        </p:nvSpPr>
        <p:spPr>
          <a:xfrm>
            <a:off x="457200" y="3108960"/>
            <a:ext cx="3931920" cy="9144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冲稳保学得再精</a:t>
            </a:r>
            <a:endParaRPr lang="en-US" sz="1600" dirty="0"/>
          </a:p>
        </p:txBody>
      </p:sp>
      <p:sp>
        <p:nvSpPr>
          <p:cNvPr id="15" name="Text 13"/>
          <p:cNvSpPr/>
          <p:nvPr/>
        </p:nvSpPr>
        <p:spPr>
          <a:xfrm>
            <a:off x="4114800" y="3108960"/>
            <a:ext cx="914400" cy="914400"/>
          </a:xfrm>
          <a:prstGeom prst="rect">
            <a:avLst/>
          </a:prstGeom>
          <a:noFill/>
          <a:ln/>
        </p:spPr>
        <p:txBody>
          <a:bodyPr wrap="square" rtlCol="0" anchor="ctr"/>
          <a:lstStyle/>
          <a:p>
            <a:pPr algn="ctr" indent="0" marL="0">
              <a:buNone/>
            </a:pPr>
            <a:r>
              <a:rPr lang="en-US" sz="2800" b="1" dirty="0">
                <a:solidFill>
                  <a:srgbClr val="EF233C"/>
                </a:solidFill>
                <a:latin typeface="Arial" pitchFamily="34" charset="0"/>
                <a:ea typeface="Arial" pitchFamily="34" charset="-122"/>
                <a:cs typeface="Arial" pitchFamily="34" charset="-120"/>
              </a:rPr>
              <a:t>=</a:t>
            </a:r>
            <a:endParaRPr lang="en-US" sz="2800" dirty="0"/>
          </a:p>
        </p:txBody>
      </p:sp>
      <p:sp>
        <p:nvSpPr>
          <p:cNvPr id="16" name="Shape 14"/>
          <p:cNvSpPr/>
          <p:nvPr/>
        </p:nvSpPr>
        <p:spPr>
          <a:xfrm>
            <a:off x="4754880" y="3108960"/>
            <a:ext cx="3931920" cy="914400"/>
          </a:xfrm>
          <a:prstGeom prst="rect">
            <a:avLst>
              <a:gd name="adj" fmla="val 10000"/>
            </a:avLst>
          </a:prstGeom>
          <a:solidFill>
            <a:srgbClr val="EDF2F4"/>
          </a:solidFill>
          <a:ln/>
        </p:spPr>
      </p:sp>
      <p:sp>
        <p:nvSpPr>
          <p:cNvPr id="17" name="Text 15"/>
          <p:cNvSpPr/>
          <p:nvPr/>
        </p:nvSpPr>
        <p:spPr>
          <a:xfrm>
            <a:off x="4754880" y="3108960"/>
            <a:ext cx="3931920" cy="914400"/>
          </a:xfrm>
          <a:prstGeom prst="rect">
            <a:avLst/>
          </a:prstGeom>
          <a:noFill/>
          <a:ln/>
        </p:spPr>
        <p:txBody>
          <a:bodyPr wrap="square" rtlCol="0" anchor="ctr"/>
          <a:lstStyle/>
          <a:p>
            <a:pPr algn="ctr" indent="0" marL="0">
              <a:buNone/>
            </a:pPr>
            <a:r>
              <a:rPr lang="en-US" sz="1400" dirty="0">
                <a:solidFill>
                  <a:srgbClr val="8D99AE"/>
                </a:solidFill>
                <a:latin typeface="Microsoft YaHei" pitchFamily="34" charset="0"/>
                <a:ea typeface="Microsoft YaHei" pitchFamily="34" charset="-122"/>
                <a:cs typeface="Microsoft YaHei" pitchFamily="34" charset="-120"/>
              </a:rPr>
              <a:t>排不出"这个人该往哪走"的答案</a:t>
            </a:r>
            <a:endParaRPr lang="en-US" sz="1400" dirty="0"/>
          </a:p>
        </p:txBody>
      </p:sp>
      <p:sp>
        <p:nvSpPr>
          <p:cNvPr id="18" name="Shape 16"/>
          <p:cNvSpPr/>
          <p:nvPr/>
        </p:nvSpPr>
        <p:spPr>
          <a:xfrm>
            <a:off x="457200" y="4389120"/>
            <a:ext cx="8229600" cy="548640"/>
          </a:xfrm>
          <a:prstGeom prst="rect">
            <a:avLst>
              <a:gd name="adj" fmla="val 16667"/>
            </a:avLst>
          </a:prstGeom>
          <a:solidFill>
            <a:srgbClr val="EF233C"/>
          </a:solidFill>
          <a:ln/>
        </p:spPr>
      </p:sp>
      <p:sp>
        <p:nvSpPr>
          <p:cNvPr id="19" name="Text 17"/>
          <p:cNvSpPr/>
          <p:nvPr/>
        </p:nvSpPr>
        <p:spPr>
          <a:xfrm>
            <a:off x="457200" y="4389120"/>
            <a:ext cx="8229600" cy="54864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"排表从来不是难的部分，难的部分是排表之前那道题"</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rect">
            <a:avLst/>
          </a:prstGeom>
          <a:solidFill>
            <a:srgbClr val="EF233C"/>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13</a:t>
            </a:r>
            <a:endParaRPr lang="en-US" sz="1600" dirty="0"/>
          </a:p>
        </p:txBody>
      </p:sp>
      <p:sp>
        <p:nvSpPr>
          <p:cNvPr id="4" name="Shape 2"/>
          <p:cNvSpPr/>
          <p:nvPr/>
        </p:nvSpPr>
        <p:spPr>
          <a:xfrm>
            <a:off x="457200" y="320040"/>
            <a:ext cx="548640" cy="365760"/>
          </a:xfrm>
          <a:prstGeom prst="rect">
            <a:avLst/>
          </a:prstGeom>
          <a:solidFill>
            <a:srgbClr val="EF233C"/>
          </a:solidFill>
          <a:ln/>
        </p:spPr>
      </p:sp>
      <p:sp>
        <p:nvSpPr>
          <p:cNvPr id="5" name="Text 3"/>
          <p:cNvSpPr/>
          <p:nvPr/>
        </p:nvSpPr>
        <p:spPr>
          <a:xfrm>
            <a:off x="457200" y="320040"/>
            <a:ext cx="54864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02</a:t>
            </a:r>
            <a:endParaRPr lang="en-US" sz="1400" dirty="0"/>
          </a:p>
        </p:txBody>
      </p:sp>
      <p:sp>
        <p:nvSpPr>
          <p:cNvPr id="6" name="Text 4"/>
          <p:cNvSpPr/>
          <p:nvPr/>
        </p:nvSpPr>
        <p:spPr>
          <a:xfrm>
            <a:off x="1188720" y="320040"/>
            <a:ext cx="6858000" cy="45720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分数是最后一个变量，不是第一个</a:t>
            </a:r>
            <a:endParaRPr lang="en-US" sz="2800" dirty="0"/>
          </a:p>
        </p:txBody>
      </p:sp>
      <p:sp>
        <p:nvSpPr>
          <p:cNvPr id="7" name="Shape 5"/>
          <p:cNvSpPr/>
          <p:nvPr/>
        </p:nvSpPr>
        <p:spPr>
          <a:xfrm>
            <a:off x="457200" y="822960"/>
            <a:ext cx="1097280" cy="45720"/>
          </a:xfrm>
          <a:prstGeom prst="rect">
            <a:avLst/>
          </a:prstGeom>
          <a:solidFill>
            <a:srgbClr val="EF233C"/>
          </a:solidFill>
          <a:ln/>
        </p:spPr>
      </p:sp>
      <p:sp>
        <p:nvSpPr>
          <p:cNvPr id="8" name="Shape 6"/>
          <p:cNvSpPr/>
          <p:nvPr/>
        </p:nvSpPr>
        <p:spPr>
          <a:xfrm>
            <a:off x="457200" y="1097280"/>
            <a:ext cx="8229600" cy="1280160"/>
          </a:xfrm>
          <a:prstGeom prst="rect">
            <a:avLst>
              <a:gd name="adj" fmla="val 7143"/>
            </a:avLst>
          </a:prstGeom>
          <a:solidFill>
            <a:srgbClr val="2B2D42"/>
          </a:solidFill>
          <a:ln/>
        </p:spPr>
      </p:sp>
      <p:sp>
        <p:nvSpPr>
          <p:cNvPr id="9" name="Text 7"/>
          <p:cNvSpPr/>
          <p:nvPr/>
        </p:nvSpPr>
        <p:spPr>
          <a:xfrm>
            <a:off x="640080" y="1005840"/>
            <a:ext cx="457200" cy="548640"/>
          </a:xfrm>
          <a:prstGeom prst="rect">
            <a:avLst/>
          </a:prstGeom>
          <a:noFill/>
          <a:ln/>
        </p:spPr>
        <p:txBody>
          <a:bodyPr wrap="square" rtlCol="0" anchor="ctr"/>
          <a:lstStyle/>
          <a:p>
            <a:pPr indent="0" marL="0">
              <a:buNone/>
            </a:pPr>
            <a:r>
              <a:rPr lang="en-US" sz="4800" b="1" dirty="0">
                <a:solidFill>
                  <a:srgbClr val="EF233C"/>
                </a:solidFill>
                <a:latin typeface="Georgia" pitchFamily="34" charset="0"/>
                <a:ea typeface="Georgia" pitchFamily="34" charset="-122"/>
                <a:cs typeface="Georgia" pitchFamily="34" charset="-120"/>
              </a:rPr>
              <a:t>“</a:t>
            </a:r>
            <a:endParaRPr lang="en-US" sz="4800" dirty="0"/>
          </a:p>
        </p:txBody>
      </p:sp>
      <p:sp>
        <p:nvSpPr>
          <p:cNvPr id="10" name="Text 8"/>
          <p:cNvSpPr/>
          <p:nvPr/>
        </p:nvSpPr>
        <p:spPr>
          <a:xfrm>
            <a:off x="914400" y="1280160"/>
            <a:ext cx="7589520" cy="914400"/>
          </a:xfrm>
          <a:prstGeom prst="rect">
            <a:avLst/>
          </a:prstGeom>
          <a:noFill/>
          <a:ln/>
        </p:spPr>
        <p:txBody>
          <a:bodyPr wrap="square" rtlCol="0" anchor="ctr"/>
          <a:lstStyle/>
          <a:p>
            <a:pPr algn="ctr" indent="0" marL="0">
              <a:buNone/>
            </a:pPr>
            <a:r>
              <a:rPr lang="en-US" sz="2200" b="1" dirty="0">
                <a:solidFill>
                  <a:srgbClr val="FFFFFF"/>
                </a:solidFill>
                <a:latin typeface="Microsoft YaHei" pitchFamily="34" charset="0"/>
                <a:ea typeface="Microsoft YaHei" pitchFamily="34" charset="-122"/>
                <a:cs typeface="Microsoft YaHei" pitchFamily="34" charset="-120"/>
              </a:rPr>
              <a:t>先算分数的人，算的是能去哪；先算人的人，算的是该去哪</a:t>
            </a:r>
            <a:endParaRPr lang="en-US" sz="2200" dirty="0"/>
          </a:p>
        </p:txBody>
      </p:sp>
      <p:sp>
        <p:nvSpPr>
          <p:cNvPr id="11" name="Shape 9"/>
          <p:cNvSpPr/>
          <p:nvPr/>
        </p:nvSpPr>
        <p:spPr>
          <a:xfrm>
            <a:off x="457200" y="2651760"/>
            <a:ext cx="8229600" cy="1645920"/>
          </a:xfrm>
          <a:prstGeom prst="rect">
            <a:avLst>
              <a:gd name="adj" fmla="val 5556"/>
            </a:avLst>
          </a:prstGeom>
          <a:solidFill>
            <a:srgbClr val="EDF2F4"/>
          </a:solidFill>
          <a:ln/>
        </p:spPr>
      </p:sp>
      <p:sp>
        <p:nvSpPr>
          <p:cNvPr id="12" name="Text 10"/>
          <p:cNvSpPr/>
          <p:nvPr/>
        </p:nvSpPr>
        <p:spPr>
          <a:xfrm>
            <a:off x="640080" y="2743200"/>
            <a:ext cx="914400" cy="320040"/>
          </a:xfrm>
          <a:prstGeom prst="rect">
            <a:avLst/>
          </a:prstGeom>
          <a:noFill/>
          <a:ln/>
        </p:spPr>
        <p:txBody>
          <a:bodyPr wrap="square" rtlCol="0" anchor="ctr"/>
          <a:lstStyle/>
          <a:p>
            <a:pPr indent="0" marL="0">
              <a:buNone/>
            </a:pPr>
            <a:r>
              <a:rPr lang="en-US" sz="1200" b="1" dirty="0">
                <a:solidFill>
                  <a:srgbClr val="EF233C"/>
                </a:solidFill>
                <a:latin typeface="Microsoft YaHei" pitchFamily="34" charset="0"/>
                <a:ea typeface="Microsoft YaHei" pitchFamily="34" charset="-122"/>
                <a:cs typeface="Microsoft YaHei" pitchFamily="34" charset="-120"/>
              </a:rPr>
              <a:t>案例</a:t>
            </a:r>
            <a:endParaRPr lang="en-US" sz="1200" dirty="0"/>
          </a:p>
        </p:txBody>
      </p:sp>
      <p:sp>
        <p:nvSpPr>
          <p:cNvPr id="13" name="Text 11"/>
          <p:cNvSpPr/>
          <p:nvPr/>
        </p:nvSpPr>
        <p:spPr>
          <a:xfrm>
            <a:off x="640080" y="3108960"/>
            <a:ext cx="7863840" cy="365760"/>
          </a:xfrm>
          <a:prstGeom prst="rect">
            <a:avLst/>
          </a:prstGeom>
          <a:noFill/>
          <a:ln/>
        </p:spPr>
        <p:txBody>
          <a:bodyPr wrap="square" rtlCol="0" anchor="ctr"/>
          <a:lstStyle/>
          <a:p>
            <a:pPr indent="0" marL="0">
              <a:buNone/>
            </a:pPr>
            <a:r>
              <a:rPr lang="en-US" sz="1600" dirty="0">
                <a:solidFill>
                  <a:srgbClr val="8D99AE"/>
                </a:solidFill>
                <a:latin typeface="Microsoft YaHei" pitchFamily="34" charset="0"/>
                <a:ea typeface="Microsoft YaHei" pitchFamily="34" charset="-122"/>
                <a:cs typeface="Microsoft YaHei" pitchFamily="34" charset="-120"/>
              </a:rPr>
              <a:t>一个母亲把成绩单甩在桌上：</a:t>
            </a:r>
            <a:endParaRPr lang="en-US" sz="1600" dirty="0"/>
          </a:p>
        </p:txBody>
      </p:sp>
      <p:sp>
        <p:nvSpPr>
          <p:cNvPr id="14" name="Shape 12"/>
          <p:cNvSpPr/>
          <p:nvPr/>
        </p:nvSpPr>
        <p:spPr>
          <a:xfrm>
            <a:off x="640080" y="3520440"/>
            <a:ext cx="7863840" cy="640080"/>
          </a:xfrm>
          <a:prstGeom prst="rect">
            <a:avLst>
              <a:gd name="adj" fmla="val 11429"/>
            </a:avLst>
          </a:prstGeom>
          <a:solidFill>
            <a:srgbClr val="FFFFFF"/>
          </a:solidFill>
          <a:ln/>
        </p:spPr>
      </p:sp>
      <p:sp>
        <p:nvSpPr>
          <p:cNvPr id="15" name="Text 13"/>
          <p:cNvSpPr/>
          <p:nvPr/>
        </p:nvSpPr>
        <p:spPr>
          <a:xfrm>
            <a:off x="640080" y="3520440"/>
            <a:ext cx="7863840" cy="640080"/>
          </a:xfrm>
          <a:prstGeom prst="rect">
            <a:avLst/>
          </a:prstGeom>
          <a:noFill/>
          <a:ln/>
        </p:spPr>
        <p:txBody>
          <a:bodyPr wrap="square" rtlCol="0" anchor="ctr"/>
          <a:lstStyle/>
          <a:p>
            <a:pPr algn="ctr" indent="0" marL="0">
              <a:buNone/>
            </a:pPr>
            <a:r>
              <a:rPr lang="en-US" sz="1600" i="1" dirty="0">
                <a:solidFill>
                  <a:srgbClr val="2B2D42"/>
                </a:solidFill>
                <a:latin typeface="Microsoft YaHei" pitchFamily="34" charset="0"/>
                <a:ea typeface="Microsoft YaHei" pitchFamily="34" charset="-122"/>
                <a:cs typeface="Microsoft YaHei" pitchFamily="34" charset="-120"/>
              </a:rPr>
              <a:t>"先看分数，看能报什么档次的学校，专业以后再说"</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rect">
            <a:avLst/>
          </a:prstGeom>
          <a:solidFill>
            <a:srgbClr val="EF233C"/>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14</a:t>
            </a:r>
            <a:endParaRPr lang="en-US" sz="1600" dirty="0"/>
          </a:p>
        </p:txBody>
      </p:sp>
      <p:sp>
        <p:nvSpPr>
          <p:cNvPr id="4" name="Text 2"/>
          <p:cNvSpPr/>
          <p:nvPr/>
        </p:nvSpPr>
        <p:spPr>
          <a:xfrm>
            <a:off x="457200" y="365760"/>
            <a:ext cx="7772400" cy="54864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先分数后人的代价</a:t>
            </a:r>
            <a:endParaRPr lang="en-US" sz="3200" dirty="0"/>
          </a:p>
        </p:txBody>
      </p:sp>
      <p:sp>
        <p:nvSpPr>
          <p:cNvPr id="5" name="Shape 3"/>
          <p:cNvSpPr/>
          <p:nvPr/>
        </p:nvSpPr>
        <p:spPr>
          <a:xfrm>
            <a:off x="457200" y="868680"/>
            <a:ext cx="1097280" cy="45720"/>
          </a:xfrm>
          <a:prstGeom prst="rect">
            <a:avLst/>
          </a:prstGeom>
          <a:solidFill>
            <a:srgbClr val="EF233C"/>
          </a:solidFill>
          <a:ln/>
        </p:spPr>
      </p:sp>
      <p:sp>
        <p:nvSpPr>
          <p:cNvPr id="6" name="Shape 4"/>
          <p:cNvSpPr/>
          <p:nvPr/>
        </p:nvSpPr>
        <p:spPr>
          <a:xfrm>
            <a:off x="457200" y="1188720"/>
            <a:ext cx="8229600" cy="640080"/>
          </a:xfrm>
          <a:prstGeom prst="rect">
            <a:avLst>
              <a:gd name="adj" fmla="val 14286"/>
            </a:avLst>
          </a:prstGeom>
          <a:solidFill>
            <a:srgbClr val="EDF2F4"/>
          </a:solidFill>
          <a:ln/>
        </p:spPr>
      </p:sp>
      <p:sp>
        <p:nvSpPr>
          <p:cNvPr id="7" name="Shape 5"/>
          <p:cNvSpPr/>
          <p:nvPr/>
        </p:nvSpPr>
        <p:spPr>
          <a:xfrm>
            <a:off x="640080" y="1280160"/>
            <a:ext cx="457200" cy="457200"/>
          </a:xfrm>
          <a:prstGeom prst="ellipse">
            <a:avLst/>
          </a:prstGeom>
          <a:solidFill>
            <a:srgbClr val="2B2D42"/>
          </a:solidFill>
          <a:ln/>
        </p:spPr>
      </p:sp>
      <p:sp>
        <p:nvSpPr>
          <p:cNvPr id="8" name="Text 6"/>
          <p:cNvSpPr/>
          <p:nvPr/>
        </p:nvSpPr>
        <p:spPr>
          <a:xfrm>
            <a:off x="640080" y="128016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7"/>
          <p:cNvSpPr/>
          <p:nvPr/>
        </p:nvSpPr>
        <p:spPr>
          <a:xfrm>
            <a:off x="1280160" y="1188720"/>
            <a:ext cx="6858000" cy="640080"/>
          </a:xfrm>
          <a:prstGeom prst="rect">
            <a:avLst/>
          </a:prstGeom>
          <a:noFill/>
          <a:ln/>
        </p:spPr>
        <p:txBody>
          <a:bodyPr wrap="square" rtlCol="0" anchor="ctr"/>
          <a:lstStyle/>
          <a:p>
            <a:pPr indent="0" marL="0">
              <a:buNone/>
            </a:pPr>
            <a:r>
              <a:rPr lang="en-US" sz="1600" dirty="0">
                <a:solidFill>
                  <a:srgbClr val="8D99AE"/>
                </a:solidFill>
                <a:latin typeface="Microsoft YaHei" pitchFamily="34" charset="0"/>
                <a:ea typeface="Microsoft YaHei" pitchFamily="34" charset="-122"/>
                <a:cs typeface="Microsoft YaHei" pitchFamily="34" charset="-120"/>
              </a:rPr>
              <a:t>分数决定档次</a:t>
            </a:r>
            <a:endParaRPr lang="en-US" sz="1600" dirty="0"/>
          </a:p>
        </p:txBody>
      </p:sp>
      <p:sp>
        <p:nvSpPr>
          <p:cNvPr id="10" name="Text 8"/>
          <p:cNvSpPr/>
          <p:nvPr/>
        </p:nvSpPr>
        <p:spPr>
          <a:xfrm>
            <a:off x="777240" y="1783080"/>
            <a:ext cx="182880" cy="228600"/>
          </a:xfrm>
          <a:prstGeom prst="rect">
            <a:avLst/>
          </a:prstGeom>
          <a:noFill/>
          <a:ln/>
        </p:spPr>
        <p:txBody>
          <a:bodyPr wrap="square" rtlCol="0" anchor="ctr"/>
          <a:lstStyle/>
          <a:p>
            <a:pPr algn="ctr" indent="0" marL="0">
              <a:buNone/>
            </a:pPr>
            <a:r>
              <a:rPr lang="en-US" sz="1200" dirty="0">
                <a:solidFill>
                  <a:srgbClr val="EF233C"/>
                </a:solidFill>
                <a:latin typeface="Arial" pitchFamily="34" charset="0"/>
                <a:ea typeface="Arial" pitchFamily="34" charset="-122"/>
                <a:cs typeface="Arial" pitchFamily="34" charset="-120"/>
              </a:rPr>
              <a:t>v</a:t>
            </a:r>
            <a:endParaRPr lang="en-US" sz="1200" dirty="0"/>
          </a:p>
        </p:txBody>
      </p:sp>
      <p:sp>
        <p:nvSpPr>
          <p:cNvPr id="11" name="Shape 9"/>
          <p:cNvSpPr/>
          <p:nvPr/>
        </p:nvSpPr>
        <p:spPr>
          <a:xfrm>
            <a:off x="457200" y="1965960"/>
            <a:ext cx="8229600" cy="640080"/>
          </a:xfrm>
          <a:prstGeom prst="rect">
            <a:avLst>
              <a:gd name="adj" fmla="val 14286"/>
            </a:avLst>
          </a:prstGeom>
          <a:solidFill>
            <a:srgbClr val="EDF2F4"/>
          </a:solidFill>
          <a:ln/>
        </p:spPr>
      </p:sp>
      <p:sp>
        <p:nvSpPr>
          <p:cNvPr id="12" name="Shape 10"/>
          <p:cNvSpPr/>
          <p:nvPr/>
        </p:nvSpPr>
        <p:spPr>
          <a:xfrm>
            <a:off x="640080" y="2057400"/>
            <a:ext cx="457200" cy="457200"/>
          </a:xfrm>
          <a:prstGeom prst="ellipse">
            <a:avLst/>
          </a:prstGeom>
          <a:solidFill>
            <a:srgbClr val="2B2D42"/>
          </a:solidFill>
          <a:ln/>
        </p:spPr>
      </p:sp>
      <p:sp>
        <p:nvSpPr>
          <p:cNvPr id="13" name="Text 11"/>
          <p:cNvSpPr/>
          <p:nvPr/>
        </p:nvSpPr>
        <p:spPr>
          <a:xfrm>
            <a:off x="640080" y="205740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4" name="Text 12"/>
          <p:cNvSpPr/>
          <p:nvPr/>
        </p:nvSpPr>
        <p:spPr>
          <a:xfrm>
            <a:off x="1280160" y="1965960"/>
            <a:ext cx="6858000" cy="640080"/>
          </a:xfrm>
          <a:prstGeom prst="rect">
            <a:avLst/>
          </a:prstGeom>
          <a:noFill/>
          <a:ln/>
        </p:spPr>
        <p:txBody>
          <a:bodyPr wrap="square" rtlCol="0" anchor="ctr"/>
          <a:lstStyle/>
          <a:p>
            <a:pPr indent="0" marL="0">
              <a:buNone/>
            </a:pPr>
            <a:r>
              <a:rPr lang="en-US" sz="1600" dirty="0">
                <a:solidFill>
                  <a:srgbClr val="8D99AE"/>
                </a:solidFill>
                <a:latin typeface="Microsoft YaHei" pitchFamily="34" charset="0"/>
                <a:ea typeface="Microsoft YaHei" pitchFamily="34" charset="-122"/>
                <a:cs typeface="Microsoft YaHei" pitchFamily="34" charset="-120"/>
              </a:rPr>
              <a:t>档次决定学校范围</a:t>
            </a:r>
            <a:endParaRPr lang="en-US" sz="1600" dirty="0"/>
          </a:p>
        </p:txBody>
      </p:sp>
      <p:sp>
        <p:nvSpPr>
          <p:cNvPr id="15" name="Text 13"/>
          <p:cNvSpPr/>
          <p:nvPr/>
        </p:nvSpPr>
        <p:spPr>
          <a:xfrm>
            <a:off x="777240" y="2560320"/>
            <a:ext cx="182880" cy="228600"/>
          </a:xfrm>
          <a:prstGeom prst="rect">
            <a:avLst/>
          </a:prstGeom>
          <a:noFill/>
          <a:ln/>
        </p:spPr>
        <p:txBody>
          <a:bodyPr wrap="square" rtlCol="0" anchor="ctr"/>
          <a:lstStyle/>
          <a:p>
            <a:pPr algn="ctr" indent="0" marL="0">
              <a:buNone/>
            </a:pPr>
            <a:r>
              <a:rPr lang="en-US" sz="1200" dirty="0">
                <a:solidFill>
                  <a:srgbClr val="EF233C"/>
                </a:solidFill>
                <a:latin typeface="Arial" pitchFamily="34" charset="0"/>
                <a:ea typeface="Arial" pitchFamily="34" charset="-122"/>
                <a:cs typeface="Arial" pitchFamily="34" charset="-120"/>
              </a:rPr>
              <a:t>v</a:t>
            </a:r>
            <a:endParaRPr lang="en-US" sz="1200" dirty="0"/>
          </a:p>
        </p:txBody>
      </p:sp>
      <p:sp>
        <p:nvSpPr>
          <p:cNvPr id="16" name="Shape 14"/>
          <p:cNvSpPr/>
          <p:nvPr/>
        </p:nvSpPr>
        <p:spPr>
          <a:xfrm>
            <a:off x="457200" y="2743200"/>
            <a:ext cx="8229600" cy="640080"/>
          </a:xfrm>
          <a:prstGeom prst="rect">
            <a:avLst>
              <a:gd name="adj" fmla="val 14286"/>
            </a:avLst>
          </a:prstGeom>
          <a:solidFill>
            <a:srgbClr val="EDF2F4"/>
          </a:solidFill>
          <a:ln/>
        </p:spPr>
      </p:sp>
      <p:sp>
        <p:nvSpPr>
          <p:cNvPr id="17" name="Shape 15"/>
          <p:cNvSpPr/>
          <p:nvPr/>
        </p:nvSpPr>
        <p:spPr>
          <a:xfrm>
            <a:off x="640080" y="2834640"/>
            <a:ext cx="457200" cy="457200"/>
          </a:xfrm>
          <a:prstGeom prst="ellipse">
            <a:avLst/>
          </a:prstGeom>
          <a:solidFill>
            <a:srgbClr val="2B2D42"/>
          </a:solidFill>
          <a:ln/>
        </p:spPr>
      </p:sp>
      <p:sp>
        <p:nvSpPr>
          <p:cNvPr id="18" name="Text 16"/>
          <p:cNvSpPr/>
          <p:nvPr/>
        </p:nvSpPr>
        <p:spPr>
          <a:xfrm>
            <a:off x="640080" y="283464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 17"/>
          <p:cNvSpPr/>
          <p:nvPr/>
        </p:nvSpPr>
        <p:spPr>
          <a:xfrm>
            <a:off x="1280160" y="2743200"/>
            <a:ext cx="6858000" cy="640080"/>
          </a:xfrm>
          <a:prstGeom prst="rect">
            <a:avLst/>
          </a:prstGeom>
          <a:noFill/>
          <a:ln/>
        </p:spPr>
        <p:txBody>
          <a:bodyPr wrap="square" rtlCol="0" anchor="ctr"/>
          <a:lstStyle/>
          <a:p>
            <a:pPr indent="0" marL="0">
              <a:buNone/>
            </a:pPr>
            <a:r>
              <a:rPr lang="en-US" sz="1600" dirty="0">
                <a:solidFill>
                  <a:srgbClr val="8D99AE"/>
                </a:solidFill>
                <a:latin typeface="Microsoft YaHei" pitchFamily="34" charset="0"/>
                <a:ea typeface="Microsoft YaHei" pitchFamily="34" charset="-122"/>
                <a:cs typeface="Microsoft YaHei" pitchFamily="34" charset="-120"/>
              </a:rPr>
              <a:t>学校范围里挑专业</a:t>
            </a:r>
            <a:endParaRPr lang="en-US" sz="1600" dirty="0"/>
          </a:p>
        </p:txBody>
      </p:sp>
      <p:sp>
        <p:nvSpPr>
          <p:cNvPr id="20" name="Text 18"/>
          <p:cNvSpPr/>
          <p:nvPr/>
        </p:nvSpPr>
        <p:spPr>
          <a:xfrm>
            <a:off x="777240" y="3337560"/>
            <a:ext cx="182880" cy="228600"/>
          </a:xfrm>
          <a:prstGeom prst="rect">
            <a:avLst/>
          </a:prstGeom>
          <a:noFill/>
          <a:ln/>
        </p:spPr>
        <p:txBody>
          <a:bodyPr wrap="square" rtlCol="0" anchor="ctr"/>
          <a:lstStyle/>
          <a:p>
            <a:pPr algn="ctr" indent="0" marL="0">
              <a:buNone/>
            </a:pPr>
            <a:r>
              <a:rPr lang="en-US" sz="1200" dirty="0">
                <a:solidFill>
                  <a:srgbClr val="EF233C"/>
                </a:solidFill>
                <a:latin typeface="Arial" pitchFamily="34" charset="0"/>
                <a:ea typeface="Arial" pitchFamily="34" charset="-122"/>
                <a:cs typeface="Arial" pitchFamily="34" charset="-120"/>
              </a:rPr>
              <a:t>v</a:t>
            </a:r>
            <a:endParaRPr lang="en-US" sz="1200" dirty="0"/>
          </a:p>
        </p:txBody>
      </p:sp>
      <p:sp>
        <p:nvSpPr>
          <p:cNvPr id="21" name="Shape 19"/>
          <p:cNvSpPr/>
          <p:nvPr/>
        </p:nvSpPr>
        <p:spPr>
          <a:xfrm>
            <a:off x="457200" y="3520440"/>
            <a:ext cx="8229600" cy="640080"/>
          </a:xfrm>
          <a:prstGeom prst="rect">
            <a:avLst>
              <a:gd name="adj" fmla="val 14286"/>
            </a:avLst>
          </a:prstGeom>
          <a:solidFill>
            <a:srgbClr val="EF233C"/>
          </a:solidFill>
          <a:ln/>
        </p:spPr>
      </p:sp>
      <p:sp>
        <p:nvSpPr>
          <p:cNvPr id="22" name="Shape 20"/>
          <p:cNvSpPr/>
          <p:nvPr/>
        </p:nvSpPr>
        <p:spPr>
          <a:xfrm>
            <a:off x="640080" y="3611880"/>
            <a:ext cx="457200" cy="457200"/>
          </a:xfrm>
          <a:prstGeom prst="ellipse">
            <a:avLst/>
          </a:prstGeom>
          <a:solidFill>
            <a:srgbClr val="FFFFFF"/>
          </a:solidFill>
          <a:ln/>
        </p:spPr>
      </p:sp>
      <p:sp>
        <p:nvSpPr>
          <p:cNvPr id="23" name="Text 21"/>
          <p:cNvSpPr/>
          <p:nvPr/>
        </p:nvSpPr>
        <p:spPr>
          <a:xfrm>
            <a:off x="640080" y="3611880"/>
            <a:ext cx="457200" cy="457200"/>
          </a:xfrm>
          <a:prstGeom prst="rect">
            <a:avLst/>
          </a:prstGeom>
          <a:noFill/>
          <a:ln/>
        </p:spPr>
        <p:txBody>
          <a:bodyPr wrap="square" rtlCol="0" anchor="ctr"/>
          <a:lstStyle/>
          <a:p>
            <a:pPr algn="ctr" indent="0" marL="0">
              <a:buNone/>
            </a:pPr>
            <a:r>
              <a:rPr lang="en-US" sz="1600" b="1" dirty="0">
                <a:solidFill>
                  <a:srgbClr val="EF233C"/>
                </a:solidFill>
                <a:latin typeface="Arial" pitchFamily="34" charset="0"/>
                <a:ea typeface="Arial" pitchFamily="34" charset="-122"/>
                <a:cs typeface="Arial" pitchFamily="34" charset="-120"/>
              </a:rPr>
              <a:t>!</a:t>
            </a:r>
            <a:endParaRPr lang="en-US" sz="1600" dirty="0"/>
          </a:p>
        </p:txBody>
      </p:sp>
      <p:sp>
        <p:nvSpPr>
          <p:cNvPr id="24" name="Text 22"/>
          <p:cNvSpPr/>
          <p:nvPr/>
        </p:nvSpPr>
        <p:spPr>
          <a:xfrm>
            <a:off x="1280160" y="3520440"/>
            <a:ext cx="5029200" cy="640080"/>
          </a:xfrm>
          <a:prstGeom prst="rect">
            <a:avLst/>
          </a:prstGeom>
          <a:noFill/>
          <a:ln/>
        </p:spPr>
        <p:txBody>
          <a:bodyPr wrap="square" rtlCol="0" anchor="ctr"/>
          <a:lstStyle/>
          <a:p>
            <a:pPr indent="0" marL="0">
              <a:buNone/>
            </a:pPr>
            <a:r>
              <a:rPr lang="en-US" sz="1600" dirty="0">
                <a:solidFill>
                  <a:srgbClr val="FFFFFF"/>
                </a:solidFill>
                <a:latin typeface="Microsoft YaHei" pitchFamily="34" charset="0"/>
                <a:ea typeface="Microsoft YaHei" pitchFamily="34" charset="-122"/>
                <a:cs typeface="Microsoft YaHei" pitchFamily="34" charset="-120"/>
              </a:rPr>
              <a:t>"这个人是谁"被挤到最后</a:t>
            </a:r>
            <a:endParaRPr lang="en-US" sz="1600" dirty="0"/>
          </a:p>
        </p:txBody>
      </p:sp>
      <p:sp>
        <p:nvSpPr>
          <p:cNvPr id="25" name="Text 23"/>
          <p:cNvSpPr/>
          <p:nvPr/>
        </p:nvSpPr>
        <p:spPr>
          <a:xfrm>
            <a:off x="6400800" y="3520440"/>
            <a:ext cx="2103120" cy="64008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甚至挤没了</a:t>
            </a:r>
            <a:endParaRPr lang="en-US" sz="1600" dirty="0"/>
          </a:p>
        </p:txBody>
      </p:sp>
      <p:sp>
        <p:nvSpPr>
          <p:cNvPr id="26" name="Shape 24"/>
          <p:cNvSpPr/>
          <p:nvPr/>
        </p:nvSpPr>
        <p:spPr>
          <a:xfrm>
            <a:off x="457200" y="4389120"/>
            <a:ext cx="8229600" cy="548640"/>
          </a:xfrm>
          <a:prstGeom prst="rect">
            <a:avLst>
              <a:gd name="adj" fmla="val 16667"/>
            </a:avLst>
          </a:prstGeom>
          <a:solidFill>
            <a:srgbClr val="2B2D42"/>
          </a:solidFill>
          <a:ln/>
        </p:spPr>
      </p:sp>
      <p:sp>
        <p:nvSpPr>
          <p:cNvPr id="27" name="Text 25"/>
          <p:cNvSpPr/>
          <p:nvPr/>
        </p:nvSpPr>
        <p:spPr>
          <a:xfrm>
            <a:off x="457200" y="4389120"/>
            <a:ext cx="8229600" cy="54864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人天然会先做容易的事</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rect">
            <a:avLst/>
          </a:prstGeom>
          <a:solidFill>
            <a:srgbClr val="EF233C"/>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15</a:t>
            </a:r>
            <a:endParaRPr lang="en-US" sz="1600" dirty="0"/>
          </a:p>
        </p:txBody>
      </p:sp>
      <p:sp>
        <p:nvSpPr>
          <p:cNvPr id="4" name="Text 2"/>
          <p:cNvSpPr/>
          <p:nvPr/>
        </p:nvSpPr>
        <p:spPr>
          <a:xfrm>
            <a:off x="457200" y="365760"/>
            <a:ext cx="7772400" cy="54864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可得性偏差</a:t>
            </a:r>
            <a:endParaRPr lang="en-US" sz="3200" dirty="0"/>
          </a:p>
        </p:txBody>
      </p:sp>
      <p:sp>
        <p:nvSpPr>
          <p:cNvPr id="5" name="Shape 3"/>
          <p:cNvSpPr/>
          <p:nvPr/>
        </p:nvSpPr>
        <p:spPr>
          <a:xfrm>
            <a:off x="457200" y="868680"/>
            <a:ext cx="1097280" cy="45720"/>
          </a:xfrm>
          <a:prstGeom prst="rect">
            <a:avLst/>
          </a:prstGeom>
          <a:solidFill>
            <a:srgbClr val="EF233C"/>
          </a:solidFill>
          <a:ln/>
        </p:spPr>
      </p:sp>
      <p:sp>
        <p:nvSpPr>
          <p:cNvPr id="6" name="Shape 4"/>
          <p:cNvSpPr/>
          <p:nvPr/>
        </p:nvSpPr>
        <p:spPr>
          <a:xfrm>
            <a:off x="457200" y="1097280"/>
            <a:ext cx="8229600" cy="822960"/>
          </a:xfrm>
          <a:prstGeom prst="rect">
            <a:avLst>
              <a:gd name="adj" fmla="val 11111"/>
            </a:avLst>
          </a:prstGeom>
          <a:solidFill>
            <a:srgbClr val="2B2D42"/>
          </a:solidFill>
          <a:ln/>
        </p:spPr>
      </p:sp>
      <p:sp>
        <p:nvSpPr>
          <p:cNvPr id="7" name="Text 5"/>
          <p:cNvSpPr/>
          <p:nvPr/>
        </p:nvSpPr>
        <p:spPr>
          <a:xfrm>
            <a:off x="640080" y="1097280"/>
            <a:ext cx="7863840" cy="822960"/>
          </a:xfrm>
          <a:prstGeom prst="rect">
            <a:avLst/>
          </a:prstGeom>
          <a:noFill/>
          <a:ln/>
        </p:spPr>
        <p:txBody>
          <a:bodyPr wrap="square" rtlCol="0" anchor="ctr"/>
          <a:lstStyle/>
          <a:p>
            <a:pPr algn="ctr" indent="0" marL="0">
              <a:buNone/>
            </a:pPr>
            <a:r>
              <a:rPr lang="en-US" sz="1600" dirty="0">
                <a:solidFill>
                  <a:srgbClr val="FFFFFF"/>
                </a:solidFill>
                <a:latin typeface="Microsoft YaHei" pitchFamily="34" charset="0"/>
                <a:ea typeface="Microsoft YaHei" pitchFamily="34" charset="-122"/>
                <a:cs typeface="Microsoft YaHei" pitchFamily="34" charset="-120"/>
              </a:rPr>
              <a:t>人在做判断时，会优先使用最容易获取的信息，而不是最相关的信息</a:t>
            </a:r>
            <a:endParaRPr lang="en-US" sz="1600" dirty="0"/>
          </a:p>
        </p:txBody>
      </p:sp>
      <p:sp>
        <p:nvSpPr>
          <p:cNvPr id="8" name="Shape 6"/>
          <p:cNvSpPr/>
          <p:nvPr/>
        </p:nvSpPr>
        <p:spPr>
          <a:xfrm>
            <a:off x="457200" y="2103120"/>
            <a:ext cx="3931920" cy="1828800"/>
          </a:xfrm>
          <a:prstGeom prst="rect">
            <a:avLst>
              <a:gd name="adj" fmla="val 5000"/>
            </a:avLst>
          </a:prstGeom>
          <a:solidFill>
            <a:srgbClr val="EDF2F4"/>
          </a:solidFill>
          <a:ln/>
        </p:spPr>
      </p:sp>
      <p:sp>
        <p:nvSpPr>
          <p:cNvPr id="9" name="Text 7"/>
          <p:cNvSpPr/>
          <p:nvPr/>
        </p:nvSpPr>
        <p:spPr>
          <a:xfrm>
            <a:off x="457200" y="2194560"/>
            <a:ext cx="3931920" cy="548640"/>
          </a:xfrm>
          <a:prstGeom prst="rect">
            <a:avLst/>
          </a:prstGeom>
          <a:noFill/>
          <a:ln/>
        </p:spPr>
        <p:txBody>
          <a:bodyPr wrap="square" rtlCol="0" anchor="ctr"/>
          <a:lstStyle/>
          <a:p>
            <a:pPr algn="ctr" indent="0" marL="0">
              <a:buNone/>
            </a:pPr>
            <a:r>
              <a:rPr lang="en-US" sz="1600" b="1" dirty="0">
                <a:solidFill>
                  <a:srgbClr val="8D99AE"/>
                </a:solidFill>
                <a:latin typeface="Microsoft YaHei" pitchFamily="34" charset="0"/>
                <a:ea typeface="Microsoft YaHei" pitchFamily="34" charset="-122"/>
                <a:cs typeface="Microsoft YaHei" pitchFamily="34" charset="-120"/>
              </a:rPr>
              <a:t>分数 = 容易获取的信息</a:t>
            </a:r>
            <a:endParaRPr lang="en-US" sz="1600" dirty="0"/>
          </a:p>
        </p:txBody>
      </p:sp>
      <p:sp>
        <p:nvSpPr>
          <p:cNvPr id="10" name="Shape 8"/>
          <p:cNvSpPr/>
          <p:nvPr/>
        </p:nvSpPr>
        <p:spPr>
          <a:xfrm>
            <a:off x="731520" y="2788920"/>
            <a:ext cx="3383280" cy="18288"/>
          </a:xfrm>
          <a:prstGeom prst="rect">
            <a:avLst/>
          </a:prstGeom>
          <a:solidFill>
            <a:srgbClr val="8D99AE">
              <a:alpha val="50000"/>
            </a:srgbClr>
          </a:solidFill>
          <a:ln/>
        </p:spPr>
      </p:sp>
      <p:sp>
        <p:nvSpPr>
          <p:cNvPr id="11" name="Text 9"/>
          <p:cNvSpPr/>
          <p:nvPr/>
        </p:nvSpPr>
        <p:spPr>
          <a:xfrm>
            <a:off x="457200" y="2926080"/>
            <a:ext cx="3931920" cy="457200"/>
          </a:xfrm>
          <a:prstGeom prst="rect">
            <a:avLst/>
          </a:prstGeom>
          <a:noFill/>
          <a:ln/>
        </p:spPr>
        <p:txBody>
          <a:bodyPr wrap="square" rtlCol="0" anchor="ctr"/>
          <a:lstStyle/>
          <a:p>
            <a:pPr algn="ctr" indent="0" marL="0">
              <a:buNone/>
            </a:pPr>
            <a:r>
              <a:rPr lang="en-US" sz="1400" dirty="0">
                <a:solidFill>
                  <a:srgbClr val="8D99AE"/>
                </a:solidFill>
                <a:latin typeface="Microsoft YaHei" pitchFamily="34" charset="0"/>
                <a:ea typeface="Microsoft YaHei" pitchFamily="34" charset="-122"/>
                <a:cs typeface="Microsoft YaHei" pitchFamily="34" charset="-120"/>
              </a:rPr>
              <a:t>数字，清晰，可比</a:t>
            </a:r>
            <a:endParaRPr lang="en-US" sz="1400" dirty="0"/>
          </a:p>
        </p:txBody>
      </p:sp>
      <p:sp>
        <p:nvSpPr>
          <p:cNvPr id="12" name="Shape 10"/>
          <p:cNvSpPr/>
          <p:nvPr/>
        </p:nvSpPr>
        <p:spPr>
          <a:xfrm>
            <a:off x="4754880" y="2103120"/>
            <a:ext cx="3931920" cy="1828800"/>
          </a:xfrm>
          <a:prstGeom prst="rect">
            <a:avLst>
              <a:gd name="adj" fmla="val 5000"/>
            </a:avLst>
          </a:prstGeom>
          <a:solidFill>
            <a:srgbClr val="EF233C"/>
          </a:solidFill>
          <a:ln/>
        </p:spPr>
      </p:sp>
      <p:sp>
        <p:nvSpPr>
          <p:cNvPr id="13" name="Text 11"/>
          <p:cNvSpPr/>
          <p:nvPr/>
        </p:nvSpPr>
        <p:spPr>
          <a:xfrm>
            <a:off x="4754880" y="2194560"/>
            <a:ext cx="3931920" cy="54864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"这个人是谁" = 难的信息</a:t>
            </a:r>
            <a:endParaRPr lang="en-US" sz="1600" dirty="0"/>
          </a:p>
        </p:txBody>
      </p:sp>
      <p:sp>
        <p:nvSpPr>
          <p:cNvPr id="14" name="Shape 12"/>
          <p:cNvSpPr/>
          <p:nvPr/>
        </p:nvSpPr>
        <p:spPr>
          <a:xfrm>
            <a:off x="5029200" y="2788920"/>
            <a:ext cx="3383280" cy="18288"/>
          </a:xfrm>
          <a:prstGeom prst="rect">
            <a:avLst/>
          </a:prstGeom>
          <a:solidFill>
            <a:srgbClr val="FFFFFF">
              <a:alpha val="50000"/>
            </a:srgbClr>
          </a:solidFill>
          <a:ln/>
        </p:spPr>
      </p:sp>
      <p:sp>
        <p:nvSpPr>
          <p:cNvPr id="15" name="Text 13"/>
          <p:cNvSpPr/>
          <p:nvPr/>
        </p:nvSpPr>
        <p:spPr>
          <a:xfrm>
            <a:off x="4754880" y="2926080"/>
            <a:ext cx="3931920" cy="457200"/>
          </a:xfrm>
          <a:prstGeom prst="rect">
            <a:avLst/>
          </a:prstGeom>
          <a:noFill/>
          <a:ln/>
        </p:spPr>
        <p:txBody>
          <a:bodyPr wrap="square" rtlCol="0" anchor="ctr"/>
          <a:lstStyle/>
          <a:p>
            <a:pPr algn="ctr" indent="0" marL="0">
              <a:buNone/>
            </a:pPr>
            <a:r>
              <a:rPr lang="en-US" sz="1400" dirty="0">
                <a:solidFill>
                  <a:srgbClr val="FFFFFF"/>
                </a:solidFill>
                <a:latin typeface="Microsoft YaHei" pitchFamily="34" charset="0"/>
                <a:ea typeface="Microsoft YaHei" pitchFamily="34" charset="-122"/>
                <a:cs typeface="Microsoft YaHei" pitchFamily="34" charset="-120"/>
              </a:rPr>
              <a:t>需要1-2小时深聊</a:t>
            </a:r>
            <a:endParaRPr lang="en-US" sz="1400" dirty="0"/>
          </a:p>
        </p:txBody>
      </p:sp>
      <p:sp>
        <p:nvSpPr>
          <p:cNvPr id="16" name="Shape 14"/>
          <p:cNvSpPr/>
          <p:nvPr/>
        </p:nvSpPr>
        <p:spPr>
          <a:xfrm>
            <a:off x="457200" y="4114800"/>
            <a:ext cx="8229600" cy="822960"/>
          </a:xfrm>
          <a:prstGeom prst="rect">
            <a:avLst>
              <a:gd name="adj" fmla="val 11111"/>
            </a:avLst>
          </a:prstGeom>
          <a:solidFill>
            <a:srgbClr val="EDF2F4"/>
          </a:solidFill>
          <a:ln w="25400">
            <a:solidFill>
              <a:srgbClr val="EF233C"/>
            </a:solidFill>
            <a:prstDash val="solid"/>
          </a:ln>
        </p:spPr>
      </p:sp>
      <p:sp>
        <p:nvSpPr>
          <p:cNvPr id="17" name="Text 15"/>
          <p:cNvSpPr/>
          <p:nvPr/>
        </p:nvSpPr>
        <p:spPr>
          <a:xfrm>
            <a:off x="457200" y="4114800"/>
            <a:ext cx="8229600" cy="822960"/>
          </a:xfrm>
          <a:prstGeom prst="rect">
            <a:avLst/>
          </a:prstGeom>
          <a:noFill/>
          <a:ln/>
        </p:spPr>
        <p:txBody>
          <a:bodyPr wrap="square" rtlCol="0" anchor="ctr"/>
          <a:lstStyle/>
          <a:p>
            <a:pPr algn="ctr" indent="0" marL="0">
              <a:buNone/>
            </a:pPr>
            <a:r>
              <a:rPr lang="en-US" sz="1600" b="1" dirty="0">
                <a:solidFill>
                  <a:srgbClr val="2B2D42"/>
                </a:solidFill>
                <a:latin typeface="Microsoft YaHei" pitchFamily="34" charset="0"/>
                <a:ea typeface="Microsoft YaHei" pitchFamily="34" charset="-122"/>
                <a:cs typeface="Microsoft YaHei" pitchFamily="34" charset="-120"/>
              </a:rPr>
              <a:t>大部分家庭把难的信息往后放，放到后面常常就没时间处理了</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ellipse">
            <a:avLst/>
          </a:prstGeom>
          <a:solidFill>
            <a:srgbClr val="EF233C"/>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16</a:t>
            </a:r>
            <a:endParaRPr lang="en-US" sz="1600" dirty="0"/>
          </a:p>
        </p:txBody>
      </p:sp>
      <p:sp>
        <p:nvSpPr>
          <p:cNvPr id="4" name="Text 2"/>
          <p:cNvSpPr/>
          <p:nvPr/>
        </p:nvSpPr>
        <p:spPr>
          <a:xfrm>
            <a:off x="457200" y="365760"/>
            <a:ext cx="7772400" cy="54864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正确的顺序</a:t>
            </a:r>
            <a:endParaRPr lang="en-US" sz="3200" dirty="0"/>
          </a:p>
        </p:txBody>
      </p:sp>
      <p:sp>
        <p:nvSpPr>
          <p:cNvPr id="5" name="Shape 3"/>
          <p:cNvSpPr/>
          <p:nvPr/>
        </p:nvSpPr>
        <p:spPr>
          <a:xfrm>
            <a:off x="457200" y="868680"/>
            <a:ext cx="1097280" cy="45720"/>
          </a:xfrm>
          <a:prstGeom prst="rect">
            <a:avLst/>
          </a:prstGeom>
          <a:solidFill>
            <a:srgbClr val="EF233C"/>
          </a:solidFill>
          <a:ln/>
        </p:spPr>
      </p:sp>
      <p:sp>
        <p:nvSpPr>
          <p:cNvPr id="6" name="Shape 4"/>
          <p:cNvSpPr/>
          <p:nvPr/>
        </p:nvSpPr>
        <p:spPr>
          <a:xfrm>
            <a:off x="457200" y="1051560"/>
            <a:ext cx="8229600" cy="640080"/>
          </a:xfrm>
          <a:prstGeom prst="roundRect">
            <a:avLst>
              <a:gd name="adj" fmla="val 14286"/>
            </a:avLst>
          </a:prstGeom>
          <a:solidFill>
            <a:srgbClr val="2B2D42"/>
          </a:solidFill>
          <a:ln/>
        </p:spPr>
      </p:sp>
      <p:sp>
        <p:nvSpPr>
          <p:cNvPr id="7" name="Text 5"/>
          <p:cNvSpPr/>
          <p:nvPr/>
        </p:nvSpPr>
        <p:spPr>
          <a:xfrm>
            <a:off x="457200" y="1051560"/>
            <a:ext cx="8229600" cy="640080"/>
          </a:xfrm>
          <a:prstGeom prst="rect">
            <a:avLst/>
          </a:prstGeom>
          <a:noFill/>
          <a:ln/>
        </p:spPr>
        <p:txBody>
          <a:bodyPr wrap="square"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先问"这个人是谁"，再拿分数框定方向</a:t>
            </a:r>
            <a:endParaRPr lang="en-US" sz="2000" dirty="0"/>
          </a:p>
        </p:txBody>
      </p:sp>
      <p:sp>
        <p:nvSpPr>
          <p:cNvPr id="8" name="Shape 6"/>
          <p:cNvSpPr/>
          <p:nvPr/>
        </p:nvSpPr>
        <p:spPr>
          <a:xfrm>
            <a:off x="457200" y="1920240"/>
            <a:ext cx="2606040" cy="1645920"/>
          </a:xfrm>
          <a:prstGeom prst="roundRect">
            <a:avLst>
              <a:gd name="adj" fmla="val 5556"/>
            </a:avLst>
          </a:prstGeom>
          <a:solidFill>
            <a:srgbClr val="EDF2F4"/>
          </a:solidFill>
          <a:ln/>
        </p:spPr>
      </p:sp>
      <p:sp>
        <p:nvSpPr>
          <p:cNvPr id="9" name="Shape 7"/>
          <p:cNvSpPr/>
          <p:nvPr/>
        </p:nvSpPr>
        <p:spPr>
          <a:xfrm>
            <a:off x="1485900" y="2103120"/>
            <a:ext cx="548640" cy="548640"/>
          </a:xfrm>
          <a:prstGeom prst="ellipse">
            <a:avLst/>
          </a:prstGeom>
          <a:solidFill>
            <a:srgbClr val="EF233C"/>
          </a:solidFill>
          <a:ln/>
        </p:spPr>
      </p:sp>
      <p:sp>
        <p:nvSpPr>
          <p:cNvPr id="10" name="Text 8"/>
          <p:cNvSpPr/>
          <p:nvPr/>
        </p:nvSpPr>
        <p:spPr>
          <a:xfrm>
            <a:off x="1485900" y="210312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1" name="Text 9"/>
          <p:cNvSpPr/>
          <p:nvPr/>
        </p:nvSpPr>
        <p:spPr>
          <a:xfrm>
            <a:off x="457200" y="2743200"/>
            <a:ext cx="2606040" cy="365760"/>
          </a:xfrm>
          <a:prstGeom prst="rect">
            <a:avLst/>
          </a:prstGeom>
          <a:noFill/>
          <a:ln/>
        </p:spPr>
        <p:txBody>
          <a:bodyPr wrap="square" rtlCol="0" anchor="ctr"/>
          <a:lstStyle/>
          <a:p>
            <a:pPr algn="ctr" indent="0" marL="0">
              <a:buNone/>
            </a:pPr>
            <a:r>
              <a:rPr lang="en-US" sz="1800" b="1" dirty="0">
                <a:solidFill>
                  <a:srgbClr val="2B2D42"/>
                </a:solidFill>
                <a:latin typeface="Microsoft YaHei" pitchFamily="34" charset="0"/>
                <a:ea typeface="Microsoft YaHei" pitchFamily="34" charset="-122"/>
                <a:cs typeface="Microsoft YaHei" pitchFamily="34" charset="-120"/>
              </a:rPr>
              <a:t>了解</a:t>
            </a:r>
            <a:endParaRPr lang="en-US" sz="1800" dirty="0"/>
          </a:p>
        </p:txBody>
      </p:sp>
      <p:sp>
        <p:nvSpPr>
          <p:cNvPr id="12" name="Text 10"/>
          <p:cNvSpPr/>
          <p:nvPr/>
        </p:nvSpPr>
        <p:spPr>
          <a:xfrm>
            <a:off x="594360" y="3108960"/>
            <a:ext cx="2331720" cy="365760"/>
          </a:xfrm>
          <a:prstGeom prst="rect">
            <a:avLst/>
          </a:prstGeom>
          <a:noFill/>
          <a:ln/>
        </p:spPr>
        <p:txBody>
          <a:bodyPr wrap="square" rtlCol="0" anchor="t"/>
          <a:lstStyle/>
          <a:p>
            <a:pPr algn="ctr" indent="0" marL="0">
              <a:buNone/>
            </a:pPr>
            <a:r>
              <a:rPr lang="en-US" sz="1200" dirty="0">
                <a:solidFill>
                  <a:srgbClr val="8D99AE"/>
                </a:solidFill>
                <a:latin typeface="Microsoft YaHei" pitchFamily="34" charset="0"/>
                <a:ea typeface="Microsoft YaHei" pitchFamily="34" charset="-122"/>
                <a:cs typeface="Microsoft YaHei" pitchFamily="34" charset="-120"/>
              </a:rPr>
              <a:t>了解这个人的兴趣、排斥、愿景</a:t>
            </a:r>
            <a:endParaRPr lang="en-US" sz="1200" dirty="0"/>
          </a:p>
        </p:txBody>
      </p:sp>
      <p:sp>
        <p:nvSpPr>
          <p:cNvPr id="13" name="Text 11"/>
          <p:cNvSpPr/>
          <p:nvPr/>
        </p:nvSpPr>
        <p:spPr>
          <a:xfrm>
            <a:off x="3063240" y="2560320"/>
            <a:ext cx="297180" cy="365760"/>
          </a:xfrm>
          <a:prstGeom prst="rect">
            <a:avLst/>
          </a:prstGeom>
          <a:noFill/>
          <a:ln/>
        </p:spPr>
        <p:txBody>
          <a:bodyPr wrap="square" rtlCol="0" anchor="ctr"/>
          <a:lstStyle/>
          <a:p>
            <a:pPr algn="ctr" indent="0" marL="0">
              <a:buNone/>
            </a:pPr>
            <a:r>
              <a:rPr lang="en-US" sz="2000" b="1" dirty="0">
                <a:solidFill>
                  <a:srgbClr val="EF233C"/>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3268980" y="1920240"/>
            <a:ext cx="2606040" cy="1645920"/>
          </a:xfrm>
          <a:prstGeom prst="roundRect">
            <a:avLst>
              <a:gd name="adj" fmla="val 5556"/>
            </a:avLst>
          </a:prstGeom>
          <a:solidFill>
            <a:srgbClr val="EDF2F4"/>
          </a:solidFill>
          <a:ln/>
        </p:spPr>
      </p:sp>
      <p:sp>
        <p:nvSpPr>
          <p:cNvPr id="15" name="Shape 13"/>
          <p:cNvSpPr/>
          <p:nvPr/>
        </p:nvSpPr>
        <p:spPr>
          <a:xfrm>
            <a:off x="4297680" y="2103120"/>
            <a:ext cx="548640" cy="548640"/>
          </a:xfrm>
          <a:prstGeom prst="ellipse">
            <a:avLst/>
          </a:prstGeom>
          <a:solidFill>
            <a:srgbClr val="EF233C"/>
          </a:solidFill>
          <a:ln/>
        </p:spPr>
      </p:sp>
      <p:sp>
        <p:nvSpPr>
          <p:cNvPr id="16" name="Text 14"/>
          <p:cNvSpPr/>
          <p:nvPr/>
        </p:nvSpPr>
        <p:spPr>
          <a:xfrm>
            <a:off x="4297680" y="210312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7" name="Text 15"/>
          <p:cNvSpPr/>
          <p:nvPr/>
        </p:nvSpPr>
        <p:spPr>
          <a:xfrm>
            <a:off x="3268980" y="2743200"/>
            <a:ext cx="2606040" cy="365760"/>
          </a:xfrm>
          <a:prstGeom prst="rect">
            <a:avLst/>
          </a:prstGeom>
          <a:noFill/>
          <a:ln/>
        </p:spPr>
        <p:txBody>
          <a:bodyPr wrap="square" rtlCol="0" anchor="ctr"/>
          <a:lstStyle/>
          <a:p>
            <a:pPr algn="ctr" indent="0" marL="0">
              <a:buNone/>
            </a:pPr>
            <a:r>
              <a:rPr lang="en-US" sz="1800" b="1" dirty="0">
                <a:solidFill>
                  <a:srgbClr val="2B2D42"/>
                </a:solidFill>
                <a:latin typeface="Microsoft YaHei" pitchFamily="34" charset="0"/>
                <a:ea typeface="Microsoft YaHei" pitchFamily="34" charset="-122"/>
                <a:cs typeface="Microsoft YaHei" pitchFamily="34" charset="-120"/>
              </a:rPr>
              <a:t>框定</a:t>
            </a:r>
            <a:endParaRPr lang="en-US" sz="1800" dirty="0"/>
          </a:p>
        </p:txBody>
      </p:sp>
      <p:sp>
        <p:nvSpPr>
          <p:cNvPr id="18" name="Text 16"/>
          <p:cNvSpPr/>
          <p:nvPr/>
        </p:nvSpPr>
        <p:spPr>
          <a:xfrm>
            <a:off x="3406140" y="3108960"/>
            <a:ext cx="2331720" cy="365760"/>
          </a:xfrm>
          <a:prstGeom prst="rect">
            <a:avLst/>
          </a:prstGeom>
          <a:noFill/>
          <a:ln/>
        </p:spPr>
        <p:txBody>
          <a:bodyPr wrap="square" rtlCol="0" anchor="t"/>
          <a:lstStyle/>
          <a:p>
            <a:pPr algn="ctr" indent="0" marL="0">
              <a:buNone/>
            </a:pPr>
            <a:r>
              <a:rPr lang="en-US" sz="1200" dirty="0">
                <a:solidFill>
                  <a:srgbClr val="8D99AE"/>
                </a:solidFill>
                <a:latin typeface="Microsoft YaHei" pitchFamily="34" charset="0"/>
                <a:ea typeface="Microsoft YaHei" pitchFamily="34" charset="-122"/>
                <a:cs typeface="Microsoft YaHei" pitchFamily="34" charset="-120"/>
              </a:rPr>
              <a:t>拿分数框定这个方向里能够到的最好选择</a:t>
            </a:r>
            <a:endParaRPr lang="en-US" sz="1200" dirty="0"/>
          </a:p>
        </p:txBody>
      </p:sp>
      <p:sp>
        <p:nvSpPr>
          <p:cNvPr id="19" name="Text 17"/>
          <p:cNvSpPr/>
          <p:nvPr/>
        </p:nvSpPr>
        <p:spPr>
          <a:xfrm>
            <a:off x="5875020" y="2560320"/>
            <a:ext cx="297180" cy="365760"/>
          </a:xfrm>
          <a:prstGeom prst="rect">
            <a:avLst/>
          </a:prstGeom>
          <a:noFill/>
          <a:ln/>
        </p:spPr>
        <p:txBody>
          <a:bodyPr wrap="square" rtlCol="0" anchor="ctr"/>
          <a:lstStyle/>
          <a:p>
            <a:pPr algn="ctr" indent="0" marL="0">
              <a:buNone/>
            </a:pPr>
            <a:r>
              <a:rPr lang="en-US" sz="2000" b="1" dirty="0">
                <a:solidFill>
                  <a:srgbClr val="EF233C"/>
                </a:solidFill>
                <a:latin typeface="Arial" pitchFamily="34" charset="0"/>
                <a:ea typeface="Arial" pitchFamily="34" charset="-122"/>
                <a:cs typeface="Arial" pitchFamily="34" charset="-120"/>
              </a:rPr>
              <a:t>→</a:t>
            </a:r>
            <a:endParaRPr lang="en-US" sz="2000" dirty="0"/>
          </a:p>
        </p:txBody>
      </p:sp>
      <p:sp>
        <p:nvSpPr>
          <p:cNvPr id="20" name="Shape 18"/>
          <p:cNvSpPr/>
          <p:nvPr/>
        </p:nvSpPr>
        <p:spPr>
          <a:xfrm>
            <a:off x="6080760" y="1920240"/>
            <a:ext cx="2606040" cy="1645920"/>
          </a:xfrm>
          <a:prstGeom prst="roundRect">
            <a:avLst>
              <a:gd name="adj" fmla="val 5556"/>
            </a:avLst>
          </a:prstGeom>
          <a:solidFill>
            <a:srgbClr val="EDF2F4"/>
          </a:solidFill>
          <a:ln/>
        </p:spPr>
      </p:sp>
      <p:sp>
        <p:nvSpPr>
          <p:cNvPr id="21" name="Shape 19"/>
          <p:cNvSpPr/>
          <p:nvPr/>
        </p:nvSpPr>
        <p:spPr>
          <a:xfrm>
            <a:off x="7109460" y="2103120"/>
            <a:ext cx="548640" cy="548640"/>
          </a:xfrm>
          <a:prstGeom prst="ellipse">
            <a:avLst/>
          </a:prstGeom>
          <a:solidFill>
            <a:srgbClr val="EF233C"/>
          </a:solidFill>
          <a:ln/>
        </p:spPr>
      </p:sp>
      <p:sp>
        <p:nvSpPr>
          <p:cNvPr id="22" name="Text 20"/>
          <p:cNvSpPr/>
          <p:nvPr/>
        </p:nvSpPr>
        <p:spPr>
          <a:xfrm>
            <a:off x="7109460" y="210312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3" name="Text 21"/>
          <p:cNvSpPr/>
          <p:nvPr/>
        </p:nvSpPr>
        <p:spPr>
          <a:xfrm>
            <a:off x="6080760" y="2743200"/>
            <a:ext cx="2606040" cy="365760"/>
          </a:xfrm>
          <a:prstGeom prst="rect">
            <a:avLst/>
          </a:prstGeom>
          <a:noFill/>
          <a:ln/>
        </p:spPr>
        <p:txBody>
          <a:bodyPr wrap="square" rtlCol="0" anchor="ctr"/>
          <a:lstStyle/>
          <a:p>
            <a:pPr algn="ctr" indent="0" marL="0">
              <a:buNone/>
            </a:pPr>
            <a:r>
              <a:rPr lang="en-US" sz="1800" b="1" dirty="0">
                <a:solidFill>
                  <a:srgbClr val="2B2D42"/>
                </a:solidFill>
                <a:latin typeface="Microsoft YaHei" pitchFamily="34" charset="0"/>
                <a:ea typeface="Microsoft YaHei" pitchFamily="34" charset="-122"/>
                <a:cs typeface="Microsoft YaHei" pitchFamily="34" charset="-120"/>
              </a:rPr>
              <a:t>排列</a:t>
            </a:r>
            <a:endParaRPr lang="en-US" sz="1800" dirty="0"/>
          </a:p>
        </p:txBody>
      </p:sp>
      <p:sp>
        <p:nvSpPr>
          <p:cNvPr id="24" name="Text 22"/>
          <p:cNvSpPr/>
          <p:nvPr/>
        </p:nvSpPr>
        <p:spPr>
          <a:xfrm>
            <a:off x="6217920" y="3108960"/>
            <a:ext cx="2331720" cy="365760"/>
          </a:xfrm>
          <a:prstGeom prst="rect">
            <a:avLst/>
          </a:prstGeom>
          <a:noFill/>
          <a:ln/>
        </p:spPr>
        <p:txBody>
          <a:bodyPr wrap="square" rtlCol="0" anchor="t"/>
          <a:lstStyle/>
          <a:p>
            <a:pPr algn="ctr" indent="0" marL="0">
              <a:buNone/>
            </a:pPr>
            <a:r>
              <a:rPr lang="en-US" sz="1200" dirty="0">
                <a:solidFill>
                  <a:srgbClr val="8D99AE"/>
                </a:solidFill>
                <a:latin typeface="Microsoft YaHei" pitchFamily="34" charset="0"/>
                <a:ea typeface="Microsoft YaHei" pitchFamily="34" charset="-122"/>
                <a:cs typeface="Microsoft YaHei" pitchFamily="34" charset="-120"/>
              </a:rPr>
              <a:t>排冲稳保梯度表</a:t>
            </a:r>
            <a:endParaRPr lang="en-US" sz="1200" dirty="0"/>
          </a:p>
        </p:txBody>
      </p:sp>
      <p:sp>
        <p:nvSpPr>
          <p:cNvPr id="25" name="Shape 23"/>
          <p:cNvSpPr/>
          <p:nvPr/>
        </p:nvSpPr>
        <p:spPr>
          <a:xfrm>
            <a:off x="457200" y="3794760"/>
            <a:ext cx="8229600" cy="914400"/>
          </a:xfrm>
          <a:prstGeom prst="roundRect">
            <a:avLst>
              <a:gd name="adj" fmla="val 10000"/>
            </a:avLst>
          </a:prstGeom>
          <a:solidFill>
            <a:srgbClr val="FFFFFF"/>
          </a:solidFill>
          <a:ln w="25400">
            <a:solidFill>
              <a:srgbClr val="EF233C"/>
            </a:solidFill>
            <a:prstDash val="solid"/>
          </a:ln>
        </p:spPr>
      </p:sp>
      <p:sp>
        <p:nvSpPr>
          <p:cNvPr id="26" name="Text 24"/>
          <p:cNvSpPr/>
          <p:nvPr/>
        </p:nvSpPr>
        <p:spPr>
          <a:xfrm>
            <a:off x="548640" y="3749040"/>
            <a:ext cx="365760" cy="457200"/>
          </a:xfrm>
          <a:prstGeom prst="rect">
            <a:avLst/>
          </a:prstGeom>
          <a:noFill/>
          <a:ln/>
        </p:spPr>
        <p:txBody>
          <a:bodyPr wrap="square" rtlCol="0" anchor="ctr"/>
          <a:lstStyle/>
          <a:p>
            <a:pPr indent="0" marL="0">
              <a:buNone/>
            </a:pPr>
            <a:r>
              <a:rPr lang="en-US" sz="3600" b="1" dirty="0">
                <a:solidFill>
                  <a:srgbClr val="EF233C"/>
                </a:solidFill>
                <a:latin typeface="Georgia" pitchFamily="34" charset="0"/>
                <a:ea typeface="Georgia" pitchFamily="34" charset="-122"/>
                <a:cs typeface="Georgia" pitchFamily="34" charset="-120"/>
              </a:rPr>
              <a:t>“</a:t>
            </a:r>
            <a:endParaRPr lang="en-US" sz="3600" dirty="0"/>
          </a:p>
        </p:txBody>
      </p:sp>
      <p:sp>
        <p:nvSpPr>
          <p:cNvPr id="27" name="Text 25"/>
          <p:cNvSpPr/>
          <p:nvPr/>
        </p:nvSpPr>
        <p:spPr>
          <a:xfrm>
            <a:off x="914400" y="3886200"/>
            <a:ext cx="7589520" cy="731520"/>
          </a:xfrm>
          <a:prstGeom prst="rect">
            <a:avLst/>
          </a:prstGeom>
          <a:noFill/>
          <a:ln/>
        </p:spPr>
        <p:txBody>
          <a:bodyPr wrap="square" rtlCol="0" anchor="ctr"/>
          <a:lstStyle/>
          <a:p>
            <a:pPr algn="ctr" indent="0" marL="0">
              <a:buNone/>
            </a:pPr>
            <a:r>
              <a:rPr lang="en-US" sz="1400" i="1" dirty="0">
                <a:solidFill>
                  <a:srgbClr val="8D99AE"/>
                </a:solidFill>
                <a:latin typeface="Microsoft YaHei" pitchFamily="34" charset="0"/>
                <a:ea typeface="Microsoft YaHei" pitchFamily="34" charset="-122"/>
                <a:cs typeface="Microsoft YaHei" pitchFamily="34" charset="-120"/>
              </a:rPr>
              <a:t>分数从头到尾都是硬约束，它决定不了方向，只决定'这个方向里你能走多远'</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ellipse">
            <a:avLst/>
          </a:prstGeom>
          <a:solidFill>
            <a:srgbClr val="EF233C"/>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17</a:t>
            </a:r>
            <a:endParaRPr lang="en-US" sz="1600" dirty="0"/>
          </a:p>
        </p:txBody>
      </p:sp>
      <p:sp>
        <p:nvSpPr>
          <p:cNvPr id="4" name="Text 2"/>
          <p:cNvSpPr/>
          <p:nvPr/>
        </p:nvSpPr>
        <p:spPr>
          <a:xfrm>
            <a:off x="457200" y="365760"/>
            <a:ext cx="7772400" cy="54864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问对问题的案例</a:t>
            </a:r>
            <a:endParaRPr lang="en-US" sz="3200" dirty="0"/>
          </a:p>
        </p:txBody>
      </p:sp>
      <p:sp>
        <p:nvSpPr>
          <p:cNvPr id="5" name="Shape 3"/>
          <p:cNvSpPr/>
          <p:nvPr/>
        </p:nvSpPr>
        <p:spPr>
          <a:xfrm>
            <a:off x="457200" y="868680"/>
            <a:ext cx="1097280" cy="45720"/>
          </a:xfrm>
          <a:prstGeom prst="rect">
            <a:avLst/>
          </a:prstGeom>
          <a:solidFill>
            <a:srgbClr val="EF233C"/>
          </a:solidFill>
          <a:ln/>
        </p:spPr>
      </p:sp>
      <p:sp>
        <p:nvSpPr>
          <p:cNvPr id="6" name="Shape 4"/>
          <p:cNvSpPr/>
          <p:nvPr/>
        </p:nvSpPr>
        <p:spPr>
          <a:xfrm>
            <a:off x="457200" y="1051560"/>
            <a:ext cx="1645920" cy="365760"/>
          </a:xfrm>
          <a:prstGeom prst="roundRect">
            <a:avLst>
              <a:gd name="adj" fmla="val 12500"/>
            </a:avLst>
          </a:prstGeom>
          <a:solidFill>
            <a:srgbClr val="EF233C"/>
          </a:solidFill>
          <a:ln/>
        </p:spPr>
      </p:sp>
      <p:sp>
        <p:nvSpPr>
          <p:cNvPr id="7" name="Text 5"/>
          <p:cNvSpPr/>
          <p:nvPr/>
        </p:nvSpPr>
        <p:spPr>
          <a:xfrm>
            <a:off x="457200" y="1051560"/>
            <a:ext cx="1645920" cy="3657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临床医学的故事</a:t>
            </a:r>
            <a:endParaRPr lang="en-US" sz="1200" dirty="0"/>
          </a:p>
        </p:txBody>
      </p:sp>
      <p:sp>
        <p:nvSpPr>
          <p:cNvPr id="8" name="Shape 6"/>
          <p:cNvSpPr/>
          <p:nvPr/>
        </p:nvSpPr>
        <p:spPr>
          <a:xfrm>
            <a:off x="457200" y="1554480"/>
            <a:ext cx="3931920" cy="2194560"/>
          </a:xfrm>
          <a:prstGeom prst="roundRect">
            <a:avLst>
              <a:gd name="adj" fmla="val 4167"/>
            </a:avLst>
          </a:prstGeom>
          <a:solidFill>
            <a:srgbClr val="EDF2F4"/>
          </a:solidFill>
          <a:ln/>
        </p:spPr>
      </p:sp>
      <p:sp>
        <p:nvSpPr>
          <p:cNvPr id="9" name="Text 7"/>
          <p:cNvSpPr/>
          <p:nvPr/>
        </p:nvSpPr>
        <p:spPr>
          <a:xfrm>
            <a:off x="640080" y="1691640"/>
            <a:ext cx="914400" cy="320040"/>
          </a:xfrm>
          <a:prstGeom prst="rect">
            <a:avLst/>
          </a:prstGeom>
          <a:noFill/>
          <a:ln/>
        </p:spPr>
        <p:txBody>
          <a:bodyPr wrap="square" rtlCol="0" anchor="ctr"/>
          <a:lstStyle/>
          <a:p>
            <a:pPr indent="0" marL="0">
              <a:buNone/>
            </a:pPr>
            <a:r>
              <a:rPr lang="en-US" sz="1200" b="1" dirty="0">
                <a:solidFill>
                  <a:srgbClr val="2B2D42"/>
                </a:solidFill>
                <a:latin typeface="Microsoft YaHei" pitchFamily="34" charset="0"/>
                <a:ea typeface="Microsoft YaHei" pitchFamily="34" charset="-122"/>
                <a:cs typeface="Microsoft YaHei" pitchFamily="34" charset="-120"/>
              </a:rPr>
              <a:t>情况</a:t>
            </a:r>
            <a:endParaRPr lang="en-US" sz="1200" dirty="0"/>
          </a:p>
        </p:txBody>
      </p:sp>
      <p:sp>
        <p:nvSpPr>
          <p:cNvPr id="10" name="Text 8"/>
          <p:cNvSpPr/>
          <p:nvPr/>
        </p:nvSpPr>
        <p:spPr>
          <a:xfrm>
            <a:off x="640080" y="2011680"/>
            <a:ext cx="3566160" cy="45720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分数够到一所不错学校的临床医学</a:t>
            </a:r>
            <a:endParaRPr lang="en-US" sz="1400" dirty="0"/>
          </a:p>
        </p:txBody>
      </p:sp>
      <p:sp>
        <p:nvSpPr>
          <p:cNvPr id="11" name="Shape 9"/>
          <p:cNvSpPr/>
          <p:nvPr/>
        </p:nvSpPr>
        <p:spPr>
          <a:xfrm>
            <a:off x="640080" y="2514600"/>
            <a:ext cx="3566160" cy="18288"/>
          </a:xfrm>
          <a:prstGeom prst="rect">
            <a:avLst/>
          </a:prstGeom>
          <a:solidFill>
            <a:srgbClr val="8D99AE">
              <a:alpha val="30000"/>
            </a:srgbClr>
          </a:solidFill>
          <a:ln/>
        </p:spPr>
      </p:sp>
      <p:sp>
        <p:nvSpPr>
          <p:cNvPr id="12" name="Text 10"/>
          <p:cNvSpPr/>
          <p:nvPr/>
        </p:nvSpPr>
        <p:spPr>
          <a:xfrm>
            <a:off x="640080" y="2651760"/>
            <a:ext cx="914400" cy="320040"/>
          </a:xfrm>
          <a:prstGeom prst="rect">
            <a:avLst/>
          </a:prstGeom>
          <a:noFill/>
          <a:ln/>
        </p:spPr>
        <p:txBody>
          <a:bodyPr wrap="square" rtlCol="0" anchor="ctr"/>
          <a:lstStyle/>
          <a:p>
            <a:pPr indent="0" marL="0">
              <a:buNone/>
            </a:pPr>
            <a:r>
              <a:rPr lang="en-US" sz="1200" b="1" dirty="0">
                <a:solidFill>
                  <a:srgbClr val="EF233C"/>
                </a:solidFill>
                <a:latin typeface="Microsoft YaHei" pitchFamily="34" charset="0"/>
                <a:ea typeface="Microsoft YaHei" pitchFamily="34" charset="-122"/>
                <a:cs typeface="Microsoft YaHei" pitchFamily="34" charset="-120"/>
              </a:rPr>
              <a:t>问题</a:t>
            </a:r>
            <a:endParaRPr lang="en-US" sz="1200" dirty="0"/>
          </a:p>
        </p:txBody>
      </p:sp>
      <p:sp>
        <p:nvSpPr>
          <p:cNvPr id="13" name="Text 11"/>
          <p:cNvSpPr/>
          <p:nvPr/>
        </p:nvSpPr>
        <p:spPr>
          <a:xfrm>
            <a:off x="640080" y="2971800"/>
            <a:ext cx="3566160" cy="64008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孩子看到血会晕，连做实验解剖小动物都需要很大心理建设</a:t>
            </a:r>
            <a:endParaRPr lang="en-US" sz="1400" dirty="0"/>
          </a:p>
        </p:txBody>
      </p:sp>
      <p:sp>
        <p:nvSpPr>
          <p:cNvPr id="14" name="Shape 12"/>
          <p:cNvSpPr/>
          <p:nvPr/>
        </p:nvSpPr>
        <p:spPr>
          <a:xfrm>
            <a:off x="4572000" y="1554480"/>
            <a:ext cx="4114800" cy="2194560"/>
          </a:xfrm>
          <a:prstGeom prst="roundRect">
            <a:avLst>
              <a:gd name="adj" fmla="val 4167"/>
            </a:avLst>
          </a:prstGeom>
          <a:solidFill>
            <a:srgbClr val="2B2D42"/>
          </a:solidFill>
          <a:ln/>
        </p:spPr>
      </p:sp>
      <p:sp>
        <p:nvSpPr>
          <p:cNvPr id="15" name="Text 13"/>
          <p:cNvSpPr/>
          <p:nvPr/>
        </p:nvSpPr>
        <p:spPr>
          <a:xfrm>
            <a:off x="4754880" y="1691640"/>
            <a:ext cx="1828800" cy="320040"/>
          </a:xfrm>
          <a:prstGeom prst="rect">
            <a:avLst/>
          </a:prstGeom>
          <a:noFill/>
          <a:ln/>
        </p:spPr>
        <p:txBody>
          <a:bodyPr wrap="square" rtlCol="0" anchor="ctr"/>
          <a:lstStyle/>
          <a:p>
            <a:pPr indent="0" marL="0">
              <a:buNone/>
            </a:pPr>
            <a:r>
              <a:rPr lang="en-US" sz="1200" b="1" dirty="0">
                <a:solidFill>
                  <a:srgbClr val="EDF2F4"/>
                </a:solidFill>
                <a:latin typeface="Microsoft YaHei" pitchFamily="34" charset="0"/>
                <a:ea typeface="Microsoft YaHei" pitchFamily="34" charset="-122"/>
                <a:cs typeface="Microsoft YaHei" pitchFamily="34" charset="-120"/>
              </a:rPr>
              <a:t>核心洞察</a:t>
            </a:r>
            <a:endParaRPr lang="en-US" sz="1200" dirty="0"/>
          </a:p>
        </p:txBody>
      </p:sp>
      <p:sp>
        <p:nvSpPr>
          <p:cNvPr id="16" name="Text 14"/>
          <p:cNvSpPr/>
          <p:nvPr/>
        </p:nvSpPr>
        <p:spPr>
          <a:xfrm>
            <a:off x="4754880" y="2103120"/>
            <a:ext cx="3749040" cy="1371600"/>
          </a:xfrm>
          <a:prstGeom prst="rect">
            <a:avLst/>
          </a:prstGeom>
          <a:noFill/>
          <a:ln/>
        </p:spPr>
        <p:txBody>
          <a:bodyPr wrap="square" rtlCol="0" anchor="ctr"/>
          <a:lstStyle/>
          <a:p>
            <a:pPr indent="0" marL="0">
              <a:buNone/>
            </a:pPr>
            <a:r>
              <a:rPr lang="en-US" sz="1600" dirty="0">
                <a:solidFill>
                  <a:srgbClr val="FFFFFF"/>
                </a:solidFill>
                <a:latin typeface="Microsoft YaHei" pitchFamily="34" charset="0"/>
                <a:ea typeface="Microsoft YaHei" pitchFamily="34" charset="-122"/>
                <a:cs typeface="Microsoft YaHei" pitchFamily="34" charset="-120"/>
              </a:rPr>
              <a:t>如果按照先分数后专业的顺序，这类风险几乎注定会被漏掉</a:t>
            </a:r>
            <a:endParaRPr lang="en-US" sz="1600" dirty="0"/>
          </a:p>
        </p:txBody>
      </p:sp>
      <p:sp>
        <p:nvSpPr>
          <p:cNvPr id="17" name="Text 15"/>
          <p:cNvSpPr/>
          <p:nvPr/>
        </p:nvSpPr>
        <p:spPr>
          <a:xfrm>
            <a:off x="4206240" y="2377440"/>
            <a:ext cx="457200" cy="457200"/>
          </a:xfrm>
          <a:prstGeom prst="rect">
            <a:avLst/>
          </a:prstGeom>
          <a:noFill/>
          <a:ln/>
        </p:spPr>
        <p:txBody>
          <a:bodyPr wrap="square" rtlCol="0" anchor="ctr"/>
          <a:lstStyle/>
          <a:p>
            <a:pPr algn="ctr" indent="0" marL="0">
              <a:buNone/>
            </a:pPr>
            <a:r>
              <a:rPr lang="en-US" sz="2800" b="1" dirty="0">
                <a:solidFill>
                  <a:srgbClr val="EF233C"/>
                </a:solidFill>
                <a:latin typeface="Arial" pitchFamily="34" charset="0"/>
                <a:ea typeface="Arial" pitchFamily="34" charset="-122"/>
                <a:cs typeface="Arial" pitchFamily="34" charset="-120"/>
              </a:rPr>
              <a:t>→</a:t>
            </a:r>
            <a:endParaRPr lang="en-US" sz="2800" dirty="0"/>
          </a:p>
        </p:txBody>
      </p:sp>
      <p:sp>
        <p:nvSpPr>
          <p:cNvPr id="18" name="Shape 16"/>
          <p:cNvSpPr/>
          <p:nvPr/>
        </p:nvSpPr>
        <p:spPr>
          <a:xfrm>
            <a:off x="457200" y="3931920"/>
            <a:ext cx="8229600" cy="731520"/>
          </a:xfrm>
          <a:prstGeom prst="roundRect">
            <a:avLst>
              <a:gd name="adj" fmla="val 12500"/>
            </a:avLst>
          </a:prstGeom>
          <a:solidFill>
            <a:srgbClr val="FFFFFF"/>
          </a:solidFill>
          <a:ln w="12700">
            <a:solidFill>
              <a:srgbClr val="EF233C"/>
            </a:solidFill>
            <a:prstDash val="dash"/>
          </a:ln>
        </p:spPr>
      </p:sp>
      <p:sp>
        <p:nvSpPr>
          <p:cNvPr id="19" name="Text 17"/>
          <p:cNvSpPr/>
          <p:nvPr/>
        </p:nvSpPr>
        <p:spPr>
          <a:xfrm>
            <a:off x="457200" y="3931920"/>
            <a:ext cx="8229600" cy="731520"/>
          </a:xfrm>
          <a:prstGeom prst="rect">
            <a:avLst/>
          </a:prstGeom>
          <a:noFill/>
          <a:ln/>
        </p:spPr>
        <p:txBody>
          <a:bodyPr wrap="square" rtlCol="0" anchor="ctr"/>
          <a:lstStyle/>
          <a:p>
            <a:pPr algn="ctr" indent="0" marL="0">
              <a:buNone/>
            </a:pPr>
            <a:r>
              <a:rPr lang="en-US" sz="1600" b="1" dirty="0">
                <a:solidFill>
                  <a:srgbClr val="2B2D42"/>
                </a:solidFill>
                <a:latin typeface="Microsoft YaHei" pitchFamily="34" charset="0"/>
                <a:ea typeface="Microsoft YaHei" pitchFamily="34" charset="-122"/>
                <a:cs typeface="Microsoft YaHei" pitchFamily="34" charset="-120"/>
              </a:rPr>
              <a:t>"这不是产业判断，是关于这个人的朴素事实"</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457200" y="320040"/>
            <a:ext cx="731520" cy="731520"/>
          </a:xfrm>
          <a:prstGeom prst="roundRect">
            <a:avLst>
              <a:gd name="adj" fmla="val 12500"/>
            </a:avLst>
          </a:prstGeom>
          <a:solidFill>
            <a:srgbClr val="EF233C"/>
          </a:solidFill>
          <a:ln/>
        </p:spPr>
      </p:sp>
      <p:sp>
        <p:nvSpPr>
          <p:cNvPr id="3" name="Text 1"/>
          <p:cNvSpPr/>
          <p:nvPr/>
        </p:nvSpPr>
        <p:spPr>
          <a:xfrm>
            <a:off x="457200" y="320040"/>
            <a:ext cx="731520" cy="7315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03</a:t>
            </a:r>
            <a:endParaRPr lang="en-US" sz="2800" dirty="0"/>
          </a:p>
        </p:txBody>
      </p:sp>
      <p:sp>
        <p:nvSpPr>
          <p:cNvPr id="4" name="Text 2"/>
          <p:cNvSpPr/>
          <p:nvPr/>
        </p:nvSpPr>
        <p:spPr>
          <a:xfrm>
            <a:off x="1371600" y="365760"/>
            <a:ext cx="6858000" cy="640080"/>
          </a:xfrm>
          <a:prstGeom prst="rect">
            <a:avLst/>
          </a:prstGeom>
          <a:noFill/>
          <a:ln/>
        </p:spPr>
        <p:txBody>
          <a:bodyPr wrap="square" rtlCol="0" anchor="ctr"/>
          <a:lstStyle/>
          <a:p>
            <a:pPr indent="0" marL="0">
              <a:buNone/>
            </a:pPr>
            <a:r>
              <a:rPr lang="en-US" sz="2600" b="1" dirty="0">
                <a:solidFill>
                  <a:srgbClr val="2B2D42"/>
                </a:solidFill>
                <a:latin typeface="Microsoft YaHei" pitchFamily="34" charset="0"/>
                <a:ea typeface="Microsoft YaHei" pitchFamily="34" charset="-122"/>
                <a:cs typeface="Microsoft YaHei" pitchFamily="34" charset="-120"/>
              </a:rPr>
              <a:t>信息收集不是查数据，是替人过滤噪音</a:t>
            </a:r>
            <a:endParaRPr lang="en-US" sz="2600" dirty="0"/>
          </a:p>
        </p:txBody>
      </p:sp>
      <p:sp>
        <p:nvSpPr>
          <p:cNvPr id="5" name="Shape 3"/>
          <p:cNvSpPr/>
          <p:nvPr/>
        </p:nvSpPr>
        <p:spPr>
          <a:xfrm>
            <a:off x="1371600" y="1005840"/>
            <a:ext cx="1097280" cy="45720"/>
          </a:xfrm>
          <a:prstGeom prst="rect">
            <a:avLst/>
          </a:prstGeom>
          <a:solidFill>
            <a:srgbClr val="EF233C"/>
          </a:solidFill>
          <a:ln/>
        </p:spPr>
      </p:sp>
      <p:sp>
        <p:nvSpPr>
          <p:cNvPr id="6" name="Shape 4"/>
          <p:cNvSpPr/>
          <p:nvPr/>
        </p:nvSpPr>
        <p:spPr>
          <a:xfrm>
            <a:off x="457200" y="1234440"/>
            <a:ext cx="8229600" cy="1097280"/>
          </a:xfrm>
          <a:prstGeom prst="roundRect">
            <a:avLst>
              <a:gd name="adj" fmla="val 8333"/>
            </a:avLst>
          </a:prstGeom>
          <a:solidFill>
            <a:srgbClr val="2B2D42"/>
          </a:solidFill>
          <a:ln/>
        </p:spPr>
      </p:sp>
      <p:sp>
        <p:nvSpPr>
          <p:cNvPr id="7" name="Text 5"/>
          <p:cNvSpPr/>
          <p:nvPr/>
        </p:nvSpPr>
        <p:spPr>
          <a:xfrm>
            <a:off x="640080" y="1143000"/>
            <a:ext cx="457200" cy="548640"/>
          </a:xfrm>
          <a:prstGeom prst="rect">
            <a:avLst/>
          </a:prstGeom>
          <a:noFill/>
          <a:ln/>
        </p:spPr>
        <p:txBody>
          <a:bodyPr wrap="square" rtlCol="0" anchor="ctr"/>
          <a:lstStyle/>
          <a:p>
            <a:pPr indent="0" marL="0">
              <a:buNone/>
            </a:pPr>
            <a:r>
              <a:rPr lang="en-US" sz="4000" b="1" dirty="0">
                <a:solidFill>
                  <a:srgbClr val="EF233C"/>
                </a:solidFill>
                <a:latin typeface="Georgia" pitchFamily="34" charset="0"/>
                <a:ea typeface="Georgia" pitchFamily="34" charset="-122"/>
                <a:cs typeface="Georgia" pitchFamily="34" charset="-120"/>
              </a:rPr>
              <a:t>“</a:t>
            </a:r>
            <a:endParaRPr lang="en-US" sz="4000" dirty="0"/>
          </a:p>
        </p:txBody>
      </p:sp>
      <p:sp>
        <p:nvSpPr>
          <p:cNvPr id="8" name="Text 6"/>
          <p:cNvSpPr/>
          <p:nvPr/>
        </p:nvSpPr>
        <p:spPr>
          <a:xfrm>
            <a:off x="1005840" y="1325880"/>
            <a:ext cx="7498080" cy="914400"/>
          </a:xfrm>
          <a:prstGeom prst="rect">
            <a:avLst/>
          </a:prstGeom>
          <a:noFill/>
          <a:ln/>
        </p:spPr>
        <p:txBody>
          <a:bodyPr wrap="square" rtlCol="0" anchor="ctr"/>
          <a:lstStyle/>
          <a:p>
            <a:pPr algn="ctr" indent="0" marL="0">
              <a:buNone/>
            </a:pPr>
            <a:r>
              <a:rPr lang="en-US" sz="1600" dirty="0">
                <a:solidFill>
                  <a:srgbClr val="FFFFFF"/>
                </a:solidFill>
                <a:latin typeface="Microsoft YaHei" pitchFamily="34" charset="0"/>
                <a:ea typeface="Microsoft YaHei" pitchFamily="34" charset="-122"/>
                <a:cs typeface="Microsoft YaHei" pitchFamily="34" charset="-120"/>
              </a:rPr>
              <a:t>这两年信息不是不够了，是太多了，多到大部分家长已经分不清哪条是真的对他们有用的。</a:t>
            </a:r>
            <a:endParaRPr lang="en-US" sz="1600" dirty="0"/>
          </a:p>
        </p:txBody>
      </p:sp>
      <p:sp>
        <p:nvSpPr>
          <p:cNvPr id="9" name="Shape 7"/>
          <p:cNvSpPr/>
          <p:nvPr/>
        </p:nvSpPr>
        <p:spPr>
          <a:xfrm>
            <a:off x="457200" y="2514600"/>
            <a:ext cx="8229600" cy="1463040"/>
          </a:xfrm>
          <a:prstGeom prst="roundRect">
            <a:avLst>
              <a:gd name="adj" fmla="val 6250"/>
            </a:avLst>
          </a:prstGeom>
          <a:solidFill>
            <a:srgbClr val="EDF2F4"/>
          </a:solidFill>
          <a:ln/>
        </p:spPr>
      </p:sp>
      <p:sp>
        <p:nvSpPr>
          <p:cNvPr id="10" name="Shape 8"/>
          <p:cNvSpPr/>
          <p:nvPr/>
        </p:nvSpPr>
        <p:spPr>
          <a:xfrm>
            <a:off x="640080" y="2651760"/>
            <a:ext cx="1097280" cy="320040"/>
          </a:xfrm>
          <a:prstGeom prst="roundRect">
            <a:avLst>
              <a:gd name="adj" fmla="val 14286"/>
            </a:avLst>
          </a:prstGeom>
          <a:solidFill>
            <a:srgbClr val="EF233C"/>
          </a:solidFill>
          <a:ln/>
        </p:spPr>
      </p:sp>
      <p:sp>
        <p:nvSpPr>
          <p:cNvPr id="11" name="Text 9"/>
          <p:cNvSpPr/>
          <p:nvPr/>
        </p:nvSpPr>
        <p:spPr>
          <a:xfrm>
            <a:off x="640080" y="2651760"/>
            <a:ext cx="1097280" cy="32004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真实案例</a:t>
            </a:r>
            <a:endParaRPr lang="en-US" sz="1100" dirty="0"/>
          </a:p>
        </p:txBody>
      </p:sp>
      <p:sp>
        <p:nvSpPr>
          <p:cNvPr id="12" name="Text 10"/>
          <p:cNvSpPr/>
          <p:nvPr/>
        </p:nvSpPr>
        <p:spPr>
          <a:xfrm>
            <a:off x="640080" y="3108960"/>
            <a:ext cx="7863840" cy="731520"/>
          </a:xfrm>
          <a:prstGeom prst="rect">
            <a:avLst/>
          </a:prstGeom>
          <a:noFill/>
          <a:ln/>
        </p:spPr>
        <p:txBody>
          <a:bodyPr wrap="square" rtlCol="0" anchor="ctr"/>
          <a:lstStyle/>
          <a:p>
            <a:pPr indent="0" marL="0">
              <a:buNone/>
            </a:pPr>
            <a:r>
              <a:rPr lang="en-US" sz="1800" dirty="0">
                <a:solidFill>
                  <a:srgbClr val="8D99AE"/>
                </a:solidFill>
                <a:latin typeface="Microsoft YaHei" pitchFamily="34" charset="0"/>
                <a:ea typeface="Microsoft YaHei" pitchFamily="34" charset="-122"/>
                <a:cs typeface="Microsoft YaHei" pitchFamily="34" charset="-120"/>
              </a:rPr>
              <a:t>一个爸爸带着十几个sheet的Excel表格找我，说研究了一个多月...</a:t>
            </a:r>
            <a:endParaRPr lang="en-US" sz="1800" dirty="0"/>
          </a:p>
        </p:txBody>
      </p:sp>
      <p:sp>
        <p:nvSpPr>
          <p:cNvPr id="13" name="Shape 11"/>
          <p:cNvSpPr/>
          <p:nvPr/>
        </p:nvSpPr>
        <p:spPr>
          <a:xfrm>
            <a:off x="7315200" y="3291840"/>
            <a:ext cx="731520" cy="914400"/>
          </a:xfrm>
          <a:prstGeom prst="roundRect">
            <a:avLst>
              <a:gd name="adj" fmla="val 6250"/>
            </a:avLst>
          </a:prstGeom>
          <a:solidFill>
            <a:srgbClr val="EF233C">
              <a:alpha val="40000"/>
            </a:srgbClr>
          </a:solidFill>
          <a:ln/>
        </p:spPr>
      </p:sp>
      <p:sp>
        <p:nvSpPr>
          <p:cNvPr id="14" name="Shape 12"/>
          <p:cNvSpPr/>
          <p:nvPr/>
        </p:nvSpPr>
        <p:spPr>
          <a:xfrm>
            <a:off x="7543800" y="3154680"/>
            <a:ext cx="731520" cy="914400"/>
          </a:xfrm>
          <a:prstGeom prst="roundRect">
            <a:avLst>
              <a:gd name="adj" fmla="val 6250"/>
            </a:avLst>
          </a:prstGeom>
          <a:solidFill>
            <a:srgbClr val="2B2D42">
              <a:alpha val="60000"/>
            </a:srgbClr>
          </a:solidFill>
          <a:ln/>
        </p:spPr>
      </p:sp>
      <p:sp>
        <p:nvSpPr>
          <p:cNvPr id="15" name="Shape 13"/>
          <p:cNvSpPr/>
          <p:nvPr/>
        </p:nvSpPr>
        <p:spPr>
          <a:xfrm>
            <a:off x="7772400" y="3017520"/>
            <a:ext cx="731520" cy="914400"/>
          </a:xfrm>
          <a:prstGeom prst="roundRect">
            <a:avLst>
              <a:gd name="adj" fmla="val 6250"/>
            </a:avLst>
          </a:prstGeom>
          <a:solidFill>
            <a:srgbClr val="8D99AE">
              <a:alpha val="80000"/>
            </a:srgbClr>
          </a:solidFill>
          <a:ln/>
        </p:spPr>
      </p:sp>
      <p:sp>
        <p:nvSpPr>
          <p:cNvPr id="16" name="Shape 14"/>
          <p:cNvSpPr/>
          <p:nvPr/>
        </p:nvSpPr>
        <p:spPr>
          <a:xfrm>
            <a:off x="8412480" y="274320"/>
            <a:ext cx="457200" cy="457200"/>
          </a:xfrm>
          <a:prstGeom prst="roundRect">
            <a:avLst>
              <a:gd name="adj" fmla="val 16000"/>
            </a:avLst>
          </a:prstGeom>
          <a:solidFill>
            <a:srgbClr val="EF233C"/>
          </a:solidFill>
          <a:ln/>
        </p:spPr>
      </p:sp>
      <p:sp>
        <p:nvSpPr>
          <p:cNvPr id="17" name="Text 15"/>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18</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ellipse">
            <a:avLst/>
          </a:prstGeom>
          <a:solidFill>
            <a:srgbClr val="EF233C"/>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19</a:t>
            </a:r>
            <a:endParaRPr lang="en-US" sz="1600" dirty="0"/>
          </a:p>
        </p:txBody>
      </p:sp>
      <p:sp>
        <p:nvSpPr>
          <p:cNvPr id="4" name="Text 2"/>
          <p:cNvSpPr/>
          <p:nvPr/>
        </p:nvSpPr>
        <p:spPr>
          <a:xfrm>
            <a:off x="457200" y="365760"/>
            <a:ext cx="7772400" cy="54864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三道筛子过滤噪音</a:t>
            </a:r>
            <a:endParaRPr lang="en-US" sz="3200" dirty="0"/>
          </a:p>
        </p:txBody>
      </p:sp>
      <p:sp>
        <p:nvSpPr>
          <p:cNvPr id="5" name="Shape 3"/>
          <p:cNvSpPr/>
          <p:nvPr/>
        </p:nvSpPr>
        <p:spPr>
          <a:xfrm>
            <a:off x="457200" y="868680"/>
            <a:ext cx="1097280" cy="45720"/>
          </a:xfrm>
          <a:prstGeom prst="rect">
            <a:avLst/>
          </a:prstGeom>
          <a:solidFill>
            <a:srgbClr val="EF233C"/>
          </a:solidFill>
          <a:ln/>
        </p:spPr>
      </p:sp>
      <p:sp>
        <p:nvSpPr>
          <p:cNvPr id="6" name="Shape 4"/>
          <p:cNvSpPr/>
          <p:nvPr/>
        </p:nvSpPr>
        <p:spPr>
          <a:xfrm>
            <a:off x="457200" y="1097280"/>
            <a:ext cx="8229600" cy="1051560"/>
          </a:xfrm>
          <a:prstGeom prst="rect">
            <a:avLst/>
          </a:prstGeom>
          <a:solidFill>
            <a:srgbClr val="EDF2F4"/>
          </a:solidFill>
          <a:ln/>
        </p:spPr>
      </p:sp>
      <p:sp>
        <p:nvSpPr>
          <p:cNvPr id="7" name="Shape 5"/>
          <p:cNvSpPr/>
          <p:nvPr/>
        </p:nvSpPr>
        <p:spPr>
          <a:xfrm>
            <a:off x="640080" y="1348740"/>
            <a:ext cx="548640" cy="548640"/>
          </a:xfrm>
          <a:prstGeom prst="ellipse">
            <a:avLst/>
          </a:prstGeom>
          <a:solidFill>
            <a:srgbClr val="EF233C"/>
          </a:solidFill>
          <a:ln/>
        </p:spPr>
      </p:sp>
      <p:sp>
        <p:nvSpPr>
          <p:cNvPr id="8" name="Text 6"/>
          <p:cNvSpPr/>
          <p:nvPr/>
        </p:nvSpPr>
        <p:spPr>
          <a:xfrm>
            <a:off x="640080" y="134874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7"/>
          <p:cNvSpPr/>
          <p:nvPr/>
        </p:nvSpPr>
        <p:spPr>
          <a:xfrm>
            <a:off x="1371600" y="1234440"/>
            <a:ext cx="1828800" cy="365760"/>
          </a:xfrm>
          <a:prstGeom prst="rect">
            <a:avLst/>
          </a:prstGeom>
          <a:noFill/>
          <a:ln/>
        </p:spPr>
        <p:txBody>
          <a:bodyPr wrap="square" rtlCol="0" anchor="ctr"/>
          <a:lstStyle/>
          <a:p>
            <a:pPr indent="0" marL="0">
              <a:buNone/>
            </a:pPr>
            <a:r>
              <a:rPr lang="en-US" sz="1800" b="1" dirty="0">
                <a:solidFill>
                  <a:srgbClr val="2B2D42"/>
                </a:solidFill>
                <a:latin typeface="Microsoft YaHei" pitchFamily="34" charset="0"/>
                <a:ea typeface="Microsoft YaHei" pitchFamily="34" charset="-122"/>
                <a:cs typeface="Microsoft YaHei" pitchFamily="34" charset="-120"/>
              </a:rPr>
              <a:t>范围筛子</a:t>
            </a:r>
            <a:endParaRPr lang="en-US" sz="1800" dirty="0"/>
          </a:p>
        </p:txBody>
      </p:sp>
      <p:sp>
        <p:nvSpPr>
          <p:cNvPr id="10" name="Shape 8"/>
          <p:cNvSpPr/>
          <p:nvPr/>
        </p:nvSpPr>
        <p:spPr>
          <a:xfrm>
            <a:off x="3108960" y="1280160"/>
            <a:ext cx="18288" cy="685800"/>
          </a:xfrm>
          <a:prstGeom prst="rect">
            <a:avLst/>
          </a:prstGeom>
          <a:solidFill>
            <a:srgbClr val="2B2D42">
              <a:alpha val="30000"/>
            </a:srgbClr>
          </a:solidFill>
          <a:ln/>
        </p:spPr>
      </p:sp>
      <p:sp>
        <p:nvSpPr>
          <p:cNvPr id="11" name="Text 9"/>
          <p:cNvSpPr/>
          <p:nvPr/>
        </p:nvSpPr>
        <p:spPr>
          <a:xfrm>
            <a:off x="3291840" y="1097280"/>
            <a:ext cx="5212080" cy="1051560"/>
          </a:xfrm>
          <a:prstGeom prst="rect">
            <a:avLst/>
          </a:prstGeom>
          <a:noFill/>
          <a:ln/>
        </p:spPr>
        <p:txBody>
          <a:bodyPr wrap="square" rtlCol="0" anchor="ctr"/>
          <a:lstStyle/>
          <a:p>
            <a:pPr indent="0" marL="0">
              <a:buNone/>
            </a:pPr>
            <a:r>
              <a:rPr lang="en-US" sz="1500" dirty="0">
                <a:solidFill>
                  <a:srgbClr val="2B2D42"/>
                </a:solidFill>
                <a:latin typeface="Microsoft YaHei" pitchFamily="34" charset="0"/>
                <a:ea typeface="Microsoft YaHei" pitchFamily="34" charset="-122"/>
                <a:cs typeface="Microsoft YaHei" pitchFamily="34" charset="-120"/>
              </a:rPr>
              <a:t>是"关于专业整体"还是"关于这所学校这个专业具体方向"</a:t>
            </a:r>
            <a:endParaRPr lang="en-US" sz="1500" dirty="0"/>
          </a:p>
        </p:txBody>
      </p:sp>
      <p:sp>
        <p:nvSpPr>
          <p:cNvPr id="12" name="Text 10"/>
          <p:cNvSpPr/>
          <p:nvPr/>
        </p:nvSpPr>
        <p:spPr>
          <a:xfrm>
            <a:off x="4114800" y="2057400"/>
            <a:ext cx="914400" cy="274320"/>
          </a:xfrm>
          <a:prstGeom prst="rect">
            <a:avLst/>
          </a:prstGeom>
          <a:noFill/>
          <a:ln/>
        </p:spPr>
        <p:txBody>
          <a:bodyPr wrap="square" rtlCol="0" anchor="ctr"/>
          <a:lstStyle/>
          <a:p>
            <a:pPr algn="ctr" indent="0" marL="0">
              <a:buNone/>
            </a:pPr>
            <a:r>
              <a:rPr lang="en-US" sz="1400" dirty="0">
                <a:solidFill>
                  <a:srgbClr val="EF233C"/>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457200" y="2286000"/>
            <a:ext cx="8229600" cy="1051560"/>
          </a:xfrm>
          <a:prstGeom prst="rect">
            <a:avLst/>
          </a:prstGeom>
          <a:solidFill>
            <a:srgbClr val="EF233C"/>
          </a:solidFill>
          <a:ln/>
        </p:spPr>
      </p:sp>
      <p:sp>
        <p:nvSpPr>
          <p:cNvPr id="14" name="Shape 12"/>
          <p:cNvSpPr/>
          <p:nvPr/>
        </p:nvSpPr>
        <p:spPr>
          <a:xfrm>
            <a:off x="640080" y="2537460"/>
            <a:ext cx="548640" cy="548640"/>
          </a:xfrm>
          <a:prstGeom prst="ellipse">
            <a:avLst/>
          </a:prstGeom>
          <a:solidFill>
            <a:srgbClr val="FFFFFF"/>
          </a:solidFill>
          <a:ln/>
        </p:spPr>
      </p:sp>
      <p:sp>
        <p:nvSpPr>
          <p:cNvPr id="15" name="Text 13"/>
          <p:cNvSpPr/>
          <p:nvPr/>
        </p:nvSpPr>
        <p:spPr>
          <a:xfrm>
            <a:off x="640080" y="2537460"/>
            <a:ext cx="548640" cy="548640"/>
          </a:xfrm>
          <a:prstGeom prst="rect">
            <a:avLst/>
          </a:prstGeom>
          <a:noFill/>
          <a:ln/>
        </p:spPr>
        <p:txBody>
          <a:bodyPr wrap="square" rtlCol="0" anchor="ctr"/>
          <a:lstStyle/>
          <a:p>
            <a:pPr algn="ctr" indent="0" marL="0">
              <a:buNone/>
            </a:pPr>
            <a:r>
              <a:rPr lang="en-US" sz="2000" b="1" dirty="0">
                <a:solidFill>
                  <a:srgbClr val="EF233C"/>
                </a:solidFill>
                <a:latin typeface="Arial" pitchFamily="34" charset="0"/>
                <a:ea typeface="Arial" pitchFamily="34" charset="-122"/>
                <a:cs typeface="Arial" pitchFamily="34" charset="-120"/>
              </a:rPr>
              <a:t>2</a:t>
            </a:r>
            <a:endParaRPr lang="en-US" sz="2000" dirty="0"/>
          </a:p>
        </p:txBody>
      </p:sp>
      <p:sp>
        <p:nvSpPr>
          <p:cNvPr id="16" name="Text 14"/>
          <p:cNvSpPr/>
          <p:nvPr/>
        </p:nvSpPr>
        <p:spPr>
          <a:xfrm>
            <a:off x="1371600" y="2423160"/>
            <a:ext cx="1828800" cy="365760"/>
          </a:xfrm>
          <a:prstGeom prst="rect">
            <a:avLst/>
          </a:prstGeom>
          <a:noFill/>
          <a:ln/>
        </p:spPr>
        <p:txBody>
          <a:bodyPr wrap="square"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时间筛子</a:t>
            </a:r>
            <a:endParaRPr lang="en-US" sz="1800" dirty="0"/>
          </a:p>
        </p:txBody>
      </p:sp>
      <p:sp>
        <p:nvSpPr>
          <p:cNvPr id="17" name="Shape 15"/>
          <p:cNvSpPr/>
          <p:nvPr/>
        </p:nvSpPr>
        <p:spPr>
          <a:xfrm>
            <a:off x="3108960" y="2468880"/>
            <a:ext cx="18288" cy="685800"/>
          </a:xfrm>
          <a:prstGeom prst="rect">
            <a:avLst/>
          </a:prstGeom>
          <a:solidFill>
            <a:srgbClr val="FFFFFF">
              <a:alpha val="30000"/>
            </a:srgbClr>
          </a:solidFill>
          <a:ln/>
        </p:spPr>
      </p:sp>
      <p:sp>
        <p:nvSpPr>
          <p:cNvPr id="18" name="Text 16"/>
          <p:cNvSpPr/>
          <p:nvPr/>
        </p:nvSpPr>
        <p:spPr>
          <a:xfrm>
            <a:off x="3291840" y="2286000"/>
            <a:ext cx="5212080" cy="1051560"/>
          </a:xfrm>
          <a:prstGeom prst="rect">
            <a:avLst/>
          </a:prstGeom>
          <a:noFill/>
          <a:ln/>
        </p:spPr>
        <p:txBody>
          <a:bodyPr wrap="square" rtlCol="0" anchor="ctr"/>
          <a:lstStyle/>
          <a:p>
            <a:pPr indent="0" marL="0">
              <a:buNone/>
            </a:pPr>
            <a:r>
              <a:rPr lang="en-US" sz="1500" dirty="0">
                <a:solidFill>
                  <a:srgbClr val="FFFFFF"/>
                </a:solidFill>
                <a:latin typeface="Microsoft YaHei" pitchFamily="34" charset="0"/>
                <a:ea typeface="Microsoft YaHei" pitchFamily="34" charset="-122"/>
                <a:cs typeface="Microsoft YaHei" pitchFamily="34" charset="-120"/>
              </a:rPr>
              <a:t>时间戳对不对</a:t>
            </a:r>
            <a:endParaRPr lang="en-US" sz="1500" dirty="0"/>
          </a:p>
        </p:txBody>
      </p:sp>
      <p:sp>
        <p:nvSpPr>
          <p:cNvPr id="19" name="Text 17"/>
          <p:cNvSpPr/>
          <p:nvPr/>
        </p:nvSpPr>
        <p:spPr>
          <a:xfrm>
            <a:off x="4114800" y="3246120"/>
            <a:ext cx="914400" cy="274320"/>
          </a:xfrm>
          <a:prstGeom prst="rect">
            <a:avLst/>
          </a:prstGeom>
          <a:noFill/>
          <a:ln/>
        </p:spPr>
        <p:txBody>
          <a:bodyPr wrap="square" rtlCol="0" anchor="ctr"/>
          <a:lstStyle/>
          <a:p>
            <a:pPr algn="ctr" indent="0" marL="0">
              <a:buNone/>
            </a:pPr>
            <a:r>
              <a:rPr lang="en-US" sz="1400" dirty="0">
                <a:solidFill>
                  <a:srgbClr val="EF233C"/>
                </a:solidFill>
                <a:latin typeface="Arial" pitchFamily="34" charset="0"/>
                <a:ea typeface="Arial" pitchFamily="34" charset="-122"/>
                <a:cs typeface="Arial" pitchFamily="34" charset="-120"/>
              </a:rPr>
              <a:t>↓</a:t>
            </a:r>
            <a:endParaRPr lang="en-US" sz="1400" dirty="0"/>
          </a:p>
        </p:txBody>
      </p:sp>
      <p:sp>
        <p:nvSpPr>
          <p:cNvPr id="20" name="Shape 18"/>
          <p:cNvSpPr/>
          <p:nvPr/>
        </p:nvSpPr>
        <p:spPr>
          <a:xfrm>
            <a:off x="457200" y="3474720"/>
            <a:ext cx="8229600" cy="1051560"/>
          </a:xfrm>
          <a:prstGeom prst="rect">
            <a:avLst/>
          </a:prstGeom>
          <a:solidFill>
            <a:srgbClr val="2B2D42"/>
          </a:solidFill>
          <a:ln/>
        </p:spPr>
      </p:sp>
      <p:sp>
        <p:nvSpPr>
          <p:cNvPr id="21" name="Shape 19"/>
          <p:cNvSpPr/>
          <p:nvPr/>
        </p:nvSpPr>
        <p:spPr>
          <a:xfrm>
            <a:off x="640080" y="3726180"/>
            <a:ext cx="548640" cy="548640"/>
          </a:xfrm>
          <a:prstGeom prst="ellipse">
            <a:avLst/>
          </a:prstGeom>
          <a:solidFill>
            <a:srgbClr val="EF233C"/>
          </a:solidFill>
          <a:ln/>
        </p:spPr>
      </p:sp>
      <p:sp>
        <p:nvSpPr>
          <p:cNvPr id="22" name="Text 20"/>
          <p:cNvSpPr/>
          <p:nvPr/>
        </p:nvSpPr>
        <p:spPr>
          <a:xfrm>
            <a:off x="640080" y="372618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3" name="Text 21"/>
          <p:cNvSpPr/>
          <p:nvPr/>
        </p:nvSpPr>
        <p:spPr>
          <a:xfrm>
            <a:off x="1371600" y="3611880"/>
            <a:ext cx="1828800" cy="365760"/>
          </a:xfrm>
          <a:prstGeom prst="rect">
            <a:avLst/>
          </a:prstGeom>
          <a:noFill/>
          <a:ln/>
        </p:spPr>
        <p:txBody>
          <a:bodyPr wrap="square"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利益筛子</a:t>
            </a:r>
            <a:endParaRPr lang="en-US" sz="1800" dirty="0"/>
          </a:p>
        </p:txBody>
      </p:sp>
      <p:sp>
        <p:nvSpPr>
          <p:cNvPr id="24" name="Shape 22"/>
          <p:cNvSpPr/>
          <p:nvPr/>
        </p:nvSpPr>
        <p:spPr>
          <a:xfrm>
            <a:off x="3108960" y="3657600"/>
            <a:ext cx="18288" cy="685800"/>
          </a:xfrm>
          <a:prstGeom prst="rect">
            <a:avLst/>
          </a:prstGeom>
          <a:solidFill>
            <a:srgbClr val="FFFFFF">
              <a:alpha val="30000"/>
            </a:srgbClr>
          </a:solidFill>
          <a:ln/>
        </p:spPr>
      </p:sp>
      <p:sp>
        <p:nvSpPr>
          <p:cNvPr id="25" name="Text 23"/>
          <p:cNvSpPr/>
          <p:nvPr/>
        </p:nvSpPr>
        <p:spPr>
          <a:xfrm>
            <a:off x="3291840" y="3474720"/>
            <a:ext cx="5212080" cy="1051560"/>
          </a:xfrm>
          <a:prstGeom prst="rect">
            <a:avLst/>
          </a:prstGeom>
          <a:noFill/>
          <a:ln/>
        </p:spPr>
        <p:txBody>
          <a:bodyPr wrap="square" rtlCol="0" anchor="ctr"/>
          <a:lstStyle/>
          <a:p>
            <a:pPr indent="0" marL="0">
              <a:buNone/>
            </a:pPr>
            <a:r>
              <a:rPr lang="en-US" sz="1500" dirty="0">
                <a:solidFill>
                  <a:srgbClr val="FFFFFF"/>
                </a:solidFill>
                <a:latin typeface="Microsoft YaHei" pitchFamily="34" charset="0"/>
                <a:ea typeface="Microsoft YaHei" pitchFamily="34" charset="-122"/>
                <a:cs typeface="Microsoft YaHei" pitchFamily="34" charset="-120"/>
              </a:rPr>
              <a:t>信息背后有没有利益相关</a:t>
            </a:r>
            <a:endParaRPr lang="en-US" sz="1500" dirty="0"/>
          </a:p>
        </p:txBody>
      </p:sp>
      <p:sp>
        <p:nvSpPr>
          <p:cNvPr id="26" name="Shape 24"/>
          <p:cNvSpPr/>
          <p:nvPr/>
        </p:nvSpPr>
        <p:spPr>
          <a:xfrm>
            <a:off x="457200" y="4251960"/>
            <a:ext cx="8229600" cy="640080"/>
          </a:xfrm>
          <a:prstGeom prst="rect">
            <a:avLst/>
          </a:prstGeom>
          <a:solidFill>
            <a:srgbClr val="FFFFFF"/>
          </a:solidFill>
          <a:ln w="25400">
            <a:solidFill>
              <a:srgbClr val="EF233C"/>
            </a:solidFill>
            <a:prstDash val="solid"/>
          </a:ln>
        </p:spPr>
      </p:sp>
      <p:sp>
        <p:nvSpPr>
          <p:cNvPr id="27" name="Text 25"/>
          <p:cNvSpPr/>
          <p:nvPr/>
        </p:nvSpPr>
        <p:spPr>
          <a:xfrm>
            <a:off x="457200" y="4251960"/>
            <a:ext cx="8229600" cy="640080"/>
          </a:xfrm>
          <a:prstGeom prst="rect">
            <a:avLst/>
          </a:prstGeom>
          <a:noFill/>
          <a:ln/>
        </p:spPr>
        <p:txBody>
          <a:bodyPr wrap="square" rtlCol="0" anchor="ctr"/>
          <a:lstStyle/>
          <a:p>
            <a:pPr algn="ctr" indent="0" marL="0">
              <a:buNone/>
            </a:pPr>
            <a:r>
              <a:rPr lang="en-US" sz="1400" b="1" dirty="0">
                <a:solidFill>
                  <a:srgbClr val="2B2D42"/>
                </a:solidFill>
                <a:latin typeface="Microsoft YaHei" pitchFamily="34" charset="0"/>
                <a:ea typeface="Microsoft YaHei" pitchFamily="34" charset="-122"/>
                <a:cs typeface="Microsoft YaHei" pitchFamily="34" charset="-120"/>
              </a:rPr>
              <a:t>一份吓人的十几个sheet的表格，往往能筛出来真正有用的信息不超过三分之一</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rect">
            <a:avLst/>
          </a:prstGeom>
          <a:solidFill>
            <a:srgbClr val="EF233C"/>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20</a:t>
            </a:r>
            <a:endParaRPr lang="en-US" sz="1600" dirty="0"/>
          </a:p>
        </p:txBody>
      </p:sp>
      <p:sp>
        <p:nvSpPr>
          <p:cNvPr id="4" name="Text 2"/>
          <p:cNvSpPr/>
          <p:nvPr/>
        </p:nvSpPr>
        <p:spPr>
          <a:xfrm>
            <a:off x="457200" y="365760"/>
            <a:ext cx="7772400" cy="54864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极端个案的陷阱</a:t>
            </a:r>
            <a:endParaRPr lang="en-US" sz="3200" dirty="0"/>
          </a:p>
        </p:txBody>
      </p:sp>
      <p:sp>
        <p:nvSpPr>
          <p:cNvPr id="5" name="Shape 3"/>
          <p:cNvSpPr/>
          <p:nvPr/>
        </p:nvSpPr>
        <p:spPr>
          <a:xfrm>
            <a:off x="457200" y="868680"/>
            <a:ext cx="1097280" cy="45720"/>
          </a:xfrm>
          <a:prstGeom prst="rect">
            <a:avLst/>
          </a:prstGeom>
          <a:solidFill>
            <a:srgbClr val="EF233C"/>
          </a:solidFill>
          <a:ln/>
        </p:spPr>
      </p:sp>
      <p:sp>
        <p:nvSpPr>
          <p:cNvPr id="6" name="Shape 4"/>
          <p:cNvSpPr/>
          <p:nvPr/>
        </p:nvSpPr>
        <p:spPr>
          <a:xfrm>
            <a:off x="457200" y="1097280"/>
            <a:ext cx="3931920" cy="2286000"/>
          </a:xfrm>
          <a:prstGeom prst="rect">
            <a:avLst>
              <a:gd name="adj" fmla="val 4000"/>
            </a:avLst>
          </a:prstGeom>
          <a:solidFill>
            <a:srgbClr val="EDF2F4"/>
          </a:solidFill>
          <a:ln/>
        </p:spPr>
      </p:sp>
      <p:sp>
        <p:nvSpPr>
          <p:cNvPr id="7" name="Shape 5"/>
          <p:cNvSpPr/>
          <p:nvPr/>
        </p:nvSpPr>
        <p:spPr>
          <a:xfrm>
            <a:off x="640080" y="1234440"/>
            <a:ext cx="914400" cy="320040"/>
          </a:xfrm>
          <a:prstGeom prst="rect">
            <a:avLst>
              <a:gd name="adj" fmla="val 14286"/>
            </a:avLst>
          </a:prstGeom>
          <a:solidFill>
            <a:srgbClr val="EF233C"/>
          </a:solidFill>
          <a:ln/>
        </p:spPr>
      </p:sp>
      <p:sp>
        <p:nvSpPr>
          <p:cNvPr id="8" name="Text 6"/>
          <p:cNvSpPr/>
          <p:nvPr/>
        </p:nvSpPr>
        <p:spPr>
          <a:xfrm>
            <a:off x="640080" y="1234440"/>
            <a:ext cx="914400" cy="3200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问题</a:t>
            </a:r>
            <a:endParaRPr lang="en-US" sz="1200" dirty="0"/>
          </a:p>
        </p:txBody>
      </p:sp>
      <p:sp>
        <p:nvSpPr>
          <p:cNvPr id="9" name="Text 7"/>
          <p:cNvSpPr/>
          <p:nvPr/>
        </p:nvSpPr>
        <p:spPr>
          <a:xfrm>
            <a:off x="640080" y="1691640"/>
            <a:ext cx="3566160" cy="45720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某专业毕业生失业送外卖</a:t>
            </a:r>
            <a:endParaRPr lang="en-US" sz="1600" dirty="0"/>
          </a:p>
        </p:txBody>
      </p:sp>
      <p:sp>
        <p:nvSpPr>
          <p:cNvPr id="10" name="Text 8"/>
          <p:cNvSpPr/>
          <p:nvPr/>
        </p:nvSpPr>
        <p:spPr>
          <a:xfrm>
            <a:off x="640080" y="2103120"/>
            <a:ext cx="3566160" cy="365760"/>
          </a:xfrm>
          <a:prstGeom prst="rect">
            <a:avLst/>
          </a:prstGeom>
          <a:noFill/>
          <a:ln/>
        </p:spPr>
        <p:txBody>
          <a:bodyPr wrap="square" rtlCol="0" anchor="ctr"/>
          <a:lstStyle/>
          <a:p>
            <a:pPr indent="0" marL="0">
              <a:buNone/>
            </a:pPr>
            <a:r>
              <a:rPr lang="en-US" sz="1400" dirty="0">
                <a:solidFill>
                  <a:srgbClr val="EF233C"/>
                </a:solidFill>
                <a:latin typeface="Microsoft YaHei" pitchFamily="34" charset="0"/>
                <a:ea typeface="Microsoft YaHei" pitchFamily="34" charset="-122"/>
                <a:cs typeface="Microsoft YaHei" pitchFamily="34" charset="-120"/>
              </a:rPr>
              <a:t>→ 传播力强、情绪冲击大</a:t>
            </a:r>
            <a:endParaRPr lang="en-US" sz="1400" dirty="0"/>
          </a:p>
        </p:txBody>
      </p:sp>
      <p:sp>
        <p:nvSpPr>
          <p:cNvPr id="11" name="Shape 9"/>
          <p:cNvSpPr/>
          <p:nvPr/>
        </p:nvSpPr>
        <p:spPr>
          <a:xfrm>
            <a:off x="640080" y="2560320"/>
            <a:ext cx="3566160" cy="18288"/>
          </a:xfrm>
          <a:prstGeom prst="rect">
            <a:avLst/>
          </a:prstGeom>
          <a:solidFill>
            <a:srgbClr val="8D99AE">
              <a:alpha val="40000"/>
            </a:srgbClr>
          </a:solidFill>
          <a:ln/>
        </p:spPr>
      </p:sp>
      <p:sp>
        <p:nvSpPr>
          <p:cNvPr id="12" name="Text 10"/>
          <p:cNvSpPr/>
          <p:nvPr/>
        </p:nvSpPr>
        <p:spPr>
          <a:xfrm>
            <a:off x="640080" y="2697480"/>
            <a:ext cx="3566160" cy="548640"/>
          </a:xfrm>
          <a:prstGeom prst="rect">
            <a:avLst/>
          </a:prstGeom>
          <a:noFill/>
          <a:ln/>
        </p:spPr>
        <p:txBody>
          <a:bodyPr wrap="square" rtlCol="0" anchor="ctr"/>
          <a:lstStyle/>
          <a:p>
            <a:pPr indent="0" marL="0">
              <a:buNone/>
            </a:pPr>
            <a:r>
              <a:rPr lang="en-US" sz="1300" dirty="0">
                <a:solidFill>
                  <a:srgbClr val="8D99AE"/>
                </a:solidFill>
                <a:latin typeface="Microsoft YaHei" pitchFamily="34" charset="0"/>
                <a:ea typeface="Microsoft YaHei" pitchFamily="34" charset="-122"/>
                <a:cs typeface="Microsoft YaHei" pitchFamily="34" charset="-120"/>
              </a:rPr>
              <a:t>这是一个极端样本，不是这个专业毕业生的真实分布</a:t>
            </a:r>
            <a:endParaRPr lang="en-US" sz="1300" dirty="0"/>
          </a:p>
        </p:txBody>
      </p:sp>
      <p:sp>
        <p:nvSpPr>
          <p:cNvPr id="13" name="Text 11"/>
          <p:cNvSpPr/>
          <p:nvPr/>
        </p:nvSpPr>
        <p:spPr>
          <a:xfrm>
            <a:off x="4206240" y="2011680"/>
            <a:ext cx="548640" cy="457200"/>
          </a:xfrm>
          <a:prstGeom prst="rect">
            <a:avLst/>
          </a:prstGeom>
          <a:noFill/>
          <a:ln/>
        </p:spPr>
        <p:txBody>
          <a:bodyPr wrap="square" rtlCol="0" anchor="ctr"/>
          <a:lstStyle/>
          <a:p>
            <a:pPr algn="ctr" indent="0" marL="0">
              <a:buNone/>
            </a:pPr>
            <a:r>
              <a:rPr lang="en-US" sz="2800" b="1" dirty="0">
                <a:solidFill>
                  <a:srgbClr val="EF233C"/>
                </a:solidFill>
                <a:latin typeface="Arial" pitchFamily="34" charset="0"/>
                <a:ea typeface="Arial" pitchFamily="34" charset="-122"/>
                <a:cs typeface="Arial" pitchFamily="34" charset="-120"/>
              </a:rPr>
              <a:t>→</a:t>
            </a:r>
            <a:endParaRPr lang="en-US" sz="2800" dirty="0"/>
          </a:p>
        </p:txBody>
      </p:sp>
      <p:sp>
        <p:nvSpPr>
          <p:cNvPr id="14" name="Shape 12"/>
          <p:cNvSpPr/>
          <p:nvPr/>
        </p:nvSpPr>
        <p:spPr>
          <a:xfrm>
            <a:off x="4572000" y="1097280"/>
            <a:ext cx="4114800" cy="2286000"/>
          </a:xfrm>
          <a:prstGeom prst="rect">
            <a:avLst>
              <a:gd name="adj" fmla="val 4000"/>
            </a:avLst>
          </a:prstGeom>
          <a:solidFill>
            <a:srgbClr val="2B2D42"/>
          </a:solidFill>
          <a:ln/>
        </p:spPr>
      </p:sp>
      <p:sp>
        <p:nvSpPr>
          <p:cNvPr id="15" name="Shape 13"/>
          <p:cNvSpPr/>
          <p:nvPr/>
        </p:nvSpPr>
        <p:spPr>
          <a:xfrm>
            <a:off x="4754880" y="1234440"/>
            <a:ext cx="1097280" cy="320040"/>
          </a:xfrm>
          <a:prstGeom prst="rect">
            <a:avLst>
              <a:gd name="adj" fmla="val 14286"/>
            </a:avLst>
          </a:prstGeom>
          <a:solidFill>
            <a:srgbClr val="EF233C"/>
          </a:solidFill>
          <a:ln/>
        </p:spPr>
      </p:sp>
      <p:sp>
        <p:nvSpPr>
          <p:cNvPr id="16" name="Text 14"/>
          <p:cNvSpPr/>
          <p:nvPr/>
        </p:nvSpPr>
        <p:spPr>
          <a:xfrm>
            <a:off x="4754880" y="1234440"/>
            <a:ext cx="1097280" cy="3200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解决方案</a:t>
            </a:r>
            <a:endParaRPr lang="en-US" sz="1200" dirty="0"/>
          </a:p>
        </p:txBody>
      </p:sp>
      <p:sp>
        <p:nvSpPr>
          <p:cNvPr id="17" name="Text 15"/>
          <p:cNvSpPr/>
          <p:nvPr/>
        </p:nvSpPr>
        <p:spPr>
          <a:xfrm>
            <a:off x="4754880" y="1691640"/>
            <a:ext cx="3749040" cy="1554480"/>
          </a:xfrm>
          <a:prstGeom prst="rect">
            <a:avLst/>
          </a:prstGeom>
          <a:noFill/>
          <a:ln/>
        </p:spPr>
        <p:txBody>
          <a:bodyPr wrap="square" rtlCol="0" anchor="ctr"/>
          <a:lstStyle/>
          <a:p>
            <a:pPr indent="0" marL="0">
              <a:buNone/>
            </a:pPr>
            <a:r>
              <a:rPr lang="en-US" sz="1500" dirty="0">
                <a:solidFill>
                  <a:srgbClr val="FFFFFF"/>
                </a:solidFill>
                <a:latin typeface="Microsoft YaHei" pitchFamily="34" charset="0"/>
                <a:ea typeface="Microsoft YaHei" pitchFamily="34" charset="-122"/>
                <a:cs typeface="Microsoft YaHei" pitchFamily="34" charset="-120"/>
              </a:rPr>
              <a:t>主动找这个专业相对完整的就业分布数据，让家长自己感受极端案例在整体分布里的比例</a:t>
            </a:r>
            <a:endParaRPr lang="en-US" sz="1500" dirty="0"/>
          </a:p>
        </p:txBody>
      </p:sp>
      <p:sp>
        <p:nvSpPr>
          <p:cNvPr id="18" name="Shape 16"/>
          <p:cNvSpPr/>
          <p:nvPr/>
        </p:nvSpPr>
        <p:spPr>
          <a:xfrm>
            <a:off x="457200" y="3611880"/>
            <a:ext cx="8229600" cy="1051560"/>
          </a:xfrm>
          <a:prstGeom prst="rect">
            <a:avLst>
              <a:gd name="adj" fmla="val 8696"/>
            </a:avLst>
          </a:prstGeom>
          <a:solidFill>
            <a:srgbClr val="FFFFFF"/>
          </a:solidFill>
          <a:ln w="25400">
            <a:solidFill>
              <a:srgbClr val="EF233C"/>
            </a:solidFill>
            <a:prstDash val="solid"/>
          </a:ln>
        </p:spPr>
      </p:sp>
      <p:sp>
        <p:nvSpPr>
          <p:cNvPr id="19" name="Shape 17"/>
          <p:cNvSpPr/>
          <p:nvPr/>
        </p:nvSpPr>
        <p:spPr>
          <a:xfrm>
            <a:off x="640080" y="3749040"/>
            <a:ext cx="1280160" cy="320040"/>
          </a:xfrm>
          <a:prstGeom prst="rect">
            <a:avLst>
              <a:gd name="adj" fmla="val 14286"/>
            </a:avLst>
          </a:prstGeom>
          <a:solidFill>
            <a:srgbClr val="EF233C"/>
          </a:solidFill>
          <a:ln/>
        </p:spPr>
      </p:sp>
      <p:sp>
        <p:nvSpPr>
          <p:cNvPr id="20" name="Text 18"/>
          <p:cNvSpPr/>
          <p:nvPr/>
        </p:nvSpPr>
        <p:spPr>
          <a:xfrm>
            <a:off x="640080" y="3749040"/>
            <a:ext cx="1280160" cy="32004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核心洞察</a:t>
            </a:r>
            <a:endParaRPr lang="en-US" sz="1100" dirty="0"/>
          </a:p>
        </p:txBody>
      </p:sp>
      <p:sp>
        <p:nvSpPr>
          <p:cNvPr id="21" name="Text 19"/>
          <p:cNvSpPr/>
          <p:nvPr/>
        </p:nvSpPr>
        <p:spPr>
          <a:xfrm>
            <a:off x="640080" y="4160520"/>
            <a:ext cx="7863840" cy="411480"/>
          </a:xfrm>
          <a:prstGeom prst="rect">
            <a:avLst/>
          </a:prstGeom>
          <a:noFill/>
          <a:ln/>
        </p:spPr>
        <p:txBody>
          <a:bodyPr wrap="square" rtlCol="0" anchor="ctr"/>
          <a:lstStyle/>
          <a:p>
            <a:pPr algn="ctr" indent="0" marL="0">
              <a:buNone/>
            </a:pPr>
            <a:r>
              <a:rPr lang="en-US" sz="2000" b="1" dirty="0">
                <a:solidFill>
                  <a:srgbClr val="2B2D42"/>
                </a:solidFill>
                <a:latin typeface="Microsoft YaHei" pitchFamily="34" charset="0"/>
                <a:ea typeface="Microsoft YaHei" pitchFamily="34" charset="-122"/>
                <a:cs typeface="Microsoft YaHei" pitchFamily="34" charset="-120"/>
              </a:rPr>
              <a:t>统计意义上正确 ≠ 对这个孩子相关</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8412480" y="274320"/>
            <a:ext cx="457200" cy="457200"/>
          </a:xfrm>
          <a:prstGeom prst="ellipse">
            <a:avLst/>
          </a:prstGeom>
          <a:solidFill>
            <a:srgbClr val="2B2D42"/>
          </a:solidFill>
          <a:ln/>
        </p:spPr>
      </p:sp>
      <p:sp>
        <p:nvSpPr>
          <p:cNvPr id="4" name="Text 2"/>
          <p:cNvSpPr/>
          <p:nvPr/>
        </p:nvSpPr>
        <p:spPr>
          <a:xfrm>
            <a:off x="8412480" y="27432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21</a:t>
            </a:r>
            <a:endParaRPr lang="en-US" sz="1400" dirty="0"/>
          </a:p>
        </p:txBody>
      </p:sp>
      <p:sp>
        <p:nvSpPr>
          <p:cNvPr id="5" name="Text 3"/>
          <p:cNvSpPr/>
          <p:nvPr/>
        </p:nvSpPr>
        <p:spPr>
          <a:xfrm>
            <a:off x="457200" y="320040"/>
            <a:ext cx="7772400" cy="54864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保留信息的复杂度</a:t>
            </a:r>
            <a:endParaRPr lang="en-US" sz="3200" dirty="0"/>
          </a:p>
        </p:txBody>
      </p:sp>
      <p:sp>
        <p:nvSpPr>
          <p:cNvPr id="6" name="Shape 4"/>
          <p:cNvSpPr/>
          <p:nvPr/>
        </p:nvSpPr>
        <p:spPr>
          <a:xfrm>
            <a:off x="457200" y="1005840"/>
            <a:ext cx="8229600" cy="822960"/>
          </a:xfrm>
          <a:prstGeom prst="roundRect">
            <a:avLst>
              <a:gd name="adj" fmla="val 8889"/>
            </a:avLst>
          </a:prstGeom>
          <a:solidFill>
            <a:srgbClr val="EDF2F4"/>
          </a:solidFill>
          <a:ln/>
        </p:spPr>
      </p:sp>
      <p:sp>
        <p:nvSpPr>
          <p:cNvPr id="7" name="Text 5"/>
          <p:cNvSpPr/>
          <p:nvPr/>
        </p:nvSpPr>
        <p:spPr>
          <a:xfrm>
            <a:off x="640080" y="1097280"/>
            <a:ext cx="1097280" cy="274320"/>
          </a:xfrm>
          <a:prstGeom prst="rect">
            <a:avLst/>
          </a:prstGeom>
          <a:noFill/>
          <a:ln/>
        </p:spPr>
        <p:txBody>
          <a:bodyPr wrap="square" rtlCol="0" anchor="ctr"/>
          <a:lstStyle/>
          <a:p>
            <a:pPr indent="0" marL="0">
              <a:buNone/>
            </a:pPr>
            <a:r>
              <a:rPr lang="en-US" sz="1100" b="1" dirty="0">
                <a:solidFill>
                  <a:srgbClr val="EF233C"/>
                </a:solidFill>
                <a:latin typeface="Microsoft YaHei" pitchFamily="34" charset="0"/>
                <a:ea typeface="Microsoft YaHei" pitchFamily="34" charset="-122"/>
                <a:cs typeface="Microsoft YaHei" pitchFamily="34" charset="-120"/>
              </a:rPr>
              <a:t>核心洞察</a:t>
            </a:r>
            <a:endParaRPr lang="en-US" sz="1100" dirty="0"/>
          </a:p>
        </p:txBody>
      </p:sp>
      <p:sp>
        <p:nvSpPr>
          <p:cNvPr id="8" name="Text 6"/>
          <p:cNvSpPr/>
          <p:nvPr/>
        </p:nvSpPr>
        <p:spPr>
          <a:xfrm>
            <a:off x="640080" y="1371600"/>
            <a:ext cx="7863840" cy="36576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不能为了让对方轻松接受，把信息简化成一句斩钉截铁的结论</a:t>
            </a:r>
            <a:endParaRPr lang="en-US" sz="1600" dirty="0"/>
          </a:p>
        </p:txBody>
      </p:sp>
      <p:sp>
        <p:nvSpPr>
          <p:cNvPr id="9" name="Shape 7"/>
          <p:cNvSpPr/>
          <p:nvPr/>
        </p:nvSpPr>
        <p:spPr>
          <a:xfrm>
            <a:off x="457200" y="2011680"/>
            <a:ext cx="73152" cy="1188720"/>
          </a:xfrm>
          <a:prstGeom prst="rect">
            <a:avLst/>
          </a:prstGeom>
          <a:solidFill>
            <a:srgbClr val="EF233C"/>
          </a:solidFill>
          <a:ln/>
        </p:spPr>
      </p:sp>
      <p:sp>
        <p:nvSpPr>
          <p:cNvPr id="10" name="Text 8"/>
          <p:cNvSpPr/>
          <p:nvPr/>
        </p:nvSpPr>
        <p:spPr>
          <a:xfrm>
            <a:off x="685800" y="2011680"/>
            <a:ext cx="731520" cy="365760"/>
          </a:xfrm>
          <a:prstGeom prst="rect">
            <a:avLst/>
          </a:prstGeom>
          <a:noFill/>
          <a:ln/>
        </p:spPr>
        <p:txBody>
          <a:bodyPr wrap="square" rtlCol="0" anchor="ctr"/>
          <a:lstStyle/>
          <a:p>
            <a:pPr indent="0" marL="0">
              <a:buNone/>
            </a:pPr>
            <a:r>
              <a:rPr lang="en-US" sz="1400" b="1" dirty="0">
                <a:solidFill>
                  <a:srgbClr val="EF233C"/>
                </a:solidFill>
                <a:latin typeface="Microsoft YaHei" pitchFamily="34" charset="0"/>
                <a:ea typeface="Microsoft YaHei" pitchFamily="34" charset="-122"/>
                <a:cs typeface="Microsoft YaHei" pitchFamily="34" charset="-120"/>
              </a:rPr>
              <a:t>不好</a:t>
            </a:r>
            <a:endParaRPr lang="en-US" sz="1400" dirty="0"/>
          </a:p>
        </p:txBody>
      </p:sp>
      <p:sp>
        <p:nvSpPr>
          <p:cNvPr id="11" name="Text 9"/>
          <p:cNvSpPr/>
          <p:nvPr/>
        </p:nvSpPr>
        <p:spPr>
          <a:xfrm>
            <a:off x="685800" y="2377440"/>
            <a:ext cx="3657600" cy="73152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把存在不确定性的信息包装成非常确定的判断</a:t>
            </a:r>
            <a:endParaRPr lang="en-US" sz="1400" dirty="0"/>
          </a:p>
        </p:txBody>
      </p:sp>
      <p:sp>
        <p:nvSpPr>
          <p:cNvPr id="12" name="Shape 10"/>
          <p:cNvSpPr/>
          <p:nvPr/>
        </p:nvSpPr>
        <p:spPr>
          <a:xfrm>
            <a:off x="4572000" y="2011680"/>
            <a:ext cx="73152" cy="1188720"/>
          </a:xfrm>
          <a:prstGeom prst="rect">
            <a:avLst/>
          </a:prstGeom>
          <a:solidFill>
            <a:srgbClr val="2B2D42"/>
          </a:solidFill>
          <a:ln/>
        </p:spPr>
      </p:sp>
      <p:sp>
        <p:nvSpPr>
          <p:cNvPr id="13" name="Text 11"/>
          <p:cNvSpPr/>
          <p:nvPr/>
        </p:nvSpPr>
        <p:spPr>
          <a:xfrm>
            <a:off x="4800600" y="2011680"/>
            <a:ext cx="731520" cy="365760"/>
          </a:xfrm>
          <a:prstGeom prst="rect">
            <a:avLst/>
          </a:prstGeom>
          <a:noFill/>
          <a:ln/>
        </p:spPr>
        <p:txBody>
          <a:bodyPr wrap="square" rtlCol="0" anchor="ctr"/>
          <a:lstStyle/>
          <a:p>
            <a:pPr indent="0" marL="0">
              <a:buNone/>
            </a:pPr>
            <a:r>
              <a:rPr lang="en-US" sz="1400" b="1" dirty="0">
                <a:solidFill>
                  <a:srgbClr val="2B2D42"/>
                </a:solidFill>
                <a:latin typeface="Microsoft YaHei" pitchFamily="34" charset="0"/>
                <a:ea typeface="Microsoft YaHei" pitchFamily="34" charset="-122"/>
                <a:cs typeface="Microsoft YaHei" pitchFamily="34" charset="-120"/>
              </a:rPr>
              <a:t>好</a:t>
            </a:r>
            <a:endParaRPr lang="en-US" sz="1400" dirty="0"/>
          </a:p>
        </p:txBody>
      </p:sp>
      <p:sp>
        <p:nvSpPr>
          <p:cNvPr id="14" name="Text 12"/>
          <p:cNvSpPr/>
          <p:nvPr/>
        </p:nvSpPr>
        <p:spPr>
          <a:xfrm>
            <a:off x="4800600" y="2377440"/>
            <a:ext cx="3886200" cy="73152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保留信息的真实复杂度</a:t>
            </a:r>
            <a:endParaRPr lang="en-US" sz="1400" dirty="0"/>
          </a:p>
        </p:txBody>
      </p:sp>
      <p:sp>
        <p:nvSpPr>
          <p:cNvPr id="15" name="Shape 13"/>
          <p:cNvSpPr/>
          <p:nvPr/>
        </p:nvSpPr>
        <p:spPr>
          <a:xfrm>
            <a:off x="457200" y="3474720"/>
            <a:ext cx="8229600" cy="1280160"/>
          </a:xfrm>
          <a:prstGeom prst="roundRect">
            <a:avLst>
              <a:gd name="adj" fmla="val 7143"/>
            </a:avLst>
          </a:prstGeom>
          <a:solidFill>
            <a:srgbClr val="FFFFFF"/>
          </a:solidFill>
          <a:ln w="25400">
            <a:solidFill>
              <a:srgbClr val="2B2D42"/>
            </a:solidFill>
            <a:prstDash val="solid"/>
          </a:ln>
        </p:spPr>
      </p:sp>
      <p:sp>
        <p:nvSpPr>
          <p:cNvPr id="16" name="Text 14"/>
          <p:cNvSpPr/>
          <p:nvPr/>
        </p:nvSpPr>
        <p:spPr>
          <a:xfrm>
            <a:off x="640080" y="3383280"/>
            <a:ext cx="457200" cy="548640"/>
          </a:xfrm>
          <a:prstGeom prst="rect">
            <a:avLst/>
          </a:prstGeom>
          <a:noFill/>
          <a:ln/>
        </p:spPr>
        <p:txBody>
          <a:bodyPr wrap="square" rtlCol="0" anchor="ctr"/>
          <a:lstStyle/>
          <a:p>
            <a:pPr indent="0" marL="0">
              <a:buNone/>
            </a:pPr>
            <a:r>
              <a:rPr lang="en-US" sz="4800" b="1" dirty="0">
                <a:solidFill>
                  <a:srgbClr val="EF233C"/>
                </a:solidFill>
                <a:latin typeface="Georgia" pitchFamily="34" charset="0"/>
                <a:ea typeface="Georgia" pitchFamily="34" charset="-122"/>
                <a:cs typeface="Georgia" pitchFamily="34" charset="-120"/>
              </a:rPr>
              <a:t>“</a:t>
            </a:r>
            <a:endParaRPr lang="en-US" sz="4800" dirty="0"/>
          </a:p>
        </p:txBody>
      </p:sp>
      <p:sp>
        <p:nvSpPr>
          <p:cNvPr id="17" name="Text 15"/>
          <p:cNvSpPr/>
          <p:nvPr/>
        </p:nvSpPr>
        <p:spPr>
          <a:xfrm>
            <a:off x="1097280" y="3749040"/>
            <a:ext cx="7132320" cy="731520"/>
          </a:xfrm>
          <a:prstGeom prst="rect">
            <a:avLst/>
          </a:prstGeom>
          <a:noFill/>
          <a:ln/>
        </p:spPr>
        <p:txBody>
          <a:bodyPr wrap="square" rtlCol="0" anchor="ctr"/>
          <a:lstStyle/>
          <a:p>
            <a:pPr indent="0" marL="0">
              <a:buNone/>
            </a:pPr>
            <a:r>
              <a:rPr lang="en-US" sz="1800" b="1" dirty="0">
                <a:solidFill>
                  <a:srgbClr val="2B2D42"/>
                </a:solidFill>
                <a:latin typeface="Microsoft YaHei" pitchFamily="34" charset="0"/>
                <a:ea typeface="Microsoft YaHei" pitchFamily="34" charset="-122"/>
                <a:cs typeface="Microsoft YaHei" pitchFamily="34" charset="-120"/>
              </a:rPr>
              <a:t>宁可多花几句话，把确定的部分和不确定的部分分开说清楚</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457200" y="274320"/>
            <a:ext cx="640080" cy="457200"/>
          </a:xfrm>
          <a:prstGeom prst="roundRect">
            <a:avLst>
              <a:gd name="adj" fmla="val 10000"/>
            </a:avLst>
          </a:prstGeom>
          <a:solidFill>
            <a:srgbClr val="2B2D42"/>
          </a:solidFill>
          <a:ln/>
        </p:spPr>
      </p:sp>
      <p:sp>
        <p:nvSpPr>
          <p:cNvPr id="4" name="Text 2"/>
          <p:cNvSpPr/>
          <p:nvPr/>
        </p:nvSpPr>
        <p:spPr>
          <a:xfrm>
            <a:off x="457200" y="274320"/>
            <a:ext cx="64008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04</a:t>
            </a:r>
            <a:endParaRPr lang="en-US" sz="1600" dirty="0"/>
          </a:p>
        </p:txBody>
      </p:sp>
      <p:sp>
        <p:nvSpPr>
          <p:cNvPr id="5" name="Shape 3"/>
          <p:cNvSpPr/>
          <p:nvPr/>
        </p:nvSpPr>
        <p:spPr>
          <a:xfrm>
            <a:off x="8412480" y="274320"/>
            <a:ext cx="457200" cy="457200"/>
          </a:xfrm>
          <a:prstGeom prst="ellipse">
            <a:avLst/>
          </a:prstGeom>
          <a:solidFill>
            <a:srgbClr val="2B2D42"/>
          </a:solidFill>
          <a:ln/>
        </p:spPr>
      </p:sp>
      <p:sp>
        <p:nvSpPr>
          <p:cNvPr id="6" name="Text 4"/>
          <p:cNvSpPr/>
          <p:nvPr/>
        </p:nvSpPr>
        <p:spPr>
          <a:xfrm>
            <a:off x="8412480" y="27432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22</a:t>
            </a:r>
            <a:endParaRPr lang="en-US" sz="1400" dirty="0"/>
          </a:p>
        </p:txBody>
      </p:sp>
      <p:sp>
        <p:nvSpPr>
          <p:cNvPr id="7" name="Text 5"/>
          <p:cNvSpPr/>
          <p:nvPr/>
        </p:nvSpPr>
        <p:spPr>
          <a:xfrm>
            <a:off x="1280160" y="274320"/>
            <a:ext cx="6949440" cy="548640"/>
          </a:xfrm>
          <a:prstGeom prst="rect">
            <a:avLst/>
          </a:prstGeom>
          <a:noFill/>
          <a:ln/>
        </p:spPr>
        <p:txBody>
          <a:bodyPr wrap="square" rtlCol="0" anchor="ctr"/>
          <a:lstStyle/>
          <a:p>
            <a:pPr indent="0" marL="0">
              <a:buNone/>
            </a:pPr>
            <a:r>
              <a:rPr lang="en-US" sz="2600" b="1" dirty="0">
                <a:solidFill>
                  <a:srgbClr val="2B2D42"/>
                </a:solidFill>
                <a:latin typeface="Microsoft YaHei" pitchFamily="34" charset="0"/>
                <a:ea typeface="Microsoft YaHei" pitchFamily="34" charset="-122"/>
                <a:cs typeface="Microsoft YaHei" pitchFamily="34" charset="-120"/>
              </a:rPr>
              <a:t>产业判断不是背专业介绍，是判断五年后这行还在不在</a:t>
            </a:r>
            <a:endParaRPr lang="en-US" sz="2600" dirty="0"/>
          </a:p>
        </p:txBody>
      </p:sp>
      <p:sp>
        <p:nvSpPr>
          <p:cNvPr id="8" name="Shape 6"/>
          <p:cNvSpPr/>
          <p:nvPr/>
        </p:nvSpPr>
        <p:spPr>
          <a:xfrm>
            <a:off x="457200" y="1005840"/>
            <a:ext cx="8229600" cy="1280160"/>
          </a:xfrm>
          <a:prstGeom prst="roundRect">
            <a:avLst>
              <a:gd name="adj" fmla="val 7143"/>
            </a:avLst>
          </a:prstGeom>
          <a:solidFill>
            <a:srgbClr val="EDF2F4"/>
          </a:solidFill>
          <a:ln/>
        </p:spPr>
      </p:sp>
      <p:sp>
        <p:nvSpPr>
          <p:cNvPr id="9" name="Text 7"/>
          <p:cNvSpPr/>
          <p:nvPr/>
        </p:nvSpPr>
        <p:spPr>
          <a:xfrm>
            <a:off x="640080" y="914400"/>
            <a:ext cx="457200" cy="548640"/>
          </a:xfrm>
          <a:prstGeom prst="rect">
            <a:avLst/>
          </a:prstGeom>
          <a:noFill/>
          <a:ln/>
        </p:spPr>
        <p:txBody>
          <a:bodyPr wrap="square" rtlCol="0" anchor="ctr"/>
          <a:lstStyle/>
          <a:p>
            <a:pPr indent="0" marL="0">
              <a:buNone/>
            </a:pPr>
            <a:r>
              <a:rPr lang="en-US" sz="4800" b="1" dirty="0">
                <a:solidFill>
                  <a:srgbClr val="EF233C"/>
                </a:solidFill>
                <a:latin typeface="Georgia" pitchFamily="34" charset="0"/>
                <a:ea typeface="Georgia" pitchFamily="34" charset="-122"/>
                <a:cs typeface="Georgia" pitchFamily="34" charset="-120"/>
              </a:rPr>
              <a:t>“</a:t>
            </a:r>
            <a:endParaRPr lang="en-US" sz="4800" dirty="0"/>
          </a:p>
        </p:txBody>
      </p:sp>
      <p:sp>
        <p:nvSpPr>
          <p:cNvPr id="10" name="Text 8"/>
          <p:cNvSpPr/>
          <p:nvPr/>
        </p:nvSpPr>
        <p:spPr>
          <a:xfrm>
            <a:off x="1097280" y="1188720"/>
            <a:ext cx="7315200" cy="91440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专业介绍讲的是这个专业现在是什么样，产业判断讲的是四年后这个孩子毕业时，这个行业会变成什么样</a:t>
            </a:r>
            <a:endParaRPr lang="en-US" sz="1600" dirty="0"/>
          </a:p>
        </p:txBody>
      </p:sp>
      <p:sp>
        <p:nvSpPr>
          <p:cNvPr id="11" name="Shape 9"/>
          <p:cNvSpPr/>
          <p:nvPr/>
        </p:nvSpPr>
        <p:spPr>
          <a:xfrm>
            <a:off x="457200" y="2468880"/>
            <a:ext cx="8229600" cy="914400"/>
          </a:xfrm>
          <a:prstGeom prst="roundRect">
            <a:avLst>
              <a:gd name="adj" fmla="val 8000"/>
            </a:avLst>
          </a:prstGeom>
          <a:solidFill>
            <a:srgbClr val="FFFFFF"/>
          </a:solidFill>
          <a:ln w="12700">
            <a:solidFill>
              <a:srgbClr val="8D99AE"/>
            </a:solidFill>
            <a:prstDash val="solid"/>
          </a:ln>
        </p:spPr>
      </p:sp>
      <p:sp>
        <p:nvSpPr>
          <p:cNvPr id="12" name="Text 10"/>
          <p:cNvSpPr/>
          <p:nvPr/>
        </p:nvSpPr>
        <p:spPr>
          <a:xfrm>
            <a:off x="640080" y="2560320"/>
            <a:ext cx="731520" cy="320040"/>
          </a:xfrm>
          <a:prstGeom prst="rect">
            <a:avLst/>
          </a:prstGeom>
          <a:noFill/>
          <a:ln/>
        </p:spPr>
        <p:txBody>
          <a:bodyPr wrap="square" rtlCol="0" anchor="ctr"/>
          <a:lstStyle/>
          <a:p>
            <a:pPr indent="0" marL="0">
              <a:buNone/>
            </a:pPr>
            <a:r>
              <a:rPr lang="en-US" sz="1200" b="1" dirty="0">
                <a:solidFill>
                  <a:srgbClr val="EF233C"/>
                </a:solidFill>
                <a:latin typeface="Microsoft YaHei" pitchFamily="34" charset="0"/>
                <a:ea typeface="Microsoft YaHei" pitchFamily="34" charset="-122"/>
                <a:cs typeface="Microsoft YaHei" pitchFamily="34" charset="-120"/>
              </a:rPr>
              <a:t>案例</a:t>
            </a:r>
            <a:endParaRPr lang="en-US" sz="1200" dirty="0"/>
          </a:p>
        </p:txBody>
      </p:sp>
      <p:sp>
        <p:nvSpPr>
          <p:cNvPr id="13" name="Text 11"/>
          <p:cNvSpPr/>
          <p:nvPr/>
        </p:nvSpPr>
        <p:spPr>
          <a:xfrm>
            <a:off x="640080" y="2880360"/>
            <a:ext cx="7863840" cy="365760"/>
          </a:xfrm>
          <a:prstGeom prst="rect">
            <a:avLst/>
          </a:prstGeom>
          <a:noFill/>
          <a:ln/>
        </p:spPr>
        <p:txBody>
          <a:bodyPr wrap="square" rtlCol="0" anchor="ctr"/>
          <a:lstStyle/>
          <a:p>
            <a:pPr indent="0" marL="0">
              <a:buNone/>
            </a:pPr>
            <a:r>
              <a:rPr lang="en-US" sz="1500" dirty="0">
                <a:solidFill>
                  <a:srgbClr val="8D99AE"/>
                </a:solidFill>
                <a:latin typeface="Microsoft YaHei" pitchFamily="34" charset="0"/>
                <a:ea typeface="Microsoft YaHei" pitchFamily="34" charset="-122"/>
                <a:cs typeface="Microsoft YaHei" pitchFamily="34" charset="-120"/>
              </a:rPr>
              <a:t>一个母亲问"计算机这个专业到底怎么样"</a:t>
            </a:r>
            <a:endParaRPr lang="en-US" sz="1500" dirty="0"/>
          </a:p>
        </p:txBody>
      </p:sp>
      <p:sp>
        <p:nvSpPr>
          <p:cNvPr id="14" name="Shape 12"/>
          <p:cNvSpPr/>
          <p:nvPr/>
        </p:nvSpPr>
        <p:spPr>
          <a:xfrm>
            <a:off x="457200" y="3566160"/>
            <a:ext cx="8229600" cy="1188720"/>
          </a:xfrm>
          <a:prstGeom prst="roundRect">
            <a:avLst>
              <a:gd name="adj" fmla="val 7692"/>
            </a:avLst>
          </a:prstGeom>
          <a:solidFill>
            <a:srgbClr val="FFFFFF"/>
          </a:solidFill>
          <a:ln w="25400">
            <a:solidFill>
              <a:srgbClr val="EF233C"/>
            </a:solidFill>
            <a:prstDash val="solid"/>
          </a:ln>
        </p:spPr>
      </p:sp>
      <p:sp>
        <p:nvSpPr>
          <p:cNvPr id="15" name="Text 13"/>
          <p:cNvSpPr/>
          <p:nvPr/>
        </p:nvSpPr>
        <p:spPr>
          <a:xfrm>
            <a:off x="640080" y="3657600"/>
            <a:ext cx="1097280" cy="320040"/>
          </a:xfrm>
          <a:prstGeom prst="rect">
            <a:avLst/>
          </a:prstGeom>
          <a:noFill/>
          <a:ln/>
        </p:spPr>
        <p:txBody>
          <a:bodyPr wrap="square" rtlCol="0" anchor="ctr"/>
          <a:lstStyle/>
          <a:p>
            <a:pPr indent="0" marL="0">
              <a:buNone/>
            </a:pPr>
            <a:r>
              <a:rPr lang="en-US" sz="1200" b="1" dirty="0">
                <a:solidFill>
                  <a:srgbClr val="EF233C"/>
                </a:solidFill>
                <a:latin typeface="Microsoft YaHei" pitchFamily="34" charset="0"/>
                <a:ea typeface="Microsoft YaHei" pitchFamily="34" charset="-122"/>
                <a:cs typeface="Microsoft YaHei" pitchFamily="34" charset="-120"/>
              </a:rPr>
              <a:t>关键问题</a:t>
            </a:r>
            <a:endParaRPr lang="en-US" sz="1200" dirty="0"/>
          </a:p>
        </p:txBody>
      </p:sp>
      <p:sp>
        <p:nvSpPr>
          <p:cNvPr id="16" name="Text 14"/>
          <p:cNvSpPr/>
          <p:nvPr/>
        </p:nvSpPr>
        <p:spPr>
          <a:xfrm>
            <a:off x="640080" y="4023360"/>
            <a:ext cx="7863840" cy="548640"/>
          </a:xfrm>
          <a:prstGeom prst="rect">
            <a:avLst/>
          </a:prstGeom>
          <a:noFill/>
          <a:ln/>
        </p:spPr>
        <p:txBody>
          <a:bodyPr wrap="square" rtlCol="0" anchor="ctr"/>
          <a:lstStyle/>
          <a:p>
            <a:pPr indent="0" marL="0">
              <a:buNone/>
            </a:pPr>
            <a:r>
              <a:rPr lang="en-US" sz="2000" b="1" dirty="0">
                <a:solidFill>
                  <a:srgbClr val="2B2D42"/>
                </a:solidFill>
                <a:latin typeface="Microsoft YaHei" pitchFamily="34" charset="0"/>
                <a:ea typeface="Microsoft YaHei" pitchFamily="34" charset="-122"/>
                <a:cs typeface="Microsoft YaHei" pitchFamily="34" charset="-120"/>
              </a:rPr>
              <a:t>你说的是今年大一入学，还是四年后大四毕业找工作的时候？</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8412480" y="274320"/>
            <a:ext cx="457200" cy="457200"/>
          </a:xfrm>
          <a:prstGeom prst="ellipse">
            <a:avLst/>
          </a:prstGeom>
          <a:solidFill>
            <a:srgbClr val="2B2D42"/>
          </a:solidFill>
          <a:ln/>
        </p:spPr>
      </p:sp>
      <p:sp>
        <p:nvSpPr>
          <p:cNvPr id="4" name="Text 2"/>
          <p:cNvSpPr/>
          <p:nvPr/>
        </p:nvSpPr>
        <p:spPr>
          <a:xfrm>
            <a:off x="8412480" y="27432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23</a:t>
            </a:r>
            <a:endParaRPr lang="en-US" sz="1400" dirty="0"/>
          </a:p>
        </p:txBody>
      </p:sp>
      <p:sp>
        <p:nvSpPr>
          <p:cNvPr id="5" name="Text 3"/>
          <p:cNvSpPr/>
          <p:nvPr/>
        </p:nvSpPr>
        <p:spPr>
          <a:xfrm>
            <a:off x="457200" y="320040"/>
            <a:ext cx="7772400" cy="54864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产业判断三问</a:t>
            </a:r>
            <a:endParaRPr lang="en-US" sz="3200" dirty="0"/>
          </a:p>
        </p:txBody>
      </p:sp>
      <p:sp>
        <p:nvSpPr>
          <p:cNvPr id="6" name="Shape 4"/>
          <p:cNvSpPr/>
          <p:nvPr/>
        </p:nvSpPr>
        <p:spPr>
          <a:xfrm>
            <a:off x="457200" y="1005840"/>
            <a:ext cx="8229600" cy="1051560"/>
          </a:xfrm>
          <a:prstGeom prst="roundRect">
            <a:avLst>
              <a:gd name="adj" fmla="val 6957"/>
            </a:avLst>
          </a:prstGeom>
          <a:solidFill>
            <a:srgbClr val="FFFFFF"/>
          </a:solidFill>
          <a:ln w="12700">
            <a:solidFill>
              <a:srgbClr val="EDF2F4"/>
            </a:solidFill>
            <a:prstDash val="solid"/>
          </a:ln>
        </p:spPr>
      </p:sp>
      <p:sp>
        <p:nvSpPr>
          <p:cNvPr id="7" name="Shape 5"/>
          <p:cNvSpPr/>
          <p:nvPr/>
        </p:nvSpPr>
        <p:spPr>
          <a:xfrm>
            <a:off x="640080" y="1234440"/>
            <a:ext cx="548640" cy="548640"/>
          </a:xfrm>
          <a:prstGeom prst="ellipse">
            <a:avLst/>
          </a:prstGeom>
          <a:solidFill>
            <a:srgbClr val="2B2D42"/>
          </a:solidFill>
          <a:ln/>
        </p:spPr>
      </p:sp>
      <p:sp>
        <p:nvSpPr>
          <p:cNvPr id="8" name="Text 6"/>
          <p:cNvSpPr/>
          <p:nvPr/>
        </p:nvSpPr>
        <p:spPr>
          <a:xfrm>
            <a:off x="640080" y="123444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7"/>
          <p:cNvSpPr/>
          <p:nvPr/>
        </p:nvSpPr>
        <p:spPr>
          <a:xfrm>
            <a:off x="1371600" y="1143000"/>
            <a:ext cx="7132320" cy="77724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这个行业解决的问题是不是真实且长期存在的需求？</a:t>
            </a:r>
            <a:endParaRPr lang="en-US" sz="1600" dirty="0"/>
          </a:p>
        </p:txBody>
      </p:sp>
      <p:sp>
        <p:nvSpPr>
          <p:cNvPr id="10" name="Shape 8"/>
          <p:cNvSpPr/>
          <p:nvPr/>
        </p:nvSpPr>
        <p:spPr>
          <a:xfrm>
            <a:off x="457200" y="2194560"/>
            <a:ext cx="8229600" cy="1051560"/>
          </a:xfrm>
          <a:prstGeom prst="roundRect">
            <a:avLst>
              <a:gd name="adj" fmla="val 6957"/>
            </a:avLst>
          </a:prstGeom>
          <a:solidFill>
            <a:srgbClr val="FFFFFF"/>
          </a:solidFill>
          <a:ln w="12700">
            <a:solidFill>
              <a:srgbClr val="EDF2F4"/>
            </a:solidFill>
            <a:prstDash val="solid"/>
          </a:ln>
        </p:spPr>
      </p:sp>
      <p:sp>
        <p:nvSpPr>
          <p:cNvPr id="11" name="Shape 9"/>
          <p:cNvSpPr/>
          <p:nvPr/>
        </p:nvSpPr>
        <p:spPr>
          <a:xfrm>
            <a:off x="640080" y="2423160"/>
            <a:ext cx="548640" cy="548640"/>
          </a:xfrm>
          <a:prstGeom prst="ellipse">
            <a:avLst/>
          </a:prstGeom>
          <a:solidFill>
            <a:srgbClr val="2B2D42"/>
          </a:solidFill>
          <a:ln/>
        </p:spPr>
      </p:sp>
      <p:sp>
        <p:nvSpPr>
          <p:cNvPr id="12" name="Text 10"/>
          <p:cNvSpPr/>
          <p:nvPr/>
        </p:nvSpPr>
        <p:spPr>
          <a:xfrm>
            <a:off x="640080" y="242316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1"/>
          <p:cNvSpPr/>
          <p:nvPr/>
        </p:nvSpPr>
        <p:spPr>
          <a:xfrm>
            <a:off x="1371600" y="2331720"/>
            <a:ext cx="7132320" cy="77724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核心壁垒是不是容易被AI替代的那种？</a:t>
            </a:r>
            <a:endParaRPr lang="en-US" sz="1600" dirty="0"/>
          </a:p>
        </p:txBody>
      </p:sp>
      <p:sp>
        <p:nvSpPr>
          <p:cNvPr id="14" name="Shape 12"/>
          <p:cNvSpPr/>
          <p:nvPr/>
        </p:nvSpPr>
        <p:spPr>
          <a:xfrm>
            <a:off x="457200" y="3383280"/>
            <a:ext cx="8229600" cy="1051560"/>
          </a:xfrm>
          <a:prstGeom prst="roundRect">
            <a:avLst>
              <a:gd name="adj" fmla="val 6957"/>
            </a:avLst>
          </a:prstGeom>
          <a:solidFill>
            <a:srgbClr val="FFFFFF"/>
          </a:solidFill>
          <a:ln w="12700">
            <a:solidFill>
              <a:srgbClr val="EDF2F4"/>
            </a:solidFill>
            <a:prstDash val="solid"/>
          </a:ln>
        </p:spPr>
      </p:sp>
      <p:sp>
        <p:nvSpPr>
          <p:cNvPr id="15" name="Shape 13"/>
          <p:cNvSpPr/>
          <p:nvPr/>
        </p:nvSpPr>
        <p:spPr>
          <a:xfrm>
            <a:off x="640080" y="3611880"/>
            <a:ext cx="548640" cy="548640"/>
          </a:xfrm>
          <a:prstGeom prst="ellipse">
            <a:avLst/>
          </a:prstGeom>
          <a:solidFill>
            <a:srgbClr val="2B2D42"/>
          </a:solidFill>
          <a:ln/>
        </p:spPr>
      </p:sp>
      <p:sp>
        <p:nvSpPr>
          <p:cNvPr id="16" name="Text 14"/>
          <p:cNvSpPr/>
          <p:nvPr/>
        </p:nvSpPr>
        <p:spPr>
          <a:xfrm>
            <a:off x="640080" y="361188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5"/>
          <p:cNvSpPr/>
          <p:nvPr/>
        </p:nvSpPr>
        <p:spPr>
          <a:xfrm>
            <a:off x="1371600" y="3520440"/>
            <a:ext cx="7132320" cy="77724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现在是扩张期、成熟期还是收缩期？</a:t>
            </a:r>
            <a:endParaRPr lang="en-US" sz="1600" dirty="0"/>
          </a:p>
        </p:txBody>
      </p:sp>
      <p:sp>
        <p:nvSpPr>
          <p:cNvPr id="18" name="Shape 16"/>
          <p:cNvSpPr/>
          <p:nvPr/>
        </p:nvSpPr>
        <p:spPr>
          <a:xfrm>
            <a:off x="457200" y="4343400"/>
            <a:ext cx="8229600" cy="594360"/>
          </a:xfrm>
          <a:prstGeom prst="roundRect">
            <a:avLst>
              <a:gd name="adj" fmla="val 12308"/>
            </a:avLst>
          </a:prstGeom>
          <a:solidFill>
            <a:srgbClr val="EDF2F4"/>
          </a:solidFill>
          <a:ln/>
        </p:spPr>
      </p:sp>
      <p:sp>
        <p:nvSpPr>
          <p:cNvPr id="19" name="Text 17"/>
          <p:cNvSpPr/>
          <p:nvPr/>
        </p:nvSpPr>
        <p:spPr>
          <a:xfrm>
            <a:off x="640080" y="4343400"/>
            <a:ext cx="7863840" cy="594360"/>
          </a:xfrm>
          <a:prstGeom prst="rect">
            <a:avLst/>
          </a:prstGeom>
          <a:noFill/>
          <a:ln/>
        </p:spPr>
        <p:txBody>
          <a:bodyPr wrap="square" rtlCol="0" anchor="ctr"/>
          <a:lstStyle/>
          <a:p>
            <a:pPr indent="0" marL="0">
              <a:buNone/>
            </a:pPr>
            <a:r>
              <a:rPr lang="en-US" sz="1400" b="1" dirty="0">
                <a:solidFill>
                  <a:srgbClr val="EF233C"/>
                </a:solidFill>
                <a:latin typeface="Microsoft YaHei" pitchFamily="34" charset="0"/>
                <a:ea typeface="Microsoft YaHei" pitchFamily="34" charset="-122"/>
                <a:cs typeface="Microsoft YaHei" pitchFamily="34" charset="-120"/>
              </a:rPr>
              <a:t>这三件事问完，往往会得出跟"专业介绍"完全不同的答案</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8412480" y="274320"/>
            <a:ext cx="457200" cy="457200"/>
          </a:xfrm>
          <a:prstGeom prst="rect">
            <a:avLst/>
          </a:prstGeom>
          <a:solidFill>
            <a:srgbClr val="2B2D42"/>
          </a:solidFill>
          <a:ln/>
        </p:spPr>
      </p:sp>
      <p:sp>
        <p:nvSpPr>
          <p:cNvPr id="4" name="Text 2"/>
          <p:cNvSpPr/>
          <p:nvPr/>
        </p:nvSpPr>
        <p:spPr>
          <a:xfrm>
            <a:off x="8412480" y="27432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24</a:t>
            </a:r>
            <a:endParaRPr lang="en-US" sz="1400" dirty="0"/>
          </a:p>
        </p:txBody>
      </p:sp>
      <p:sp>
        <p:nvSpPr>
          <p:cNvPr id="5" name="Text 3"/>
          <p:cNvSpPr/>
          <p:nvPr/>
        </p:nvSpPr>
        <p:spPr>
          <a:xfrm>
            <a:off x="457200" y="320040"/>
            <a:ext cx="7772400" cy="54864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真实的产业信号</a:t>
            </a:r>
            <a:endParaRPr lang="en-US" sz="3200" dirty="0"/>
          </a:p>
        </p:txBody>
      </p:sp>
      <p:sp>
        <p:nvSpPr>
          <p:cNvPr id="6" name="Shape 4"/>
          <p:cNvSpPr/>
          <p:nvPr/>
        </p:nvSpPr>
        <p:spPr>
          <a:xfrm>
            <a:off x="457200" y="960120"/>
            <a:ext cx="8229600" cy="640080"/>
          </a:xfrm>
          <a:prstGeom prst="roundRect">
            <a:avLst>
              <a:gd name="adj" fmla="val 11429"/>
            </a:avLst>
          </a:prstGeom>
          <a:solidFill>
            <a:srgbClr val="EDF2F4"/>
          </a:solidFill>
          <a:ln/>
        </p:spPr>
      </p:sp>
      <p:sp>
        <p:nvSpPr>
          <p:cNvPr id="7" name="Text 5"/>
          <p:cNvSpPr/>
          <p:nvPr/>
        </p:nvSpPr>
        <p:spPr>
          <a:xfrm>
            <a:off x="640080" y="960120"/>
            <a:ext cx="7863840" cy="640080"/>
          </a:xfrm>
          <a:prstGeom prst="rect">
            <a:avLst/>
          </a:prstGeom>
          <a:noFill/>
          <a:ln/>
        </p:spPr>
        <p:txBody>
          <a:bodyPr wrap="square" rtlCol="0" anchor="ctr"/>
          <a:lstStyle/>
          <a:p>
            <a:pPr indent="0" marL="0">
              <a:buNone/>
            </a:pPr>
            <a:r>
              <a:rPr lang="en-US" sz="1500" b="1" dirty="0">
                <a:solidFill>
                  <a:srgbClr val="2B2D42"/>
                </a:solidFill>
                <a:latin typeface="Microsoft YaHei" pitchFamily="34" charset="0"/>
                <a:ea typeface="Microsoft YaHei" pitchFamily="34" charset="-122"/>
                <a:cs typeface="Microsoft YaHei" pitchFamily="34" charset="-120"/>
              </a:rPr>
              <a:t>我的方法：每年花时间去看招聘网站上的真实岗位JD变化</a:t>
            </a:r>
            <a:endParaRPr lang="en-US" sz="1500" dirty="0"/>
          </a:p>
        </p:txBody>
      </p:sp>
      <p:sp>
        <p:nvSpPr>
          <p:cNvPr id="8" name="Shape 6"/>
          <p:cNvSpPr/>
          <p:nvPr/>
        </p:nvSpPr>
        <p:spPr>
          <a:xfrm>
            <a:off x="457200" y="1783080"/>
            <a:ext cx="3977640" cy="822960"/>
          </a:xfrm>
          <a:prstGeom prst="roundRect">
            <a:avLst>
              <a:gd name="adj" fmla="val 8889"/>
            </a:avLst>
          </a:prstGeom>
          <a:solidFill>
            <a:srgbClr val="FFFFFF"/>
          </a:solidFill>
          <a:ln w="12700">
            <a:solidFill>
              <a:srgbClr val="EDF2F4"/>
            </a:solidFill>
            <a:prstDash val="solid"/>
          </a:ln>
        </p:spPr>
      </p:sp>
      <p:sp>
        <p:nvSpPr>
          <p:cNvPr id="9" name="Shape 7"/>
          <p:cNvSpPr/>
          <p:nvPr/>
        </p:nvSpPr>
        <p:spPr>
          <a:xfrm>
            <a:off x="594360" y="1965960"/>
            <a:ext cx="457200" cy="457200"/>
          </a:xfrm>
          <a:prstGeom prst="ellipse">
            <a:avLst/>
          </a:prstGeom>
          <a:solidFill>
            <a:srgbClr val="EF233C"/>
          </a:solidFill>
          <a:ln/>
        </p:spPr>
      </p:sp>
      <p:sp>
        <p:nvSpPr>
          <p:cNvPr id="10" name="Text 8"/>
          <p:cNvSpPr/>
          <p:nvPr/>
        </p:nvSpPr>
        <p:spPr>
          <a:xfrm>
            <a:off x="594360" y="196596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1" name="Text 9"/>
          <p:cNvSpPr/>
          <p:nvPr/>
        </p:nvSpPr>
        <p:spPr>
          <a:xfrm>
            <a:off x="1188720" y="1783080"/>
            <a:ext cx="3063240" cy="82296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岗位要求变严了还是变松了</a:t>
            </a:r>
            <a:endParaRPr lang="en-US" sz="1400" dirty="0"/>
          </a:p>
        </p:txBody>
      </p:sp>
      <p:sp>
        <p:nvSpPr>
          <p:cNvPr id="12" name="Shape 10"/>
          <p:cNvSpPr/>
          <p:nvPr/>
        </p:nvSpPr>
        <p:spPr>
          <a:xfrm>
            <a:off x="4709160" y="1783080"/>
            <a:ext cx="3977640" cy="822960"/>
          </a:xfrm>
          <a:prstGeom prst="roundRect">
            <a:avLst>
              <a:gd name="adj" fmla="val 8889"/>
            </a:avLst>
          </a:prstGeom>
          <a:solidFill>
            <a:srgbClr val="FFFFFF"/>
          </a:solidFill>
          <a:ln w="12700">
            <a:solidFill>
              <a:srgbClr val="EDF2F4"/>
            </a:solidFill>
            <a:prstDash val="solid"/>
          </a:ln>
        </p:spPr>
      </p:sp>
      <p:sp>
        <p:nvSpPr>
          <p:cNvPr id="13" name="Shape 11"/>
          <p:cNvSpPr/>
          <p:nvPr/>
        </p:nvSpPr>
        <p:spPr>
          <a:xfrm>
            <a:off x="4846320" y="1965960"/>
            <a:ext cx="457200" cy="457200"/>
          </a:xfrm>
          <a:prstGeom prst="ellipse">
            <a:avLst/>
          </a:prstGeom>
          <a:solidFill>
            <a:srgbClr val="EF233C"/>
          </a:solidFill>
          <a:ln/>
        </p:spPr>
      </p:sp>
      <p:sp>
        <p:nvSpPr>
          <p:cNvPr id="14" name="Text 12"/>
          <p:cNvSpPr/>
          <p:nvPr/>
        </p:nvSpPr>
        <p:spPr>
          <a:xfrm>
            <a:off x="4846320" y="196596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5" name="Text 13"/>
          <p:cNvSpPr/>
          <p:nvPr/>
        </p:nvSpPr>
        <p:spPr>
          <a:xfrm>
            <a:off x="5440680" y="1783080"/>
            <a:ext cx="3063240" cy="82296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薪资中位数在涨还是在跌</a:t>
            </a:r>
            <a:endParaRPr lang="en-US" sz="1400" dirty="0"/>
          </a:p>
        </p:txBody>
      </p:sp>
      <p:sp>
        <p:nvSpPr>
          <p:cNvPr id="16" name="Shape 14"/>
          <p:cNvSpPr/>
          <p:nvPr/>
        </p:nvSpPr>
        <p:spPr>
          <a:xfrm>
            <a:off x="457200" y="2743200"/>
            <a:ext cx="3977640" cy="822960"/>
          </a:xfrm>
          <a:prstGeom prst="roundRect">
            <a:avLst>
              <a:gd name="adj" fmla="val 8889"/>
            </a:avLst>
          </a:prstGeom>
          <a:solidFill>
            <a:srgbClr val="FFFFFF"/>
          </a:solidFill>
          <a:ln w="12700">
            <a:solidFill>
              <a:srgbClr val="EDF2F4"/>
            </a:solidFill>
            <a:prstDash val="solid"/>
          </a:ln>
        </p:spPr>
      </p:sp>
      <p:sp>
        <p:nvSpPr>
          <p:cNvPr id="17" name="Shape 15"/>
          <p:cNvSpPr/>
          <p:nvPr/>
        </p:nvSpPr>
        <p:spPr>
          <a:xfrm>
            <a:off x="594360" y="2926080"/>
            <a:ext cx="457200" cy="457200"/>
          </a:xfrm>
          <a:prstGeom prst="ellipse">
            <a:avLst/>
          </a:prstGeom>
          <a:solidFill>
            <a:srgbClr val="EF233C"/>
          </a:solidFill>
          <a:ln/>
        </p:spPr>
      </p:sp>
      <p:sp>
        <p:nvSpPr>
          <p:cNvPr id="18" name="Text 16"/>
          <p:cNvSpPr/>
          <p:nvPr/>
        </p:nvSpPr>
        <p:spPr>
          <a:xfrm>
            <a:off x="594360" y="292608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 17"/>
          <p:cNvSpPr/>
          <p:nvPr/>
        </p:nvSpPr>
        <p:spPr>
          <a:xfrm>
            <a:off x="1188720" y="2743200"/>
            <a:ext cx="3063240" cy="82296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岗位数量在增还是在减</a:t>
            </a:r>
            <a:endParaRPr lang="en-US" sz="1400" dirty="0"/>
          </a:p>
        </p:txBody>
      </p:sp>
      <p:sp>
        <p:nvSpPr>
          <p:cNvPr id="20" name="Shape 18"/>
          <p:cNvSpPr/>
          <p:nvPr/>
        </p:nvSpPr>
        <p:spPr>
          <a:xfrm>
            <a:off x="4709160" y="2743200"/>
            <a:ext cx="3977640" cy="822960"/>
          </a:xfrm>
          <a:prstGeom prst="roundRect">
            <a:avLst>
              <a:gd name="adj" fmla="val 8889"/>
            </a:avLst>
          </a:prstGeom>
          <a:solidFill>
            <a:srgbClr val="FFFFFF"/>
          </a:solidFill>
          <a:ln w="12700">
            <a:solidFill>
              <a:srgbClr val="EDF2F4"/>
            </a:solidFill>
            <a:prstDash val="solid"/>
          </a:ln>
        </p:spPr>
      </p:sp>
      <p:sp>
        <p:nvSpPr>
          <p:cNvPr id="21" name="Shape 19"/>
          <p:cNvSpPr/>
          <p:nvPr/>
        </p:nvSpPr>
        <p:spPr>
          <a:xfrm>
            <a:off x="4846320" y="2926080"/>
            <a:ext cx="457200" cy="457200"/>
          </a:xfrm>
          <a:prstGeom prst="ellipse">
            <a:avLst/>
          </a:prstGeom>
          <a:solidFill>
            <a:srgbClr val="EF233C"/>
          </a:solidFill>
          <a:ln/>
        </p:spPr>
      </p:sp>
      <p:sp>
        <p:nvSpPr>
          <p:cNvPr id="22" name="Text 20"/>
          <p:cNvSpPr/>
          <p:nvPr/>
        </p:nvSpPr>
        <p:spPr>
          <a:xfrm>
            <a:off x="4846320" y="292608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3" name="Text 21"/>
          <p:cNvSpPr/>
          <p:nvPr/>
        </p:nvSpPr>
        <p:spPr>
          <a:xfrm>
            <a:off x="5440680" y="2743200"/>
            <a:ext cx="3063240" cy="82296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五年前入行的人现在都在干什么</a:t>
            </a:r>
            <a:endParaRPr lang="en-US" sz="1400" dirty="0"/>
          </a:p>
        </p:txBody>
      </p:sp>
      <p:sp>
        <p:nvSpPr>
          <p:cNvPr id="24" name="Shape 22"/>
          <p:cNvSpPr/>
          <p:nvPr/>
        </p:nvSpPr>
        <p:spPr>
          <a:xfrm>
            <a:off x="457200" y="3749040"/>
            <a:ext cx="8229600" cy="1097280"/>
          </a:xfrm>
          <a:prstGeom prst="roundRect">
            <a:avLst>
              <a:gd name="adj" fmla="val 8333"/>
            </a:avLst>
          </a:prstGeom>
          <a:solidFill>
            <a:srgbClr val="FFFFFF"/>
          </a:solidFill>
          <a:ln w="25400">
            <a:solidFill>
              <a:srgbClr val="2B2D42"/>
            </a:solidFill>
            <a:prstDash val="solid"/>
          </a:ln>
        </p:spPr>
      </p:sp>
      <p:sp>
        <p:nvSpPr>
          <p:cNvPr id="25" name="Text 23"/>
          <p:cNvSpPr/>
          <p:nvPr/>
        </p:nvSpPr>
        <p:spPr>
          <a:xfrm>
            <a:off x="640080" y="3657600"/>
            <a:ext cx="457200" cy="548640"/>
          </a:xfrm>
          <a:prstGeom prst="rect">
            <a:avLst/>
          </a:prstGeom>
          <a:noFill/>
          <a:ln/>
        </p:spPr>
        <p:txBody>
          <a:bodyPr wrap="square" rtlCol="0" anchor="ctr"/>
          <a:lstStyle/>
          <a:p>
            <a:pPr indent="0" marL="0">
              <a:buNone/>
            </a:pPr>
            <a:r>
              <a:rPr lang="en-US" sz="4800" b="1" dirty="0">
                <a:solidFill>
                  <a:srgbClr val="EF233C"/>
                </a:solidFill>
                <a:latin typeface="Georgia" pitchFamily="34" charset="0"/>
                <a:ea typeface="Georgia" pitchFamily="34" charset="-122"/>
                <a:cs typeface="Georgia" pitchFamily="34" charset="-120"/>
              </a:rPr>
              <a:t>“</a:t>
            </a:r>
            <a:endParaRPr lang="en-US" sz="4800" dirty="0"/>
          </a:p>
        </p:txBody>
      </p:sp>
      <p:sp>
        <p:nvSpPr>
          <p:cNvPr id="26" name="Text 24"/>
          <p:cNvSpPr/>
          <p:nvPr/>
        </p:nvSpPr>
        <p:spPr>
          <a:xfrm>
            <a:off x="1097280" y="3931920"/>
            <a:ext cx="7315200" cy="731520"/>
          </a:xfrm>
          <a:prstGeom prst="rect">
            <a:avLst/>
          </a:prstGeom>
          <a:noFill/>
          <a:ln/>
        </p:spPr>
        <p:txBody>
          <a:bodyPr wrap="square" rtlCol="0" anchor="ctr"/>
          <a:lstStyle/>
          <a:p>
            <a:pPr indent="0" marL="0">
              <a:buNone/>
            </a:pPr>
            <a:r>
              <a:rPr lang="en-US" sz="1500" b="1" dirty="0">
                <a:solidFill>
                  <a:srgbClr val="2B2D42"/>
                </a:solidFill>
                <a:latin typeface="Microsoft YaHei" pitchFamily="34" charset="0"/>
                <a:ea typeface="Microsoft YaHei" pitchFamily="34" charset="-122"/>
                <a:cs typeface="Microsoft YaHei" pitchFamily="34" charset="-120"/>
              </a:rPr>
              <a:t>这些信息比任何一份专业介绍册子都真实，因为它反映的是市场真正在发生的事</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8412480" y="274320"/>
            <a:ext cx="457200" cy="457200"/>
          </a:xfrm>
          <a:prstGeom prst="ellipse">
            <a:avLst/>
          </a:prstGeom>
          <a:solidFill>
            <a:srgbClr val="2B2D42"/>
          </a:solidFill>
          <a:ln/>
        </p:spPr>
      </p:sp>
      <p:sp>
        <p:nvSpPr>
          <p:cNvPr id="4" name="Text 2"/>
          <p:cNvSpPr/>
          <p:nvPr/>
        </p:nvSpPr>
        <p:spPr>
          <a:xfrm>
            <a:off x="8412480" y="27432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25</a:t>
            </a:r>
            <a:endParaRPr lang="en-US" sz="1400" dirty="0"/>
          </a:p>
        </p:txBody>
      </p:sp>
      <p:sp>
        <p:nvSpPr>
          <p:cNvPr id="5" name="Text 3"/>
          <p:cNvSpPr/>
          <p:nvPr/>
        </p:nvSpPr>
        <p:spPr>
          <a:xfrm>
            <a:off x="457200" y="320040"/>
            <a:ext cx="7772400" cy="54864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产业判断≠预测未来</a:t>
            </a:r>
            <a:endParaRPr lang="en-US" sz="3200" dirty="0"/>
          </a:p>
        </p:txBody>
      </p:sp>
      <p:sp>
        <p:nvSpPr>
          <p:cNvPr id="6" name="Shape 4"/>
          <p:cNvSpPr/>
          <p:nvPr/>
        </p:nvSpPr>
        <p:spPr>
          <a:xfrm>
            <a:off x="457200" y="1005840"/>
            <a:ext cx="8229600" cy="1371600"/>
          </a:xfrm>
          <a:prstGeom prst="roundRect">
            <a:avLst>
              <a:gd name="adj" fmla="val 6667"/>
            </a:avLst>
          </a:prstGeom>
          <a:solidFill>
            <a:srgbClr val="EDF2F4"/>
          </a:solidFill>
          <a:ln/>
        </p:spPr>
      </p:sp>
      <p:sp>
        <p:nvSpPr>
          <p:cNvPr id="7" name="Text 5"/>
          <p:cNvSpPr/>
          <p:nvPr/>
        </p:nvSpPr>
        <p:spPr>
          <a:xfrm>
            <a:off x="640080" y="1097280"/>
            <a:ext cx="1097280" cy="320040"/>
          </a:xfrm>
          <a:prstGeom prst="rect">
            <a:avLst/>
          </a:prstGeom>
          <a:noFill/>
          <a:ln/>
        </p:spPr>
        <p:txBody>
          <a:bodyPr wrap="square" rtlCol="0" anchor="ctr"/>
          <a:lstStyle/>
          <a:p>
            <a:pPr indent="0" marL="0">
              <a:buNone/>
            </a:pPr>
            <a:r>
              <a:rPr lang="en-US" sz="1200" b="1" dirty="0">
                <a:solidFill>
                  <a:srgbClr val="EF233C"/>
                </a:solidFill>
                <a:latin typeface="Microsoft YaHei" pitchFamily="34" charset="0"/>
                <a:ea typeface="Microsoft YaHei" pitchFamily="34" charset="-122"/>
                <a:cs typeface="Microsoft YaHei" pitchFamily="34" charset="-120"/>
              </a:rPr>
              <a:t>关键区分</a:t>
            </a:r>
            <a:endParaRPr lang="en-US" sz="1200" dirty="0"/>
          </a:p>
        </p:txBody>
      </p:sp>
      <p:sp>
        <p:nvSpPr>
          <p:cNvPr id="8" name="Text 6"/>
          <p:cNvSpPr/>
          <p:nvPr/>
        </p:nvSpPr>
        <p:spPr>
          <a:xfrm>
            <a:off x="640080" y="1463040"/>
            <a:ext cx="7863840" cy="365760"/>
          </a:xfrm>
          <a:prstGeom prst="rect">
            <a:avLst/>
          </a:prstGeom>
          <a:noFill/>
          <a:ln/>
        </p:spPr>
        <p:txBody>
          <a:bodyPr wrap="square" rtlCol="0" anchor="ctr"/>
          <a:lstStyle/>
          <a:p>
            <a:pPr indent="0" marL="0">
              <a:buNone/>
            </a:pPr>
            <a:r>
              <a:rPr lang="en-US" sz="1500" dirty="0">
                <a:solidFill>
                  <a:srgbClr val="8D99AE"/>
                </a:solidFill>
                <a:latin typeface="Microsoft YaHei" pitchFamily="34" charset="0"/>
                <a:ea typeface="Microsoft YaHei" pitchFamily="34" charset="-122"/>
                <a:cs typeface="Microsoft YaHei" pitchFamily="34" charset="-120"/>
              </a:rPr>
              <a:t>不是要求从业者具备精准预知未来的能力</a:t>
            </a:r>
            <a:endParaRPr lang="en-US" sz="1500" dirty="0"/>
          </a:p>
        </p:txBody>
      </p:sp>
      <p:sp>
        <p:nvSpPr>
          <p:cNvPr id="9" name="Text 7"/>
          <p:cNvSpPr/>
          <p:nvPr/>
        </p:nvSpPr>
        <p:spPr>
          <a:xfrm>
            <a:off x="640080" y="1874520"/>
            <a:ext cx="7863840" cy="365760"/>
          </a:xfrm>
          <a:prstGeom prst="rect">
            <a:avLst/>
          </a:prstGeom>
          <a:noFill/>
          <a:ln/>
        </p:spPr>
        <p:txBody>
          <a:bodyPr wrap="square" rtlCol="0" anchor="ctr"/>
          <a:lstStyle/>
          <a:p>
            <a:pPr indent="0" marL="0">
              <a:buNone/>
            </a:pPr>
            <a:r>
              <a:rPr lang="en-US" sz="1500" dirty="0">
                <a:solidFill>
                  <a:srgbClr val="8D99AE"/>
                </a:solidFill>
                <a:latin typeface="Microsoft YaHei" pitchFamily="34" charset="0"/>
                <a:ea typeface="Microsoft YaHei" pitchFamily="34" charset="-122"/>
                <a:cs typeface="Microsoft YaHei" pitchFamily="34" charset="-120"/>
              </a:rPr>
              <a:t>而是基于真实的产业逻辑和数据趋势，给出"相对更可能成立"的判断</a:t>
            </a:r>
            <a:endParaRPr lang="en-US" sz="1500" dirty="0"/>
          </a:p>
        </p:txBody>
      </p:sp>
      <p:sp>
        <p:nvSpPr>
          <p:cNvPr id="10" name="Shape 8"/>
          <p:cNvSpPr/>
          <p:nvPr/>
        </p:nvSpPr>
        <p:spPr>
          <a:xfrm>
            <a:off x="457200" y="2560320"/>
            <a:ext cx="8229600" cy="914400"/>
          </a:xfrm>
          <a:prstGeom prst="roundRect">
            <a:avLst>
              <a:gd name="adj" fmla="val 10000"/>
            </a:avLst>
          </a:prstGeom>
          <a:solidFill>
            <a:srgbClr val="FFFFFF"/>
          </a:solidFill>
          <a:ln w="25400">
            <a:solidFill>
              <a:srgbClr val="2B2D42"/>
            </a:solidFill>
            <a:prstDash val="solid"/>
          </a:ln>
        </p:spPr>
      </p:sp>
      <p:sp>
        <p:nvSpPr>
          <p:cNvPr id="11" name="Text 9"/>
          <p:cNvSpPr/>
          <p:nvPr/>
        </p:nvSpPr>
        <p:spPr>
          <a:xfrm>
            <a:off x="640080" y="2651760"/>
            <a:ext cx="1097280" cy="320040"/>
          </a:xfrm>
          <a:prstGeom prst="rect">
            <a:avLst/>
          </a:prstGeom>
          <a:noFill/>
          <a:ln/>
        </p:spPr>
        <p:txBody>
          <a:bodyPr wrap="square" rtlCol="0" anchor="ctr"/>
          <a:lstStyle/>
          <a:p>
            <a:pPr indent="0" marL="0">
              <a:buNone/>
            </a:pPr>
            <a:r>
              <a:rPr lang="en-US" sz="1200" b="1" dirty="0">
                <a:solidFill>
                  <a:srgbClr val="EF233C"/>
                </a:solidFill>
                <a:latin typeface="Microsoft YaHei" pitchFamily="34" charset="0"/>
                <a:ea typeface="Microsoft YaHei" pitchFamily="34" charset="-122"/>
                <a:cs typeface="Microsoft YaHei" pitchFamily="34" charset="-120"/>
              </a:rPr>
              <a:t>核心价值</a:t>
            </a:r>
            <a:endParaRPr lang="en-US" sz="1200" dirty="0"/>
          </a:p>
        </p:txBody>
      </p:sp>
      <p:sp>
        <p:nvSpPr>
          <p:cNvPr id="12" name="Text 10"/>
          <p:cNvSpPr/>
          <p:nvPr/>
        </p:nvSpPr>
        <p:spPr>
          <a:xfrm>
            <a:off x="640080" y="2971800"/>
            <a:ext cx="7863840" cy="41148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这份判断的价值不在于绝对正确，在于比"完全不判断、闭着眼睛选"要靠谱得多</a:t>
            </a:r>
            <a:endParaRPr lang="en-US" sz="1600" dirty="0"/>
          </a:p>
        </p:txBody>
      </p:sp>
      <p:sp>
        <p:nvSpPr>
          <p:cNvPr id="13" name="Shape 11"/>
          <p:cNvSpPr/>
          <p:nvPr/>
        </p:nvSpPr>
        <p:spPr>
          <a:xfrm>
            <a:off x="457200" y="3657600"/>
            <a:ext cx="8229600" cy="1188720"/>
          </a:xfrm>
          <a:prstGeom prst="roundRect">
            <a:avLst>
              <a:gd name="adj" fmla="val 7692"/>
            </a:avLst>
          </a:prstGeom>
          <a:solidFill>
            <a:srgbClr val="FFFFFF"/>
          </a:solidFill>
          <a:ln w="25400">
            <a:solidFill>
              <a:srgbClr val="EF233C"/>
            </a:solidFill>
            <a:prstDash val="solid"/>
          </a:ln>
        </p:spPr>
      </p:sp>
      <p:sp>
        <p:nvSpPr>
          <p:cNvPr id="14" name="Shape 12"/>
          <p:cNvSpPr/>
          <p:nvPr/>
        </p:nvSpPr>
        <p:spPr>
          <a:xfrm>
            <a:off x="640080" y="3886200"/>
            <a:ext cx="548640" cy="548640"/>
          </a:xfrm>
          <a:prstGeom prst="ellipse">
            <a:avLst/>
          </a:prstGeom>
          <a:solidFill>
            <a:srgbClr val="EF233C"/>
          </a:solidFill>
          <a:ln/>
        </p:spPr>
      </p:sp>
      <p:sp>
        <p:nvSpPr>
          <p:cNvPr id="15" name="Text 13"/>
          <p:cNvSpPr/>
          <p:nvPr/>
        </p:nvSpPr>
        <p:spPr>
          <a:xfrm>
            <a:off x="640080" y="3886200"/>
            <a:ext cx="54864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6" name="Text 14"/>
          <p:cNvSpPr/>
          <p:nvPr/>
        </p:nvSpPr>
        <p:spPr>
          <a:xfrm>
            <a:off x="1371600" y="3794760"/>
            <a:ext cx="914400" cy="320040"/>
          </a:xfrm>
          <a:prstGeom prst="rect">
            <a:avLst/>
          </a:prstGeom>
          <a:noFill/>
          <a:ln/>
        </p:spPr>
        <p:txBody>
          <a:bodyPr wrap="square" rtlCol="0" anchor="ctr"/>
          <a:lstStyle/>
          <a:p>
            <a:pPr indent="0" marL="0">
              <a:buNone/>
            </a:pPr>
            <a:r>
              <a:rPr lang="en-US" sz="1200" b="1" dirty="0">
                <a:solidFill>
                  <a:srgbClr val="EF233C"/>
                </a:solidFill>
                <a:latin typeface="Microsoft YaHei" pitchFamily="34" charset="0"/>
                <a:ea typeface="Microsoft YaHei" pitchFamily="34" charset="-122"/>
                <a:cs typeface="Microsoft YaHei" pitchFamily="34" charset="-120"/>
              </a:rPr>
              <a:t>提醒</a:t>
            </a:r>
            <a:endParaRPr lang="en-US" sz="1200" dirty="0"/>
          </a:p>
        </p:txBody>
      </p:sp>
      <p:sp>
        <p:nvSpPr>
          <p:cNvPr id="17" name="Text 15"/>
          <p:cNvSpPr/>
          <p:nvPr/>
        </p:nvSpPr>
        <p:spPr>
          <a:xfrm>
            <a:off x="1371600" y="4114800"/>
            <a:ext cx="7132320" cy="54864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产业变化这么快，五年前的判断放到今天可能已经过时了</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457200" y="320040"/>
            <a:ext cx="640080" cy="457200"/>
          </a:xfrm>
          <a:prstGeom prst="roundRect">
            <a:avLst>
              <a:gd name="adj" fmla="val 16000"/>
            </a:avLst>
          </a:prstGeom>
          <a:solidFill>
            <a:srgbClr val="2B2D42"/>
          </a:solidFill>
          <a:ln/>
        </p:spPr>
      </p:sp>
      <p:sp>
        <p:nvSpPr>
          <p:cNvPr id="4" name="Text 2"/>
          <p:cNvSpPr/>
          <p:nvPr/>
        </p:nvSpPr>
        <p:spPr>
          <a:xfrm>
            <a:off x="457200" y="320040"/>
            <a:ext cx="64008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05</a:t>
            </a:r>
            <a:endParaRPr lang="en-US" sz="1800" dirty="0"/>
          </a:p>
        </p:txBody>
      </p:sp>
      <p:sp>
        <p:nvSpPr>
          <p:cNvPr id="5" name="Text 3"/>
          <p:cNvSpPr/>
          <p:nvPr/>
        </p:nvSpPr>
        <p:spPr>
          <a:xfrm>
            <a:off x="1280160" y="274320"/>
            <a:ext cx="7406640" cy="548640"/>
          </a:xfrm>
          <a:prstGeom prst="rect">
            <a:avLst/>
          </a:prstGeom>
          <a:noFill/>
          <a:ln/>
        </p:spPr>
        <p:txBody>
          <a:bodyPr wrap="square" rtlCol="0" anchor="ctr"/>
          <a:lstStyle/>
          <a:p>
            <a:pPr algn="l" indent="0" marL="0">
              <a:buNone/>
            </a:pPr>
            <a:r>
              <a:rPr lang="en-US" sz="2800" b="1" dirty="0">
                <a:solidFill>
                  <a:srgbClr val="2B2D42"/>
                </a:solidFill>
                <a:latin typeface="Microsoft YaHei" pitchFamily="34" charset="0"/>
                <a:ea typeface="Microsoft YaHei" pitchFamily="34" charset="-122"/>
                <a:cs typeface="Microsoft YaHei" pitchFamily="34" charset="-120"/>
              </a:rPr>
              <a:t>倒推规划：先问"十年后想过什么日子"</a:t>
            </a:r>
            <a:endParaRPr lang="en-US" sz="2800" dirty="0"/>
          </a:p>
        </p:txBody>
      </p:sp>
      <p:sp>
        <p:nvSpPr>
          <p:cNvPr id="6" name="Shape 4"/>
          <p:cNvSpPr/>
          <p:nvPr/>
        </p:nvSpPr>
        <p:spPr>
          <a:xfrm>
            <a:off x="457200" y="1051560"/>
            <a:ext cx="8229600" cy="1280160"/>
          </a:xfrm>
          <a:prstGeom prst="roundRect">
            <a:avLst>
              <a:gd name="adj" fmla="val 7143"/>
            </a:avLst>
          </a:prstGeom>
          <a:solidFill>
            <a:srgbClr val="EDF2F4"/>
          </a:solidFill>
          <a:ln/>
        </p:spPr>
      </p:sp>
      <p:sp>
        <p:nvSpPr>
          <p:cNvPr id="7" name="Text 5"/>
          <p:cNvSpPr/>
          <p:nvPr/>
        </p:nvSpPr>
        <p:spPr>
          <a:xfrm>
            <a:off x="548640" y="914400"/>
            <a:ext cx="457200" cy="548640"/>
          </a:xfrm>
          <a:prstGeom prst="rect">
            <a:avLst/>
          </a:prstGeom>
          <a:noFill/>
          <a:ln/>
        </p:spPr>
        <p:txBody>
          <a:bodyPr wrap="square" rtlCol="0" anchor="ctr"/>
          <a:lstStyle/>
          <a:p>
            <a:pPr indent="0" marL="0">
              <a:buNone/>
            </a:pPr>
            <a:r>
              <a:rPr lang="en-US" sz="4800" b="1" dirty="0">
                <a:solidFill>
                  <a:srgbClr val="EF233C"/>
                </a:solidFill>
                <a:latin typeface="Georgia" pitchFamily="34" charset="0"/>
                <a:ea typeface="Georgia" pitchFamily="34" charset="-122"/>
                <a:cs typeface="Georgia" pitchFamily="34" charset="-120"/>
              </a:rPr>
              <a:t>“</a:t>
            </a:r>
            <a:endParaRPr lang="en-US" sz="4800" dirty="0"/>
          </a:p>
        </p:txBody>
      </p:sp>
      <p:sp>
        <p:nvSpPr>
          <p:cNvPr id="8" name="Text 6"/>
          <p:cNvSpPr/>
          <p:nvPr/>
        </p:nvSpPr>
        <p:spPr>
          <a:xfrm>
            <a:off x="914400" y="1234440"/>
            <a:ext cx="7498080" cy="914400"/>
          </a:xfrm>
          <a:prstGeom prst="rect">
            <a:avLst/>
          </a:prstGeom>
          <a:noFill/>
          <a:ln/>
        </p:spPr>
        <p:txBody>
          <a:bodyPr wrap="square" rtlCol="0" anchor="ctr"/>
          <a:lstStyle/>
          <a:p>
            <a:pPr algn="l" indent="0" marL="0">
              <a:buNone/>
            </a:pPr>
            <a:r>
              <a:rPr lang="en-US" sz="1600" dirty="0">
                <a:solidFill>
                  <a:srgbClr val="2B2D42"/>
                </a:solidFill>
                <a:latin typeface="Microsoft YaHei" pitchFamily="34" charset="0"/>
                <a:ea typeface="Microsoft YaHei" pitchFamily="34" charset="-122"/>
                <a:cs typeface="Microsoft YaHei" pitchFamily="34" charset="-120"/>
              </a:rPr>
              <a:t>大多数人是从'我现在能报什么'往前想，真正管用的方法是从'十年后我想过什么样的日子'往回算</a:t>
            </a:r>
            <a:endParaRPr lang="en-US" sz="1600" dirty="0"/>
          </a:p>
        </p:txBody>
      </p:sp>
      <p:sp>
        <p:nvSpPr>
          <p:cNvPr id="9" name="Shape 7"/>
          <p:cNvSpPr/>
          <p:nvPr/>
        </p:nvSpPr>
        <p:spPr>
          <a:xfrm>
            <a:off x="457200" y="2560320"/>
            <a:ext cx="73152" cy="365760"/>
          </a:xfrm>
          <a:prstGeom prst="rect">
            <a:avLst/>
          </a:prstGeom>
          <a:solidFill>
            <a:srgbClr val="EF233C"/>
          </a:solidFill>
          <a:ln/>
        </p:spPr>
      </p:sp>
      <p:sp>
        <p:nvSpPr>
          <p:cNvPr id="10" name="Text 8"/>
          <p:cNvSpPr/>
          <p:nvPr/>
        </p:nvSpPr>
        <p:spPr>
          <a:xfrm>
            <a:off x="640080" y="2560320"/>
            <a:ext cx="1828800" cy="365760"/>
          </a:xfrm>
          <a:prstGeom prst="rect">
            <a:avLst/>
          </a:prstGeom>
          <a:noFill/>
          <a:ln/>
        </p:spPr>
        <p:txBody>
          <a:bodyPr wrap="square" rtlCol="0" anchor="ctr"/>
          <a:lstStyle/>
          <a:p>
            <a:pPr indent="0" marL="0">
              <a:buNone/>
            </a:pPr>
            <a:r>
              <a:rPr lang="en-US" sz="1400" b="1" dirty="0">
                <a:solidFill>
                  <a:srgbClr val="EF233C"/>
                </a:solidFill>
                <a:latin typeface="Microsoft YaHei" pitchFamily="34" charset="0"/>
                <a:ea typeface="Microsoft YaHei" pitchFamily="34" charset="-122"/>
                <a:cs typeface="Microsoft YaHei" pitchFamily="34" charset="-120"/>
              </a:rPr>
              <a:t>真实案例</a:t>
            </a:r>
            <a:endParaRPr lang="en-US" sz="1400" dirty="0"/>
          </a:p>
        </p:txBody>
      </p:sp>
      <p:sp>
        <p:nvSpPr>
          <p:cNvPr id="11" name="Shape 9"/>
          <p:cNvSpPr/>
          <p:nvPr/>
        </p:nvSpPr>
        <p:spPr>
          <a:xfrm>
            <a:off x="457200" y="3063240"/>
            <a:ext cx="8229600" cy="1645920"/>
          </a:xfrm>
          <a:prstGeom prst="roundRect">
            <a:avLst>
              <a:gd name="adj" fmla="val 5556"/>
            </a:avLst>
          </a:prstGeom>
          <a:solidFill>
            <a:srgbClr val="FFFFFF"/>
          </a:solidFill>
          <a:ln w="12700">
            <a:solidFill>
              <a:srgbClr val="EDF2F4"/>
            </a:solidFill>
            <a:prstDash val="solid"/>
          </a:ln>
        </p:spPr>
      </p:sp>
      <p:sp>
        <p:nvSpPr>
          <p:cNvPr id="12" name="Text 10"/>
          <p:cNvSpPr/>
          <p:nvPr/>
        </p:nvSpPr>
        <p:spPr>
          <a:xfrm>
            <a:off x="731520" y="3246120"/>
            <a:ext cx="7680960" cy="731520"/>
          </a:xfrm>
          <a:prstGeom prst="rect">
            <a:avLst/>
          </a:prstGeom>
          <a:noFill/>
          <a:ln/>
        </p:spPr>
        <p:txBody>
          <a:bodyPr wrap="square" rtlCol="0" anchor="ctr"/>
          <a:lstStyle/>
          <a:p>
            <a:pPr algn="l" indent="0" marL="0">
              <a:buNone/>
            </a:pPr>
            <a:r>
              <a:rPr lang="en-US" sz="1500" dirty="0">
                <a:solidFill>
                  <a:srgbClr val="8D99AE"/>
                </a:solidFill>
                <a:latin typeface="Microsoft YaHei" pitchFamily="34" charset="0"/>
                <a:ea typeface="Microsoft YaHei" pitchFamily="34" charset="-122"/>
                <a:cs typeface="Microsoft YaHei" pitchFamily="34" charset="-120"/>
              </a:rPr>
              <a:t>一个男生被问到"十年后想过什么样的生活"时，说不上来——因为从来没人问过他这个问题。</a:t>
            </a:r>
            <a:endParaRPr lang="en-US" sz="1500" dirty="0"/>
          </a:p>
        </p:txBody>
      </p:sp>
      <p:sp>
        <p:nvSpPr>
          <p:cNvPr id="13" name="Shape 11"/>
          <p:cNvSpPr/>
          <p:nvPr/>
        </p:nvSpPr>
        <p:spPr>
          <a:xfrm>
            <a:off x="731520" y="4023360"/>
            <a:ext cx="7680960" cy="502920"/>
          </a:xfrm>
          <a:prstGeom prst="roundRect">
            <a:avLst>
              <a:gd name="adj" fmla="val 14545"/>
            </a:avLst>
          </a:prstGeom>
          <a:solidFill>
            <a:srgbClr val="2B2D42"/>
          </a:solidFill>
          <a:ln/>
        </p:spPr>
      </p:sp>
      <p:sp>
        <p:nvSpPr>
          <p:cNvPr id="14" name="Text 12"/>
          <p:cNvSpPr/>
          <p:nvPr/>
        </p:nvSpPr>
        <p:spPr>
          <a:xfrm>
            <a:off x="731520" y="4023360"/>
            <a:ext cx="7680960" cy="50292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这个问题的答案，比分数本身更能决定人生的走向</a:t>
            </a:r>
            <a:endParaRPr lang="en-US" sz="1400" dirty="0"/>
          </a:p>
        </p:txBody>
      </p:sp>
      <p:sp>
        <p:nvSpPr>
          <p:cNvPr id="15" name="Shape 13"/>
          <p:cNvSpPr/>
          <p:nvPr/>
        </p:nvSpPr>
        <p:spPr>
          <a:xfrm>
            <a:off x="8503920" y="4663440"/>
            <a:ext cx="365760" cy="274320"/>
          </a:xfrm>
          <a:prstGeom prst="roundRect">
            <a:avLst>
              <a:gd name="adj" fmla="val 16667"/>
            </a:avLst>
          </a:prstGeom>
          <a:solidFill>
            <a:srgbClr val="EF233C"/>
          </a:solidFill>
          <a:ln/>
        </p:spPr>
      </p:sp>
      <p:sp>
        <p:nvSpPr>
          <p:cNvPr id="16" name="Text 14"/>
          <p:cNvSpPr/>
          <p:nvPr/>
        </p:nvSpPr>
        <p:spPr>
          <a:xfrm>
            <a:off x="8503920" y="4663440"/>
            <a:ext cx="3657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48640"/>
          </a:xfrm>
          <a:prstGeom prst="rect">
            <a:avLst/>
          </a:prstGeom>
          <a:noFill/>
          <a:ln/>
        </p:spPr>
        <p:txBody>
          <a:bodyPr wrap="square" rtlCol="0" anchor="ctr"/>
          <a:lstStyle/>
          <a:p>
            <a:pPr algn="l" indent="0" marL="0">
              <a:buNone/>
            </a:pPr>
            <a:r>
              <a:rPr lang="en-US" sz="2800" b="1" dirty="0">
                <a:solidFill>
                  <a:srgbClr val="2B2D42"/>
                </a:solidFill>
                <a:latin typeface="Microsoft YaHei" pitchFamily="34" charset="0"/>
                <a:ea typeface="Microsoft YaHei" pitchFamily="34" charset="-122"/>
                <a:cs typeface="Microsoft YaHei" pitchFamily="34" charset="-120"/>
              </a:rPr>
              <a:t>正向推演 vs 倒推规划</a:t>
            </a:r>
            <a:endParaRPr lang="en-US" sz="2800" dirty="0"/>
          </a:p>
        </p:txBody>
      </p:sp>
      <p:sp>
        <p:nvSpPr>
          <p:cNvPr id="4" name="Shape 2"/>
          <p:cNvSpPr/>
          <p:nvPr/>
        </p:nvSpPr>
        <p:spPr>
          <a:xfrm>
            <a:off x="457200" y="1005840"/>
            <a:ext cx="3977640" cy="3657600"/>
          </a:xfrm>
          <a:prstGeom prst="roundRect">
            <a:avLst>
              <a:gd name="adj" fmla="val 2500"/>
            </a:avLst>
          </a:prstGeom>
          <a:solidFill>
            <a:srgbClr val="FFFFFF"/>
          </a:solidFill>
          <a:ln w="12700">
            <a:solidFill>
              <a:srgbClr val="EDF2F4"/>
            </a:solidFill>
            <a:prstDash val="solid"/>
          </a:ln>
        </p:spPr>
      </p:sp>
      <p:sp>
        <p:nvSpPr>
          <p:cNvPr id="5" name="Shape 3"/>
          <p:cNvSpPr/>
          <p:nvPr/>
        </p:nvSpPr>
        <p:spPr>
          <a:xfrm>
            <a:off x="457200" y="1005840"/>
            <a:ext cx="3977640" cy="548640"/>
          </a:xfrm>
          <a:prstGeom prst="rect">
            <a:avLst/>
          </a:prstGeom>
          <a:solidFill>
            <a:srgbClr val="8D99AE"/>
          </a:solidFill>
          <a:ln/>
        </p:spPr>
      </p:sp>
      <p:sp>
        <p:nvSpPr>
          <p:cNvPr id="6" name="Text 4"/>
          <p:cNvSpPr/>
          <p:nvPr/>
        </p:nvSpPr>
        <p:spPr>
          <a:xfrm>
            <a:off x="457200" y="1005840"/>
            <a:ext cx="3977640" cy="54864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正向推演</a:t>
            </a:r>
            <a:endParaRPr lang="en-US" sz="1800" dirty="0"/>
          </a:p>
        </p:txBody>
      </p:sp>
      <p:sp>
        <p:nvSpPr>
          <p:cNvPr id="7" name="Shape 5"/>
          <p:cNvSpPr/>
          <p:nvPr/>
        </p:nvSpPr>
        <p:spPr>
          <a:xfrm>
            <a:off x="640080" y="1737360"/>
            <a:ext cx="3611880" cy="457200"/>
          </a:xfrm>
          <a:prstGeom prst="roundRect">
            <a:avLst>
              <a:gd name="adj" fmla="val 16000"/>
            </a:avLst>
          </a:prstGeom>
          <a:solidFill>
            <a:srgbClr val="EDF2F4"/>
          </a:solidFill>
          <a:ln/>
        </p:spPr>
      </p:sp>
      <p:sp>
        <p:nvSpPr>
          <p:cNvPr id="8" name="Text 6"/>
          <p:cNvSpPr/>
          <p:nvPr/>
        </p:nvSpPr>
        <p:spPr>
          <a:xfrm>
            <a:off x="320040" y="1737360"/>
            <a:ext cx="320040" cy="457200"/>
          </a:xfrm>
          <a:prstGeom prst="rect">
            <a:avLst/>
          </a:prstGeom>
          <a:noFill/>
          <a:ln/>
        </p:spPr>
        <p:txBody>
          <a:bodyPr wrap="square" rtlCol="0" anchor="ctr"/>
          <a:lstStyle/>
          <a:p>
            <a:pPr algn="ctr" indent="0" marL="0">
              <a:buNone/>
            </a:pPr>
            <a:r>
              <a:rPr lang="en-US" sz="1400" b="1" dirty="0">
                <a:solidFill>
                  <a:srgbClr val="EF233C"/>
                </a:solidFill>
                <a:latin typeface="Arial" pitchFamily="34" charset="0"/>
                <a:ea typeface="Arial" pitchFamily="34" charset="-122"/>
                <a:cs typeface="Arial" pitchFamily="34" charset="-120"/>
              </a:rPr>
              <a:t>→</a:t>
            </a:r>
            <a:endParaRPr lang="en-US" sz="1400" dirty="0"/>
          </a:p>
        </p:txBody>
      </p:sp>
      <p:sp>
        <p:nvSpPr>
          <p:cNvPr id="9" name="Text 7"/>
          <p:cNvSpPr/>
          <p:nvPr/>
        </p:nvSpPr>
        <p:spPr>
          <a:xfrm>
            <a:off x="640080" y="1737360"/>
            <a:ext cx="3611880" cy="457200"/>
          </a:xfrm>
          <a:prstGeom prst="rect">
            <a:avLst/>
          </a:prstGeom>
          <a:noFill/>
          <a:ln/>
        </p:spPr>
        <p:txBody>
          <a:bodyPr wrap="square" rtlCol="0" anchor="ctr"/>
          <a:lstStyle/>
          <a:p>
            <a:pPr algn="ctr" indent="0" marL="0">
              <a:buNone/>
            </a:pPr>
            <a:r>
              <a:rPr lang="en-US" sz="1300" dirty="0">
                <a:solidFill>
                  <a:srgbClr val="2B2D42"/>
                </a:solidFill>
                <a:latin typeface="Microsoft YaHei" pitchFamily="34" charset="0"/>
                <a:ea typeface="Microsoft YaHei" pitchFamily="34" charset="-122"/>
                <a:cs typeface="Microsoft YaHei" pitchFamily="34" charset="-120"/>
              </a:rPr>
              <a:t>现在分数是这个</a:t>
            </a:r>
            <a:endParaRPr lang="en-US" sz="1300" dirty="0"/>
          </a:p>
        </p:txBody>
      </p:sp>
      <p:sp>
        <p:nvSpPr>
          <p:cNvPr id="10" name="Text 8"/>
          <p:cNvSpPr/>
          <p:nvPr/>
        </p:nvSpPr>
        <p:spPr>
          <a:xfrm>
            <a:off x="2240280" y="2148840"/>
            <a:ext cx="365760" cy="228600"/>
          </a:xfrm>
          <a:prstGeom prst="rect">
            <a:avLst/>
          </a:prstGeom>
          <a:noFill/>
          <a:ln/>
        </p:spPr>
        <p:txBody>
          <a:bodyPr wrap="square" rtlCol="0" anchor="ctr"/>
          <a:lstStyle/>
          <a:p>
            <a:pPr algn="ctr" indent="0" marL="0">
              <a:buNone/>
            </a:pPr>
            <a:r>
              <a:rPr lang="en-US" sz="1200" b="1" dirty="0">
                <a:solidFill>
                  <a:srgbClr val="8D99AE"/>
                </a:solidFill>
                <a:latin typeface="Arial" pitchFamily="34" charset="0"/>
                <a:ea typeface="Arial" pitchFamily="34" charset="-122"/>
                <a:cs typeface="Arial" pitchFamily="34" charset="-120"/>
              </a:rPr>
              <a:t>↓</a:t>
            </a:r>
            <a:endParaRPr lang="en-US" sz="1200" dirty="0"/>
          </a:p>
        </p:txBody>
      </p:sp>
      <p:sp>
        <p:nvSpPr>
          <p:cNvPr id="11" name="Shape 9"/>
          <p:cNvSpPr/>
          <p:nvPr/>
        </p:nvSpPr>
        <p:spPr>
          <a:xfrm>
            <a:off x="640080" y="2331720"/>
            <a:ext cx="3611880" cy="457200"/>
          </a:xfrm>
          <a:prstGeom prst="roundRect">
            <a:avLst>
              <a:gd name="adj" fmla="val 16000"/>
            </a:avLst>
          </a:prstGeom>
          <a:solidFill>
            <a:srgbClr val="EDF2F4"/>
          </a:solidFill>
          <a:ln/>
        </p:spPr>
      </p:sp>
      <p:sp>
        <p:nvSpPr>
          <p:cNvPr id="12" name="Text 10"/>
          <p:cNvSpPr/>
          <p:nvPr/>
        </p:nvSpPr>
        <p:spPr>
          <a:xfrm>
            <a:off x="640080" y="2331720"/>
            <a:ext cx="3611880" cy="457200"/>
          </a:xfrm>
          <a:prstGeom prst="rect">
            <a:avLst/>
          </a:prstGeom>
          <a:noFill/>
          <a:ln/>
        </p:spPr>
        <p:txBody>
          <a:bodyPr wrap="square" rtlCol="0" anchor="ctr"/>
          <a:lstStyle/>
          <a:p>
            <a:pPr algn="ctr" indent="0" marL="0">
              <a:buNone/>
            </a:pPr>
            <a:r>
              <a:rPr lang="en-US" sz="1300" dirty="0">
                <a:solidFill>
                  <a:srgbClr val="2B2D42"/>
                </a:solidFill>
                <a:latin typeface="Microsoft YaHei" pitchFamily="34" charset="0"/>
                <a:ea typeface="Microsoft YaHei" pitchFamily="34" charset="-122"/>
                <a:cs typeface="Microsoft YaHei" pitchFamily="34" charset="-120"/>
              </a:rPr>
              <a:t>能上什么学校</a:t>
            </a:r>
            <a:endParaRPr lang="en-US" sz="1300" dirty="0"/>
          </a:p>
        </p:txBody>
      </p:sp>
      <p:sp>
        <p:nvSpPr>
          <p:cNvPr id="13" name="Text 11"/>
          <p:cNvSpPr/>
          <p:nvPr/>
        </p:nvSpPr>
        <p:spPr>
          <a:xfrm>
            <a:off x="2240280" y="2743200"/>
            <a:ext cx="365760" cy="228600"/>
          </a:xfrm>
          <a:prstGeom prst="rect">
            <a:avLst/>
          </a:prstGeom>
          <a:noFill/>
          <a:ln/>
        </p:spPr>
        <p:txBody>
          <a:bodyPr wrap="square" rtlCol="0" anchor="ctr"/>
          <a:lstStyle/>
          <a:p>
            <a:pPr algn="ctr" indent="0" marL="0">
              <a:buNone/>
            </a:pPr>
            <a:r>
              <a:rPr lang="en-US" sz="1200" b="1" dirty="0">
                <a:solidFill>
                  <a:srgbClr val="8D99AE"/>
                </a:solidFill>
                <a:latin typeface="Arial" pitchFamily="34" charset="0"/>
                <a:ea typeface="Arial" pitchFamily="34" charset="-122"/>
                <a:cs typeface="Arial" pitchFamily="34" charset="-120"/>
              </a:rPr>
              <a:t>↓</a:t>
            </a:r>
            <a:endParaRPr lang="en-US" sz="1200" dirty="0"/>
          </a:p>
        </p:txBody>
      </p:sp>
      <p:sp>
        <p:nvSpPr>
          <p:cNvPr id="14" name="Shape 12"/>
          <p:cNvSpPr/>
          <p:nvPr/>
        </p:nvSpPr>
        <p:spPr>
          <a:xfrm>
            <a:off x="640080" y="2926080"/>
            <a:ext cx="3611880" cy="457200"/>
          </a:xfrm>
          <a:prstGeom prst="roundRect">
            <a:avLst>
              <a:gd name="adj" fmla="val 16000"/>
            </a:avLst>
          </a:prstGeom>
          <a:solidFill>
            <a:srgbClr val="EDF2F4"/>
          </a:solidFill>
          <a:ln/>
        </p:spPr>
      </p:sp>
      <p:sp>
        <p:nvSpPr>
          <p:cNvPr id="15" name="Text 13"/>
          <p:cNvSpPr/>
          <p:nvPr/>
        </p:nvSpPr>
        <p:spPr>
          <a:xfrm>
            <a:off x="640080" y="2926080"/>
            <a:ext cx="3611880" cy="457200"/>
          </a:xfrm>
          <a:prstGeom prst="rect">
            <a:avLst/>
          </a:prstGeom>
          <a:noFill/>
          <a:ln/>
        </p:spPr>
        <p:txBody>
          <a:bodyPr wrap="square" rtlCol="0" anchor="ctr"/>
          <a:lstStyle/>
          <a:p>
            <a:pPr algn="ctr" indent="0" marL="0">
              <a:buNone/>
            </a:pPr>
            <a:r>
              <a:rPr lang="en-US" sz="1300" dirty="0">
                <a:solidFill>
                  <a:srgbClr val="2B2D42"/>
                </a:solidFill>
                <a:latin typeface="Microsoft YaHei" pitchFamily="34" charset="0"/>
                <a:ea typeface="Microsoft YaHei" pitchFamily="34" charset="-122"/>
                <a:cs typeface="Microsoft YaHei" pitchFamily="34" charset="-120"/>
              </a:rPr>
              <a:t>学校里有什么专业</a:t>
            </a:r>
            <a:endParaRPr lang="en-US" sz="1300" dirty="0"/>
          </a:p>
        </p:txBody>
      </p:sp>
      <p:sp>
        <p:nvSpPr>
          <p:cNvPr id="16" name="Text 14"/>
          <p:cNvSpPr/>
          <p:nvPr/>
        </p:nvSpPr>
        <p:spPr>
          <a:xfrm>
            <a:off x="2240280" y="3337560"/>
            <a:ext cx="365760" cy="228600"/>
          </a:xfrm>
          <a:prstGeom prst="rect">
            <a:avLst/>
          </a:prstGeom>
          <a:noFill/>
          <a:ln/>
        </p:spPr>
        <p:txBody>
          <a:bodyPr wrap="square" rtlCol="0" anchor="ctr"/>
          <a:lstStyle/>
          <a:p>
            <a:pPr algn="ctr" indent="0" marL="0">
              <a:buNone/>
            </a:pPr>
            <a:r>
              <a:rPr lang="en-US" sz="1200" b="1" dirty="0">
                <a:solidFill>
                  <a:srgbClr val="8D99AE"/>
                </a:solidFill>
                <a:latin typeface="Arial" pitchFamily="34" charset="0"/>
                <a:ea typeface="Arial" pitchFamily="34" charset="-122"/>
                <a:cs typeface="Arial" pitchFamily="34" charset="-120"/>
              </a:rPr>
              <a:t>↓</a:t>
            </a:r>
            <a:endParaRPr lang="en-US" sz="1200" dirty="0"/>
          </a:p>
        </p:txBody>
      </p:sp>
      <p:sp>
        <p:nvSpPr>
          <p:cNvPr id="17" name="Shape 15"/>
          <p:cNvSpPr/>
          <p:nvPr/>
        </p:nvSpPr>
        <p:spPr>
          <a:xfrm>
            <a:off x="640080" y="3520440"/>
            <a:ext cx="3611880" cy="457200"/>
          </a:xfrm>
          <a:prstGeom prst="roundRect">
            <a:avLst>
              <a:gd name="adj" fmla="val 16000"/>
            </a:avLst>
          </a:prstGeom>
          <a:solidFill>
            <a:srgbClr val="EDF2F4"/>
          </a:solidFill>
          <a:ln/>
        </p:spPr>
      </p:sp>
      <p:sp>
        <p:nvSpPr>
          <p:cNvPr id="18" name="Text 16"/>
          <p:cNvSpPr/>
          <p:nvPr/>
        </p:nvSpPr>
        <p:spPr>
          <a:xfrm>
            <a:off x="640080" y="3520440"/>
            <a:ext cx="3611880" cy="457200"/>
          </a:xfrm>
          <a:prstGeom prst="rect">
            <a:avLst/>
          </a:prstGeom>
          <a:noFill/>
          <a:ln/>
        </p:spPr>
        <p:txBody>
          <a:bodyPr wrap="square" rtlCol="0" anchor="ctr"/>
          <a:lstStyle/>
          <a:p>
            <a:pPr algn="ctr" indent="0" marL="0">
              <a:buNone/>
            </a:pPr>
            <a:r>
              <a:rPr lang="en-US" sz="1300" dirty="0">
                <a:solidFill>
                  <a:srgbClr val="2B2D42"/>
                </a:solidFill>
                <a:latin typeface="Microsoft YaHei" pitchFamily="34" charset="0"/>
                <a:ea typeface="Microsoft YaHei" pitchFamily="34" charset="-122"/>
                <a:cs typeface="Microsoft YaHei" pitchFamily="34" charset="-120"/>
              </a:rPr>
              <a:t>专业毕业能干什么工作</a:t>
            </a:r>
            <a:endParaRPr lang="en-US" sz="1300" dirty="0"/>
          </a:p>
        </p:txBody>
      </p:sp>
      <p:sp>
        <p:nvSpPr>
          <p:cNvPr id="19" name="Shape 17"/>
          <p:cNvSpPr/>
          <p:nvPr/>
        </p:nvSpPr>
        <p:spPr>
          <a:xfrm>
            <a:off x="640080" y="4160520"/>
            <a:ext cx="3611880" cy="365760"/>
          </a:xfrm>
          <a:prstGeom prst="roundRect">
            <a:avLst>
              <a:gd name="adj" fmla="val 20000"/>
            </a:avLst>
          </a:prstGeom>
          <a:solidFill>
            <a:srgbClr val="EF233C"/>
          </a:solidFill>
          <a:ln/>
        </p:spPr>
      </p:sp>
      <p:sp>
        <p:nvSpPr>
          <p:cNvPr id="20" name="Text 18"/>
          <p:cNvSpPr/>
          <p:nvPr/>
        </p:nvSpPr>
        <p:spPr>
          <a:xfrm>
            <a:off x="640080" y="4160520"/>
            <a:ext cx="3611880" cy="3657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问题：终点被起点决定</a:t>
            </a:r>
            <a:endParaRPr lang="en-US" sz="1200" dirty="0"/>
          </a:p>
        </p:txBody>
      </p:sp>
      <p:sp>
        <p:nvSpPr>
          <p:cNvPr id="21" name="Shape 19"/>
          <p:cNvSpPr/>
          <p:nvPr/>
        </p:nvSpPr>
        <p:spPr>
          <a:xfrm>
            <a:off x="4709160" y="1005840"/>
            <a:ext cx="3977640" cy="3657600"/>
          </a:xfrm>
          <a:prstGeom prst="roundRect">
            <a:avLst>
              <a:gd name="adj" fmla="val 2500"/>
            </a:avLst>
          </a:prstGeom>
          <a:solidFill>
            <a:srgbClr val="FFFFFF"/>
          </a:solidFill>
          <a:ln w="12700">
            <a:solidFill>
              <a:srgbClr val="EDF2F4"/>
            </a:solidFill>
            <a:prstDash val="solid"/>
          </a:ln>
        </p:spPr>
      </p:sp>
      <p:sp>
        <p:nvSpPr>
          <p:cNvPr id="22" name="Shape 20"/>
          <p:cNvSpPr/>
          <p:nvPr/>
        </p:nvSpPr>
        <p:spPr>
          <a:xfrm>
            <a:off x="4709160" y="1005840"/>
            <a:ext cx="3977640" cy="548640"/>
          </a:xfrm>
          <a:prstGeom prst="rect">
            <a:avLst/>
          </a:prstGeom>
          <a:solidFill>
            <a:srgbClr val="EF233C"/>
          </a:solidFill>
          <a:ln/>
        </p:spPr>
      </p:sp>
      <p:sp>
        <p:nvSpPr>
          <p:cNvPr id="23" name="Text 21"/>
          <p:cNvSpPr/>
          <p:nvPr/>
        </p:nvSpPr>
        <p:spPr>
          <a:xfrm>
            <a:off x="4709160" y="1005840"/>
            <a:ext cx="3977640" cy="54864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倒推规划</a:t>
            </a:r>
            <a:endParaRPr lang="en-US" sz="1800" dirty="0"/>
          </a:p>
        </p:txBody>
      </p:sp>
      <p:sp>
        <p:nvSpPr>
          <p:cNvPr id="24" name="Shape 22"/>
          <p:cNvSpPr/>
          <p:nvPr/>
        </p:nvSpPr>
        <p:spPr>
          <a:xfrm>
            <a:off x="4892040" y="1737360"/>
            <a:ext cx="3611880" cy="457200"/>
          </a:xfrm>
          <a:prstGeom prst="roundRect">
            <a:avLst>
              <a:gd name="adj" fmla="val 16000"/>
            </a:avLst>
          </a:prstGeom>
          <a:solidFill>
            <a:srgbClr val="EDF2F4"/>
          </a:solidFill>
          <a:ln/>
        </p:spPr>
      </p:sp>
      <p:sp>
        <p:nvSpPr>
          <p:cNvPr id="25" name="Text 23"/>
          <p:cNvSpPr/>
          <p:nvPr/>
        </p:nvSpPr>
        <p:spPr>
          <a:xfrm>
            <a:off x="4572000" y="1737360"/>
            <a:ext cx="320040" cy="457200"/>
          </a:xfrm>
          <a:prstGeom prst="rect">
            <a:avLst/>
          </a:prstGeom>
          <a:noFill/>
          <a:ln/>
        </p:spPr>
        <p:txBody>
          <a:bodyPr wrap="square" rtlCol="0" anchor="ctr"/>
          <a:lstStyle/>
          <a:p>
            <a:pPr algn="ctr" indent="0" marL="0">
              <a:buNone/>
            </a:pPr>
            <a:r>
              <a:rPr lang="en-US" sz="1400" b="1" dirty="0">
                <a:solidFill>
                  <a:srgbClr val="EF233C"/>
                </a:solidFill>
                <a:latin typeface="Arial" pitchFamily="34" charset="0"/>
                <a:ea typeface="Arial" pitchFamily="34" charset="-122"/>
                <a:cs typeface="Arial" pitchFamily="34" charset="-120"/>
              </a:rPr>
              <a:t>→</a:t>
            </a:r>
            <a:endParaRPr lang="en-US" sz="1400" dirty="0"/>
          </a:p>
        </p:txBody>
      </p:sp>
      <p:sp>
        <p:nvSpPr>
          <p:cNvPr id="26" name="Text 24"/>
          <p:cNvSpPr/>
          <p:nvPr/>
        </p:nvSpPr>
        <p:spPr>
          <a:xfrm>
            <a:off x="4892040" y="1737360"/>
            <a:ext cx="3611880" cy="457200"/>
          </a:xfrm>
          <a:prstGeom prst="rect">
            <a:avLst/>
          </a:prstGeom>
          <a:noFill/>
          <a:ln/>
        </p:spPr>
        <p:txBody>
          <a:bodyPr wrap="square" rtlCol="0" anchor="ctr"/>
          <a:lstStyle/>
          <a:p>
            <a:pPr algn="ctr" indent="0" marL="0">
              <a:buNone/>
            </a:pPr>
            <a:r>
              <a:rPr lang="en-US" sz="1300" dirty="0">
                <a:solidFill>
                  <a:srgbClr val="2B2D42"/>
                </a:solidFill>
                <a:latin typeface="Microsoft YaHei" pitchFamily="34" charset="0"/>
                <a:ea typeface="Microsoft YaHei" pitchFamily="34" charset="-122"/>
                <a:cs typeface="Microsoft YaHei" pitchFamily="34" charset="-120"/>
              </a:rPr>
              <a:t>十年后想过什么日子</a:t>
            </a:r>
            <a:endParaRPr lang="en-US" sz="1300" dirty="0"/>
          </a:p>
        </p:txBody>
      </p:sp>
      <p:sp>
        <p:nvSpPr>
          <p:cNvPr id="27" name="Text 25"/>
          <p:cNvSpPr/>
          <p:nvPr/>
        </p:nvSpPr>
        <p:spPr>
          <a:xfrm>
            <a:off x="6492240" y="2148840"/>
            <a:ext cx="365760" cy="228600"/>
          </a:xfrm>
          <a:prstGeom prst="rect">
            <a:avLst/>
          </a:prstGeom>
          <a:noFill/>
          <a:ln/>
        </p:spPr>
        <p:txBody>
          <a:bodyPr wrap="square" rtlCol="0" anchor="ctr"/>
          <a:lstStyle/>
          <a:p>
            <a:pPr algn="ctr" indent="0" marL="0">
              <a:buNone/>
            </a:pPr>
            <a:r>
              <a:rPr lang="en-US" sz="1200" b="1" dirty="0">
                <a:solidFill>
                  <a:srgbClr val="8D99AE"/>
                </a:solidFill>
                <a:latin typeface="Arial" pitchFamily="34" charset="0"/>
                <a:ea typeface="Arial" pitchFamily="34" charset="-122"/>
                <a:cs typeface="Arial" pitchFamily="34" charset="-120"/>
              </a:rPr>
              <a:t>↓</a:t>
            </a:r>
            <a:endParaRPr lang="en-US" sz="1200" dirty="0"/>
          </a:p>
        </p:txBody>
      </p:sp>
      <p:sp>
        <p:nvSpPr>
          <p:cNvPr id="28" name="Shape 26"/>
          <p:cNvSpPr/>
          <p:nvPr/>
        </p:nvSpPr>
        <p:spPr>
          <a:xfrm>
            <a:off x="4892040" y="2331720"/>
            <a:ext cx="3611880" cy="457200"/>
          </a:xfrm>
          <a:prstGeom prst="roundRect">
            <a:avLst>
              <a:gd name="adj" fmla="val 16000"/>
            </a:avLst>
          </a:prstGeom>
          <a:solidFill>
            <a:srgbClr val="EDF2F4"/>
          </a:solidFill>
          <a:ln/>
        </p:spPr>
      </p:sp>
      <p:sp>
        <p:nvSpPr>
          <p:cNvPr id="29" name="Text 27"/>
          <p:cNvSpPr/>
          <p:nvPr/>
        </p:nvSpPr>
        <p:spPr>
          <a:xfrm>
            <a:off x="4892040" y="2331720"/>
            <a:ext cx="3611880" cy="457200"/>
          </a:xfrm>
          <a:prstGeom prst="rect">
            <a:avLst/>
          </a:prstGeom>
          <a:noFill/>
          <a:ln/>
        </p:spPr>
        <p:txBody>
          <a:bodyPr wrap="square" rtlCol="0" anchor="ctr"/>
          <a:lstStyle/>
          <a:p>
            <a:pPr algn="ctr" indent="0" marL="0">
              <a:buNone/>
            </a:pPr>
            <a:r>
              <a:rPr lang="en-US" sz="1300" dirty="0">
                <a:solidFill>
                  <a:srgbClr val="2B2D42"/>
                </a:solidFill>
                <a:latin typeface="Microsoft YaHei" pitchFamily="34" charset="0"/>
                <a:ea typeface="Microsoft YaHei" pitchFamily="34" charset="-122"/>
                <a:cs typeface="Microsoft YaHei" pitchFamily="34" charset="-120"/>
              </a:rPr>
              <a:t>什么工作领域</a:t>
            </a:r>
            <a:endParaRPr lang="en-US" sz="1300" dirty="0"/>
          </a:p>
        </p:txBody>
      </p:sp>
      <p:sp>
        <p:nvSpPr>
          <p:cNvPr id="30" name="Text 28"/>
          <p:cNvSpPr/>
          <p:nvPr/>
        </p:nvSpPr>
        <p:spPr>
          <a:xfrm>
            <a:off x="6492240" y="2743200"/>
            <a:ext cx="365760" cy="228600"/>
          </a:xfrm>
          <a:prstGeom prst="rect">
            <a:avLst/>
          </a:prstGeom>
          <a:noFill/>
          <a:ln/>
        </p:spPr>
        <p:txBody>
          <a:bodyPr wrap="square" rtlCol="0" anchor="ctr"/>
          <a:lstStyle/>
          <a:p>
            <a:pPr algn="ctr" indent="0" marL="0">
              <a:buNone/>
            </a:pPr>
            <a:r>
              <a:rPr lang="en-US" sz="1200" b="1" dirty="0">
                <a:solidFill>
                  <a:srgbClr val="8D99AE"/>
                </a:solidFill>
                <a:latin typeface="Arial" pitchFamily="34" charset="0"/>
                <a:ea typeface="Arial" pitchFamily="34" charset="-122"/>
                <a:cs typeface="Arial" pitchFamily="34" charset="-120"/>
              </a:rPr>
              <a:t>↓</a:t>
            </a:r>
            <a:endParaRPr lang="en-US" sz="1200" dirty="0"/>
          </a:p>
        </p:txBody>
      </p:sp>
      <p:sp>
        <p:nvSpPr>
          <p:cNvPr id="31" name="Shape 29"/>
          <p:cNvSpPr/>
          <p:nvPr/>
        </p:nvSpPr>
        <p:spPr>
          <a:xfrm>
            <a:off x="4892040" y="2926080"/>
            <a:ext cx="3611880" cy="457200"/>
          </a:xfrm>
          <a:prstGeom prst="roundRect">
            <a:avLst>
              <a:gd name="adj" fmla="val 16000"/>
            </a:avLst>
          </a:prstGeom>
          <a:solidFill>
            <a:srgbClr val="EDF2F4"/>
          </a:solidFill>
          <a:ln/>
        </p:spPr>
      </p:sp>
      <p:sp>
        <p:nvSpPr>
          <p:cNvPr id="32" name="Text 30"/>
          <p:cNvSpPr/>
          <p:nvPr/>
        </p:nvSpPr>
        <p:spPr>
          <a:xfrm>
            <a:off x="4892040" y="2926080"/>
            <a:ext cx="3611880" cy="457200"/>
          </a:xfrm>
          <a:prstGeom prst="rect">
            <a:avLst/>
          </a:prstGeom>
          <a:noFill/>
          <a:ln/>
        </p:spPr>
        <p:txBody>
          <a:bodyPr wrap="square" rtlCol="0" anchor="ctr"/>
          <a:lstStyle/>
          <a:p>
            <a:pPr algn="ctr" indent="0" marL="0">
              <a:buNone/>
            </a:pPr>
            <a:r>
              <a:rPr lang="en-US" sz="1300" dirty="0">
                <a:solidFill>
                  <a:srgbClr val="2B2D42"/>
                </a:solidFill>
                <a:latin typeface="Microsoft YaHei" pitchFamily="34" charset="0"/>
                <a:ea typeface="Microsoft YaHei" pitchFamily="34" charset="-122"/>
                <a:cs typeface="Microsoft YaHei" pitchFamily="34" charset="-120"/>
              </a:rPr>
              <a:t>对应哪些专业方向</a:t>
            </a:r>
            <a:endParaRPr lang="en-US" sz="1300" dirty="0"/>
          </a:p>
        </p:txBody>
      </p:sp>
      <p:sp>
        <p:nvSpPr>
          <p:cNvPr id="33" name="Text 31"/>
          <p:cNvSpPr/>
          <p:nvPr/>
        </p:nvSpPr>
        <p:spPr>
          <a:xfrm>
            <a:off x="6492240" y="3337560"/>
            <a:ext cx="365760" cy="228600"/>
          </a:xfrm>
          <a:prstGeom prst="rect">
            <a:avLst/>
          </a:prstGeom>
          <a:noFill/>
          <a:ln/>
        </p:spPr>
        <p:txBody>
          <a:bodyPr wrap="square" rtlCol="0" anchor="ctr"/>
          <a:lstStyle/>
          <a:p>
            <a:pPr algn="ctr" indent="0" marL="0">
              <a:buNone/>
            </a:pPr>
            <a:r>
              <a:rPr lang="en-US" sz="1200" b="1" dirty="0">
                <a:solidFill>
                  <a:srgbClr val="8D99AE"/>
                </a:solidFill>
                <a:latin typeface="Arial" pitchFamily="34" charset="0"/>
                <a:ea typeface="Arial" pitchFamily="34" charset="-122"/>
                <a:cs typeface="Arial" pitchFamily="34" charset="-120"/>
              </a:rPr>
              <a:t>↓</a:t>
            </a:r>
            <a:endParaRPr lang="en-US" sz="1200" dirty="0"/>
          </a:p>
        </p:txBody>
      </p:sp>
      <p:sp>
        <p:nvSpPr>
          <p:cNvPr id="34" name="Shape 32"/>
          <p:cNvSpPr/>
          <p:nvPr/>
        </p:nvSpPr>
        <p:spPr>
          <a:xfrm>
            <a:off x="4892040" y="3520440"/>
            <a:ext cx="3611880" cy="457200"/>
          </a:xfrm>
          <a:prstGeom prst="roundRect">
            <a:avLst>
              <a:gd name="adj" fmla="val 16000"/>
            </a:avLst>
          </a:prstGeom>
          <a:solidFill>
            <a:srgbClr val="EDF2F4"/>
          </a:solidFill>
          <a:ln/>
        </p:spPr>
      </p:sp>
      <p:sp>
        <p:nvSpPr>
          <p:cNvPr id="35" name="Text 33"/>
          <p:cNvSpPr/>
          <p:nvPr/>
        </p:nvSpPr>
        <p:spPr>
          <a:xfrm>
            <a:off x="4892040" y="3520440"/>
            <a:ext cx="3611880" cy="457200"/>
          </a:xfrm>
          <a:prstGeom prst="rect">
            <a:avLst/>
          </a:prstGeom>
          <a:noFill/>
          <a:ln/>
        </p:spPr>
        <p:txBody>
          <a:bodyPr wrap="square" rtlCol="0" anchor="ctr"/>
          <a:lstStyle/>
          <a:p>
            <a:pPr algn="ctr" indent="0" marL="0">
              <a:buNone/>
            </a:pPr>
            <a:r>
              <a:rPr lang="en-US" sz="1300" dirty="0">
                <a:solidFill>
                  <a:srgbClr val="2B2D42"/>
                </a:solidFill>
                <a:latin typeface="Microsoft YaHei" pitchFamily="34" charset="0"/>
                <a:ea typeface="Microsoft YaHei" pitchFamily="34" charset="-122"/>
                <a:cs typeface="Microsoft YaHei" pitchFamily="34" charset="-120"/>
              </a:rPr>
              <a:t>分数能够到的最优选择</a:t>
            </a:r>
            <a:endParaRPr lang="en-US" sz="1300" dirty="0"/>
          </a:p>
        </p:txBody>
      </p:sp>
      <p:sp>
        <p:nvSpPr>
          <p:cNvPr id="36" name="Shape 34"/>
          <p:cNvSpPr/>
          <p:nvPr/>
        </p:nvSpPr>
        <p:spPr>
          <a:xfrm>
            <a:off x="4892040" y="4160520"/>
            <a:ext cx="3611880" cy="365760"/>
          </a:xfrm>
          <a:prstGeom prst="roundRect">
            <a:avLst>
              <a:gd name="adj" fmla="val 20000"/>
            </a:avLst>
          </a:prstGeom>
          <a:solidFill>
            <a:srgbClr val="2B2D42"/>
          </a:solidFill>
          <a:ln/>
        </p:spPr>
      </p:sp>
      <p:sp>
        <p:nvSpPr>
          <p:cNvPr id="37" name="Text 35"/>
          <p:cNvSpPr/>
          <p:nvPr/>
        </p:nvSpPr>
        <p:spPr>
          <a:xfrm>
            <a:off x="4892040" y="4160520"/>
            <a:ext cx="3611880" cy="3657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优势：孩子参与每一步判断</a:t>
            </a:r>
            <a:endParaRPr lang="en-US" sz="1200" dirty="0"/>
          </a:p>
        </p:txBody>
      </p:sp>
      <p:sp>
        <p:nvSpPr>
          <p:cNvPr id="38" name="Shape 36"/>
          <p:cNvSpPr/>
          <p:nvPr/>
        </p:nvSpPr>
        <p:spPr>
          <a:xfrm>
            <a:off x="8503920" y="4663440"/>
            <a:ext cx="365760" cy="274320"/>
          </a:xfrm>
          <a:prstGeom prst="roundRect">
            <a:avLst>
              <a:gd name="adj" fmla="val 16667"/>
            </a:avLst>
          </a:prstGeom>
          <a:solidFill>
            <a:srgbClr val="EF233C"/>
          </a:solidFill>
          <a:ln/>
        </p:spPr>
      </p:sp>
      <p:sp>
        <p:nvSpPr>
          <p:cNvPr id="39" name="Text 37"/>
          <p:cNvSpPr/>
          <p:nvPr/>
        </p:nvSpPr>
        <p:spPr>
          <a:xfrm>
            <a:off x="8503920" y="4663440"/>
            <a:ext cx="3657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48640"/>
          </a:xfrm>
          <a:prstGeom prst="rect">
            <a:avLst/>
          </a:prstGeom>
          <a:noFill/>
          <a:ln/>
        </p:spPr>
        <p:txBody>
          <a:bodyPr wrap="square" rtlCol="0" anchor="ctr"/>
          <a:lstStyle/>
          <a:p>
            <a:pPr algn="l" indent="0" marL="0">
              <a:buNone/>
            </a:pPr>
            <a:r>
              <a:rPr lang="en-US" sz="2800" b="1" dirty="0">
                <a:solidFill>
                  <a:srgbClr val="2B2D42"/>
                </a:solidFill>
                <a:latin typeface="Microsoft YaHei" pitchFamily="34" charset="0"/>
                <a:ea typeface="Microsoft YaHei" pitchFamily="34" charset="-122"/>
                <a:cs typeface="Microsoft YaHei" pitchFamily="34" charset="-120"/>
              </a:rPr>
              <a:t>倒推的起点</a:t>
            </a:r>
            <a:endParaRPr lang="en-US" sz="2800" dirty="0"/>
          </a:p>
        </p:txBody>
      </p:sp>
      <p:sp>
        <p:nvSpPr>
          <p:cNvPr id="4" name="Shape 2"/>
          <p:cNvSpPr/>
          <p:nvPr/>
        </p:nvSpPr>
        <p:spPr>
          <a:xfrm>
            <a:off x="457200" y="1005840"/>
            <a:ext cx="1097280" cy="320040"/>
          </a:xfrm>
          <a:prstGeom prst="roundRect">
            <a:avLst>
              <a:gd name="adj" fmla="val 17143"/>
            </a:avLst>
          </a:prstGeom>
          <a:solidFill>
            <a:srgbClr val="EF233C"/>
          </a:solidFill>
          <a:ln/>
        </p:spPr>
      </p:sp>
      <p:sp>
        <p:nvSpPr>
          <p:cNvPr id="5" name="Text 3"/>
          <p:cNvSpPr/>
          <p:nvPr/>
        </p:nvSpPr>
        <p:spPr>
          <a:xfrm>
            <a:off x="457200" y="1005840"/>
            <a:ext cx="1097280" cy="3200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案例</a:t>
            </a:r>
            <a:endParaRPr lang="en-US" sz="1200" dirty="0"/>
          </a:p>
        </p:txBody>
      </p:sp>
      <p:sp>
        <p:nvSpPr>
          <p:cNvPr id="6" name="Shape 4"/>
          <p:cNvSpPr/>
          <p:nvPr/>
        </p:nvSpPr>
        <p:spPr>
          <a:xfrm>
            <a:off x="457200" y="1463040"/>
            <a:ext cx="8229600" cy="1371600"/>
          </a:xfrm>
          <a:prstGeom prst="roundRect">
            <a:avLst>
              <a:gd name="adj" fmla="val 6667"/>
            </a:avLst>
          </a:prstGeom>
          <a:solidFill>
            <a:srgbClr val="EDF2F4"/>
          </a:solidFill>
          <a:ln/>
        </p:spPr>
      </p:sp>
      <p:sp>
        <p:nvSpPr>
          <p:cNvPr id="7" name="Text 5"/>
          <p:cNvSpPr/>
          <p:nvPr/>
        </p:nvSpPr>
        <p:spPr>
          <a:xfrm>
            <a:off x="640080" y="1554480"/>
            <a:ext cx="7863840" cy="457200"/>
          </a:xfrm>
          <a:prstGeom prst="rect">
            <a:avLst/>
          </a:prstGeom>
          <a:noFill/>
          <a:ln/>
        </p:spPr>
        <p:txBody>
          <a:bodyPr wrap="square" rtlCol="0" anchor="ctr"/>
          <a:lstStyle/>
          <a:p>
            <a:pPr indent="0" marL="0">
              <a:buNone/>
            </a:pPr>
            <a:r>
              <a:rPr lang="en-US" sz="1500" dirty="0">
                <a:solidFill>
                  <a:srgbClr val="2B2D42"/>
                </a:solidFill>
                <a:latin typeface="Microsoft YaHei" pitchFamily="34" charset="0"/>
                <a:ea typeface="Microsoft YaHei" pitchFamily="34" charset="-122"/>
                <a:cs typeface="Microsoft YaHei" pitchFamily="34" charset="-120"/>
              </a:rPr>
              <a:t>那个男生说，他喜欢那种"能看到具体成果的事"——</a:t>
            </a:r>
            <a:endParaRPr lang="en-US" sz="1500" dirty="0"/>
          </a:p>
        </p:txBody>
      </p:sp>
      <p:sp>
        <p:nvSpPr>
          <p:cNvPr id="8" name="Text 6"/>
          <p:cNvSpPr/>
          <p:nvPr/>
        </p:nvSpPr>
        <p:spPr>
          <a:xfrm>
            <a:off x="640080" y="2011680"/>
            <a:ext cx="7863840" cy="457200"/>
          </a:xfrm>
          <a:prstGeom prst="rect">
            <a:avLst/>
          </a:prstGeom>
          <a:noFill/>
          <a:ln/>
        </p:spPr>
        <p:txBody>
          <a:bodyPr wrap="square" rtlCol="0" anchor="ctr"/>
          <a:lstStyle/>
          <a:p>
            <a:pPr algn="ctr" indent="0" marL="0">
              <a:buNone/>
            </a:pPr>
            <a:r>
              <a:rPr lang="en-US" sz="1400" dirty="0">
                <a:solidFill>
                  <a:srgbClr val="8D99AE"/>
                </a:solidFill>
                <a:latin typeface="Microsoft YaHei" pitchFamily="34" charset="0"/>
                <a:ea typeface="Microsoft YaHei" pitchFamily="34" charset="-122"/>
                <a:cs typeface="Microsoft YaHei" pitchFamily="34" charset="-120"/>
              </a:rPr>
              <a:t>修好一个东西 • 把混乱的房间收拾整齐 • 把数据整理出规律</a:t>
            </a:r>
            <a:endParaRPr lang="en-US" sz="1400" dirty="0"/>
          </a:p>
        </p:txBody>
      </p:sp>
      <p:sp>
        <p:nvSpPr>
          <p:cNvPr id="9" name="Shape 7"/>
          <p:cNvSpPr/>
          <p:nvPr/>
        </p:nvSpPr>
        <p:spPr>
          <a:xfrm>
            <a:off x="2286000" y="2560320"/>
            <a:ext cx="4572000" cy="411480"/>
          </a:xfrm>
          <a:prstGeom prst="roundRect">
            <a:avLst>
              <a:gd name="adj" fmla="val 17778"/>
            </a:avLst>
          </a:prstGeom>
          <a:solidFill>
            <a:srgbClr val="EF233C"/>
          </a:solidFill>
          <a:ln/>
        </p:spPr>
      </p:sp>
      <p:sp>
        <p:nvSpPr>
          <p:cNvPr id="10" name="Text 8"/>
          <p:cNvSpPr/>
          <p:nvPr/>
        </p:nvSpPr>
        <p:spPr>
          <a:xfrm>
            <a:off x="2286000" y="2560320"/>
            <a:ext cx="4572000" cy="41148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“从乱到整齐”的过程会让他觉得踏实</a:t>
            </a:r>
            <a:endParaRPr lang="en-US" sz="1400" dirty="0"/>
          </a:p>
        </p:txBody>
      </p:sp>
      <p:sp>
        <p:nvSpPr>
          <p:cNvPr id="11" name="Shape 9"/>
          <p:cNvSpPr/>
          <p:nvPr/>
        </p:nvSpPr>
        <p:spPr>
          <a:xfrm>
            <a:off x="457200" y="3200400"/>
            <a:ext cx="73152" cy="365760"/>
          </a:xfrm>
          <a:prstGeom prst="rect">
            <a:avLst/>
          </a:prstGeom>
          <a:solidFill>
            <a:srgbClr val="EF233C"/>
          </a:solidFill>
          <a:ln/>
        </p:spPr>
      </p:sp>
      <p:sp>
        <p:nvSpPr>
          <p:cNvPr id="12" name="Text 10"/>
          <p:cNvSpPr/>
          <p:nvPr/>
        </p:nvSpPr>
        <p:spPr>
          <a:xfrm>
            <a:off x="640080" y="3200400"/>
            <a:ext cx="1371600" cy="365760"/>
          </a:xfrm>
          <a:prstGeom prst="rect">
            <a:avLst/>
          </a:prstGeom>
          <a:noFill/>
          <a:ln/>
        </p:spPr>
        <p:txBody>
          <a:bodyPr wrap="square" rtlCol="0" anchor="ctr"/>
          <a:lstStyle/>
          <a:p>
            <a:pPr indent="0" marL="0">
              <a:buNone/>
            </a:pPr>
            <a:r>
              <a:rPr lang="en-US" sz="1400" b="1" dirty="0">
                <a:solidFill>
                  <a:srgbClr val="EF233C"/>
                </a:solidFill>
                <a:latin typeface="Microsoft YaHei" pitchFamily="34" charset="0"/>
                <a:ea typeface="Microsoft YaHei" pitchFamily="34" charset="-122"/>
                <a:cs typeface="Microsoft YaHei" pitchFamily="34" charset="-120"/>
              </a:rPr>
              <a:t>最终落在</a:t>
            </a:r>
            <a:endParaRPr lang="en-US" sz="1400" dirty="0"/>
          </a:p>
        </p:txBody>
      </p:sp>
      <p:sp>
        <p:nvSpPr>
          <p:cNvPr id="13" name="Shape 11"/>
          <p:cNvSpPr/>
          <p:nvPr/>
        </p:nvSpPr>
        <p:spPr>
          <a:xfrm>
            <a:off x="2011680" y="3154680"/>
            <a:ext cx="2926080" cy="457200"/>
          </a:xfrm>
          <a:prstGeom prst="roundRect">
            <a:avLst>
              <a:gd name="adj" fmla="val 16000"/>
            </a:avLst>
          </a:prstGeom>
          <a:solidFill>
            <a:srgbClr val="2B2D42"/>
          </a:solidFill>
          <a:ln/>
        </p:spPr>
      </p:sp>
      <p:sp>
        <p:nvSpPr>
          <p:cNvPr id="14" name="Text 12"/>
          <p:cNvSpPr/>
          <p:nvPr/>
        </p:nvSpPr>
        <p:spPr>
          <a:xfrm>
            <a:off x="2011680" y="3154680"/>
            <a:ext cx="292608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工程管理 / 质量控制</a:t>
            </a:r>
            <a:endParaRPr lang="en-US" sz="1600" dirty="0"/>
          </a:p>
        </p:txBody>
      </p:sp>
      <p:sp>
        <p:nvSpPr>
          <p:cNvPr id="15" name="Shape 13"/>
          <p:cNvSpPr/>
          <p:nvPr/>
        </p:nvSpPr>
        <p:spPr>
          <a:xfrm>
            <a:off x="457200" y="3794760"/>
            <a:ext cx="8229600" cy="914400"/>
          </a:xfrm>
          <a:prstGeom prst="roundRect">
            <a:avLst>
              <a:gd name="adj" fmla="val 10000"/>
            </a:avLst>
          </a:prstGeom>
          <a:solidFill>
            <a:srgbClr val="FFFFFF"/>
          </a:solidFill>
          <a:ln w="25400">
            <a:solidFill>
              <a:srgbClr val="2B2D42"/>
            </a:solidFill>
            <a:prstDash val="solid"/>
          </a:ln>
        </p:spPr>
      </p:sp>
      <p:sp>
        <p:nvSpPr>
          <p:cNvPr id="16" name="Shape 14"/>
          <p:cNvSpPr/>
          <p:nvPr/>
        </p:nvSpPr>
        <p:spPr>
          <a:xfrm>
            <a:off x="640080" y="3657600"/>
            <a:ext cx="1280160" cy="320040"/>
          </a:xfrm>
          <a:prstGeom prst="roundRect">
            <a:avLst>
              <a:gd name="adj" fmla="val 17143"/>
            </a:avLst>
          </a:prstGeom>
          <a:solidFill>
            <a:srgbClr val="2B2D42"/>
          </a:solidFill>
          <a:ln/>
        </p:spPr>
      </p:sp>
      <p:sp>
        <p:nvSpPr>
          <p:cNvPr id="17" name="Text 15"/>
          <p:cNvSpPr/>
          <p:nvPr/>
        </p:nvSpPr>
        <p:spPr>
          <a:xfrm>
            <a:off x="640080" y="3657600"/>
            <a:ext cx="1280160" cy="32004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关键洞察</a:t>
            </a:r>
            <a:endParaRPr lang="en-US" sz="1100" dirty="0"/>
          </a:p>
        </p:txBody>
      </p:sp>
      <p:sp>
        <p:nvSpPr>
          <p:cNvPr id="18" name="Text 16"/>
          <p:cNvSpPr/>
          <p:nvPr/>
        </p:nvSpPr>
        <p:spPr>
          <a:xfrm>
            <a:off x="640080" y="4069080"/>
            <a:ext cx="7863840" cy="502920"/>
          </a:xfrm>
          <a:prstGeom prst="rect">
            <a:avLst/>
          </a:prstGeom>
          <a:noFill/>
          <a:ln/>
        </p:spPr>
        <p:txBody>
          <a:bodyPr wrap="square" rtlCol="0" anchor="ctr"/>
          <a:lstStyle/>
          <a:p>
            <a:pPr algn="ctr" indent="0" marL="0">
              <a:buNone/>
            </a:pPr>
            <a:r>
              <a:rPr lang="en-US" sz="1600" b="1" dirty="0">
                <a:solidFill>
                  <a:srgbClr val="2B2D42"/>
                </a:solidFill>
                <a:latin typeface="Microsoft YaHei" pitchFamily="34" charset="0"/>
                <a:ea typeface="Microsoft YaHei" pitchFamily="34" charset="-122"/>
                <a:cs typeface="Microsoft YaHei" pitchFamily="34" charset="-120"/>
              </a:rPr>
              <a:t>答案不是算出来的，是问出来的——先问他是谁，再算他能去哪</a:t>
            </a:r>
            <a:endParaRPr lang="en-US" sz="1600" dirty="0"/>
          </a:p>
        </p:txBody>
      </p:sp>
      <p:sp>
        <p:nvSpPr>
          <p:cNvPr id="19" name="Shape 17"/>
          <p:cNvSpPr/>
          <p:nvPr/>
        </p:nvSpPr>
        <p:spPr>
          <a:xfrm>
            <a:off x="8503920" y="4663440"/>
            <a:ext cx="365760" cy="274320"/>
          </a:xfrm>
          <a:prstGeom prst="roundRect">
            <a:avLst>
              <a:gd name="adj" fmla="val 16667"/>
            </a:avLst>
          </a:prstGeom>
          <a:solidFill>
            <a:srgbClr val="EF233C"/>
          </a:solidFill>
          <a:ln/>
        </p:spPr>
      </p:sp>
      <p:sp>
        <p:nvSpPr>
          <p:cNvPr id="20" name="Text 18"/>
          <p:cNvSpPr/>
          <p:nvPr/>
        </p:nvSpPr>
        <p:spPr>
          <a:xfrm>
            <a:off x="8503920" y="4663440"/>
            <a:ext cx="3657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48640"/>
          </a:xfrm>
          <a:prstGeom prst="rect">
            <a:avLst/>
          </a:prstGeom>
          <a:noFill/>
          <a:ln/>
        </p:spPr>
        <p:txBody>
          <a:bodyPr wrap="square" rtlCol="0" anchor="ctr"/>
          <a:lstStyle/>
          <a:p>
            <a:pPr algn="l" indent="0" marL="0">
              <a:buNone/>
            </a:pPr>
            <a:r>
              <a:rPr lang="en-US" sz="2800" b="1" dirty="0">
                <a:solidFill>
                  <a:srgbClr val="2B2D42"/>
                </a:solidFill>
                <a:latin typeface="Microsoft YaHei" pitchFamily="34" charset="0"/>
                <a:ea typeface="Microsoft YaHei" pitchFamily="34" charset="-122"/>
                <a:cs typeface="Microsoft YaHei" pitchFamily="34" charset="-120"/>
              </a:rPr>
              <a:t>倒推规划的意外收获</a:t>
            </a:r>
            <a:endParaRPr lang="en-US" sz="2800" dirty="0"/>
          </a:p>
        </p:txBody>
      </p:sp>
      <p:sp>
        <p:nvSpPr>
          <p:cNvPr id="4" name="Shape 2"/>
          <p:cNvSpPr/>
          <p:nvPr/>
        </p:nvSpPr>
        <p:spPr>
          <a:xfrm>
            <a:off x="457200" y="960120"/>
            <a:ext cx="1463040" cy="320040"/>
          </a:xfrm>
          <a:prstGeom prst="roundRect">
            <a:avLst>
              <a:gd name="adj" fmla="val 17143"/>
            </a:avLst>
          </a:prstGeom>
          <a:solidFill>
            <a:srgbClr val="EF233C"/>
          </a:solidFill>
          <a:ln/>
        </p:spPr>
      </p:sp>
      <p:sp>
        <p:nvSpPr>
          <p:cNvPr id="5" name="Text 3"/>
          <p:cNvSpPr/>
          <p:nvPr/>
        </p:nvSpPr>
        <p:spPr>
          <a:xfrm>
            <a:off x="457200" y="960120"/>
            <a:ext cx="1463040" cy="3200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母女僵持案例</a:t>
            </a:r>
            <a:endParaRPr lang="en-US" sz="1200" dirty="0"/>
          </a:p>
        </p:txBody>
      </p:sp>
      <p:sp>
        <p:nvSpPr>
          <p:cNvPr id="6" name="Text 4"/>
          <p:cNvSpPr/>
          <p:nvPr/>
        </p:nvSpPr>
        <p:spPr>
          <a:xfrm>
            <a:off x="2103120" y="960120"/>
            <a:ext cx="3657600" cy="32004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妈妈坚持金融 ↔ 女儿想学设计</a:t>
            </a:r>
            <a:endParaRPr lang="en-US" sz="1400" dirty="0"/>
          </a:p>
        </p:txBody>
      </p:sp>
      <p:sp>
        <p:nvSpPr>
          <p:cNvPr id="7" name="Shape 5"/>
          <p:cNvSpPr/>
          <p:nvPr/>
        </p:nvSpPr>
        <p:spPr>
          <a:xfrm>
            <a:off x="457200" y="1463040"/>
            <a:ext cx="3977640" cy="1828800"/>
          </a:xfrm>
          <a:prstGeom prst="roundRect">
            <a:avLst>
              <a:gd name="adj" fmla="val 5000"/>
            </a:avLst>
          </a:prstGeom>
          <a:solidFill>
            <a:srgbClr val="FFFFFF"/>
          </a:solidFill>
          <a:ln w="12700">
            <a:solidFill>
              <a:srgbClr val="EDF2F4"/>
            </a:solidFill>
            <a:prstDash val="solid"/>
          </a:ln>
        </p:spPr>
      </p:sp>
      <p:sp>
        <p:nvSpPr>
          <p:cNvPr id="8" name="Shape 6"/>
          <p:cNvSpPr/>
          <p:nvPr/>
        </p:nvSpPr>
        <p:spPr>
          <a:xfrm>
            <a:off x="457200" y="1463040"/>
            <a:ext cx="3977640" cy="457200"/>
          </a:xfrm>
          <a:prstGeom prst="rect">
            <a:avLst/>
          </a:prstGeom>
          <a:solidFill>
            <a:srgbClr val="8D99AE"/>
          </a:solidFill>
          <a:ln/>
        </p:spPr>
      </p:sp>
      <p:sp>
        <p:nvSpPr>
          <p:cNvPr id="9" name="Text 7"/>
          <p:cNvSpPr/>
          <p:nvPr/>
        </p:nvSpPr>
        <p:spPr>
          <a:xfrm>
            <a:off x="457200" y="1463040"/>
            <a:ext cx="397764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妈妈真正担心的</a:t>
            </a:r>
            <a:endParaRPr lang="en-US" sz="1400" dirty="0"/>
          </a:p>
        </p:txBody>
      </p:sp>
      <p:sp>
        <p:nvSpPr>
          <p:cNvPr id="10" name="Text 8"/>
          <p:cNvSpPr/>
          <p:nvPr/>
        </p:nvSpPr>
        <p:spPr>
          <a:xfrm>
            <a:off x="640080" y="2057400"/>
            <a:ext cx="3611880" cy="1005840"/>
          </a:xfrm>
          <a:prstGeom prst="rect">
            <a:avLst/>
          </a:prstGeom>
          <a:noFill/>
          <a:ln/>
        </p:spPr>
        <p:txBody>
          <a:bodyPr wrap="square" rtlCol="0" anchor="ctr"/>
          <a:lstStyle/>
          <a:p>
            <a:pPr algn="ctr" indent="0" marL="0">
              <a:buNone/>
            </a:pPr>
            <a:r>
              <a:rPr lang="en-US" sz="1400" dirty="0">
                <a:solidFill>
                  <a:srgbClr val="2B2D42"/>
                </a:solidFill>
                <a:latin typeface="Microsoft YaHei" pitchFamily="34" charset="0"/>
                <a:ea typeface="Microsoft YaHei" pitchFamily="34" charset="-122"/>
                <a:cs typeface="Microsoft YaHei" pitchFamily="34" charset="-120"/>
              </a:rPr>
              <a:t>女儿以后能有稳定的收入、不用为钱发愁</a:t>
            </a:r>
            <a:endParaRPr lang="en-US" sz="1400" dirty="0"/>
          </a:p>
        </p:txBody>
      </p:sp>
      <p:sp>
        <p:nvSpPr>
          <p:cNvPr id="11" name="Shape 9"/>
          <p:cNvSpPr/>
          <p:nvPr/>
        </p:nvSpPr>
        <p:spPr>
          <a:xfrm>
            <a:off x="4709160" y="1463040"/>
            <a:ext cx="3977640" cy="1828800"/>
          </a:xfrm>
          <a:prstGeom prst="roundRect">
            <a:avLst>
              <a:gd name="adj" fmla="val 5000"/>
            </a:avLst>
          </a:prstGeom>
          <a:solidFill>
            <a:srgbClr val="FFFFFF"/>
          </a:solidFill>
          <a:ln w="12700">
            <a:solidFill>
              <a:srgbClr val="EDF2F4"/>
            </a:solidFill>
            <a:prstDash val="solid"/>
          </a:ln>
        </p:spPr>
      </p:sp>
      <p:sp>
        <p:nvSpPr>
          <p:cNvPr id="12" name="Shape 10"/>
          <p:cNvSpPr/>
          <p:nvPr/>
        </p:nvSpPr>
        <p:spPr>
          <a:xfrm>
            <a:off x="4709160" y="1463040"/>
            <a:ext cx="3977640" cy="457200"/>
          </a:xfrm>
          <a:prstGeom prst="rect">
            <a:avLst/>
          </a:prstGeom>
          <a:solidFill>
            <a:srgbClr val="EF233C"/>
          </a:solidFill>
          <a:ln/>
        </p:spPr>
      </p:sp>
      <p:sp>
        <p:nvSpPr>
          <p:cNvPr id="13" name="Text 11"/>
          <p:cNvSpPr/>
          <p:nvPr/>
        </p:nvSpPr>
        <p:spPr>
          <a:xfrm>
            <a:off x="4709160" y="1463040"/>
            <a:ext cx="397764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女儿真正想要的</a:t>
            </a:r>
            <a:endParaRPr lang="en-US" sz="1400" dirty="0"/>
          </a:p>
        </p:txBody>
      </p:sp>
      <p:sp>
        <p:nvSpPr>
          <p:cNvPr id="14" name="Text 12"/>
          <p:cNvSpPr/>
          <p:nvPr/>
        </p:nvSpPr>
        <p:spPr>
          <a:xfrm>
            <a:off x="4892040" y="2057400"/>
            <a:ext cx="3611880" cy="1005840"/>
          </a:xfrm>
          <a:prstGeom prst="rect">
            <a:avLst/>
          </a:prstGeom>
          <a:noFill/>
          <a:ln/>
        </p:spPr>
        <p:txBody>
          <a:bodyPr wrap="square" rtlCol="0" anchor="ctr"/>
          <a:lstStyle/>
          <a:p>
            <a:pPr algn="ctr" indent="0" marL="0">
              <a:buNone/>
            </a:pPr>
            <a:r>
              <a:rPr lang="en-US" sz="1400" dirty="0">
                <a:solidFill>
                  <a:srgbClr val="2B2D42"/>
                </a:solidFill>
                <a:latin typeface="Microsoft YaHei" pitchFamily="34" charset="0"/>
                <a:ea typeface="Microsoft YaHei" pitchFamily="34" charset="-122"/>
                <a:cs typeface="Microsoft YaHei" pitchFamily="34" charset="-120"/>
              </a:rPr>
              <a:t>每天做的事情是有创造性的、不是机械重复的</a:t>
            </a:r>
            <a:endParaRPr lang="en-US" sz="1400" dirty="0"/>
          </a:p>
        </p:txBody>
      </p:sp>
      <p:sp>
        <p:nvSpPr>
          <p:cNvPr id="15" name="Shape 13"/>
          <p:cNvSpPr/>
          <p:nvPr/>
        </p:nvSpPr>
        <p:spPr>
          <a:xfrm>
            <a:off x="457200" y="3474720"/>
            <a:ext cx="8229600" cy="914400"/>
          </a:xfrm>
          <a:prstGeom prst="roundRect">
            <a:avLst>
              <a:gd name="adj" fmla="val 10000"/>
            </a:avLst>
          </a:prstGeom>
          <a:solidFill>
            <a:srgbClr val="EDF2F4"/>
          </a:solidFill>
          <a:ln/>
        </p:spPr>
      </p:sp>
      <p:sp>
        <p:nvSpPr>
          <p:cNvPr id="16" name="Shape 14"/>
          <p:cNvSpPr/>
          <p:nvPr/>
        </p:nvSpPr>
        <p:spPr>
          <a:xfrm>
            <a:off x="640080" y="3611880"/>
            <a:ext cx="457200" cy="457200"/>
          </a:xfrm>
          <a:prstGeom prst="ellipse">
            <a:avLst/>
          </a:prstGeom>
          <a:solidFill>
            <a:srgbClr val="EF233C"/>
          </a:solidFill>
          <a:ln/>
        </p:spPr>
      </p:sp>
      <p:sp>
        <p:nvSpPr>
          <p:cNvPr id="17" name="Text 15"/>
          <p:cNvSpPr/>
          <p:nvPr/>
        </p:nvSpPr>
        <p:spPr>
          <a:xfrm>
            <a:off x="640080" y="361188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8" name="Text 16"/>
          <p:cNvSpPr/>
          <p:nvPr/>
        </p:nvSpPr>
        <p:spPr>
          <a:xfrm>
            <a:off x="1234440" y="3520440"/>
            <a:ext cx="7269480" cy="822960"/>
          </a:xfrm>
          <a:prstGeom prst="rect">
            <a:avLst/>
          </a:prstGeom>
          <a:noFill/>
          <a:ln/>
        </p:spPr>
        <p:txBody>
          <a:bodyPr wrap="square" rtlCol="0" anchor="ctr"/>
          <a:lstStyle/>
          <a:p>
            <a:pPr indent="0" marL="0">
              <a:buNone/>
            </a:pPr>
            <a:r>
              <a:rPr lang="en-US" sz="1300" dirty="0">
                <a:solidFill>
                  <a:srgbClr val="2B2D42"/>
                </a:solidFill>
                <a:latin typeface="Microsoft YaHei" pitchFamily="34" charset="0"/>
                <a:ea typeface="Microsoft YaHei" pitchFamily="34" charset="-122"/>
                <a:cs typeface="Microsoft YaHei" pitchFamily="34" charset="-120"/>
              </a:rPr>
              <a:t>母女俩多年来一直用"金融"和"设计"这两个专业名词在吵架，从来没有拆到"稳定"和"创造性"这两层更底层的诉求</a:t>
            </a:r>
            <a:endParaRPr lang="en-US" sz="1300" dirty="0"/>
          </a:p>
        </p:txBody>
      </p:sp>
      <p:sp>
        <p:nvSpPr>
          <p:cNvPr id="19" name="Shape 17"/>
          <p:cNvSpPr/>
          <p:nvPr/>
        </p:nvSpPr>
        <p:spPr>
          <a:xfrm>
            <a:off x="457200" y="4526280"/>
            <a:ext cx="8229600" cy="457200"/>
          </a:xfrm>
          <a:prstGeom prst="roundRect">
            <a:avLst>
              <a:gd name="adj" fmla="val 16000"/>
            </a:avLst>
          </a:prstGeom>
          <a:solidFill>
            <a:srgbClr val="2B2D42"/>
          </a:solidFill>
          <a:ln/>
        </p:spPr>
      </p:sp>
      <p:sp>
        <p:nvSpPr>
          <p:cNvPr id="20" name="Text 18"/>
          <p:cNvSpPr/>
          <p:nvPr/>
        </p:nvSpPr>
        <p:spPr>
          <a:xfrm>
            <a:off x="457200" y="4526280"/>
            <a:ext cx="822960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 找到了介于两者之间的方向，第一次达成真正的共识</a:t>
            </a:r>
            <a:endParaRPr lang="en-US" sz="1400" dirty="0"/>
          </a:p>
        </p:txBody>
      </p:sp>
      <p:sp>
        <p:nvSpPr>
          <p:cNvPr id="21" name="Shape 19"/>
          <p:cNvSpPr/>
          <p:nvPr/>
        </p:nvSpPr>
        <p:spPr>
          <a:xfrm>
            <a:off x="8503920" y="4663440"/>
            <a:ext cx="365760" cy="274320"/>
          </a:xfrm>
          <a:prstGeom prst="roundRect">
            <a:avLst>
              <a:gd name="adj" fmla="val 16667"/>
            </a:avLst>
          </a:prstGeom>
          <a:solidFill>
            <a:srgbClr val="EF233C"/>
          </a:solidFill>
          <a:ln/>
        </p:spPr>
      </p:sp>
      <p:sp>
        <p:nvSpPr>
          <p:cNvPr id="22" name="Text 20"/>
          <p:cNvSpPr/>
          <p:nvPr/>
        </p:nvSpPr>
        <p:spPr>
          <a:xfrm>
            <a:off x="8503920" y="4663440"/>
            <a:ext cx="3657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48640"/>
          </a:xfrm>
          <a:prstGeom prst="rect">
            <a:avLst/>
          </a:prstGeom>
          <a:noFill/>
          <a:ln/>
        </p:spPr>
        <p:txBody>
          <a:bodyPr wrap="square" rtlCol="0" anchor="ctr"/>
          <a:lstStyle/>
          <a:p>
            <a:pPr algn="l" indent="0" marL="0">
              <a:buNone/>
            </a:pPr>
            <a:r>
              <a:rPr lang="en-US" sz="2800" b="1" dirty="0">
                <a:solidFill>
                  <a:srgbClr val="2B2D42"/>
                </a:solidFill>
                <a:latin typeface="Microsoft YaHei" pitchFamily="34" charset="0"/>
                <a:ea typeface="Microsoft YaHei" pitchFamily="34" charset="-122"/>
                <a:cs typeface="Microsoft YaHei" pitchFamily="34" charset="-120"/>
              </a:rPr>
              <a:t>问不出答案怎么办</a:t>
            </a:r>
            <a:endParaRPr lang="en-US" sz="2800" dirty="0"/>
          </a:p>
        </p:txBody>
      </p:sp>
      <p:sp>
        <p:nvSpPr>
          <p:cNvPr id="4" name="Shape 2"/>
          <p:cNvSpPr/>
          <p:nvPr/>
        </p:nvSpPr>
        <p:spPr>
          <a:xfrm>
            <a:off x="457200" y="960120"/>
            <a:ext cx="8229600" cy="640080"/>
          </a:xfrm>
          <a:prstGeom prst="roundRect">
            <a:avLst>
              <a:gd name="adj" fmla="val 14286"/>
            </a:avLst>
          </a:prstGeom>
          <a:solidFill>
            <a:srgbClr val="EDF2F4"/>
          </a:solidFill>
          <a:ln/>
        </p:spPr>
      </p:sp>
      <p:sp>
        <p:nvSpPr>
          <p:cNvPr id="5" name="Text 3"/>
          <p:cNvSpPr/>
          <p:nvPr/>
        </p:nvSpPr>
        <p:spPr>
          <a:xfrm>
            <a:off x="640080" y="960120"/>
            <a:ext cx="7863840" cy="64008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有些孩子不管怎么换问法，始终没办法给出任何方向感，全程用"不知道""随便"应付</a:t>
            </a:r>
            <a:endParaRPr lang="en-US" sz="1400" dirty="0"/>
          </a:p>
        </p:txBody>
      </p:sp>
      <p:sp>
        <p:nvSpPr>
          <p:cNvPr id="6" name="Shape 4"/>
          <p:cNvSpPr/>
          <p:nvPr/>
        </p:nvSpPr>
        <p:spPr>
          <a:xfrm>
            <a:off x="457200" y="1783080"/>
            <a:ext cx="73152" cy="365760"/>
          </a:xfrm>
          <a:prstGeom prst="rect">
            <a:avLst/>
          </a:prstGeom>
          <a:solidFill>
            <a:srgbClr val="EF233C"/>
          </a:solidFill>
          <a:ln/>
        </p:spPr>
      </p:sp>
      <p:sp>
        <p:nvSpPr>
          <p:cNvPr id="7" name="Text 5"/>
          <p:cNvSpPr/>
          <p:nvPr/>
        </p:nvSpPr>
        <p:spPr>
          <a:xfrm>
            <a:off x="640080" y="1783080"/>
            <a:ext cx="1828800" cy="365760"/>
          </a:xfrm>
          <a:prstGeom prst="rect">
            <a:avLst/>
          </a:prstGeom>
          <a:noFill/>
          <a:ln/>
        </p:spPr>
        <p:txBody>
          <a:bodyPr wrap="square" rtlCol="0" anchor="ctr"/>
          <a:lstStyle/>
          <a:p>
            <a:pPr indent="0" marL="0">
              <a:buNone/>
            </a:pPr>
            <a:r>
              <a:rPr lang="en-US" sz="1400" b="1" dirty="0">
                <a:solidFill>
                  <a:srgbClr val="EF233C"/>
                </a:solidFill>
                <a:latin typeface="Microsoft YaHei" pitchFamily="34" charset="0"/>
                <a:ea typeface="Microsoft YaHei" pitchFamily="34" charset="-122"/>
                <a:cs typeface="Microsoft YaHei" pitchFamily="34" charset="-120"/>
              </a:rPr>
              <a:t>应对方法</a:t>
            </a:r>
            <a:endParaRPr lang="en-US" sz="1400" dirty="0"/>
          </a:p>
        </p:txBody>
      </p:sp>
      <p:sp>
        <p:nvSpPr>
          <p:cNvPr id="8" name="Shape 6"/>
          <p:cNvSpPr/>
          <p:nvPr/>
        </p:nvSpPr>
        <p:spPr>
          <a:xfrm>
            <a:off x="548640" y="2359152"/>
            <a:ext cx="365760" cy="365760"/>
          </a:xfrm>
          <a:prstGeom prst="ellipse">
            <a:avLst/>
          </a:prstGeom>
          <a:solidFill>
            <a:srgbClr val="2B2D42"/>
          </a:solidFill>
          <a:ln/>
        </p:spPr>
      </p:sp>
      <p:sp>
        <p:nvSpPr>
          <p:cNvPr id="9" name="Text 7"/>
          <p:cNvSpPr/>
          <p:nvPr/>
        </p:nvSpPr>
        <p:spPr>
          <a:xfrm>
            <a:off x="548640" y="2359152"/>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p:nvPr/>
        </p:nvSpPr>
        <p:spPr>
          <a:xfrm>
            <a:off x="1051560" y="2286000"/>
            <a:ext cx="7635240" cy="502920"/>
          </a:xfrm>
          <a:prstGeom prst="rect">
            <a:avLst/>
          </a:prstGeom>
          <a:noFill/>
          <a:ln/>
        </p:spPr>
        <p:txBody>
          <a:bodyPr wrap="square" rtlCol="0" anchor="ctr"/>
          <a:lstStyle/>
          <a:p>
            <a:pPr indent="0" marL="0">
              <a:buNone/>
            </a:pPr>
            <a:r>
              <a:rPr lang="en-US" sz="1300" dirty="0">
                <a:solidFill>
                  <a:srgbClr val="2B2D42"/>
                </a:solidFill>
                <a:latin typeface="Microsoft YaHei" pitchFamily="34" charset="0"/>
                <a:ea typeface="Microsoft YaHei" pitchFamily="34" charset="-122"/>
                <a:cs typeface="Microsoft YaHei" pitchFamily="34" charset="-120"/>
              </a:rPr>
              <a:t>不会强行逼出答案，那样得到的东西是假的</a:t>
            </a:r>
            <a:endParaRPr lang="en-US" sz="1300" dirty="0"/>
          </a:p>
        </p:txBody>
      </p:sp>
      <p:sp>
        <p:nvSpPr>
          <p:cNvPr id="11" name="Shape 9"/>
          <p:cNvSpPr/>
          <p:nvPr/>
        </p:nvSpPr>
        <p:spPr>
          <a:xfrm>
            <a:off x="548640" y="2953512"/>
            <a:ext cx="365760" cy="365760"/>
          </a:xfrm>
          <a:prstGeom prst="ellipse">
            <a:avLst/>
          </a:prstGeom>
          <a:solidFill>
            <a:srgbClr val="2B2D42"/>
          </a:solidFill>
          <a:ln/>
        </p:spPr>
      </p:sp>
      <p:sp>
        <p:nvSpPr>
          <p:cNvPr id="12" name="Text 10"/>
          <p:cNvSpPr/>
          <p:nvPr/>
        </p:nvSpPr>
        <p:spPr>
          <a:xfrm>
            <a:off x="548640" y="2953512"/>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1051560" y="2880360"/>
            <a:ext cx="7635240" cy="502920"/>
          </a:xfrm>
          <a:prstGeom prst="rect">
            <a:avLst/>
          </a:prstGeom>
          <a:noFill/>
          <a:ln/>
        </p:spPr>
        <p:txBody>
          <a:bodyPr wrap="square" rtlCol="0" anchor="ctr"/>
          <a:lstStyle/>
          <a:p>
            <a:pPr indent="0" marL="0">
              <a:buNone/>
            </a:pPr>
            <a:r>
              <a:rPr lang="en-US" sz="1300" dirty="0">
                <a:solidFill>
                  <a:srgbClr val="2B2D42"/>
                </a:solidFill>
                <a:latin typeface="Microsoft YaHei" pitchFamily="34" charset="0"/>
                <a:ea typeface="Microsoft YaHei" pitchFamily="34" charset="-122"/>
                <a:cs typeface="Microsoft YaHei" pitchFamily="34" charset="-120"/>
              </a:rPr>
              <a:t>退一步，先接受这个孩子现阶段确实还没有形成自我认知</a:t>
            </a:r>
            <a:endParaRPr lang="en-US" sz="1300" dirty="0"/>
          </a:p>
        </p:txBody>
      </p:sp>
      <p:sp>
        <p:nvSpPr>
          <p:cNvPr id="14" name="Shape 12"/>
          <p:cNvSpPr/>
          <p:nvPr/>
        </p:nvSpPr>
        <p:spPr>
          <a:xfrm>
            <a:off x="548640" y="3547872"/>
            <a:ext cx="365760" cy="365760"/>
          </a:xfrm>
          <a:prstGeom prst="ellipse">
            <a:avLst/>
          </a:prstGeom>
          <a:solidFill>
            <a:srgbClr val="2B2D42"/>
          </a:solidFill>
          <a:ln/>
        </p:spPr>
      </p:sp>
      <p:sp>
        <p:nvSpPr>
          <p:cNvPr id="15" name="Text 13"/>
          <p:cNvSpPr/>
          <p:nvPr/>
        </p:nvSpPr>
        <p:spPr>
          <a:xfrm>
            <a:off x="548640" y="3547872"/>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p:nvPr/>
        </p:nvSpPr>
        <p:spPr>
          <a:xfrm>
            <a:off x="1051560" y="3474720"/>
            <a:ext cx="7635240" cy="502920"/>
          </a:xfrm>
          <a:prstGeom prst="rect">
            <a:avLst/>
          </a:prstGeom>
          <a:noFill/>
          <a:ln/>
        </p:spPr>
        <p:txBody>
          <a:bodyPr wrap="square" rtlCol="0" anchor="ctr"/>
          <a:lstStyle/>
          <a:p>
            <a:pPr indent="0" marL="0">
              <a:buNone/>
            </a:pPr>
            <a:r>
              <a:rPr lang="en-US" sz="1300" dirty="0">
                <a:solidFill>
                  <a:srgbClr val="2B2D42"/>
                </a:solidFill>
                <a:latin typeface="Microsoft YaHei" pitchFamily="34" charset="0"/>
                <a:ea typeface="Microsoft YaHei" pitchFamily="34" charset="-122"/>
                <a:cs typeface="Microsoft YaHei" pitchFamily="34" charset="-120"/>
              </a:rPr>
              <a:t>志愿表还是要填，但更坦诚地告诉家长这是基于分数和产业判断的保守方案</a:t>
            </a:r>
            <a:endParaRPr lang="en-US" sz="1300" dirty="0"/>
          </a:p>
        </p:txBody>
      </p:sp>
      <p:sp>
        <p:nvSpPr>
          <p:cNvPr id="17" name="Shape 15"/>
          <p:cNvSpPr/>
          <p:nvPr/>
        </p:nvSpPr>
        <p:spPr>
          <a:xfrm>
            <a:off x="457200" y="4114800"/>
            <a:ext cx="8229600" cy="502920"/>
          </a:xfrm>
          <a:prstGeom prst="roundRect">
            <a:avLst>
              <a:gd name="adj" fmla="val 18182"/>
            </a:avLst>
          </a:prstGeom>
          <a:solidFill>
            <a:srgbClr val="FFFFFF"/>
          </a:solidFill>
          <a:ln w="19050">
            <a:solidFill>
              <a:srgbClr val="EF233C"/>
            </a:solidFill>
            <a:prstDash val="solid"/>
          </a:ln>
        </p:spPr>
      </p:sp>
      <p:sp>
        <p:nvSpPr>
          <p:cNvPr id="18" name="Text 16"/>
          <p:cNvSpPr/>
          <p:nvPr/>
        </p:nvSpPr>
        <p:spPr>
          <a:xfrm>
            <a:off x="640080" y="4114800"/>
            <a:ext cx="7863840" cy="502920"/>
          </a:xfrm>
          <a:prstGeom prst="rect">
            <a:avLst/>
          </a:prstGeom>
          <a:noFill/>
          <a:ln/>
        </p:spPr>
        <p:txBody>
          <a:bodyPr wrap="square" rtlCol="0" anchor="ctr"/>
          <a:lstStyle/>
          <a:p>
            <a:pPr algn="ctr" indent="0" marL="0">
              <a:buNone/>
            </a:pPr>
            <a:r>
              <a:rPr lang="en-US" sz="1400" b="1" dirty="0">
                <a:solidFill>
                  <a:srgbClr val="2B2D42"/>
                </a:solidFill>
                <a:latin typeface="Microsoft YaHei" pitchFamily="34" charset="0"/>
                <a:ea typeface="Microsoft YaHei" pitchFamily="34" charset="-122"/>
                <a:cs typeface="Microsoft YaHei" pitchFamily="34" charset="-120"/>
              </a:rPr>
              <a:t>建议在孩子进入大学之后，继续留出空间让他慢慢摸索</a:t>
            </a:r>
            <a:endParaRPr lang="en-US" sz="1400" dirty="0"/>
          </a:p>
        </p:txBody>
      </p:sp>
      <p:sp>
        <p:nvSpPr>
          <p:cNvPr id="19" name="Shape 17"/>
          <p:cNvSpPr/>
          <p:nvPr/>
        </p:nvSpPr>
        <p:spPr>
          <a:xfrm>
            <a:off x="1371600" y="4709160"/>
            <a:ext cx="6400800" cy="320040"/>
          </a:xfrm>
          <a:prstGeom prst="roundRect">
            <a:avLst>
              <a:gd name="adj" fmla="val 17143"/>
            </a:avLst>
          </a:prstGeom>
          <a:solidFill>
            <a:srgbClr val="EF233C"/>
          </a:solidFill>
          <a:ln/>
        </p:spPr>
      </p:sp>
      <p:sp>
        <p:nvSpPr>
          <p:cNvPr id="20" name="Text 18"/>
          <p:cNvSpPr/>
          <p:nvPr/>
        </p:nvSpPr>
        <p:spPr>
          <a:xfrm>
            <a:off x="1371600" y="4709160"/>
            <a:ext cx="6400800" cy="320040"/>
          </a:xfrm>
          <a:prstGeom prst="rect">
            <a:avLst/>
          </a:prstGeom>
          <a:noFill/>
          <a:ln/>
        </p:spPr>
        <p:txBody>
          <a:bodyPr wrap="square" rtlCol="0" anchor="ctr"/>
          <a:lstStyle/>
          <a:p>
            <a:pPr algn="ctr" indent="0" marL="0">
              <a:buNone/>
            </a:pPr>
            <a:r>
              <a:rPr lang="en-US" sz="1100" dirty="0">
                <a:solidFill>
                  <a:srgbClr val="FFFFFF"/>
                </a:solidFill>
                <a:latin typeface="Microsoft YaHei" pitchFamily="34" charset="0"/>
                <a:ea typeface="Microsoft YaHei" pitchFamily="34" charset="-122"/>
                <a:cs typeface="Microsoft YaHei" pitchFamily="34" charset="-120"/>
              </a:rPr>
              <a:t>“不要把这次的专业选择当成板上钉钉、一辈子不能变的事情”</a:t>
            </a:r>
            <a:endParaRPr lang="en-US" sz="1100" dirty="0"/>
          </a:p>
        </p:txBody>
      </p:sp>
      <p:sp>
        <p:nvSpPr>
          <p:cNvPr id="21" name="Shape 19"/>
          <p:cNvSpPr/>
          <p:nvPr/>
        </p:nvSpPr>
        <p:spPr>
          <a:xfrm>
            <a:off x="8503920" y="4663440"/>
            <a:ext cx="365760" cy="274320"/>
          </a:xfrm>
          <a:prstGeom prst="roundRect">
            <a:avLst>
              <a:gd name="adj" fmla="val 16667"/>
            </a:avLst>
          </a:prstGeom>
          <a:solidFill>
            <a:srgbClr val="EF233C"/>
          </a:solidFill>
          <a:ln/>
        </p:spPr>
      </p:sp>
      <p:sp>
        <p:nvSpPr>
          <p:cNvPr id="22" name="Text 20"/>
          <p:cNvSpPr/>
          <p:nvPr/>
        </p:nvSpPr>
        <p:spPr>
          <a:xfrm>
            <a:off x="8503920" y="4663440"/>
            <a:ext cx="3657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457200" y="320040"/>
            <a:ext cx="914400" cy="365760"/>
          </a:xfrm>
          <a:prstGeom prst="roundRect">
            <a:avLst>
              <a:gd name="adj" fmla="val 15000"/>
            </a:avLst>
          </a:prstGeom>
          <a:solidFill>
            <a:srgbClr val="EF233C"/>
          </a:solidFill>
          <a:ln/>
        </p:spPr>
      </p:sp>
      <p:sp>
        <p:nvSpPr>
          <p:cNvPr id="4" name="Text 2"/>
          <p:cNvSpPr/>
          <p:nvPr/>
        </p:nvSpPr>
        <p:spPr>
          <a:xfrm>
            <a:off x="457200" y="320040"/>
            <a:ext cx="91440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第6章</a:t>
            </a:r>
            <a:endParaRPr lang="en-US" sz="1400" dirty="0"/>
          </a:p>
        </p:txBody>
      </p:sp>
      <p:sp>
        <p:nvSpPr>
          <p:cNvPr id="5" name="Text 3"/>
          <p:cNvSpPr/>
          <p:nvPr/>
        </p:nvSpPr>
        <p:spPr>
          <a:xfrm>
            <a:off x="1508760" y="274320"/>
            <a:ext cx="7178040" cy="502920"/>
          </a:xfrm>
          <a:prstGeom prst="rect">
            <a:avLst/>
          </a:prstGeom>
          <a:noFill/>
          <a:ln/>
        </p:spPr>
        <p:txBody>
          <a:bodyPr wrap="square" rtlCol="0" anchor="ctr"/>
          <a:lstStyle/>
          <a:p>
            <a:pPr algn="l" indent="0" marL="0">
              <a:buNone/>
            </a:pPr>
            <a:r>
              <a:rPr lang="en-US" sz="2600" b="1" dirty="0">
                <a:solidFill>
                  <a:srgbClr val="2B2D42"/>
                </a:solidFill>
                <a:latin typeface="Microsoft YaHei" pitchFamily="34" charset="0"/>
                <a:ea typeface="Microsoft YaHei" pitchFamily="34" charset="-122"/>
                <a:cs typeface="Microsoft YaHei" pitchFamily="34" charset="-120"/>
              </a:rPr>
              <a:t>AI能算的和算不出的，中间那条线在哪</a:t>
            </a:r>
            <a:endParaRPr lang="en-US" sz="2600" dirty="0"/>
          </a:p>
        </p:txBody>
      </p:sp>
      <p:sp>
        <p:nvSpPr>
          <p:cNvPr id="6" name="Shape 4"/>
          <p:cNvSpPr/>
          <p:nvPr/>
        </p:nvSpPr>
        <p:spPr>
          <a:xfrm>
            <a:off x="457200" y="868680"/>
            <a:ext cx="8229600" cy="13716"/>
          </a:xfrm>
          <a:prstGeom prst="rect">
            <a:avLst/>
          </a:prstGeom>
          <a:solidFill>
            <a:srgbClr val="EDF2F4"/>
          </a:solidFill>
          <a:ln/>
        </p:spPr>
      </p:sp>
      <p:sp>
        <p:nvSpPr>
          <p:cNvPr id="7" name="Shape 5"/>
          <p:cNvSpPr/>
          <p:nvPr/>
        </p:nvSpPr>
        <p:spPr>
          <a:xfrm>
            <a:off x="731520" y="1280160"/>
            <a:ext cx="7680960" cy="2560320"/>
          </a:xfrm>
          <a:prstGeom prst="roundRect">
            <a:avLst>
              <a:gd name="adj" fmla="val 4286"/>
            </a:avLst>
          </a:prstGeom>
          <a:solidFill>
            <a:srgbClr val="FFFFFF"/>
          </a:solidFill>
          <a:ln/>
          <a:effectLst>
            <a:outerShdw sx="100000" sy="100000" kx="0" ky="0" algn="bl" rotWithShape="0" blurRad="76200" dist="38100" dir="8100000">
              <a:srgbClr val="000000">
                <a:alpha val="10000"/>
              </a:srgbClr>
            </a:outerShdw>
          </a:effectLst>
        </p:spPr>
      </p:sp>
      <p:sp>
        <p:nvSpPr>
          <p:cNvPr id="8" name="Shape 6"/>
          <p:cNvSpPr/>
          <p:nvPr/>
        </p:nvSpPr>
        <p:spPr>
          <a:xfrm>
            <a:off x="731520" y="1280160"/>
            <a:ext cx="91440" cy="2560320"/>
          </a:xfrm>
          <a:prstGeom prst="rect">
            <a:avLst/>
          </a:prstGeom>
          <a:solidFill>
            <a:srgbClr val="EF233C"/>
          </a:solidFill>
          <a:ln/>
        </p:spPr>
      </p:sp>
      <p:sp>
        <p:nvSpPr>
          <p:cNvPr id="9" name="Text 7"/>
          <p:cNvSpPr/>
          <p:nvPr/>
        </p:nvSpPr>
        <p:spPr>
          <a:xfrm>
            <a:off x="1097280" y="1554480"/>
            <a:ext cx="6949440" cy="548640"/>
          </a:xfrm>
          <a:prstGeom prst="rect">
            <a:avLst/>
          </a:prstGeom>
          <a:noFill/>
          <a:ln/>
        </p:spPr>
        <p:txBody>
          <a:bodyPr wrap="square" rtlCol="0" anchor="ctr"/>
          <a:lstStyle/>
          <a:p>
            <a:pPr algn="ctr" indent="0" marL="0">
              <a:buNone/>
            </a:pPr>
            <a:r>
              <a:rPr lang="en-US" sz="2000" b="1" dirty="0">
                <a:solidFill>
                  <a:srgbClr val="2B2D42"/>
                </a:solidFill>
                <a:latin typeface="Microsoft YaHei" pitchFamily="34" charset="0"/>
                <a:ea typeface="Microsoft YaHei" pitchFamily="34" charset="-122"/>
                <a:cs typeface="Microsoft YaHei" pitchFamily="34" charset="-120"/>
              </a:rPr>
              <a:t>AI能替你把冲稳保算得比谁都精确，</a:t>
            </a:r>
            <a:endParaRPr lang="en-US" sz="2000" dirty="0"/>
          </a:p>
        </p:txBody>
      </p:sp>
      <p:sp>
        <p:nvSpPr>
          <p:cNvPr id="10" name="Text 8"/>
          <p:cNvSpPr/>
          <p:nvPr/>
        </p:nvSpPr>
        <p:spPr>
          <a:xfrm>
            <a:off x="1097280" y="2103120"/>
            <a:ext cx="6949440" cy="548640"/>
          </a:xfrm>
          <a:prstGeom prst="rect">
            <a:avLst/>
          </a:prstGeom>
          <a:noFill/>
          <a:ln/>
        </p:spPr>
        <p:txBody>
          <a:bodyPr wrap="square" rtlCol="0" anchor="ctr"/>
          <a:lstStyle/>
          <a:p>
            <a:pPr algn="ctr" indent="0" marL="0">
              <a:buNone/>
            </a:pPr>
            <a:r>
              <a:rPr lang="en-US" sz="2000" b="1" dirty="0">
                <a:solidFill>
                  <a:srgbClr val="EF233C"/>
                </a:solidFill>
                <a:latin typeface="Microsoft YaHei" pitchFamily="34" charset="0"/>
                <a:ea typeface="Microsoft YaHei" pitchFamily="34" charset="-122"/>
                <a:cs typeface="Microsoft YaHei" pitchFamily="34" charset="-120"/>
              </a:rPr>
              <a:t>它算不出的是那道题背后那道题</a:t>
            </a:r>
            <a:endParaRPr lang="en-US" sz="2000" dirty="0"/>
          </a:p>
        </p:txBody>
      </p:sp>
      <p:sp>
        <p:nvSpPr>
          <p:cNvPr id="11" name="Shape 9"/>
          <p:cNvSpPr/>
          <p:nvPr/>
        </p:nvSpPr>
        <p:spPr>
          <a:xfrm>
            <a:off x="2743200" y="2743200"/>
            <a:ext cx="3657600" cy="18288"/>
          </a:xfrm>
          <a:prstGeom prst="rect">
            <a:avLst/>
          </a:prstGeom>
          <a:solidFill>
            <a:srgbClr val="EDF2F4"/>
          </a:solidFill>
          <a:ln/>
        </p:spPr>
      </p:sp>
      <p:sp>
        <p:nvSpPr>
          <p:cNvPr id="12" name="Text 10"/>
          <p:cNvSpPr/>
          <p:nvPr/>
        </p:nvSpPr>
        <p:spPr>
          <a:xfrm>
            <a:off x="1097280" y="2926080"/>
            <a:ext cx="6949440" cy="640080"/>
          </a:xfrm>
          <a:prstGeom prst="rect">
            <a:avLst/>
          </a:prstGeom>
          <a:noFill/>
          <a:ln/>
        </p:spPr>
        <p:txBody>
          <a:bodyPr wrap="square" rtlCol="0" anchor="ctr"/>
          <a:lstStyle/>
          <a:p>
            <a:pPr algn="ctr" indent="0" marL="0">
              <a:buNone/>
            </a:pPr>
            <a:r>
              <a:rPr lang="en-US" sz="1800" dirty="0">
                <a:solidFill>
                  <a:srgbClr val="8D99AE"/>
                </a:solidFill>
                <a:latin typeface="Microsoft YaHei" pitchFamily="34" charset="0"/>
                <a:ea typeface="Microsoft YaHei" pitchFamily="34" charset="-122"/>
                <a:cs typeface="Microsoft YaHei" pitchFamily="34" charset="-120"/>
              </a:rPr>
              <a:t>这个人到底是谁，这件事永远得靠人</a:t>
            </a:r>
            <a:endParaRPr lang="en-US" sz="1800" dirty="0"/>
          </a:p>
        </p:txBody>
      </p:sp>
      <p:sp>
        <p:nvSpPr>
          <p:cNvPr id="13" name="Shape 11"/>
          <p:cNvSpPr/>
          <p:nvPr/>
        </p:nvSpPr>
        <p:spPr>
          <a:xfrm>
            <a:off x="1371600" y="4023360"/>
            <a:ext cx="2743200" cy="640080"/>
          </a:xfrm>
          <a:prstGeom prst="roundRect">
            <a:avLst>
              <a:gd name="adj" fmla="val 11429"/>
            </a:avLst>
          </a:prstGeom>
          <a:solidFill>
            <a:srgbClr val="2B2D42"/>
          </a:solidFill>
          <a:ln/>
        </p:spPr>
      </p:sp>
      <p:sp>
        <p:nvSpPr>
          <p:cNvPr id="14" name="Text 12"/>
          <p:cNvSpPr/>
          <p:nvPr/>
        </p:nvSpPr>
        <p:spPr>
          <a:xfrm>
            <a:off x="1371600" y="4023360"/>
            <a:ext cx="2743200" cy="64008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AI能算</a:t>
            </a:r>
            <a:endParaRPr lang="en-US" sz="1600" dirty="0"/>
          </a:p>
        </p:txBody>
      </p:sp>
      <p:sp>
        <p:nvSpPr>
          <p:cNvPr id="15" name="Text 13"/>
          <p:cNvSpPr/>
          <p:nvPr/>
        </p:nvSpPr>
        <p:spPr>
          <a:xfrm>
            <a:off x="4114800" y="4023360"/>
            <a:ext cx="914400" cy="640080"/>
          </a:xfrm>
          <a:prstGeom prst="rect">
            <a:avLst/>
          </a:prstGeom>
          <a:noFill/>
          <a:ln/>
        </p:spPr>
        <p:txBody>
          <a:bodyPr wrap="square" rtlCol="0" anchor="ctr"/>
          <a:lstStyle/>
          <a:p>
            <a:pPr algn="ctr" indent="0" marL="0">
              <a:buNone/>
            </a:pPr>
            <a:r>
              <a:rPr lang="en-US" sz="2400" b="1" dirty="0">
                <a:solidFill>
                  <a:srgbClr val="EF233C"/>
                </a:solidFill>
                <a:latin typeface="Arial" pitchFamily="34" charset="0"/>
                <a:ea typeface="Arial" pitchFamily="34" charset="-122"/>
                <a:cs typeface="Arial" pitchFamily="34" charset="-120"/>
              </a:rPr>
              <a:t>→</a:t>
            </a:r>
            <a:endParaRPr lang="en-US" sz="2400" dirty="0"/>
          </a:p>
        </p:txBody>
      </p:sp>
      <p:sp>
        <p:nvSpPr>
          <p:cNvPr id="16" name="Shape 14"/>
          <p:cNvSpPr/>
          <p:nvPr/>
        </p:nvSpPr>
        <p:spPr>
          <a:xfrm>
            <a:off x="5029200" y="4023360"/>
            <a:ext cx="2743200" cy="640080"/>
          </a:xfrm>
          <a:prstGeom prst="roundRect">
            <a:avLst>
              <a:gd name="adj" fmla="val 11429"/>
            </a:avLst>
          </a:prstGeom>
          <a:solidFill>
            <a:srgbClr val="8D99AE"/>
          </a:solidFill>
          <a:ln/>
        </p:spPr>
      </p:sp>
      <p:sp>
        <p:nvSpPr>
          <p:cNvPr id="17" name="Text 15"/>
          <p:cNvSpPr/>
          <p:nvPr/>
        </p:nvSpPr>
        <p:spPr>
          <a:xfrm>
            <a:off x="5029200" y="4023360"/>
            <a:ext cx="2743200" cy="64008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AI算不出</a:t>
            </a:r>
            <a:endParaRPr lang="en-US" sz="1600" dirty="0"/>
          </a:p>
        </p:txBody>
      </p:sp>
      <p:sp>
        <p:nvSpPr>
          <p:cNvPr id="18" name="Shape 16"/>
          <p:cNvSpPr/>
          <p:nvPr/>
        </p:nvSpPr>
        <p:spPr>
          <a:xfrm>
            <a:off x="8503920" y="4663440"/>
            <a:ext cx="365760" cy="274320"/>
          </a:xfrm>
          <a:prstGeom prst="roundRect">
            <a:avLst>
              <a:gd name="adj" fmla="val 16667"/>
            </a:avLst>
          </a:prstGeom>
          <a:solidFill>
            <a:srgbClr val="EF233C"/>
          </a:solidFill>
          <a:ln/>
        </p:spPr>
      </p:sp>
      <p:sp>
        <p:nvSpPr>
          <p:cNvPr id="19" name="Text 17"/>
          <p:cNvSpPr/>
          <p:nvPr/>
        </p:nvSpPr>
        <p:spPr>
          <a:xfrm>
            <a:off x="8503920" y="4663440"/>
            <a:ext cx="3657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48640"/>
          </a:xfrm>
          <a:prstGeom prst="rect">
            <a:avLst/>
          </a:prstGeom>
          <a:noFill/>
          <a:ln/>
        </p:spPr>
        <p:txBody>
          <a:bodyPr wrap="square" rtlCol="0" anchor="ctr"/>
          <a:lstStyle/>
          <a:p>
            <a:pPr algn="l" indent="0" marL="0">
              <a:buNone/>
            </a:pPr>
            <a:r>
              <a:rPr lang="en-US" sz="2800" b="1" dirty="0">
                <a:solidFill>
                  <a:srgbClr val="2B2D42"/>
                </a:solidFill>
                <a:latin typeface="Microsoft YaHei" pitchFamily="34" charset="0"/>
                <a:ea typeface="Microsoft YaHei" pitchFamily="34" charset="-122"/>
                <a:cs typeface="Microsoft YaHei" pitchFamily="34" charset="-120"/>
              </a:rPr>
              <a:t>AI擅长什么</a:t>
            </a:r>
            <a:endParaRPr lang="en-US" sz="2800" dirty="0"/>
          </a:p>
        </p:txBody>
      </p:sp>
      <p:sp>
        <p:nvSpPr>
          <p:cNvPr id="4" name="Shape 2"/>
          <p:cNvSpPr/>
          <p:nvPr/>
        </p:nvSpPr>
        <p:spPr>
          <a:xfrm>
            <a:off x="457200" y="960120"/>
            <a:ext cx="8229600" cy="594360"/>
          </a:xfrm>
          <a:prstGeom prst="roundRect">
            <a:avLst>
              <a:gd name="adj" fmla="val 15385"/>
            </a:avLst>
          </a:prstGeom>
          <a:solidFill>
            <a:srgbClr val="EDF2F4"/>
          </a:solidFill>
          <a:ln/>
        </p:spPr>
      </p:sp>
      <p:sp>
        <p:nvSpPr>
          <p:cNvPr id="5" name="Text 3"/>
          <p:cNvSpPr/>
          <p:nvPr/>
        </p:nvSpPr>
        <p:spPr>
          <a:xfrm>
            <a:off x="640080" y="960120"/>
            <a:ext cx="7863840" cy="594360"/>
          </a:xfrm>
          <a:prstGeom prst="rect">
            <a:avLst/>
          </a:prstGeom>
          <a:noFill/>
          <a:ln/>
        </p:spPr>
        <p:txBody>
          <a:bodyPr wrap="square" rtlCol="0" anchor="ctr"/>
          <a:lstStyle/>
          <a:p>
            <a:pPr indent="0" marL="0">
              <a:buNone/>
            </a:pPr>
            <a:r>
              <a:rPr lang="en-US" sz="1500" b="1" dirty="0">
                <a:solidFill>
                  <a:srgbClr val="2B2D42"/>
                </a:solidFill>
                <a:latin typeface="Microsoft YaHei" pitchFamily="34" charset="0"/>
                <a:ea typeface="Microsoft YaHei" pitchFamily="34" charset="-122"/>
                <a:cs typeface="Microsoft YaHei" pitchFamily="34" charset="-120"/>
              </a:rPr>
              <a:t>AI擅长做的是那种输入明确、规则清晰、可以被结构化的计算</a:t>
            </a:r>
            <a:endParaRPr lang="en-US" sz="1500" dirty="0"/>
          </a:p>
        </p:txBody>
      </p:sp>
      <p:sp>
        <p:nvSpPr>
          <p:cNvPr id="6" name="Shape 4"/>
          <p:cNvSpPr/>
          <p:nvPr/>
        </p:nvSpPr>
        <p:spPr>
          <a:xfrm>
            <a:off x="457200" y="1737360"/>
            <a:ext cx="73152" cy="365760"/>
          </a:xfrm>
          <a:prstGeom prst="rect">
            <a:avLst/>
          </a:prstGeom>
          <a:solidFill>
            <a:srgbClr val="EF233C"/>
          </a:solidFill>
          <a:ln/>
        </p:spPr>
      </p:sp>
      <p:sp>
        <p:nvSpPr>
          <p:cNvPr id="7" name="Text 5"/>
          <p:cNvSpPr/>
          <p:nvPr/>
        </p:nvSpPr>
        <p:spPr>
          <a:xfrm>
            <a:off x="640080" y="1737360"/>
            <a:ext cx="1828800" cy="365760"/>
          </a:xfrm>
          <a:prstGeom prst="rect">
            <a:avLst/>
          </a:prstGeom>
          <a:noFill/>
          <a:ln/>
        </p:spPr>
        <p:txBody>
          <a:bodyPr wrap="square" rtlCol="0" anchor="ctr"/>
          <a:lstStyle/>
          <a:p>
            <a:pPr indent="0" marL="0">
              <a:buNone/>
            </a:pPr>
            <a:r>
              <a:rPr lang="en-US" sz="1400" b="1" dirty="0">
                <a:solidFill>
                  <a:srgbClr val="EF233C"/>
                </a:solidFill>
                <a:latin typeface="Microsoft YaHei" pitchFamily="34" charset="0"/>
                <a:ea typeface="Microsoft YaHei" pitchFamily="34" charset="-122"/>
                <a:cs typeface="Microsoft YaHei" pitchFamily="34" charset="-120"/>
              </a:rPr>
              <a:t>典型案例</a:t>
            </a:r>
            <a:endParaRPr lang="en-US" sz="1400" dirty="0"/>
          </a:p>
        </p:txBody>
      </p:sp>
      <p:sp>
        <p:nvSpPr>
          <p:cNvPr id="8" name="Shape 6"/>
          <p:cNvSpPr/>
          <p:nvPr/>
        </p:nvSpPr>
        <p:spPr>
          <a:xfrm>
            <a:off x="457200" y="2240280"/>
            <a:ext cx="8229600" cy="1188720"/>
          </a:xfrm>
          <a:prstGeom prst="roundRect">
            <a:avLst>
              <a:gd name="adj" fmla="val 7692"/>
            </a:avLst>
          </a:prstGeom>
          <a:solidFill>
            <a:srgbClr val="FFFFFF"/>
          </a:solidFill>
          <a:ln/>
          <a:effectLst>
            <a:outerShdw sx="100000" sy="100000" kx="0" ky="0" algn="bl" rotWithShape="0" blurRad="50800" dist="25400" dir="8100000">
              <a:srgbClr val="000000">
                <a:alpha val="8000"/>
              </a:srgbClr>
            </a:outerShdw>
          </a:effectLst>
        </p:spPr>
      </p:sp>
      <p:sp>
        <p:nvSpPr>
          <p:cNvPr id="9" name="Text 7"/>
          <p:cNvSpPr/>
          <p:nvPr/>
        </p:nvSpPr>
        <p:spPr>
          <a:xfrm>
            <a:off x="731520" y="2331720"/>
            <a:ext cx="7680960" cy="1005840"/>
          </a:xfrm>
          <a:prstGeom prst="rect">
            <a:avLst/>
          </a:prstGeom>
          <a:noFill/>
          <a:ln/>
        </p:spPr>
        <p:txBody>
          <a:bodyPr wrap="square" rtlCol="0" anchor="ctr"/>
          <a:lstStyle/>
          <a:p>
            <a:pPr indent="0" marL="0">
              <a:buNone/>
            </a:pPr>
            <a:r>
              <a:rPr lang="en-US" sz="1600" dirty="0">
                <a:solidFill>
                  <a:srgbClr val="8D99AE"/>
                </a:solidFill>
                <a:latin typeface="Microsoft YaHei" pitchFamily="34" charset="0"/>
                <a:ea typeface="Microsoft YaHei" pitchFamily="34" charset="-122"/>
                <a:cs typeface="Microsoft YaHei" pitchFamily="34" charset="-120"/>
              </a:rPr>
              <a:t>给定分数和位次，结合历年录取数据，算出技术上合理的冲稳保梯度表</a:t>
            </a:r>
            <a:endParaRPr lang="en-US" sz="1600" dirty="0"/>
          </a:p>
        </p:txBody>
      </p:sp>
      <p:sp>
        <p:nvSpPr>
          <p:cNvPr id="10" name="Shape 8"/>
          <p:cNvSpPr/>
          <p:nvPr/>
        </p:nvSpPr>
        <p:spPr>
          <a:xfrm>
            <a:off x="457200" y="3611880"/>
            <a:ext cx="73152" cy="365760"/>
          </a:xfrm>
          <a:prstGeom prst="rect">
            <a:avLst/>
          </a:prstGeom>
          <a:solidFill>
            <a:srgbClr val="2B2D42"/>
          </a:solidFill>
          <a:ln/>
        </p:spPr>
      </p:sp>
      <p:sp>
        <p:nvSpPr>
          <p:cNvPr id="11" name="Text 9"/>
          <p:cNvSpPr/>
          <p:nvPr/>
        </p:nvSpPr>
        <p:spPr>
          <a:xfrm>
            <a:off x="640080" y="3611880"/>
            <a:ext cx="1828800" cy="365760"/>
          </a:xfrm>
          <a:prstGeom prst="rect">
            <a:avLst/>
          </a:prstGeom>
          <a:noFill/>
          <a:ln/>
        </p:spPr>
        <p:txBody>
          <a:bodyPr wrap="square" rtlCol="0" anchor="ctr"/>
          <a:lstStyle/>
          <a:p>
            <a:pPr indent="0" marL="0">
              <a:buNone/>
            </a:pPr>
            <a:r>
              <a:rPr lang="en-US" sz="1400" b="1" dirty="0">
                <a:solidFill>
                  <a:srgbClr val="2B2D42"/>
                </a:solidFill>
                <a:latin typeface="Microsoft YaHei" pitchFamily="34" charset="0"/>
                <a:ea typeface="Microsoft YaHei" pitchFamily="34" charset="-122"/>
                <a:cs typeface="Microsoft YaHei" pitchFamily="34" charset="-120"/>
              </a:rPr>
              <a:t>关键洞察</a:t>
            </a:r>
            <a:endParaRPr lang="en-US" sz="1400" dirty="0"/>
          </a:p>
        </p:txBody>
      </p:sp>
      <p:sp>
        <p:nvSpPr>
          <p:cNvPr id="12" name="Shape 10"/>
          <p:cNvSpPr/>
          <p:nvPr/>
        </p:nvSpPr>
        <p:spPr>
          <a:xfrm>
            <a:off x="457200" y="4114800"/>
            <a:ext cx="8229600" cy="594360"/>
          </a:xfrm>
          <a:prstGeom prst="roundRect">
            <a:avLst>
              <a:gd name="adj" fmla="val 15385"/>
            </a:avLst>
          </a:prstGeom>
          <a:solidFill>
            <a:srgbClr val="2B2D42"/>
          </a:solidFill>
          <a:ln/>
        </p:spPr>
      </p:sp>
      <p:sp>
        <p:nvSpPr>
          <p:cNvPr id="13" name="Text 11"/>
          <p:cNvSpPr/>
          <p:nvPr/>
        </p:nvSpPr>
        <p:spPr>
          <a:xfrm>
            <a:off x="640080" y="4114800"/>
            <a:ext cx="7863840" cy="594360"/>
          </a:xfrm>
          <a:prstGeom prst="rect">
            <a:avLst/>
          </a:prstGeom>
          <a:noFill/>
          <a:ln/>
        </p:spPr>
        <p:txBody>
          <a:bodyPr wrap="square"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这部分工作AI确实做得又快又准，比人工效率高得多</a:t>
            </a:r>
            <a:endParaRPr lang="en-US" sz="1500" dirty="0"/>
          </a:p>
        </p:txBody>
      </p:sp>
      <p:sp>
        <p:nvSpPr>
          <p:cNvPr id="14" name="Shape 12"/>
          <p:cNvSpPr/>
          <p:nvPr/>
        </p:nvSpPr>
        <p:spPr>
          <a:xfrm>
            <a:off x="8503920" y="4663440"/>
            <a:ext cx="365760" cy="274320"/>
          </a:xfrm>
          <a:prstGeom prst="roundRect">
            <a:avLst>
              <a:gd name="adj" fmla="val 16667"/>
            </a:avLst>
          </a:prstGeom>
          <a:solidFill>
            <a:srgbClr val="EF233C"/>
          </a:solidFill>
          <a:ln/>
        </p:spPr>
      </p:sp>
      <p:sp>
        <p:nvSpPr>
          <p:cNvPr id="15" name="Text 13"/>
          <p:cNvSpPr/>
          <p:nvPr/>
        </p:nvSpPr>
        <p:spPr>
          <a:xfrm>
            <a:off x="8503920" y="4663440"/>
            <a:ext cx="3657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48640"/>
          </a:xfrm>
          <a:prstGeom prst="rect">
            <a:avLst/>
          </a:prstGeom>
          <a:noFill/>
          <a:ln/>
        </p:spPr>
        <p:txBody>
          <a:bodyPr wrap="square" rtlCol="0" anchor="ctr"/>
          <a:lstStyle/>
          <a:p>
            <a:pPr algn="l" indent="0" marL="0">
              <a:buNone/>
            </a:pPr>
            <a:r>
              <a:rPr lang="en-US" sz="2800" b="1" dirty="0">
                <a:solidFill>
                  <a:srgbClr val="2B2D42"/>
                </a:solidFill>
                <a:latin typeface="Microsoft YaHei" pitchFamily="34" charset="0"/>
                <a:ea typeface="Microsoft YaHei" pitchFamily="34" charset="-122"/>
                <a:cs typeface="Microsoft YaHei" pitchFamily="34" charset="-120"/>
              </a:rPr>
              <a:t>AI算不出的部分</a:t>
            </a:r>
            <a:endParaRPr lang="en-US" sz="2800" dirty="0"/>
          </a:p>
        </p:txBody>
      </p:sp>
      <p:sp>
        <p:nvSpPr>
          <p:cNvPr id="4" name="Shape 2"/>
          <p:cNvSpPr/>
          <p:nvPr/>
        </p:nvSpPr>
        <p:spPr>
          <a:xfrm>
            <a:off x="457200" y="1005840"/>
            <a:ext cx="5303520" cy="2743200"/>
          </a:xfrm>
          <a:prstGeom prst="roundRect">
            <a:avLst>
              <a:gd name="adj" fmla="val 3333"/>
            </a:avLst>
          </a:prstGeom>
          <a:solidFill>
            <a:srgbClr val="FFFFFF"/>
          </a:solidFill>
          <a:ln/>
          <a:effectLst>
            <a:outerShdw sx="100000" sy="100000" kx="0" ky="0" algn="bl" rotWithShape="0" blurRad="50800" dist="25400" dir="8100000">
              <a:srgbClr val="000000">
                <a:alpha val="8000"/>
              </a:srgbClr>
            </a:outerShdw>
          </a:effectLst>
        </p:spPr>
      </p:sp>
      <p:sp>
        <p:nvSpPr>
          <p:cNvPr id="5" name="Shape 3"/>
          <p:cNvSpPr/>
          <p:nvPr/>
        </p:nvSpPr>
        <p:spPr>
          <a:xfrm>
            <a:off x="457200" y="1005840"/>
            <a:ext cx="73152" cy="2743200"/>
          </a:xfrm>
          <a:prstGeom prst="rect">
            <a:avLst/>
          </a:prstGeom>
          <a:solidFill>
            <a:srgbClr val="EF233C"/>
          </a:solidFill>
          <a:ln/>
        </p:spPr>
      </p:sp>
      <p:sp>
        <p:nvSpPr>
          <p:cNvPr id="6" name="Shape 4"/>
          <p:cNvSpPr/>
          <p:nvPr/>
        </p:nvSpPr>
        <p:spPr>
          <a:xfrm>
            <a:off x="685800" y="1234440"/>
            <a:ext cx="320040" cy="320040"/>
          </a:xfrm>
          <a:prstGeom prst="ellipse">
            <a:avLst/>
          </a:prstGeom>
          <a:solidFill>
            <a:srgbClr val="EF233C"/>
          </a:solidFill>
          <a:ln/>
        </p:spPr>
      </p:sp>
      <p:sp>
        <p:nvSpPr>
          <p:cNvPr id="7" name="Text 5"/>
          <p:cNvSpPr/>
          <p:nvPr/>
        </p:nvSpPr>
        <p:spPr>
          <a:xfrm>
            <a:off x="685800" y="1234440"/>
            <a:ext cx="32004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143000" y="1188720"/>
            <a:ext cx="4389120" cy="457200"/>
          </a:xfrm>
          <a:prstGeom prst="rect">
            <a:avLst/>
          </a:prstGeom>
          <a:noFill/>
          <a:ln/>
        </p:spPr>
        <p:txBody>
          <a:bodyPr wrap="square" rtlCol="0" anchor="ctr"/>
          <a:lstStyle/>
          <a:p>
            <a:pPr indent="0" marL="0">
              <a:buNone/>
            </a:pPr>
            <a:r>
              <a:rPr lang="en-US" sz="1300" dirty="0">
                <a:solidFill>
                  <a:srgbClr val="2B2D42"/>
                </a:solidFill>
                <a:latin typeface="Microsoft YaHei" pitchFamily="34" charset="0"/>
                <a:ea typeface="Microsoft YaHei" pitchFamily="34" charset="-122"/>
                <a:cs typeface="Microsoft YaHei" pitchFamily="34" charset="-120"/>
              </a:rPr>
              <a:t>这个孩子是谁，他对什么真正投入过</a:t>
            </a:r>
            <a:endParaRPr lang="en-US" sz="1300" dirty="0"/>
          </a:p>
        </p:txBody>
      </p:sp>
      <p:sp>
        <p:nvSpPr>
          <p:cNvPr id="9" name="Shape 7"/>
          <p:cNvSpPr/>
          <p:nvPr/>
        </p:nvSpPr>
        <p:spPr>
          <a:xfrm>
            <a:off x="685800" y="1737360"/>
            <a:ext cx="320040" cy="320040"/>
          </a:xfrm>
          <a:prstGeom prst="ellipse">
            <a:avLst/>
          </a:prstGeom>
          <a:solidFill>
            <a:srgbClr val="EF233C"/>
          </a:solidFill>
          <a:ln/>
        </p:spPr>
      </p:sp>
      <p:sp>
        <p:nvSpPr>
          <p:cNvPr id="10" name="Text 8"/>
          <p:cNvSpPr/>
          <p:nvPr/>
        </p:nvSpPr>
        <p:spPr>
          <a:xfrm>
            <a:off x="685800" y="1737360"/>
            <a:ext cx="32004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1" name="Text 9"/>
          <p:cNvSpPr/>
          <p:nvPr/>
        </p:nvSpPr>
        <p:spPr>
          <a:xfrm>
            <a:off x="1143000" y="1691640"/>
            <a:ext cx="4389120" cy="457200"/>
          </a:xfrm>
          <a:prstGeom prst="rect">
            <a:avLst/>
          </a:prstGeom>
          <a:noFill/>
          <a:ln/>
        </p:spPr>
        <p:txBody>
          <a:bodyPr wrap="square" rtlCol="0" anchor="ctr"/>
          <a:lstStyle/>
          <a:p>
            <a:pPr indent="0" marL="0">
              <a:buNone/>
            </a:pPr>
            <a:r>
              <a:rPr lang="en-US" sz="1300" dirty="0">
                <a:solidFill>
                  <a:srgbClr val="2B2D42"/>
                </a:solidFill>
                <a:latin typeface="Microsoft YaHei" pitchFamily="34" charset="0"/>
                <a:ea typeface="Microsoft YaHei" pitchFamily="34" charset="-122"/>
                <a:cs typeface="Microsoft YaHei" pitchFamily="34" charset="-120"/>
              </a:rPr>
              <a:t>他家庭的真实处境和顾虑是什么</a:t>
            </a:r>
            <a:endParaRPr lang="en-US" sz="1300" dirty="0"/>
          </a:p>
        </p:txBody>
      </p:sp>
      <p:sp>
        <p:nvSpPr>
          <p:cNvPr id="12" name="Shape 10"/>
          <p:cNvSpPr/>
          <p:nvPr/>
        </p:nvSpPr>
        <p:spPr>
          <a:xfrm>
            <a:off x="685800" y="2240280"/>
            <a:ext cx="320040" cy="320040"/>
          </a:xfrm>
          <a:prstGeom prst="ellipse">
            <a:avLst/>
          </a:prstGeom>
          <a:solidFill>
            <a:srgbClr val="EF233C"/>
          </a:solidFill>
          <a:ln/>
        </p:spPr>
      </p:sp>
      <p:sp>
        <p:nvSpPr>
          <p:cNvPr id="13" name="Text 11"/>
          <p:cNvSpPr/>
          <p:nvPr/>
        </p:nvSpPr>
        <p:spPr>
          <a:xfrm>
            <a:off x="685800" y="2240280"/>
            <a:ext cx="32004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4" name="Text 12"/>
          <p:cNvSpPr/>
          <p:nvPr/>
        </p:nvSpPr>
        <p:spPr>
          <a:xfrm>
            <a:off x="1143000" y="2194560"/>
            <a:ext cx="4389120" cy="457200"/>
          </a:xfrm>
          <a:prstGeom prst="rect">
            <a:avLst/>
          </a:prstGeom>
          <a:noFill/>
          <a:ln/>
        </p:spPr>
        <p:txBody>
          <a:bodyPr wrap="square" rtlCol="0" anchor="ctr"/>
          <a:lstStyle/>
          <a:p>
            <a:pPr indent="0" marL="0">
              <a:buNone/>
            </a:pPr>
            <a:r>
              <a:rPr lang="en-US" sz="1300" dirty="0">
                <a:solidFill>
                  <a:srgbClr val="2B2D42"/>
                </a:solidFill>
                <a:latin typeface="Microsoft YaHei" pitchFamily="34" charset="0"/>
                <a:ea typeface="Microsoft YaHei" pitchFamily="34" charset="-122"/>
                <a:cs typeface="Microsoft YaHei" pitchFamily="34" charset="-120"/>
              </a:rPr>
              <a:t>他嘴上说的和心里想的是不是一回事</a:t>
            </a:r>
            <a:endParaRPr lang="en-US" sz="1300" dirty="0"/>
          </a:p>
        </p:txBody>
      </p:sp>
      <p:sp>
        <p:nvSpPr>
          <p:cNvPr id="15" name="Shape 13"/>
          <p:cNvSpPr/>
          <p:nvPr/>
        </p:nvSpPr>
        <p:spPr>
          <a:xfrm>
            <a:off x="685800" y="2743200"/>
            <a:ext cx="320040" cy="320040"/>
          </a:xfrm>
          <a:prstGeom prst="ellipse">
            <a:avLst/>
          </a:prstGeom>
          <a:solidFill>
            <a:srgbClr val="EF233C"/>
          </a:solidFill>
          <a:ln/>
        </p:spPr>
      </p:sp>
      <p:sp>
        <p:nvSpPr>
          <p:cNvPr id="16" name="Text 14"/>
          <p:cNvSpPr/>
          <p:nvPr/>
        </p:nvSpPr>
        <p:spPr>
          <a:xfrm>
            <a:off x="685800" y="2743200"/>
            <a:ext cx="32004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7" name="Text 15"/>
          <p:cNvSpPr/>
          <p:nvPr/>
        </p:nvSpPr>
        <p:spPr>
          <a:xfrm>
            <a:off x="1143000" y="2697480"/>
            <a:ext cx="4389120" cy="457200"/>
          </a:xfrm>
          <a:prstGeom prst="rect">
            <a:avLst/>
          </a:prstGeom>
          <a:noFill/>
          <a:ln/>
        </p:spPr>
        <p:txBody>
          <a:bodyPr wrap="square" rtlCol="0" anchor="ctr"/>
          <a:lstStyle/>
          <a:p>
            <a:pPr indent="0" marL="0">
              <a:buNone/>
            </a:pPr>
            <a:r>
              <a:rPr lang="en-US" sz="1300" dirty="0">
                <a:solidFill>
                  <a:srgbClr val="2B2D42"/>
                </a:solidFill>
                <a:latin typeface="Microsoft YaHei" pitchFamily="34" charset="0"/>
                <a:ea typeface="Microsoft YaHei" pitchFamily="34" charset="-122"/>
                <a:cs typeface="Microsoft YaHei" pitchFamily="34" charset="-120"/>
              </a:rPr>
              <a:t>五年后这个行业的产业逻辑会怎么变</a:t>
            </a:r>
            <a:endParaRPr lang="en-US" sz="1300" dirty="0"/>
          </a:p>
        </p:txBody>
      </p:sp>
      <p:sp>
        <p:nvSpPr>
          <p:cNvPr id="18" name="Shape 16"/>
          <p:cNvSpPr/>
          <p:nvPr/>
        </p:nvSpPr>
        <p:spPr>
          <a:xfrm>
            <a:off x="685800" y="3246120"/>
            <a:ext cx="320040" cy="320040"/>
          </a:xfrm>
          <a:prstGeom prst="ellipse">
            <a:avLst/>
          </a:prstGeom>
          <a:solidFill>
            <a:srgbClr val="EF233C"/>
          </a:solidFill>
          <a:ln/>
        </p:spPr>
      </p:sp>
      <p:sp>
        <p:nvSpPr>
          <p:cNvPr id="19" name="Text 17"/>
          <p:cNvSpPr/>
          <p:nvPr/>
        </p:nvSpPr>
        <p:spPr>
          <a:xfrm>
            <a:off x="685800" y="3246120"/>
            <a:ext cx="32004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0" name="Text 18"/>
          <p:cNvSpPr/>
          <p:nvPr/>
        </p:nvSpPr>
        <p:spPr>
          <a:xfrm>
            <a:off x="1143000" y="3200400"/>
            <a:ext cx="4389120" cy="457200"/>
          </a:xfrm>
          <a:prstGeom prst="rect">
            <a:avLst/>
          </a:prstGeom>
          <a:noFill/>
          <a:ln/>
        </p:spPr>
        <p:txBody>
          <a:bodyPr wrap="square" rtlCol="0" anchor="ctr"/>
          <a:lstStyle/>
          <a:p>
            <a:pPr indent="0" marL="0">
              <a:buNone/>
            </a:pPr>
            <a:r>
              <a:rPr lang="en-US" sz="1300" dirty="0">
                <a:solidFill>
                  <a:srgbClr val="2B2D42"/>
                </a:solidFill>
                <a:latin typeface="Microsoft YaHei" pitchFamily="34" charset="0"/>
                <a:ea typeface="Microsoft YaHei" pitchFamily="34" charset="-122"/>
                <a:cs typeface="Microsoft YaHei" pitchFamily="34" charset="-120"/>
              </a:rPr>
              <a:t>哪些信息是可信的、哪些是噪音</a:t>
            </a:r>
            <a:endParaRPr lang="en-US" sz="1300" dirty="0"/>
          </a:p>
        </p:txBody>
      </p:sp>
      <p:sp>
        <p:nvSpPr>
          <p:cNvPr id="21" name="Shape 19"/>
          <p:cNvSpPr/>
          <p:nvPr/>
        </p:nvSpPr>
        <p:spPr>
          <a:xfrm>
            <a:off x="5943600" y="1005840"/>
            <a:ext cx="2743200" cy="2743200"/>
          </a:xfrm>
          <a:prstGeom prst="roundRect">
            <a:avLst>
              <a:gd name="adj" fmla="val 3333"/>
            </a:avLst>
          </a:prstGeom>
          <a:solidFill>
            <a:srgbClr val="2B2D42"/>
          </a:solidFill>
          <a:ln/>
        </p:spPr>
      </p:sp>
      <p:sp>
        <p:nvSpPr>
          <p:cNvPr id="22" name="Text 20"/>
          <p:cNvSpPr/>
          <p:nvPr/>
        </p:nvSpPr>
        <p:spPr>
          <a:xfrm>
            <a:off x="6126480" y="1280160"/>
            <a:ext cx="2377440" cy="457200"/>
          </a:xfrm>
          <a:prstGeom prst="rect">
            <a:avLst/>
          </a:prstGeom>
          <a:noFill/>
          <a:ln/>
        </p:spPr>
        <p:txBody>
          <a:bodyPr wrap="square" rtlCol="0" anchor="ctr"/>
          <a:lstStyle/>
          <a:p>
            <a:pPr algn="ctr" indent="0" marL="0">
              <a:buNone/>
            </a:pPr>
            <a:r>
              <a:rPr lang="en-US" sz="1500" dirty="0">
                <a:solidFill>
                  <a:srgbClr val="FFFFFF"/>
                </a:solidFill>
                <a:latin typeface="Microsoft YaHei" pitchFamily="34" charset="0"/>
                <a:ea typeface="Microsoft YaHei" pitchFamily="34" charset="-122"/>
                <a:cs typeface="Microsoft YaHei" pitchFamily="34" charset="-120"/>
              </a:rPr>
              <a:t>判断力建立在</a:t>
            </a:r>
            <a:endParaRPr lang="en-US" sz="1500" dirty="0"/>
          </a:p>
        </p:txBody>
      </p:sp>
      <p:sp>
        <p:nvSpPr>
          <p:cNvPr id="23" name="Text 21"/>
          <p:cNvSpPr/>
          <p:nvPr/>
        </p:nvSpPr>
        <p:spPr>
          <a:xfrm>
            <a:off x="6126480" y="1737360"/>
            <a:ext cx="2377440" cy="457200"/>
          </a:xfrm>
          <a:prstGeom prst="rect">
            <a:avLst/>
          </a:prstGeom>
          <a:noFill/>
          <a:ln/>
        </p:spPr>
        <p:txBody>
          <a:bodyPr wrap="square" rtlCol="0" anchor="ct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长期跟真实的人</a:t>
            </a:r>
            <a:endParaRPr lang="en-US" sz="1500" dirty="0"/>
          </a:p>
        </p:txBody>
      </p:sp>
      <p:sp>
        <p:nvSpPr>
          <p:cNvPr id="24" name="Text 22"/>
          <p:cNvSpPr/>
          <p:nvPr/>
        </p:nvSpPr>
        <p:spPr>
          <a:xfrm>
            <a:off x="6126480" y="2194560"/>
            <a:ext cx="2377440" cy="457200"/>
          </a:xfrm>
          <a:prstGeom prst="rect">
            <a:avLst/>
          </a:prstGeom>
          <a:noFill/>
          <a:ln/>
        </p:spPr>
        <p:txBody>
          <a:bodyPr wrap="square" rtlCol="0" anchor="ctr"/>
          <a:lstStyle/>
          <a:p>
            <a:pPr algn="ctr" indent="0" marL="0">
              <a:buNone/>
            </a:pPr>
            <a:r>
              <a:rPr lang="en-US" sz="1500" dirty="0">
                <a:solidFill>
                  <a:srgbClr val="FFFFFF"/>
                </a:solidFill>
                <a:latin typeface="Microsoft YaHei" pitchFamily="34" charset="0"/>
                <a:ea typeface="Microsoft YaHei" pitchFamily="34" charset="-122"/>
                <a:cs typeface="Microsoft YaHei" pitchFamily="34" charset="-120"/>
              </a:rPr>
              <a:t>打交道积累出来的</a:t>
            </a:r>
            <a:endParaRPr lang="en-US" sz="1500" dirty="0"/>
          </a:p>
        </p:txBody>
      </p:sp>
      <p:sp>
        <p:nvSpPr>
          <p:cNvPr id="25" name="Text 23"/>
          <p:cNvSpPr/>
          <p:nvPr/>
        </p:nvSpPr>
        <p:spPr>
          <a:xfrm>
            <a:off x="6126480" y="2651760"/>
            <a:ext cx="2377440" cy="457200"/>
          </a:xfrm>
          <a:prstGeom prst="rect">
            <a:avLst/>
          </a:prstGeom>
          <a:noFill/>
          <a:ln/>
        </p:spPr>
        <p:txBody>
          <a:bodyPr wrap="square" rtlCol="0" anchor="ctr"/>
          <a:lstStyle/>
          <a:p>
            <a:pPr algn="ctr" indent="0" marL="0">
              <a:buNone/>
            </a:pPr>
            <a:r>
              <a:rPr lang="en-US" sz="1500" b="1" dirty="0">
                <a:solidFill>
                  <a:srgbClr val="EDF2F4"/>
                </a:solidFill>
                <a:latin typeface="Microsoft YaHei" pitchFamily="34" charset="0"/>
                <a:ea typeface="Microsoft YaHei" pitchFamily="34" charset="-122"/>
                <a:cs typeface="Microsoft YaHei" pitchFamily="34" charset="-120"/>
              </a:rPr>
              <a:t>经验直觉上</a:t>
            </a:r>
            <a:endParaRPr lang="en-US" sz="1500" dirty="0"/>
          </a:p>
        </p:txBody>
      </p:sp>
      <p:sp>
        <p:nvSpPr>
          <p:cNvPr id="26" name="Shape 24"/>
          <p:cNvSpPr/>
          <p:nvPr/>
        </p:nvSpPr>
        <p:spPr>
          <a:xfrm>
            <a:off x="6309360" y="3200400"/>
            <a:ext cx="2011680" cy="18288"/>
          </a:xfrm>
          <a:prstGeom prst="rect">
            <a:avLst/>
          </a:prstGeom>
          <a:solidFill>
            <a:srgbClr val="8D99AE"/>
          </a:solidFill>
          <a:ln/>
        </p:spPr>
      </p:sp>
      <p:sp>
        <p:nvSpPr>
          <p:cNvPr id="27" name="Text 25"/>
          <p:cNvSpPr/>
          <p:nvPr/>
        </p:nvSpPr>
        <p:spPr>
          <a:xfrm>
            <a:off x="6126480" y="3337560"/>
            <a:ext cx="2377440" cy="365760"/>
          </a:xfrm>
          <a:prstGeom prst="rect">
            <a:avLst/>
          </a:prstGeom>
          <a:noFill/>
          <a:ln/>
        </p:spPr>
        <p:txBody>
          <a:bodyPr wrap="square" rtlCol="0" anchor="ctr"/>
          <a:lstStyle/>
          <a:p>
            <a:pPr algn="ctr" indent="0" marL="0">
              <a:buNone/>
            </a:pPr>
            <a:r>
              <a:rPr lang="en-US" sz="1100" dirty="0">
                <a:solidFill>
                  <a:srgbClr val="EDF2F4"/>
                </a:solidFill>
                <a:latin typeface="Microsoft YaHei" pitchFamily="34" charset="0"/>
                <a:ea typeface="Microsoft YaHei" pitchFamily="34" charset="-122"/>
                <a:cs typeface="Microsoft YaHei" pitchFamily="34" charset="-120"/>
              </a:rPr>
              <a:t>这些东西目前的AI模型是拿不到的</a:t>
            </a:r>
            <a:endParaRPr lang="en-US" sz="1100" dirty="0"/>
          </a:p>
        </p:txBody>
      </p:sp>
      <p:sp>
        <p:nvSpPr>
          <p:cNvPr id="28" name="Shape 26"/>
          <p:cNvSpPr/>
          <p:nvPr/>
        </p:nvSpPr>
        <p:spPr>
          <a:xfrm>
            <a:off x="8503920" y="4663440"/>
            <a:ext cx="365760" cy="274320"/>
          </a:xfrm>
          <a:prstGeom prst="roundRect">
            <a:avLst>
              <a:gd name="adj" fmla="val 16667"/>
            </a:avLst>
          </a:prstGeom>
          <a:solidFill>
            <a:srgbClr val="EF233C"/>
          </a:solidFill>
          <a:ln/>
        </p:spPr>
      </p:sp>
      <p:sp>
        <p:nvSpPr>
          <p:cNvPr id="29" name="Text 27"/>
          <p:cNvSpPr/>
          <p:nvPr/>
        </p:nvSpPr>
        <p:spPr>
          <a:xfrm>
            <a:off x="8503920" y="4663440"/>
            <a:ext cx="3657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48640"/>
          </a:xfrm>
          <a:prstGeom prst="rect">
            <a:avLst/>
          </a:prstGeom>
          <a:noFill/>
          <a:ln/>
        </p:spPr>
        <p:txBody>
          <a:bodyPr wrap="square" rtlCol="0" anchor="ctr"/>
          <a:lstStyle/>
          <a:p>
            <a:pPr algn="l" indent="0" marL="0">
              <a:buNone/>
            </a:pPr>
            <a:r>
              <a:rPr lang="en-US" sz="2800" b="1" dirty="0">
                <a:solidFill>
                  <a:srgbClr val="2B2D42"/>
                </a:solidFill>
                <a:latin typeface="Microsoft YaHei" pitchFamily="34" charset="0"/>
                <a:ea typeface="Microsoft YaHei" pitchFamily="34" charset="-122"/>
                <a:cs typeface="Microsoft YaHei" pitchFamily="34" charset="-120"/>
              </a:rPr>
              <a:t>工具的过度自信</a:t>
            </a:r>
            <a:endParaRPr lang="en-US" sz="2800" dirty="0"/>
          </a:p>
        </p:txBody>
      </p:sp>
      <p:sp>
        <p:nvSpPr>
          <p:cNvPr id="4" name="Shape 2"/>
          <p:cNvSpPr/>
          <p:nvPr/>
        </p:nvSpPr>
        <p:spPr>
          <a:xfrm>
            <a:off x="457200" y="1005840"/>
            <a:ext cx="8229600" cy="640080"/>
          </a:xfrm>
          <a:prstGeom prst="roundRect">
            <a:avLst>
              <a:gd name="adj" fmla="val 14286"/>
            </a:avLst>
          </a:prstGeom>
          <a:solidFill>
            <a:srgbClr val="EF233C"/>
          </a:solidFill>
          <a:ln/>
        </p:spPr>
      </p:sp>
      <p:sp>
        <p:nvSpPr>
          <p:cNvPr id="5" name="Text 3"/>
          <p:cNvSpPr/>
          <p:nvPr/>
        </p:nvSpPr>
        <p:spPr>
          <a:xfrm>
            <a:off x="640080" y="1005840"/>
            <a:ext cx="7863840" cy="640080"/>
          </a:xfrm>
          <a:prstGeom prst="rect">
            <a:avLst/>
          </a:prstGeom>
          <a:noFill/>
          <a:ln/>
        </p:spPr>
        <p:txBody>
          <a:bodyPr wrap="square"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工具给出的建议听起来越流畅、越像模像样，越要多留心眼去核对</a:t>
            </a:r>
            <a:endParaRPr lang="en-US" sz="1500" dirty="0"/>
          </a:p>
        </p:txBody>
      </p:sp>
      <p:sp>
        <p:nvSpPr>
          <p:cNvPr id="6" name="Shape 4"/>
          <p:cNvSpPr/>
          <p:nvPr/>
        </p:nvSpPr>
        <p:spPr>
          <a:xfrm>
            <a:off x="457200" y="1828800"/>
            <a:ext cx="73152" cy="365760"/>
          </a:xfrm>
          <a:prstGeom prst="rect">
            <a:avLst/>
          </a:prstGeom>
          <a:solidFill>
            <a:srgbClr val="2B2D42"/>
          </a:solidFill>
          <a:ln/>
        </p:spPr>
      </p:sp>
      <p:sp>
        <p:nvSpPr>
          <p:cNvPr id="7" name="Text 5"/>
          <p:cNvSpPr/>
          <p:nvPr/>
        </p:nvSpPr>
        <p:spPr>
          <a:xfrm>
            <a:off x="640080" y="1828800"/>
            <a:ext cx="1828800" cy="365760"/>
          </a:xfrm>
          <a:prstGeom prst="rect">
            <a:avLst/>
          </a:prstGeom>
          <a:noFill/>
          <a:ln/>
        </p:spPr>
        <p:txBody>
          <a:bodyPr wrap="square" rtlCol="0" anchor="ctr"/>
          <a:lstStyle/>
          <a:p>
            <a:pPr indent="0" marL="0">
              <a:buNone/>
            </a:pPr>
            <a:r>
              <a:rPr lang="en-US" sz="1400" b="1" dirty="0">
                <a:solidFill>
                  <a:srgbClr val="2B2D42"/>
                </a:solidFill>
                <a:latin typeface="Microsoft YaHei" pitchFamily="34" charset="0"/>
                <a:ea typeface="Microsoft YaHei" pitchFamily="34" charset="-122"/>
                <a:cs typeface="Microsoft YaHei" pitchFamily="34" charset="-120"/>
              </a:rPr>
              <a:t>原因</a:t>
            </a:r>
            <a:endParaRPr lang="en-US" sz="1400" dirty="0"/>
          </a:p>
        </p:txBody>
      </p:sp>
      <p:sp>
        <p:nvSpPr>
          <p:cNvPr id="8" name="Shape 6"/>
          <p:cNvSpPr/>
          <p:nvPr/>
        </p:nvSpPr>
        <p:spPr>
          <a:xfrm>
            <a:off x="457200" y="2286000"/>
            <a:ext cx="8229600" cy="777240"/>
          </a:xfrm>
          <a:prstGeom prst="roundRect">
            <a:avLst>
              <a:gd name="adj" fmla="val 9412"/>
            </a:avLst>
          </a:prstGeom>
          <a:solidFill>
            <a:srgbClr val="FFFFFF"/>
          </a:solidFill>
          <a:ln/>
          <a:effectLst>
            <a:outerShdw sx="100000" sy="100000" kx="0" ky="0" algn="bl" rotWithShape="0" blurRad="38100" dist="12700" dir="8100000">
              <a:srgbClr val="000000">
                <a:alpha val="6000"/>
              </a:srgbClr>
            </a:outerShdw>
          </a:effectLst>
        </p:spPr>
      </p:sp>
      <p:sp>
        <p:nvSpPr>
          <p:cNvPr id="9" name="Text 7"/>
          <p:cNvSpPr/>
          <p:nvPr/>
        </p:nvSpPr>
        <p:spPr>
          <a:xfrm>
            <a:off x="640080" y="2286000"/>
            <a:ext cx="7863840" cy="77724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工具生成内容的方式本质上是把海量公开信息按统计规律组织成文字，它不知道自己哪里可能错</a:t>
            </a:r>
            <a:endParaRPr lang="en-US" sz="1400" dirty="0"/>
          </a:p>
        </p:txBody>
      </p:sp>
      <p:sp>
        <p:nvSpPr>
          <p:cNvPr id="10" name="Shape 8"/>
          <p:cNvSpPr/>
          <p:nvPr/>
        </p:nvSpPr>
        <p:spPr>
          <a:xfrm>
            <a:off x="457200" y="3246120"/>
            <a:ext cx="73152" cy="365760"/>
          </a:xfrm>
          <a:prstGeom prst="rect">
            <a:avLst/>
          </a:prstGeom>
          <a:solidFill>
            <a:srgbClr val="EF233C"/>
          </a:solidFill>
          <a:ln/>
        </p:spPr>
      </p:sp>
      <p:sp>
        <p:nvSpPr>
          <p:cNvPr id="11" name="Text 9"/>
          <p:cNvSpPr/>
          <p:nvPr/>
        </p:nvSpPr>
        <p:spPr>
          <a:xfrm>
            <a:off x="640080" y="3246120"/>
            <a:ext cx="1828800" cy="365760"/>
          </a:xfrm>
          <a:prstGeom prst="rect">
            <a:avLst/>
          </a:prstGeom>
          <a:noFill/>
          <a:ln/>
        </p:spPr>
        <p:txBody>
          <a:bodyPr wrap="square" rtlCol="0" anchor="ctr"/>
          <a:lstStyle/>
          <a:p>
            <a:pPr indent="0" marL="0">
              <a:buNone/>
            </a:pPr>
            <a:r>
              <a:rPr lang="en-US" sz="1400" b="1" dirty="0">
                <a:solidFill>
                  <a:srgbClr val="EF233C"/>
                </a:solidFill>
                <a:latin typeface="Microsoft YaHei" pitchFamily="34" charset="0"/>
                <a:ea typeface="Microsoft YaHei" pitchFamily="34" charset="-122"/>
                <a:cs typeface="Microsoft YaHei" pitchFamily="34" charset="-120"/>
              </a:rPr>
              <a:t>问题</a:t>
            </a:r>
            <a:endParaRPr lang="en-US" sz="1400" dirty="0"/>
          </a:p>
        </p:txBody>
      </p:sp>
      <p:sp>
        <p:nvSpPr>
          <p:cNvPr id="12" name="Shape 10"/>
          <p:cNvSpPr/>
          <p:nvPr/>
        </p:nvSpPr>
        <p:spPr>
          <a:xfrm>
            <a:off x="457200" y="3703320"/>
            <a:ext cx="8229600" cy="594360"/>
          </a:xfrm>
          <a:prstGeom prst="roundRect">
            <a:avLst>
              <a:gd name="adj" fmla="val 12308"/>
            </a:avLst>
          </a:prstGeom>
          <a:solidFill>
            <a:srgbClr val="EDF2F4"/>
          </a:solidFill>
          <a:ln/>
        </p:spPr>
      </p:sp>
      <p:sp>
        <p:nvSpPr>
          <p:cNvPr id="13" name="Text 11"/>
          <p:cNvSpPr/>
          <p:nvPr/>
        </p:nvSpPr>
        <p:spPr>
          <a:xfrm>
            <a:off x="640080" y="3703320"/>
            <a:ext cx="7863840" cy="594360"/>
          </a:xfrm>
          <a:prstGeom prst="rect">
            <a:avLst/>
          </a:prstGeom>
          <a:noFill/>
          <a:ln/>
        </p:spPr>
        <p:txBody>
          <a:bodyPr wrap="square" rtlCol="0" anchor="ctr"/>
          <a:lstStyle/>
          <a:p>
            <a:pPr indent="0" marL="0">
              <a:buNone/>
            </a:pPr>
            <a:r>
              <a:rPr lang="en-US" sz="1300" dirty="0">
                <a:solidFill>
                  <a:srgbClr val="2B2D42"/>
                </a:solidFill>
                <a:latin typeface="Microsoft YaHei" pitchFamily="34" charset="0"/>
                <a:ea typeface="Microsoft YaHei" pitchFamily="34" charset="-122"/>
                <a:cs typeface="Microsoft YaHei" pitchFamily="34" charset="-120"/>
              </a:rPr>
              <a:t>人能感觉到“这块不太确定”，工具目前做不到，它永远用同样确定的语气输出内容</a:t>
            </a:r>
            <a:endParaRPr lang="en-US" sz="1300" dirty="0"/>
          </a:p>
        </p:txBody>
      </p:sp>
      <p:sp>
        <p:nvSpPr>
          <p:cNvPr id="14" name="Shape 12"/>
          <p:cNvSpPr/>
          <p:nvPr/>
        </p:nvSpPr>
        <p:spPr>
          <a:xfrm>
            <a:off x="1371600" y="4434840"/>
            <a:ext cx="6400800" cy="457200"/>
          </a:xfrm>
          <a:prstGeom prst="roundRect">
            <a:avLst>
              <a:gd name="adj" fmla="val 16000"/>
            </a:avLst>
          </a:prstGeom>
          <a:solidFill>
            <a:srgbClr val="2B2D42"/>
          </a:solidFill>
          <a:ln/>
        </p:spPr>
      </p:sp>
      <p:sp>
        <p:nvSpPr>
          <p:cNvPr id="15" name="Text 13"/>
          <p:cNvSpPr/>
          <p:nvPr/>
        </p:nvSpPr>
        <p:spPr>
          <a:xfrm>
            <a:off x="1371600" y="4434840"/>
            <a:ext cx="6400800" cy="457200"/>
          </a:xfrm>
          <a:prstGeom prst="rect">
            <a:avLst/>
          </a:prstGeom>
          <a:noFill/>
          <a:ln/>
        </p:spPr>
        <p:txBody>
          <a:bodyPr wrap="square" rtlCol="0" anchor="ctr"/>
          <a:lstStyle/>
          <a:p>
            <a:pPr algn="ctr" indent="0" marL="0">
              <a:buNone/>
            </a:pPr>
            <a:r>
              <a:rPr lang="en-US" sz="1300" dirty="0">
                <a:solidFill>
                  <a:srgbClr val="FFFFFF"/>
                </a:solidFill>
                <a:latin typeface="Microsoft YaHei" pitchFamily="34" charset="0"/>
                <a:ea typeface="Microsoft YaHei" pitchFamily="34" charset="-122"/>
                <a:cs typeface="Microsoft YaHei" pitchFamily="34" charset="-120"/>
              </a:rPr>
              <a:t>“这种'过度自信'恰恰是这类工具最容易带来新坑的地方”</a:t>
            </a:r>
            <a:endParaRPr lang="en-US" sz="1300" dirty="0"/>
          </a:p>
        </p:txBody>
      </p:sp>
      <p:sp>
        <p:nvSpPr>
          <p:cNvPr id="16" name="Shape 14"/>
          <p:cNvSpPr/>
          <p:nvPr/>
        </p:nvSpPr>
        <p:spPr>
          <a:xfrm>
            <a:off x="8503920" y="4663440"/>
            <a:ext cx="365760" cy="274320"/>
          </a:xfrm>
          <a:prstGeom prst="roundRect">
            <a:avLst>
              <a:gd name="adj" fmla="val 16667"/>
            </a:avLst>
          </a:prstGeom>
          <a:solidFill>
            <a:srgbClr val="EF233C"/>
          </a:solidFill>
          <a:ln/>
        </p:spPr>
      </p:sp>
      <p:sp>
        <p:nvSpPr>
          <p:cNvPr id="17" name="Text 15"/>
          <p:cNvSpPr/>
          <p:nvPr/>
        </p:nvSpPr>
        <p:spPr>
          <a:xfrm>
            <a:off x="8503920" y="4663440"/>
            <a:ext cx="3657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274320"/>
            <a:ext cx="8229600" cy="502920"/>
          </a:xfrm>
          <a:prstGeom prst="rect">
            <a:avLst/>
          </a:prstGeom>
          <a:noFill/>
          <a:ln/>
        </p:spPr>
        <p:txBody>
          <a:bodyPr wrap="square" rtlCol="0" anchor="ctr"/>
          <a:lstStyle/>
          <a:p>
            <a:pPr algn="l" indent="0" marL="0">
              <a:buNone/>
            </a:pPr>
            <a:r>
              <a:rPr lang="en-US" sz="2600" b="1" dirty="0">
                <a:solidFill>
                  <a:srgbClr val="2B2D42"/>
                </a:solidFill>
                <a:latin typeface="Microsoft YaHei" pitchFamily="34" charset="0"/>
                <a:ea typeface="Microsoft YaHei" pitchFamily="34" charset="-122"/>
                <a:cs typeface="Microsoft YaHei" pitchFamily="34" charset="-120"/>
              </a:rPr>
              <a:t>模块一核心要点</a:t>
            </a:r>
            <a:endParaRPr lang="en-US" sz="2600" dirty="0"/>
          </a:p>
        </p:txBody>
      </p:sp>
      <p:sp>
        <p:nvSpPr>
          <p:cNvPr id="4" name="Shape 2"/>
          <p:cNvSpPr/>
          <p:nvPr/>
        </p:nvSpPr>
        <p:spPr>
          <a:xfrm>
            <a:off x="457200" y="914400"/>
            <a:ext cx="2651760" cy="1508760"/>
          </a:xfrm>
          <a:prstGeom prst="roundRect">
            <a:avLst>
              <a:gd name="adj" fmla="val 6061"/>
            </a:avLst>
          </a:prstGeom>
          <a:solidFill>
            <a:srgbClr val="FFFFFF"/>
          </a:solidFill>
          <a:ln/>
          <a:effectLst>
            <a:outerShdw sx="100000" sy="100000" kx="0" ky="0" algn="bl" rotWithShape="0" blurRad="50800" dist="25400" dir="8100000">
              <a:srgbClr val="000000">
                <a:alpha val="8000"/>
              </a:srgbClr>
            </a:outerShdw>
          </a:effectLst>
        </p:spPr>
      </p:sp>
      <p:sp>
        <p:nvSpPr>
          <p:cNvPr id="5" name="Shape 3"/>
          <p:cNvSpPr/>
          <p:nvPr/>
        </p:nvSpPr>
        <p:spPr>
          <a:xfrm>
            <a:off x="457200" y="914400"/>
            <a:ext cx="2651760" cy="73152"/>
          </a:xfrm>
          <a:prstGeom prst="rect">
            <a:avLst/>
          </a:prstGeom>
          <a:solidFill>
            <a:srgbClr val="EF233C"/>
          </a:solidFill>
          <a:ln/>
        </p:spPr>
      </p:sp>
      <p:sp>
        <p:nvSpPr>
          <p:cNvPr id="6" name="Shape 4"/>
          <p:cNvSpPr/>
          <p:nvPr/>
        </p:nvSpPr>
        <p:spPr>
          <a:xfrm>
            <a:off x="640080" y="1143000"/>
            <a:ext cx="411480" cy="411480"/>
          </a:xfrm>
          <a:prstGeom prst="ellipse">
            <a:avLst/>
          </a:prstGeom>
          <a:solidFill>
            <a:srgbClr val="2B2D42"/>
          </a:solidFill>
          <a:ln/>
        </p:spPr>
      </p:sp>
      <p:sp>
        <p:nvSpPr>
          <p:cNvPr id="7" name="Text 5"/>
          <p:cNvSpPr/>
          <p:nvPr/>
        </p:nvSpPr>
        <p:spPr>
          <a:xfrm>
            <a:off x="640080" y="1143000"/>
            <a:ext cx="41148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594360" y="1645920"/>
            <a:ext cx="2377440" cy="365760"/>
          </a:xfrm>
          <a:prstGeom prst="rect">
            <a:avLst/>
          </a:prstGeom>
          <a:noFill/>
          <a:ln/>
        </p:spPr>
        <p:txBody>
          <a:bodyPr wrap="square" rtlCol="0" anchor="ctr"/>
          <a:lstStyle/>
          <a:p>
            <a:pPr algn="ctr" indent="0" marL="0">
              <a:buNone/>
            </a:pPr>
            <a:r>
              <a:rPr lang="en-US" sz="1300" b="1" dirty="0">
                <a:solidFill>
                  <a:srgbClr val="2B2D42"/>
                </a:solidFill>
                <a:latin typeface="Microsoft YaHei" pitchFamily="34" charset="0"/>
                <a:ea typeface="Microsoft YaHei" pitchFamily="34" charset="-122"/>
                <a:cs typeface="Microsoft YaHei" pitchFamily="34" charset="-120"/>
              </a:rPr>
              <a:t>冲稳保是语法不是方法</a:t>
            </a:r>
            <a:endParaRPr lang="en-US" sz="1300" dirty="0"/>
          </a:p>
        </p:txBody>
      </p:sp>
      <p:sp>
        <p:nvSpPr>
          <p:cNvPr id="9" name="Text 7"/>
          <p:cNvSpPr/>
          <p:nvPr/>
        </p:nvSpPr>
        <p:spPr>
          <a:xfrm>
            <a:off x="594360" y="2011680"/>
            <a:ext cx="2377440" cy="320040"/>
          </a:xfrm>
          <a:prstGeom prst="rect">
            <a:avLst/>
          </a:prstGeom>
          <a:noFill/>
          <a:ln/>
        </p:spPr>
        <p:txBody>
          <a:bodyPr wrap="square" rtlCol="0" anchor="ctr"/>
          <a:lstStyle/>
          <a:p>
            <a:pPr algn="ctr" indent="0" marL="0">
              <a:buNone/>
            </a:pPr>
            <a:r>
              <a:rPr lang="en-US" sz="1100" dirty="0">
                <a:solidFill>
                  <a:srgbClr val="8D99AE"/>
                </a:solidFill>
                <a:latin typeface="Microsoft YaHei" pitchFamily="34" charset="0"/>
                <a:ea typeface="Microsoft YaHei" pitchFamily="34" charset="-122"/>
                <a:cs typeface="Microsoft YaHei" pitchFamily="34" charset="-120"/>
              </a:rPr>
              <a:t>先问"这个人是谁"</a:t>
            </a:r>
            <a:endParaRPr lang="en-US" sz="1100" dirty="0"/>
          </a:p>
        </p:txBody>
      </p:sp>
      <p:sp>
        <p:nvSpPr>
          <p:cNvPr id="10" name="Shape 8"/>
          <p:cNvSpPr/>
          <p:nvPr/>
        </p:nvSpPr>
        <p:spPr>
          <a:xfrm>
            <a:off x="3383280" y="914400"/>
            <a:ext cx="2651760" cy="1508760"/>
          </a:xfrm>
          <a:prstGeom prst="roundRect">
            <a:avLst>
              <a:gd name="adj" fmla="val 6061"/>
            </a:avLst>
          </a:prstGeom>
          <a:solidFill>
            <a:srgbClr val="FFFFFF"/>
          </a:solidFill>
          <a:ln/>
          <a:effectLst>
            <a:outerShdw sx="100000" sy="100000" kx="0" ky="0" algn="bl" rotWithShape="0" blurRad="50800" dist="25400" dir="8100000">
              <a:srgbClr val="000000">
                <a:alpha val="8000"/>
              </a:srgbClr>
            </a:outerShdw>
          </a:effectLst>
        </p:spPr>
      </p:sp>
      <p:sp>
        <p:nvSpPr>
          <p:cNvPr id="11" name="Shape 9"/>
          <p:cNvSpPr/>
          <p:nvPr/>
        </p:nvSpPr>
        <p:spPr>
          <a:xfrm>
            <a:off x="3383280" y="914400"/>
            <a:ext cx="2651760" cy="73152"/>
          </a:xfrm>
          <a:prstGeom prst="rect">
            <a:avLst/>
          </a:prstGeom>
          <a:solidFill>
            <a:srgbClr val="EF233C"/>
          </a:solidFill>
          <a:ln/>
        </p:spPr>
      </p:sp>
      <p:sp>
        <p:nvSpPr>
          <p:cNvPr id="12" name="Shape 10"/>
          <p:cNvSpPr/>
          <p:nvPr/>
        </p:nvSpPr>
        <p:spPr>
          <a:xfrm>
            <a:off x="3566160" y="1143000"/>
            <a:ext cx="411480" cy="411480"/>
          </a:xfrm>
          <a:prstGeom prst="ellipse">
            <a:avLst/>
          </a:prstGeom>
          <a:solidFill>
            <a:srgbClr val="2B2D42"/>
          </a:solidFill>
          <a:ln/>
        </p:spPr>
      </p:sp>
      <p:sp>
        <p:nvSpPr>
          <p:cNvPr id="13" name="Text 11"/>
          <p:cNvSpPr/>
          <p:nvPr/>
        </p:nvSpPr>
        <p:spPr>
          <a:xfrm>
            <a:off x="3566160" y="1143000"/>
            <a:ext cx="41148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3520440" y="1645920"/>
            <a:ext cx="2377440" cy="365760"/>
          </a:xfrm>
          <a:prstGeom prst="rect">
            <a:avLst/>
          </a:prstGeom>
          <a:noFill/>
          <a:ln/>
        </p:spPr>
        <p:txBody>
          <a:bodyPr wrap="square" rtlCol="0" anchor="ctr"/>
          <a:lstStyle/>
          <a:p>
            <a:pPr algn="ctr" indent="0" marL="0">
              <a:buNone/>
            </a:pPr>
            <a:r>
              <a:rPr lang="en-US" sz="1300" b="1" dirty="0">
                <a:solidFill>
                  <a:srgbClr val="2B2D42"/>
                </a:solidFill>
                <a:latin typeface="Microsoft YaHei" pitchFamily="34" charset="0"/>
                <a:ea typeface="Microsoft YaHei" pitchFamily="34" charset="-122"/>
                <a:cs typeface="Microsoft YaHei" pitchFamily="34" charset="-120"/>
              </a:rPr>
              <a:t>分数是最后一个变量</a:t>
            </a:r>
            <a:endParaRPr lang="en-US" sz="1300" dirty="0"/>
          </a:p>
        </p:txBody>
      </p:sp>
      <p:sp>
        <p:nvSpPr>
          <p:cNvPr id="15" name="Text 13"/>
          <p:cNvSpPr/>
          <p:nvPr/>
        </p:nvSpPr>
        <p:spPr>
          <a:xfrm>
            <a:off x="3520440" y="2011680"/>
            <a:ext cx="2377440" cy="320040"/>
          </a:xfrm>
          <a:prstGeom prst="rect">
            <a:avLst/>
          </a:prstGeom>
          <a:noFill/>
          <a:ln/>
        </p:spPr>
        <p:txBody>
          <a:bodyPr wrap="square" rtlCol="0" anchor="ctr"/>
          <a:lstStyle/>
          <a:p>
            <a:pPr algn="ctr" indent="0" marL="0">
              <a:buNone/>
            </a:pPr>
            <a:r>
              <a:rPr lang="en-US" sz="1100" dirty="0">
                <a:solidFill>
                  <a:srgbClr val="8D99AE"/>
                </a:solidFill>
                <a:latin typeface="Microsoft YaHei" pitchFamily="34" charset="0"/>
                <a:ea typeface="Microsoft YaHei" pitchFamily="34" charset="-122"/>
                <a:cs typeface="Microsoft YaHei" pitchFamily="34" charset="-120"/>
              </a:rPr>
              <a:t>先人后分</a:t>
            </a:r>
            <a:endParaRPr lang="en-US" sz="1100" dirty="0"/>
          </a:p>
        </p:txBody>
      </p:sp>
      <p:sp>
        <p:nvSpPr>
          <p:cNvPr id="16" name="Shape 14"/>
          <p:cNvSpPr/>
          <p:nvPr/>
        </p:nvSpPr>
        <p:spPr>
          <a:xfrm>
            <a:off x="6309360" y="914400"/>
            <a:ext cx="2651760" cy="1508760"/>
          </a:xfrm>
          <a:prstGeom prst="roundRect">
            <a:avLst>
              <a:gd name="adj" fmla="val 6061"/>
            </a:avLst>
          </a:prstGeom>
          <a:solidFill>
            <a:srgbClr val="FFFFFF"/>
          </a:solidFill>
          <a:ln/>
          <a:effectLst>
            <a:outerShdw sx="100000" sy="100000" kx="0" ky="0" algn="bl" rotWithShape="0" blurRad="50800" dist="25400" dir="8100000">
              <a:srgbClr val="000000">
                <a:alpha val="8000"/>
              </a:srgbClr>
            </a:outerShdw>
          </a:effectLst>
        </p:spPr>
      </p:sp>
      <p:sp>
        <p:nvSpPr>
          <p:cNvPr id="17" name="Shape 15"/>
          <p:cNvSpPr/>
          <p:nvPr/>
        </p:nvSpPr>
        <p:spPr>
          <a:xfrm>
            <a:off x="6309360" y="914400"/>
            <a:ext cx="2651760" cy="73152"/>
          </a:xfrm>
          <a:prstGeom prst="rect">
            <a:avLst/>
          </a:prstGeom>
          <a:solidFill>
            <a:srgbClr val="EF233C"/>
          </a:solidFill>
          <a:ln/>
        </p:spPr>
      </p:sp>
      <p:sp>
        <p:nvSpPr>
          <p:cNvPr id="18" name="Shape 16"/>
          <p:cNvSpPr/>
          <p:nvPr/>
        </p:nvSpPr>
        <p:spPr>
          <a:xfrm>
            <a:off x="6492240" y="1143000"/>
            <a:ext cx="411480" cy="411480"/>
          </a:xfrm>
          <a:prstGeom prst="ellipse">
            <a:avLst/>
          </a:prstGeom>
          <a:solidFill>
            <a:srgbClr val="2B2D42"/>
          </a:solidFill>
          <a:ln/>
        </p:spPr>
      </p:sp>
      <p:sp>
        <p:nvSpPr>
          <p:cNvPr id="19" name="Text 17"/>
          <p:cNvSpPr/>
          <p:nvPr/>
        </p:nvSpPr>
        <p:spPr>
          <a:xfrm>
            <a:off x="6492240" y="1143000"/>
            <a:ext cx="41148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6446520" y="1645920"/>
            <a:ext cx="2377440" cy="365760"/>
          </a:xfrm>
          <a:prstGeom prst="rect">
            <a:avLst/>
          </a:prstGeom>
          <a:noFill/>
          <a:ln/>
        </p:spPr>
        <p:txBody>
          <a:bodyPr wrap="square" rtlCol="0" anchor="ctr"/>
          <a:lstStyle/>
          <a:p>
            <a:pPr algn="ctr" indent="0" marL="0">
              <a:buNone/>
            </a:pPr>
            <a:r>
              <a:rPr lang="en-US" sz="1300" b="1" dirty="0">
                <a:solidFill>
                  <a:srgbClr val="2B2D42"/>
                </a:solidFill>
                <a:latin typeface="Microsoft YaHei" pitchFamily="34" charset="0"/>
                <a:ea typeface="Microsoft YaHei" pitchFamily="34" charset="-122"/>
                <a:cs typeface="Microsoft YaHei" pitchFamily="34" charset="-120"/>
              </a:rPr>
              <a:t>信息收集是过滤噪音</a:t>
            </a:r>
            <a:endParaRPr lang="en-US" sz="1300" dirty="0"/>
          </a:p>
        </p:txBody>
      </p:sp>
      <p:sp>
        <p:nvSpPr>
          <p:cNvPr id="21" name="Text 19"/>
          <p:cNvSpPr/>
          <p:nvPr/>
        </p:nvSpPr>
        <p:spPr>
          <a:xfrm>
            <a:off x="6446520" y="2011680"/>
            <a:ext cx="2377440" cy="320040"/>
          </a:xfrm>
          <a:prstGeom prst="rect">
            <a:avLst/>
          </a:prstGeom>
          <a:noFill/>
          <a:ln/>
        </p:spPr>
        <p:txBody>
          <a:bodyPr wrap="square" rtlCol="0" anchor="ctr"/>
          <a:lstStyle/>
          <a:p>
            <a:pPr algn="ctr" indent="0" marL="0">
              <a:buNone/>
            </a:pPr>
            <a:r>
              <a:rPr lang="en-US" sz="1100" dirty="0">
                <a:solidFill>
                  <a:srgbClr val="8D99AE"/>
                </a:solidFill>
                <a:latin typeface="Microsoft YaHei" pitchFamily="34" charset="0"/>
                <a:ea typeface="Microsoft YaHei" pitchFamily="34" charset="-122"/>
                <a:cs typeface="Microsoft YaHei" pitchFamily="34" charset="-120"/>
              </a:rPr>
              <a:t>三道筛子</a:t>
            </a:r>
            <a:endParaRPr lang="en-US" sz="1100" dirty="0"/>
          </a:p>
        </p:txBody>
      </p:sp>
      <p:sp>
        <p:nvSpPr>
          <p:cNvPr id="22" name="Shape 20"/>
          <p:cNvSpPr/>
          <p:nvPr/>
        </p:nvSpPr>
        <p:spPr>
          <a:xfrm>
            <a:off x="457200" y="2651760"/>
            <a:ext cx="2651760" cy="1508760"/>
          </a:xfrm>
          <a:prstGeom prst="roundRect">
            <a:avLst>
              <a:gd name="adj" fmla="val 6061"/>
            </a:avLst>
          </a:prstGeom>
          <a:solidFill>
            <a:srgbClr val="FFFFFF"/>
          </a:solidFill>
          <a:ln/>
          <a:effectLst>
            <a:outerShdw sx="100000" sy="100000" kx="0" ky="0" algn="bl" rotWithShape="0" blurRad="50800" dist="25400" dir="8100000">
              <a:srgbClr val="000000">
                <a:alpha val="8000"/>
              </a:srgbClr>
            </a:outerShdw>
          </a:effectLst>
        </p:spPr>
      </p:sp>
      <p:sp>
        <p:nvSpPr>
          <p:cNvPr id="23" name="Shape 21"/>
          <p:cNvSpPr/>
          <p:nvPr/>
        </p:nvSpPr>
        <p:spPr>
          <a:xfrm>
            <a:off x="457200" y="2651760"/>
            <a:ext cx="2651760" cy="73152"/>
          </a:xfrm>
          <a:prstGeom prst="rect">
            <a:avLst/>
          </a:prstGeom>
          <a:solidFill>
            <a:srgbClr val="EF233C"/>
          </a:solidFill>
          <a:ln/>
        </p:spPr>
      </p:sp>
      <p:sp>
        <p:nvSpPr>
          <p:cNvPr id="24" name="Shape 22"/>
          <p:cNvSpPr/>
          <p:nvPr/>
        </p:nvSpPr>
        <p:spPr>
          <a:xfrm>
            <a:off x="640080" y="2880360"/>
            <a:ext cx="411480" cy="411480"/>
          </a:xfrm>
          <a:prstGeom prst="ellipse">
            <a:avLst/>
          </a:prstGeom>
          <a:solidFill>
            <a:srgbClr val="2B2D42"/>
          </a:solidFill>
          <a:ln/>
        </p:spPr>
      </p:sp>
      <p:sp>
        <p:nvSpPr>
          <p:cNvPr id="25" name="Text 23"/>
          <p:cNvSpPr/>
          <p:nvPr/>
        </p:nvSpPr>
        <p:spPr>
          <a:xfrm>
            <a:off x="640080" y="2880360"/>
            <a:ext cx="41148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6" name="Text 24"/>
          <p:cNvSpPr/>
          <p:nvPr/>
        </p:nvSpPr>
        <p:spPr>
          <a:xfrm>
            <a:off x="594360" y="3383280"/>
            <a:ext cx="2377440" cy="365760"/>
          </a:xfrm>
          <a:prstGeom prst="rect">
            <a:avLst/>
          </a:prstGeom>
          <a:noFill/>
          <a:ln/>
        </p:spPr>
        <p:txBody>
          <a:bodyPr wrap="square" rtlCol="0" anchor="ctr"/>
          <a:lstStyle/>
          <a:p>
            <a:pPr algn="ctr" indent="0" marL="0">
              <a:buNone/>
            </a:pPr>
            <a:r>
              <a:rPr lang="en-US" sz="1300" b="1" dirty="0">
                <a:solidFill>
                  <a:srgbClr val="2B2D42"/>
                </a:solidFill>
                <a:latin typeface="Microsoft YaHei" pitchFamily="34" charset="0"/>
                <a:ea typeface="Microsoft YaHei" pitchFamily="34" charset="-122"/>
                <a:cs typeface="Microsoft YaHei" pitchFamily="34" charset="-120"/>
              </a:rPr>
              <a:t>产业判断是看五年后</a:t>
            </a:r>
            <a:endParaRPr lang="en-US" sz="1300" dirty="0"/>
          </a:p>
        </p:txBody>
      </p:sp>
      <p:sp>
        <p:nvSpPr>
          <p:cNvPr id="27" name="Text 25"/>
          <p:cNvSpPr/>
          <p:nvPr/>
        </p:nvSpPr>
        <p:spPr>
          <a:xfrm>
            <a:off x="594360" y="3749040"/>
            <a:ext cx="2377440" cy="320040"/>
          </a:xfrm>
          <a:prstGeom prst="rect">
            <a:avLst/>
          </a:prstGeom>
          <a:noFill/>
          <a:ln/>
        </p:spPr>
        <p:txBody>
          <a:bodyPr wrap="square" rtlCol="0" anchor="ctr"/>
          <a:lstStyle/>
          <a:p>
            <a:pPr algn="ctr" indent="0" marL="0">
              <a:buNone/>
            </a:pPr>
            <a:r>
              <a:rPr lang="en-US" sz="1100" dirty="0">
                <a:solidFill>
                  <a:srgbClr val="8D99AE"/>
                </a:solidFill>
                <a:latin typeface="Microsoft YaHei" pitchFamily="34" charset="0"/>
                <a:ea typeface="Microsoft YaHei" pitchFamily="34" charset="-122"/>
                <a:cs typeface="Microsoft YaHei" pitchFamily="34" charset="-120"/>
              </a:rPr>
              <a:t>三问框架</a:t>
            </a:r>
            <a:endParaRPr lang="en-US" sz="1100" dirty="0"/>
          </a:p>
        </p:txBody>
      </p:sp>
      <p:sp>
        <p:nvSpPr>
          <p:cNvPr id="28" name="Shape 26"/>
          <p:cNvSpPr/>
          <p:nvPr/>
        </p:nvSpPr>
        <p:spPr>
          <a:xfrm>
            <a:off x="3383280" y="2651760"/>
            <a:ext cx="2651760" cy="1508760"/>
          </a:xfrm>
          <a:prstGeom prst="roundRect">
            <a:avLst>
              <a:gd name="adj" fmla="val 6061"/>
            </a:avLst>
          </a:prstGeom>
          <a:solidFill>
            <a:srgbClr val="FFFFFF"/>
          </a:solidFill>
          <a:ln/>
          <a:effectLst>
            <a:outerShdw sx="100000" sy="100000" kx="0" ky="0" algn="bl" rotWithShape="0" blurRad="50800" dist="25400" dir="8100000">
              <a:srgbClr val="000000">
                <a:alpha val="8000"/>
              </a:srgbClr>
            </a:outerShdw>
          </a:effectLst>
        </p:spPr>
      </p:sp>
      <p:sp>
        <p:nvSpPr>
          <p:cNvPr id="29" name="Shape 27"/>
          <p:cNvSpPr/>
          <p:nvPr/>
        </p:nvSpPr>
        <p:spPr>
          <a:xfrm>
            <a:off x="3383280" y="2651760"/>
            <a:ext cx="2651760" cy="73152"/>
          </a:xfrm>
          <a:prstGeom prst="rect">
            <a:avLst/>
          </a:prstGeom>
          <a:solidFill>
            <a:srgbClr val="EF233C"/>
          </a:solidFill>
          <a:ln/>
        </p:spPr>
      </p:sp>
      <p:sp>
        <p:nvSpPr>
          <p:cNvPr id="30" name="Shape 28"/>
          <p:cNvSpPr/>
          <p:nvPr/>
        </p:nvSpPr>
        <p:spPr>
          <a:xfrm>
            <a:off x="3566160" y="2880360"/>
            <a:ext cx="411480" cy="411480"/>
          </a:xfrm>
          <a:prstGeom prst="ellipse">
            <a:avLst/>
          </a:prstGeom>
          <a:solidFill>
            <a:srgbClr val="2B2D42"/>
          </a:solidFill>
          <a:ln/>
        </p:spPr>
      </p:sp>
      <p:sp>
        <p:nvSpPr>
          <p:cNvPr id="31" name="Text 29"/>
          <p:cNvSpPr/>
          <p:nvPr/>
        </p:nvSpPr>
        <p:spPr>
          <a:xfrm>
            <a:off x="3566160" y="2880360"/>
            <a:ext cx="41148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2" name="Text 30"/>
          <p:cNvSpPr/>
          <p:nvPr/>
        </p:nvSpPr>
        <p:spPr>
          <a:xfrm>
            <a:off x="3520440" y="3383280"/>
            <a:ext cx="2377440" cy="365760"/>
          </a:xfrm>
          <a:prstGeom prst="rect">
            <a:avLst/>
          </a:prstGeom>
          <a:noFill/>
          <a:ln/>
        </p:spPr>
        <p:txBody>
          <a:bodyPr wrap="square" rtlCol="0" anchor="ctr"/>
          <a:lstStyle/>
          <a:p>
            <a:pPr algn="ctr" indent="0" marL="0">
              <a:buNone/>
            </a:pPr>
            <a:r>
              <a:rPr lang="en-US" sz="1300" b="1" dirty="0">
                <a:solidFill>
                  <a:srgbClr val="2B2D42"/>
                </a:solidFill>
                <a:latin typeface="Microsoft YaHei" pitchFamily="34" charset="0"/>
                <a:ea typeface="Microsoft YaHei" pitchFamily="34" charset="-122"/>
                <a:cs typeface="Microsoft YaHei" pitchFamily="34" charset="-120"/>
              </a:rPr>
              <a:t>倒推规划是从十年后往回算</a:t>
            </a:r>
            <a:endParaRPr lang="en-US" sz="1300" dirty="0"/>
          </a:p>
        </p:txBody>
      </p:sp>
      <p:sp>
        <p:nvSpPr>
          <p:cNvPr id="33" name="Text 31"/>
          <p:cNvSpPr/>
          <p:nvPr/>
        </p:nvSpPr>
        <p:spPr>
          <a:xfrm>
            <a:off x="3520440" y="3749040"/>
            <a:ext cx="2377440" cy="320040"/>
          </a:xfrm>
          <a:prstGeom prst="rect">
            <a:avLst/>
          </a:prstGeom>
          <a:noFill/>
          <a:ln/>
        </p:spPr>
        <p:txBody>
          <a:bodyPr wrap="square" rtlCol="0" anchor="ctr"/>
          <a:lstStyle/>
          <a:p>
            <a:pPr algn="ctr" indent="0" marL="0">
              <a:buNone/>
            </a:pPr>
            <a:r>
              <a:rPr lang="en-US" sz="1100" dirty="0">
                <a:solidFill>
                  <a:srgbClr val="8D99AE"/>
                </a:solidFill>
                <a:latin typeface="Microsoft YaHei" pitchFamily="34" charset="0"/>
                <a:ea typeface="Microsoft YaHei" pitchFamily="34" charset="-122"/>
                <a:cs typeface="Microsoft YaHei" pitchFamily="34" charset="-120"/>
              </a:rPr>
              <a:t>先问想要什么日子</a:t>
            </a:r>
            <a:endParaRPr lang="en-US" sz="1100" dirty="0"/>
          </a:p>
        </p:txBody>
      </p:sp>
      <p:sp>
        <p:nvSpPr>
          <p:cNvPr id="34" name="Shape 32"/>
          <p:cNvSpPr/>
          <p:nvPr/>
        </p:nvSpPr>
        <p:spPr>
          <a:xfrm>
            <a:off x="6309360" y="2651760"/>
            <a:ext cx="2651760" cy="1508760"/>
          </a:xfrm>
          <a:prstGeom prst="roundRect">
            <a:avLst>
              <a:gd name="adj" fmla="val 6061"/>
            </a:avLst>
          </a:prstGeom>
          <a:solidFill>
            <a:srgbClr val="FFFFFF"/>
          </a:solidFill>
          <a:ln/>
          <a:effectLst>
            <a:outerShdw sx="100000" sy="100000" kx="0" ky="0" algn="bl" rotWithShape="0" blurRad="50800" dist="25400" dir="8100000">
              <a:srgbClr val="000000">
                <a:alpha val="8000"/>
              </a:srgbClr>
            </a:outerShdw>
          </a:effectLst>
        </p:spPr>
      </p:sp>
      <p:sp>
        <p:nvSpPr>
          <p:cNvPr id="35" name="Shape 33"/>
          <p:cNvSpPr/>
          <p:nvPr/>
        </p:nvSpPr>
        <p:spPr>
          <a:xfrm>
            <a:off x="6309360" y="2651760"/>
            <a:ext cx="2651760" cy="73152"/>
          </a:xfrm>
          <a:prstGeom prst="rect">
            <a:avLst/>
          </a:prstGeom>
          <a:solidFill>
            <a:srgbClr val="EF233C"/>
          </a:solidFill>
          <a:ln/>
        </p:spPr>
      </p:sp>
      <p:sp>
        <p:nvSpPr>
          <p:cNvPr id="36" name="Shape 34"/>
          <p:cNvSpPr/>
          <p:nvPr/>
        </p:nvSpPr>
        <p:spPr>
          <a:xfrm>
            <a:off x="6492240" y="2880360"/>
            <a:ext cx="411480" cy="411480"/>
          </a:xfrm>
          <a:prstGeom prst="ellipse">
            <a:avLst/>
          </a:prstGeom>
          <a:solidFill>
            <a:srgbClr val="2B2D42"/>
          </a:solidFill>
          <a:ln/>
        </p:spPr>
      </p:sp>
      <p:sp>
        <p:nvSpPr>
          <p:cNvPr id="37" name="Text 35"/>
          <p:cNvSpPr/>
          <p:nvPr/>
        </p:nvSpPr>
        <p:spPr>
          <a:xfrm>
            <a:off x="6492240" y="2880360"/>
            <a:ext cx="41148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8" name="Text 36"/>
          <p:cNvSpPr/>
          <p:nvPr/>
        </p:nvSpPr>
        <p:spPr>
          <a:xfrm>
            <a:off x="6446520" y="3383280"/>
            <a:ext cx="2377440" cy="365760"/>
          </a:xfrm>
          <a:prstGeom prst="rect">
            <a:avLst/>
          </a:prstGeom>
          <a:noFill/>
          <a:ln/>
        </p:spPr>
        <p:txBody>
          <a:bodyPr wrap="square" rtlCol="0" anchor="ctr"/>
          <a:lstStyle/>
          <a:p>
            <a:pPr algn="ctr" indent="0" marL="0">
              <a:buNone/>
            </a:pPr>
            <a:r>
              <a:rPr lang="en-US" sz="1300" b="1" dirty="0">
                <a:solidFill>
                  <a:srgbClr val="2B2D42"/>
                </a:solidFill>
                <a:latin typeface="Microsoft YaHei" pitchFamily="34" charset="0"/>
                <a:ea typeface="Microsoft YaHei" pitchFamily="34" charset="-122"/>
                <a:cs typeface="Microsoft YaHei" pitchFamily="34" charset="-120"/>
              </a:rPr>
              <a:t>AI是工具不是大脑</a:t>
            </a:r>
            <a:endParaRPr lang="en-US" sz="1300" dirty="0"/>
          </a:p>
        </p:txBody>
      </p:sp>
      <p:sp>
        <p:nvSpPr>
          <p:cNvPr id="39" name="Text 37"/>
          <p:cNvSpPr/>
          <p:nvPr/>
        </p:nvSpPr>
        <p:spPr>
          <a:xfrm>
            <a:off x="6446520" y="3749040"/>
            <a:ext cx="2377440" cy="320040"/>
          </a:xfrm>
          <a:prstGeom prst="rect">
            <a:avLst/>
          </a:prstGeom>
          <a:noFill/>
          <a:ln/>
        </p:spPr>
        <p:txBody>
          <a:bodyPr wrap="square" rtlCol="0" anchor="ctr"/>
          <a:lstStyle/>
          <a:p>
            <a:pPr algn="ctr" indent="0" marL="0">
              <a:buNone/>
            </a:pPr>
            <a:r>
              <a:rPr lang="en-US" sz="1100" dirty="0">
                <a:solidFill>
                  <a:srgbClr val="8D99AE"/>
                </a:solidFill>
                <a:latin typeface="Microsoft YaHei" pitchFamily="34" charset="0"/>
                <a:ea typeface="Microsoft YaHei" pitchFamily="34" charset="-122"/>
                <a:cs typeface="Microsoft YaHei" pitchFamily="34" charset="-120"/>
              </a:rPr>
              <a:t>判断力在人身上</a:t>
            </a:r>
            <a:endParaRPr lang="en-US" sz="1100" dirty="0"/>
          </a:p>
        </p:txBody>
      </p:sp>
      <p:sp>
        <p:nvSpPr>
          <p:cNvPr id="40" name="Shape 38"/>
          <p:cNvSpPr/>
          <p:nvPr/>
        </p:nvSpPr>
        <p:spPr>
          <a:xfrm>
            <a:off x="8503920" y="4663440"/>
            <a:ext cx="365760" cy="274320"/>
          </a:xfrm>
          <a:prstGeom prst="roundRect">
            <a:avLst>
              <a:gd name="adj" fmla="val 16667"/>
            </a:avLst>
          </a:prstGeom>
          <a:solidFill>
            <a:srgbClr val="EF233C"/>
          </a:solidFill>
          <a:ln/>
        </p:spPr>
      </p:sp>
      <p:sp>
        <p:nvSpPr>
          <p:cNvPr id="41" name="Text 39"/>
          <p:cNvSpPr/>
          <p:nvPr/>
        </p:nvSpPr>
        <p:spPr>
          <a:xfrm>
            <a:off x="8503920" y="4663440"/>
            <a:ext cx="3657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EF233C"/>
        </a:solidFill>
      </p:bgPr>
    </p:bg>
    <p:spTree>
      <p:nvGrpSpPr>
        <p:cNvPr id="1" name=""/>
        <p:cNvGrpSpPr/>
        <p:nvPr/>
      </p:nvGrpSpPr>
      <p:grpSpPr>
        <a:xfrm>
          <a:off x="0" y="0"/>
          <a:ext cx="0" cy="0"/>
          <a:chOff x="0" y="0"/>
          <a:chExt cx="0" cy="0"/>
        </a:xfrm>
      </p:grpSpPr>
      <p:sp>
        <p:nvSpPr>
          <p:cNvPr id="2" name="Text 0"/>
          <p:cNvSpPr/>
          <p:nvPr/>
        </p:nvSpPr>
        <p:spPr>
          <a:xfrm>
            <a:off x="548640" y="731520"/>
            <a:ext cx="3657600" cy="2286000"/>
          </a:xfrm>
          <a:prstGeom prst="rect">
            <a:avLst/>
          </a:prstGeom>
          <a:noFill/>
          <a:ln/>
        </p:spPr>
        <p:txBody>
          <a:bodyPr wrap="square" rtlCol="0" anchor="ctr"/>
          <a:lstStyle/>
          <a:p>
            <a:pPr algn="l" indent="0" marL="0">
              <a:buNone/>
            </a:pPr>
            <a:r>
              <a:rPr lang="en-US" sz="16000" b="1" dirty="0">
                <a:solidFill>
                  <a:srgbClr val="FFFFFF">
                    <a:alpha val="20000"/>
                  </a:srgbClr>
                </a:solidFill>
                <a:latin typeface="Arial" pitchFamily="34" charset="0"/>
                <a:ea typeface="Arial" pitchFamily="34" charset="-122"/>
                <a:cs typeface="Arial" pitchFamily="34" charset="-120"/>
              </a:rPr>
              <a:t>02</a:t>
            </a:r>
            <a:endParaRPr lang="en-US" sz="16000" dirty="0"/>
          </a:p>
        </p:txBody>
      </p:sp>
      <p:sp>
        <p:nvSpPr>
          <p:cNvPr id="3" name="Shape 1"/>
          <p:cNvSpPr/>
          <p:nvPr/>
        </p:nvSpPr>
        <p:spPr>
          <a:xfrm>
            <a:off x="548640" y="1645920"/>
            <a:ext cx="73152" cy="2011680"/>
          </a:xfrm>
          <a:prstGeom prst="rect">
            <a:avLst/>
          </a:prstGeom>
          <a:solidFill>
            <a:srgbClr val="FFFFFF"/>
          </a:solidFill>
          <a:ln/>
        </p:spPr>
      </p:sp>
      <p:sp>
        <p:nvSpPr>
          <p:cNvPr id="4" name="Text 2"/>
          <p:cNvSpPr/>
          <p:nvPr/>
        </p:nvSpPr>
        <p:spPr>
          <a:xfrm>
            <a:off x="822960" y="1645920"/>
            <a:ext cx="2743200" cy="457200"/>
          </a:xfrm>
          <a:prstGeom prst="rect">
            <a:avLst/>
          </a:prstGeom>
          <a:noFill/>
          <a:ln/>
        </p:spPr>
        <p:txBody>
          <a:bodyPr wrap="square" rtlCol="0" anchor="ctr"/>
          <a:lstStyle/>
          <a:p>
            <a:pPr algn="l" indent="0" marL="0">
              <a:buNone/>
            </a:pPr>
            <a:r>
              <a:rPr lang="en-US" sz="1600" b="1" spc="400" kern="0" dirty="0">
                <a:solidFill>
                  <a:srgbClr val="FFFFFF"/>
                </a:solidFill>
                <a:latin typeface="Arial" pitchFamily="34" charset="0"/>
                <a:ea typeface="Arial" pitchFamily="34" charset="-122"/>
                <a:cs typeface="Arial" pitchFamily="34" charset="-120"/>
              </a:rPr>
              <a:t>MODULE 02</a:t>
            </a:r>
            <a:endParaRPr lang="en-US" sz="1600" dirty="0"/>
          </a:p>
        </p:txBody>
      </p:sp>
      <p:sp>
        <p:nvSpPr>
          <p:cNvPr id="5" name="Text 3"/>
          <p:cNvSpPr/>
          <p:nvPr/>
        </p:nvSpPr>
        <p:spPr>
          <a:xfrm>
            <a:off x="822960" y="2103120"/>
            <a:ext cx="7315200" cy="731520"/>
          </a:xfrm>
          <a:prstGeom prst="rect">
            <a:avLst/>
          </a:prstGeom>
          <a:noFill/>
          <a:ln/>
        </p:spPr>
        <p:txBody>
          <a:bodyPr wrap="square" rtlCol="0" anchor="ctr"/>
          <a:lstStyle/>
          <a:p>
            <a:pPr algn="l" indent="0" marL="0">
              <a:buNone/>
            </a:pPr>
            <a:r>
              <a:rPr lang="en-US" sz="4800" b="1" dirty="0">
                <a:solidFill>
                  <a:srgbClr val="FFFFFF"/>
                </a:solidFill>
                <a:latin typeface="Microsoft YaHei" pitchFamily="34" charset="0"/>
                <a:ea typeface="Microsoft YaHei" pitchFamily="34" charset="-122"/>
                <a:cs typeface="Microsoft YaHei" pitchFamily="34" charset="-120"/>
              </a:rPr>
              <a:t>模块二</a:t>
            </a:r>
            <a:endParaRPr lang="en-US" sz="4800" dirty="0"/>
          </a:p>
        </p:txBody>
      </p:sp>
      <p:sp>
        <p:nvSpPr>
          <p:cNvPr id="6" name="Text 4"/>
          <p:cNvSpPr/>
          <p:nvPr/>
        </p:nvSpPr>
        <p:spPr>
          <a:xfrm>
            <a:off x="822960" y="2834640"/>
            <a:ext cx="7315200" cy="548640"/>
          </a:xfrm>
          <a:prstGeom prst="rect">
            <a:avLst/>
          </a:prstGeom>
          <a:noFill/>
          <a:ln/>
        </p:spPr>
        <p:txBody>
          <a:bodyPr wrap="square" rtlCol="0" anchor="ctr"/>
          <a:lstStyle/>
          <a:p>
            <a:pPr algn="l" indent="0" marL="0">
              <a:buNone/>
            </a:pPr>
            <a:r>
              <a:rPr lang="en-US" sz="2800" b="1" dirty="0">
                <a:solidFill>
                  <a:srgbClr val="FFFFFF"/>
                </a:solidFill>
                <a:latin typeface="Microsoft YaHei" pitchFamily="34" charset="0"/>
                <a:ea typeface="Microsoft YaHei" pitchFamily="34" charset="-122"/>
                <a:cs typeface="Microsoft YaHei" pitchFamily="34" charset="-120"/>
              </a:rPr>
              <a:t>协作与沟通</a:t>
            </a:r>
            <a:endParaRPr lang="en-US" sz="2800" dirty="0"/>
          </a:p>
        </p:txBody>
      </p:sp>
      <p:sp>
        <p:nvSpPr>
          <p:cNvPr id="7" name="Text 5"/>
          <p:cNvSpPr/>
          <p:nvPr/>
        </p:nvSpPr>
        <p:spPr>
          <a:xfrm>
            <a:off x="822960" y="3383280"/>
            <a:ext cx="7315200" cy="457200"/>
          </a:xfrm>
          <a:prstGeom prst="rect">
            <a:avLst/>
          </a:prstGeom>
          <a:noFill/>
          <a:ln/>
        </p:spPr>
        <p:txBody>
          <a:bodyPr wrap="square" rtlCol="0" anchor="ctr"/>
          <a:lstStyle/>
          <a:p>
            <a:pPr algn="l" indent="0" marL="0">
              <a:buNone/>
            </a:pPr>
            <a:r>
              <a:rPr lang="en-US" sz="1600" b="1" dirty="0">
                <a:solidFill>
                  <a:srgbClr val="FFFFFF">
                    <a:alpha val="80000"/>
                  </a:srgbClr>
                </a:solidFill>
                <a:latin typeface="Microsoft YaHei" pitchFamily="34" charset="0"/>
                <a:ea typeface="Microsoft YaHei" pitchFamily="34" charset="-122"/>
                <a:cs typeface="Microsoft YaHei" pitchFamily="34" charset="-120"/>
              </a:rPr>
              <a:t>从风险偏好的翻译，到家长沟通的智慧</a:t>
            </a:r>
            <a:endParaRPr lang="en-US" sz="1600" dirty="0"/>
          </a:p>
        </p:txBody>
      </p:sp>
      <p:sp>
        <p:nvSpPr>
          <p:cNvPr id="8" name="Shape 6"/>
          <p:cNvSpPr/>
          <p:nvPr/>
        </p:nvSpPr>
        <p:spPr>
          <a:xfrm>
            <a:off x="548640" y="4389120"/>
            <a:ext cx="2743200" cy="27432"/>
          </a:xfrm>
          <a:prstGeom prst="rect">
            <a:avLst/>
          </a:prstGeom>
          <a:solidFill>
            <a:srgbClr val="FFFFFF">
              <a:alpha val="50000"/>
            </a:srgbClr>
          </a:solidFill>
          <a:ln/>
        </p:spPr>
      </p:sp>
      <p:sp>
        <p:nvSpPr>
          <p:cNvPr id="9" name="Shape 7"/>
          <p:cNvSpPr/>
          <p:nvPr/>
        </p:nvSpPr>
        <p:spPr>
          <a:xfrm>
            <a:off x="6858000" y="731520"/>
            <a:ext cx="1828800" cy="1828800"/>
          </a:xfrm>
          <a:prstGeom prst="rect">
            <a:avLst/>
          </a:prstGeom>
          <a:solidFill>
            <a:srgbClr val="EF233C">
              <a:alpha val="0"/>
            </a:srgbClr>
          </a:solidFill>
          <a:ln/>
        </p:spPr>
      </p:sp>
      <p:sp>
        <p:nvSpPr>
          <p:cNvPr id="10" name="Shape 8"/>
          <p:cNvSpPr/>
          <p:nvPr/>
        </p:nvSpPr>
        <p:spPr>
          <a:xfrm>
            <a:off x="7315200" y="1188720"/>
            <a:ext cx="1371600" cy="1371600"/>
          </a:xfrm>
          <a:prstGeom prst="rect">
            <a:avLst/>
          </a:prstGeom>
          <a:solidFill>
            <a:srgbClr val="FFFFFF">
              <a:alpha val="10000"/>
            </a:srgbClr>
          </a:solidFill>
          <a:ln/>
        </p:spPr>
      </p:sp>
      <p:sp>
        <p:nvSpPr>
          <p:cNvPr id="11" name="Shape 9"/>
          <p:cNvSpPr/>
          <p:nvPr/>
        </p:nvSpPr>
        <p:spPr>
          <a:xfrm>
            <a:off x="8321040" y="4572000"/>
            <a:ext cx="457200" cy="457200"/>
          </a:xfrm>
          <a:prstGeom prst="ellipse">
            <a:avLst/>
          </a:prstGeom>
          <a:solidFill>
            <a:srgbClr val="FFFFFF"/>
          </a:solidFill>
          <a:ln/>
        </p:spPr>
      </p:sp>
      <p:sp>
        <p:nvSpPr>
          <p:cNvPr id="12" name="Text 10"/>
          <p:cNvSpPr/>
          <p:nvPr/>
        </p:nvSpPr>
        <p:spPr>
          <a:xfrm>
            <a:off x="8321040" y="4572000"/>
            <a:ext cx="457200" cy="457200"/>
          </a:xfrm>
          <a:prstGeom prst="rect">
            <a:avLst/>
          </a:prstGeom>
          <a:noFill/>
          <a:ln/>
        </p:spPr>
        <p:txBody>
          <a:bodyPr wrap="square" rtlCol="0" anchor="ctr"/>
          <a:lstStyle/>
          <a:p>
            <a:pPr algn="ctr" indent="0" marL="0">
              <a:buNone/>
            </a:pPr>
            <a:r>
              <a:rPr lang="en-US" sz="1200" b="1" dirty="0">
                <a:solidFill>
                  <a:srgbClr val="EF233C"/>
                </a:solidFill>
                <a:latin typeface="Arial" pitchFamily="34" charset="0"/>
                <a:ea typeface="Arial" pitchFamily="34" charset="-122"/>
                <a:cs typeface="Arial"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457200" y="320040"/>
            <a:ext cx="731520" cy="457200"/>
          </a:xfrm>
          <a:prstGeom prst="roundRect">
            <a:avLst>
              <a:gd name="adj" fmla="val 16000"/>
            </a:avLst>
          </a:prstGeom>
          <a:solidFill>
            <a:srgbClr val="EF233C"/>
          </a:solidFill>
          <a:ln/>
        </p:spPr>
      </p:sp>
      <p:sp>
        <p:nvSpPr>
          <p:cNvPr id="4" name="Text 2"/>
          <p:cNvSpPr/>
          <p:nvPr/>
        </p:nvSpPr>
        <p:spPr>
          <a:xfrm>
            <a:off x="457200" y="320040"/>
            <a:ext cx="73152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07</a:t>
            </a:r>
            <a:endParaRPr lang="en-US" sz="1800" dirty="0"/>
          </a:p>
        </p:txBody>
      </p:sp>
      <p:sp>
        <p:nvSpPr>
          <p:cNvPr id="5" name="Text 3"/>
          <p:cNvSpPr/>
          <p:nvPr/>
        </p:nvSpPr>
        <p:spPr>
          <a:xfrm>
            <a:off x="1371600" y="274320"/>
            <a:ext cx="7315200" cy="548640"/>
          </a:xfrm>
          <a:prstGeom prst="rect">
            <a:avLst/>
          </a:prstGeom>
          <a:noFill/>
          <a:ln/>
        </p:spPr>
        <p:txBody>
          <a:bodyPr wrap="square" rtlCol="0" anchor="ctr"/>
          <a:lstStyle/>
          <a:p>
            <a:pPr algn="l" indent="0" marL="0">
              <a:buNone/>
            </a:pPr>
            <a:r>
              <a:rPr lang="en-US" sz="2400" b="1" dirty="0">
                <a:solidFill>
                  <a:srgbClr val="2B2D42"/>
                </a:solidFill>
                <a:latin typeface="Microsoft YaHei" pitchFamily="34" charset="0"/>
                <a:ea typeface="Microsoft YaHei" pitchFamily="34" charset="-122"/>
                <a:cs typeface="Microsoft YaHei" pitchFamily="34" charset="-120"/>
              </a:rPr>
              <a:t>冲稳保重新定义：三个档位是风险偏好的翻译</a:t>
            </a:r>
            <a:endParaRPr lang="en-US" sz="2400" dirty="0"/>
          </a:p>
        </p:txBody>
      </p:sp>
      <p:sp>
        <p:nvSpPr>
          <p:cNvPr id="6" name="Shape 4"/>
          <p:cNvSpPr/>
          <p:nvPr/>
        </p:nvSpPr>
        <p:spPr>
          <a:xfrm>
            <a:off x="457200" y="1097280"/>
            <a:ext cx="8229600" cy="2560320"/>
          </a:xfrm>
          <a:prstGeom prst="roundRect">
            <a:avLst>
              <a:gd name="adj" fmla="val 5357"/>
            </a:avLst>
          </a:prstGeom>
          <a:solidFill>
            <a:srgbClr val="FFFFFF"/>
          </a:solidFill>
          <a:ln/>
          <a:effectLst>
            <a:outerShdw sx="100000" sy="100000" kx="0" ky="0" algn="bl" rotWithShape="0" blurRad="101600" dist="38100" dir="8100000">
              <a:srgbClr val="000000">
                <a:alpha val="10000"/>
              </a:srgbClr>
            </a:outerShdw>
          </a:effectLst>
        </p:spPr>
      </p:sp>
      <p:sp>
        <p:nvSpPr>
          <p:cNvPr id="7" name="Shape 5"/>
          <p:cNvSpPr/>
          <p:nvPr/>
        </p:nvSpPr>
        <p:spPr>
          <a:xfrm>
            <a:off x="457200" y="1097280"/>
            <a:ext cx="91440" cy="2560320"/>
          </a:xfrm>
          <a:prstGeom prst="rect">
            <a:avLst/>
          </a:prstGeom>
          <a:solidFill>
            <a:srgbClr val="EF233C"/>
          </a:solidFill>
          <a:ln/>
        </p:spPr>
      </p:sp>
      <p:sp>
        <p:nvSpPr>
          <p:cNvPr id="8" name="Text 6"/>
          <p:cNvSpPr/>
          <p:nvPr/>
        </p:nvSpPr>
        <p:spPr>
          <a:xfrm>
            <a:off x="731520" y="1188720"/>
            <a:ext cx="731520" cy="731520"/>
          </a:xfrm>
          <a:prstGeom prst="rect">
            <a:avLst/>
          </a:prstGeom>
          <a:noFill/>
          <a:ln/>
        </p:spPr>
        <p:txBody>
          <a:bodyPr wrap="square" rtlCol="0" anchor="t"/>
          <a:lstStyle/>
          <a:p>
            <a:pPr algn="l" indent="0" marL="0">
              <a:buNone/>
            </a:pPr>
            <a:r>
              <a:rPr lang="en-US" sz="7200" dirty="0">
                <a:solidFill>
                  <a:srgbClr val="EF233C">
                    <a:alpha val="70000"/>
                  </a:srgbClr>
                </a:solidFill>
                <a:latin typeface="Georgia" pitchFamily="34" charset="0"/>
                <a:ea typeface="Georgia" pitchFamily="34" charset="-122"/>
                <a:cs typeface="Georgia" pitchFamily="34" charset="-120"/>
              </a:rPr>
              <a:t>“</a:t>
            </a:r>
            <a:endParaRPr lang="en-US" sz="7200" dirty="0"/>
          </a:p>
        </p:txBody>
      </p:sp>
      <p:sp>
        <p:nvSpPr>
          <p:cNvPr id="9" name="Text 7"/>
          <p:cNvSpPr/>
          <p:nvPr/>
        </p:nvSpPr>
        <p:spPr>
          <a:xfrm>
            <a:off x="914400" y="1645920"/>
            <a:ext cx="7315200" cy="1828800"/>
          </a:xfrm>
          <a:prstGeom prst="rect">
            <a:avLst/>
          </a:prstGeom>
          <a:noFill/>
          <a:ln/>
        </p:spPr>
        <p:txBody>
          <a:bodyPr wrap="square" rtlCol="0" anchor="ctr"/>
          <a:lstStyle/>
          <a:p>
            <a:pPr algn="l" indent="0" marL="0">
              <a:lnSpc>
                <a:spcPct val="150000"/>
              </a:lnSpc>
              <a:buNone/>
            </a:pPr>
            <a:r>
              <a:rPr lang="en-US" sz="2200" dirty="0">
                <a:solidFill>
                  <a:srgbClr val="2B2D42"/>
                </a:solidFill>
                <a:latin typeface="Microsoft YaHei" pitchFamily="34" charset="0"/>
                <a:ea typeface="Microsoft YaHei" pitchFamily="34" charset="-122"/>
                <a:cs typeface="Microsoft YaHei" pitchFamily="34" charset="-120"/>
              </a:rPr>
              <a:t>冲稳保不是三个装满学校的抽屉，是一个人对"我愿意承担多大风险去换多大的可能性"这句话的翻译。</a:t>
            </a:r>
            <a:endParaRPr lang="en-US" sz="2200" dirty="0"/>
          </a:p>
        </p:txBody>
      </p:sp>
      <p:sp>
        <p:nvSpPr>
          <p:cNvPr id="10" name="Shape 8"/>
          <p:cNvSpPr/>
          <p:nvPr/>
        </p:nvSpPr>
        <p:spPr>
          <a:xfrm>
            <a:off x="457200" y="3840480"/>
            <a:ext cx="8229600" cy="1005840"/>
          </a:xfrm>
          <a:prstGeom prst="roundRect">
            <a:avLst>
              <a:gd name="adj" fmla="val 9091"/>
            </a:avLst>
          </a:prstGeom>
          <a:solidFill>
            <a:srgbClr val="EDF2F4"/>
          </a:solidFill>
          <a:ln/>
        </p:spPr>
      </p:sp>
      <p:sp>
        <p:nvSpPr>
          <p:cNvPr id="11" name="Text 9"/>
          <p:cNvSpPr/>
          <p:nvPr/>
        </p:nvSpPr>
        <p:spPr>
          <a:xfrm>
            <a:off x="640080" y="3931920"/>
            <a:ext cx="1371600" cy="320040"/>
          </a:xfrm>
          <a:prstGeom prst="rect">
            <a:avLst/>
          </a:prstGeom>
          <a:noFill/>
          <a:ln/>
        </p:spPr>
        <p:txBody>
          <a:bodyPr wrap="square" rtlCol="0" anchor="ctr"/>
          <a:lstStyle/>
          <a:p>
            <a:pPr algn="l" indent="0" marL="0">
              <a:buNone/>
            </a:pPr>
            <a:r>
              <a:rPr lang="en-US" sz="1200" b="1" dirty="0">
                <a:solidFill>
                  <a:srgbClr val="EF233C"/>
                </a:solidFill>
                <a:latin typeface="Microsoft YaHei" pitchFamily="34" charset="0"/>
                <a:ea typeface="Microsoft YaHei" pitchFamily="34" charset="-122"/>
                <a:cs typeface="Microsoft YaHei" pitchFamily="34" charset="-120"/>
              </a:rPr>
              <a:t>核心洞察</a:t>
            </a:r>
            <a:endParaRPr lang="en-US" sz="1200" dirty="0"/>
          </a:p>
        </p:txBody>
      </p:sp>
      <p:sp>
        <p:nvSpPr>
          <p:cNvPr id="12" name="Text 10"/>
          <p:cNvSpPr/>
          <p:nvPr/>
        </p:nvSpPr>
        <p:spPr>
          <a:xfrm>
            <a:off x="640080" y="4251960"/>
            <a:ext cx="7863840" cy="502920"/>
          </a:xfrm>
          <a:prstGeom prst="rect">
            <a:avLst/>
          </a:prstGeom>
          <a:noFill/>
          <a:ln/>
        </p:spPr>
        <p:txBody>
          <a:bodyPr wrap="square" rtlCol="0" anchor="ctr"/>
          <a:lstStyle/>
          <a:p>
            <a:pPr algn="l" indent="0" marL="0">
              <a:buNone/>
            </a:pPr>
            <a:r>
              <a:rPr lang="en-US" sz="1400" dirty="0">
                <a:solidFill>
                  <a:srgbClr val="8D99AE"/>
                </a:solidFill>
                <a:latin typeface="Microsoft YaHei" pitchFamily="34" charset="0"/>
                <a:ea typeface="Microsoft YaHei" pitchFamily="34" charset="-122"/>
                <a:cs typeface="Microsoft YaHei" pitchFamily="34" charset="-120"/>
              </a:rPr>
              <a:t>三个档位本质上是在帮学生回答一个问题：你愿意用多少不确定性换取多少可能性</a:t>
            </a:r>
            <a:endParaRPr lang="en-US" sz="1400" dirty="0"/>
          </a:p>
        </p:txBody>
      </p:sp>
      <p:sp>
        <p:nvSpPr>
          <p:cNvPr id="13" name="Shape 11"/>
          <p:cNvSpPr/>
          <p:nvPr/>
        </p:nvSpPr>
        <p:spPr>
          <a:xfrm>
            <a:off x="8321040" y="4572000"/>
            <a:ext cx="457200" cy="457200"/>
          </a:xfrm>
          <a:prstGeom prst="ellipse">
            <a:avLst/>
          </a:prstGeom>
          <a:solidFill>
            <a:srgbClr val="EF233C"/>
          </a:solidFill>
          <a:ln/>
        </p:spPr>
      </p:sp>
      <p:sp>
        <p:nvSpPr>
          <p:cNvPr id="14" name="Text 12"/>
          <p:cNvSpPr/>
          <p:nvPr/>
        </p:nvSpPr>
        <p:spPr>
          <a:xfrm>
            <a:off x="8321040" y="4572000"/>
            <a:ext cx="4572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274320"/>
            <a:ext cx="8229600" cy="548640"/>
          </a:xfrm>
          <a:prstGeom prst="rect">
            <a:avLst/>
          </a:prstGeom>
          <a:noFill/>
          <a:ln/>
        </p:spPr>
        <p:txBody>
          <a:bodyPr wrap="square" rtlCol="0" anchor="ctr"/>
          <a:lstStyle/>
          <a:p>
            <a:pPr algn="l" indent="0" marL="0">
              <a:buNone/>
            </a:pPr>
            <a:r>
              <a:rPr lang="en-US" sz="2800" b="1" dirty="0">
                <a:solidFill>
                  <a:srgbClr val="2B2D42"/>
                </a:solidFill>
                <a:latin typeface="Microsoft YaHei" pitchFamily="34" charset="0"/>
                <a:ea typeface="Microsoft YaHei" pitchFamily="34" charset="-122"/>
                <a:cs typeface="Microsoft YaHei" pitchFamily="34" charset="-120"/>
              </a:rPr>
              <a:t>同样的分数，不同的选择</a:t>
            </a:r>
            <a:endParaRPr lang="en-US" sz="2800" dirty="0"/>
          </a:p>
        </p:txBody>
      </p:sp>
      <p:sp>
        <p:nvSpPr>
          <p:cNvPr id="4" name="Shape 2"/>
          <p:cNvSpPr/>
          <p:nvPr/>
        </p:nvSpPr>
        <p:spPr>
          <a:xfrm>
            <a:off x="457200" y="1005840"/>
            <a:ext cx="3931920" cy="2377440"/>
          </a:xfrm>
          <a:prstGeom prst="roundRect">
            <a:avLst>
              <a:gd name="adj" fmla="val 4615"/>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005840"/>
            <a:ext cx="3931920" cy="502920"/>
          </a:xfrm>
          <a:prstGeom prst="rect">
            <a:avLst/>
          </a:prstGeom>
          <a:solidFill>
            <a:srgbClr val="8D99AE"/>
          </a:solidFill>
          <a:ln/>
        </p:spPr>
      </p:sp>
      <p:sp>
        <p:nvSpPr>
          <p:cNvPr id="6" name="Text 4"/>
          <p:cNvSpPr/>
          <p:nvPr/>
        </p:nvSpPr>
        <p:spPr>
          <a:xfrm>
            <a:off x="457200" y="1005840"/>
            <a:ext cx="3931920" cy="50292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保守型</a:t>
            </a:r>
            <a:endParaRPr lang="en-US" sz="1600" dirty="0"/>
          </a:p>
        </p:txBody>
      </p:sp>
      <p:sp>
        <p:nvSpPr>
          <p:cNvPr id="7" name="Text 5"/>
          <p:cNvSpPr/>
          <p:nvPr/>
        </p:nvSpPr>
        <p:spPr>
          <a:xfrm>
            <a:off x="640080" y="1645920"/>
            <a:ext cx="3566160" cy="1645920"/>
          </a:xfrm>
          <a:prstGeom prst="rect">
            <a:avLst/>
          </a:prstGeom>
          <a:noFill/>
          <a:ln/>
        </p:spPr>
        <p:txBody>
          <a:bodyPr wrap="square" rtlCol="0" anchor="t"/>
          <a:lstStyle/>
          <a:p>
            <a:pPr algn="l" indent="0" marL="0">
              <a:lnSpc>
                <a:spcPct val="140000"/>
              </a:lnSpc>
              <a:buNone/>
            </a:pPr>
            <a:r>
              <a:rPr lang="en-US" sz="1400" dirty="0">
                <a:solidFill>
                  <a:srgbClr val="2B2D42"/>
                </a:solidFill>
                <a:latin typeface="Microsoft YaHei" pitchFamily="34" charset="0"/>
                <a:ea typeface="Microsoft YaHei" pitchFamily="34" charset="-122"/>
                <a:cs typeface="Microsoft YaHei" pitchFamily="34" charset="-120"/>
              </a:rPr>
              <a:t>抗压能力一般，复读一年会对心理造成很大打击</a:t>
            </a:r>
            <a:endParaRPr lang="en-US" sz="1400" dirty="0"/>
          </a:p>
          <a:p>
            <a:pPr algn="l" indent="0" marL="0">
              <a:lnSpc>
                <a:spcPct val="140000"/>
              </a:lnSpc>
              <a:buNone/>
            </a:pPr>
            <a:endParaRPr lang="en-US" sz="1400" dirty="0"/>
          </a:p>
          <a:p>
            <a:pPr algn="l" indent="0" marL="0">
              <a:lnSpc>
                <a:spcPct val="140000"/>
              </a:lnSpc>
              <a:buNone/>
            </a:pPr>
            <a:r>
              <a:rPr lang="en-US" sz="1400" b="1" dirty="0">
                <a:solidFill>
                  <a:srgbClr val="EF233C"/>
                </a:solidFill>
                <a:latin typeface="Microsoft YaHei" pitchFamily="34" charset="0"/>
                <a:ea typeface="Microsoft YaHei" pitchFamily="34" charset="-122"/>
                <a:cs typeface="Microsoft YaHei" pitchFamily="34" charset="-120"/>
              </a:rPr>
              <a:t>→ 冲的比例应该小</a:t>
            </a:r>
            <a:endParaRPr lang="en-US" sz="1400" dirty="0"/>
          </a:p>
        </p:txBody>
      </p:sp>
      <p:sp>
        <p:nvSpPr>
          <p:cNvPr id="8" name="Shape 6"/>
          <p:cNvSpPr/>
          <p:nvPr/>
        </p:nvSpPr>
        <p:spPr>
          <a:xfrm>
            <a:off x="4754880" y="1005840"/>
            <a:ext cx="3931920" cy="2377440"/>
          </a:xfrm>
          <a:prstGeom prst="roundRect">
            <a:avLst>
              <a:gd name="adj" fmla="val 4615"/>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754880" y="1005840"/>
            <a:ext cx="3931920" cy="502920"/>
          </a:xfrm>
          <a:prstGeom prst="rect">
            <a:avLst/>
          </a:prstGeom>
          <a:solidFill>
            <a:srgbClr val="EF233C"/>
          </a:solidFill>
          <a:ln/>
        </p:spPr>
      </p:sp>
      <p:sp>
        <p:nvSpPr>
          <p:cNvPr id="10" name="Text 8"/>
          <p:cNvSpPr/>
          <p:nvPr/>
        </p:nvSpPr>
        <p:spPr>
          <a:xfrm>
            <a:off x="4754880" y="1005840"/>
            <a:ext cx="3931920" cy="50292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敢闯型</a:t>
            </a:r>
            <a:endParaRPr lang="en-US" sz="1600" dirty="0"/>
          </a:p>
        </p:txBody>
      </p:sp>
      <p:sp>
        <p:nvSpPr>
          <p:cNvPr id="11" name="Text 9"/>
          <p:cNvSpPr/>
          <p:nvPr/>
        </p:nvSpPr>
        <p:spPr>
          <a:xfrm>
            <a:off x="4937760" y="1645920"/>
            <a:ext cx="3566160" cy="1645920"/>
          </a:xfrm>
          <a:prstGeom prst="rect">
            <a:avLst/>
          </a:prstGeom>
          <a:noFill/>
          <a:ln/>
        </p:spPr>
        <p:txBody>
          <a:bodyPr wrap="square" rtlCol="0" anchor="t"/>
          <a:lstStyle/>
          <a:p>
            <a:pPr algn="l" indent="0" marL="0">
              <a:lnSpc>
                <a:spcPct val="140000"/>
              </a:lnSpc>
              <a:buNone/>
            </a:pPr>
            <a:r>
              <a:rPr lang="en-US" sz="1400" dirty="0">
                <a:solidFill>
                  <a:srgbClr val="2B2D42"/>
                </a:solidFill>
                <a:latin typeface="Microsoft YaHei" pitchFamily="34" charset="0"/>
                <a:ea typeface="Microsoft YaHei" pitchFamily="34" charset="-122"/>
                <a:cs typeface="Microsoft YaHei" pitchFamily="34" charset="-120"/>
              </a:rPr>
              <a:t>性格上敢闯，家里明确表示"就算这次没考好也支持复读"</a:t>
            </a:r>
            <a:endParaRPr lang="en-US" sz="1400" dirty="0"/>
          </a:p>
          <a:p>
            <a:pPr algn="l" indent="0" marL="0">
              <a:lnSpc>
                <a:spcPct val="140000"/>
              </a:lnSpc>
              <a:buNone/>
            </a:pPr>
            <a:endParaRPr lang="en-US" sz="1400" dirty="0"/>
          </a:p>
          <a:p>
            <a:pPr algn="l" indent="0" marL="0">
              <a:lnSpc>
                <a:spcPct val="140000"/>
              </a:lnSpc>
              <a:buNone/>
            </a:pPr>
            <a:r>
              <a:rPr lang="en-US" sz="1400" b="1" dirty="0">
                <a:solidFill>
                  <a:srgbClr val="EF233C"/>
                </a:solidFill>
                <a:latin typeface="Microsoft YaHei" pitchFamily="34" charset="0"/>
                <a:ea typeface="Microsoft YaHei" pitchFamily="34" charset="-122"/>
                <a:cs typeface="Microsoft YaHei" pitchFamily="34" charset="-120"/>
              </a:rPr>
              <a:t>→ 冲的比例可以大</a:t>
            </a:r>
            <a:endParaRPr lang="en-US" sz="1400" dirty="0"/>
          </a:p>
        </p:txBody>
      </p:sp>
      <p:sp>
        <p:nvSpPr>
          <p:cNvPr id="12" name="Shape 10"/>
          <p:cNvSpPr/>
          <p:nvPr/>
        </p:nvSpPr>
        <p:spPr>
          <a:xfrm>
            <a:off x="457200" y="3566160"/>
            <a:ext cx="8229600" cy="1280160"/>
          </a:xfrm>
          <a:prstGeom prst="roundRect">
            <a:avLst>
              <a:gd name="adj" fmla="val 7143"/>
            </a:avLst>
          </a:prstGeom>
          <a:solidFill>
            <a:srgbClr val="EDF2F4"/>
          </a:solidFill>
          <a:ln/>
        </p:spPr>
      </p:sp>
      <p:sp>
        <p:nvSpPr>
          <p:cNvPr id="13" name="Shape 11"/>
          <p:cNvSpPr/>
          <p:nvPr/>
        </p:nvSpPr>
        <p:spPr>
          <a:xfrm>
            <a:off x="457200" y="3566160"/>
            <a:ext cx="73152" cy="1280160"/>
          </a:xfrm>
          <a:prstGeom prst="rect">
            <a:avLst/>
          </a:prstGeom>
          <a:solidFill>
            <a:srgbClr val="EF233C"/>
          </a:solidFill>
          <a:ln/>
        </p:spPr>
      </p:sp>
      <p:sp>
        <p:nvSpPr>
          <p:cNvPr id="14" name="Text 12"/>
          <p:cNvSpPr/>
          <p:nvPr/>
        </p:nvSpPr>
        <p:spPr>
          <a:xfrm>
            <a:off x="685800" y="3657600"/>
            <a:ext cx="1371600" cy="320040"/>
          </a:xfrm>
          <a:prstGeom prst="rect">
            <a:avLst/>
          </a:prstGeom>
          <a:noFill/>
          <a:ln/>
        </p:spPr>
        <p:txBody>
          <a:bodyPr wrap="square" rtlCol="0" anchor="ctr"/>
          <a:lstStyle/>
          <a:p>
            <a:pPr algn="l" indent="0" marL="0">
              <a:buNone/>
            </a:pPr>
            <a:r>
              <a:rPr lang="en-US" sz="1200" b="1" dirty="0">
                <a:solidFill>
                  <a:srgbClr val="EF233C"/>
                </a:solidFill>
                <a:latin typeface="Microsoft YaHei" pitchFamily="34" charset="0"/>
                <a:ea typeface="Microsoft YaHei" pitchFamily="34" charset="-122"/>
                <a:cs typeface="Microsoft YaHei" pitchFamily="34" charset="-120"/>
              </a:rPr>
              <a:t>关键洞察</a:t>
            </a:r>
            <a:endParaRPr lang="en-US" sz="1200" dirty="0"/>
          </a:p>
        </p:txBody>
      </p:sp>
      <p:sp>
        <p:nvSpPr>
          <p:cNvPr id="15" name="Text 13"/>
          <p:cNvSpPr/>
          <p:nvPr/>
        </p:nvSpPr>
        <p:spPr>
          <a:xfrm>
            <a:off x="685800" y="4023360"/>
            <a:ext cx="7772400" cy="731520"/>
          </a:xfrm>
          <a:prstGeom prst="rect">
            <a:avLst/>
          </a:prstGeom>
          <a:noFill/>
          <a:ln/>
        </p:spPr>
        <p:txBody>
          <a:bodyPr wrap="square" rtlCol="0" anchor="ctr"/>
          <a:lstStyle/>
          <a:p>
            <a:pPr algn="l" indent="0" marL="0">
              <a:buNone/>
            </a:pPr>
            <a:r>
              <a:rPr lang="en-US" sz="1800" b="1" dirty="0">
                <a:solidFill>
                  <a:srgbClr val="2B2D42"/>
                </a:solidFill>
                <a:latin typeface="Microsoft YaHei" pitchFamily="34" charset="0"/>
                <a:ea typeface="Microsoft YaHei" pitchFamily="34" charset="-122"/>
                <a:cs typeface="Microsoft YaHei" pitchFamily="34" charset="-120"/>
              </a:rPr>
              <a:t>680分求稳的孩子，冲的比例可能比620分敢闯的孩子还要小</a:t>
            </a:r>
            <a:endParaRPr lang="en-US" sz="1800" dirty="0"/>
          </a:p>
        </p:txBody>
      </p:sp>
      <p:sp>
        <p:nvSpPr>
          <p:cNvPr id="16" name="Shape 14"/>
          <p:cNvSpPr/>
          <p:nvPr/>
        </p:nvSpPr>
        <p:spPr>
          <a:xfrm>
            <a:off x="8321040" y="4572000"/>
            <a:ext cx="457200" cy="457200"/>
          </a:xfrm>
          <a:prstGeom prst="ellipse">
            <a:avLst/>
          </a:prstGeom>
          <a:solidFill>
            <a:srgbClr val="EF233C"/>
          </a:solidFill>
          <a:ln/>
        </p:spPr>
      </p:sp>
      <p:sp>
        <p:nvSpPr>
          <p:cNvPr id="17" name="Text 15"/>
          <p:cNvSpPr/>
          <p:nvPr/>
        </p:nvSpPr>
        <p:spPr>
          <a:xfrm>
            <a:off x="8321040" y="4572000"/>
            <a:ext cx="4572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274320"/>
            <a:ext cx="8229600" cy="548640"/>
          </a:xfrm>
          <a:prstGeom prst="rect">
            <a:avLst/>
          </a:prstGeom>
          <a:noFill/>
          <a:ln/>
        </p:spPr>
        <p:txBody>
          <a:bodyPr wrap="square" rtlCol="0" anchor="ctr"/>
          <a:lstStyle/>
          <a:p>
            <a:pPr algn="l" indent="0" marL="0">
              <a:buNone/>
            </a:pPr>
            <a:r>
              <a:rPr lang="en-US" sz="2800" b="1" dirty="0">
                <a:solidFill>
                  <a:srgbClr val="2B2D42"/>
                </a:solidFill>
                <a:latin typeface="Microsoft YaHei" pitchFamily="34" charset="0"/>
                <a:ea typeface="Microsoft YaHei" pitchFamily="34" charset="-122"/>
                <a:cs typeface="Microsoft YaHei" pitchFamily="34" charset="-120"/>
              </a:rPr>
              <a:t>判断真实的风险偏好</a:t>
            </a:r>
            <a:endParaRPr lang="en-US" sz="2800" dirty="0"/>
          </a:p>
        </p:txBody>
      </p:sp>
      <p:sp>
        <p:nvSpPr>
          <p:cNvPr id="4" name="Shape 2"/>
          <p:cNvSpPr/>
          <p:nvPr/>
        </p:nvSpPr>
        <p:spPr>
          <a:xfrm>
            <a:off x="457200" y="960120"/>
            <a:ext cx="8229600" cy="1188720"/>
          </a:xfrm>
          <a:prstGeom prst="roundRect">
            <a:avLst>
              <a:gd name="adj" fmla="val 7692"/>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960120"/>
            <a:ext cx="73152" cy="1188720"/>
          </a:xfrm>
          <a:prstGeom prst="rect">
            <a:avLst/>
          </a:prstGeom>
          <a:solidFill>
            <a:srgbClr val="EF233C"/>
          </a:solidFill>
          <a:ln/>
        </p:spPr>
      </p:sp>
      <p:sp>
        <p:nvSpPr>
          <p:cNvPr id="6" name="Text 4"/>
          <p:cNvSpPr/>
          <p:nvPr/>
        </p:nvSpPr>
        <p:spPr>
          <a:xfrm>
            <a:off x="685800" y="1051560"/>
            <a:ext cx="914400" cy="320040"/>
          </a:xfrm>
          <a:prstGeom prst="rect">
            <a:avLst/>
          </a:prstGeom>
          <a:noFill/>
          <a:ln/>
        </p:spPr>
        <p:txBody>
          <a:bodyPr wrap="square" rtlCol="0" anchor="ctr"/>
          <a:lstStyle/>
          <a:p>
            <a:pPr algn="l" indent="0" marL="0">
              <a:buNone/>
            </a:pPr>
            <a:r>
              <a:rPr lang="en-US" sz="1200" b="1" dirty="0">
                <a:solidFill>
                  <a:srgbClr val="EF233C"/>
                </a:solidFill>
                <a:latin typeface="Microsoft YaHei" pitchFamily="34" charset="0"/>
                <a:ea typeface="Microsoft YaHei" pitchFamily="34" charset="-122"/>
                <a:cs typeface="Microsoft YaHei" pitchFamily="34" charset="-120"/>
              </a:rPr>
              <a:t>困难</a:t>
            </a:r>
            <a:endParaRPr lang="en-US" sz="1200" dirty="0"/>
          </a:p>
        </p:txBody>
      </p:sp>
      <p:sp>
        <p:nvSpPr>
          <p:cNvPr id="7" name="Text 5"/>
          <p:cNvSpPr/>
          <p:nvPr/>
        </p:nvSpPr>
        <p:spPr>
          <a:xfrm>
            <a:off x="685800" y="1371600"/>
            <a:ext cx="7772400" cy="685800"/>
          </a:xfrm>
          <a:prstGeom prst="rect">
            <a:avLst/>
          </a:prstGeom>
          <a:noFill/>
          <a:ln/>
        </p:spPr>
        <p:txBody>
          <a:bodyPr wrap="square" rtlCol="0" anchor="ctr"/>
          <a:lstStyle/>
          <a:p>
            <a:pPr algn="l" indent="0" marL="0">
              <a:buNone/>
            </a:pPr>
            <a:r>
              <a:rPr lang="en-US" sz="1500" dirty="0">
                <a:solidFill>
                  <a:srgbClr val="8D99AE"/>
                </a:solidFill>
                <a:latin typeface="Microsoft YaHei" pitchFamily="34" charset="0"/>
                <a:ea typeface="Microsoft YaHei" pitchFamily="34" charset="-122"/>
                <a:cs typeface="Microsoft YaHei" pitchFamily="34" charset="-120"/>
              </a:rPr>
              <a:t>十七八岁的孩子容易在谈话情境里说出让大家都满意的答案，而不是自己内心真实的判断</a:t>
            </a:r>
            <a:endParaRPr lang="en-US" sz="1500" dirty="0"/>
          </a:p>
        </p:txBody>
      </p:sp>
      <p:sp>
        <p:nvSpPr>
          <p:cNvPr id="8" name="Shape 6"/>
          <p:cNvSpPr/>
          <p:nvPr/>
        </p:nvSpPr>
        <p:spPr>
          <a:xfrm>
            <a:off x="457200" y="2331720"/>
            <a:ext cx="8229600" cy="1371600"/>
          </a:xfrm>
          <a:prstGeom prst="roundRect">
            <a:avLst>
              <a:gd name="adj" fmla="val 6667"/>
            </a:avLst>
          </a:prstGeom>
          <a:solidFill>
            <a:srgbClr val="EF233C"/>
          </a:solidFill>
          <a:ln/>
        </p:spPr>
      </p:sp>
      <p:sp>
        <p:nvSpPr>
          <p:cNvPr id="9" name="Text 7"/>
          <p:cNvSpPr/>
          <p:nvPr/>
        </p:nvSpPr>
        <p:spPr>
          <a:xfrm>
            <a:off x="685800" y="2468880"/>
            <a:ext cx="1371600" cy="320040"/>
          </a:xfrm>
          <a:prstGeom prst="rect">
            <a:avLst/>
          </a:prstGeom>
          <a:noFill/>
          <a:ln/>
        </p:spPr>
        <p:txBody>
          <a:bodyPr wrap="square" rtlCol="0" anchor="ctr"/>
          <a:lstStyle/>
          <a:p>
            <a:pPr algn="l" indent="0" marL="0">
              <a:buNone/>
            </a:pPr>
            <a:r>
              <a:rPr lang="en-US" sz="1200" b="1" dirty="0">
                <a:solidFill>
                  <a:srgbClr val="FFFFFF">
                    <a:alpha val="70000"/>
                  </a:srgbClr>
                </a:solidFill>
                <a:latin typeface="Microsoft YaHei" pitchFamily="34" charset="0"/>
                <a:ea typeface="Microsoft YaHei" pitchFamily="34" charset="-122"/>
                <a:cs typeface="Microsoft YaHei" pitchFamily="34" charset="-120"/>
              </a:rPr>
              <a:t>我的方法</a:t>
            </a:r>
            <a:endParaRPr lang="en-US" sz="1200" dirty="0"/>
          </a:p>
        </p:txBody>
      </p:sp>
      <p:sp>
        <p:nvSpPr>
          <p:cNvPr id="10" name="Text 8"/>
          <p:cNvSpPr/>
          <p:nvPr/>
        </p:nvSpPr>
        <p:spPr>
          <a:xfrm>
            <a:off x="685800" y="2834640"/>
            <a:ext cx="7772400" cy="777240"/>
          </a:xfrm>
          <a:prstGeom prst="rect">
            <a:avLst/>
          </a:prstGeom>
          <a:noFill/>
          <a:ln/>
        </p:spPr>
        <p:txBody>
          <a:bodyPr wrap="square" rtlCol="0" anchor="ctr"/>
          <a:lstStyle/>
          <a:p>
            <a:pPr algn="l" indent="0" marL="0">
              <a:lnSpc>
                <a:spcPct val="140000"/>
              </a:lnSpc>
              <a:buNone/>
            </a:pPr>
            <a:r>
              <a:rPr lang="en-US" sz="1600" dirty="0">
                <a:solidFill>
                  <a:srgbClr val="FFFFFF"/>
                </a:solidFill>
                <a:latin typeface="Microsoft YaHei" pitchFamily="34" charset="0"/>
                <a:ea typeface="Microsoft YaHei" pitchFamily="34" charset="-122"/>
                <a:cs typeface="Microsoft YaHei" pitchFamily="34" charset="-120"/>
              </a:rPr>
              <a:t>问过去有没有经历过明显的失败或挫折，那次是怎么走出来的，走出来花了多久</a:t>
            </a:r>
            <a:endParaRPr lang="en-US" sz="1600" dirty="0"/>
          </a:p>
        </p:txBody>
      </p:sp>
      <p:sp>
        <p:nvSpPr>
          <p:cNvPr id="11" name="Shape 9"/>
          <p:cNvSpPr/>
          <p:nvPr/>
        </p:nvSpPr>
        <p:spPr>
          <a:xfrm>
            <a:off x="457200" y="3886200"/>
            <a:ext cx="8229600" cy="1005840"/>
          </a:xfrm>
          <a:prstGeom prst="roundRect">
            <a:avLst>
              <a:gd name="adj" fmla="val 9091"/>
            </a:avLst>
          </a:prstGeom>
          <a:solidFill>
            <a:srgbClr val="EDF2F4"/>
          </a:solidFill>
          <a:ln/>
        </p:spPr>
      </p:sp>
      <p:sp>
        <p:nvSpPr>
          <p:cNvPr id="12" name="Shape 10"/>
          <p:cNvSpPr/>
          <p:nvPr/>
        </p:nvSpPr>
        <p:spPr>
          <a:xfrm>
            <a:off x="457200" y="3886200"/>
            <a:ext cx="73152" cy="1005840"/>
          </a:xfrm>
          <a:prstGeom prst="rect">
            <a:avLst/>
          </a:prstGeom>
          <a:solidFill>
            <a:srgbClr val="EF233C"/>
          </a:solidFill>
          <a:ln/>
        </p:spPr>
      </p:sp>
      <p:sp>
        <p:nvSpPr>
          <p:cNvPr id="13" name="Text 11"/>
          <p:cNvSpPr/>
          <p:nvPr/>
        </p:nvSpPr>
        <p:spPr>
          <a:xfrm>
            <a:off x="685800" y="3977640"/>
            <a:ext cx="1371600" cy="274320"/>
          </a:xfrm>
          <a:prstGeom prst="rect">
            <a:avLst/>
          </a:prstGeom>
          <a:noFill/>
          <a:ln/>
        </p:spPr>
        <p:txBody>
          <a:bodyPr wrap="square" rtlCol="0" anchor="ctr"/>
          <a:lstStyle/>
          <a:p>
            <a:pPr algn="l" indent="0" marL="0">
              <a:buNone/>
            </a:pPr>
            <a:r>
              <a:rPr lang="en-US" sz="1200" b="1" dirty="0">
                <a:solidFill>
                  <a:srgbClr val="EF233C"/>
                </a:solidFill>
                <a:latin typeface="Microsoft YaHei" pitchFamily="34" charset="0"/>
                <a:ea typeface="Microsoft YaHei" pitchFamily="34" charset="-122"/>
                <a:cs typeface="Microsoft YaHei" pitchFamily="34" charset="-120"/>
              </a:rPr>
              <a:t>关键洞察</a:t>
            </a:r>
            <a:endParaRPr lang="en-US" sz="1200" dirty="0"/>
          </a:p>
        </p:txBody>
      </p:sp>
      <p:sp>
        <p:nvSpPr>
          <p:cNvPr id="14" name="Text 12"/>
          <p:cNvSpPr/>
          <p:nvPr/>
        </p:nvSpPr>
        <p:spPr>
          <a:xfrm>
            <a:off x="685800" y="4297680"/>
            <a:ext cx="7772400" cy="502920"/>
          </a:xfrm>
          <a:prstGeom prst="rect">
            <a:avLst/>
          </a:prstGeom>
          <a:noFill/>
          <a:ln/>
        </p:spPr>
        <p:txBody>
          <a:bodyPr wrap="square" rtlCol="0" anchor="ctr"/>
          <a:lstStyle/>
          <a:p>
            <a:pPr algn="l" indent="0" marL="0">
              <a:buNone/>
            </a:pPr>
            <a:r>
              <a:rPr lang="en-US" sz="1400" b="1" dirty="0">
                <a:solidFill>
                  <a:srgbClr val="2B2D42"/>
                </a:solidFill>
                <a:latin typeface="Microsoft YaHei" pitchFamily="34" charset="0"/>
                <a:ea typeface="Microsoft YaHei" pitchFamily="34" charset="-122"/>
                <a:cs typeface="Microsoft YaHei" pitchFamily="34" charset="-120"/>
              </a:rPr>
              <a:t>这段真实的经历，比一句"我能接受"，更能反映这个孩子实际的抗压能力和风险承受边界</a:t>
            </a:r>
            <a:endParaRPr lang="en-US" sz="1400" dirty="0"/>
          </a:p>
        </p:txBody>
      </p:sp>
      <p:sp>
        <p:nvSpPr>
          <p:cNvPr id="15" name="Shape 13"/>
          <p:cNvSpPr/>
          <p:nvPr/>
        </p:nvSpPr>
        <p:spPr>
          <a:xfrm>
            <a:off x="8321040" y="4572000"/>
            <a:ext cx="457200" cy="457200"/>
          </a:xfrm>
          <a:prstGeom prst="ellipse">
            <a:avLst/>
          </a:prstGeom>
          <a:solidFill>
            <a:srgbClr val="EF233C"/>
          </a:solidFill>
          <a:ln/>
        </p:spPr>
      </p:sp>
      <p:sp>
        <p:nvSpPr>
          <p:cNvPr id="16" name="Text 14"/>
          <p:cNvSpPr/>
          <p:nvPr/>
        </p:nvSpPr>
        <p:spPr>
          <a:xfrm>
            <a:off x="8321040" y="4572000"/>
            <a:ext cx="4572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457200" y="274320"/>
            <a:ext cx="731520" cy="457200"/>
          </a:xfrm>
          <a:prstGeom prst="roundRect">
            <a:avLst>
              <a:gd name="adj" fmla="val 16000"/>
            </a:avLst>
          </a:prstGeom>
          <a:solidFill>
            <a:srgbClr val="EF233C"/>
          </a:solidFill>
          <a:ln/>
        </p:spPr>
      </p:sp>
      <p:sp>
        <p:nvSpPr>
          <p:cNvPr id="4" name="Text 2"/>
          <p:cNvSpPr/>
          <p:nvPr/>
        </p:nvSpPr>
        <p:spPr>
          <a:xfrm>
            <a:off x="457200" y="274320"/>
            <a:ext cx="73152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08</a:t>
            </a:r>
            <a:endParaRPr lang="en-US" sz="1800" dirty="0"/>
          </a:p>
        </p:txBody>
      </p:sp>
      <p:sp>
        <p:nvSpPr>
          <p:cNvPr id="5" name="Text 3"/>
          <p:cNvSpPr/>
          <p:nvPr/>
        </p:nvSpPr>
        <p:spPr>
          <a:xfrm>
            <a:off x="1371600" y="228600"/>
            <a:ext cx="7315200" cy="548640"/>
          </a:xfrm>
          <a:prstGeom prst="rect">
            <a:avLst/>
          </a:prstGeom>
          <a:noFill/>
          <a:ln/>
        </p:spPr>
        <p:txBody>
          <a:bodyPr wrap="square" rtlCol="0" anchor="ctr"/>
          <a:lstStyle/>
          <a:p>
            <a:pPr algn="l" indent="0" marL="0">
              <a:buNone/>
            </a:pPr>
            <a:r>
              <a:rPr lang="en-US" sz="2400" b="1" dirty="0">
                <a:solidFill>
                  <a:srgbClr val="2B2D42"/>
                </a:solidFill>
                <a:latin typeface="Microsoft YaHei" pitchFamily="34" charset="0"/>
                <a:ea typeface="Microsoft YaHei" pitchFamily="34" charset="-122"/>
                <a:cs typeface="Microsoft YaHei" pitchFamily="34" charset="-120"/>
              </a:rPr>
              <a:t>志愿表不是终点，是第一次为自己做主的练习</a:t>
            </a:r>
            <a:endParaRPr lang="en-US" sz="2400" dirty="0"/>
          </a:p>
        </p:txBody>
      </p:sp>
      <p:sp>
        <p:nvSpPr>
          <p:cNvPr id="6" name="Shape 4"/>
          <p:cNvSpPr/>
          <p:nvPr/>
        </p:nvSpPr>
        <p:spPr>
          <a:xfrm>
            <a:off x="457200" y="960120"/>
            <a:ext cx="8229600" cy="1737360"/>
          </a:xfrm>
          <a:prstGeom prst="roundRect">
            <a:avLst>
              <a:gd name="adj" fmla="val 7895"/>
            </a:avLst>
          </a:prstGeom>
          <a:solidFill>
            <a:srgbClr val="FFFFFF"/>
          </a:solidFill>
          <a:ln/>
          <a:effectLst>
            <a:outerShdw sx="100000" sy="100000" kx="0" ky="0" algn="bl" rotWithShape="0" blurRad="101600" dist="38100" dir="8100000">
              <a:srgbClr val="000000">
                <a:alpha val="10000"/>
              </a:srgbClr>
            </a:outerShdw>
          </a:effectLst>
        </p:spPr>
      </p:sp>
      <p:sp>
        <p:nvSpPr>
          <p:cNvPr id="7" name="Shape 5"/>
          <p:cNvSpPr/>
          <p:nvPr/>
        </p:nvSpPr>
        <p:spPr>
          <a:xfrm>
            <a:off x="457200" y="960120"/>
            <a:ext cx="91440" cy="1737360"/>
          </a:xfrm>
          <a:prstGeom prst="rect">
            <a:avLst/>
          </a:prstGeom>
          <a:solidFill>
            <a:srgbClr val="EF233C"/>
          </a:solidFill>
          <a:ln/>
        </p:spPr>
      </p:sp>
      <p:sp>
        <p:nvSpPr>
          <p:cNvPr id="8" name="Text 6"/>
          <p:cNvSpPr/>
          <p:nvPr/>
        </p:nvSpPr>
        <p:spPr>
          <a:xfrm>
            <a:off x="731520" y="1005840"/>
            <a:ext cx="548640" cy="548640"/>
          </a:xfrm>
          <a:prstGeom prst="rect">
            <a:avLst/>
          </a:prstGeom>
          <a:noFill/>
          <a:ln/>
        </p:spPr>
        <p:txBody>
          <a:bodyPr wrap="square" rtlCol="0" anchor="t"/>
          <a:lstStyle/>
          <a:p>
            <a:pPr algn="l" indent="0" marL="0">
              <a:buNone/>
            </a:pPr>
            <a:r>
              <a:rPr lang="en-US" sz="5600" dirty="0">
                <a:solidFill>
                  <a:srgbClr val="EF233C">
                    <a:alpha val="70000"/>
                  </a:srgbClr>
                </a:solidFill>
                <a:latin typeface="Georgia" pitchFamily="34" charset="0"/>
                <a:ea typeface="Georgia" pitchFamily="34" charset="-122"/>
                <a:cs typeface="Georgia" pitchFamily="34" charset="-120"/>
              </a:rPr>
              <a:t>“</a:t>
            </a:r>
            <a:endParaRPr lang="en-US" sz="5600" dirty="0"/>
          </a:p>
        </p:txBody>
      </p:sp>
      <p:sp>
        <p:nvSpPr>
          <p:cNvPr id="9" name="Text 7"/>
          <p:cNvSpPr/>
          <p:nvPr/>
        </p:nvSpPr>
        <p:spPr>
          <a:xfrm>
            <a:off x="822960" y="1325880"/>
            <a:ext cx="7589520" cy="1280160"/>
          </a:xfrm>
          <a:prstGeom prst="rect">
            <a:avLst/>
          </a:prstGeom>
          <a:noFill/>
          <a:ln/>
        </p:spPr>
        <p:txBody>
          <a:bodyPr wrap="square" rtlCol="0" anchor="ctr"/>
          <a:lstStyle/>
          <a:p>
            <a:pPr algn="l" indent="0" marL="0">
              <a:lnSpc>
                <a:spcPct val="140000"/>
              </a:lnSpc>
              <a:buNone/>
            </a:pPr>
            <a:r>
              <a:rPr lang="en-US" sz="1800" dirty="0">
                <a:solidFill>
                  <a:srgbClr val="2B2D42"/>
                </a:solidFill>
                <a:latin typeface="Microsoft YaHei" pitchFamily="34" charset="0"/>
                <a:ea typeface="Microsoft YaHei" pitchFamily="34" charset="-122"/>
                <a:cs typeface="Microsoft YaHei" pitchFamily="34" charset="-120"/>
              </a:rPr>
              <a:t>这张表填完，很多家长觉得事情结束了，其实对这个孩子来说，这可能是他人生里第一次，一个正式的、有后果的决定，是从他自己嘴里说出来的。</a:t>
            </a:r>
            <a:endParaRPr lang="en-US" sz="1800" dirty="0"/>
          </a:p>
        </p:txBody>
      </p:sp>
      <p:sp>
        <p:nvSpPr>
          <p:cNvPr id="10" name="Shape 8"/>
          <p:cNvSpPr/>
          <p:nvPr/>
        </p:nvSpPr>
        <p:spPr>
          <a:xfrm>
            <a:off x="457200" y="2880360"/>
            <a:ext cx="8229600" cy="1463040"/>
          </a:xfrm>
          <a:prstGeom prst="roundRect">
            <a:avLst>
              <a:gd name="adj" fmla="val 6250"/>
            </a:avLst>
          </a:prstGeom>
          <a:solidFill>
            <a:srgbClr val="EDF2F4"/>
          </a:solidFill>
          <a:ln/>
        </p:spPr>
      </p:sp>
      <p:sp>
        <p:nvSpPr>
          <p:cNvPr id="11" name="Shape 9"/>
          <p:cNvSpPr/>
          <p:nvPr/>
        </p:nvSpPr>
        <p:spPr>
          <a:xfrm>
            <a:off x="457200" y="2880360"/>
            <a:ext cx="73152" cy="1463040"/>
          </a:xfrm>
          <a:prstGeom prst="rect">
            <a:avLst/>
          </a:prstGeom>
          <a:solidFill>
            <a:srgbClr val="EF233C"/>
          </a:solidFill>
          <a:ln/>
        </p:spPr>
      </p:sp>
      <p:sp>
        <p:nvSpPr>
          <p:cNvPr id="12" name="Text 10"/>
          <p:cNvSpPr/>
          <p:nvPr/>
        </p:nvSpPr>
        <p:spPr>
          <a:xfrm>
            <a:off x="685800" y="2971800"/>
            <a:ext cx="1371600" cy="320040"/>
          </a:xfrm>
          <a:prstGeom prst="rect">
            <a:avLst/>
          </a:prstGeom>
          <a:noFill/>
          <a:ln/>
        </p:spPr>
        <p:txBody>
          <a:bodyPr wrap="square" rtlCol="0" anchor="ctr"/>
          <a:lstStyle/>
          <a:p>
            <a:pPr algn="l" indent="0" marL="0">
              <a:buNone/>
            </a:pPr>
            <a:r>
              <a:rPr lang="en-US" sz="1200" b="1" dirty="0">
                <a:solidFill>
                  <a:srgbClr val="EF233C"/>
                </a:solidFill>
                <a:latin typeface="Microsoft YaHei" pitchFamily="34" charset="0"/>
                <a:ea typeface="Microsoft YaHei" pitchFamily="34" charset="-122"/>
                <a:cs typeface="Microsoft YaHei" pitchFamily="34" charset="-120"/>
              </a:rPr>
              <a:t>真实案例</a:t>
            </a:r>
            <a:endParaRPr lang="en-US" sz="1200" dirty="0"/>
          </a:p>
        </p:txBody>
      </p:sp>
      <p:sp>
        <p:nvSpPr>
          <p:cNvPr id="13" name="Text 11"/>
          <p:cNvSpPr/>
          <p:nvPr/>
        </p:nvSpPr>
        <p:spPr>
          <a:xfrm>
            <a:off x="685800" y="3291840"/>
            <a:ext cx="7772400" cy="365760"/>
          </a:xfrm>
          <a:prstGeom prst="rect">
            <a:avLst/>
          </a:prstGeom>
          <a:noFill/>
          <a:ln/>
        </p:spPr>
        <p:txBody>
          <a:bodyPr wrap="square" rtlCol="0" anchor="ctr"/>
          <a:lstStyle/>
          <a:p>
            <a:pPr algn="l" indent="0" marL="0">
              <a:buNone/>
            </a:pPr>
            <a:r>
              <a:rPr lang="en-US" sz="1400" dirty="0">
                <a:solidFill>
                  <a:srgbClr val="8D99AE"/>
                </a:solidFill>
                <a:latin typeface="Microsoft YaHei" pitchFamily="34" charset="0"/>
                <a:ea typeface="Microsoft YaHei" pitchFamily="34" charset="-122"/>
                <a:cs typeface="Microsoft YaHei" pitchFamily="34" charset="-120"/>
              </a:rPr>
              <a:t>一个女生填完志愿表后说：</a:t>
            </a:r>
            <a:endParaRPr lang="en-US" sz="1400" dirty="0"/>
          </a:p>
        </p:txBody>
      </p:sp>
      <p:sp>
        <p:nvSpPr>
          <p:cNvPr id="14" name="Text 12"/>
          <p:cNvSpPr/>
          <p:nvPr/>
        </p:nvSpPr>
        <p:spPr>
          <a:xfrm>
            <a:off x="685800" y="3657600"/>
            <a:ext cx="7772400" cy="594360"/>
          </a:xfrm>
          <a:prstGeom prst="rect">
            <a:avLst/>
          </a:prstGeom>
          <a:noFill/>
          <a:ln/>
        </p:spPr>
        <p:txBody>
          <a:bodyPr wrap="square" rtlCol="0" anchor="ctr"/>
          <a:lstStyle/>
          <a:p>
            <a:pPr algn="l" indent="0" marL="0">
              <a:buNone/>
            </a:pPr>
            <a:r>
              <a:rPr lang="en-US" sz="1600" b="1" i="1" dirty="0">
                <a:solidFill>
                  <a:srgbClr val="2B2D42"/>
                </a:solidFill>
                <a:latin typeface="Microsoft YaHei" pitchFamily="34" charset="0"/>
                <a:ea typeface="Microsoft YaHei" pitchFamily="34" charset="-122"/>
                <a:cs typeface="Microsoft YaHei" pitchFamily="34" charset="-120"/>
              </a:rPr>
              <a:t>"罗老师，这是我第一次自己决定一件这么大的事"</a:t>
            </a:r>
            <a:endParaRPr lang="en-US" sz="1600" dirty="0"/>
          </a:p>
        </p:txBody>
      </p:sp>
      <p:sp>
        <p:nvSpPr>
          <p:cNvPr id="15" name="Shape 13"/>
          <p:cNvSpPr/>
          <p:nvPr/>
        </p:nvSpPr>
        <p:spPr>
          <a:xfrm>
            <a:off x="8321040" y="4572000"/>
            <a:ext cx="457200" cy="457200"/>
          </a:xfrm>
          <a:prstGeom prst="ellipse">
            <a:avLst/>
          </a:prstGeom>
          <a:solidFill>
            <a:srgbClr val="EF233C"/>
          </a:solidFill>
          <a:ln/>
        </p:spPr>
      </p:sp>
      <p:sp>
        <p:nvSpPr>
          <p:cNvPr id="16" name="Text 14"/>
          <p:cNvSpPr/>
          <p:nvPr/>
        </p:nvSpPr>
        <p:spPr>
          <a:xfrm>
            <a:off x="8321040" y="4572000"/>
            <a:ext cx="4572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8503920" y="274320"/>
            <a:ext cx="365760" cy="274320"/>
          </a:xfrm>
          <a:prstGeom prst="roundRect">
            <a:avLst>
              <a:gd name="adj" fmla="val 16667"/>
            </a:avLst>
          </a:prstGeom>
          <a:solidFill>
            <a:srgbClr val="EF233C"/>
          </a:solidFill>
          <a:ln/>
        </p:spPr>
      </p:sp>
      <p:sp>
        <p:nvSpPr>
          <p:cNvPr id="4" name="Text 2"/>
          <p:cNvSpPr/>
          <p:nvPr/>
        </p:nvSpPr>
        <p:spPr>
          <a:xfrm>
            <a:off x="8503920" y="274320"/>
            <a:ext cx="3657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41</a:t>
            </a:r>
            <a:endParaRPr lang="en-US" sz="1000" dirty="0"/>
          </a:p>
        </p:txBody>
      </p:sp>
      <p:sp>
        <p:nvSpPr>
          <p:cNvPr id="5" name="Text 3"/>
          <p:cNvSpPr/>
          <p:nvPr/>
        </p:nvSpPr>
        <p:spPr>
          <a:xfrm>
            <a:off x="457200" y="274320"/>
            <a:ext cx="548640" cy="365760"/>
          </a:xfrm>
          <a:prstGeom prst="rect">
            <a:avLst/>
          </a:prstGeom>
          <a:noFill/>
          <a:ln/>
        </p:spPr>
        <p:txBody>
          <a:bodyPr wrap="square" rtlCol="0" anchor="ctr"/>
          <a:lstStyle/>
          <a:p>
            <a:pPr indent="0" marL="0">
              <a:buNone/>
            </a:pPr>
            <a:r>
              <a:rPr lang="en-US" sz="1400" b="1" dirty="0">
                <a:solidFill>
                  <a:srgbClr val="EF233C"/>
                </a:solidFill>
                <a:latin typeface="Arial" pitchFamily="34" charset="0"/>
                <a:ea typeface="Arial" pitchFamily="34" charset="-122"/>
                <a:cs typeface="Arial" pitchFamily="34" charset="-120"/>
              </a:rPr>
              <a:t>08</a:t>
            </a:r>
            <a:endParaRPr lang="en-US" sz="1400" dirty="0"/>
          </a:p>
        </p:txBody>
      </p:sp>
      <p:sp>
        <p:nvSpPr>
          <p:cNvPr id="6" name="Text 4"/>
          <p:cNvSpPr/>
          <p:nvPr/>
        </p:nvSpPr>
        <p:spPr>
          <a:xfrm>
            <a:off x="457200" y="640080"/>
            <a:ext cx="7772400" cy="54864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让孩子自己说出最后那句话</a:t>
            </a:r>
            <a:endParaRPr lang="en-US" sz="2800" dirty="0"/>
          </a:p>
        </p:txBody>
      </p:sp>
      <p:sp>
        <p:nvSpPr>
          <p:cNvPr id="7" name="Shape 5"/>
          <p:cNvSpPr/>
          <p:nvPr/>
        </p:nvSpPr>
        <p:spPr>
          <a:xfrm>
            <a:off x="457200" y="1280160"/>
            <a:ext cx="8229600" cy="731520"/>
          </a:xfrm>
          <a:prstGeom prst="roundRect">
            <a:avLst>
              <a:gd name="adj" fmla="val 10000"/>
            </a:avLst>
          </a:prstGeom>
          <a:solidFill>
            <a:srgbClr val="EDF2F4"/>
          </a:solidFill>
          <a:ln/>
        </p:spPr>
      </p:sp>
      <p:sp>
        <p:nvSpPr>
          <p:cNvPr id="8" name="Shape 6"/>
          <p:cNvSpPr/>
          <p:nvPr/>
        </p:nvSpPr>
        <p:spPr>
          <a:xfrm>
            <a:off x="457200" y="1280160"/>
            <a:ext cx="73152" cy="731520"/>
          </a:xfrm>
          <a:prstGeom prst="rect">
            <a:avLst/>
          </a:prstGeom>
          <a:solidFill>
            <a:srgbClr val="EF233C"/>
          </a:solidFill>
          <a:ln/>
        </p:spPr>
      </p:sp>
      <p:sp>
        <p:nvSpPr>
          <p:cNvPr id="9" name="Text 7"/>
          <p:cNvSpPr/>
          <p:nvPr/>
        </p:nvSpPr>
        <p:spPr>
          <a:xfrm>
            <a:off x="685800" y="1325880"/>
            <a:ext cx="1097280" cy="228600"/>
          </a:xfrm>
          <a:prstGeom prst="rect">
            <a:avLst/>
          </a:prstGeom>
          <a:noFill/>
          <a:ln/>
        </p:spPr>
        <p:txBody>
          <a:bodyPr wrap="square" rtlCol="0" anchor="ctr"/>
          <a:lstStyle/>
          <a:p>
            <a:pPr indent="0" marL="0">
              <a:buNone/>
            </a:pPr>
            <a:r>
              <a:rPr lang="en-US" sz="1000" b="1" dirty="0">
                <a:solidFill>
                  <a:srgbClr val="EF233C"/>
                </a:solidFill>
                <a:latin typeface="Microsoft YaHei" pitchFamily="34" charset="0"/>
                <a:ea typeface="Microsoft YaHei" pitchFamily="34" charset="-122"/>
                <a:cs typeface="Microsoft YaHei" pitchFamily="34" charset="-120"/>
              </a:rPr>
              <a:t>核心洞察</a:t>
            </a:r>
            <a:endParaRPr lang="en-US" sz="1000" dirty="0"/>
          </a:p>
        </p:txBody>
      </p:sp>
      <p:sp>
        <p:nvSpPr>
          <p:cNvPr id="10" name="Text 8"/>
          <p:cNvSpPr/>
          <p:nvPr/>
        </p:nvSpPr>
        <p:spPr>
          <a:xfrm>
            <a:off x="685800" y="1554480"/>
            <a:ext cx="7818120" cy="365760"/>
          </a:xfrm>
          <a:prstGeom prst="rect">
            <a:avLst/>
          </a:prstGeom>
          <a:noFill/>
          <a:ln/>
        </p:spPr>
        <p:txBody>
          <a:bodyPr wrap="square" rtlCol="0" anchor="ctr"/>
          <a:lstStyle/>
          <a:p>
            <a:pPr indent="0" marL="0">
              <a:buNone/>
            </a:pPr>
            <a:r>
              <a:rPr lang="en-US" sz="1500" b="1" dirty="0">
                <a:solidFill>
                  <a:srgbClr val="2B2D42"/>
                </a:solidFill>
                <a:latin typeface="Microsoft YaHei" pitchFamily="34" charset="0"/>
                <a:ea typeface="Microsoft YaHei" pitchFamily="34" charset="-122"/>
                <a:cs typeface="Microsoft YaHei" pitchFamily="34" charset="-120"/>
              </a:rPr>
              <a:t>一个选择"结果正确"，不代表这个选择"过程正确"</a:t>
            </a:r>
            <a:endParaRPr lang="en-US" sz="1500" dirty="0"/>
          </a:p>
        </p:txBody>
      </p:sp>
      <p:sp>
        <p:nvSpPr>
          <p:cNvPr id="11" name="Shape 9"/>
          <p:cNvSpPr/>
          <p:nvPr/>
        </p:nvSpPr>
        <p:spPr>
          <a:xfrm>
            <a:off x="457200" y="2194560"/>
            <a:ext cx="73152" cy="320040"/>
          </a:xfrm>
          <a:prstGeom prst="rect">
            <a:avLst/>
          </a:prstGeom>
          <a:solidFill>
            <a:srgbClr val="EF233C"/>
          </a:solidFill>
          <a:ln/>
        </p:spPr>
      </p:sp>
      <p:sp>
        <p:nvSpPr>
          <p:cNvPr id="12" name="Text 10"/>
          <p:cNvSpPr/>
          <p:nvPr/>
        </p:nvSpPr>
        <p:spPr>
          <a:xfrm>
            <a:off x="640080" y="2194560"/>
            <a:ext cx="914400" cy="320040"/>
          </a:xfrm>
          <a:prstGeom prst="rect">
            <a:avLst/>
          </a:prstGeom>
          <a:noFill/>
          <a:ln/>
        </p:spPr>
        <p:txBody>
          <a:bodyPr wrap="square" rtlCol="0" anchor="ctr"/>
          <a:lstStyle/>
          <a:p>
            <a:pPr indent="0" marL="0">
              <a:buNone/>
            </a:pPr>
            <a:r>
              <a:rPr lang="en-US" sz="1200" b="1" dirty="0">
                <a:solidFill>
                  <a:srgbClr val="EF233C"/>
                </a:solidFill>
                <a:latin typeface="Microsoft YaHei" pitchFamily="34" charset="0"/>
                <a:ea typeface="Microsoft YaHei" pitchFamily="34" charset="-122"/>
                <a:cs typeface="Microsoft YaHei" pitchFamily="34" charset="-120"/>
              </a:rPr>
              <a:t>问题</a:t>
            </a:r>
            <a:endParaRPr lang="en-US" sz="1200" dirty="0"/>
          </a:p>
        </p:txBody>
      </p:sp>
      <p:sp>
        <p:nvSpPr>
          <p:cNvPr id="13" name="Text 11"/>
          <p:cNvSpPr/>
          <p:nvPr/>
        </p:nvSpPr>
        <p:spPr>
          <a:xfrm>
            <a:off x="457200" y="2606040"/>
            <a:ext cx="8229600" cy="50292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如果整个决策过程里，孩子始终是一个被讨论的对象，而不是参与讨论、最终做出决定的人</a:t>
            </a:r>
            <a:endParaRPr lang="en-US" sz="1400" dirty="0"/>
          </a:p>
        </p:txBody>
      </p:sp>
      <p:sp>
        <p:nvSpPr>
          <p:cNvPr id="14" name="Shape 12"/>
          <p:cNvSpPr/>
          <p:nvPr/>
        </p:nvSpPr>
        <p:spPr>
          <a:xfrm>
            <a:off x="457200" y="3200400"/>
            <a:ext cx="73152" cy="320040"/>
          </a:xfrm>
          <a:prstGeom prst="rect">
            <a:avLst/>
          </a:prstGeom>
          <a:solidFill>
            <a:srgbClr val="2B2D42"/>
          </a:solidFill>
          <a:ln/>
        </p:spPr>
      </p:sp>
      <p:sp>
        <p:nvSpPr>
          <p:cNvPr id="15" name="Text 13"/>
          <p:cNvSpPr/>
          <p:nvPr/>
        </p:nvSpPr>
        <p:spPr>
          <a:xfrm>
            <a:off x="640080" y="3200400"/>
            <a:ext cx="914400" cy="320040"/>
          </a:xfrm>
          <a:prstGeom prst="rect">
            <a:avLst/>
          </a:prstGeom>
          <a:noFill/>
          <a:ln/>
        </p:spPr>
        <p:txBody>
          <a:bodyPr wrap="square" rtlCol="0" anchor="ctr"/>
          <a:lstStyle/>
          <a:p>
            <a:pPr indent="0" marL="0">
              <a:buNone/>
            </a:pPr>
            <a:r>
              <a:rPr lang="en-US" sz="1200" b="1" dirty="0">
                <a:solidFill>
                  <a:srgbClr val="2B2D42"/>
                </a:solidFill>
                <a:latin typeface="Microsoft YaHei" pitchFamily="34" charset="0"/>
                <a:ea typeface="Microsoft YaHei" pitchFamily="34" charset="-122"/>
                <a:cs typeface="Microsoft YaHei" pitchFamily="34" charset="-120"/>
              </a:rPr>
              <a:t>做法</a:t>
            </a:r>
            <a:endParaRPr lang="en-US" sz="1200" dirty="0"/>
          </a:p>
        </p:txBody>
      </p:sp>
      <p:sp>
        <p:nvSpPr>
          <p:cNvPr id="16" name="Shape 14"/>
          <p:cNvSpPr/>
          <p:nvPr/>
        </p:nvSpPr>
        <p:spPr>
          <a:xfrm>
            <a:off x="457200" y="3611880"/>
            <a:ext cx="8229600" cy="1005840"/>
          </a:xfrm>
          <a:prstGeom prst="roundRect">
            <a:avLst>
              <a:gd name="adj" fmla="val 9091"/>
            </a:avLst>
          </a:prstGeom>
          <a:solidFill>
            <a:srgbClr val="FFFFFF"/>
          </a:solidFill>
          <a:ln w="19050">
            <a:solidFill>
              <a:srgbClr val="2B2D42"/>
            </a:solidFill>
            <a:prstDash val="solid"/>
          </a:ln>
        </p:spPr>
      </p:sp>
      <p:sp>
        <p:nvSpPr>
          <p:cNvPr id="17" name="Text 15"/>
          <p:cNvSpPr/>
          <p:nvPr/>
        </p:nvSpPr>
        <p:spPr>
          <a:xfrm>
            <a:off x="640080" y="3703320"/>
            <a:ext cx="7863840" cy="320040"/>
          </a:xfrm>
          <a:prstGeom prst="rect">
            <a:avLst/>
          </a:prstGeom>
          <a:noFill/>
          <a:ln/>
        </p:spPr>
        <p:txBody>
          <a:bodyPr wrap="square" rtlCol="0" anchor="ctr"/>
          <a:lstStyle/>
          <a:p>
            <a:pPr indent="0" marL="0">
              <a:buNone/>
            </a:pPr>
            <a:r>
              <a:rPr lang="en-US" sz="1300" dirty="0">
                <a:solidFill>
                  <a:srgbClr val="8D99AE"/>
                </a:solidFill>
                <a:latin typeface="Microsoft YaHei" pitchFamily="34" charset="0"/>
                <a:ea typeface="Microsoft YaHei" pitchFamily="34" charset="-122"/>
                <a:cs typeface="Microsoft YaHei" pitchFamily="34" charset="-120"/>
              </a:rPr>
              <a:t>每次服务快结束时，直接问孩子：</a:t>
            </a:r>
            <a:endParaRPr lang="en-US" sz="1300" dirty="0"/>
          </a:p>
        </p:txBody>
      </p:sp>
      <p:sp>
        <p:nvSpPr>
          <p:cNvPr id="18" name="Text 16"/>
          <p:cNvSpPr/>
          <p:nvPr/>
        </p:nvSpPr>
        <p:spPr>
          <a:xfrm>
            <a:off x="640080" y="4023360"/>
            <a:ext cx="7863840" cy="502920"/>
          </a:xfrm>
          <a:prstGeom prst="rect">
            <a:avLst/>
          </a:prstGeom>
          <a:noFill/>
          <a:ln/>
        </p:spPr>
        <p:txBody>
          <a:bodyPr wrap="square" rtlCol="0" anchor="ctr"/>
          <a:lstStyle/>
          <a:p>
            <a:pPr indent="0" marL="0">
              <a:buNone/>
            </a:pPr>
            <a:r>
              <a:rPr lang="en-US" sz="1400" b="1" dirty="0">
                <a:solidFill>
                  <a:srgbClr val="2B2D42"/>
                </a:solidFill>
                <a:latin typeface="Microsoft YaHei" pitchFamily="34" charset="0"/>
                <a:ea typeface="Microsoft YaHei" pitchFamily="34" charset="-122"/>
                <a:cs typeface="Microsoft YaHei" pitchFamily="34" charset="-120"/>
              </a:rPr>
              <a:t>"这个方向，是你自己想清楚了要选的，还是因为大家都觉得这样比较好，你也就跟着点头了？"</a:t>
            </a:r>
            <a:endParaRPr lang="en-US" sz="1400" dirty="0"/>
          </a:p>
        </p:txBody>
      </p:sp>
      <p:sp>
        <p:nvSpPr>
          <p:cNvPr id="19" name="Shape 17"/>
          <p:cNvSpPr/>
          <p:nvPr/>
        </p:nvSpPr>
        <p:spPr>
          <a:xfrm>
            <a:off x="2286000" y="4709160"/>
            <a:ext cx="4572000" cy="320040"/>
          </a:xfrm>
          <a:prstGeom prst="roundRect">
            <a:avLst>
              <a:gd name="adj" fmla="val 17143"/>
            </a:avLst>
          </a:prstGeom>
          <a:solidFill>
            <a:srgbClr val="EF233C"/>
          </a:solidFill>
          <a:ln/>
        </p:spPr>
      </p:sp>
      <p:sp>
        <p:nvSpPr>
          <p:cNvPr id="20" name="Text 18"/>
          <p:cNvSpPr/>
          <p:nvPr/>
        </p:nvSpPr>
        <p:spPr>
          <a:xfrm>
            <a:off x="2286000" y="4709160"/>
            <a:ext cx="4572000" cy="320040"/>
          </a:xfrm>
          <a:prstGeom prst="rect">
            <a:avLst/>
          </a:prstGeom>
          <a:noFill/>
          <a:ln/>
        </p:spPr>
        <p:txBody>
          <a:bodyPr wrap="square" rtlCol="0" anchor="ctr"/>
          <a:lstStyle/>
          <a:p>
            <a:pPr algn="ctr" indent="0" marL="0">
              <a:buNone/>
            </a:pPr>
            <a:r>
              <a:rPr lang="en-US" sz="1200" dirty="0">
                <a:solidFill>
                  <a:srgbClr val="FFFFFF"/>
                </a:solidFill>
                <a:latin typeface="Microsoft YaHei" pitchFamily="34" charset="0"/>
                <a:ea typeface="Microsoft YaHei" pitchFamily="34" charset="-122"/>
                <a:cs typeface="Microsoft YaHei" pitchFamily="34" charset="-120"/>
              </a:rPr>
              <a:t>这个问题问出来，效果经常出乎意料</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8503920" y="274320"/>
            <a:ext cx="365760" cy="274320"/>
          </a:xfrm>
          <a:prstGeom prst="roundRect">
            <a:avLst>
              <a:gd name="adj" fmla="val 16667"/>
            </a:avLst>
          </a:prstGeom>
          <a:solidFill>
            <a:srgbClr val="EF233C"/>
          </a:solidFill>
          <a:ln/>
        </p:spPr>
      </p:sp>
      <p:sp>
        <p:nvSpPr>
          <p:cNvPr id="4" name="Text 2"/>
          <p:cNvSpPr/>
          <p:nvPr/>
        </p:nvSpPr>
        <p:spPr>
          <a:xfrm>
            <a:off x="8503920" y="274320"/>
            <a:ext cx="3657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42</a:t>
            </a:r>
            <a:endParaRPr lang="en-US" sz="1000" dirty="0"/>
          </a:p>
        </p:txBody>
      </p:sp>
      <p:sp>
        <p:nvSpPr>
          <p:cNvPr id="5" name="Text 3"/>
          <p:cNvSpPr/>
          <p:nvPr/>
        </p:nvSpPr>
        <p:spPr>
          <a:xfrm>
            <a:off x="457200" y="274320"/>
            <a:ext cx="548640" cy="365760"/>
          </a:xfrm>
          <a:prstGeom prst="rect">
            <a:avLst/>
          </a:prstGeom>
          <a:noFill/>
          <a:ln/>
        </p:spPr>
        <p:txBody>
          <a:bodyPr wrap="square" rtlCol="0" anchor="ctr"/>
          <a:lstStyle/>
          <a:p>
            <a:pPr indent="0" marL="0">
              <a:buNone/>
            </a:pPr>
            <a:r>
              <a:rPr lang="en-US" sz="1400" b="1" dirty="0">
                <a:solidFill>
                  <a:srgbClr val="EF233C"/>
                </a:solidFill>
                <a:latin typeface="Arial" pitchFamily="34" charset="0"/>
                <a:ea typeface="Arial" pitchFamily="34" charset="-122"/>
                <a:cs typeface="Arial" pitchFamily="34" charset="-120"/>
              </a:rPr>
              <a:t>09</a:t>
            </a:r>
            <a:endParaRPr lang="en-US" sz="1400" dirty="0"/>
          </a:p>
        </p:txBody>
      </p:sp>
      <p:sp>
        <p:nvSpPr>
          <p:cNvPr id="6" name="Text 4"/>
          <p:cNvSpPr/>
          <p:nvPr/>
        </p:nvSpPr>
        <p:spPr>
          <a:xfrm>
            <a:off x="457200" y="640080"/>
            <a:ext cx="7772400" cy="640080"/>
          </a:xfrm>
          <a:prstGeom prst="rect">
            <a:avLst/>
          </a:prstGeom>
          <a:noFill/>
          <a:ln/>
        </p:spPr>
        <p:txBody>
          <a:bodyPr wrap="square" rtlCol="0" anchor="ctr"/>
          <a:lstStyle/>
          <a:p>
            <a:pPr indent="0" marL="0">
              <a:buNone/>
            </a:pPr>
            <a:r>
              <a:rPr lang="en-US" sz="2600" b="1" dirty="0">
                <a:solidFill>
                  <a:srgbClr val="2B2D42"/>
                </a:solidFill>
                <a:latin typeface="Microsoft YaHei" pitchFamily="34" charset="0"/>
                <a:ea typeface="Microsoft YaHei" pitchFamily="34" charset="-122"/>
                <a:cs typeface="Microsoft YaHei" pitchFamily="34" charset="-120"/>
              </a:rPr>
              <a:t>和家长谈，不是说服，是让他们看见信息差</a:t>
            </a:r>
            <a:endParaRPr lang="en-US" sz="2600" dirty="0"/>
          </a:p>
        </p:txBody>
      </p:sp>
      <p:sp>
        <p:nvSpPr>
          <p:cNvPr id="7" name="Shape 5"/>
          <p:cNvSpPr/>
          <p:nvPr/>
        </p:nvSpPr>
        <p:spPr>
          <a:xfrm>
            <a:off x="457200" y="1234440"/>
            <a:ext cx="1097280" cy="45720"/>
          </a:xfrm>
          <a:prstGeom prst="rect">
            <a:avLst/>
          </a:prstGeom>
          <a:solidFill>
            <a:srgbClr val="EF233C"/>
          </a:solidFill>
          <a:ln/>
        </p:spPr>
      </p:sp>
      <p:sp>
        <p:nvSpPr>
          <p:cNvPr id="8" name="Shape 6"/>
          <p:cNvSpPr/>
          <p:nvPr/>
        </p:nvSpPr>
        <p:spPr>
          <a:xfrm>
            <a:off x="457200" y="1554480"/>
            <a:ext cx="8229600" cy="1463040"/>
          </a:xfrm>
          <a:prstGeom prst="roundRect">
            <a:avLst>
              <a:gd name="adj" fmla="val 6250"/>
            </a:avLst>
          </a:prstGeom>
          <a:solidFill>
            <a:srgbClr val="2B2D42"/>
          </a:solidFill>
          <a:ln/>
        </p:spPr>
      </p:sp>
      <p:sp>
        <p:nvSpPr>
          <p:cNvPr id="9" name="Text 7"/>
          <p:cNvSpPr/>
          <p:nvPr/>
        </p:nvSpPr>
        <p:spPr>
          <a:xfrm>
            <a:off x="640080" y="1463040"/>
            <a:ext cx="457200" cy="548640"/>
          </a:xfrm>
          <a:prstGeom prst="rect">
            <a:avLst/>
          </a:prstGeom>
          <a:noFill/>
          <a:ln/>
        </p:spPr>
        <p:txBody>
          <a:bodyPr wrap="square" rtlCol="0" anchor="ctr"/>
          <a:lstStyle/>
          <a:p>
            <a:pPr indent="0" marL="0">
              <a:buNone/>
            </a:pPr>
            <a:r>
              <a:rPr lang="en-US" sz="4800" b="1" dirty="0">
                <a:solidFill>
                  <a:srgbClr val="EF233C"/>
                </a:solidFill>
                <a:latin typeface="Georgia" pitchFamily="34" charset="0"/>
                <a:ea typeface="Georgia" pitchFamily="34" charset="-122"/>
                <a:cs typeface="Georgia" pitchFamily="34" charset="-120"/>
              </a:rPr>
              <a:t>“</a:t>
            </a:r>
            <a:endParaRPr lang="en-US" sz="4800" dirty="0"/>
          </a:p>
        </p:txBody>
      </p:sp>
      <p:sp>
        <p:nvSpPr>
          <p:cNvPr id="10" name="Text 8"/>
          <p:cNvSpPr/>
          <p:nvPr/>
        </p:nvSpPr>
        <p:spPr>
          <a:xfrm>
            <a:off x="914400" y="1828800"/>
            <a:ext cx="7589520" cy="1005840"/>
          </a:xfrm>
          <a:prstGeom prst="rect">
            <a:avLst/>
          </a:prstGeom>
          <a:noFill/>
          <a:ln/>
        </p:spPr>
        <p:txBody>
          <a:bodyPr wrap="square"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说服是我告诉你我是对的，你听我的；这份工作里真正管用的，是把你看不到的那部分信息摆出来，让你自己得出跟我一样的结论。</a:t>
            </a:r>
            <a:endParaRPr lang="en-US" sz="1800" dirty="0"/>
          </a:p>
        </p:txBody>
      </p:sp>
      <p:sp>
        <p:nvSpPr>
          <p:cNvPr id="11" name="Shape 9"/>
          <p:cNvSpPr/>
          <p:nvPr/>
        </p:nvSpPr>
        <p:spPr>
          <a:xfrm>
            <a:off x="457200" y="3291840"/>
            <a:ext cx="3931920" cy="1371600"/>
          </a:xfrm>
          <a:prstGeom prst="roundRect">
            <a:avLst>
              <a:gd name="adj" fmla="val 6667"/>
            </a:avLst>
          </a:prstGeom>
          <a:solidFill>
            <a:srgbClr val="FFFFFF"/>
          </a:solidFill>
          <a:ln w="25400">
            <a:solidFill>
              <a:srgbClr val="EF233C"/>
            </a:solidFill>
            <a:prstDash val="solid"/>
          </a:ln>
        </p:spPr>
      </p:sp>
      <p:sp>
        <p:nvSpPr>
          <p:cNvPr id="12" name="Text 10"/>
          <p:cNvSpPr/>
          <p:nvPr/>
        </p:nvSpPr>
        <p:spPr>
          <a:xfrm>
            <a:off x="640080" y="3429000"/>
            <a:ext cx="365760" cy="365760"/>
          </a:xfrm>
          <a:prstGeom prst="rect">
            <a:avLst/>
          </a:prstGeom>
          <a:noFill/>
          <a:ln/>
        </p:spPr>
        <p:txBody>
          <a:bodyPr wrap="square" rtlCol="0" anchor="ctr"/>
          <a:lstStyle/>
          <a:p>
            <a:pPr indent="0" marL="0">
              <a:buNone/>
            </a:pPr>
            <a:r>
              <a:rPr lang="en-US" sz="2000" b="1" dirty="0">
                <a:solidFill>
                  <a:srgbClr val="EF233C"/>
                </a:solidFill>
                <a:latin typeface="Arial" pitchFamily="34" charset="0"/>
                <a:ea typeface="Arial" pitchFamily="34" charset="-122"/>
                <a:cs typeface="Arial" pitchFamily="34" charset="-120"/>
              </a:rPr>
              <a:t>✕</a:t>
            </a:r>
            <a:endParaRPr lang="en-US" sz="2000" dirty="0"/>
          </a:p>
        </p:txBody>
      </p:sp>
      <p:sp>
        <p:nvSpPr>
          <p:cNvPr id="13" name="Text 11"/>
          <p:cNvSpPr/>
          <p:nvPr/>
        </p:nvSpPr>
        <p:spPr>
          <a:xfrm>
            <a:off x="1005840" y="3429000"/>
            <a:ext cx="1371600" cy="365760"/>
          </a:xfrm>
          <a:prstGeom prst="rect">
            <a:avLst/>
          </a:prstGeom>
          <a:noFill/>
          <a:ln/>
        </p:spPr>
        <p:txBody>
          <a:bodyPr wrap="square" rtlCol="0" anchor="ctr"/>
          <a:lstStyle/>
          <a:p>
            <a:pPr indent="0" marL="0">
              <a:buNone/>
            </a:pPr>
            <a:r>
              <a:rPr lang="en-US" sz="1600" b="1" dirty="0">
                <a:solidFill>
                  <a:srgbClr val="EF233C"/>
                </a:solidFill>
                <a:latin typeface="Microsoft YaHei" pitchFamily="34" charset="0"/>
                <a:ea typeface="Microsoft YaHei" pitchFamily="34" charset="-122"/>
                <a:cs typeface="Microsoft YaHei" pitchFamily="34" charset="-120"/>
              </a:rPr>
              <a:t>说服</a:t>
            </a:r>
            <a:endParaRPr lang="en-US" sz="1600" dirty="0"/>
          </a:p>
        </p:txBody>
      </p:sp>
      <p:sp>
        <p:nvSpPr>
          <p:cNvPr id="14" name="Text 12"/>
          <p:cNvSpPr/>
          <p:nvPr/>
        </p:nvSpPr>
        <p:spPr>
          <a:xfrm>
            <a:off x="640080" y="3840480"/>
            <a:ext cx="3566160" cy="731520"/>
          </a:xfrm>
          <a:prstGeom prst="rect">
            <a:avLst/>
          </a:prstGeom>
          <a:noFill/>
          <a:ln/>
        </p:spPr>
        <p:txBody>
          <a:bodyPr wrap="square" rtlCol="0" anchor="t"/>
          <a:lstStyle/>
          <a:p>
            <a:pPr indent="0" marL="0">
              <a:buNone/>
            </a:pPr>
            <a:r>
              <a:rPr lang="en-US" sz="1300" dirty="0">
                <a:solidFill>
                  <a:srgbClr val="8D99AE"/>
                </a:solidFill>
                <a:latin typeface="Microsoft YaHei" pitchFamily="34" charset="0"/>
                <a:ea typeface="Microsoft YaHei" pitchFamily="34" charset="-122"/>
                <a:cs typeface="Microsoft YaHei" pitchFamily="34" charset="-120"/>
              </a:rPr>
              <a:t>我告诉你我是对的</a:t>
            </a:r>
            <a:endParaRPr lang="en-US" sz="1300" dirty="0"/>
          </a:p>
          <a:p>
            <a:pPr indent="0" marL="0">
              <a:buNone/>
            </a:pPr>
            <a:r>
              <a:rPr lang="en-US" sz="1300" dirty="0">
                <a:solidFill>
                  <a:srgbClr val="8D99AE"/>
                </a:solidFill>
                <a:latin typeface="Microsoft YaHei" pitchFamily="34" charset="0"/>
                <a:ea typeface="Microsoft YaHei" pitchFamily="34" charset="-122"/>
                <a:cs typeface="Microsoft YaHei" pitchFamily="34" charset="-120"/>
              </a:rPr>
              <a:t>你听我的</a:t>
            </a:r>
            <a:endParaRPr lang="en-US" sz="1300" dirty="0"/>
          </a:p>
        </p:txBody>
      </p:sp>
      <p:sp>
        <p:nvSpPr>
          <p:cNvPr id="15" name="Shape 13"/>
          <p:cNvSpPr/>
          <p:nvPr/>
        </p:nvSpPr>
        <p:spPr>
          <a:xfrm>
            <a:off x="4754880" y="3291840"/>
            <a:ext cx="3931920" cy="1371600"/>
          </a:xfrm>
          <a:prstGeom prst="roundRect">
            <a:avLst>
              <a:gd name="adj" fmla="val 6667"/>
            </a:avLst>
          </a:prstGeom>
          <a:solidFill>
            <a:srgbClr val="FFFFFF"/>
          </a:solidFill>
          <a:ln w="25400">
            <a:solidFill>
              <a:srgbClr val="2B2D42"/>
            </a:solidFill>
            <a:prstDash val="solid"/>
          </a:ln>
        </p:spPr>
      </p:sp>
      <p:sp>
        <p:nvSpPr>
          <p:cNvPr id="16" name="Text 14"/>
          <p:cNvSpPr/>
          <p:nvPr/>
        </p:nvSpPr>
        <p:spPr>
          <a:xfrm>
            <a:off x="4937760" y="3429000"/>
            <a:ext cx="365760" cy="365760"/>
          </a:xfrm>
          <a:prstGeom prst="rect">
            <a:avLst/>
          </a:prstGeom>
          <a:noFill/>
          <a:ln/>
        </p:spPr>
        <p:txBody>
          <a:bodyPr wrap="square" rtlCol="0" anchor="ctr"/>
          <a:lstStyle/>
          <a:p>
            <a:pPr indent="0" marL="0">
              <a:buNone/>
            </a:pPr>
            <a:r>
              <a:rPr lang="en-US" sz="2000" b="1" dirty="0">
                <a:solidFill>
                  <a:srgbClr val="27AE60"/>
                </a:solidFill>
                <a:latin typeface="Arial" pitchFamily="34" charset="0"/>
                <a:ea typeface="Arial" pitchFamily="34" charset="-122"/>
                <a:cs typeface="Arial" pitchFamily="34" charset="-120"/>
              </a:rPr>
              <a:t>✓</a:t>
            </a:r>
            <a:endParaRPr lang="en-US" sz="2000" dirty="0"/>
          </a:p>
        </p:txBody>
      </p:sp>
      <p:sp>
        <p:nvSpPr>
          <p:cNvPr id="17" name="Text 15"/>
          <p:cNvSpPr/>
          <p:nvPr/>
        </p:nvSpPr>
        <p:spPr>
          <a:xfrm>
            <a:off x="5303520" y="3429000"/>
            <a:ext cx="1828800" cy="36576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摆信息差</a:t>
            </a:r>
            <a:endParaRPr lang="en-US" sz="1600" dirty="0"/>
          </a:p>
        </p:txBody>
      </p:sp>
      <p:sp>
        <p:nvSpPr>
          <p:cNvPr id="18" name="Text 16"/>
          <p:cNvSpPr/>
          <p:nvPr/>
        </p:nvSpPr>
        <p:spPr>
          <a:xfrm>
            <a:off x="4937760" y="3840480"/>
            <a:ext cx="3566160" cy="731520"/>
          </a:xfrm>
          <a:prstGeom prst="rect">
            <a:avLst/>
          </a:prstGeom>
          <a:noFill/>
          <a:ln/>
        </p:spPr>
        <p:txBody>
          <a:bodyPr wrap="square" rtlCol="0" anchor="t"/>
          <a:lstStyle/>
          <a:p>
            <a:pPr indent="0" marL="0">
              <a:buNone/>
            </a:pPr>
            <a:r>
              <a:rPr lang="en-US" sz="1300" dirty="0">
                <a:solidFill>
                  <a:srgbClr val="8D99AE"/>
                </a:solidFill>
                <a:latin typeface="Microsoft YaHei" pitchFamily="34" charset="0"/>
                <a:ea typeface="Microsoft YaHei" pitchFamily="34" charset="-122"/>
                <a:cs typeface="Microsoft YaHei" pitchFamily="34" charset="-120"/>
              </a:rPr>
              <a:t>把看不到的信息摆出来</a:t>
            </a:r>
            <a:endParaRPr lang="en-US" sz="1300" dirty="0"/>
          </a:p>
          <a:p>
            <a:pPr indent="0" marL="0">
              <a:buNone/>
            </a:pPr>
            <a:r>
              <a:rPr lang="en-US" sz="1300" dirty="0">
                <a:solidFill>
                  <a:srgbClr val="8D99AE"/>
                </a:solidFill>
                <a:latin typeface="Microsoft YaHei" pitchFamily="34" charset="0"/>
                <a:ea typeface="Microsoft YaHei" pitchFamily="34" charset="-122"/>
                <a:cs typeface="Microsoft YaHei" pitchFamily="34" charset="-120"/>
              </a:rPr>
              <a:t>让对方自己得出结论</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8503920" y="274320"/>
            <a:ext cx="365760" cy="274320"/>
          </a:xfrm>
          <a:prstGeom prst="roundRect">
            <a:avLst>
              <a:gd name="adj" fmla="val 16667"/>
            </a:avLst>
          </a:prstGeom>
          <a:solidFill>
            <a:srgbClr val="EF233C"/>
          </a:solidFill>
          <a:ln/>
        </p:spPr>
      </p:sp>
      <p:sp>
        <p:nvSpPr>
          <p:cNvPr id="4" name="Text 2"/>
          <p:cNvSpPr/>
          <p:nvPr/>
        </p:nvSpPr>
        <p:spPr>
          <a:xfrm>
            <a:off x="8503920" y="274320"/>
            <a:ext cx="3657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43</a:t>
            </a:r>
            <a:endParaRPr lang="en-US" sz="1000" dirty="0"/>
          </a:p>
        </p:txBody>
      </p:sp>
      <p:sp>
        <p:nvSpPr>
          <p:cNvPr id="5" name="Text 3"/>
          <p:cNvSpPr/>
          <p:nvPr/>
        </p:nvSpPr>
        <p:spPr>
          <a:xfrm>
            <a:off x="457200" y="274320"/>
            <a:ext cx="548640" cy="365760"/>
          </a:xfrm>
          <a:prstGeom prst="rect">
            <a:avLst/>
          </a:prstGeom>
          <a:noFill/>
          <a:ln/>
        </p:spPr>
        <p:txBody>
          <a:bodyPr wrap="square" rtlCol="0" anchor="ctr"/>
          <a:lstStyle/>
          <a:p>
            <a:pPr indent="0" marL="0">
              <a:buNone/>
            </a:pPr>
            <a:r>
              <a:rPr lang="en-US" sz="1400" b="1" dirty="0">
                <a:solidFill>
                  <a:srgbClr val="EF233C"/>
                </a:solidFill>
                <a:latin typeface="Arial" pitchFamily="34" charset="0"/>
                <a:ea typeface="Arial" pitchFamily="34" charset="-122"/>
                <a:cs typeface="Arial" pitchFamily="34" charset="-120"/>
              </a:rPr>
              <a:t>09</a:t>
            </a:r>
            <a:endParaRPr lang="en-US" sz="1400" dirty="0"/>
          </a:p>
        </p:txBody>
      </p:sp>
      <p:sp>
        <p:nvSpPr>
          <p:cNvPr id="6" name="Text 4"/>
          <p:cNvSpPr/>
          <p:nvPr/>
        </p:nvSpPr>
        <p:spPr>
          <a:xfrm>
            <a:off x="457200" y="640080"/>
            <a:ext cx="7772400" cy="54864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摆信息差的方法</a:t>
            </a:r>
            <a:endParaRPr lang="en-US" sz="2800" dirty="0"/>
          </a:p>
        </p:txBody>
      </p:sp>
      <p:sp>
        <p:nvSpPr>
          <p:cNvPr id="7" name="Shape 5"/>
          <p:cNvSpPr/>
          <p:nvPr/>
        </p:nvSpPr>
        <p:spPr>
          <a:xfrm>
            <a:off x="457200" y="1280160"/>
            <a:ext cx="8229600" cy="822960"/>
          </a:xfrm>
          <a:prstGeom prst="roundRect">
            <a:avLst>
              <a:gd name="adj" fmla="val 8889"/>
            </a:avLst>
          </a:prstGeom>
          <a:solidFill>
            <a:srgbClr val="EDF2F4"/>
          </a:solidFill>
          <a:ln/>
        </p:spPr>
      </p:sp>
      <p:sp>
        <p:nvSpPr>
          <p:cNvPr id="8" name="Shape 6"/>
          <p:cNvSpPr/>
          <p:nvPr/>
        </p:nvSpPr>
        <p:spPr>
          <a:xfrm>
            <a:off x="457200" y="1280160"/>
            <a:ext cx="73152" cy="822960"/>
          </a:xfrm>
          <a:prstGeom prst="rect">
            <a:avLst/>
          </a:prstGeom>
          <a:solidFill>
            <a:srgbClr val="EF233C"/>
          </a:solidFill>
          <a:ln/>
        </p:spPr>
      </p:sp>
      <p:sp>
        <p:nvSpPr>
          <p:cNvPr id="9" name="Text 7"/>
          <p:cNvSpPr/>
          <p:nvPr/>
        </p:nvSpPr>
        <p:spPr>
          <a:xfrm>
            <a:off x="685800" y="1371600"/>
            <a:ext cx="914400" cy="228600"/>
          </a:xfrm>
          <a:prstGeom prst="rect">
            <a:avLst/>
          </a:prstGeom>
          <a:noFill/>
          <a:ln/>
        </p:spPr>
        <p:txBody>
          <a:bodyPr wrap="square" rtlCol="0" anchor="ctr"/>
          <a:lstStyle/>
          <a:p>
            <a:pPr indent="0" marL="0">
              <a:buNone/>
            </a:pPr>
            <a:r>
              <a:rPr lang="en-US" sz="1000" b="1" dirty="0">
                <a:solidFill>
                  <a:srgbClr val="EF233C"/>
                </a:solidFill>
                <a:latin typeface="Microsoft YaHei" pitchFamily="34" charset="0"/>
                <a:ea typeface="Microsoft YaHei" pitchFamily="34" charset="-122"/>
                <a:cs typeface="Microsoft YaHei" pitchFamily="34" charset="-120"/>
              </a:rPr>
              <a:t>案例</a:t>
            </a:r>
            <a:endParaRPr lang="en-US" sz="1000" dirty="0"/>
          </a:p>
        </p:txBody>
      </p:sp>
      <p:sp>
        <p:nvSpPr>
          <p:cNvPr id="10" name="Text 8"/>
          <p:cNvSpPr/>
          <p:nvPr/>
        </p:nvSpPr>
        <p:spPr>
          <a:xfrm>
            <a:off x="685800" y="1600200"/>
            <a:ext cx="7818120" cy="411480"/>
          </a:xfrm>
          <a:prstGeom prst="rect">
            <a:avLst/>
          </a:prstGeom>
          <a:noFill/>
          <a:ln/>
        </p:spPr>
        <p:txBody>
          <a:bodyPr wrap="square" rtlCol="0" anchor="ctr"/>
          <a:lstStyle/>
          <a:p>
            <a:pPr indent="0" marL="0">
              <a:buNone/>
            </a:pPr>
            <a:r>
              <a:rPr lang="en-US" sz="1400" b="1" dirty="0">
                <a:solidFill>
                  <a:srgbClr val="2B2D42"/>
                </a:solidFill>
                <a:latin typeface="Microsoft YaHei" pitchFamily="34" charset="0"/>
                <a:ea typeface="Microsoft YaHei" pitchFamily="34" charset="-122"/>
                <a:cs typeface="Microsoft YaHei" pitchFamily="34" charset="-120"/>
              </a:rPr>
              <a:t>一个爸爸坚持要让孩子报一个自己年轻时向往但已经明显收缩的专业</a:t>
            </a:r>
            <a:endParaRPr lang="en-US" sz="1400" dirty="0"/>
          </a:p>
        </p:txBody>
      </p:sp>
      <p:sp>
        <p:nvSpPr>
          <p:cNvPr id="11" name="Shape 9"/>
          <p:cNvSpPr/>
          <p:nvPr/>
        </p:nvSpPr>
        <p:spPr>
          <a:xfrm>
            <a:off x="457200" y="2286000"/>
            <a:ext cx="73152" cy="320040"/>
          </a:xfrm>
          <a:prstGeom prst="rect">
            <a:avLst/>
          </a:prstGeom>
          <a:solidFill>
            <a:srgbClr val="2B2D42"/>
          </a:solidFill>
          <a:ln/>
        </p:spPr>
      </p:sp>
      <p:sp>
        <p:nvSpPr>
          <p:cNvPr id="12" name="Text 10"/>
          <p:cNvSpPr/>
          <p:nvPr/>
        </p:nvSpPr>
        <p:spPr>
          <a:xfrm>
            <a:off x="640080" y="2286000"/>
            <a:ext cx="1371600" cy="320040"/>
          </a:xfrm>
          <a:prstGeom prst="rect">
            <a:avLst/>
          </a:prstGeom>
          <a:noFill/>
          <a:ln/>
        </p:spPr>
        <p:txBody>
          <a:bodyPr wrap="square" rtlCol="0" anchor="ctr"/>
          <a:lstStyle/>
          <a:p>
            <a:pPr indent="0" marL="0">
              <a:buNone/>
            </a:pPr>
            <a:r>
              <a:rPr lang="en-US" sz="1200" b="1" dirty="0">
                <a:solidFill>
                  <a:srgbClr val="2B2D42"/>
                </a:solidFill>
                <a:latin typeface="Microsoft YaHei" pitchFamily="34" charset="0"/>
                <a:ea typeface="Microsoft YaHei" pitchFamily="34" charset="-122"/>
                <a:cs typeface="Microsoft YaHei" pitchFamily="34" charset="-120"/>
              </a:rPr>
              <a:t>我的做法</a:t>
            </a:r>
            <a:endParaRPr lang="en-US" sz="1200" dirty="0"/>
          </a:p>
        </p:txBody>
      </p:sp>
      <p:sp>
        <p:nvSpPr>
          <p:cNvPr id="13" name="Shape 11"/>
          <p:cNvSpPr/>
          <p:nvPr/>
        </p:nvSpPr>
        <p:spPr>
          <a:xfrm>
            <a:off x="548640" y="2743200"/>
            <a:ext cx="365760" cy="365760"/>
          </a:xfrm>
          <a:prstGeom prst="ellipse">
            <a:avLst/>
          </a:prstGeom>
          <a:solidFill>
            <a:srgbClr val="2B2D42"/>
          </a:solidFill>
          <a:ln/>
        </p:spPr>
      </p:sp>
      <p:sp>
        <p:nvSpPr>
          <p:cNvPr id="14" name="Text 12"/>
          <p:cNvSpPr/>
          <p:nvPr/>
        </p:nvSpPr>
        <p:spPr>
          <a:xfrm>
            <a:off x="548640" y="274320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5" name="Text 13"/>
          <p:cNvSpPr/>
          <p:nvPr/>
        </p:nvSpPr>
        <p:spPr>
          <a:xfrm>
            <a:off x="1051560" y="2697480"/>
            <a:ext cx="7635240" cy="457200"/>
          </a:xfrm>
          <a:prstGeom prst="rect">
            <a:avLst/>
          </a:prstGeom>
          <a:noFill/>
          <a:ln/>
        </p:spPr>
        <p:txBody>
          <a:bodyPr wrap="square" rtlCol="0" anchor="ctr"/>
          <a:lstStyle/>
          <a:p>
            <a:pPr indent="0" marL="0">
              <a:buNone/>
            </a:pPr>
            <a:r>
              <a:rPr lang="en-US" sz="1300" dirty="0">
                <a:solidFill>
                  <a:srgbClr val="2B2D42"/>
                </a:solidFill>
                <a:latin typeface="Microsoft YaHei" pitchFamily="34" charset="0"/>
                <a:ea typeface="Microsoft YaHei" pitchFamily="34" charset="-122"/>
                <a:cs typeface="Microsoft YaHei" pitchFamily="34" charset="-120"/>
              </a:rPr>
              <a:t>没有直接反驳</a:t>
            </a:r>
            <a:endParaRPr lang="en-US" sz="1300" dirty="0"/>
          </a:p>
        </p:txBody>
      </p:sp>
      <p:sp>
        <p:nvSpPr>
          <p:cNvPr id="16" name="Shape 14"/>
          <p:cNvSpPr/>
          <p:nvPr/>
        </p:nvSpPr>
        <p:spPr>
          <a:xfrm>
            <a:off x="548640" y="3291840"/>
            <a:ext cx="365760" cy="365760"/>
          </a:xfrm>
          <a:prstGeom prst="ellipse">
            <a:avLst/>
          </a:prstGeom>
          <a:solidFill>
            <a:srgbClr val="2B2D42"/>
          </a:solidFill>
          <a:ln/>
        </p:spPr>
      </p:sp>
      <p:sp>
        <p:nvSpPr>
          <p:cNvPr id="17" name="Text 15"/>
          <p:cNvSpPr/>
          <p:nvPr/>
        </p:nvSpPr>
        <p:spPr>
          <a:xfrm>
            <a:off x="548640" y="32918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8" name="Text 16"/>
          <p:cNvSpPr/>
          <p:nvPr/>
        </p:nvSpPr>
        <p:spPr>
          <a:xfrm>
            <a:off x="1051560" y="3246120"/>
            <a:ext cx="7635240" cy="457200"/>
          </a:xfrm>
          <a:prstGeom prst="rect">
            <a:avLst/>
          </a:prstGeom>
          <a:noFill/>
          <a:ln/>
        </p:spPr>
        <p:txBody>
          <a:bodyPr wrap="square" rtlCol="0" anchor="ctr"/>
          <a:lstStyle/>
          <a:p>
            <a:pPr indent="0" marL="0">
              <a:buNone/>
            </a:pPr>
            <a:r>
              <a:rPr lang="en-US" sz="1300" dirty="0">
                <a:solidFill>
                  <a:srgbClr val="2B2D42"/>
                </a:solidFill>
                <a:latin typeface="Microsoft YaHei" pitchFamily="34" charset="0"/>
                <a:ea typeface="Microsoft YaHei" pitchFamily="34" charset="-122"/>
                <a:cs typeface="Microsoft YaHei" pitchFamily="34" charset="-120"/>
              </a:rPr>
              <a:t>把近几年这个领域的真实招聘数据、薪资中位数变化、培养方案调整情况，一条条摆给他看</a:t>
            </a:r>
            <a:endParaRPr lang="en-US" sz="1300" dirty="0"/>
          </a:p>
        </p:txBody>
      </p:sp>
      <p:sp>
        <p:nvSpPr>
          <p:cNvPr id="19" name="Shape 17"/>
          <p:cNvSpPr/>
          <p:nvPr/>
        </p:nvSpPr>
        <p:spPr>
          <a:xfrm>
            <a:off x="548640" y="3840480"/>
            <a:ext cx="365760" cy="365760"/>
          </a:xfrm>
          <a:prstGeom prst="ellipse">
            <a:avLst/>
          </a:prstGeom>
          <a:solidFill>
            <a:srgbClr val="2B2D42"/>
          </a:solidFill>
          <a:ln/>
        </p:spPr>
      </p:sp>
      <p:sp>
        <p:nvSpPr>
          <p:cNvPr id="20" name="Text 18"/>
          <p:cNvSpPr/>
          <p:nvPr/>
        </p:nvSpPr>
        <p:spPr>
          <a:xfrm>
            <a:off x="548640" y="384048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9"/>
          <p:cNvSpPr/>
          <p:nvPr/>
        </p:nvSpPr>
        <p:spPr>
          <a:xfrm>
            <a:off x="1051560" y="3794760"/>
            <a:ext cx="7635240" cy="457200"/>
          </a:xfrm>
          <a:prstGeom prst="rect">
            <a:avLst/>
          </a:prstGeom>
          <a:noFill/>
          <a:ln/>
        </p:spPr>
        <p:txBody>
          <a:bodyPr wrap="square" rtlCol="0" anchor="ctr"/>
          <a:lstStyle/>
          <a:p>
            <a:pPr indent="0" marL="0">
              <a:buNone/>
            </a:pPr>
            <a:r>
              <a:rPr lang="en-US" sz="1300" dirty="0">
                <a:solidFill>
                  <a:srgbClr val="2B2D42"/>
                </a:solidFill>
                <a:latin typeface="Microsoft YaHei" pitchFamily="34" charset="0"/>
                <a:ea typeface="Microsoft YaHei" pitchFamily="34" charset="-122"/>
                <a:cs typeface="Microsoft YaHei" pitchFamily="34" charset="-120"/>
              </a:rPr>
              <a:t>问他："您觉得，这些信息跟您当年了解到的情况，是不是有点不一样了？"</a:t>
            </a:r>
            <a:endParaRPr lang="en-US" sz="1300" dirty="0"/>
          </a:p>
        </p:txBody>
      </p:sp>
      <p:sp>
        <p:nvSpPr>
          <p:cNvPr id="22" name="Shape 20"/>
          <p:cNvSpPr/>
          <p:nvPr/>
        </p:nvSpPr>
        <p:spPr>
          <a:xfrm>
            <a:off x="457200" y="4343400"/>
            <a:ext cx="8229600" cy="640080"/>
          </a:xfrm>
          <a:prstGeom prst="roundRect">
            <a:avLst>
              <a:gd name="adj" fmla="val 14286"/>
            </a:avLst>
          </a:prstGeom>
          <a:solidFill>
            <a:srgbClr val="2B2D42"/>
          </a:solidFill>
          <a:ln/>
        </p:spPr>
      </p:sp>
      <p:sp>
        <p:nvSpPr>
          <p:cNvPr id="23" name="Text 21"/>
          <p:cNvSpPr/>
          <p:nvPr/>
        </p:nvSpPr>
        <p:spPr>
          <a:xfrm>
            <a:off x="640080" y="4389120"/>
            <a:ext cx="1097280" cy="228600"/>
          </a:xfrm>
          <a:prstGeom prst="rect">
            <a:avLst/>
          </a:prstGeom>
          <a:noFill/>
          <a:ln/>
        </p:spPr>
        <p:txBody>
          <a:bodyPr wrap="square" rtlCol="0" anchor="ctr"/>
          <a:lstStyle/>
          <a:p>
            <a:pPr indent="0" marL="0">
              <a:buNone/>
            </a:pPr>
            <a:r>
              <a:rPr lang="en-US" sz="1000" b="1" dirty="0">
                <a:solidFill>
                  <a:srgbClr val="EF233C"/>
                </a:solidFill>
                <a:latin typeface="Microsoft YaHei" pitchFamily="34" charset="0"/>
                <a:ea typeface="Microsoft YaHei" pitchFamily="34" charset="-122"/>
                <a:cs typeface="Microsoft YaHei" pitchFamily="34" charset="-120"/>
              </a:rPr>
              <a:t>关键认知</a:t>
            </a:r>
            <a:endParaRPr lang="en-US" sz="1000" dirty="0"/>
          </a:p>
        </p:txBody>
      </p:sp>
      <p:sp>
        <p:nvSpPr>
          <p:cNvPr id="24" name="Text 22"/>
          <p:cNvSpPr/>
          <p:nvPr/>
        </p:nvSpPr>
        <p:spPr>
          <a:xfrm>
            <a:off x="640080" y="4617720"/>
            <a:ext cx="7863840" cy="32004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人对自己想通的事，接受度和执行力，跟被别人说通的事，完全不是一个量级的</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8503920" y="274320"/>
            <a:ext cx="365760" cy="274320"/>
          </a:xfrm>
          <a:prstGeom prst="roundRect">
            <a:avLst>
              <a:gd name="adj" fmla="val 16667"/>
            </a:avLst>
          </a:prstGeom>
          <a:solidFill>
            <a:srgbClr val="EF233C"/>
          </a:solidFill>
          <a:ln/>
        </p:spPr>
      </p:sp>
      <p:sp>
        <p:nvSpPr>
          <p:cNvPr id="4" name="Text 2"/>
          <p:cNvSpPr/>
          <p:nvPr/>
        </p:nvSpPr>
        <p:spPr>
          <a:xfrm>
            <a:off x="8503920" y="274320"/>
            <a:ext cx="3657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44</a:t>
            </a:r>
            <a:endParaRPr lang="en-US" sz="1000" dirty="0"/>
          </a:p>
        </p:txBody>
      </p:sp>
      <p:sp>
        <p:nvSpPr>
          <p:cNvPr id="5" name="Text 3"/>
          <p:cNvSpPr/>
          <p:nvPr/>
        </p:nvSpPr>
        <p:spPr>
          <a:xfrm>
            <a:off x="457200" y="274320"/>
            <a:ext cx="548640" cy="365760"/>
          </a:xfrm>
          <a:prstGeom prst="rect">
            <a:avLst/>
          </a:prstGeom>
          <a:noFill/>
          <a:ln/>
        </p:spPr>
        <p:txBody>
          <a:bodyPr wrap="square" rtlCol="0" anchor="ctr"/>
          <a:lstStyle/>
          <a:p>
            <a:pPr indent="0" marL="0">
              <a:buNone/>
            </a:pPr>
            <a:r>
              <a:rPr lang="en-US" sz="1400" b="1" dirty="0">
                <a:solidFill>
                  <a:srgbClr val="EF233C"/>
                </a:solidFill>
                <a:latin typeface="Arial" pitchFamily="34" charset="0"/>
                <a:ea typeface="Arial" pitchFamily="34" charset="-122"/>
                <a:cs typeface="Arial" pitchFamily="34" charset="-120"/>
              </a:rPr>
              <a:t>09</a:t>
            </a:r>
            <a:endParaRPr lang="en-US" sz="1400" dirty="0"/>
          </a:p>
        </p:txBody>
      </p:sp>
      <p:sp>
        <p:nvSpPr>
          <p:cNvPr id="6" name="Text 4"/>
          <p:cNvSpPr/>
          <p:nvPr/>
        </p:nvSpPr>
        <p:spPr>
          <a:xfrm>
            <a:off x="457200" y="640080"/>
            <a:ext cx="7772400" cy="54864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摆信息差的注意事项</a:t>
            </a:r>
            <a:endParaRPr lang="en-US" sz="2800" dirty="0"/>
          </a:p>
        </p:txBody>
      </p:sp>
      <p:sp>
        <p:nvSpPr>
          <p:cNvPr id="7" name="Shape 5"/>
          <p:cNvSpPr/>
          <p:nvPr/>
        </p:nvSpPr>
        <p:spPr>
          <a:xfrm>
            <a:off x="457200" y="1280160"/>
            <a:ext cx="8229600" cy="640080"/>
          </a:xfrm>
          <a:prstGeom prst="roundRect">
            <a:avLst>
              <a:gd name="adj" fmla="val 11429"/>
            </a:avLst>
          </a:prstGeom>
          <a:solidFill>
            <a:srgbClr val="EDF2F4"/>
          </a:solidFill>
          <a:ln/>
        </p:spPr>
      </p:sp>
      <p:sp>
        <p:nvSpPr>
          <p:cNvPr id="8" name="Shape 6"/>
          <p:cNvSpPr/>
          <p:nvPr/>
        </p:nvSpPr>
        <p:spPr>
          <a:xfrm>
            <a:off x="457200" y="1280160"/>
            <a:ext cx="73152" cy="640080"/>
          </a:xfrm>
          <a:prstGeom prst="rect">
            <a:avLst/>
          </a:prstGeom>
          <a:solidFill>
            <a:srgbClr val="2B2D42"/>
          </a:solidFill>
          <a:ln/>
        </p:spPr>
      </p:sp>
      <p:sp>
        <p:nvSpPr>
          <p:cNvPr id="9" name="Text 7"/>
          <p:cNvSpPr/>
          <p:nvPr/>
        </p:nvSpPr>
        <p:spPr>
          <a:xfrm>
            <a:off x="685800" y="1353312"/>
            <a:ext cx="1097280" cy="182880"/>
          </a:xfrm>
          <a:prstGeom prst="rect">
            <a:avLst/>
          </a:prstGeom>
          <a:noFill/>
          <a:ln/>
        </p:spPr>
        <p:txBody>
          <a:bodyPr wrap="square" rtlCol="0" anchor="ctr"/>
          <a:lstStyle/>
          <a:p>
            <a:pPr indent="0" marL="0">
              <a:buNone/>
            </a:pPr>
            <a:r>
              <a:rPr lang="en-US" sz="1000" b="1" dirty="0">
                <a:solidFill>
                  <a:srgbClr val="2B2D42"/>
                </a:solidFill>
                <a:latin typeface="Microsoft YaHei" pitchFamily="34" charset="0"/>
                <a:ea typeface="Microsoft YaHei" pitchFamily="34" charset="-122"/>
                <a:cs typeface="Microsoft YaHei" pitchFamily="34" charset="-120"/>
              </a:rPr>
              <a:t>核心原则</a:t>
            </a:r>
            <a:endParaRPr lang="en-US" sz="1000" dirty="0"/>
          </a:p>
        </p:txBody>
      </p:sp>
      <p:sp>
        <p:nvSpPr>
          <p:cNvPr id="10" name="Text 8"/>
          <p:cNvSpPr/>
          <p:nvPr/>
        </p:nvSpPr>
        <p:spPr>
          <a:xfrm>
            <a:off x="685800" y="1554480"/>
            <a:ext cx="7818120" cy="320040"/>
          </a:xfrm>
          <a:prstGeom prst="rect">
            <a:avLst/>
          </a:prstGeom>
          <a:noFill/>
          <a:ln/>
        </p:spPr>
        <p:txBody>
          <a:bodyPr wrap="square" rtlCol="0" anchor="ctr"/>
          <a:lstStyle/>
          <a:p>
            <a:pPr indent="0" marL="0">
              <a:buNone/>
            </a:pPr>
            <a:r>
              <a:rPr lang="en-US" sz="1400" b="1" dirty="0">
                <a:solidFill>
                  <a:srgbClr val="2B2D42"/>
                </a:solidFill>
                <a:latin typeface="Microsoft YaHei" pitchFamily="34" charset="0"/>
                <a:ea typeface="Microsoft YaHei" pitchFamily="34" charset="-122"/>
                <a:cs typeface="Microsoft YaHei" pitchFamily="34" charset="-120"/>
              </a:rPr>
              <a:t>摆出来的信息必须真实、经得起对方自己再去核实</a:t>
            </a:r>
            <a:endParaRPr lang="en-US" sz="1400" dirty="0"/>
          </a:p>
        </p:txBody>
      </p:sp>
      <p:sp>
        <p:nvSpPr>
          <p:cNvPr id="11" name="Shape 9"/>
          <p:cNvSpPr/>
          <p:nvPr/>
        </p:nvSpPr>
        <p:spPr>
          <a:xfrm>
            <a:off x="457200" y="2103120"/>
            <a:ext cx="73152" cy="320040"/>
          </a:xfrm>
          <a:prstGeom prst="rect">
            <a:avLst/>
          </a:prstGeom>
          <a:solidFill>
            <a:srgbClr val="EF233C"/>
          </a:solidFill>
          <a:ln/>
        </p:spPr>
      </p:sp>
      <p:sp>
        <p:nvSpPr>
          <p:cNvPr id="12" name="Text 10"/>
          <p:cNvSpPr/>
          <p:nvPr/>
        </p:nvSpPr>
        <p:spPr>
          <a:xfrm>
            <a:off x="640080" y="2103120"/>
            <a:ext cx="914400" cy="320040"/>
          </a:xfrm>
          <a:prstGeom prst="rect">
            <a:avLst/>
          </a:prstGeom>
          <a:noFill/>
          <a:ln/>
        </p:spPr>
        <p:txBody>
          <a:bodyPr wrap="square" rtlCol="0" anchor="ctr"/>
          <a:lstStyle/>
          <a:p>
            <a:pPr indent="0" marL="0">
              <a:buNone/>
            </a:pPr>
            <a:r>
              <a:rPr lang="en-US" sz="1200" b="1" dirty="0">
                <a:solidFill>
                  <a:srgbClr val="EF233C"/>
                </a:solidFill>
                <a:latin typeface="Microsoft YaHei" pitchFamily="34" charset="0"/>
                <a:ea typeface="Microsoft YaHei" pitchFamily="34" charset="-122"/>
                <a:cs typeface="Microsoft YaHei" pitchFamily="34" charset="-120"/>
              </a:rPr>
              <a:t>禁忌</a:t>
            </a:r>
            <a:endParaRPr lang="en-US" sz="1200" dirty="0"/>
          </a:p>
        </p:txBody>
      </p:sp>
      <p:sp>
        <p:nvSpPr>
          <p:cNvPr id="13" name="Shape 11"/>
          <p:cNvSpPr/>
          <p:nvPr/>
        </p:nvSpPr>
        <p:spPr>
          <a:xfrm>
            <a:off x="457200" y="2514600"/>
            <a:ext cx="8229600" cy="594360"/>
          </a:xfrm>
          <a:prstGeom prst="roundRect">
            <a:avLst>
              <a:gd name="adj" fmla="val 12308"/>
            </a:avLst>
          </a:prstGeom>
          <a:solidFill>
            <a:srgbClr val="FFFFFF"/>
          </a:solidFill>
          <a:ln w="19050">
            <a:solidFill>
              <a:srgbClr val="EF233C"/>
            </a:solidFill>
            <a:prstDash val="solid"/>
          </a:ln>
        </p:spPr>
      </p:sp>
      <p:sp>
        <p:nvSpPr>
          <p:cNvPr id="14" name="Text 12"/>
          <p:cNvSpPr/>
          <p:nvPr/>
        </p:nvSpPr>
        <p:spPr>
          <a:xfrm>
            <a:off x="640080" y="2514600"/>
            <a:ext cx="7863840" cy="594360"/>
          </a:xfrm>
          <a:prstGeom prst="rect">
            <a:avLst/>
          </a:prstGeom>
          <a:noFill/>
          <a:ln/>
        </p:spPr>
        <p:txBody>
          <a:bodyPr wrap="square" rtlCol="0" anchor="ctr"/>
          <a:lstStyle/>
          <a:p>
            <a:pPr indent="0" marL="0">
              <a:buNone/>
            </a:pPr>
            <a:r>
              <a:rPr lang="en-US" sz="1300" dirty="0">
                <a:solidFill>
                  <a:srgbClr val="8D99AE"/>
                </a:solidFill>
                <a:latin typeface="Microsoft YaHei" pitchFamily="34" charset="0"/>
                <a:ea typeface="Microsoft YaHei" pitchFamily="34" charset="-122"/>
                <a:cs typeface="Microsoft YaHei" pitchFamily="34" charset="-120"/>
              </a:rPr>
              <a:t>不能为了快速推动谈话，只摆对自己判断有利的信息，把不利的部分藏起来</a:t>
            </a:r>
            <a:endParaRPr lang="en-US" sz="1300" dirty="0"/>
          </a:p>
        </p:txBody>
      </p:sp>
      <p:sp>
        <p:nvSpPr>
          <p:cNvPr id="15" name="Shape 13"/>
          <p:cNvSpPr/>
          <p:nvPr/>
        </p:nvSpPr>
        <p:spPr>
          <a:xfrm>
            <a:off x="457200" y="3246120"/>
            <a:ext cx="8229600" cy="502920"/>
          </a:xfrm>
          <a:prstGeom prst="roundRect">
            <a:avLst>
              <a:gd name="adj" fmla="val 14545"/>
            </a:avLst>
          </a:prstGeom>
          <a:solidFill>
            <a:srgbClr val="EF233C">
              <a:alpha val="10000"/>
            </a:srgbClr>
          </a:solidFill>
          <a:ln w="12700">
            <a:solidFill>
              <a:srgbClr val="EF233C"/>
            </a:solidFill>
            <a:prstDash val="solid"/>
          </a:ln>
        </p:spPr>
      </p:sp>
      <p:sp>
        <p:nvSpPr>
          <p:cNvPr id="16" name="Text 14"/>
          <p:cNvSpPr/>
          <p:nvPr/>
        </p:nvSpPr>
        <p:spPr>
          <a:xfrm>
            <a:off x="640080" y="3246120"/>
            <a:ext cx="7863840" cy="502920"/>
          </a:xfrm>
          <a:prstGeom prst="rect">
            <a:avLst/>
          </a:prstGeom>
          <a:noFill/>
          <a:ln/>
        </p:spPr>
        <p:txBody>
          <a:bodyPr wrap="square" rtlCol="0" anchor="ctr"/>
          <a:lstStyle/>
          <a:p>
            <a:pPr indent="0" marL="0">
              <a:buNone/>
            </a:pPr>
            <a:r>
              <a:rPr lang="en-US" sz="1300" b="1" dirty="0">
                <a:solidFill>
                  <a:srgbClr val="EF233C"/>
                </a:solidFill>
                <a:latin typeface="Microsoft YaHei" pitchFamily="34" charset="0"/>
                <a:ea typeface="Microsoft YaHei" pitchFamily="34" charset="-122"/>
                <a:cs typeface="Microsoft YaHei" pitchFamily="34" charset="-120"/>
              </a:rPr>
              <a:t>这样做的本质：从"让家长自己看见信息差"退化回了"我在设计一场说服"</a:t>
            </a:r>
            <a:endParaRPr lang="en-US" sz="1300" dirty="0"/>
          </a:p>
        </p:txBody>
      </p:sp>
      <p:sp>
        <p:nvSpPr>
          <p:cNvPr id="17" name="Shape 15"/>
          <p:cNvSpPr/>
          <p:nvPr/>
        </p:nvSpPr>
        <p:spPr>
          <a:xfrm>
            <a:off x="457200" y="3931920"/>
            <a:ext cx="73152" cy="320040"/>
          </a:xfrm>
          <a:prstGeom prst="rect">
            <a:avLst/>
          </a:prstGeom>
          <a:solidFill>
            <a:srgbClr val="2B2D42"/>
          </a:solidFill>
          <a:ln/>
        </p:spPr>
      </p:sp>
      <p:sp>
        <p:nvSpPr>
          <p:cNvPr id="18" name="Text 16"/>
          <p:cNvSpPr/>
          <p:nvPr/>
        </p:nvSpPr>
        <p:spPr>
          <a:xfrm>
            <a:off x="640080" y="3931920"/>
            <a:ext cx="1371600" cy="320040"/>
          </a:xfrm>
          <a:prstGeom prst="rect">
            <a:avLst/>
          </a:prstGeom>
          <a:noFill/>
          <a:ln/>
        </p:spPr>
        <p:txBody>
          <a:bodyPr wrap="square" rtlCol="0" anchor="ctr"/>
          <a:lstStyle/>
          <a:p>
            <a:pPr indent="0" marL="0">
              <a:buNone/>
            </a:pPr>
            <a:r>
              <a:rPr lang="en-US" sz="1200" b="1" dirty="0">
                <a:solidFill>
                  <a:srgbClr val="2B2D42"/>
                </a:solidFill>
                <a:latin typeface="Microsoft YaHei" pitchFamily="34" charset="0"/>
                <a:ea typeface="Microsoft YaHei" pitchFamily="34" charset="-122"/>
                <a:cs typeface="Microsoft YaHei" pitchFamily="34" charset="-120"/>
              </a:rPr>
              <a:t>我的规则</a:t>
            </a:r>
            <a:endParaRPr lang="en-US" sz="1200" dirty="0"/>
          </a:p>
        </p:txBody>
      </p:sp>
      <p:sp>
        <p:nvSpPr>
          <p:cNvPr id="19" name="Shape 17"/>
          <p:cNvSpPr/>
          <p:nvPr/>
        </p:nvSpPr>
        <p:spPr>
          <a:xfrm>
            <a:off x="457200" y="4343400"/>
            <a:ext cx="8229600" cy="640080"/>
          </a:xfrm>
          <a:prstGeom prst="roundRect">
            <a:avLst>
              <a:gd name="adj" fmla="val 14286"/>
            </a:avLst>
          </a:prstGeom>
          <a:solidFill>
            <a:srgbClr val="2B2D42"/>
          </a:solidFill>
          <a:ln/>
        </p:spPr>
      </p:sp>
      <p:sp>
        <p:nvSpPr>
          <p:cNvPr id="20" name="Text 18"/>
          <p:cNvSpPr/>
          <p:nvPr/>
        </p:nvSpPr>
        <p:spPr>
          <a:xfrm>
            <a:off x="640080" y="4343400"/>
            <a:ext cx="7863840" cy="64008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哪怕这条信息可能会削弱我原本的判断，也要摆出来，让家长看到一个完整的、有正反两面的信息全貌</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8503920" y="274320"/>
            <a:ext cx="365760" cy="274320"/>
          </a:xfrm>
          <a:prstGeom prst="roundRect">
            <a:avLst>
              <a:gd name="adj" fmla="val 16667"/>
            </a:avLst>
          </a:prstGeom>
          <a:solidFill>
            <a:srgbClr val="EF233C"/>
          </a:solidFill>
          <a:ln/>
        </p:spPr>
      </p:sp>
      <p:sp>
        <p:nvSpPr>
          <p:cNvPr id="4" name="Text 2"/>
          <p:cNvSpPr/>
          <p:nvPr/>
        </p:nvSpPr>
        <p:spPr>
          <a:xfrm>
            <a:off x="8503920" y="274320"/>
            <a:ext cx="3657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45</a:t>
            </a:r>
            <a:endParaRPr lang="en-US" sz="1000" dirty="0"/>
          </a:p>
        </p:txBody>
      </p:sp>
      <p:sp>
        <p:nvSpPr>
          <p:cNvPr id="5" name="Text 3"/>
          <p:cNvSpPr/>
          <p:nvPr/>
        </p:nvSpPr>
        <p:spPr>
          <a:xfrm>
            <a:off x="457200" y="274320"/>
            <a:ext cx="548640" cy="365760"/>
          </a:xfrm>
          <a:prstGeom prst="rect">
            <a:avLst/>
          </a:prstGeom>
          <a:noFill/>
          <a:ln/>
        </p:spPr>
        <p:txBody>
          <a:bodyPr wrap="square" rtlCol="0" anchor="ctr"/>
          <a:lstStyle/>
          <a:p>
            <a:pPr indent="0" marL="0">
              <a:buNone/>
            </a:pPr>
            <a:r>
              <a:rPr lang="en-US" sz="1400" b="1" dirty="0">
                <a:solidFill>
                  <a:srgbClr val="EF233C"/>
                </a:solidFill>
                <a:latin typeface="Arial" pitchFamily="34" charset="0"/>
                <a:ea typeface="Arial" pitchFamily="34" charset="-122"/>
                <a:cs typeface="Arial" pitchFamily="34" charset="-120"/>
              </a:rPr>
              <a:t>10</a:t>
            </a:r>
            <a:endParaRPr lang="en-US" sz="1400" dirty="0"/>
          </a:p>
        </p:txBody>
      </p:sp>
      <p:sp>
        <p:nvSpPr>
          <p:cNvPr id="6" name="Text 4"/>
          <p:cNvSpPr/>
          <p:nvPr/>
        </p:nvSpPr>
        <p:spPr>
          <a:xfrm>
            <a:off x="457200" y="640080"/>
            <a:ext cx="7772400" cy="64008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孩子和家长意见相反时，你站哪边</a:t>
            </a:r>
            <a:endParaRPr lang="en-US" sz="2800" dirty="0"/>
          </a:p>
        </p:txBody>
      </p:sp>
      <p:sp>
        <p:nvSpPr>
          <p:cNvPr id="7" name="Shape 5"/>
          <p:cNvSpPr/>
          <p:nvPr/>
        </p:nvSpPr>
        <p:spPr>
          <a:xfrm>
            <a:off x="457200" y="1234440"/>
            <a:ext cx="1097280" cy="45720"/>
          </a:xfrm>
          <a:prstGeom prst="rect">
            <a:avLst/>
          </a:prstGeom>
          <a:solidFill>
            <a:srgbClr val="EF233C"/>
          </a:solidFill>
          <a:ln/>
        </p:spPr>
      </p:sp>
      <p:sp>
        <p:nvSpPr>
          <p:cNvPr id="8" name="Shape 6"/>
          <p:cNvSpPr/>
          <p:nvPr/>
        </p:nvSpPr>
        <p:spPr>
          <a:xfrm>
            <a:off x="457200" y="1554480"/>
            <a:ext cx="8229600" cy="1645920"/>
          </a:xfrm>
          <a:prstGeom prst="roundRect">
            <a:avLst>
              <a:gd name="adj" fmla="val 6667"/>
            </a:avLst>
          </a:prstGeom>
          <a:solidFill>
            <a:srgbClr val="2B2D42"/>
          </a:solidFill>
          <a:ln/>
        </p:spPr>
      </p:sp>
      <p:sp>
        <p:nvSpPr>
          <p:cNvPr id="9" name="Text 7"/>
          <p:cNvSpPr/>
          <p:nvPr/>
        </p:nvSpPr>
        <p:spPr>
          <a:xfrm>
            <a:off x="640080" y="1463040"/>
            <a:ext cx="548640" cy="640080"/>
          </a:xfrm>
          <a:prstGeom prst="rect">
            <a:avLst/>
          </a:prstGeom>
          <a:noFill/>
          <a:ln/>
        </p:spPr>
        <p:txBody>
          <a:bodyPr wrap="square" rtlCol="0" anchor="ctr"/>
          <a:lstStyle/>
          <a:p>
            <a:pPr indent="0" marL="0">
              <a:buNone/>
            </a:pPr>
            <a:r>
              <a:rPr lang="en-US" sz="5600" b="1" dirty="0">
                <a:solidFill>
                  <a:srgbClr val="EF233C"/>
                </a:solidFill>
                <a:latin typeface="Georgia" pitchFamily="34" charset="0"/>
                <a:ea typeface="Georgia" pitchFamily="34" charset="-122"/>
                <a:cs typeface="Georgia" pitchFamily="34" charset="-120"/>
              </a:rPr>
              <a:t>“</a:t>
            </a:r>
            <a:endParaRPr lang="en-US" sz="5600" dirty="0"/>
          </a:p>
        </p:txBody>
      </p:sp>
      <p:sp>
        <p:nvSpPr>
          <p:cNvPr id="10" name="Text 8"/>
          <p:cNvSpPr/>
          <p:nvPr/>
        </p:nvSpPr>
        <p:spPr>
          <a:xfrm>
            <a:off x="914400" y="1920240"/>
            <a:ext cx="7589520" cy="1097280"/>
          </a:xfrm>
          <a:prstGeom prst="rect">
            <a:avLst/>
          </a:prstGeom>
          <a:noFill/>
          <a:ln/>
        </p:spPr>
        <p:txBody>
          <a:bodyPr wrap="square" rtlCol="0" anchor="ctr"/>
          <a:lstStyle/>
          <a:p>
            <a:pPr algn="ctr" indent="0" marL="0">
              <a:buNone/>
            </a:pPr>
            <a:r>
              <a:rPr lang="en-US" sz="2200" b="1" dirty="0">
                <a:solidFill>
                  <a:srgbClr val="FFFFFF"/>
                </a:solidFill>
                <a:latin typeface="Microsoft YaHei" pitchFamily="34" charset="0"/>
                <a:ea typeface="Microsoft YaHei" pitchFamily="34" charset="-122"/>
                <a:cs typeface="Microsoft YaHei" pitchFamily="34" charset="-120"/>
              </a:rPr>
              <a:t>你不是替任何一方说话的人，你是那个让两边都能听见彼此在说什么的人。</a:t>
            </a:r>
            <a:endParaRPr lang="en-US" sz="2200" dirty="0"/>
          </a:p>
        </p:txBody>
      </p:sp>
      <p:sp>
        <p:nvSpPr>
          <p:cNvPr id="11" name="Shape 9"/>
          <p:cNvSpPr/>
          <p:nvPr/>
        </p:nvSpPr>
        <p:spPr>
          <a:xfrm>
            <a:off x="457200" y="3474720"/>
            <a:ext cx="8229600" cy="1097280"/>
          </a:xfrm>
          <a:prstGeom prst="roundRect">
            <a:avLst>
              <a:gd name="adj" fmla="val 8333"/>
            </a:avLst>
          </a:prstGeom>
          <a:solidFill>
            <a:srgbClr val="EDF2F4"/>
          </a:solidFill>
          <a:ln/>
        </p:spPr>
      </p:sp>
      <p:sp>
        <p:nvSpPr>
          <p:cNvPr id="12" name="Shape 10"/>
          <p:cNvSpPr/>
          <p:nvPr/>
        </p:nvSpPr>
        <p:spPr>
          <a:xfrm>
            <a:off x="457200" y="3474720"/>
            <a:ext cx="91440" cy="1097280"/>
          </a:xfrm>
          <a:prstGeom prst="rect">
            <a:avLst/>
          </a:prstGeom>
          <a:solidFill>
            <a:srgbClr val="EF233C"/>
          </a:solidFill>
          <a:ln/>
        </p:spPr>
      </p:sp>
      <p:sp>
        <p:nvSpPr>
          <p:cNvPr id="13" name="Text 11"/>
          <p:cNvSpPr/>
          <p:nvPr/>
        </p:nvSpPr>
        <p:spPr>
          <a:xfrm>
            <a:off x="731520" y="3611880"/>
            <a:ext cx="1371600" cy="274320"/>
          </a:xfrm>
          <a:prstGeom prst="rect">
            <a:avLst/>
          </a:prstGeom>
          <a:noFill/>
          <a:ln/>
        </p:spPr>
        <p:txBody>
          <a:bodyPr wrap="square" rtlCol="0" anchor="ctr"/>
          <a:lstStyle/>
          <a:p>
            <a:pPr indent="0" marL="0">
              <a:buNone/>
            </a:pPr>
            <a:r>
              <a:rPr lang="en-US" sz="1200" b="1" dirty="0">
                <a:solidFill>
                  <a:srgbClr val="EF233C"/>
                </a:solidFill>
                <a:latin typeface="Microsoft YaHei" pitchFamily="34" charset="0"/>
                <a:ea typeface="Microsoft YaHei" pitchFamily="34" charset="-122"/>
                <a:cs typeface="Microsoft YaHei" pitchFamily="34" charset="-120"/>
              </a:rPr>
              <a:t>核心原则</a:t>
            </a:r>
            <a:endParaRPr lang="en-US" sz="1200" dirty="0"/>
          </a:p>
        </p:txBody>
      </p:sp>
      <p:sp>
        <p:nvSpPr>
          <p:cNvPr id="14" name="Text 12"/>
          <p:cNvSpPr/>
          <p:nvPr/>
        </p:nvSpPr>
        <p:spPr>
          <a:xfrm>
            <a:off x="731520" y="3977640"/>
            <a:ext cx="7772400" cy="502920"/>
          </a:xfrm>
          <a:prstGeom prst="rect">
            <a:avLst/>
          </a:prstGeom>
          <a:noFill/>
          <a:ln/>
        </p:spPr>
        <p:txBody>
          <a:bodyPr wrap="square" rtlCol="0" anchor="ctr"/>
          <a:lstStyle/>
          <a:p>
            <a:pPr indent="0" marL="0">
              <a:buNone/>
            </a:pPr>
            <a:r>
              <a:rPr lang="en-US" sz="1800" b="1" dirty="0">
                <a:solidFill>
                  <a:srgbClr val="2B2D42"/>
                </a:solidFill>
                <a:latin typeface="Microsoft YaHei" pitchFamily="34" charset="0"/>
                <a:ea typeface="Microsoft YaHei" pitchFamily="34" charset="-122"/>
                <a:cs typeface="Microsoft YaHei" pitchFamily="34" charset="-120"/>
              </a:rPr>
              <a:t>这份工作不是要替家庭做决定，而是帮助他们做出更好的决定</a:t>
            </a:r>
            <a:endParaRPr lang="en-US" sz="1800" dirty="0"/>
          </a:p>
        </p:txBody>
      </p:sp>
      <p:sp>
        <p:nvSpPr>
          <p:cNvPr id="15" name="Shape 13"/>
          <p:cNvSpPr/>
          <p:nvPr/>
        </p:nvSpPr>
        <p:spPr>
          <a:xfrm>
            <a:off x="3200400" y="4663440"/>
            <a:ext cx="320040" cy="320040"/>
          </a:xfrm>
          <a:prstGeom prst="ellipse">
            <a:avLst/>
          </a:prstGeom>
          <a:solidFill>
            <a:srgbClr val="EF233C"/>
          </a:solidFill>
          <a:ln/>
        </p:spPr>
      </p:sp>
      <p:sp>
        <p:nvSpPr>
          <p:cNvPr id="16" name="Text 14"/>
          <p:cNvSpPr/>
          <p:nvPr/>
        </p:nvSpPr>
        <p:spPr>
          <a:xfrm>
            <a:off x="3200400" y="4663440"/>
            <a:ext cx="320040" cy="32004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孩</a:t>
            </a:r>
            <a:endParaRPr lang="en-US" sz="1100" dirty="0"/>
          </a:p>
        </p:txBody>
      </p:sp>
      <p:sp>
        <p:nvSpPr>
          <p:cNvPr id="17" name="Shape 15"/>
          <p:cNvSpPr/>
          <p:nvPr/>
        </p:nvSpPr>
        <p:spPr>
          <a:xfrm>
            <a:off x="5623560" y="4663440"/>
            <a:ext cx="320040" cy="320040"/>
          </a:xfrm>
          <a:prstGeom prst="ellipse">
            <a:avLst/>
          </a:prstGeom>
          <a:solidFill>
            <a:srgbClr val="EF233C"/>
          </a:solidFill>
          <a:ln/>
        </p:spPr>
      </p:sp>
      <p:sp>
        <p:nvSpPr>
          <p:cNvPr id="18" name="Text 16"/>
          <p:cNvSpPr/>
          <p:nvPr/>
        </p:nvSpPr>
        <p:spPr>
          <a:xfrm>
            <a:off x="5623560" y="4663440"/>
            <a:ext cx="320040" cy="32004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长</a:t>
            </a:r>
            <a:endParaRPr lang="en-US" sz="1100" dirty="0"/>
          </a:p>
        </p:txBody>
      </p:sp>
      <p:sp>
        <p:nvSpPr>
          <p:cNvPr id="19" name="Shape 17"/>
          <p:cNvSpPr/>
          <p:nvPr/>
        </p:nvSpPr>
        <p:spPr>
          <a:xfrm>
            <a:off x="4251960" y="4617720"/>
            <a:ext cx="640080" cy="411480"/>
          </a:xfrm>
          <a:prstGeom prst="ellipse">
            <a:avLst/>
          </a:prstGeom>
          <a:solidFill>
            <a:srgbClr val="2B2D42"/>
          </a:solidFill>
          <a:ln/>
        </p:spPr>
      </p:sp>
      <p:sp>
        <p:nvSpPr>
          <p:cNvPr id="20" name="Text 18"/>
          <p:cNvSpPr/>
          <p:nvPr/>
        </p:nvSpPr>
        <p:spPr>
          <a:xfrm>
            <a:off x="4251960" y="4617720"/>
            <a:ext cx="640080" cy="41148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你</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457200" y="274320"/>
            <a:ext cx="2011680" cy="320040"/>
          </a:xfrm>
          <a:prstGeom prst="roundRect">
            <a:avLst>
              <a:gd name="adj" fmla="val 14286"/>
            </a:avLst>
          </a:prstGeom>
          <a:solidFill>
            <a:srgbClr val="2B2D42"/>
          </a:solidFill>
          <a:ln/>
        </p:spPr>
      </p:sp>
      <p:sp>
        <p:nvSpPr>
          <p:cNvPr id="4" name="Text 2"/>
          <p:cNvSpPr/>
          <p:nvPr/>
        </p:nvSpPr>
        <p:spPr>
          <a:xfrm>
            <a:off x="457200" y="274320"/>
            <a:ext cx="2011680" cy="3200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第十章 · Part 2</a:t>
            </a:r>
            <a:endParaRPr lang="en-US" sz="1200" dirty="0"/>
          </a:p>
        </p:txBody>
      </p:sp>
      <p:sp>
        <p:nvSpPr>
          <p:cNvPr id="5" name="Text 3"/>
          <p:cNvSpPr/>
          <p:nvPr/>
        </p:nvSpPr>
        <p:spPr>
          <a:xfrm>
            <a:off x="457200" y="685800"/>
            <a:ext cx="8229600" cy="502920"/>
          </a:xfrm>
          <a:prstGeom prst="rect">
            <a:avLst/>
          </a:prstGeom>
          <a:noFill/>
          <a:ln/>
        </p:spPr>
        <p:txBody>
          <a:bodyPr wrap="square" rtlCol="0" anchor="ctr"/>
          <a:lstStyle/>
          <a:p>
            <a:pPr algn="l" indent="0" marL="0">
              <a:buNone/>
            </a:pPr>
            <a:r>
              <a:rPr lang="en-US" sz="2800" b="1" dirty="0">
                <a:solidFill>
                  <a:srgbClr val="2B2D42"/>
                </a:solidFill>
                <a:latin typeface="Microsoft YaHei" pitchFamily="34" charset="0"/>
                <a:ea typeface="Microsoft YaHei" pitchFamily="34" charset="-122"/>
                <a:cs typeface="Microsoft YaHei" pitchFamily="34" charset="-120"/>
              </a:rPr>
              <a:t>分辨分歧的类型</a:t>
            </a:r>
            <a:endParaRPr lang="en-US" sz="2800" dirty="0"/>
          </a:p>
        </p:txBody>
      </p:sp>
      <p:sp>
        <p:nvSpPr>
          <p:cNvPr id="6" name="Shape 4"/>
          <p:cNvSpPr/>
          <p:nvPr/>
        </p:nvSpPr>
        <p:spPr>
          <a:xfrm>
            <a:off x="457200" y="1325880"/>
            <a:ext cx="3977640" cy="2377440"/>
          </a:xfrm>
          <a:prstGeom prst="roundRect">
            <a:avLst>
              <a:gd name="adj" fmla="val 3846"/>
            </a:avLst>
          </a:prstGeom>
          <a:solidFill>
            <a:srgbClr val="FFFFFF"/>
          </a:solidFill>
          <a:ln/>
          <a:effectLst>
            <a:outerShdw sx="100000" sy="100000" kx="0" ky="0" algn="bl" rotWithShape="0" blurRad="50800" dist="25400" dir="8100000">
              <a:srgbClr val="000000">
                <a:alpha val="8000"/>
              </a:srgbClr>
            </a:outerShdw>
          </a:effectLst>
        </p:spPr>
      </p:sp>
      <p:sp>
        <p:nvSpPr>
          <p:cNvPr id="7" name="Shape 5"/>
          <p:cNvSpPr/>
          <p:nvPr/>
        </p:nvSpPr>
        <p:spPr>
          <a:xfrm>
            <a:off x="457200" y="1325880"/>
            <a:ext cx="3977640" cy="502920"/>
          </a:xfrm>
          <a:prstGeom prst="rect">
            <a:avLst/>
          </a:prstGeom>
          <a:solidFill>
            <a:srgbClr val="EF233C"/>
          </a:solidFill>
          <a:ln/>
        </p:spPr>
      </p:sp>
      <p:sp>
        <p:nvSpPr>
          <p:cNvPr id="8" name="Text 6"/>
          <p:cNvSpPr/>
          <p:nvPr/>
        </p:nvSpPr>
        <p:spPr>
          <a:xfrm>
            <a:off x="457200" y="1325880"/>
            <a:ext cx="3977640" cy="50292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事实分歧</a:t>
            </a:r>
            <a:endParaRPr lang="en-US" sz="1800" dirty="0"/>
          </a:p>
        </p:txBody>
      </p:sp>
      <p:sp>
        <p:nvSpPr>
          <p:cNvPr id="9" name="Shape 7"/>
          <p:cNvSpPr/>
          <p:nvPr/>
        </p:nvSpPr>
        <p:spPr>
          <a:xfrm>
            <a:off x="640080" y="1965960"/>
            <a:ext cx="3611880" cy="731520"/>
          </a:xfrm>
          <a:prstGeom prst="roundRect">
            <a:avLst>
              <a:gd name="adj" fmla="val 7500"/>
            </a:avLst>
          </a:prstGeom>
          <a:solidFill>
            <a:srgbClr val="EDF2F4"/>
          </a:solidFill>
          <a:ln/>
        </p:spPr>
      </p:sp>
      <p:sp>
        <p:nvSpPr>
          <p:cNvPr id="10" name="Text 8"/>
          <p:cNvSpPr/>
          <p:nvPr/>
        </p:nvSpPr>
        <p:spPr>
          <a:xfrm>
            <a:off x="777240" y="1965960"/>
            <a:ext cx="3337560" cy="731520"/>
          </a:xfrm>
          <a:prstGeom prst="rect">
            <a:avLst/>
          </a:prstGeom>
          <a:noFill/>
          <a:ln/>
        </p:spPr>
        <p:txBody>
          <a:bodyPr wrap="square" rtlCol="0" anchor="ctr"/>
          <a:lstStyle/>
          <a:p>
            <a:pPr algn="l" indent="0" marL="0">
              <a:buNone/>
            </a:pPr>
            <a:r>
              <a:rPr lang="en-US" sz="1200" dirty="0">
                <a:solidFill>
                  <a:srgbClr val="2B2D42"/>
                </a:solidFill>
                <a:latin typeface="Microsoft YaHei" pitchFamily="34" charset="0"/>
                <a:ea typeface="Microsoft YaHei" pitchFamily="34" charset="-122"/>
                <a:cs typeface="Microsoft YaHei" pitchFamily="34" charset="-120"/>
              </a:rPr>
              <a:t>家长以为某个专业已经不好就业，但实际招聘行情还算不错</a:t>
            </a:r>
            <a:endParaRPr lang="en-US" sz="1200" dirty="0"/>
          </a:p>
        </p:txBody>
      </p:sp>
      <p:sp>
        <p:nvSpPr>
          <p:cNvPr id="11" name="Shape 9"/>
          <p:cNvSpPr/>
          <p:nvPr/>
        </p:nvSpPr>
        <p:spPr>
          <a:xfrm>
            <a:off x="777240" y="2880360"/>
            <a:ext cx="320040" cy="320040"/>
          </a:xfrm>
          <a:prstGeom prst="ellipse">
            <a:avLst/>
          </a:prstGeom>
          <a:solidFill>
            <a:srgbClr val="27AE60"/>
          </a:solidFill>
          <a:ln/>
        </p:spPr>
      </p:sp>
      <p:sp>
        <p:nvSpPr>
          <p:cNvPr id="12" name="Text 10"/>
          <p:cNvSpPr/>
          <p:nvPr/>
        </p:nvSpPr>
        <p:spPr>
          <a:xfrm>
            <a:off x="777240" y="288036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3" name="Text 11"/>
          <p:cNvSpPr/>
          <p:nvPr/>
        </p:nvSpPr>
        <p:spPr>
          <a:xfrm>
            <a:off x="1234440" y="2880360"/>
            <a:ext cx="3017520" cy="320040"/>
          </a:xfrm>
          <a:prstGeom prst="rect">
            <a:avLst/>
          </a:prstGeom>
          <a:noFill/>
          <a:ln/>
        </p:spPr>
        <p:txBody>
          <a:bodyPr wrap="square" rtlCol="0" anchor="ctr"/>
          <a:lstStyle/>
          <a:p>
            <a:pPr algn="l" indent="0" marL="0">
              <a:buNone/>
            </a:pPr>
            <a:r>
              <a:rPr lang="en-US" sz="1400" b="1" dirty="0">
                <a:solidFill>
                  <a:srgbClr val="27AE60"/>
                </a:solidFill>
                <a:latin typeface="Microsoft YaHei" pitchFamily="34" charset="0"/>
                <a:ea typeface="Microsoft YaHei" pitchFamily="34" charset="-122"/>
                <a:cs typeface="Microsoft YaHei" pitchFamily="34" charset="-120"/>
              </a:rPr>
              <a:t>摆事实就能解决</a:t>
            </a:r>
            <a:endParaRPr lang="en-US" sz="1400" dirty="0"/>
          </a:p>
        </p:txBody>
      </p:sp>
      <p:sp>
        <p:nvSpPr>
          <p:cNvPr id="14" name="Text 12"/>
          <p:cNvSpPr/>
          <p:nvPr/>
        </p:nvSpPr>
        <p:spPr>
          <a:xfrm>
            <a:off x="777240" y="3246120"/>
            <a:ext cx="3337560" cy="320040"/>
          </a:xfrm>
          <a:prstGeom prst="rect">
            <a:avLst/>
          </a:prstGeom>
          <a:noFill/>
          <a:ln/>
        </p:spPr>
        <p:txBody>
          <a:bodyPr wrap="square" rtlCol="0" anchor="ctr"/>
          <a:lstStyle/>
          <a:p>
            <a:pPr algn="l" indent="0" marL="0">
              <a:buNone/>
            </a:pPr>
            <a:r>
              <a:rPr lang="en-US" sz="1100" dirty="0">
                <a:solidFill>
                  <a:srgbClr val="8D99AE"/>
                </a:solidFill>
                <a:latin typeface="Microsoft YaHei" pitchFamily="34" charset="0"/>
                <a:ea typeface="Microsoft YaHei" pitchFamily="34" charset="-122"/>
                <a:cs typeface="Microsoft YaHei" pitchFamily="34" charset="-120"/>
              </a:rPr>
              <a:t>信息不对称 → 补充信息</a:t>
            </a:r>
            <a:endParaRPr lang="en-US" sz="1100" dirty="0"/>
          </a:p>
        </p:txBody>
      </p:sp>
      <p:sp>
        <p:nvSpPr>
          <p:cNvPr id="15" name="Shape 13"/>
          <p:cNvSpPr/>
          <p:nvPr/>
        </p:nvSpPr>
        <p:spPr>
          <a:xfrm>
            <a:off x="4709160" y="1325880"/>
            <a:ext cx="3977640" cy="2377440"/>
          </a:xfrm>
          <a:prstGeom prst="roundRect">
            <a:avLst>
              <a:gd name="adj" fmla="val 3846"/>
            </a:avLst>
          </a:prstGeom>
          <a:solidFill>
            <a:srgbClr val="FFFFFF"/>
          </a:solidFill>
          <a:ln/>
          <a:effectLst>
            <a:outerShdw sx="100000" sy="100000" kx="0" ky="0" algn="bl" rotWithShape="0" blurRad="50800" dist="25400" dir="8100000">
              <a:srgbClr val="000000">
                <a:alpha val="8000"/>
              </a:srgbClr>
            </a:outerShdw>
          </a:effectLst>
        </p:spPr>
      </p:sp>
      <p:sp>
        <p:nvSpPr>
          <p:cNvPr id="16" name="Shape 14"/>
          <p:cNvSpPr/>
          <p:nvPr/>
        </p:nvSpPr>
        <p:spPr>
          <a:xfrm>
            <a:off x="4709160" y="1325880"/>
            <a:ext cx="3977640" cy="502920"/>
          </a:xfrm>
          <a:prstGeom prst="rect">
            <a:avLst/>
          </a:prstGeom>
          <a:solidFill>
            <a:srgbClr val="2B2D42"/>
          </a:solidFill>
          <a:ln/>
        </p:spPr>
      </p:sp>
      <p:sp>
        <p:nvSpPr>
          <p:cNvPr id="17" name="Text 15"/>
          <p:cNvSpPr/>
          <p:nvPr/>
        </p:nvSpPr>
        <p:spPr>
          <a:xfrm>
            <a:off x="4709160" y="1325880"/>
            <a:ext cx="3977640" cy="50292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价值排序分歧</a:t>
            </a:r>
            <a:endParaRPr lang="en-US" sz="1800" dirty="0"/>
          </a:p>
        </p:txBody>
      </p:sp>
      <p:sp>
        <p:nvSpPr>
          <p:cNvPr id="18" name="Shape 16"/>
          <p:cNvSpPr/>
          <p:nvPr/>
        </p:nvSpPr>
        <p:spPr>
          <a:xfrm>
            <a:off x="4892040" y="1965960"/>
            <a:ext cx="3611880" cy="731520"/>
          </a:xfrm>
          <a:prstGeom prst="roundRect">
            <a:avLst>
              <a:gd name="adj" fmla="val 7500"/>
            </a:avLst>
          </a:prstGeom>
          <a:solidFill>
            <a:srgbClr val="EDF2F4"/>
          </a:solidFill>
          <a:ln/>
        </p:spPr>
      </p:sp>
      <p:sp>
        <p:nvSpPr>
          <p:cNvPr id="19" name="Text 17"/>
          <p:cNvSpPr/>
          <p:nvPr/>
        </p:nvSpPr>
        <p:spPr>
          <a:xfrm>
            <a:off x="5029200" y="1965960"/>
            <a:ext cx="3337560" cy="731520"/>
          </a:xfrm>
          <a:prstGeom prst="rect">
            <a:avLst/>
          </a:prstGeom>
          <a:noFill/>
          <a:ln/>
        </p:spPr>
        <p:txBody>
          <a:bodyPr wrap="square" rtlCol="0" anchor="ctr"/>
          <a:lstStyle/>
          <a:p>
            <a:pPr algn="l" indent="0" marL="0">
              <a:buNone/>
            </a:pPr>
            <a:r>
              <a:rPr lang="en-US" sz="1200" dirty="0">
                <a:solidFill>
                  <a:srgbClr val="2B2D42"/>
                </a:solidFill>
                <a:latin typeface="Microsoft YaHei" pitchFamily="34" charset="0"/>
                <a:ea typeface="Microsoft YaHei" pitchFamily="34" charset="-122"/>
                <a:cs typeface="Microsoft YaHei" pitchFamily="34" charset="-120"/>
              </a:rPr>
              <a:t>家长看重稳定，孩子看重热爱</a:t>
            </a:r>
            <a:endParaRPr lang="en-US" sz="1200" dirty="0"/>
          </a:p>
        </p:txBody>
      </p:sp>
      <p:sp>
        <p:nvSpPr>
          <p:cNvPr id="20" name="Shape 18"/>
          <p:cNvSpPr/>
          <p:nvPr/>
        </p:nvSpPr>
        <p:spPr>
          <a:xfrm>
            <a:off x="5029200" y="2880360"/>
            <a:ext cx="320040" cy="320040"/>
          </a:xfrm>
          <a:prstGeom prst="ellipse">
            <a:avLst/>
          </a:prstGeom>
          <a:solidFill>
            <a:srgbClr val="EF233C"/>
          </a:solidFill>
          <a:ln/>
        </p:spPr>
      </p:sp>
      <p:sp>
        <p:nvSpPr>
          <p:cNvPr id="21" name="Text 19"/>
          <p:cNvSpPr/>
          <p:nvPr/>
        </p:nvSpPr>
        <p:spPr>
          <a:xfrm>
            <a:off x="5029200" y="288036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2" name="Text 20"/>
          <p:cNvSpPr/>
          <p:nvPr/>
        </p:nvSpPr>
        <p:spPr>
          <a:xfrm>
            <a:off x="5486400" y="2880360"/>
            <a:ext cx="3017520" cy="320040"/>
          </a:xfrm>
          <a:prstGeom prst="rect">
            <a:avLst/>
          </a:prstGeom>
          <a:noFill/>
          <a:ln/>
        </p:spPr>
        <p:txBody>
          <a:bodyPr wrap="square" rtlCol="0" anchor="ctr"/>
          <a:lstStyle/>
          <a:p>
            <a:pPr algn="l" indent="0" marL="0">
              <a:buNone/>
            </a:pPr>
            <a:r>
              <a:rPr lang="en-US" sz="1400" b="1" dirty="0">
                <a:solidFill>
                  <a:srgbClr val="EF233C"/>
                </a:solidFill>
                <a:latin typeface="Microsoft YaHei" pitchFamily="34" charset="0"/>
                <a:ea typeface="Microsoft YaHei" pitchFamily="34" charset="-122"/>
                <a:cs typeface="Microsoft YaHei" pitchFamily="34" charset="-120"/>
              </a:rPr>
              <a:t>这两者没有对错</a:t>
            </a:r>
            <a:endParaRPr lang="en-US" sz="1400" dirty="0"/>
          </a:p>
        </p:txBody>
      </p:sp>
      <p:sp>
        <p:nvSpPr>
          <p:cNvPr id="23" name="Text 21"/>
          <p:cNvSpPr/>
          <p:nvPr/>
        </p:nvSpPr>
        <p:spPr>
          <a:xfrm>
            <a:off x="5029200" y="3246120"/>
            <a:ext cx="3337560" cy="320040"/>
          </a:xfrm>
          <a:prstGeom prst="rect">
            <a:avLst/>
          </a:prstGeom>
          <a:noFill/>
          <a:ln/>
        </p:spPr>
        <p:txBody>
          <a:bodyPr wrap="square" rtlCol="0" anchor="ctr"/>
          <a:lstStyle/>
          <a:p>
            <a:pPr algn="l" indent="0" marL="0">
              <a:buNone/>
            </a:pPr>
            <a:r>
              <a:rPr lang="en-US" sz="1100" dirty="0">
                <a:solidFill>
                  <a:srgbClr val="8D99AE"/>
                </a:solidFill>
                <a:latin typeface="Microsoft YaHei" pitchFamily="34" charset="0"/>
                <a:ea typeface="Microsoft YaHei" pitchFamily="34" charset="-122"/>
                <a:cs typeface="Microsoft YaHei" pitchFamily="34" charset="-120"/>
              </a:rPr>
              <a:t>只是排序不同 → 看见彼此的合理性</a:t>
            </a:r>
            <a:endParaRPr lang="en-US" sz="1100" dirty="0"/>
          </a:p>
        </p:txBody>
      </p:sp>
      <p:sp>
        <p:nvSpPr>
          <p:cNvPr id="24" name="Shape 22"/>
          <p:cNvSpPr/>
          <p:nvPr/>
        </p:nvSpPr>
        <p:spPr>
          <a:xfrm>
            <a:off x="457200" y="3931920"/>
            <a:ext cx="8229600" cy="868680"/>
          </a:xfrm>
          <a:prstGeom prst="roundRect">
            <a:avLst>
              <a:gd name="adj" fmla="val 8421"/>
            </a:avLst>
          </a:prstGeom>
          <a:solidFill>
            <a:srgbClr val="2B2D42"/>
          </a:solidFill>
          <a:ln/>
        </p:spPr>
      </p:sp>
      <p:sp>
        <p:nvSpPr>
          <p:cNvPr id="25" name="Shape 23"/>
          <p:cNvSpPr/>
          <p:nvPr/>
        </p:nvSpPr>
        <p:spPr>
          <a:xfrm>
            <a:off x="640080" y="4114800"/>
            <a:ext cx="502920" cy="502920"/>
          </a:xfrm>
          <a:prstGeom prst="ellipse">
            <a:avLst/>
          </a:prstGeom>
          <a:solidFill>
            <a:srgbClr val="EF233C"/>
          </a:solidFill>
          <a:ln/>
        </p:spPr>
      </p:sp>
      <p:sp>
        <p:nvSpPr>
          <p:cNvPr id="26" name="Text 24"/>
          <p:cNvSpPr/>
          <p:nvPr/>
        </p:nvSpPr>
        <p:spPr>
          <a:xfrm>
            <a:off x="640080" y="4114800"/>
            <a:ext cx="502920" cy="502920"/>
          </a:xfrm>
          <a:prstGeom prst="rect">
            <a:avLst/>
          </a:prstGeom>
          <a:noFill/>
          <a:ln/>
        </p:spPr>
        <p:txBody>
          <a:bodyPr wrap="square" rtlCol="0" anchor="ctr"/>
          <a:lstStyle/>
          <a:p>
            <a:pPr algn="ctr" indent="0" marL="0">
              <a:buNone/>
            </a:pPr>
            <a:r>
              <a:rPr lang="en-US" sz="1600" dirty="0">
                <a:solidFill>
                  <a:srgbClr val="FFFFFF"/>
                </a:solidFill>
                <a:latin typeface="Arial" pitchFamily="34" charset="0"/>
                <a:ea typeface="Arial" pitchFamily="34" charset="-122"/>
                <a:cs typeface="Arial" pitchFamily="34" charset="-120"/>
              </a:rPr>
              <a:t>💡</a:t>
            </a:r>
            <a:endParaRPr lang="en-US" sz="1600" dirty="0"/>
          </a:p>
        </p:txBody>
      </p:sp>
      <p:sp>
        <p:nvSpPr>
          <p:cNvPr id="27" name="Text 25"/>
          <p:cNvSpPr/>
          <p:nvPr/>
        </p:nvSpPr>
        <p:spPr>
          <a:xfrm>
            <a:off x="1280160" y="3931920"/>
            <a:ext cx="7223760" cy="868680"/>
          </a:xfrm>
          <a:prstGeom prst="rect">
            <a:avLst/>
          </a:prstGeom>
          <a:noFill/>
          <a:ln/>
        </p:spPr>
        <p:txBody>
          <a:bodyPr wrap="square" rtlCol="0" anchor="ctr"/>
          <a:lstStyle/>
          <a:p>
            <a:pPr algn="l" indent="0" marL="0">
              <a:buNone/>
            </a:pPr>
            <a:r>
              <a:rPr lang="en-US" sz="1400" dirty="0">
                <a:solidFill>
                  <a:srgbClr val="FFFFFF"/>
                </a:solidFill>
                <a:latin typeface="Microsoft YaHei" pitchFamily="34" charset="0"/>
                <a:ea typeface="Microsoft YaHei" pitchFamily="34" charset="-122"/>
                <a:cs typeface="Microsoft YaHei" pitchFamily="34" charset="-120"/>
              </a:rPr>
              <a:t>能做的只是让双方把各自的排序说清楚，帮他们看到彼此排序背后的合理性</a:t>
            </a:r>
            <a:endParaRPr lang="en-US" sz="1400" dirty="0"/>
          </a:p>
        </p:txBody>
      </p:sp>
      <p:sp>
        <p:nvSpPr>
          <p:cNvPr id="28" name="Shape 26"/>
          <p:cNvSpPr/>
          <p:nvPr/>
        </p:nvSpPr>
        <p:spPr>
          <a:xfrm>
            <a:off x="8366760" y="4754880"/>
            <a:ext cx="548640" cy="320040"/>
          </a:xfrm>
          <a:prstGeom prst="roundRect">
            <a:avLst>
              <a:gd name="adj" fmla="val 14286"/>
            </a:avLst>
          </a:prstGeom>
          <a:solidFill>
            <a:srgbClr val="EF233C"/>
          </a:solidFill>
          <a:ln/>
        </p:spPr>
      </p:sp>
      <p:sp>
        <p:nvSpPr>
          <p:cNvPr id="29" name="Text 27"/>
          <p:cNvSpPr/>
          <p:nvPr/>
        </p:nvSpPr>
        <p:spPr>
          <a:xfrm>
            <a:off x="8366760" y="4754880"/>
            <a:ext cx="54864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457200" y="274320"/>
            <a:ext cx="2011680" cy="320040"/>
          </a:xfrm>
          <a:prstGeom prst="roundRect">
            <a:avLst>
              <a:gd name="adj" fmla="val 14286"/>
            </a:avLst>
          </a:prstGeom>
          <a:solidFill>
            <a:srgbClr val="2B2D42"/>
          </a:solidFill>
          <a:ln/>
        </p:spPr>
      </p:sp>
      <p:sp>
        <p:nvSpPr>
          <p:cNvPr id="4" name="Text 2"/>
          <p:cNvSpPr/>
          <p:nvPr/>
        </p:nvSpPr>
        <p:spPr>
          <a:xfrm>
            <a:off x="457200" y="274320"/>
            <a:ext cx="2011680" cy="3200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第十章 · Part 3</a:t>
            </a:r>
            <a:endParaRPr lang="en-US" sz="1200" dirty="0"/>
          </a:p>
        </p:txBody>
      </p:sp>
      <p:sp>
        <p:nvSpPr>
          <p:cNvPr id="5" name="Text 3"/>
          <p:cNvSpPr/>
          <p:nvPr/>
        </p:nvSpPr>
        <p:spPr>
          <a:xfrm>
            <a:off x="457200" y="685800"/>
            <a:ext cx="8229600" cy="502920"/>
          </a:xfrm>
          <a:prstGeom prst="rect">
            <a:avLst/>
          </a:prstGeom>
          <a:noFill/>
          <a:ln/>
        </p:spPr>
        <p:txBody>
          <a:bodyPr wrap="square" rtlCol="0" anchor="ctr"/>
          <a:lstStyle/>
          <a:p>
            <a:pPr algn="l" indent="0" marL="0">
              <a:buNone/>
            </a:pPr>
            <a:r>
              <a:rPr lang="en-US" sz="2800" b="1" dirty="0">
                <a:solidFill>
                  <a:srgbClr val="2B2D42"/>
                </a:solidFill>
                <a:latin typeface="Microsoft YaHei" pitchFamily="34" charset="0"/>
                <a:ea typeface="Microsoft YaHei" pitchFamily="34" charset="-122"/>
                <a:cs typeface="Microsoft YaHei" pitchFamily="34" charset="-120"/>
              </a:rPr>
              <a:t>不要把中立变成逃避</a:t>
            </a:r>
            <a:endParaRPr lang="en-US" sz="2800" dirty="0"/>
          </a:p>
        </p:txBody>
      </p:sp>
      <p:sp>
        <p:nvSpPr>
          <p:cNvPr id="6" name="Shape 4"/>
          <p:cNvSpPr/>
          <p:nvPr/>
        </p:nvSpPr>
        <p:spPr>
          <a:xfrm>
            <a:off x="457200" y="1325880"/>
            <a:ext cx="8229600" cy="1005840"/>
          </a:xfrm>
          <a:prstGeom prst="roundRect">
            <a:avLst>
              <a:gd name="adj" fmla="val 9091"/>
            </a:avLst>
          </a:prstGeom>
          <a:solidFill>
            <a:srgbClr val="FFFFFF"/>
          </a:solidFill>
          <a:ln/>
          <a:effectLst>
            <a:outerShdw sx="100000" sy="100000" kx="0" ky="0" algn="bl" rotWithShape="0" blurRad="50800" dist="25400" dir="8100000">
              <a:srgbClr val="000000">
                <a:alpha val="8000"/>
              </a:srgbClr>
            </a:outerShdw>
          </a:effectLst>
        </p:spPr>
      </p:sp>
      <p:sp>
        <p:nvSpPr>
          <p:cNvPr id="7" name="Shape 5"/>
          <p:cNvSpPr/>
          <p:nvPr/>
        </p:nvSpPr>
        <p:spPr>
          <a:xfrm>
            <a:off x="640080" y="1463040"/>
            <a:ext cx="457200" cy="457200"/>
          </a:xfrm>
          <a:prstGeom prst="roundRect">
            <a:avLst>
              <a:gd name="adj" fmla="val 16000"/>
            </a:avLst>
          </a:prstGeom>
          <a:solidFill>
            <a:srgbClr val="EF233C"/>
          </a:solidFill>
          <a:ln/>
        </p:spPr>
      </p:sp>
      <p:sp>
        <p:nvSpPr>
          <p:cNvPr id="8" name="Text 6"/>
          <p:cNvSpPr/>
          <p:nvPr/>
        </p:nvSpPr>
        <p:spPr>
          <a:xfrm>
            <a:off x="640080" y="146304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9" name="Text 7"/>
          <p:cNvSpPr/>
          <p:nvPr/>
        </p:nvSpPr>
        <p:spPr>
          <a:xfrm>
            <a:off x="1280160" y="1417320"/>
            <a:ext cx="7223760" cy="548640"/>
          </a:xfrm>
          <a:prstGeom prst="rect">
            <a:avLst/>
          </a:prstGeom>
          <a:noFill/>
          <a:ln/>
        </p:spPr>
        <p:txBody>
          <a:bodyPr wrap="square" rtlCol="0" anchor="ctr"/>
          <a:lstStyle/>
          <a:p>
            <a:pPr algn="l" indent="0" marL="0">
              <a:buNone/>
            </a:pPr>
            <a:r>
              <a:rPr lang="en-US" sz="1400" dirty="0">
                <a:solidFill>
                  <a:srgbClr val="2B2D42"/>
                </a:solidFill>
                <a:latin typeface="Microsoft YaHei" pitchFamily="34" charset="0"/>
                <a:ea typeface="Microsoft YaHei" pitchFamily="34" charset="-122"/>
                <a:cs typeface="Microsoft YaHei" pitchFamily="34" charset="-120"/>
              </a:rPr>
              <a:t>有些从业者用"我不站队，你们自己决定"把自己完全摘出冲突之外</a:t>
            </a:r>
            <a:endParaRPr lang="en-US" sz="1400" dirty="0"/>
          </a:p>
        </p:txBody>
      </p:sp>
      <p:sp>
        <p:nvSpPr>
          <p:cNvPr id="10" name="Text 8"/>
          <p:cNvSpPr/>
          <p:nvPr/>
        </p:nvSpPr>
        <p:spPr>
          <a:xfrm>
            <a:off x="1280160" y="1965960"/>
            <a:ext cx="7223760" cy="320040"/>
          </a:xfrm>
          <a:prstGeom prst="rect">
            <a:avLst/>
          </a:prstGeom>
          <a:noFill/>
          <a:ln/>
        </p:spPr>
        <p:txBody>
          <a:bodyPr wrap="square" rtlCol="0" anchor="ctr"/>
          <a:lstStyle/>
          <a:p>
            <a:pPr algn="l" indent="0" marL="0">
              <a:buNone/>
            </a:pPr>
            <a:r>
              <a:rPr lang="en-US" sz="1200" b="1" dirty="0">
                <a:solidFill>
                  <a:srgbClr val="EF233C"/>
                </a:solidFill>
                <a:latin typeface="Microsoft YaHei" pitchFamily="34" charset="0"/>
                <a:ea typeface="Microsoft YaHei" pitchFamily="34" charset="-122"/>
                <a:cs typeface="Microsoft YaHei" pitchFamily="34" charset="-120"/>
              </a:rPr>
              <a:t>这是把最难的判断工作甩回给了本来就已经僵持不下的家庭</a:t>
            </a:r>
            <a:endParaRPr lang="en-US" sz="1200" dirty="0"/>
          </a:p>
        </p:txBody>
      </p:sp>
      <p:sp>
        <p:nvSpPr>
          <p:cNvPr id="11" name="Text 9"/>
          <p:cNvSpPr/>
          <p:nvPr/>
        </p:nvSpPr>
        <p:spPr>
          <a:xfrm>
            <a:off x="457200" y="2514600"/>
            <a:ext cx="8229600" cy="411480"/>
          </a:xfrm>
          <a:prstGeom prst="rect">
            <a:avLst/>
          </a:prstGeom>
          <a:noFill/>
          <a:ln/>
        </p:spPr>
        <p:txBody>
          <a:bodyPr wrap="square" rtlCol="0" anchor="ctr"/>
          <a:lstStyle/>
          <a:p>
            <a:pPr algn="l" indent="0" marL="0">
              <a:buNone/>
            </a:pPr>
            <a:r>
              <a:rPr lang="en-US" sz="1600" b="1" dirty="0">
                <a:solidFill>
                  <a:srgbClr val="2B2D42"/>
                </a:solidFill>
                <a:latin typeface="Microsoft YaHei" pitchFamily="34" charset="0"/>
                <a:ea typeface="Microsoft YaHei" pitchFamily="34" charset="-122"/>
                <a:cs typeface="Microsoft YaHei" pitchFamily="34" charset="-120"/>
              </a:rPr>
              <a:t>什么是真正的中立？</a:t>
            </a:r>
            <a:endParaRPr lang="en-US" sz="1600" dirty="0"/>
          </a:p>
        </p:txBody>
      </p:sp>
      <p:sp>
        <p:nvSpPr>
          <p:cNvPr id="12" name="Shape 10"/>
          <p:cNvSpPr/>
          <p:nvPr/>
        </p:nvSpPr>
        <p:spPr>
          <a:xfrm>
            <a:off x="457200" y="2971800"/>
            <a:ext cx="3977640" cy="1417320"/>
          </a:xfrm>
          <a:prstGeom prst="roundRect">
            <a:avLst>
              <a:gd name="adj" fmla="val 6452"/>
            </a:avLst>
          </a:prstGeom>
          <a:solidFill>
            <a:srgbClr val="FFFFFF"/>
          </a:solidFill>
          <a:ln w="25400">
            <a:solidFill>
              <a:srgbClr val="EF233C"/>
            </a:solidFill>
            <a:prstDash val="solid"/>
          </a:ln>
        </p:spPr>
      </p:sp>
      <p:sp>
        <p:nvSpPr>
          <p:cNvPr id="13" name="Shape 11"/>
          <p:cNvSpPr/>
          <p:nvPr/>
        </p:nvSpPr>
        <p:spPr>
          <a:xfrm>
            <a:off x="457200" y="2971800"/>
            <a:ext cx="3977640" cy="411480"/>
          </a:xfrm>
          <a:prstGeom prst="rect">
            <a:avLst/>
          </a:prstGeom>
          <a:solidFill>
            <a:srgbClr val="EF233C"/>
          </a:solidFill>
          <a:ln/>
        </p:spPr>
      </p:sp>
      <p:sp>
        <p:nvSpPr>
          <p:cNvPr id="14" name="Text 12"/>
          <p:cNvSpPr/>
          <p:nvPr/>
        </p:nvSpPr>
        <p:spPr>
          <a:xfrm>
            <a:off x="457200" y="2971800"/>
            <a:ext cx="3977640" cy="41148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假中立</a:t>
            </a:r>
            <a:endParaRPr lang="en-US" sz="1400" dirty="0"/>
          </a:p>
        </p:txBody>
      </p:sp>
      <p:sp>
        <p:nvSpPr>
          <p:cNvPr id="15" name="Text 13"/>
          <p:cNvSpPr/>
          <p:nvPr/>
        </p:nvSpPr>
        <p:spPr>
          <a:xfrm>
            <a:off x="640080" y="3474720"/>
            <a:ext cx="3611880" cy="822960"/>
          </a:xfrm>
          <a:prstGeom prst="rect">
            <a:avLst/>
          </a:prstGeom>
          <a:noFill/>
          <a:ln/>
        </p:spPr>
        <p:txBody>
          <a:bodyPr wrap="square" rtlCol="0" anchor="ctr"/>
          <a:lstStyle/>
          <a:p>
            <a:pPr algn="l" indent="0" marL="0">
              <a:buNone/>
            </a:pPr>
            <a:r>
              <a:rPr lang="en-US" sz="1200" dirty="0">
                <a:solidFill>
                  <a:srgbClr val="8D99AE"/>
                </a:solidFill>
                <a:latin typeface="Microsoft YaHei" pitchFamily="34" charset="0"/>
                <a:ea typeface="Microsoft YaHei" pitchFamily="34" charset="-122"/>
                <a:cs typeface="Microsoft YaHei" pitchFamily="34" charset="-120"/>
              </a:rPr>
              <a:t>什么都不说</a:t>
            </a:r>
            <a:endParaRPr lang="en-US" sz="1200" dirty="0"/>
          </a:p>
          <a:p>
            <a:pPr algn="l" indent="0" marL="0">
              <a:buNone/>
            </a:pPr>
            <a:r>
              <a:rPr lang="en-US" sz="1200" dirty="0">
                <a:solidFill>
                  <a:srgbClr val="8D99AE"/>
                </a:solidFill>
                <a:latin typeface="Microsoft YaHei" pitchFamily="34" charset="0"/>
                <a:ea typeface="Microsoft YaHei" pitchFamily="34" charset="-122"/>
                <a:cs typeface="Microsoft YaHei" pitchFamily="34" charset="-120"/>
              </a:rPr>
              <a:t>摘清自己</a:t>
            </a:r>
            <a:endParaRPr lang="en-US" sz="1200" dirty="0"/>
          </a:p>
          <a:p>
            <a:pPr algn="l" indent="0" marL="0">
              <a:buNone/>
            </a:pPr>
            <a:r>
              <a:rPr lang="en-US" sz="1200" dirty="0">
                <a:solidFill>
                  <a:srgbClr val="8D99AE"/>
                </a:solidFill>
                <a:latin typeface="Microsoft YaHei" pitchFamily="34" charset="0"/>
                <a:ea typeface="Microsoft YaHei" pitchFamily="34" charset="-122"/>
                <a:cs typeface="Microsoft YaHei" pitchFamily="34" charset="-120"/>
              </a:rPr>
              <a:t>把选择权完全推给家庭</a:t>
            </a:r>
            <a:endParaRPr lang="en-US" sz="1200" dirty="0"/>
          </a:p>
        </p:txBody>
      </p:sp>
      <p:sp>
        <p:nvSpPr>
          <p:cNvPr id="16" name="Shape 14"/>
          <p:cNvSpPr/>
          <p:nvPr/>
        </p:nvSpPr>
        <p:spPr>
          <a:xfrm>
            <a:off x="4709160" y="2971800"/>
            <a:ext cx="3977640" cy="1417320"/>
          </a:xfrm>
          <a:prstGeom prst="roundRect">
            <a:avLst>
              <a:gd name="adj" fmla="val 6452"/>
            </a:avLst>
          </a:prstGeom>
          <a:solidFill>
            <a:srgbClr val="FFFFFF"/>
          </a:solidFill>
          <a:ln w="25400">
            <a:solidFill>
              <a:srgbClr val="27AE60"/>
            </a:solidFill>
            <a:prstDash val="solid"/>
          </a:ln>
        </p:spPr>
      </p:sp>
      <p:sp>
        <p:nvSpPr>
          <p:cNvPr id="17" name="Shape 15"/>
          <p:cNvSpPr/>
          <p:nvPr/>
        </p:nvSpPr>
        <p:spPr>
          <a:xfrm>
            <a:off x="4709160" y="2971800"/>
            <a:ext cx="3977640" cy="411480"/>
          </a:xfrm>
          <a:prstGeom prst="rect">
            <a:avLst/>
          </a:prstGeom>
          <a:solidFill>
            <a:srgbClr val="27AE60"/>
          </a:solidFill>
          <a:ln/>
        </p:spPr>
      </p:sp>
      <p:sp>
        <p:nvSpPr>
          <p:cNvPr id="18" name="Text 16"/>
          <p:cNvSpPr/>
          <p:nvPr/>
        </p:nvSpPr>
        <p:spPr>
          <a:xfrm>
            <a:off x="4709160" y="2971800"/>
            <a:ext cx="3977640" cy="41148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真中立</a:t>
            </a:r>
            <a:endParaRPr lang="en-US" sz="1400" dirty="0"/>
          </a:p>
        </p:txBody>
      </p:sp>
      <p:sp>
        <p:nvSpPr>
          <p:cNvPr id="19" name="Text 17"/>
          <p:cNvSpPr/>
          <p:nvPr/>
        </p:nvSpPr>
        <p:spPr>
          <a:xfrm>
            <a:off x="4892040" y="3474720"/>
            <a:ext cx="3611880" cy="822960"/>
          </a:xfrm>
          <a:prstGeom prst="rect">
            <a:avLst/>
          </a:prstGeom>
          <a:noFill/>
          <a:ln/>
        </p:spPr>
        <p:txBody>
          <a:bodyPr wrap="square" rtlCol="0" anchor="ctr"/>
          <a:lstStyle/>
          <a:p>
            <a:pPr algn="l" indent="0" marL="0">
              <a:buNone/>
            </a:pPr>
            <a:r>
              <a:rPr lang="en-US" sz="1200" dirty="0">
                <a:solidFill>
                  <a:srgbClr val="2B2D42"/>
                </a:solidFill>
                <a:latin typeface="Microsoft YaHei" pitchFamily="34" charset="0"/>
                <a:ea typeface="Microsoft YaHei" pitchFamily="34" charset="-122"/>
                <a:cs typeface="Microsoft YaHei" pitchFamily="34" charset="-120"/>
              </a:rPr>
              <a:t>该说的信息都摆出来</a:t>
            </a:r>
            <a:endParaRPr lang="en-US" sz="1200" dirty="0"/>
          </a:p>
          <a:p>
            <a:pPr algn="l" indent="0" marL="0">
              <a:buNone/>
            </a:pPr>
            <a:r>
              <a:rPr lang="en-US" sz="1200" dirty="0">
                <a:solidFill>
                  <a:srgbClr val="2B2D42"/>
                </a:solidFill>
                <a:latin typeface="Microsoft YaHei" pitchFamily="34" charset="0"/>
                <a:ea typeface="Microsoft YaHei" pitchFamily="34" charset="-122"/>
                <a:cs typeface="Microsoft YaHei" pitchFamily="34" charset="-120"/>
              </a:rPr>
              <a:t>该给的判断都讲清楚</a:t>
            </a:r>
            <a:endParaRPr lang="en-US" sz="1200" dirty="0"/>
          </a:p>
          <a:p>
            <a:pPr algn="l" indent="0" marL="0">
              <a:buNone/>
            </a:pPr>
            <a:r>
              <a:rPr lang="en-US" sz="1200" dirty="0">
                <a:solidFill>
                  <a:srgbClr val="2B2D42"/>
                </a:solidFill>
                <a:latin typeface="Microsoft YaHei" pitchFamily="34" charset="0"/>
                <a:ea typeface="Microsoft YaHei" pitchFamily="34" charset="-122"/>
                <a:cs typeface="Microsoft YaHei" pitchFamily="34" charset="-120"/>
              </a:rPr>
              <a:t>只是不替任何一方拍板</a:t>
            </a:r>
            <a:endParaRPr lang="en-US" sz="1200" dirty="0"/>
          </a:p>
        </p:txBody>
      </p:sp>
      <p:sp>
        <p:nvSpPr>
          <p:cNvPr id="20" name="Shape 18"/>
          <p:cNvSpPr/>
          <p:nvPr/>
        </p:nvSpPr>
        <p:spPr>
          <a:xfrm>
            <a:off x="457200" y="4526280"/>
            <a:ext cx="8229600" cy="502920"/>
          </a:xfrm>
          <a:prstGeom prst="roundRect">
            <a:avLst>
              <a:gd name="adj" fmla="val 14545"/>
            </a:avLst>
          </a:prstGeom>
          <a:solidFill>
            <a:srgbClr val="2B2D42"/>
          </a:solidFill>
          <a:ln/>
        </p:spPr>
      </p:sp>
      <p:sp>
        <p:nvSpPr>
          <p:cNvPr id="21" name="Text 19"/>
          <p:cNvSpPr/>
          <p:nvPr/>
        </p:nvSpPr>
        <p:spPr>
          <a:xfrm>
            <a:off x="457200" y="4526280"/>
            <a:ext cx="8229600" cy="50292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"真正的中立，不是什么都不说，是把该说的都摆出来"</a:t>
            </a:r>
            <a:endParaRPr lang="en-US" sz="1400" dirty="0"/>
          </a:p>
        </p:txBody>
      </p:sp>
      <p:sp>
        <p:nvSpPr>
          <p:cNvPr id="22" name="Shape 20"/>
          <p:cNvSpPr/>
          <p:nvPr/>
        </p:nvSpPr>
        <p:spPr>
          <a:xfrm>
            <a:off x="8366760" y="4754880"/>
            <a:ext cx="548640" cy="320040"/>
          </a:xfrm>
          <a:prstGeom prst="roundRect">
            <a:avLst>
              <a:gd name="adj" fmla="val 14286"/>
            </a:avLst>
          </a:prstGeom>
          <a:solidFill>
            <a:srgbClr val="EF233C"/>
          </a:solidFill>
          <a:ln/>
        </p:spPr>
      </p:sp>
      <p:sp>
        <p:nvSpPr>
          <p:cNvPr id="23" name="Text 21"/>
          <p:cNvSpPr/>
          <p:nvPr/>
        </p:nvSpPr>
        <p:spPr>
          <a:xfrm>
            <a:off x="8366760" y="4754880"/>
            <a:ext cx="54864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457200" y="274320"/>
            <a:ext cx="2011680" cy="320040"/>
          </a:xfrm>
          <a:prstGeom prst="roundRect">
            <a:avLst>
              <a:gd name="adj" fmla="val 14286"/>
            </a:avLst>
          </a:prstGeom>
          <a:solidFill>
            <a:srgbClr val="2B2D42"/>
          </a:solidFill>
          <a:ln/>
        </p:spPr>
      </p:sp>
      <p:sp>
        <p:nvSpPr>
          <p:cNvPr id="4" name="Text 2"/>
          <p:cNvSpPr/>
          <p:nvPr/>
        </p:nvSpPr>
        <p:spPr>
          <a:xfrm>
            <a:off x="457200" y="274320"/>
            <a:ext cx="2011680" cy="3200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第十章 · Part 4</a:t>
            </a:r>
            <a:endParaRPr lang="en-US" sz="1200" dirty="0"/>
          </a:p>
        </p:txBody>
      </p:sp>
      <p:sp>
        <p:nvSpPr>
          <p:cNvPr id="5" name="Text 3"/>
          <p:cNvSpPr/>
          <p:nvPr/>
        </p:nvSpPr>
        <p:spPr>
          <a:xfrm>
            <a:off x="457200" y="685800"/>
            <a:ext cx="8229600" cy="502920"/>
          </a:xfrm>
          <a:prstGeom prst="rect">
            <a:avLst/>
          </a:prstGeom>
          <a:noFill/>
          <a:ln/>
        </p:spPr>
        <p:txBody>
          <a:bodyPr wrap="square" rtlCol="0" anchor="ctr"/>
          <a:lstStyle/>
          <a:p>
            <a:pPr algn="l" indent="0" marL="0">
              <a:buNone/>
            </a:pPr>
            <a:r>
              <a:rPr lang="en-US" sz="2800" b="1" dirty="0">
                <a:solidFill>
                  <a:srgbClr val="2B2D42"/>
                </a:solidFill>
                <a:latin typeface="Microsoft YaHei" pitchFamily="34" charset="0"/>
                <a:ea typeface="Microsoft YaHei" pitchFamily="34" charset="-122"/>
                <a:cs typeface="Microsoft YaHei" pitchFamily="34" charset="-120"/>
              </a:rPr>
              <a:t>沉默不代表没有分歧</a:t>
            </a:r>
            <a:endParaRPr lang="en-US" sz="2800" dirty="0"/>
          </a:p>
        </p:txBody>
      </p:sp>
      <p:sp>
        <p:nvSpPr>
          <p:cNvPr id="6" name="Shape 4"/>
          <p:cNvSpPr/>
          <p:nvPr/>
        </p:nvSpPr>
        <p:spPr>
          <a:xfrm>
            <a:off x="457200" y="1280160"/>
            <a:ext cx="8229600" cy="914400"/>
          </a:xfrm>
          <a:prstGeom prst="roundRect">
            <a:avLst>
              <a:gd name="adj" fmla="val 8000"/>
            </a:avLst>
          </a:prstGeom>
          <a:solidFill>
            <a:srgbClr val="EDF2F4"/>
          </a:solidFill>
          <a:ln/>
        </p:spPr>
      </p:sp>
      <p:sp>
        <p:nvSpPr>
          <p:cNvPr id="7" name="Text 5"/>
          <p:cNvSpPr/>
          <p:nvPr/>
        </p:nvSpPr>
        <p:spPr>
          <a:xfrm>
            <a:off x="640080" y="1371600"/>
            <a:ext cx="914400" cy="320040"/>
          </a:xfrm>
          <a:prstGeom prst="rect">
            <a:avLst/>
          </a:prstGeom>
          <a:noFill/>
          <a:ln/>
        </p:spPr>
        <p:txBody>
          <a:bodyPr wrap="square" rtlCol="0" anchor="ctr"/>
          <a:lstStyle/>
          <a:p>
            <a:pPr algn="l" indent="0" marL="0">
              <a:buNone/>
            </a:pPr>
            <a:r>
              <a:rPr lang="en-US" sz="1200" b="1" dirty="0">
                <a:solidFill>
                  <a:srgbClr val="EF233C"/>
                </a:solidFill>
                <a:latin typeface="Microsoft YaHei" pitchFamily="34" charset="0"/>
                <a:ea typeface="Microsoft YaHei" pitchFamily="34" charset="-122"/>
                <a:cs typeface="Microsoft YaHei" pitchFamily="34" charset="-120"/>
              </a:rPr>
              <a:t>现象</a:t>
            </a:r>
            <a:endParaRPr lang="en-US" sz="1200" dirty="0"/>
          </a:p>
        </p:txBody>
      </p:sp>
      <p:sp>
        <p:nvSpPr>
          <p:cNvPr id="8" name="Text 6"/>
          <p:cNvSpPr/>
          <p:nvPr/>
        </p:nvSpPr>
        <p:spPr>
          <a:xfrm>
            <a:off x="640080" y="1691640"/>
            <a:ext cx="7863840" cy="411480"/>
          </a:xfrm>
          <a:prstGeom prst="rect">
            <a:avLst/>
          </a:prstGeom>
          <a:noFill/>
          <a:ln/>
        </p:spPr>
        <p:txBody>
          <a:bodyPr wrap="square" rtlCol="0" anchor="ctr"/>
          <a:lstStyle/>
          <a:p>
            <a:pPr algn="l" indent="0" marL="0">
              <a:buNone/>
            </a:pPr>
            <a:r>
              <a:rPr lang="en-US" sz="1300" dirty="0">
                <a:solidFill>
                  <a:srgbClr val="2B2D42"/>
                </a:solidFill>
                <a:latin typeface="Microsoft YaHei" pitchFamily="34" charset="0"/>
                <a:ea typeface="Microsoft YaHei" pitchFamily="34" charset="-122"/>
                <a:cs typeface="Microsoft YaHei" pitchFamily="34" charset="-120"/>
              </a:rPr>
              <a:t>有些孩子没有明确表达反对，全程配合，但那种配合背后其实是早就放弃了争取的疲惫感</a:t>
            </a:r>
            <a:endParaRPr lang="en-US" sz="1300" dirty="0"/>
          </a:p>
        </p:txBody>
      </p:sp>
      <p:sp>
        <p:nvSpPr>
          <p:cNvPr id="9" name="Text 7"/>
          <p:cNvSpPr/>
          <p:nvPr/>
        </p:nvSpPr>
        <p:spPr>
          <a:xfrm>
            <a:off x="457200" y="2331720"/>
            <a:ext cx="8229600" cy="365760"/>
          </a:xfrm>
          <a:prstGeom prst="rect">
            <a:avLst/>
          </a:prstGeom>
          <a:noFill/>
          <a:ln/>
        </p:spPr>
        <p:txBody>
          <a:bodyPr wrap="square" rtlCol="0" anchor="ctr"/>
          <a:lstStyle/>
          <a:p>
            <a:pPr algn="l" indent="0" marL="0">
              <a:buNone/>
            </a:pPr>
            <a:r>
              <a:rPr lang="en-US" sz="1600" b="1" dirty="0">
                <a:solidFill>
                  <a:srgbClr val="2B2D42"/>
                </a:solidFill>
                <a:latin typeface="Microsoft YaHei" pitchFamily="34" charset="0"/>
                <a:ea typeface="Microsoft YaHei" pitchFamily="34" charset="-122"/>
                <a:cs typeface="Microsoft YaHei" pitchFamily="34" charset="-120"/>
              </a:rPr>
              <a:t>我的做法</a:t>
            </a:r>
            <a:endParaRPr lang="en-US" sz="1600" dirty="0"/>
          </a:p>
        </p:txBody>
      </p:sp>
      <p:sp>
        <p:nvSpPr>
          <p:cNvPr id="10" name="Shape 8"/>
          <p:cNvSpPr/>
          <p:nvPr/>
        </p:nvSpPr>
        <p:spPr>
          <a:xfrm>
            <a:off x="457200" y="2697480"/>
            <a:ext cx="8229600" cy="685800"/>
          </a:xfrm>
          <a:prstGeom prst="roundRect">
            <a:avLst>
              <a:gd name="adj" fmla="val 10667"/>
            </a:avLst>
          </a:prstGeom>
          <a:solidFill>
            <a:srgbClr val="FFFFFF"/>
          </a:solidFill>
          <a:ln/>
          <a:effectLst>
            <a:outerShdw sx="100000" sy="100000" kx="0" ky="0" algn="bl" rotWithShape="0" blurRad="38100" dist="12700" dir="8100000">
              <a:srgbClr val="000000">
                <a:alpha val="6000"/>
              </a:srgbClr>
            </a:outerShdw>
          </a:effectLst>
        </p:spPr>
      </p:sp>
      <p:sp>
        <p:nvSpPr>
          <p:cNvPr id="11" name="Text 9"/>
          <p:cNvSpPr/>
          <p:nvPr/>
        </p:nvSpPr>
        <p:spPr>
          <a:xfrm>
            <a:off x="640080" y="2697480"/>
            <a:ext cx="7863840" cy="685800"/>
          </a:xfrm>
          <a:prstGeom prst="rect">
            <a:avLst/>
          </a:prstGeom>
          <a:noFill/>
          <a:ln/>
        </p:spPr>
        <p:txBody>
          <a:bodyPr wrap="square" rtlCol="0" anchor="ctr"/>
          <a:lstStyle/>
          <a:p>
            <a:pPr algn="l" indent="0" marL="0">
              <a:buNone/>
            </a:pPr>
            <a:r>
              <a:rPr lang="en-US" sz="1300" dirty="0">
                <a:solidFill>
                  <a:srgbClr val="2B2D42"/>
                </a:solidFill>
                <a:latin typeface="Microsoft YaHei" pitchFamily="34" charset="0"/>
                <a:ea typeface="Microsoft YaHei" pitchFamily="34" charset="-122"/>
                <a:cs typeface="Microsoft YaHei" pitchFamily="34" charset="-120"/>
              </a:rPr>
              <a:t>在这种"过分顺畅"的谈话里，主动放慢节奏，单独问孩子几个具体的问题</a:t>
            </a:r>
            <a:endParaRPr lang="en-US" sz="1300" dirty="0"/>
          </a:p>
        </p:txBody>
      </p:sp>
      <p:sp>
        <p:nvSpPr>
          <p:cNvPr id="12" name="Shape 10"/>
          <p:cNvSpPr/>
          <p:nvPr/>
        </p:nvSpPr>
        <p:spPr>
          <a:xfrm>
            <a:off x="457200" y="3520440"/>
            <a:ext cx="8229600" cy="777240"/>
          </a:xfrm>
          <a:prstGeom prst="roundRect">
            <a:avLst>
              <a:gd name="adj" fmla="val 11765"/>
            </a:avLst>
          </a:prstGeom>
          <a:solidFill>
            <a:srgbClr val="2B2D42"/>
          </a:solidFill>
          <a:ln/>
        </p:spPr>
      </p:sp>
      <p:sp>
        <p:nvSpPr>
          <p:cNvPr id="13" name="Shape 11"/>
          <p:cNvSpPr/>
          <p:nvPr/>
        </p:nvSpPr>
        <p:spPr>
          <a:xfrm>
            <a:off x="640080" y="3657600"/>
            <a:ext cx="502920" cy="502920"/>
          </a:xfrm>
          <a:prstGeom prst="ellipse">
            <a:avLst/>
          </a:prstGeom>
          <a:solidFill>
            <a:srgbClr val="EF233C"/>
          </a:solidFill>
          <a:ln/>
        </p:spPr>
      </p:sp>
      <p:sp>
        <p:nvSpPr>
          <p:cNvPr id="14" name="Text 12"/>
          <p:cNvSpPr/>
          <p:nvPr/>
        </p:nvSpPr>
        <p:spPr>
          <a:xfrm>
            <a:off x="640080" y="3657600"/>
            <a:ext cx="502920" cy="50292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1280160" y="3520440"/>
            <a:ext cx="7223760" cy="777240"/>
          </a:xfrm>
          <a:prstGeom prst="rect">
            <a:avLst/>
          </a:prstGeom>
          <a:noFill/>
          <a:ln/>
        </p:spPr>
        <p:txBody>
          <a:bodyPr wrap="square" rtlCol="0" anchor="ctr"/>
          <a:lstStyle/>
          <a:p>
            <a:pPr algn="l" indent="0" marL="0">
              <a:buNone/>
            </a:pPr>
            <a:r>
              <a:rPr lang="en-US" sz="1500" b="1" dirty="0">
                <a:solidFill>
                  <a:srgbClr val="FFFFFF"/>
                </a:solidFill>
                <a:latin typeface="Microsoft YaHei" pitchFamily="34" charset="0"/>
                <a:ea typeface="Microsoft YaHei" pitchFamily="34" charset="-122"/>
                <a:cs typeface="Microsoft YaHei" pitchFamily="34" charset="-120"/>
              </a:rPr>
              <a:t>关键问题："如果完全没有任何限制，你自己会怎么选"</a:t>
            </a:r>
            <a:endParaRPr lang="en-US" sz="1500" dirty="0"/>
          </a:p>
        </p:txBody>
      </p:sp>
      <p:sp>
        <p:nvSpPr>
          <p:cNvPr id="16" name="Text 14"/>
          <p:cNvSpPr/>
          <p:nvPr/>
        </p:nvSpPr>
        <p:spPr>
          <a:xfrm>
            <a:off x="457200" y="4434840"/>
            <a:ext cx="914400" cy="320040"/>
          </a:xfrm>
          <a:prstGeom prst="rect">
            <a:avLst/>
          </a:prstGeom>
          <a:noFill/>
          <a:ln/>
        </p:spPr>
        <p:txBody>
          <a:bodyPr wrap="square" rtlCol="0" anchor="ctr"/>
          <a:lstStyle/>
          <a:p>
            <a:pPr algn="l" indent="0" marL="0">
              <a:buNone/>
            </a:pPr>
            <a:r>
              <a:rPr lang="en-US" sz="1200" b="1" dirty="0">
                <a:solidFill>
                  <a:srgbClr val="EF233C"/>
                </a:solidFill>
                <a:latin typeface="Microsoft YaHei" pitchFamily="34" charset="0"/>
                <a:ea typeface="Microsoft YaHei" pitchFamily="34" charset="-122"/>
                <a:cs typeface="Microsoft YaHei" pitchFamily="34" charset="-120"/>
              </a:rPr>
              <a:t>案例</a:t>
            </a:r>
            <a:endParaRPr lang="en-US" sz="1200" dirty="0"/>
          </a:p>
        </p:txBody>
      </p:sp>
      <p:sp>
        <p:nvSpPr>
          <p:cNvPr id="17" name="Text 15"/>
          <p:cNvSpPr/>
          <p:nvPr/>
        </p:nvSpPr>
        <p:spPr>
          <a:xfrm>
            <a:off x="1280160" y="4434840"/>
            <a:ext cx="6858000" cy="457200"/>
          </a:xfrm>
          <a:prstGeom prst="rect">
            <a:avLst/>
          </a:prstGeom>
          <a:noFill/>
          <a:ln/>
        </p:spPr>
        <p:txBody>
          <a:bodyPr wrap="square" rtlCol="0" anchor="ctr"/>
          <a:lstStyle/>
          <a:p>
            <a:pPr algn="l" indent="0" marL="0">
              <a:buNone/>
            </a:pPr>
            <a:r>
              <a:rPr lang="en-US" sz="1200" dirty="0">
                <a:solidFill>
                  <a:srgbClr val="8D99AE"/>
                </a:solidFill>
                <a:latin typeface="Microsoft YaHei" pitchFamily="34" charset="0"/>
                <a:ea typeface="Microsoft YaHei" pitchFamily="34" charset="-122"/>
                <a:cs typeface="Microsoft YaHei" pitchFamily="34" charset="-120"/>
              </a:rPr>
              <a:t>一个女生说出了跟父母安排完全不同的方向，只是说"反正说了也没用，习惯了"</a:t>
            </a:r>
            <a:endParaRPr lang="en-US" sz="1200" dirty="0"/>
          </a:p>
        </p:txBody>
      </p:sp>
      <p:sp>
        <p:nvSpPr>
          <p:cNvPr id="18" name="Shape 16"/>
          <p:cNvSpPr/>
          <p:nvPr/>
        </p:nvSpPr>
        <p:spPr>
          <a:xfrm>
            <a:off x="8366760" y="4754880"/>
            <a:ext cx="548640" cy="320040"/>
          </a:xfrm>
          <a:prstGeom prst="roundRect">
            <a:avLst>
              <a:gd name="adj" fmla="val 14286"/>
            </a:avLst>
          </a:prstGeom>
          <a:solidFill>
            <a:srgbClr val="EF233C"/>
          </a:solidFill>
          <a:ln/>
        </p:spPr>
      </p:sp>
      <p:sp>
        <p:nvSpPr>
          <p:cNvPr id="19" name="Text 17"/>
          <p:cNvSpPr/>
          <p:nvPr/>
        </p:nvSpPr>
        <p:spPr>
          <a:xfrm>
            <a:off x="8366760" y="4754880"/>
            <a:ext cx="54864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457200" y="274320"/>
            <a:ext cx="2011680" cy="320040"/>
          </a:xfrm>
          <a:prstGeom prst="roundRect">
            <a:avLst>
              <a:gd name="adj" fmla="val 14286"/>
            </a:avLst>
          </a:prstGeom>
          <a:solidFill>
            <a:srgbClr val="EF233C"/>
          </a:solidFill>
          <a:ln/>
        </p:spPr>
      </p:sp>
      <p:sp>
        <p:nvSpPr>
          <p:cNvPr id="4" name="Text 2"/>
          <p:cNvSpPr/>
          <p:nvPr/>
        </p:nvSpPr>
        <p:spPr>
          <a:xfrm>
            <a:off x="457200" y="274320"/>
            <a:ext cx="2011680" cy="3200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第十一章 · Part 1</a:t>
            </a:r>
            <a:endParaRPr lang="en-US" sz="1200" dirty="0"/>
          </a:p>
        </p:txBody>
      </p:sp>
      <p:sp>
        <p:nvSpPr>
          <p:cNvPr id="5" name="Text 3"/>
          <p:cNvSpPr/>
          <p:nvPr/>
        </p:nvSpPr>
        <p:spPr>
          <a:xfrm>
            <a:off x="457200" y="685800"/>
            <a:ext cx="8229600" cy="548640"/>
          </a:xfrm>
          <a:prstGeom prst="rect">
            <a:avLst/>
          </a:prstGeom>
          <a:noFill/>
          <a:ln/>
        </p:spPr>
        <p:txBody>
          <a:bodyPr wrap="square" rtlCol="0" anchor="ctr"/>
          <a:lstStyle/>
          <a:p>
            <a:pPr algn="l" indent="0" marL="0">
              <a:buNone/>
            </a:pPr>
            <a:r>
              <a:rPr lang="en-US" sz="3000" b="1" dirty="0">
                <a:solidFill>
                  <a:srgbClr val="2B2D42"/>
                </a:solidFill>
                <a:latin typeface="Microsoft YaHei" pitchFamily="34" charset="0"/>
                <a:ea typeface="Microsoft YaHei" pitchFamily="34" charset="-122"/>
                <a:cs typeface="Microsoft YaHei" pitchFamily="34" charset="-120"/>
              </a:rPr>
              <a:t>让人信你的判断</a:t>
            </a:r>
            <a:endParaRPr lang="en-US" sz="3000" dirty="0"/>
          </a:p>
        </p:txBody>
      </p:sp>
      <p:sp>
        <p:nvSpPr>
          <p:cNvPr id="6" name="Text 4"/>
          <p:cNvSpPr/>
          <p:nvPr/>
        </p:nvSpPr>
        <p:spPr>
          <a:xfrm>
            <a:off x="457200" y="1188720"/>
            <a:ext cx="8229600" cy="411480"/>
          </a:xfrm>
          <a:prstGeom prst="rect">
            <a:avLst/>
          </a:prstGeom>
          <a:noFill/>
          <a:ln/>
        </p:spPr>
        <p:txBody>
          <a:bodyPr wrap="square" rtlCol="0" anchor="ctr"/>
          <a:lstStyle/>
          <a:p>
            <a:pPr algn="l" indent="0" marL="0">
              <a:buNone/>
            </a:pPr>
            <a:r>
              <a:rPr lang="en-US" sz="1800" dirty="0">
                <a:solidFill>
                  <a:srgbClr val="8D99AE"/>
                </a:solidFill>
                <a:latin typeface="Microsoft YaHei" pitchFamily="34" charset="0"/>
                <a:ea typeface="Microsoft YaHei" pitchFamily="34" charset="-122"/>
                <a:cs typeface="Microsoft YaHei" pitchFamily="34" charset="-120"/>
              </a:rPr>
              <a:t>案例不是拿来炫耀，是拿来证伪的</a:t>
            </a:r>
            <a:endParaRPr lang="en-US" sz="1800" dirty="0"/>
          </a:p>
        </p:txBody>
      </p:sp>
      <p:sp>
        <p:nvSpPr>
          <p:cNvPr id="7" name="Shape 5"/>
          <p:cNvSpPr/>
          <p:nvPr/>
        </p:nvSpPr>
        <p:spPr>
          <a:xfrm>
            <a:off x="457200" y="1828800"/>
            <a:ext cx="8229600" cy="2011680"/>
          </a:xfrm>
          <a:prstGeom prst="roundRect">
            <a:avLst>
              <a:gd name="adj" fmla="val 6818"/>
            </a:avLst>
          </a:prstGeom>
          <a:solidFill>
            <a:srgbClr val="FFFFFF"/>
          </a:solidFill>
          <a:ln/>
          <a:effectLst>
            <a:outerShdw sx="100000" sy="100000" kx="0" ky="0" algn="bl" rotWithShape="0" blurRad="76200" dist="38100" dir="8100000">
              <a:srgbClr val="000000">
                <a:alpha val="10000"/>
              </a:srgbClr>
            </a:outerShdw>
          </a:effectLst>
        </p:spPr>
      </p:sp>
      <p:sp>
        <p:nvSpPr>
          <p:cNvPr id="8" name="Text 6"/>
          <p:cNvSpPr/>
          <p:nvPr/>
        </p:nvSpPr>
        <p:spPr>
          <a:xfrm>
            <a:off x="640080" y="1920240"/>
            <a:ext cx="914400" cy="914400"/>
          </a:xfrm>
          <a:prstGeom prst="rect">
            <a:avLst/>
          </a:prstGeom>
          <a:noFill/>
          <a:ln/>
        </p:spPr>
        <p:txBody>
          <a:bodyPr wrap="square" rtlCol="0" anchor="t"/>
          <a:lstStyle/>
          <a:p>
            <a:pPr algn="l" indent="0" marL="0">
              <a:buNone/>
            </a:pPr>
            <a:r>
              <a:rPr lang="en-US" sz="7200" dirty="0">
                <a:solidFill>
                  <a:srgbClr val="EF233C"/>
                </a:solidFill>
                <a:latin typeface="Georgia" pitchFamily="34" charset="0"/>
                <a:ea typeface="Georgia" pitchFamily="34" charset="-122"/>
                <a:cs typeface="Georgia" pitchFamily="34" charset="-120"/>
              </a:rPr>
              <a:t>“</a:t>
            </a:r>
            <a:endParaRPr lang="en-US" sz="7200" dirty="0"/>
          </a:p>
        </p:txBody>
      </p:sp>
      <p:sp>
        <p:nvSpPr>
          <p:cNvPr id="9" name="Text 7"/>
          <p:cNvSpPr/>
          <p:nvPr/>
        </p:nvSpPr>
        <p:spPr>
          <a:xfrm>
            <a:off x="914400" y="2377440"/>
            <a:ext cx="7315200" cy="1097280"/>
          </a:xfrm>
          <a:prstGeom prst="rect">
            <a:avLst/>
          </a:prstGeom>
          <a:noFill/>
          <a:ln/>
        </p:spPr>
        <p:txBody>
          <a:bodyPr wrap="square" rtlCol="0" anchor="ctr"/>
          <a:lstStyle/>
          <a:p>
            <a:pPr algn="ctr" indent="0" marL="0">
              <a:buNone/>
            </a:pPr>
            <a:r>
              <a:rPr lang="en-US" sz="2000" b="1" dirty="0">
                <a:solidFill>
                  <a:srgbClr val="2B2D42"/>
                </a:solidFill>
                <a:latin typeface="Microsoft YaHei" pitchFamily="34" charset="0"/>
                <a:ea typeface="Microsoft YaHei" pitchFamily="34" charset="-122"/>
                <a:cs typeface="Microsoft YaHei" pitchFamily="34" charset="-120"/>
              </a:rPr>
              <a:t>讲案例不是为了证明我很厉害，是为了让对面的人有机会当场推翻我，推翻不了，他才真的信。</a:t>
            </a:r>
            <a:endParaRPr lang="en-US" sz="2000" dirty="0"/>
          </a:p>
        </p:txBody>
      </p:sp>
      <p:sp>
        <p:nvSpPr>
          <p:cNvPr id="10" name="Text 8"/>
          <p:cNvSpPr/>
          <p:nvPr/>
        </p:nvSpPr>
        <p:spPr>
          <a:xfrm>
            <a:off x="7772400" y="3200400"/>
            <a:ext cx="914400" cy="914400"/>
          </a:xfrm>
          <a:prstGeom prst="rect">
            <a:avLst/>
          </a:prstGeom>
          <a:noFill/>
          <a:ln/>
        </p:spPr>
        <p:txBody>
          <a:bodyPr wrap="square" rtlCol="0" anchor="b"/>
          <a:lstStyle/>
          <a:p>
            <a:pPr algn="r" indent="0" marL="0">
              <a:buNone/>
            </a:pPr>
            <a:r>
              <a:rPr lang="en-US" sz="7200" dirty="0">
                <a:solidFill>
                  <a:srgbClr val="EF233C"/>
                </a:solidFill>
                <a:latin typeface="Georgia" pitchFamily="34" charset="0"/>
                <a:ea typeface="Georgia" pitchFamily="34" charset="-122"/>
                <a:cs typeface="Georgia" pitchFamily="34" charset="-120"/>
              </a:rPr>
              <a:t>”</a:t>
            </a:r>
            <a:endParaRPr lang="en-US" sz="7200" dirty="0"/>
          </a:p>
        </p:txBody>
      </p:sp>
      <p:sp>
        <p:nvSpPr>
          <p:cNvPr id="11" name="Shape 9"/>
          <p:cNvSpPr/>
          <p:nvPr/>
        </p:nvSpPr>
        <p:spPr>
          <a:xfrm>
            <a:off x="457200" y="4023360"/>
            <a:ext cx="8229600" cy="777240"/>
          </a:xfrm>
          <a:prstGeom prst="roundRect">
            <a:avLst>
              <a:gd name="adj" fmla="val 9412"/>
            </a:avLst>
          </a:prstGeom>
          <a:solidFill>
            <a:srgbClr val="EDF2F4"/>
          </a:solidFill>
          <a:ln/>
        </p:spPr>
      </p:sp>
      <p:sp>
        <p:nvSpPr>
          <p:cNvPr id="12" name="Text 10"/>
          <p:cNvSpPr/>
          <p:nvPr/>
        </p:nvSpPr>
        <p:spPr>
          <a:xfrm>
            <a:off x="640080" y="4023360"/>
            <a:ext cx="7863840" cy="777240"/>
          </a:xfrm>
          <a:prstGeom prst="rect">
            <a:avLst/>
          </a:prstGeom>
          <a:noFill/>
          <a:ln/>
        </p:spPr>
        <p:txBody>
          <a:bodyPr wrap="square" rtlCol="0" anchor="ctr"/>
          <a:lstStyle/>
          <a:p>
            <a:pPr algn="ctr" indent="0" marL="0">
              <a:buNone/>
            </a:pPr>
            <a:r>
              <a:rPr lang="en-US" sz="1400" dirty="0">
                <a:solidFill>
                  <a:srgbClr val="2B2D42"/>
                </a:solidFill>
                <a:latin typeface="Microsoft YaHei" pitchFamily="34" charset="0"/>
                <a:ea typeface="Microsoft YaHei" pitchFamily="34" charset="-122"/>
                <a:cs typeface="Microsoft YaHei" pitchFamily="34" charset="-120"/>
              </a:rPr>
              <a:t>证伪思维：用案例邀请对方质疑，而不是要求对方接受</a:t>
            </a:r>
            <a:endParaRPr lang="en-US" sz="1400" dirty="0"/>
          </a:p>
        </p:txBody>
      </p:sp>
      <p:sp>
        <p:nvSpPr>
          <p:cNvPr id="13" name="Shape 11"/>
          <p:cNvSpPr/>
          <p:nvPr/>
        </p:nvSpPr>
        <p:spPr>
          <a:xfrm>
            <a:off x="8366760" y="4754880"/>
            <a:ext cx="548640" cy="320040"/>
          </a:xfrm>
          <a:prstGeom prst="roundRect">
            <a:avLst>
              <a:gd name="adj" fmla="val 14286"/>
            </a:avLst>
          </a:prstGeom>
          <a:solidFill>
            <a:srgbClr val="EF233C"/>
          </a:solidFill>
          <a:ln/>
        </p:spPr>
      </p:sp>
      <p:sp>
        <p:nvSpPr>
          <p:cNvPr id="14" name="Text 12"/>
          <p:cNvSpPr/>
          <p:nvPr/>
        </p:nvSpPr>
        <p:spPr>
          <a:xfrm>
            <a:off x="8366760" y="4754880"/>
            <a:ext cx="54864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457200" y="274320"/>
            <a:ext cx="2011680" cy="320040"/>
          </a:xfrm>
          <a:prstGeom prst="roundRect">
            <a:avLst>
              <a:gd name="adj" fmla="val 14286"/>
            </a:avLst>
          </a:prstGeom>
          <a:solidFill>
            <a:srgbClr val="EF233C"/>
          </a:solidFill>
          <a:ln/>
        </p:spPr>
      </p:sp>
      <p:sp>
        <p:nvSpPr>
          <p:cNvPr id="4" name="Text 2"/>
          <p:cNvSpPr/>
          <p:nvPr/>
        </p:nvSpPr>
        <p:spPr>
          <a:xfrm>
            <a:off x="457200" y="274320"/>
            <a:ext cx="2011680" cy="3200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第十一章 · Part 2</a:t>
            </a:r>
            <a:endParaRPr lang="en-US" sz="1200" dirty="0"/>
          </a:p>
        </p:txBody>
      </p:sp>
      <p:sp>
        <p:nvSpPr>
          <p:cNvPr id="5" name="Text 3"/>
          <p:cNvSpPr/>
          <p:nvPr/>
        </p:nvSpPr>
        <p:spPr>
          <a:xfrm>
            <a:off x="457200" y="685800"/>
            <a:ext cx="8229600" cy="502920"/>
          </a:xfrm>
          <a:prstGeom prst="rect">
            <a:avLst/>
          </a:prstGeom>
          <a:noFill/>
          <a:ln/>
        </p:spPr>
        <p:txBody>
          <a:bodyPr wrap="square" rtlCol="0" anchor="ctr"/>
          <a:lstStyle/>
          <a:p>
            <a:pPr algn="l" indent="0" marL="0">
              <a:buNone/>
            </a:pPr>
            <a:r>
              <a:rPr lang="en-US" sz="2800" b="1" dirty="0">
                <a:solidFill>
                  <a:srgbClr val="2B2D42"/>
                </a:solidFill>
                <a:latin typeface="Microsoft YaHei" pitchFamily="34" charset="0"/>
                <a:ea typeface="Microsoft YaHei" pitchFamily="34" charset="-122"/>
                <a:cs typeface="Microsoft YaHei" pitchFamily="34" charset="-120"/>
              </a:rPr>
              <a:t>证伪式讲案例</a:t>
            </a:r>
            <a:endParaRPr lang="en-US" sz="2800" dirty="0"/>
          </a:p>
        </p:txBody>
      </p:sp>
      <p:sp>
        <p:nvSpPr>
          <p:cNvPr id="6" name="Text 4"/>
          <p:cNvSpPr/>
          <p:nvPr/>
        </p:nvSpPr>
        <p:spPr>
          <a:xfrm>
            <a:off x="457200" y="1280160"/>
            <a:ext cx="8229600" cy="411480"/>
          </a:xfrm>
          <a:prstGeom prst="rect">
            <a:avLst/>
          </a:prstGeom>
          <a:noFill/>
          <a:ln/>
        </p:spPr>
        <p:txBody>
          <a:bodyPr wrap="square" rtlCol="0" anchor="ctr"/>
          <a:lstStyle/>
          <a:p>
            <a:pPr algn="l" indent="0" marL="0">
              <a:buNone/>
            </a:pPr>
            <a:r>
              <a:rPr lang="en-US" sz="1600" b="1" dirty="0">
                <a:solidFill>
                  <a:srgbClr val="2B2D42"/>
                </a:solidFill>
                <a:latin typeface="Microsoft YaHei" pitchFamily="34" charset="0"/>
                <a:ea typeface="Microsoft YaHei" pitchFamily="34" charset="-122"/>
                <a:cs typeface="Microsoft YaHei" pitchFamily="34" charset="-120"/>
              </a:rPr>
              <a:t>我的方法：不只讲结果好</a:t>
            </a:r>
            <a:endParaRPr lang="en-US" sz="1600" dirty="0"/>
          </a:p>
        </p:txBody>
      </p:sp>
      <p:sp>
        <p:nvSpPr>
          <p:cNvPr id="7" name="Shape 5"/>
          <p:cNvSpPr/>
          <p:nvPr/>
        </p:nvSpPr>
        <p:spPr>
          <a:xfrm>
            <a:off x="457200" y="1783080"/>
            <a:ext cx="5029200" cy="548640"/>
          </a:xfrm>
          <a:prstGeom prst="roundRect">
            <a:avLst>
              <a:gd name="adj" fmla="val 10000"/>
            </a:avLst>
          </a:prstGeom>
          <a:solidFill>
            <a:srgbClr val="FFFFFF"/>
          </a:solidFill>
          <a:ln/>
          <a:effectLst>
            <a:outerShdw sx="100000" sy="100000" kx="0" ky="0" algn="bl" rotWithShape="0" blurRad="25400" dist="12700" dir="8100000">
              <a:srgbClr val="000000">
                <a:alpha val="5000"/>
              </a:srgbClr>
            </a:outerShdw>
          </a:effectLst>
        </p:spPr>
      </p:sp>
      <p:sp>
        <p:nvSpPr>
          <p:cNvPr id="8" name="Shape 6"/>
          <p:cNvSpPr/>
          <p:nvPr/>
        </p:nvSpPr>
        <p:spPr>
          <a:xfrm>
            <a:off x="594360" y="1874520"/>
            <a:ext cx="365760" cy="365760"/>
          </a:xfrm>
          <a:prstGeom prst="ellipse">
            <a:avLst/>
          </a:prstGeom>
          <a:solidFill>
            <a:srgbClr val="EF233C"/>
          </a:solidFill>
          <a:ln/>
        </p:spPr>
      </p:sp>
      <p:sp>
        <p:nvSpPr>
          <p:cNvPr id="9" name="Text 7"/>
          <p:cNvSpPr/>
          <p:nvPr/>
        </p:nvSpPr>
        <p:spPr>
          <a:xfrm>
            <a:off x="594360" y="187452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0" name="Text 8"/>
          <p:cNvSpPr/>
          <p:nvPr/>
        </p:nvSpPr>
        <p:spPr>
          <a:xfrm>
            <a:off x="1097280" y="1783080"/>
            <a:ext cx="4206240" cy="548640"/>
          </a:xfrm>
          <a:prstGeom prst="rect">
            <a:avLst/>
          </a:prstGeom>
          <a:noFill/>
          <a:ln/>
        </p:spPr>
        <p:txBody>
          <a:bodyPr wrap="square" rtlCol="0" anchor="ctr"/>
          <a:lstStyle/>
          <a:p>
            <a:pPr algn="l" indent="0" marL="0">
              <a:buNone/>
            </a:pPr>
            <a:r>
              <a:rPr lang="en-US" sz="1300" dirty="0">
                <a:solidFill>
                  <a:srgbClr val="2B2D42"/>
                </a:solidFill>
                <a:latin typeface="Microsoft YaHei" pitchFamily="34" charset="0"/>
                <a:ea typeface="Microsoft YaHei" pitchFamily="34" charset="-122"/>
                <a:cs typeface="Microsoft YaHei" pitchFamily="34" charset="-120"/>
              </a:rPr>
              <a:t>把判断错的地方讲出来</a:t>
            </a:r>
            <a:endParaRPr lang="en-US" sz="1300" dirty="0"/>
          </a:p>
        </p:txBody>
      </p:sp>
      <p:sp>
        <p:nvSpPr>
          <p:cNvPr id="11" name="Shape 9"/>
          <p:cNvSpPr/>
          <p:nvPr/>
        </p:nvSpPr>
        <p:spPr>
          <a:xfrm>
            <a:off x="457200" y="2423160"/>
            <a:ext cx="5029200" cy="548640"/>
          </a:xfrm>
          <a:prstGeom prst="roundRect">
            <a:avLst>
              <a:gd name="adj" fmla="val 10000"/>
            </a:avLst>
          </a:prstGeom>
          <a:solidFill>
            <a:srgbClr val="FFFFFF"/>
          </a:solidFill>
          <a:ln/>
          <a:effectLst>
            <a:outerShdw sx="100000" sy="100000" kx="0" ky="0" algn="bl" rotWithShape="0" blurRad="25400" dist="12700" dir="8100000">
              <a:srgbClr val="000000">
                <a:alpha val="5000"/>
              </a:srgbClr>
            </a:outerShdw>
          </a:effectLst>
        </p:spPr>
      </p:sp>
      <p:sp>
        <p:nvSpPr>
          <p:cNvPr id="12" name="Shape 10"/>
          <p:cNvSpPr/>
          <p:nvPr/>
        </p:nvSpPr>
        <p:spPr>
          <a:xfrm>
            <a:off x="594360" y="2514600"/>
            <a:ext cx="365760" cy="365760"/>
          </a:xfrm>
          <a:prstGeom prst="ellipse">
            <a:avLst/>
          </a:prstGeom>
          <a:solidFill>
            <a:srgbClr val="EF233C"/>
          </a:solidFill>
          <a:ln/>
        </p:spPr>
      </p:sp>
      <p:sp>
        <p:nvSpPr>
          <p:cNvPr id="13" name="Text 11"/>
          <p:cNvSpPr/>
          <p:nvPr/>
        </p:nvSpPr>
        <p:spPr>
          <a:xfrm>
            <a:off x="594360" y="251460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4" name="Text 12"/>
          <p:cNvSpPr/>
          <p:nvPr/>
        </p:nvSpPr>
        <p:spPr>
          <a:xfrm>
            <a:off x="1097280" y="2423160"/>
            <a:ext cx="4206240" cy="548640"/>
          </a:xfrm>
          <a:prstGeom prst="rect">
            <a:avLst/>
          </a:prstGeom>
          <a:noFill/>
          <a:ln/>
        </p:spPr>
        <p:txBody>
          <a:bodyPr wrap="square" rtlCol="0" anchor="ctr"/>
          <a:lstStyle/>
          <a:p>
            <a:pPr algn="l" indent="0" marL="0">
              <a:buNone/>
            </a:pPr>
            <a:r>
              <a:rPr lang="en-US" sz="1300" dirty="0">
                <a:solidFill>
                  <a:srgbClr val="2B2D42"/>
                </a:solidFill>
                <a:latin typeface="Microsoft YaHei" pitchFamily="34" charset="0"/>
                <a:ea typeface="Microsoft YaHei" pitchFamily="34" charset="-122"/>
                <a:cs typeface="Microsoft YaHei" pitchFamily="34" charset="-120"/>
              </a:rPr>
              <a:t>把犹豫过的地方讲出来</a:t>
            </a:r>
            <a:endParaRPr lang="en-US" sz="1300" dirty="0"/>
          </a:p>
        </p:txBody>
      </p:sp>
      <p:sp>
        <p:nvSpPr>
          <p:cNvPr id="15" name="Shape 13"/>
          <p:cNvSpPr/>
          <p:nvPr/>
        </p:nvSpPr>
        <p:spPr>
          <a:xfrm>
            <a:off x="457200" y="3063240"/>
            <a:ext cx="5029200" cy="548640"/>
          </a:xfrm>
          <a:prstGeom prst="roundRect">
            <a:avLst>
              <a:gd name="adj" fmla="val 10000"/>
            </a:avLst>
          </a:prstGeom>
          <a:solidFill>
            <a:srgbClr val="FFFFFF"/>
          </a:solidFill>
          <a:ln/>
          <a:effectLst>
            <a:outerShdw sx="100000" sy="100000" kx="0" ky="0" algn="bl" rotWithShape="0" blurRad="25400" dist="12700" dir="8100000">
              <a:srgbClr val="000000">
                <a:alpha val="5000"/>
              </a:srgbClr>
            </a:outerShdw>
          </a:effectLst>
        </p:spPr>
      </p:sp>
      <p:sp>
        <p:nvSpPr>
          <p:cNvPr id="16" name="Shape 14"/>
          <p:cNvSpPr/>
          <p:nvPr/>
        </p:nvSpPr>
        <p:spPr>
          <a:xfrm>
            <a:off x="594360" y="3154680"/>
            <a:ext cx="365760" cy="365760"/>
          </a:xfrm>
          <a:prstGeom prst="ellipse">
            <a:avLst/>
          </a:prstGeom>
          <a:solidFill>
            <a:srgbClr val="EF233C"/>
          </a:solidFill>
          <a:ln/>
        </p:spPr>
      </p:sp>
      <p:sp>
        <p:nvSpPr>
          <p:cNvPr id="17" name="Text 15"/>
          <p:cNvSpPr/>
          <p:nvPr/>
        </p:nvSpPr>
        <p:spPr>
          <a:xfrm>
            <a:off x="594360" y="315468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8" name="Text 16"/>
          <p:cNvSpPr/>
          <p:nvPr/>
        </p:nvSpPr>
        <p:spPr>
          <a:xfrm>
            <a:off x="1097280" y="3063240"/>
            <a:ext cx="4206240" cy="548640"/>
          </a:xfrm>
          <a:prstGeom prst="rect">
            <a:avLst/>
          </a:prstGeom>
          <a:noFill/>
          <a:ln/>
        </p:spPr>
        <p:txBody>
          <a:bodyPr wrap="square" rtlCol="0" anchor="ctr"/>
          <a:lstStyle/>
          <a:p>
            <a:pPr algn="l" indent="0" marL="0">
              <a:buNone/>
            </a:pPr>
            <a:r>
              <a:rPr lang="en-US" sz="1300" dirty="0">
                <a:solidFill>
                  <a:srgbClr val="2B2D42"/>
                </a:solidFill>
                <a:latin typeface="Microsoft YaHei" pitchFamily="34" charset="0"/>
                <a:ea typeface="Microsoft YaHei" pitchFamily="34" charset="-122"/>
                <a:cs typeface="Microsoft YaHei" pitchFamily="34" charset="-120"/>
              </a:rPr>
              <a:t>把当时没考虑周全后来补救的地方讲出来</a:t>
            </a:r>
            <a:endParaRPr lang="en-US" sz="1300" dirty="0"/>
          </a:p>
        </p:txBody>
      </p:sp>
      <p:sp>
        <p:nvSpPr>
          <p:cNvPr id="19" name="Shape 17"/>
          <p:cNvSpPr/>
          <p:nvPr/>
        </p:nvSpPr>
        <p:spPr>
          <a:xfrm>
            <a:off x="457200" y="3749040"/>
            <a:ext cx="5029200" cy="548640"/>
          </a:xfrm>
          <a:prstGeom prst="roundRect">
            <a:avLst>
              <a:gd name="adj" fmla="val 10000"/>
            </a:avLst>
          </a:prstGeom>
          <a:solidFill>
            <a:srgbClr val="EDF2F4"/>
          </a:solidFill>
          <a:ln/>
        </p:spPr>
      </p:sp>
      <p:sp>
        <p:nvSpPr>
          <p:cNvPr id="20" name="Text 18"/>
          <p:cNvSpPr/>
          <p:nvPr/>
        </p:nvSpPr>
        <p:spPr>
          <a:xfrm>
            <a:off x="640080" y="3749040"/>
            <a:ext cx="4663440" cy="548640"/>
          </a:xfrm>
          <a:prstGeom prst="rect">
            <a:avLst/>
          </a:prstGeom>
          <a:noFill/>
          <a:ln/>
        </p:spPr>
        <p:txBody>
          <a:bodyPr wrap="square" rtlCol="0" anchor="ctr"/>
          <a:lstStyle/>
          <a:p>
            <a:pPr algn="l" indent="0" marL="0">
              <a:buNone/>
            </a:pPr>
            <a:r>
              <a:rPr lang="en-US" sz="1300" dirty="0">
                <a:solidFill>
                  <a:srgbClr val="8D99AE"/>
                </a:solidFill>
                <a:latin typeface="Microsoft YaHei" pitchFamily="34" charset="0"/>
                <a:ea typeface="Microsoft YaHei" pitchFamily="34" charset="-122"/>
                <a:cs typeface="Microsoft YaHei" pitchFamily="34" charset="-120"/>
              </a:rPr>
              <a:t>甚至主动讲一些当时没做好的地方</a:t>
            </a:r>
            <a:endParaRPr lang="en-US" sz="1300" dirty="0"/>
          </a:p>
        </p:txBody>
      </p:sp>
      <p:sp>
        <p:nvSpPr>
          <p:cNvPr id="21" name="Shape 19"/>
          <p:cNvSpPr/>
          <p:nvPr/>
        </p:nvSpPr>
        <p:spPr>
          <a:xfrm>
            <a:off x="5669280" y="1280160"/>
            <a:ext cx="3017520" cy="3017520"/>
          </a:xfrm>
          <a:prstGeom prst="roundRect">
            <a:avLst>
              <a:gd name="adj" fmla="val 3636"/>
            </a:avLst>
          </a:prstGeom>
          <a:solidFill>
            <a:srgbClr val="FFFFFF"/>
          </a:solidFill>
          <a:ln w="25400">
            <a:solidFill>
              <a:srgbClr val="2B2D42"/>
            </a:solidFill>
            <a:prstDash val="solid"/>
          </a:ln>
        </p:spPr>
      </p:sp>
      <p:sp>
        <p:nvSpPr>
          <p:cNvPr id="22" name="Shape 20"/>
          <p:cNvSpPr/>
          <p:nvPr/>
        </p:nvSpPr>
        <p:spPr>
          <a:xfrm>
            <a:off x="5669280" y="1280160"/>
            <a:ext cx="3017520" cy="502920"/>
          </a:xfrm>
          <a:prstGeom prst="rect">
            <a:avLst/>
          </a:prstGeom>
          <a:solidFill>
            <a:srgbClr val="2B2D42"/>
          </a:solidFill>
          <a:ln/>
        </p:spPr>
      </p:sp>
      <p:sp>
        <p:nvSpPr>
          <p:cNvPr id="23" name="Text 21"/>
          <p:cNvSpPr/>
          <p:nvPr/>
        </p:nvSpPr>
        <p:spPr>
          <a:xfrm>
            <a:off x="5669280" y="1280160"/>
            <a:ext cx="3017520" cy="50292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关键做法</a:t>
            </a:r>
            <a:endParaRPr lang="en-US" sz="1400" dirty="0"/>
          </a:p>
        </p:txBody>
      </p:sp>
      <p:sp>
        <p:nvSpPr>
          <p:cNvPr id="24" name="Text 22"/>
          <p:cNvSpPr/>
          <p:nvPr/>
        </p:nvSpPr>
        <p:spPr>
          <a:xfrm>
            <a:off x="5852160" y="1920240"/>
            <a:ext cx="2651760" cy="365760"/>
          </a:xfrm>
          <a:prstGeom prst="rect">
            <a:avLst/>
          </a:prstGeom>
          <a:noFill/>
          <a:ln/>
        </p:spPr>
        <p:txBody>
          <a:bodyPr wrap="square" rtlCol="0" anchor="ctr"/>
          <a:lstStyle/>
          <a:p>
            <a:pPr algn="l" indent="0" marL="0">
              <a:buNone/>
            </a:pPr>
            <a:r>
              <a:rPr lang="en-US" sz="1200" dirty="0">
                <a:solidFill>
                  <a:srgbClr val="8D99AE"/>
                </a:solidFill>
                <a:latin typeface="Microsoft YaHei" pitchFamily="34" charset="0"/>
                <a:ea typeface="Microsoft YaHei" pitchFamily="34" charset="-122"/>
                <a:cs typeface="Microsoft YaHei" pitchFamily="34" charset="-120"/>
              </a:rPr>
              <a:t>讲完会说：</a:t>
            </a:r>
            <a:endParaRPr lang="en-US" sz="1200" dirty="0"/>
          </a:p>
        </p:txBody>
      </p:sp>
      <p:sp>
        <p:nvSpPr>
          <p:cNvPr id="25" name="Text 23"/>
          <p:cNvSpPr/>
          <p:nvPr/>
        </p:nvSpPr>
        <p:spPr>
          <a:xfrm>
            <a:off x="5852160" y="2286000"/>
            <a:ext cx="2651760" cy="1005840"/>
          </a:xfrm>
          <a:prstGeom prst="rect">
            <a:avLst/>
          </a:prstGeom>
          <a:noFill/>
          <a:ln/>
        </p:spPr>
        <p:txBody>
          <a:bodyPr wrap="square" rtlCol="0" anchor="t"/>
          <a:lstStyle/>
          <a:p>
            <a:pPr algn="l" indent="0" marL="0">
              <a:buNone/>
            </a:pPr>
            <a:r>
              <a:rPr lang="en-US" sz="1200" dirty="0">
                <a:solidFill>
                  <a:srgbClr val="2B2D42"/>
                </a:solidFill>
                <a:latin typeface="Microsoft YaHei" pitchFamily="34" charset="0"/>
                <a:ea typeface="Microsoft YaHei" pitchFamily="34" charset="-122"/>
                <a:cs typeface="Microsoft YaHei" pitchFamily="34" charset="-120"/>
              </a:rPr>
              <a:t>"您可以随便问，这个案例里但凡有说不通的地方，您尽管指出来"</a:t>
            </a:r>
            <a:endParaRPr lang="en-US" sz="1200" dirty="0"/>
          </a:p>
        </p:txBody>
      </p:sp>
      <p:sp>
        <p:nvSpPr>
          <p:cNvPr id="26" name="Shape 24"/>
          <p:cNvSpPr/>
          <p:nvPr/>
        </p:nvSpPr>
        <p:spPr>
          <a:xfrm>
            <a:off x="5852160" y="3383280"/>
            <a:ext cx="2651760" cy="777240"/>
          </a:xfrm>
          <a:prstGeom prst="roundRect">
            <a:avLst>
              <a:gd name="adj" fmla="val 7059"/>
            </a:avLst>
          </a:prstGeom>
          <a:solidFill>
            <a:srgbClr val="EDF2F4"/>
          </a:solidFill>
          <a:ln/>
        </p:spPr>
      </p:sp>
      <p:sp>
        <p:nvSpPr>
          <p:cNvPr id="27" name="Text 25"/>
          <p:cNvSpPr/>
          <p:nvPr/>
        </p:nvSpPr>
        <p:spPr>
          <a:xfrm>
            <a:off x="5943600" y="3429000"/>
            <a:ext cx="2468880" cy="685800"/>
          </a:xfrm>
          <a:prstGeom prst="rect">
            <a:avLst/>
          </a:prstGeom>
          <a:noFill/>
          <a:ln/>
        </p:spPr>
        <p:txBody>
          <a:bodyPr wrap="square" rtlCol="0" anchor="ctr"/>
          <a:lstStyle/>
          <a:p>
            <a:pPr algn="l" indent="0" marL="0">
              <a:buNone/>
            </a:pPr>
            <a:r>
              <a:rPr lang="en-US" sz="1100" dirty="0">
                <a:solidFill>
                  <a:srgbClr val="2B2D42"/>
                </a:solidFill>
                <a:latin typeface="Microsoft YaHei" pitchFamily="34" charset="0"/>
                <a:ea typeface="Microsoft YaHei" pitchFamily="34" charset="-122"/>
                <a:cs typeface="Microsoft YaHei" pitchFamily="34" charset="-120"/>
              </a:rPr>
              <a:t>这种坦诚，比一个滴水不漏的成功故事更让人信服</a:t>
            </a:r>
            <a:endParaRPr lang="en-US" sz="1100" dirty="0"/>
          </a:p>
        </p:txBody>
      </p:sp>
      <p:sp>
        <p:nvSpPr>
          <p:cNvPr id="28" name="Shape 26"/>
          <p:cNvSpPr/>
          <p:nvPr/>
        </p:nvSpPr>
        <p:spPr>
          <a:xfrm>
            <a:off x="8366760" y="4754880"/>
            <a:ext cx="548640" cy="320040"/>
          </a:xfrm>
          <a:prstGeom prst="roundRect">
            <a:avLst>
              <a:gd name="adj" fmla="val 14286"/>
            </a:avLst>
          </a:prstGeom>
          <a:solidFill>
            <a:srgbClr val="EF233C"/>
          </a:solidFill>
          <a:ln/>
        </p:spPr>
      </p:sp>
      <p:sp>
        <p:nvSpPr>
          <p:cNvPr id="29" name="Text 27"/>
          <p:cNvSpPr/>
          <p:nvPr/>
        </p:nvSpPr>
        <p:spPr>
          <a:xfrm>
            <a:off x="8366760" y="4754880"/>
            <a:ext cx="54864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Shape 1"/>
          <p:cNvSpPr/>
          <p:nvPr/>
        </p:nvSpPr>
        <p:spPr>
          <a:xfrm>
            <a:off x="8412480" y="274320"/>
            <a:ext cx="457200" cy="457200"/>
          </a:xfrm>
          <a:prstGeom prst="rect">
            <a:avLst/>
          </a:prstGeom>
          <a:solidFill>
            <a:srgbClr val="2B2D42"/>
          </a:solidFill>
          <a:ln/>
        </p:spPr>
      </p:sp>
      <p:sp>
        <p:nvSpPr>
          <p:cNvPr id="4" name="Text 2"/>
          <p:cNvSpPr/>
          <p:nvPr/>
        </p:nvSpPr>
        <p:spPr>
          <a:xfrm>
            <a:off x="8412480" y="27432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51</a:t>
            </a:r>
            <a:endParaRPr lang="en-US" sz="1400" dirty="0"/>
          </a:p>
        </p:txBody>
      </p:sp>
      <p:sp>
        <p:nvSpPr>
          <p:cNvPr id="5" name="Text 3"/>
          <p:cNvSpPr/>
          <p:nvPr/>
        </p:nvSpPr>
        <p:spPr>
          <a:xfrm>
            <a:off x="457200" y="320040"/>
            <a:ext cx="7772400" cy="54864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案例检验法</a:t>
            </a:r>
            <a:endParaRPr lang="en-US" sz="3200" dirty="0"/>
          </a:p>
        </p:txBody>
      </p:sp>
      <p:sp>
        <p:nvSpPr>
          <p:cNvPr id="6" name="Shape 4"/>
          <p:cNvSpPr/>
          <p:nvPr/>
        </p:nvSpPr>
        <p:spPr>
          <a:xfrm>
            <a:off x="457200" y="868680"/>
            <a:ext cx="1371600" cy="54864"/>
          </a:xfrm>
          <a:prstGeom prst="rect">
            <a:avLst/>
          </a:prstGeom>
          <a:solidFill>
            <a:srgbClr val="EF233C"/>
          </a:solidFill>
          <a:ln/>
        </p:spPr>
      </p:sp>
      <p:sp>
        <p:nvSpPr>
          <p:cNvPr id="7" name="Shape 5"/>
          <p:cNvSpPr/>
          <p:nvPr/>
        </p:nvSpPr>
        <p:spPr>
          <a:xfrm>
            <a:off x="457200" y="1097280"/>
            <a:ext cx="8229600" cy="914400"/>
          </a:xfrm>
          <a:prstGeom prst="roundRect">
            <a:avLst>
              <a:gd name="adj" fmla="val 8000"/>
            </a:avLst>
          </a:prstGeom>
          <a:solidFill>
            <a:srgbClr val="EDF2F4"/>
          </a:solidFill>
          <a:ln/>
        </p:spPr>
      </p:sp>
      <p:sp>
        <p:nvSpPr>
          <p:cNvPr id="8" name="Text 6"/>
          <p:cNvSpPr/>
          <p:nvPr/>
        </p:nvSpPr>
        <p:spPr>
          <a:xfrm>
            <a:off x="640080" y="1188720"/>
            <a:ext cx="7863840" cy="365760"/>
          </a:xfrm>
          <a:prstGeom prst="rect">
            <a:avLst/>
          </a:prstGeom>
          <a:noFill/>
          <a:ln/>
        </p:spPr>
        <p:txBody>
          <a:bodyPr wrap="square" rtlCol="0" anchor="ctr"/>
          <a:lstStyle/>
          <a:p>
            <a:pPr indent="0" marL="0">
              <a:buNone/>
            </a:pPr>
            <a:r>
              <a:rPr lang="en-US" sz="1600" dirty="0">
                <a:solidFill>
                  <a:srgbClr val="8D99AE"/>
                </a:solidFill>
                <a:latin typeface="Microsoft YaHei" pitchFamily="34" charset="0"/>
                <a:ea typeface="Microsoft YaHei" pitchFamily="34" charset="-122"/>
                <a:cs typeface="Microsoft YaHei" pitchFamily="34" charset="-120"/>
              </a:rPr>
              <a:t>讲这个案例之前先问自己：</a:t>
            </a:r>
            <a:endParaRPr lang="en-US" sz="1600" dirty="0"/>
          </a:p>
        </p:txBody>
      </p:sp>
      <p:sp>
        <p:nvSpPr>
          <p:cNvPr id="9" name="Text 7"/>
          <p:cNvSpPr/>
          <p:nvPr/>
        </p:nvSpPr>
        <p:spPr>
          <a:xfrm>
            <a:off x="640080" y="1554480"/>
            <a:ext cx="7863840" cy="365760"/>
          </a:xfrm>
          <a:prstGeom prst="rect">
            <a:avLst/>
          </a:prstGeom>
          <a:noFill/>
          <a:ln/>
        </p:spPr>
        <p:txBody>
          <a:bodyPr wrap="square" rtlCol="0" anchor="ctr"/>
          <a:lstStyle/>
          <a:p>
            <a:pPr indent="0" marL="0">
              <a:buNone/>
            </a:pPr>
            <a:r>
              <a:rPr lang="en-US" sz="1800" b="1" dirty="0">
                <a:solidFill>
                  <a:srgbClr val="2B2D42"/>
                </a:solidFill>
                <a:latin typeface="Microsoft YaHei" pitchFamily="34" charset="0"/>
                <a:ea typeface="Microsoft YaHei" pitchFamily="34" charset="-122"/>
                <a:cs typeface="Microsoft YaHei" pitchFamily="34" charset="-120"/>
              </a:rPr>
              <a:t>拿掉这个案例，我刚才那个判断还站得住脚吗？</a:t>
            </a:r>
            <a:endParaRPr lang="en-US" sz="1800" dirty="0"/>
          </a:p>
        </p:txBody>
      </p:sp>
      <p:sp>
        <p:nvSpPr>
          <p:cNvPr id="10" name="Shape 8"/>
          <p:cNvSpPr/>
          <p:nvPr/>
        </p:nvSpPr>
        <p:spPr>
          <a:xfrm>
            <a:off x="640080" y="2286000"/>
            <a:ext cx="457200" cy="457200"/>
          </a:xfrm>
          <a:prstGeom prst="ellipse">
            <a:avLst/>
          </a:prstGeom>
          <a:solidFill>
            <a:srgbClr val="8D99AE"/>
          </a:solidFill>
          <a:ln/>
        </p:spPr>
      </p:sp>
      <p:sp>
        <p:nvSpPr>
          <p:cNvPr id="11" name="Text 9"/>
          <p:cNvSpPr/>
          <p:nvPr/>
        </p:nvSpPr>
        <p:spPr>
          <a:xfrm>
            <a:off x="640080" y="228600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YES</a:t>
            </a:r>
            <a:endParaRPr lang="en-US" sz="1400" dirty="0"/>
          </a:p>
        </p:txBody>
      </p:sp>
      <p:sp>
        <p:nvSpPr>
          <p:cNvPr id="12" name="Text 10"/>
          <p:cNvSpPr/>
          <p:nvPr/>
        </p:nvSpPr>
        <p:spPr>
          <a:xfrm>
            <a:off x="1280160" y="2286000"/>
            <a:ext cx="7315200" cy="457200"/>
          </a:xfrm>
          <a:prstGeom prst="rect">
            <a:avLst/>
          </a:prstGeom>
          <a:noFill/>
          <a:ln/>
        </p:spPr>
        <p:txBody>
          <a:bodyPr wrap="square" rtlCol="0" anchor="ctr"/>
          <a:lstStyle/>
          <a:p>
            <a:pPr indent="0" marL="0">
              <a:buNone/>
            </a:pPr>
            <a:r>
              <a:rPr lang="en-US" sz="1500" dirty="0">
                <a:solidFill>
                  <a:srgbClr val="8D99AE"/>
                </a:solidFill>
                <a:latin typeface="Microsoft YaHei" pitchFamily="34" charset="0"/>
                <a:ea typeface="Microsoft YaHei" pitchFamily="34" charset="-122"/>
                <a:cs typeface="Microsoft YaHei" pitchFamily="34" charset="-120"/>
              </a:rPr>
              <a:t>说明这个案例只是个装饰，是拿来让谈话更生动的，不讲也没关系</a:t>
            </a:r>
            <a:endParaRPr lang="en-US" sz="1500" dirty="0"/>
          </a:p>
        </p:txBody>
      </p:sp>
      <p:sp>
        <p:nvSpPr>
          <p:cNvPr id="13" name="Shape 11"/>
          <p:cNvSpPr/>
          <p:nvPr/>
        </p:nvSpPr>
        <p:spPr>
          <a:xfrm>
            <a:off x="457200" y="2926080"/>
            <a:ext cx="8229600" cy="18288"/>
          </a:xfrm>
          <a:prstGeom prst="rect">
            <a:avLst/>
          </a:prstGeom>
          <a:solidFill>
            <a:srgbClr val="EDF2F4"/>
          </a:solidFill>
          <a:ln/>
        </p:spPr>
      </p:sp>
      <p:sp>
        <p:nvSpPr>
          <p:cNvPr id="14" name="Shape 12"/>
          <p:cNvSpPr/>
          <p:nvPr/>
        </p:nvSpPr>
        <p:spPr>
          <a:xfrm>
            <a:off x="640080" y="3154680"/>
            <a:ext cx="457200" cy="457200"/>
          </a:xfrm>
          <a:prstGeom prst="ellipse">
            <a:avLst/>
          </a:prstGeom>
          <a:solidFill>
            <a:srgbClr val="EF233C"/>
          </a:solidFill>
          <a:ln/>
        </p:spPr>
      </p:sp>
      <p:sp>
        <p:nvSpPr>
          <p:cNvPr id="15" name="Text 13"/>
          <p:cNvSpPr/>
          <p:nvPr/>
        </p:nvSpPr>
        <p:spPr>
          <a:xfrm>
            <a:off x="640080" y="31546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NO</a:t>
            </a:r>
            <a:endParaRPr lang="en-US" sz="1400" dirty="0"/>
          </a:p>
        </p:txBody>
      </p:sp>
      <p:sp>
        <p:nvSpPr>
          <p:cNvPr id="16" name="Text 14"/>
          <p:cNvSpPr/>
          <p:nvPr/>
        </p:nvSpPr>
        <p:spPr>
          <a:xfrm>
            <a:off x="1280160" y="3154680"/>
            <a:ext cx="7315200" cy="457200"/>
          </a:xfrm>
          <a:prstGeom prst="rect">
            <a:avLst/>
          </a:prstGeom>
          <a:noFill/>
          <a:ln/>
        </p:spPr>
        <p:txBody>
          <a:bodyPr wrap="square" rtlCol="0" anchor="ctr"/>
          <a:lstStyle/>
          <a:p>
            <a:pPr indent="0" marL="0">
              <a:buNone/>
            </a:pPr>
            <a:r>
              <a:rPr lang="en-US" sz="1500" dirty="0">
                <a:solidFill>
                  <a:srgbClr val="2B2D42"/>
                </a:solidFill>
                <a:latin typeface="Microsoft YaHei" pitchFamily="34" charset="0"/>
                <a:ea typeface="Microsoft YaHei" pitchFamily="34" charset="-122"/>
                <a:cs typeface="Microsoft YaHei" pitchFamily="34" charset="-120"/>
              </a:rPr>
              <a:t>说明这个案例是真正在支撑这个判断的，值得讲</a:t>
            </a:r>
            <a:endParaRPr lang="en-US" sz="1500" dirty="0"/>
          </a:p>
        </p:txBody>
      </p:sp>
      <p:sp>
        <p:nvSpPr>
          <p:cNvPr id="17" name="Shape 15"/>
          <p:cNvSpPr/>
          <p:nvPr/>
        </p:nvSpPr>
        <p:spPr>
          <a:xfrm>
            <a:off x="457200" y="3840480"/>
            <a:ext cx="8229600" cy="1005840"/>
          </a:xfrm>
          <a:prstGeom prst="roundRect">
            <a:avLst>
              <a:gd name="adj" fmla="val 9091"/>
            </a:avLst>
          </a:prstGeom>
          <a:solidFill>
            <a:srgbClr val="2B2D42"/>
          </a:solidFill>
          <a:ln/>
        </p:spPr>
      </p:sp>
      <p:sp>
        <p:nvSpPr>
          <p:cNvPr id="18" name="Text 16"/>
          <p:cNvSpPr/>
          <p:nvPr/>
        </p:nvSpPr>
        <p:spPr>
          <a:xfrm>
            <a:off x="640080" y="3931920"/>
            <a:ext cx="7863840" cy="320040"/>
          </a:xfrm>
          <a:prstGeom prst="rect">
            <a:avLst/>
          </a:prstGeom>
          <a:noFill/>
          <a:ln/>
        </p:spPr>
        <p:txBody>
          <a:bodyPr wrap="square" rtlCol="0" anchor="ctr"/>
          <a:lstStyle/>
          <a:p>
            <a:pPr indent="0" marL="0">
              <a:buNone/>
            </a:pPr>
            <a:r>
              <a:rPr lang="en-US" sz="1200" dirty="0">
                <a:solidFill>
                  <a:srgbClr val="EDF2F4"/>
                </a:solidFill>
                <a:latin typeface="Microsoft YaHei" pitchFamily="34" charset="0"/>
                <a:ea typeface="Microsoft YaHei" pitchFamily="34" charset="-122"/>
                <a:cs typeface="Microsoft YaHei" pitchFamily="34" charset="-120"/>
              </a:rPr>
              <a:t>关键洞察</a:t>
            </a:r>
            <a:endParaRPr lang="en-US" sz="1200" dirty="0"/>
          </a:p>
        </p:txBody>
      </p:sp>
      <p:sp>
        <p:nvSpPr>
          <p:cNvPr id="19" name="Text 17"/>
          <p:cNvSpPr/>
          <p:nvPr/>
        </p:nvSpPr>
        <p:spPr>
          <a:xfrm>
            <a:off x="640080" y="4251960"/>
            <a:ext cx="7863840" cy="50292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用这个方法筛一遍，发现以前很多讲过的案例，其实都没什么实际说服力</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rect">
            <a:avLst/>
          </a:prstGeom>
          <a:solidFill>
            <a:srgbClr val="2B2D42"/>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52</a:t>
            </a:r>
            <a:endParaRPr lang="en-US" sz="1600" dirty="0"/>
          </a:p>
        </p:txBody>
      </p:sp>
      <p:sp>
        <p:nvSpPr>
          <p:cNvPr id="4" name="Shape 2"/>
          <p:cNvSpPr/>
          <p:nvPr/>
        </p:nvSpPr>
        <p:spPr>
          <a:xfrm>
            <a:off x="457200" y="1463040"/>
            <a:ext cx="8229600" cy="1645920"/>
          </a:xfrm>
          <a:prstGeom prst="rect">
            <a:avLst/>
          </a:prstGeom>
          <a:solidFill>
            <a:srgbClr val="2B2D42"/>
          </a:solidFill>
          <a:ln/>
        </p:spPr>
      </p:sp>
      <p:sp>
        <p:nvSpPr>
          <p:cNvPr id="5" name="Text 3"/>
          <p:cNvSpPr/>
          <p:nvPr/>
        </p:nvSpPr>
        <p:spPr>
          <a:xfrm>
            <a:off x="457200" y="1554480"/>
            <a:ext cx="8229600" cy="914400"/>
          </a:xfrm>
          <a:prstGeom prst="rect">
            <a:avLst/>
          </a:prstGeom>
          <a:noFill/>
          <a:ln/>
        </p:spPr>
        <p:txBody>
          <a:bodyPr wrap="square" rtlCol="0" anchor="ctr"/>
          <a:lstStyle/>
          <a:p>
            <a:pPr algn="ctr" indent="0" marL="0">
              <a:buNone/>
            </a:pPr>
            <a:r>
              <a:rPr lang="en-US" sz="7200" b="1" dirty="0">
                <a:solidFill>
                  <a:srgbClr val="FFFFFF"/>
                </a:solidFill>
                <a:latin typeface="Arial" pitchFamily="34" charset="0"/>
                <a:ea typeface="Arial" pitchFamily="34" charset="-122"/>
                <a:cs typeface="Arial" pitchFamily="34" charset="-120"/>
              </a:rPr>
              <a:t>Q&amp;A</a:t>
            </a:r>
            <a:endParaRPr lang="en-US" sz="7200" dirty="0"/>
          </a:p>
        </p:txBody>
      </p:sp>
      <p:sp>
        <p:nvSpPr>
          <p:cNvPr id="6" name="Text 4"/>
          <p:cNvSpPr/>
          <p:nvPr/>
        </p:nvSpPr>
        <p:spPr>
          <a:xfrm>
            <a:off x="457200" y="2468880"/>
            <a:ext cx="8229600" cy="548640"/>
          </a:xfrm>
          <a:prstGeom prst="rect">
            <a:avLst/>
          </a:prstGeom>
          <a:noFill/>
          <a:ln/>
        </p:spPr>
        <p:txBody>
          <a:bodyPr wrap="square" rtlCol="0" anchor="ctr"/>
          <a:lstStyle/>
          <a:p>
            <a:pPr algn="ctr" indent="0" marL="0">
              <a:buNone/>
            </a:pPr>
            <a:r>
              <a:rPr lang="en-US" sz="2800" dirty="0">
                <a:solidFill>
                  <a:srgbClr val="EDF2F4"/>
                </a:solidFill>
                <a:latin typeface="Microsoft YaHei" pitchFamily="34" charset="0"/>
                <a:ea typeface="Microsoft YaHei" pitchFamily="34" charset="-122"/>
                <a:cs typeface="Microsoft YaHei" pitchFamily="34" charset="-120"/>
              </a:rPr>
              <a:t>关于干活这件事</a:t>
            </a:r>
            <a:endParaRPr lang="en-US" sz="2800" dirty="0"/>
          </a:p>
        </p:txBody>
      </p:sp>
      <p:sp>
        <p:nvSpPr>
          <p:cNvPr id="7" name="Text 5"/>
          <p:cNvSpPr/>
          <p:nvPr/>
        </p:nvSpPr>
        <p:spPr>
          <a:xfrm>
            <a:off x="457200" y="3474720"/>
            <a:ext cx="8229600" cy="457200"/>
          </a:xfrm>
          <a:prstGeom prst="rect">
            <a:avLst/>
          </a:prstGeom>
          <a:noFill/>
          <a:ln/>
        </p:spPr>
        <p:txBody>
          <a:bodyPr wrap="square" rtlCol="0" anchor="ctr"/>
          <a:lstStyle/>
          <a:p>
            <a:pPr algn="ctr" indent="0" marL="0">
              <a:buNone/>
            </a:pPr>
            <a:r>
              <a:rPr lang="en-US" sz="1800" dirty="0">
                <a:solidFill>
                  <a:srgbClr val="8D99AE"/>
                </a:solidFill>
                <a:latin typeface="Microsoft YaHei" pitchFamily="34" charset="0"/>
                <a:ea typeface="Microsoft YaHei" pitchFamily="34" charset="-122"/>
                <a:cs typeface="Microsoft YaHei" pitchFamily="34" charset="-120"/>
              </a:rPr>
              <a:t>来自同行最常见的问题</a:t>
            </a:r>
            <a:endParaRPr lang="en-US" sz="1800" dirty="0"/>
          </a:p>
        </p:txBody>
      </p:sp>
      <p:sp>
        <p:nvSpPr>
          <p:cNvPr id="8" name="Shape 6"/>
          <p:cNvSpPr/>
          <p:nvPr/>
        </p:nvSpPr>
        <p:spPr>
          <a:xfrm>
            <a:off x="3886200" y="4114800"/>
            <a:ext cx="1371600" cy="54864"/>
          </a:xfrm>
          <a:prstGeom prst="rect">
            <a:avLst/>
          </a:prstGeom>
          <a:solidFill>
            <a:srgbClr val="EF233C"/>
          </a:solidFill>
          <a:ln/>
        </p:spPr>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rect">
            <a:avLst/>
          </a:prstGeom>
          <a:solidFill>
            <a:srgbClr val="2B2D42"/>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53</a:t>
            </a:r>
            <a:endParaRPr lang="en-US" sz="1600" dirty="0"/>
          </a:p>
        </p:txBody>
      </p:sp>
      <p:sp>
        <p:nvSpPr>
          <p:cNvPr id="4" name="Shape 2"/>
          <p:cNvSpPr/>
          <p:nvPr/>
        </p:nvSpPr>
        <p:spPr>
          <a:xfrm>
            <a:off x="457200" y="365760"/>
            <a:ext cx="1097280" cy="457200"/>
          </a:xfrm>
          <a:prstGeom prst="rect">
            <a:avLst/>
          </a:prstGeom>
          <a:solidFill>
            <a:srgbClr val="EF233C"/>
          </a:solidFill>
          <a:ln/>
        </p:spPr>
      </p:sp>
      <p:sp>
        <p:nvSpPr>
          <p:cNvPr id="5" name="Text 3"/>
          <p:cNvSpPr/>
          <p:nvPr/>
        </p:nvSpPr>
        <p:spPr>
          <a:xfrm>
            <a:off x="457200" y="365760"/>
            <a:ext cx="109728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Q&amp;A 1</a:t>
            </a:r>
            <a:endParaRPr lang="en-US" sz="1800" dirty="0"/>
          </a:p>
        </p:txBody>
      </p:sp>
      <p:sp>
        <p:nvSpPr>
          <p:cNvPr id="6" name="Text 4"/>
          <p:cNvSpPr/>
          <p:nvPr/>
        </p:nvSpPr>
        <p:spPr>
          <a:xfrm>
            <a:off x="1737360" y="365760"/>
            <a:ext cx="6400800" cy="45720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客户临时反悔怎么办</a:t>
            </a:r>
            <a:endParaRPr lang="en-US" sz="2800" dirty="0"/>
          </a:p>
        </p:txBody>
      </p:sp>
      <p:sp>
        <p:nvSpPr>
          <p:cNvPr id="7" name="Shape 5"/>
          <p:cNvSpPr/>
          <p:nvPr/>
        </p:nvSpPr>
        <p:spPr>
          <a:xfrm>
            <a:off x="457200" y="1005840"/>
            <a:ext cx="8229600" cy="914400"/>
          </a:xfrm>
          <a:prstGeom prst="rect">
            <a:avLst/>
          </a:prstGeom>
          <a:solidFill>
            <a:srgbClr val="EDF2F4"/>
          </a:solidFill>
          <a:ln/>
        </p:spPr>
      </p:sp>
      <p:sp>
        <p:nvSpPr>
          <p:cNvPr id="8" name="Text 6"/>
          <p:cNvSpPr/>
          <p:nvPr/>
        </p:nvSpPr>
        <p:spPr>
          <a:xfrm>
            <a:off x="640080" y="1051560"/>
            <a:ext cx="914400" cy="274320"/>
          </a:xfrm>
          <a:prstGeom prst="rect">
            <a:avLst/>
          </a:prstGeom>
          <a:noFill/>
          <a:ln/>
        </p:spPr>
        <p:txBody>
          <a:bodyPr wrap="square" rtlCol="0" anchor="ctr"/>
          <a:lstStyle/>
          <a:p>
            <a:pPr indent="0" marL="0">
              <a:buNone/>
            </a:pPr>
            <a:r>
              <a:rPr lang="en-US" sz="1200" dirty="0">
                <a:solidFill>
                  <a:srgbClr val="8D99AE"/>
                </a:solidFill>
                <a:latin typeface="Microsoft YaHei" pitchFamily="34" charset="0"/>
                <a:ea typeface="Microsoft YaHei" pitchFamily="34" charset="-122"/>
                <a:cs typeface="Microsoft YaHei" pitchFamily="34" charset="-120"/>
              </a:rPr>
              <a:t>问题</a:t>
            </a:r>
            <a:endParaRPr lang="en-US" sz="1200" dirty="0"/>
          </a:p>
        </p:txBody>
      </p:sp>
      <p:sp>
        <p:nvSpPr>
          <p:cNvPr id="9" name="Text 7"/>
          <p:cNvSpPr/>
          <p:nvPr/>
        </p:nvSpPr>
        <p:spPr>
          <a:xfrm>
            <a:off x="640080" y="1325880"/>
            <a:ext cx="7863840" cy="502920"/>
          </a:xfrm>
          <a:prstGeom prst="rect">
            <a:avLst/>
          </a:prstGeom>
          <a:noFill/>
          <a:ln/>
        </p:spPr>
        <p:txBody>
          <a:bodyPr wrap="square" rtlCol="0" anchor="ctr"/>
          <a:lstStyle/>
          <a:p>
            <a:pPr indent="0" marL="0">
              <a:buNone/>
            </a:pPr>
            <a:r>
              <a:rPr lang="en-US" sz="1700" dirty="0">
                <a:solidFill>
                  <a:srgbClr val="2B2D42"/>
                </a:solidFill>
                <a:latin typeface="Microsoft YaHei" pitchFamily="34" charset="0"/>
                <a:ea typeface="Microsoft YaHei" pitchFamily="34" charset="-122"/>
                <a:cs typeface="Microsoft YaHei" pitchFamily="34" charset="-120"/>
              </a:rPr>
              <a:t>客户跟着聊了很久确定了方向，最后家里亲戚随口一句话，全盘推翻重来</a:t>
            </a:r>
            <a:endParaRPr lang="en-US" sz="1700" dirty="0"/>
          </a:p>
        </p:txBody>
      </p:sp>
      <p:sp>
        <p:nvSpPr>
          <p:cNvPr id="10" name="Shape 8"/>
          <p:cNvSpPr/>
          <p:nvPr/>
        </p:nvSpPr>
        <p:spPr>
          <a:xfrm>
            <a:off x="457200" y="2103120"/>
            <a:ext cx="8229600" cy="1371600"/>
          </a:xfrm>
          <a:prstGeom prst="rect">
            <a:avLst/>
          </a:prstGeom>
          <a:solidFill>
            <a:srgbClr val="2B2D42"/>
          </a:solidFill>
          <a:ln/>
        </p:spPr>
      </p:sp>
      <p:sp>
        <p:nvSpPr>
          <p:cNvPr id="11" name="Text 9"/>
          <p:cNvSpPr/>
          <p:nvPr/>
        </p:nvSpPr>
        <p:spPr>
          <a:xfrm>
            <a:off x="640080" y="2194560"/>
            <a:ext cx="914400" cy="274320"/>
          </a:xfrm>
          <a:prstGeom prst="rect">
            <a:avLst/>
          </a:prstGeom>
          <a:noFill/>
          <a:ln/>
        </p:spPr>
        <p:txBody>
          <a:bodyPr wrap="square" rtlCol="0" anchor="ctr"/>
          <a:lstStyle/>
          <a:p>
            <a:pPr indent="0" marL="0">
              <a:buNone/>
            </a:pPr>
            <a:r>
              <a:rPr lang="en-US" sz="1200" dirty="0">
                <a:solidFill>
                  <a:srgbClr val="EDF2F4"/>
                </a:solidFill>
                <a:latin typeface="Microsoft YaHei" pitchFamily="34" charset="0"/>
                <a:ea typeface="Microsoft YaHei" pitchFamily="34" charset="-122"/>
                <a:cs typeface="Microsoft YaHei" pitchFamily="34" charset="-120"/>
              </a:rPr>
              <a:t>解答</a:t>
            </a:r>
            <a:endParaRPr lang="en-US" sz="1200" dirty="0"/>
          </a:p>
        </p:txBody>
      </p:sp>
      <p:sp>
        <p:nvSpPr>
          <p:cNvPr id="12" name="Text 10"/>
          <p:cNvSpPr/>
          <p:nvPr/>
        </p:nvSpPr>
        <p:spPr>
          <a:xfrm>
            <a:off x="640080" y="2514600"/>
            <a:ext cx="7863840" cy="868680"/>
          </a:xfrm>
          <a:prstGeom prst="rect">
            <a:avLst/>
          </a:prstGeom>
          <a:noFill/>
          <a:ln/>
        </p:spPr>
        <p:txBody>
          <a:bodyPr wrap="square" rtlCol="0" anchor="ctr"/>
          <a:lstStyle/>
          <a:p>
            <a:pPr indent="0" marL="0">
              <a:buNone/>
            </a:pPr>
            <a:r>
              <a:rPr lang="en-US" sz="1700" dirty="0">
                <a:solidFill>
                  <a:srgbClr val="FFFFFF"/>
                </a:solidFill>
                <a:latin typeface="Microsoft YaHei" pitchFamily="34" charset="0"/>
                <a:ea typeface="Microsoft YaHei" pitchFamily="34" charset="-122"/>
                <a:cs typeface="Microsoft YaHei" pitchFamily="34" charset="-120"/>
              </a:rPr>
              <a:t>不去跟那句「随口的话」较劲，而是重新回到信息本身，把亲戚那句话背后的判断逻辑找出来，跟之前梳理的信息放在一起重新给家长看一遍</a:t>
            </a:r>
            <a:endParaRPr lang="en-US" sz="1700" dirty="0"/>
          </a:p>
        </p:txBody>
      </p:sp>
      <p:sp>
        <p:nvSpPr>
          <p:cNvPr id="13" name="Shape 11"/>
          <p:cNvSpPr/>
          <p:nvPr/>
        </p:nvSpPr>
        <p:spPr>
          <a:xfrm>
            <a:off x="457200" y="3657600"/>
            <a:ext cx="8229600" cy="1188720"/>
          </a:xfrm>
          <a:prstGeom prst="rect">
            <a:avLst/>
          </a:prstGeom>
          <a:solidFill>
            <a:srgbClr val="EF233C"/>
          </a:solidFill>
          <a:ln/>
        </p:spPr>
      </p:sp>
      <p:sp>
        <p:nvSpPr>
          <p:cNvPr id="14" name="Text 12"/>
          <p:cNvSpPr/>
          <p:nvPr/>
        </p:nvSpPr>
        <p:spPr>
          <a:xfrm>
            <a:off x="640080" y="3749040"/>
            <a:ext cx="914400" cy="274320"/>
          </a:xfrm>
          <a:prstGeom prst="rect">
            <a:avLst/>
          </a:prstGeom>
          <a:noFill/>
          <a:ln/>
        </p:spPr>
        <p:txBody>
          <a:bodyPr wrap="square"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关键</a:t>
            </a:r>
            <a:endParaRPr lang="en-US" sz="1200" dirty="0"/>
          </a:p>
        </p:txBody>
      </p:sp>
      <p:sp>
        <p:nvSpPr>
          <p:cNvPr id="15" name="Text 13"/>
          <p:cNvSpPr/>
          <p:nvPr/>
        </p:nvSpPr>
        <p:spPr>
          <a:xfrm>
            <a:off x="640080" y="4069080"/>
            <a:ext cx="7863840" cy="640080"/>
          </a:xfrm>
          <a:prstGeom prst="rect">
            <a:avLst/>
          </a:prstGeom>
          <a:noFill/>
          <a:ln/>
        </p:spPr>
        <p:txBody>
          <a:bodyPr wrap="square"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遇到新的信息不要急着推翻已经想清楚的判断，先拿回来一起核实</a:t>
            </a:r>
            <a:endParaRPr lang="en-US" sz="2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rect">
            <a:avLst/>
          </a:prstGeom>
          <a:solidFill>
            <a:srgbClr val="2B2D42"/>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54</a:t>
            </a:r>
            <a:endParaRPr lang="en-US" sz="1600" dirty="0"/>
          </a:p>
        </p:txBody>
      </p:sp>
      <p:sp>
        <p:nvSpPr>
          <p:cNvPr id="4" name="Shape 2"/>
          <p:cNvSpPr/>
          <p:nvPr/>
        </p:nvSpPr>
        <p:spPr>
          <a:xfrm>
            <a:off x="457200" y="365760"/>
            <a:ext cx="1097280" cy="457200"/>
          </a:xfrm>
          <a:prstGeom prst="rect">
            <a:avLst/>
          </a:prstGeom>
          <a:solidFill>
            <a:srgbClr val="EF233C"/>
          </a:solidFill>
          <a:ln/>
        </p:spPr>
      </p:sp>
      <p:sp>
        <p:nvSpPr>
          <p:cNvPr id="5" name="Text 3"/>
          <p:cNvSpPr/>
          <p:nvPr/>
        </p:nvSpPr>
        <p:spPr>
          <a:xfrm>
            <a:off x="457200" y="365760"/>
            <a:ext cx="109728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Q&amp;A 2</a:t>
            </a:r>
            <a:endParaRPr lang="en-US" sz="1800" dirty="0"/>
          </a:p>
        </p:txBody>
      </p:sp>
      <p:sp>
        <p:nvSpPr>
          <p:cNvPr id="6" name="Text 4"/>
          <p:cNvSpPr/>
          <p:nvPr/>
        </p:nvSpPr>
        <p:spPr>
          <a:xfrm>
            <a:off x="1737360" y="365760"/>
            <a:ext cx="6400800" cy="45720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心里没底要不要说实话</a:t>
            </a:r>
            <a:endParaRPr lang="en-US" sz="2800" dirty="0"/>
          </a:p>
        </p:txBody>
      </p:sp>
      <p:sp>
        <p:nvSpPr>
          <p:cNvPr id="7" name="Shape 5"/>
          <p:cNvSpPr/>
          <p:nvPr/>
        </p:nvSpPr>
        <p:spPr>
          <a:xfrm>
            <a:off x="457200" y="1005840"/>
            <a:ext cx="8229600" cy="914400"/>
          </a:xfrm>
          <a:prstGeom prst="rect">
            <a:avLst/>
          </a:prstGeom>
          <a:solidFill>
            <a:srgbClr val="EDF2F4"/>
          </a:solidFill>
          <a:ln/>
        </p:spPr>
      </p:sp>
      <p:sp>
        <p:nvSpPr>
          <p:cNvPr id="8" name="Text 6"/>
          <p:cNvSpPr/>
          <p:nvPr/>
        </p:nvSpPr>
        <p:spPr>
          <a:xfrm>
            <a:off x="640080" y="1051560"/>
            <a:ext cx="914400" cy="274320"/>
          </a:xfrm>
          <a:prstGeom prst="rect">
            <a:avLst/>
          </a:prstGeom>
          <a:noFill/>
          <a:ln/>
        </p:spPr>
        <p:txBody>
          <a:bodyPr wrap="square" rtlCol="0" anchor="ctr"/>
          <a:lstStyle/>
          <a:p>
            <a:pPr indent="0" marL="0">
              <a:buNone/>
            </a:pPr>
            <a:r>
              <a:rPr lang="en-US" sz="1200" dirty="0">
                <a:solidFill>
                  <a:srgbClr val="8D99AE"/>
                </a:solidFill>
                <a:latin typeface="Microsoft YaHei" pitchFamily="34" charset="0"/>
                <a:ea typeface="Microsoft YaHei" pitchFamily="34" charset="-122"/>
                <a:cs typeface="Microsoft YaHei" pitchFamily="34" charset="-120"/>
              </a:rPr>
              <a:t>问题</a:t>
            </a:r>
            <a:endParaRPr lang="en-US" sz="1200" dirty="0"/>
          </a:p>
        </p:txBody>
      </p:sp>
      <p:sp>
        <p:nvSpPr>
          <p:cNvPr id="9" name="Text 7"/>
          <p:cNvSpPr/>
          <p:nvPr/>
        </p:nvSpPr>
        <p:spPr>
          <a:xfrm>
            <a:off x="640080" y="1325880"/>
            <a:ext cx="7863840" cy="502920"/>
          </a:xfrm>
          <a:prstGeom prst="rect">
            <a:avLst/>
          </a:prstGeom>
          <a:noFill/>
          <a:ln/>
        </p:spPr>
        <p:txBody>
          <a:bodyPr wrap="square" rtlCol="0" anchor="ctr"/>
          <a:lstStyle/>
          <a:p>
            <a:pPr indent="0" marL="0">
              <a:buNone/>
            </a:pPr>
            <a:r>
              <a:rPr lang="en-US" sz="1700" dirty="0">
                <a:solidFill>
                  <a:srgbClr val="2B2D42"/>
                </a:solidFill>
                <a:latin typeface="Microsoft YaHei" pitchFamily="34" charset="0"/>
                <a:ea typeface="Microsoft YaHei" pitchFamily="34" charset="-122"/>
                <a:cs typeface="Microsoft YaHei" pitchFamily="34" charset="-120"/>
              </a:rPr>
              <a:t>遇到聊得很顺但自己心里其实没底、觉得判断依据不够扎实的时候，要不要说实话</a:t>
            </a:r>
            <a:endParaRPr lang="en-US" sz="1700" dirty="0"/>
          </a:p>
        </p:txBody>
      </p:sp>
      <p:sp>
        <p:nvSpPr>
          <p:cNvPr id="10" name="Shape 8"/>
          <p:cNvSpPr/>
          <p:nvPr/>
        </p:nvSpPr>
        <p:spPr>
          <a:xfrm>
            <a:off x="457200" y="2103120"/>
            <a:ext cx="8229600" cy="1554480"/>
          </a:xfrm>
          <a:prstGeom prst="rect">
            <a:avLst/>
          </a:prstGeom>
          <a:solidFill>
            <a:srgbClr val="2B2D42"/>
          </a:solidFill>
          <a:ln/>
        </p:spPr>
      </p:sp>
      <p:sp>
        <p:nvSpPr>
          <p:cNvPr id="11" name="Text 9"/>
          <p:cNvSpPr/>
          <p:nvPr/>
        </p:nvSpPr>
        <p:spPr>
          <a:xfrm>
            <a:off x="640080" y="2194560"/>
            <a:ext cx="914400" cy="274320"/>
          </a:xfrm>
          <a:prstGeom prst="rect">
            <a:avLst/>
          </a:prstGeom>
          <a:noFill/>
          <a:ln/>
        </p:spPr>
        <p:txBody>
          <a:bodyPr wrap="square" rtlCol="0" anchor="ctr"/>
          <a:lstStyle/>
          <a:p>
            <a:pPr indent="0" marL="0">
              <a:buNone/>
            </a:pPr>
            <a:r>
              <a:rPr lang="en-US" sz="1200" dirty="0">
                <a:solidFill>
                  <a:srgbClr val="EDF2F4"/>
                </a:solidFill>
                <a:latin typeface="Microsoft YaHei" pitchFamily="34" charset="0"/>
                <a:ea typeface="Microsoft YaHei" pitchFamily="34" charset="-122"/>
                <a:cs typeface="Microsoft YaHei" pitchFamily="34" charset="-120"/>
              </a:rPr>
              <a:t>解答</a:t>
            </a:r>
            <a:endParaRPr lang="en-US" sz="1200" dirty="0"/>
          </a:p>
        </p:txBody>
      </p:sp>
      <p:sp>
        <p:nvSpPr>
          <p:cNvPr id="12" name="Text 10"/>
          <p:cNvSpPr/>
          <p:nvPr/>
        </p:nvSpPr>
        <p:spPr>
          <a:xfrm>
            <a:off x="640080" y="2468880"/>
            <a:ext cx="7863840" cy="320040"/>
          </a:xfrm>
          <a:prstGeom prst="rect">
            <a:avLst/>
          </a:prstGeom>
          <a:noFill/>
          <a:ln/>
        </p:spPr>
        <p:txBody>
          <a:bodyPr wrap="square" rtlCol="0" anchor="ctr"/>
          <a:lstStyle/>
          <a:p>
            <a:pPr indent="0" marL="0">
              <a:buNone/>
            </a:pPr>
            <a:r>
              <a:rPr lang="en-US" sz="1700" dirty="0">
                <a:solidFill>
                  <a:srgbClr val="FFFFFF"/>
                </a:solidFill>
                <a:latin typeface="Microsoft YaHei" pitchFamily="34" charset="0"/>
                <a:ea typeface="Microsoft YaHei" pitchFamily="34" charset="-122"/>
                <a:cs typeface="Microsoft YaHei" pitchFamily="34" charset="-120"/>
              </a:rPr>
              <a:t>要说。直接告诉客户：</a:t>
            </a:r>
            <a:endParaRPr lang="en-US" sz="1700" dirty="0"/>
          </a:p>
        </p:txBody>
      </p:sp>
      <p:sp>
        <p:nvSpPr>
          <p:cNvPr id="13" name="Text 11"/>
          <p:cNvSpPr/>
          <p:nvPr/>
        </p:nvSpPr>
        <p:spPr>
          <a:xfrm>
            <a:off x="640080" y="2834640"/>
            <a:ext cx="7863840" cy="731520"/>
          </a:xfrm>
          <a:prstGeom prst="rect">
            <a:avLst/>
          </a:prstGeom>
          <a:noFill/>
          <a:ln/>
        </p:spPr>
        <p:txBody>
          <a:bodyPr wrap="square" rtlCol="0" anchor="ctr"/>
          <a:lstStyle/>
          <a:p>
            <a:pPr indent="0" marL="0">
              <a:buNone/>
            </a:pPr>
            <a:r>
              <a:rPr lang="en-US" sz="1600" i="1" dirty="0">
                <a:solidFill>
                  <a:srgbClr val="EDF2F4"/>
                </a:solidFill>
                <a:latin typeface="Microsoft YaHei" pitchFamily="34" charset="0"/>
                <a:ea typeface="Microsoft YaHei" pitchFamily="34" charset="-122"/>
                <a:cs typeface="Microsoft YaHei" pitchFamily="34" charset="-120"/>
              </a:rPr>
              <a:t>「这块信息我目前掌握得还不够扎实，我给您的是一个基于现有信息的判断，建议您也再找一到两个信息源交叉验证一下」</a:t>
            </a:r>
            <a:endParaRPr lang="en-US" sz="1600" dirty="0"/>
          </a:p>
        </p:txBody>
      </p:sp>
      <p:sp>
        <p:nvSpPr>
          <p:cNvPr id="14" name="Shape 12"/>
          <p:cNvSpPr/>
          <p:nvPr/>
        </p:nvSpPr>
        <p:spPr>
          <a:xfrm>
            <a:off x="457200" y="3840480"/>
            <a:ext cx="8229600" cy="1005840"/>
          </a:xfrm>
          <a:prstGeom prst="rect">
            <a:avLst/>
          </a:prstGeom>
          <a:solidFill>
            <a:srgbClr val="EF233C"/>
          </a:solidFill>
          <a:ln/>
        </p:spPr>
      </p:sp>
      <p:sp>
        <p:nvSpPr>
          <p:cNvPr id="15" name="Text 13"/>
          <p:cNvSpPr/>
          <p:nvPr/>
        </p:nvSpPr>
        <p:spPr>
          <a:xfrm>
            <a:off x="640080" y="3931920"/>
            <a:ext cx="7863840" cy="274320"/>
          </a:xfrm>
          <a:prstGeom prst="rect">
            <a:avLst/>
          </a:prstGeom>
          <a:noFill/>
          <a:ln/>
        </p:spPr>
        <p:txBody>
          <a:bodyPr wrap="square"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关键洞见</a:t>
            </a:r>
            <a:endParaRPr lang="en-US" sz="1200" dirty="0"/>
          </a:p>
        </p:txBody>
      </p:sp>
      <p:sp>
        <p:nvSpPr>
          <p:cNvPr id="16" name="Text 14"/>
          <p:cNvSpPr/>
          <p:nvPr/>
        </p:nvSpPr>
        <p:spPr>
          <a:xfrm>
            <a:off x="640080" y="4251960"/>
            <a:ext cx="7863840" cy="502920"/>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这种坦诚才是真正的专业</a:t>
            </a:r>
            <a:endParaRPr lang="en-US" sz="2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rect">
            <a:avLst/>
          </a:prstGeom>
          <a:solidFill>
            <a:srgbClr val="2B2D42"/>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55</a:t>
            </a:r>
            <a:endParaRPr lang="en-US" sz="1600" dirty="0"/>
          </a:p>
        </p:txBody>
      </p:sp>
      <p:sp>
        <p:nvSpPr>
          <p:cNvPr id="4" name="Shape 2"/>
          <p:cNvSpPr/>
          <p:nvPr/>
        </p:nvSpPr>
        <p:spPr>
          <a:xfrm>
            <a:off x="457200" y="365760"/>
            <a:ext cx="1097280" cy="457200"/>
          </a:xfrm>
          <a:prstGeom prst="rect">
            <a:avLst/>
          </a:prstGeom>
          <a:solidFill>
            <a:srgbClr val="EF233C"/>
          </a:solidFill>
          <a:ln/>
        </p:spPr>
      </p:sp>
      <p:sp>
        <p:nvSpPr>
          <p:cNvPr id="5" name="Text 3"/>
          <p:cNvSpPr/>
          <p:nvPr/>
        </p:nvSpPr>
        <p:spPr>
          <a:xfrm>
            <a:off x="457200" y="365760"/>
            <a:ext cx="109728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Q&amp;A 3</a:t>
            </a:r>
            <a:endParaRPr lang="en-US" sz="1800" dirty="0"/>
          </a:p>
        </p:txBody>
      </p:sp>
      <p:sp>
        <p:nvSpPr>
          <p:cNvPr id="6" name="Text 4"/>
          <p:cNvSpPr/>
          <p:nvPr/>
        </p:nvSpPr>
        <p:spPr>
          <a:xfrm>
            <a:off x="1737360" y="365760"/>
            <a:ext cx="6400800" cy="45720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时间紧怎么办</a:t>
            </a:r>
            <a:endParaRPr lang="en-US" sz="2800" dirty="0"/>
          </a:p>
        </p:txBody>
      </p:sp>
      <p:sp>
        <p:nvSpPr>
          <p:cNvPr id="7" name="Shape 5"/>
          <p:cNvSpPr/>
          <p:nvPr/>
        </p:nvSpPr>
        <p:spPr>
          <a:xfrm>
            <a:off x="457200" y="914400"/>
            <a:ext cx="8229600" cy="685800"/>
          </a:xfrm>
          <a:prstGeom prst="rect">
            <a:avLst/>
          </a:prstGeom>
          <a:solidFill>
            <a:srgbClr val="EDF2F4"/>
          </a:solidFill>
          <a:ln/>
        </p:spPr>
      </p:sp>
      <p:sp>
        <p:nvSpPr>
          <p:cNvPr id="8" name="Text 6"/>
          <p:cNvSpPr/>
          <p:nvPr/>
        </p:nvSpPr>
        <p:spPr>
          <a:xfrm>
            <a:off x="640080" y="914400"/>
            <a:ext cx="7863840" cy="685800"/>
          </a:xfrm>
          <a:prstGeom prst="rect">
            <a:avLst/>
          </a:prstGeom>
          <a:noFill/>
          <a:ln/>
        </p:spPr>
        <p:txBody>
          <a:bodyPr wrap="square" rtlCol="0" anchor="ctr"/>
          <a:lstStyle/>
          <a:p>
            <a:pPr indent="0" marL="0">
              <a:buNone/>
            </a:pPr>
            <a:r>
              <a:rPr lang="en-US" sz="1700" dirty="0">
                <a:solidFill>
                  <a:srgbClr val="2B2D42"/>
                </a:solidFill>
                <a:latin typeface="Microsoft YaHei" pitchFamily="34" charset="0"/>
                <a:ea typeface="Microsoft YaHei" pitchFamily="34" charset="-122"/>
                <a:cs typeface="Microsoft YaHei" pitchFamily="34" charset="-120"/>
              </a:rPr>
              <a:t>问题：出分后只剩两三天就要截止填报，这套方法还来得及做吗</a:t>
            </a:r>
            <a:endParaRPr lang="en-US" sz="1700" dirty="0"/>
          </a:p>
        </p:txBody>
      </p:sp>
      <p:sp>
        <p:nvSpPr>
          <p:cNvPr id="9" name="Shape 7"/>
          <p:cNvSpPr/>
          <p:nvPr/>
        </p:nvSpPr>
        <p:spPr>
          <a:xfrm>
            <a:off x="457200" y="1783080"/>
            <a:ext cx="3977640" cy="1463040"/>
          </a:xfrm>
          <a:prstGeom prst="rect">
            <a:avLst/>
          </a:prstGeom>
          <a:solidFill>
            <a:srgbClr val="EF233C"/>
          </a:solidFill>
          <a:ln/>
        </p:spPr>
      </p:sp>
      <p:sp>
        <p:nvSpPr>
          <p:cNvPr id="10" name="Text 8"/>
          <p:cNvSpPr/>
          <p:nvPr/>
        </p:nvSpPr>
        <p:spPr>
          <a:xfrm>
            <a:off x="640080" y="1874520"/>
            <a:ext cx="3657600" cy="32004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不能压缩</a:t>
            </a:r>
            <a:endParaRPr lang="en-US" sz="1400" dirty="0"/>
          </a:p>
        </p:txBody>
      </p:sp>
      <p:sp>
        <p:nvSpPr>
          <p:cNvPr id="11" name="Text 9"/>
          <p:cNvSpPr/>
          <p:nvPr/>
        </p:nvSpPr>
        <p:spPr>
          <a:xfrm>
            <a:off x="640080" y="2240280"/>
            <a:ext cx="3657600" cy="914400"/>
          </a:xfrm>
          <a:prstGeom prst="rect">
            <a:avLst/>
          </a:prstGeom>
          <a:noFill/>
          <a:ln/>
        </p:spPr>
        <p:txBody>
          <a:bodyPr wrap="square" rtlCol="0" anchor="ctr"/>
          <a:lstStyle/>
          <a:p>
            <a:pPr indent="0" marL="0">
              <a:buNone/>
            </a:pPr>
            <a:r>
              <a:rPr lang="en-US" sz="1600" dirty="0">
                <a:solidFill>
                  <a:srgbClr val="FFFFFF"/>
                </a:solidFill>
                <a:latin typeface="Microsoft YaHei" pitchFamily="34" charset="0"/>
                <a:ea typeface="Microsoft YaHei" pitchFamily="34" charset="-122"/>
                <a:cs typeface="Microsoft YaHei" pitchFamily="34" charset="-120"/>
              </a:rPr>
              <a:t>「这个人是谁」</a:t>
            </a:r>
            <a:endParaRPr lang="en-US" sz="1600" dirty="0"/>
          </a:p>
          <a:p>
            <a:pPr indent="0" marL="0">
              <a:buNone/>
            </a:pPr>
            <a:r>
              <a:rPr lang="en-US" sz="1600" dirty="0">
                <a:solidFill>
                  <a:srgbClr val="FFFFFF"/>
                </a:solidFill>
                <a:latin typeface="Microsoft YaHei" pitchFamily="34" charset="0"/>
                <a:ea typeface="Microsoft YaHei" pitchFamily="34" charset="-122"/>
                <a:cs typeface="Microsoft YaHei" pitchFamily="34" charset="-120"/>
              </a:rPr>
              <a:t>「最后一句话由谁说出口」</a:t>
            </a:r>
            <a:endParaRPr lang="en-US" sz="1600" dirty="0"/>
          </a:p>
        </p:txBody>
      </p:sp>
      <p:sp>
        <p:nvSpPr>
          <p:cNvPr id="12" name="Shape 10"/>
          <p:cNvSpPr/>
          <p:nvPr/>
        </p:nvSpPr>
        <p:spPr>
          <a:xfrm>
            <a:off x="4709160" y="1783080"/>
            <a:ext cx="3977640" cy="1463040"/>
          </a:xfrm>
          <a:prstGeom prst="rect">
            <a:avLst/>
          </a:prstGeom>
          <a:solidFill>
            <a:srgbClr val="2B2D42"/>
          </a:solidFill>
          <a:ln/>
        </p:spPr>
      </p:sp>
      <p:sp>
        <p:nvSpPr>
          <p:cNvPr id="13" name="Text 11"/>
          <p:cNvSpPr/>
          <p:nvPr/>
        </p:nvSpPr>
        <p:spPr>
          <a:xfrm>
            <a:off x="4892040" y="1874520"/>
            <a:ext cx="3657600" cy="320040"/>
          </a:xfrm>
          <a:prstGeom prst="rect">
            <a:avLst/>
          </a:prstGeom>
          <a:noFill/>
          <a:ln/>
        </p:spPr>
        <p:txBody>
          <a:bodyPr wrap="square" rtlCol="0" anchor="ctr"/>
          <a:lstStyle/>
          <a:p>
            <a:pPr indent="0" marL="0">
              <a:buNone/>
            </a:pPr>
            <a:r>
              <a:rPr lang="en-US" sz="1400" b="1" dirty="0">
                <a:solidFill>
                  <a:srgbClr val="EDF2F4"/>
                </a:solidFill>
                <a:latin typeface="Microsoft YaHei" pitchFamily="34" charset="0"/>
                <a:ea typeface="Microsoft YaHei" pitchFamily="34" charset="-122"/>
                <a:cs typeface="Microsoft YaHei" pitchFamily="34" charset="-120"/>
              </a:rPr>
              <a:t>可以压缩</a:t>
            </a:r>
            <a:endParaRPr lang="en-US" sz="1400" dirty="0"/>
          </a:p>
        </p:txBody>
      </p:sp>
      <p:sp>
        <p:nvSpPr>
          <p:cNvPr id="14" name="Text 12"/>
          <p:cNvSpPr/>
          <p:nvPr/>
        </p:nvSpPr>
        <p:spPr>
          <a:xfrm>
            <a:off x="4892040" y="2240280"/>
            <a:ext cx="3657600" cy="914400"/>
          </a:xfrm>
          <a:prstGeom prst="rect">
            <a:avLst/>
          </a:prstGeom>
          <a:noFill/>
          <a:ln/>
        </p:spPr>
        <p:txBody>
          <a:bodyPr wrap="square" rtlCol="0" anchor="ctr"/>
          <a:lstStyle/>
          <a:p>
            <a:pPr indent="0" marL="0">
              <a:buNone/>
            </a:pPr>
            <a:r>
              <a:rPr lang="en-US" sz="1600" dirty="0">
                <a:solidFill>
                  <a:srgbClr val="FFFFFF"/>
                </a:solidFill>
                <a:latin typeface="Microsoft YaHei" pitchFamily="34" charset="0"/>
                <a:ea typeface="Microsoft YaHei" pitchFamily="34" charset="-122"/>
                <a:cs typeface="Microsoft YaHei" pitchFamily="34" charset="-120"/>
              </a:rPr>
              <a:t>信息收集</a:t>
            </a:r>
            <a:endParaRPr lang="en-US" sz="1600" dirty="0"/>
          </a:p>
          <a:p>
            <a:pPr indent="0" marL="0">
              <a:buNone/>
            </a:pPr>
            <a:r>
              <a:rPr lang="en-US" sz="1600" dirty="0">
                <a:solidFill>
                  <a:srgbClr val="FFFFFF"/>
                </a:solidFill>
                <a:latin typeface="Microsoft YaHei" pitchFamily="34" charset="0"/>
                <a:ea typeface="Microsoft YaHei" pitchFamily="34" charset="-122"/>
                <a:cs typeface="Microsoft YaHei" pitchFamily="34" charset="-120"/>
              </a:rPr>
              <a:t>产业分析</a:t>
            </a:r>
            <a:endParaRPr lang="en-US" sz="1600" dirty="0"/>
          </a:p>
          <a:p>
            <a:pPr indent="0" marL="0">
              <a:buNone/>
            </a:pPr>
            <a:r>
              <a:rPr lang="en-US" sz="1600" dirty="0">
                <a:solidFill>
                  <a:srgbClr val="FFFFFF"/>
                </a:solidFill>
                <a:latin typeface="Microsoft YaHei" pitchFamily="34" charset="0"/>
                <a:ea typeface="Microsoft YaHei" pitchFamily="34" charset="-122"/>
                <a:cs typeface="Microsoft YaHei" pitchFamily="34" charset="-120"/>
              </a:rPr>
              <a:t>（靠前期积累和工具辅助）</a:t>
            </a:r>
            <a:endParaRPr lang="en-US" sz="1600" dirty="0"/>
          </a:p>
        </p:txBody>
      </p:sp>
      <p:sp>
        <p:nvSpPr>
          <p:cNvPr id="15" name="Shape 13"/>
          <p:cNvSpPr/>
          <p:nvPr/>
        </p:nvSpPr>
        <p:spPr>
          <a:xfrm>
            <a:off x="457200" y="3474720"/>
            <a:ext cx="8229600" cy="1371600"/>
          </a:xfrm>
          <a:prstGeom prst="rect">
            <a:avLst/>
          </a:prstGeom>
          <a:solidFill>
            <a:srgbClr val="EDF2F4"/>
          </a:solidFill>
          <a:ln/>
        </p:spPr>
      </p:sp>
      <p:sp>
        <p:nvSpPr>
          <p:cNvPr id="16" name="Text 14"/>
          <p:cNvSpPr/>
          <p:nvPr/>
        </p:nvSpPr>
        <p:spPr>
          <a:xfrm>
            <a:off x="548640" y="3429000"/>
            <a:ext cx="457200" cy="548640"/>
          </a:xfrm>
          <a:prstGeom prst="rect">
            <a:avLst/>
          </a:prstGeom>
          <a:noFill/>
          <a:ln/>
        </p:spPr>
        <p:txBody>
          <a:bodyPr wrap="square" rtlCol="0" anchor="ctr"/>
          <a:lstStyle/>
          <a:p>
            <a:pPr indent="0" marL="0">
              <a:buNone/>
            </a:pPr>
            <a:r>
              <a:rPr lang="en-US" sz="4800" dirty="0">
                <a:solidFill>
                  <a:srgbClr val="EF233C"/>
                </a:solidFill>
                <a:latin typeface="Georgia" pitchFamily="34" charset="0"/>
                <a:ea typeface="Georgia" pitchFamily="34" charset="-122"/>
                <a:cs typeface="Georgia" pitchFamily="34" charset="-120"/>
              </a:rPr>
              <a:t>“</a:t>
            </a:r>
            <a:endParaRPr lang="en-US" sz="4800" dirty="0"/>
          </a:p>
        </p:txBody>
      </p:sp>
      <p:sp>
        <p:nvSpPr>
          <p:cNvPr id="17" name="Text 15"/>
          <p:cNvSpPr/>
          <p:nvPr/>
        </p:nvSpPr>
        <p:spPr>
          <a:xfrm>
            <a:off x="1005840" y="3794760"/>
            <a:ext cx="7315200" cy="731520"/>
          </a:xfrm>
          <a:prstGeom prst="rect">
            <a:avLst/>
          </a:prstGeom>
          <a:noFill/>
          <a:ln/>
        </p:spPr>
        <p:txBody>
          <a:bodyPr wrap="square" rtlCol="0" anchor="ctr"/>
          <a:lstStyle/>
          <a:p>
            <a:pPr indent="0" marL="0">
              <a:buNone/>
            </a:pPr>
            <a:r>
              <a:rPr lang="en-US" sz="2200" b="1" dirty="0">
                <a:solidFill>
                  <a:srgbClr val="2B2D42"/>
                </a:solidFill>
                <a:latin typeface="Microsoft YaHei" pitchFamily="34" charset="0"/>
                <a:ea typeface="Microsoft YaHei" pitchFamily="34" charset="-122"/>
                <a:cs typeface="Microsoft YaHei" pitchFamily="34" charset="-120"/>
              </a:rPr>
              <a:t>这是这份工作里唯一没办法靠效率去弥补的部分</a:t>
            </a:r>
            <a:endParaRPr lang="en-US" sz="2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EF233C"/>
        </a:solidFill>
      </p:bgPr>
    </p:bg>
    <p:spTree>
      <p:nvGrpSpPr>
        <p:cNvPr id="1" name=""/>
        <p:cNvGrpSpPr/>
        <p:nvPr/>
      </p:nvGrpSpPr>
      <p:grpSpPr>
        <a:xfrm>
          <a:off x="0" y="0"/>
          <a:ext cx="0" cy="0"/>
          <a:chOff x="0" y="0"/>
          <a:chExt cx="0" cy="0"/>
        </a:xfrm>
      </p:grpSpPr>
      <p:sp>
        <p:nvSpPr>
          <p:cNvPr id="2" name="Text 0"/>
          <p:cNvSpPr/>
          <p:nvPr/>
        </p:nvSpPr>
        <p:spPr>
          <a:xfrm>
            <a:off x="457200" y="731520"/>
            <a:ext cx="8229600" cy="1645920"/>
          </a:xfrm>
          <a:prstGeom prst="rect">
            <a:avLst/>
          </a:prstGeom>
          <a:noFill/>
          <a:ln/>
        </p:spPr>
        <p:txBody>
          <a:bodyPr wrap="square" rtlCol="0" anchor="ctr"/>
          <a:lstStyle/>
          <a:p>
            <a:pPr algn="ctr" indent="0" marL="0">
              <a:buNone/>
            </a:pPr>
            <a:r>
              <a:rPr lang="en-US" sz="12000" b="1" dirty="0">
                <a:solidFill>
                  <a:srgbClr val="FFFFFF"/>
                </a:solidFill>
                <a:latin typeface="Arial" pitchFamily="34" charset="0"/>
                <a:ea typeface="Arial" pitchFamily="34" charset="-122"/>
                <a:cs typeface="Arial" pitchFamily="34" charset="-120"/>
              </a:rPr>
              <a:t>03</a:t>
            </a:r>
            <a:endParaRPr lang="en-US" sz="12000" dirty="0"/>
          </a:p>
        </p:txBody>
      </p:sp>
      <p:sp>
        <p:nvSpPr>
          <p:cNvPr id="3" name="Text 1"/>
          <p:cNvSpPr/>
          <p:nvPr/>
        </p:nvSpPr>
        <p:spPr>
          <a:xfrm>
            <a:off x="457200" y="2286000"/>
            <a:ext cx="8229600" cy="640080"/>
          </a:xfrm>
          <a:prstGeom prst="rect">
            <a:avLst/>
          </a:prstGeom>
          <a:noFill/>
          <a:ln/>
        </p:spPr>
        <p:txBody>
          <a:bodyPr wrap="square" rtlCol="0" anchor="ctr"/>
          <a:lstStyle/>
          <a:p>
            <a:pPr algn="ctr" indent="0" marL="0">
              <a:buNone/>
            </a:pPr>
            <a:r>
              <a:rPr lang="en-US" sz="4400" b="1" dirty="0">
                <a:solidFill>
                  <a:srgbClr val="FFFFFF"/>
                </a:solidFill>
                <a:latin typeface="Microsoft YaHei" pitchFamily="34" charset="0"/>
                <a:ea typeface="Microsoft YaHei" pitchFamily="34" charset="-122"/>
                <a:cs typeface="Microsoft YaHei" pitchFamily="34" charset="-120"/>
              </a:rPr>
              <a:t>模块三</a:t>
            </a:r>
            <a:endParaRPr lang="en-US" sz="4400" dirty="0"/>
          </a:p>
        </p:txBody>
      </p:sp>
      <p:sp>
        <p:nvSpPr>
          <p:cNvPr id="4" name="Text 2"/>
          <p:cNvSpPr/>
          <p:nvPr/>
        </p:nvSpPr>
        <p:spPr>
          <a:xfrm>
            <a:off x="457200" y="2926080"/>
            <a:ext cx="8229600" cy="548640"/>
          </a:xfrm>
          <a:prstGeom prst="rect">
            <a:avLst/>
          </a:prstGeom>
          <a:noFill/>
          <a:ln/>
        </p:spPr>
        <p:txBody>
          <a:bodyPr wrap="square" rtlCol="0" anchor="ctr"/>
          <a:lstStyle/>
          <a:p>
            <a:pPr algn="ctr" indent="0" marL="0">
              <a:buNone/>
            </a:pPr>
            <a:r>
              <a:rPr lang="en-US" sz="3200" dirty="0">
                <a:solidFill>
                  <a:srgbClr val="FFFFFF"/>
                </a:solidFill>
                <a:latin typeface="Microsoft YaHei" pitchFamily="34" charset="0"/>
                <a:ea typeface="Microsoft YaHei" pitchFamily="34" charset="-122"/>
                <a:cs typeface="Microsoft YaHei" pitchFamily="34" charset="-120"/>
              </a:rPr>
              <a:t>职业心态</a:t>
            </a:r>
            <a:endParaRPr lang="en-US" sz="3200" dirty="0"/>
          </a:p>
        </p:txBody>
      </p:sp>
      <p:sp>
        <p:nvSpPr>
          <p:cNvPr id="5" name="Text 3"/>
          <p:cNvSpPr/>
          <p:nvPr/>
        </p:nvSpPr>
        <p:spPr>
          <a:xfrm>
            <a:off x="457200" y="3657600"/>
            <a:ext cx="8229600" cy="457200"/>
          </a:xfrm>
          <a:prstGeom prst="rect">
            <a:avLst/>
          </a:prstGeom>
          <a:noFill/>
          <a:ln/>
        </p:spPr>
        <p:txBody>
          <a:bodyPr wrap="square" rtlCol="0" anchor="ctr"/>
          <a:lstStyle/>
          <a:p>
            <a:pPr algn="ctr" indent="0" marL="0">
              <a:buNone/>
            </a:pPr>
            <a:r>
              <a:rPr lang="en-US" sz="1600" dirty="0">
                <a:solidFill>
                  <a:srgbClr val="FFFFFF">
                    <a:alpha val="80000"/>
                  </a:srgbClr>
                </a:solidFill>
                <a:latin typeface="Microsoft YaHei" pitchFamily="34" charset="0"/>
                <a:ea typeface="Microsoft YaHei" pitchFamily="34" charset="-122"/>
                <a:cs typeface="Microsoft YaHei" pitchFamily="34" charset="-120"/>
              </a:rPr>
              <a:t>从替人做决定的风险，到口碑与AI时代的发展</a:t>
            </a:r>
            <a:endParaRPr lang="en-US" sz="1600" dirty="0"/>
          </a:p>
        </p:txBody>
      </p:sp>
      <p:sp>
        <p:nvSpPr>
          <p:cNvPr id="6" name="Shape 4"/>
          <p:cNvSpPr/>
          <p:nvPr/>
        </p:nvSpPr>
        <p:spPr>
          <a:xfrm>
            <a:off x="8321040" y="4572000"/>
            <a:ext cx="457200" cy="457200"/>
          </a:xfrm>
          <a:prstGeom prst="ellipse">
            <a:avLst/>
          </a:prstGeom>
          <a:solidFill>
            <a:srgbClr val="FFFFFF">
              <a:alpha val="20000"/>
            </a:srgbClr>
          </a:solidFill>
          <a:ln/>
        </p:spPr>
      </p:sp>
      <p:sp>
        <p:nvSpPr>
          <p:cNvPr id="7" name="Text 5"/>
          <p:cNvSpPr/>
          <p:nvPr/>
        </p:nvSpPr>
        <p:spPr>
          <a:xfrm>
            <a:off x="8321040" y="4572000"/>
            <a:ext cx="4572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56</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457200" y="365760"/>
            <a:ext cx="731520" cy="457200"/>
          </a:xfrm>
          <a:prstGeom prst="rect">
            <a:avLst/>
          </a:prstGeom>
          <a:solidFill>
            <a:srgbClr val="EF233C"/>
          </a:solidFill>
          <a:ln/>
        </p:spPr>
      </p:sp>
      <p:sp>
        <p:nvSpPr>
          <p:cNvPr id="3" name="Text 1"/>
          <p:cNvSpPr/>
          <p:nvPr/>
        </p:nvSpPr>
        <p:spPr>
          <a:xfrm>
            <a:off x="457200" y="365760"/>
            <a:ext cx="73152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12</a:t>
            </a:r>
            <a:endParaRPr lang="en-US" sz="1800" dirty="0"/>
          </a:p>
        </p:txBody>
      </p:sp>
      <p:sp>
        <p:nvSpPr>
          <p:cNvPr id="4" name="Text 2"/>
          <p:cNvSpPr/>
          <p:nvPr/>
        </p:nvSpPr>
        <p:spPr>
          <a:xfrm>
            <a:off x="1371600" y="320040"/>
            <a:ext cx="7315200" cy="548640"/>
          </a:xfrm>
          <a:prstGeom prst="rect">
            <a:avLst/>
          </a:prstGeom>
          <a:noFill/>
          <a:ln/>
        </p:spPr>
        <p:txBody>
          <a:bodyPr wrap="square" rtlCol="0" anchor="ctr"/>
          <a:lstStyle/>
          <a:p>
            <a:pPr indent="0" marL="0">
              <a:buNone/>
            </a:pPr>
            <a:r>
              <a:rPr lang="en-US" sz="2600" b="1" dirty="0">
                <a:solidFill>
                  <a:srgbClr val="2B2D42"/>
                </a:solidFill>
                <a:latin typeface="Microsoft YaHei" pitchFamily="34" charset="0"/>
                <a:ea typeface="Microsoft YaHei" pitchFamily="34" charset="-122"/>
                <a:cs typeface="Microsoft YaHei" pitchFamily="34" charset="-120"/>
              </a:rPr>
              <a:t>这行最大的风险，不是选错专业，是你替他做了那个选择</a:t>
            </a:r>
            <a:endParaRPr lang="en-US" sz="2600" dirty="0"/>
          </a:p>
        </p:txBody>
      </p:sp>
      <p:sp>
        <p:nvSpPr>
          <p:cNvPr id="5" name="Shape 3"/>
          <p:cNvSpPr/>
          <p:nvPr/>
        </p:nvSpPr>
        <p:spPr>
          <a:xfrm>
            <a:off x="457200" y="1188720"/>
            <a:ext cx="8229600" cy="3200400"/>
          </a:xfrm>
          <a:prstGeom prst="rect">
            <a:avLst/>
          </a:prstGeom>
          <a:solidFill>
            <a:srgbClr val="EDF2F4"/>
          </a:solidFill>
          <a:ln/>
        </p:spPr>
      </p:sp>
      <p:sp>
        <p:nvSpPr>
          <p:cNvPr id="6" name="Shape 4"/>
          <p:cNvSpPr/>
          <p:nvPr/>
        </p:nvSpPr>
        <p:spPr>
          <a:xfrm>
            <a:off x="457200" y="1188720"/>
            <a:ext cx="73152" cy="3200400"/>
          </a:xfrm>
          <a:prstGeom prst="rect">
            <a:avLst/>
          </a:prstGeom>
          <a:solidFill>
            <a:srgbClr val="EF233C"/>
          </a:solidFill>
          <a:ln/>
        </p:spPr>
      </p:sp>
      <p:sp>
        <p:nvSpPr>
          <p:cNvPr id="7" name="Text 5"/>
          <p:cNvSpPr/>
          <p:nvPr/>
        </p:nvSpPr>
        <p:spPr>
          <a:xfrm>
            <a:off x="822960" y="1371600"/>
            <a:ext cx="7589520" cy="2834640"/>
          </a:xfrm>
          <a:prstGeom prst="rect">
            <a:avLst/>
          </a:prstGeom>
          <a:noFill/>
          <a:ln/>
        </p:spPr>
        <p:txBody>
          <a:bodyPr wrap="square" rtlCol="0" anchor="ctr"/>
          <a:lstStyle/>
          <a:p>
            <a:pPr algn="l" indent="0" marL="0">
              <a:buNone/>
            </a:pPr>
            <a:r>
              <a:rPr lang="en-US" sz="2200" dirty="0">
                <a:solidFill>
                  <a:srgbClr val="2B2D42"/>
                </a:solidFill>
                <a:latin typeface="Microsoft YaHei" pitchFamily="34" charset="0"/>
                <a:ea typeface="Microsoft YaHei" pitchFamily="34" charset="-122"/>
                <a:cs typeface="Microsoft YaHei" pitchFamily="34" charset="-120"/>
              </a:rPr>
              <a:t>"选错专业，是这个孩子人生里会经历的一次挫折，会过去；替他做了选择，是拿走了他本该拥有的一次自己承担后果的机会，这件事的代价，很多年后才会显出来。"</a:t>
            </a:r>
            <a:endParaRPr lang="en-US" sz="2200" dirty="0"/>
          </a:p>
        </p:txBody>
      </p:sp>
      <p:sp>
        <p:nvSpPr>
          <p:cNvPr id="8" name="Shape 6"/>
          <p:cNvSpPr/>
          <p:nvPr/>
        </p:nvSpPr>
        <p:spPr>
          <a:xfrm>
            <a:off x="8321040" y="4572000"/>
            <a:ext cx="457200" cy="457200"/>
          </a:xfrm>
          <a:prstGeom prst="ellipse">
            <a:avLst/>
          </a:prstGeom>
          <a:solidFill>
            <a:srgbClr val="8D99AE"/>
          </a:solidFill>
          <a:ln/>
        </p:spPr>
      </p:sp>
      <p:sp>
        <p:nvSpPr>
          <p:cNvPr id="9" name="Text 7"/>
          <p:cNvSpPr/>
          <p:nvPr/>
        </p:nvSpPr>
        <p:spPr>
          <a:xfrm>
            <a:off x="8321040" y="4572000"/>
            <a:ext cx="4572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两种角色的区别</a:t>
            </a:r>
            <a:endParaRPr lang="en-US" sz="2800" dirty="0"/>
          </a:p>
        </p:txBody>
      </p:sp>
      <p:sp>
        <p:nvSpPr>
          <p:cNvPr id="3" name="Shape 1"/>
          <p:cNvSpPr/>
          <p:nvPr/>
        </p:nvSpPr>
        <p:spPr>
          <a:xfrm>
            <a:off x="457200" y="1005840"/>
            <a:ext cx="3931920" cy="1828800"/>
          </a:xfrm>
          <a:prstGeom prst="rect">
            <a:avLst/>
          </a:prstGeom>
          <a:solidFill>
            <a:srgbClr val="EDF2F4"/>
          </a:solidFill>
          <a:ln/>
        </p:spPr>
      </p:sp>
      <p:sp>
        <p:nvSpPr>
          <p:cNvPr id="4" name="Shape 2"/>
          <p:cNvSpPr/>
          <p:nvPr/>
        </p:nvSpPr>
        <p:spPr>
          <a:xfrm>
            <a:off x="457200" y="1005840"/>
            <a:ext cx="3931920" cy="457200"/>
          </a:xfrm>
          <a:prstGeom prst="rect">
            <a:avLst/>
          </a:prstGeom>
          <a:solidFill>
            <a:srgbClr val="2B2D42"/>
          </a:solidFill>
          <a:ln/>
        </p:spPr>
      </p:sp>
      <p:sp>
        <p:nvSpPr>
          <p:cNvPr id="5" name="Text 3"/>
          <p:cNvSpPr/>
          <p:nvPr/>
        </p:nvSpPr>
        <p:spPr>
          <a:xfrm>
            <a:off x="457200" y="1005840"/>
            <a:ext cx="393192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提供判断和信息的人</a:t>
            </a:r>
            <a:endParaRPr lang="en-US" sz="1600" dirty="0"/>
          </a:p>
        </p:txBody>
      </p:sp>
      <p:sp>
        <p:nvSpPr>
          <p:cNvPr id="6" name="Text 4"/>
          <p:cNvSpPr/>
          <p:nvPr/>
        </p:nvSpPr>
        <p:spPr>
          <a:xfrm>
            <a:off x="640080" y="1554480"/>
            <a:ext cx="3566160" cy="1188720"/>
          </a:xfrm>
          <a:prstGeom prst="rect">
            <a:avLst/>
          </a:prstGeom>
          <a:noFill/>
          <a:ln/>
        </p:spPr>
        <p:txBody>
          <a:bodyPr wrap="square" rtlCol="0" anchor="ctr"/>
          <a:lstStyle/>
          <a:p>
            <a:pPr algn="ctr" indent="0" marL="0">
              <a:buNone/>
            </a:pPr>
            <a:r>
              <a:rPr lang="en-US" sz="1500" dirty="0">
                <a:solidFill>
                  <a:srgbClr val="8D99AE"/>
                </a:solidFill>
                <a:latin typeface="Microsoft YaHei" pitchFamily="34" charset="0"/>
                <a:ea typeface="Microsoft YaHei" pitchFamily="34" charset="-122"/>
                <a:cs typeface="Microsoft YaHei" pitchFamily="34" charset="-120"/>
              </a:rPr>
              <a:t>最终把决定权留在这个孩子和这个家庭手里</a:t>
            </a:r>
            <a:endParaRPr lang="en-US" sz="1500" dirty="0"/>
          </a:p>
        </p:txBody>
      </p:sp>
      <p:sp>
        <p:nvSpPr>
          <p:cNvPr id="7" name="Shape 5"/>
          <p:cNvSpPr/>
          <p:nvPr/>
        </p:nvSpPr>
        <p:spPr>
          <a:xfrm>
            <a:off x="4754880" y="1005840"/>
            <a:ext cx="3931920" cy="1828800"/>
          </a:xfrm>
          <a:prstGeom prst="rect">
            <a:avLst/>
          </a:prstGeom>
          <a:solidFill>
            <a:srgbClr val="EDF2F4"/>
          </a:solidFill>
          <a:ln/>
        </p:spPr>
      </p:sp>
      <p:sp>
        <p:nvSpPr>
          <p:cNvPr id="8" name="Shape 6"/>
          <p:cNvSpPr/>
          <p:nvPr/>
        </p:nvSpPr>
        <p:spPr>
          <a:xfrm>
            <a:off x="4754880" y="1005840"/>
            <a:ext cx="3931920" cy="457200"/>
          </a:xfrm>
          <a:prstGeom prst="rect">
            <a:avLst/>
          </a:prstGeom>
          <a:solidFill>
            <a:srgbClr val="EF233C"/>
          </a:solidFill>
          <a:ln/>
        </p:spPr>
      </p:sp>
      <p:sp>
        <p:nvSpPr>
          <p:cNvPr id="9" name="Text 7"/>
          <p:cNvSpPr/>
          <p:nvPr/>
        </p:nvSpPr>
        <p:spPr>
          <a:xfrm>
            <a:off x="4754880" y="1005840"/>
            <a:ext cx="393192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替这个家庭做决定的人</a:t>
            </a:r>
            <a:endParaRPr lang="en-US" sz="1600" dirty="0"/>
          </a:p>
        </p:txBody>
      </p:sp>
      <p:sp>
        <p:nvSpPr>
          <p:cNvPr id="10" name="Text 8"/>
          <p:cNvSpPr/>
          <p:nvPr/>
        </p:nvSpPr>
        <p:spPr>
          <a:xfrm>
            <a:off x="4937760" y="1554480"/>
            <a:ext cx="3566160" cy="1188720"/>
          </a:xfrm>
          <a:prstGeom prst="rect">
            <a:avLst/>
          </a:prstGeom>
          <a:noFill/>
          <a:ln/>
        </p:spPr>
        <p:txBody>
          <a:bodyPr wrap="square" rtlCol="0" anchor="ctr"/>
          <a:lstStyle/>
          <a:p>
            <a:pPr algn="ctr" indent="0" marL="0">
              <a:buNone/>
            </a:pPr>
            <a:r>
              <a:rPr lang="en-US" sz="1500" dirty="0">
                <a:solidFill>
                  <a:srgbClr val="8D99AE"/>
                </a:solidFill>
                <a:latin typeface="Microsoft YaHei" pitchFamily="34" charset="0"/>
                <a:ea typeface="Microsoft YaHei" pitchFamily="34" charset="-122"/>
                <a:cs typeface="Microsoft YaHei" pitchFamily="34" charset="-120"/>
              </a:rPr>
              <a:t>悄悄地把决定权拿走了</a:t>
            </a:r>
            <a:endParaRPr lang="en-US" sz="1500" dirty="0"/>
          </a:p>
        </p:txBody>
      </p:sp>
      <p:sp>
        <p:nvSpPr>
          <p:cNvPr id="11" name="Shape 9"/>
          <p:cNvSpPr/>
          <p:nvPr/>
        </p:nvSpPr>
        <p:spPr>
          <a:xfrm>
            <a:off x="457200" y="3017520"/>
            <a:ext cx="8229600" cy="822960"/>
          </a:xfrm>
          <a:prstGeom prst="rect">
            <a:avLst/>
          </a:prstGeom>
          <a:solidFill>
            <a:srgbClr val="2B2D42"/>
          </a:solidFill>
          <a:ln/>
        </p:spPr>
      </p:sp>
      <p:sp>
        <p:nvSpPr>
          <p:cNvPr id="12" name="Text 10"/>
          <p:cNvSpPr/>
          <p:nvPr/>
        </p:nvSpPr>
        <p:spPr>
          <a:xfrm>
            <a:off x="640080" y="3017520"/>
            <a:ext cx="7863840" cy="822960"/>
          </a:xfrm>
          <a:prstGeom prst="rect">
            <a:avLst/>
          </a:prstGeom>
          <a:noFill/>
          <a:ln/>
        </p:spPr>
        <p:txBody>
          <a:bodyPr wrap="square" rtlCol="0" anchor="ctr"/>
          <a:lstStyle/>
          <a:p>
            <a:pPr algn="ctr" indent="0" marL="0">
              <a:buNone/>
            </a:pPr>
            <a:r>
              <a:rPr lang="en-US" sz="1600" dirty="0">
                <a:solidFill>
                  <a:srgbClr val="FFFFFF"/>
                </a:solidFill>
                <a:latin typeface="Microsoft YaHei" pitchFamily="34" charset="0"/>
                <a:ea typeface="Microsoft YaHei" pitchFamily="34" charset="-122"/>
                <a:cs typeface="Microsoft YaHei" pitchFamily="34" charset="-120"/>
              </a:rPr>
              <a:t>这两者外表看起来很像，都是"给出一个专业建议"，但内核完全不同</a:t>
            </a:r>
            <a:endParaRPr lang="en-US" sz="1600" dirty="0"/>
          </a:p>
        </p:txBody>
      </p:sp>
      <p:sp>
        <p:nvSpPr>
          <p:cNvPr id="13" name="Shape 11"/>
          <p:cNvSpPr/>
          <p:nvPr/>
        </p:nvSpPr>
        <p:spPr>
          <a:xfrm>
            <a:off x="457200" y="4023360"/>
            <a:ext cx="8229600" cy="731520"/>
          </a:xfrm>
          <a:prstGeom prst="rect">
            <a:avLst/>
          </a:prstGeom>
          <a:solidFill>
            <a:srgbClr val="EF233C">
              <a:alpha val="85000"/>
            </a:srgbClr>
          </a:solidFill>
          <a:ln w="19050">
            <a:solidFill>
              <a:srgbClr val="EF233C"/>
            </a:solidFill>
            <a:prstDash val="solid"/>
          </a:ln>
        </p:spPr>
      </p:sp>
      <p:sp>
        <p:nvSpPr>
          <p:cNvPr id="14" name="Text 12"/>
          <p:cNvSpPr/>
          <p:nvPr/>
        </p:nvSpPr>
        <p:spPr>
          <a:xfrm>
            <a:off x="640080" y="4023360"/>
            <a:ext cx="7863840" cy="731520"/>
          </a:xfrm>
          <a:prstGeom prst="rect">
            <a:avLst/>
          </a:prstGeom>
          <a:noFill/>
          <a:ln/>
        </p:spPr>
        <p:txBody>
          <a:bodyPr wrap="square" rtlCol="0" anchor="ctr"/>
          <a:lstStyle/>
          <a:p>
            <a:pPr algn="ctr" indent="0" marL="0">
              <a:buNone/>
            </a:pPr>
            <a:r>
              <a:rPr lang="en-US" sz="1600" b="1" dirty="0">
                <a:solidFill>
                  <a:srgbClr val="EF233C"/>
                </a:solidFill>
                <a:latin typeface="Microsoft YaHei" pitchFamily="34" charset="0"/>
                <a:ea typeface="Microsoft YaHei" pitchFamily="34" charset="-122"/>
                <a:cs typeface="Microsoft YaHei" pitchFamily="34" charset="-120"/>
              </a:rPr>
              <a:t>哪怕拿得再专业、再负责任，拿走了就是拿走了</a:t>
            </a:r>
            <a:endParaRPr lang="en-US" sz="1600" dirty="0"/>
          </a:p>
        </p:txBody>
      </p:sp>
      <p:sp>
        <p:nvSpPr>
          <p:cNvPr id="15" name="Shape 13"/>
          <p:cNvSpPr/>
          <p:nvPr/>
        </p:nvSpPr>
        <p:spPr>
          <a:xfrm>
            <a:off x="8321040" y="4572000"/>
            <a:ext cx="457200" cy="457200"/>
          </a:xfrm>
          <a:prstGeom prst="ellipse">
            <a:avLst/>
          </a:prstGeom>
          <a:solidFill>
            <a:srgbClr val="8D99AE"/>
          </a:solidFill>
          <a:ln/>
        </p:spPr>
      </p:sp>
      <p:sp>
        <p:nvSpPr>
          <p:cNvPr id="16" name="Text 14"/>
          <p:cNvSpPr/>
          <p:nvPr/>
        </p:nvSpPr>
        <p:spPr>
          <a:xfrm>
            <a:off x="8321040" y="4572000"/>
            <a:ext cx="4572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58</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替人做决定的形式</a:t>
            </a:r>
            <a:endParaRPr lang="en-US" sz="2800" dirty="0"/>
          </a:p>
        </p:txBody>
      </p:sp>
      <p:sp>
        <p:nvSpPr>
          <p:cNvPr id="3" name="Shape 1"/>
          <p:cNvSpPr/>
          <p:nvPr/>
        </p:nvSpPr>
        <p:spPr>
          <a:xfrm>
            <a:off x="457200" y="960120"/>
            <a:ext cx="8229600" cy="1188720"/>
          </a:xfrm>
          <a:prstGeom prst="rect">
            <a:avLst/>
          </a:prstGeom>
          <a:solidFill>
            <a:srgbClr val="EDF2F4"/>
          </a:solidFill>
          <a:ln/>
        </p:spPr>
      </p:sp>
      <p:sp>
        <p:nvSpPr>
          <p:cNvPr id="4" name="Shape 2"/>
          <p:cNvSpPr/>
          <p:nvPr/>
        </p:nvSpPr>
        <p:spPr>
          <a:xfrm>
            <a:off x="457200" y="960120"/>
            <a:ext cx="73152" cy="1188720"/>
          </a:xfrm>
          <a:prstGeom prst="rect">
            <a:avLst/>
          </a:prstGeom>
          <a:solidFill>
            <a:srgbClr val="8D99AE"/>
          </a:solidFill>
          <a:ln/>
        </p:spPr>
      </p:sp>
      <p:sp>
        <p:nvSpPr>
          <p:cNvPr id="5" name="Text 3"/>
          <p:cNvSpPr/>
          <p:nvPr/>
        </p:nvSpPr>
        <p:spPr>
          <a:xfrm>
            <a:off x="640080" y="1005840"/>
            <a:ext cx="914400" cy="320040"/>
          </a:xfrm>
          <a:prstGeom prst="rect">
            <a:avLst/>
          </a:prstGeom>
          <a:noFill/>
          <a:ln/>
        </p:spPr>
        <p:txBody>
          <a:bodyPr wrap="square" rtlCol="0" anchor="ctr"/>
          <a:lstStyle/>
          <a:p>
            <a:pPr indent="0" marL="0">
              <a:buNone/>
            </a:pPr>
            <a:r>
              <a:rPr lang="en-US" sz="1200" b="1" dirty="0">
                <a:solidFill>
                  <a:srgbClr val="8D99AE"/>
                </a:solidFill>
                <a:latin typeface="Microsoft YaHei" pitchFamily="34" charset="0"/>
                <a:ea typeface="Microsoft YaHei" pitchFamily="34" charset="-122"/>
                <a:cs typeface="Microsoft YaHei" pitchFamily="34" charset="-120"/>
              </a:rPr>
              <a:t>案例</a:t>
            </a:r>
            <a:endParaRPr lang="en-US" sz="1200" dirty="0"/>
          </a:p>
        </p:txBody>
      </p:sp>
      <p:sp>
        <p:nvSpPr>
          <p:cNvPr id="6" name="Text 4"/>
          <p:cNvSpPr/>
          <p:nvPr/>
        </p:nvSpPr>
        <p:spPr>
          <a:xfrm>
            <a:off x="640080" y="1325880"/>
            <a:ext cx="7863840" cy="731520"/>
          </a:xfrm>
          <a:prstGeom prst="rect">
            <a:avLst/>
          </a:prstGeom>
          <a:noFill/>
          <a:ln/>
        </p:spPr>
        <p:txBody>
          <a:bodyPr wrap="square" rtlCol="0" anchor="ctr"/>
          <a:lstStyle/>
          <a:p>
            <a:pPr algn="l" indent="0" marL="0">
              <a:buNone/>
            </a:pPr>
            <a:r>
              <a:rPr lang="en-US" sz="1500" dirty="0">
                <a:solidFill>
                  <a:srgbClr val="2B2D42"/>
                </a:solidFill>
                <a:latin typeface="Microsoft YaHei" pitchFamily="34" charset="0"/>
                <a:ea typeface="Microsoft YaHei" pitchFamily="34" charset="-122"/>
                <a:cs typeface="Microsoft YaHei" pitchFamily="34" charset="-120"/>
              </a:rPr>
              <a:t>一个学生大二了来说："我一直觉得，这个专业是你们几个大人商量出来给我的，不是我自己选的"</a:t>
            </a:r>
            <a:endParaRPr lang="en-US" sz="1500" dirty="0"/>
          </a:p>
        </p:txBody>
      </p:sp>
      <p:sp>
        <p:nvSpPr>
          <p:cNvPr id="7" name="Shape 5"/>
          <p:cNvSpPr/>
          <p:nvPr/>
        </p:nvSpPr>
        <p:spPr>
          <a:xfrm>
            <a:off x="457200" y="2331720"/>
            <a:ext cx="8229600" cy="914400"/>
          </a:xfrm>
          <a:prstGeom prst="rect">
            <a:avLst/>
          </a:prstGeom>
          <a:solidFill>
            <a:srgbClr val="EF233C">
              <a:alpha val="90000"/>
            </a:srgbClr>
          </a:solidFill>
          <a:ln w="12700">
            <a:solidFill>
              <a:srgbClr val="EF233C"/>
            </a:solidFill>
            <a:prstDash val="solid"/>
          </a:ln>
        </p:spPr>
      </p:sp>
      <p:sp>
        <p:nvSpPr>
          <p:cNvPr id="8" name="Text 6"/>
          <p:cNvSpPr/>
          <p:nvPr/>
        </p:nvSpPr>
        <p:spPr>
          <a:xfrm>
            <a:off x="640080" y="2377440"/>
            <a:ext cx="1371600" cy="320040"/>
          </a:xfrm>
          <a:prstGeom prst="rect">
            <a:avLst/>
          </a:prstGeom>
          <a:noFill/>
          <a:ln/>
        </p:spPr>
        <p:txBody>
          <a:bodyPr wrap="square" rtlCol="0" anchor="ctr"/>
          <a:lstStyle/>
          <a:p>
            <a:pPr indent="0" marL="0">
              <a:buNone/>
            </a:pPr>
            <a:r>
              <a:rPr lang="en-US" sz="1200" b="1" dirty="0">
                <a:solidFill>
                  <a:srgbClr val="EF233C"/>
                </a:solidFill>
                <a:latin typeface="Microsoft YaHei" pitchFamily="34" charset="0"/>
                <a:ea typeface="Microsoft YaHei" pitchFamily="34" charset="-122"/>
                <a:cs typeface="Microsoft YaHei" pitchFamily="34" charset="-120"/>
              </a:rPr>
              <a:t>关键教训</a:t>
            </a:r>
            <a:endParaRPr lang="en-US" sz="1200" dirty="0"/>
          </a:p>
        </p:txBody>
      </p:sp>
      <p:sp>
        <p:nvSpPr>
          <p:cNvPr id="9" name="Text 7"/>
          <p:cNvSpPr/>
          <p:nvPr/>
        </p:nvSpPr>
        <p:spPr>
          <a:xfrm>
            <a:off x="640080" y="2697480"/>
            <a:ext cx="7863840" cy="457200"/>
          </a:xfrm>
          <a:prstGeom prst="rect">
            <a:avLst/>
          </a:prstGeom>
          <a:noFill/>
          <a:ln/>
        </p:spPr>
        <p:txBody>
          <a:bodyPr wrap="square" rtlCol="0" anchor="ctr"/>
          <a:lstStyle/>
          <a:p>
            <a:pPr algn="l" indent="0" marL="0">
              <a:buNone/>
            </a:pPr>
            <a:r>
              <a:rPr lang="en-US" sz="1500" dirty="0">
                <a:solidFill>
                  <a:srgbClr val="2B2D42"/>
                </a:solidFill>
                <a:latin typeface="Microsoft YaHei" pitchFamily="34" charset="0"/>
                <a:ea typeface="Microsoft YaHei" pitchFamily="34" charset="-122"/>
                <a:cs typeface="Microsoft YaHei" pitchFamily="34" charset="-120"/>
              </a:rPr>
              <a:t>技术上不是一个失败的案例，但心里那个疙瘩说明了一件事——结果正确不代表过程正确</a:t>
            </a:r>
            <a:endParaRPr lang="en-US" sz="1500" dirty="0"/>
          </a:p>
        </p:txBody>
      </p:sp>
      <p:sp>
        <p:nvSpPr>
          <p:cNvPr id="10" name="Text 8"/>
          <p:cNvSpPr/>
          <p:nvPr/>
        </p:nvSpPr>
        <p:spPr>
          <a:xfrm>
            <a:off x="457200" y="3429000"/>
            <a:ext cx="8229600" cy="365760"/>
          </a:xfrm>
          <a:prstGeom prst="rect">
            <a:avLst/>
          </a:prstGeom>
          <a:noFill/>
          <a:ln/>
        </p:spPr>
        <p:txBody>
          <a:bodyPr wrap="square" rtlCol="0" anchor="ctr"/>
          <a:lstStyle/>
          <a:p>
            <a:pPr indent="0" marL="0">
              <a:buNone/>
            </a:pPr>
            <a:r>
              <a:rPr lang="en-US" sz="1600" b="1" dirty="0">
                <a:solidFill>
                  <a:srgbClr val="2B2D42"/>
                </a:solidFill>
                <a:latin typeface="Microsoft YaHei" pitchFamily="34" charset="0"/>
                <a:ea typeface="Microsoft YaHei" pitchFamily="34" charset="-122"/>
                <a:cs typeface="Microsoft YaHei" pitchFamily="34" charset="-120"/>
              </a:rPr>
              <a:t>当遇到困难时</a:t>
            </a:r>
            <a:endParaRPr lang="en-US" sz="1600" dirty="0"/>
          </a:p>
        </p:txBody>
      </p:sp>
      <p:sp>
        <p:nvSpPr>
          <p:cNvPr id="11" name="Shape 9"/>
          <p:cNvSpPr/>
          <p:nvPr/>
        </p:nvSpPr>
        <p:spPr>
          <a:xfrm>
            <a:off x="457200" y="3840480"/>
            <a:ext cx="3931920" cy="822960"/>
          </a:xfrm>
          <a:prstGeom prst="rect">
            <a:avLst/>
          </a:prstGeom>
          <a:solidFill>
            <a:srgbClr val="8D99AE">
              <a:alpha val="15000"/>
            </a:srgbClr>
          </a:solidFill>
          <a:ln/>
        </p:spPr>
      </p:sp>
      <p:sp>
        <p:nvSpPr>
          <p:cNvPr id="12" name="Text 10"/>
          <p:cNvSpPr/>
          <p:nvPr/>
        </p:nvSpPr>
        <p:spPr>
          <a:xfrm>
            <a:off x="548640" y="3840480"/>
            <a:ext cx="3749040" cy="822960"/>
          </a:xfrm>
          <a:prstGeom prst="rect">
            <a:avLst/>
          </a:prstGeom>
          <a:noFill/>
          <a:ln/>
        </p:spPr>
        <p:txBody>
          <a:bodyPr wrap="square" rtlCol="0" anchor="ctr"/>
          <a:lstStyle/>
          <a:p>
            <a:pPr algn="ctr" indent="0" marL="0">
              <a:buNone/>
            </a:pPr>
            <a:r>
              <a:rPr lang="en-US" sz="1300" b="1" dirty="0">
                <a:solidFill>
                  <a:srgbClr val="EF233C"/>
                </a:solidFill>
                <a:latin typeface="Microsoft YaHei" pitchFamily="34" charset="0"/>
                <a:ea typeface="Microsoft YaHei" pitchFamily="34" charset="-122"/>
                <a:cs typeface="Microsoft YaHei" pitchFamily="34" charset="-120"/>
              </a:rPr>
              <a:t>孩子的第一反应容易变成"是你们让我选的"</a:t>
            </a:r>
            <a:endParaRPr lang="en-US" sz="1300" dirty="0"/>
          </a:p>
        </p:txBody>
      </p:sp>
      <p:sp>
        <p:nvSpPr>
          <p:cNvPr id="13" name="Shape 11"/>
          <p:cNvSpPr/>
          <p:nvPr/>
        </p:nvSpPr>
        <p:spPr>
          <a:xfrm>
            <a:off x="4754880" y="3840480"/>
            <a:ext cx="3931920" cy="822960"/>
          </a:xfrm>
          <a:prstGeom prst="rect">
            <a:avLst/>
          </a:prstGeom>
          <a:solidFill>
            <a:srgbClr val="2B2D42">
              <a:alpha val="15000"/>
            </a:srgbClr>
          </a:solidFill>
          <a:ln/>
        </p:spPr>
      </p:sp>
      <p:sp>
        <p:nvSpPr>
          <p:cNvPr id="14" name="Text 12"/>
          <p:cNvSpPr/>
          <p:nvPr/>
        </p:nvSpPr>
        <p:spPr>
          <a:xfrm>
            <a:off x="4846320" y="3840480"/>
            <a:ext cx="3749040" cy="822960"/>
          </a:xfrm>
          <a:prstGeom prst="rect">
            <a:avLst/>
          </a:prstGeom>
          <a:noFill/>
          <a:ln/>
        </p:spPr>
        <p:txBody>
          <a:bodyPr wrap="square" rtlCol="0" anchor="ctr"/>
          <a:lstStyle/>
          <a:p>
            <a:pPr algn="ctr" indent="0" marL="0">
              <a:buNone/>
            </a:pPr>
            <a:r>
              <a:rPr lang="en-US" sz="1300" dirty="0">
                <a:solidFill>
                  <a:srgbClr val="2B2D42"/>
                </a:solidFill>
                <a:latin typeface="Microsoft YaHei" pitchFamily="34" charset="0"/>
                <a:ea typeface="Microsoft YaHei" pitchFamily="34" charset="-122"/>
                <a:cs typeface="Microsoft YaHei" pitchFamily="34" charset="-120"/>
              </a:rPr>
              <a:t>而不是"这是我自己选的，我得想办法解决"</a:t>
            </a:r>
            <a:endParaRPr lang="en-US" sz="1300" dirty="0"/>
          </a:p>
        </p:txBody>
      </p:sp>
      <p:sp>
        <p:nvSpPr>
          <p:cNvPr id="15" name="Shape 13"/>
          <p:cNvSpPr/>
          <p:nvPr/>
        </p:nvSpPr>
        <p:spPr>
          <a:xfrm>
            <a:off x="8321040" y="4572000"/>
            <a:ext cx="457200" cy="457200"/>
          </a:xfrm>
          <a:prstGeom prst="ellipse">
            <a:avLst/>
          </a:prstGeom>
          <a:solidFill>
            <a:srgbClr val="8D99AE"/>
          </a:solidFill>
          <a:ln/>
        </p:spPr>
      </p:sp>
      <p:sp>
        <p:nvSpPr>
          <p:cNvPr id="16" name="Text 14"/>
          <p:cNvSpPr/>
          <p:nvPr/>
        </p:nvSpPr>
        <p:spPr>
          <a:xfrm>
            <a:off x="8321040" y="4572000"/>
            <a:ext cx="4572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替人做决定的风险</a:t>
            </a:r>
            <a:endParaRPr lang="en-US" sz="28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D99AE"/>
                </a:solidFill>
                <a:latin typeface="Microsoft YaHei" pitchFamily="34" charset="0"/>
                <a:ea typeface="Microsoft YaHei" pitchFamily="34" charset="-122"/>
                <a:cs typeface="Microsoft YaHei" pitchFamily="34" charset="-120"/>
              </a:rPr>
              <a:t>常见偏见</a:t>
            </a:r>
            <a:endParaRPr lang="en-US" sz="1400" dirty="0"/>
          </a:p>
        </p:txBody>
      </p:sp>
      <p:sp>
        <p:nvSpPr>
          <p:cNvPr id="4" name="Shape 2"/>
          <p:cNvSpPr/>
          <p:nvPr/>
        </p:nvSpPr>
        <p:spPr>
          <a:xfrm>
            <a:off x="457200" y="1280160"/>
            <a:ext cx="8229600" cy="640080"/>
          </a:xfrm>
          <a:prstGeom prst="rect">
            <a:avLst/>
          </a:prstGeom>
          <a:solidFill>
            <a:srgbClr val="EDF2F4"/>
          </a:solidFill>
          <a:ln/>
        </p:spPr>
      </p:sp>
      <p:sp>
        <p:nvSpPr>
          <p:cNvPr id="5" name="Text 3"/>
          <p:cNvSpPr/>
          <p:nvPr/>
        </p:nvSpPr>
        <p:spPr>
          <a:xfrm>
            <a:off x="640080" y="1280160"/>
            <a:ext cx="7863840" cy="640080"/>
          </a:xfrm>
          <a:prstGeom prst="rect">
            <a:avLst/>
          </a:prstGeom>
          <a:noFill/>
          <a:ln/>
        </p:spPr>
        <p:txBody>
          <a:bodyPr wrap="square" rtlCol="0" anchor="ctr"/>
          <a:lstStyle/>
          <a:p>
            <a:pPr algn="l" indent="0" marL="0">
              <a:buNone/>
            </a:pPr>
            <a:r>
              <a:rPr lang="en-US" sz="1500" dirty="0">
                <a:solidFill>
                  <a:srgbClr val="2B2D42"/>
                </a:solidFill>
                <a:latin typeface="Microsoft YaHei" pitchFamily="34" charset="0"/>
                <a:ea typeface="Microsoft YaHei" pitchFamily="34" charset="-122"/>
                <a:cs typeface="Microsoft YaHei" pitchFamily="34" charset="-120"/>
              </a:rPr>
              <a:t>付钱的人是家长，孩子接受服务 → 从业者更容易向付钱的一方倾斜</a:t>
            </a:r>
            <a:endParaRPr lang="en-US" sz="1500" dirty="0"/>
          </a:p>
        </p:txBody>
      </p:sp>
      <p:sp>
        <p:nvSpPr>
          <p:cNvPr id="6" name="Text 4"/>
          <p:cNvSpPr/>
          <p:nvPr/>
        </p:nvSpPr>
        <p:spPr>
          <a:xfrm>
            <a:off x="457200" y="2103120"/>
            <a:ext cx="8229600" cy="365760"/>
          </a:xfrm>
          <a:prstGeom prst="rect">
            <a:avLst/>
          </a:prstGeom>
          <a:noFill/>
          <a:ln/>
        </p:spPr>
        <p:txBody>
          <a:bodyPr wrap="square" rtlCol="0" anchor="ctr"/>
          <a:lstStyle/>
          <a:p>
            <a:pPr indent="0" marL="0">
              <a:buNone/>
            </a:pPr>
            <a:r>
              <a:rPr lang="en-US" sz="1400" b="1" dirty="0">
                <a:solidFill>
                  <a:srgbClr val="8D99AE"/>
                </a:solidFill>
                <a:latin typeface="Microsoft YaHei" pitchFamily="34" charset="0"/>
                <a:ea typeface="Microsoft YaHei" pitchFamily="34" charset="-122"/>
                <a:cs typeface="Microsoft YaHei" pitchFamily="34" charset="-120"/>
              </a:rPr>
              <a:t>我的提醒</a:t>
            </a:r>
            <a:endParaRPr lang="en-US" sz="1400" dirty="0"/>
          </a:p>
        </p:txBody>
      </p:sp>
      <p:sp>
        <p:nvSpPr>
          <p:cNvPr id="7" name="Shape 5"/>
          <p:cNvSpPr/>
          <p:nvPr/>
        </p:nvSpPr>
        <p:spPr>
          <a:xfrm>
            <a:off x="457200" y="2468880"/>
            <a:ext cx="8229600" cy="731520"/>
          </a:xfrm>
          <a:prstGeom prst="rect">
            <a:avLst/>
          </a:prstGeom>
          <a:solidFill>
            <a:srgbClr val="EF233C">
              <a:alpha val="90000"/>
            </a:srgbClr>
          </a:solidFill>
          <a:ln w="12700">
            <a:solidFill>
              <a:srgbClr val="EF233C"/>
            </a:solidFill>
            <a:prstDash val="solid"/>
          </a:ln>
        </p:spPr>
      </p:sp>
      <p:sp>
        <p:nvSpPr>
          <p:cNvPr id="8" name="Text 6"/>
          <p:cNvSpPr/>
          <p:nvPr/>
        </p:nvSpPr>
        <p:spPr>
          <a:xfrm>
            <a:off x="640080" y="2468880"/>
            <a:ext cx="7863840" cy="731520"/>
          </a:xfrm>
          <a:prstGeom prst="rect">
            <a:avLst/>
          </a:prstGeom>
          <a:noFill/>
          <a:ln/>
        </p:spPr>
        <p:txBody>
          <a:bodyPr wrap="square" rtlCol="0" anchor="ctr"/>
          <a:lstStyle/>
          <a:p>
            <a:pPr algn="l" indent="0" marL="0">
              <a:buNone/>
            </a:pPr>
            <a:r>
              <a:rPr lang="en-US" sz="1500" dirty="0">
                <a:solidFill>
                  <a:srgbClr val="2B2D42"/>
                </a:solidFill>
                <a:latin typeface="Microsoft YaHei" pitchFamily="34" charset="0"/>
                <a:ea typeface="Microsoft YaHei" pitchFamily="34" charset="-122"/>
                <a:cs typeface="Microsoft YaHei" pitchFamily="34" charset="-120"/>
              </a:rPr>
              <a:t>服务的对象应该是那个要为这个选择过接下来四年甚至更久的人，不是那个签支付单的人</a:t>
            </a:r>
            <a:endParaRPr lang="en-US" sz="1500" dirty="0"/>
          </a:p>
        </p:txBody>
      </p:sp>
      <p:sp>
        <p:nvSpPr>
          <p:cNvPr id="9" name="Text 7"/>
          <p:cNvSpPr/>
          <p:nvPr/>
        </p:nvSpPr>
        <p:spPr>
          <a:xfrm>
            <a:off x="457200" y="3383280"/>
            <a:ext cx="8229600" cy="365760"/>
          </a:xfrm>
          <a:prstGeom prst="rect">
            <a:avLst/>
          </a:prstGeom>
          <a:noFill/>
          <a:ln/>
        </p:spPr>
        <p:txBody>
          <a:bodyPr wrap="square" rtlCol="0" anchor="ctr"/>
          <a:lstStyle/>
          <a:p>
            <a:pPr indent="0" marL="0">
              <a:buNone/>
            </a:pPr>
            <a:r>
              <a:rPr lang="en-US" sz="1400" b="1" dirty="0">
                <a:solidFill>
                  <a:srgbClr val="8D99AE"/>
                </a:solidFill>
                <a:latin typeface="Microsoft YaHei" pitchFamily="34" charset="0"/>
                <a:ea typeface="Microsoft YaHei" pitchFamily="34" charset="-122"/>
                <a:cs typeface="Microsoft YaHei" pitchFamily="34" charset="-120"/>
              </a:rPr>
              <a:t>关键做法</a:t>
            </a:r>
            <a:endParaRPr lang="en-US" sz="1400" dirty="0"/>
          </a:p>
        </p:txBody>
      </p:sp>
      <p:sp>
        <p:nvSpPr>
          <p:cNvPr id="10" name="Shape 8"/>
          <p:cNvSpPr/>
          <p:nvPr/>
        </p:nvSpPr>
        <p:spPr>
          <a:xfrm>
            <a:off x="457200" y="3749040"/>
            <a:ext cx="8229600" cy="731520"/>
          </a:xfrm>
          <a:prstGeom prst="rect">
            <a:avLst/>
          </a:prstGeom>
          <a:solidFill>
            <a:srgbClr val="2B2D42"/>
          </a:solidFill>
          <a:ln/>
        </p:spPr>
      </p:sp>
      <p:sp>
        <p:nvSpPr>
          <p:cNvPr id="11" name="Text 9"/>
          <p:cNvSpPr/>
          <p:nvPr/>
        </p:nvSpPr>
        <p:spPr>
          <a:xfrm>
            <a:off x="640080" y="3749040"/>
            <a:ext cx="7863840" cy="73152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刻意留一个"这不是最终答案，是给你参考的一个角度"的空间</a:t>
            </a:r>
            <a:endParaRPr lang="en-US" sz="1600" dirty="0"/>
          </a:p>
        </p:txBody>
      </p:sp>
      <p:sp>
        <p:nvSpPr>
          <p:cNvPr id="12" name="Shape 10"/>
          <p:cNvSpPr/>
          <p:nvPr/>
        </p:nvSpPr>
        <p:spPr>
          <a:xfrm>
            <a:off x="8321040" y="4572000"/>
            <a:ext cx="457200" cy="457200"/>
          </a:xfrm>
          <a:prstGeom prst="ellipse">
            <a:avLst/>
          </a:prstGeom>
          <a:solidFill>
            <a:srgbClr val="8D99AE"/>
          </a:solidFill>
          <a:ln/>
        </p:spPr>
      </p:sp>
      <p:sp>
        <p:nvSpPr>
          <p:cNvPr id="13" name="Text 11"/>
          <p:cNvSpPr/>
          <p:nvPr/>
        </p:nvSpPr>
        <p:spPr>
          <a:xfrm>
            <a:off x="8321040" y="4572000"/>
            <a:ext cx="4572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2B2D4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233C"/>
          </a:solidFill>
          <a:ln/>
        </p:spPr>
      </p:sp>
      <p:sp>
        <p:nvSpPr>
          <p:cNvPr id="3" name="Shape 1"/>
          <p:cNvSpPr/>
          <p:nvPr/>
        </p:nvSpPr>
        <p:spPr>
          <a:xfrm>
            <a:off x="457200" y="365760"/>
            <a:ext cx="1097280" cy="365760"/>
          </a:xfrm>
          <a:prstGeom prst="roundRect">
            <a:avLst>
              <a:gd name="adj" fmla="val 12500"/>
            </a:avLst>
          </a:prstGeom>
          <a:solidFill>
            <a:srgbClr val="EF233C"/>
          </a:solidFill>
          <a:ln/>
        </p:spPr>
      </p:sp>
      <p:sp>
        <p:nvSpPr>
          <p:cNvPr id="4" name="Text 2"/>
          <p:cNvSpPr/>
          <p:nvPr/>
        </p:nvSpPr>
        <p:spPr>
          <a:xfrm>
            <a:off x="457200" y="365760"/>
            <a:ext cx="1097280" cy="365760"/>
          </a:xfrm>
          <a:prstGeom prst="rect">
            <a:avLst/>
          </a:prstGeom>
          <a:noFill/>
          <a:ln/>
        </p:spPr>
        <p:txBody>
          <a:bodyPr wrap="square" lIns="0" tIns="0" rIns="0" bIns="0" rtlCol="0" anchor="ctr"/>
          <a:lstStyle/>
          <a:p>
            <a:pPr algn="ctr" indent="0" marL="0">
              <a:buNone/>
            </a:pPr>
            <a:r>
              <a:rPr lang="en-US" sz="1200" b="1" dirty="0">
                <a:solidFill>
                  <a:srgbClr val="EDF2F4"/>
                </a:solidFill>
                <a:latin typeface="Microsoft YaHei" pitchFamily="34" charset="0"/>
                <a:ea typeface="Microsoft YaHei" pitchFamily="34" charset="-122"/>
                <a:cs typeface="Microsoft YaHei" pitchFamily="34" charset="-120"/>
              </a:rPr>
              <a:t>第十三章</a:t>
            </a:r>
            <a:endParaRPr lang="en-US" sz="1200" dirty="0"/>
          </a:p>
        </p:txBody>
      </p:sp>
      <p:sp>
        <p:nvSpPr>
          <p:cNvPr id="5" name="Shape 3"/>
          <p:cNvSpPr/>
          <p:nvPr/>
        </p:nvSpPr>
        <p:spPr>
          <a:xfrm>
            <a:off x="548640" y="1097280"/>
            <a:ext cx="914400" cy="914400"/>
          </a:xfrm>
          <a:prstGeom prst="ellipse">
            <a:avLst/>
          </a:prstGeom>
          <a:solidFill>
            <a:srgbClr val="8D99AE">
              <a:alpha val="15000"/>
            </a:srgbClr>
          </a:solidFill>
          <a:ln w="12700">
            <a:solidFill>
              <a:srgbClr val="8D99AE">
                <a:alpha val="30000"/>
              </a:srgbClr>
            </a:solidFill>
            <a:prstDash val="solid"/>
          </a:ln>
        </p:spPr>
      </p:sp>
      <p:sp>
        <p:nvSpPr>
          <p:cNvPr id="6" name="Shape 4"/>
          <p:cNvSpPr/>
          <p:nvPr/>
        </p:nvSpPr>
        <p:spPr>
          <a:xfrm>
            <a:off x="731520" y="1280160"/>
            <a:ext cx="548640" cy="548640"/>
          </a:xfrm>
          <a:prstGeom prst="ellipse">
            <a:avLst/>
          </a:prstGeom>
          <a:solidFill>
            <a:srgbClr val="EF233C">
              <a:alpha val="15000"/>
            </a:srgbClr>
          </a:solidFill>
          <a:ln/>
        </p:spPr>
      </p:sp>
      <p:sp>
        <p:nvSpPr>
          <p:cNvPr id="7" name="Text 5"/>
          <p:cNvSpPr/>
          <p:nvPr/>
        </p:nvSpPr>
        <p:spPr>
          <a:xfrm>
            <a:off x="1828800" y="822960"/>
            <a:ext cx="6858000" cy="731520"/>
          </a:xfrm>
          <a:prstGeom prst="rect">
            <a:avLst/>
          </a:prstGeom>
          <a:noFill/>
          <a:ln/>
        </p:spPr>
        <p:txBody>
          <a:bodyPr wrap="square" lIns="0" tIns="0" rIns="0" bIns="0" rtlCol="0" anchor="ctr"/>
          <a:lstStyle/>
          <a:p>
            <a:pPr algn="l" indent="0" marL="0">
              <a:buNone/>
            </a:pPr>
            <a:r>
              <a:rPr lang="en-US" sz="3200" b="1" dirty="0">
                <a:solidFill>
                  <a:srgbClr val="EDF2F4"/>
                </a:solidFill>
                <a:latin typeface="Microsoft YaHei" pitchFamily="34" charset="0"/>
                <a:ea typeface="Microsoft YaHei" pitchFamily="34" charset="-122"/>
                <a:cs typeface="Microsoft YaHei" pitchFamily="34" charset="-120"/>
              </a:rPr>
              <a:t>口碑和转介绍，是副产品，不是你该追的东西</a:t>
            </a:r>
            <a:endParaRPr lang="en-US" sz="3200" dirty="0"/>
          </a:p>
        </p:txBody>
      </p:sp>
      <p:sp>
        <p:nvSpPr>
          <p:cNvPr id="8" name="Shape 6"/>
          <p:cNvSpPr/>
          <p:nvPr/>
        </p:nvSpPr>
        <p:spPr>
          <a:xfrm>
            <a:off x="1828800" y="1737360"/>
            <a:ext cx="6858000" cy="2560320"/>
          </a:xfrm>
          <a:prstGeom prst="rect">
            <a:avLst/>
          </a:prstGeom>
          <a:solidFill>
            <a:srgbClr val="8D99AE">
              <a:alpha val="8000"/>
            </a:srgbClr>
          </a:solidFill>
          <a:ln w="38100">
            <a:solidFill>
              <a:srgbClr val="EF233C"/>
            </a:solidFill>
            <a:prstDash val="solid"/>
          </a:ln>
        </p:spPr>
      </p:sp>
      <p:sp>
        <p:nvSpPr>
          <p:cNvPr id="9" name="Shape 7"/>
          <p:cNvSpPr/>
          <p:nvPr/>
        </p:nvSpPr>
        <p:spPr>
          <a:xfrm>
            <a:off x="1828800" y="1737360"/>
            <a:ext cx="54864" cy="2560320"/>
          </a:xfrm>
          <a:prstGeom prst="rect">
            <a:avLst/>
          </a:prstGeom>
          <a:solidFill>
            <a:srgbClr val="EF233C"/>
          </a:solidFill>
          <a:ln/>
        </p:spPr>
      </p:sp>
      <p:sp>
        <p:nvSpPr>
          <p:cNvPr id="10" name="Text 8"/>
          <p:cNvSpPr/>
          <p:nvPr/>
        </p:nvSpPr>
        <p:spPr>
          <a:xfrm>
            <a:off x="2011680" y="1691640"/>
            <a:ext cx="548640" cy="731520"/>
          </a:xfrm>
          <a:prstGeom prst="rect">
            <a:avLst/>
          </a:prstGeom>
          <a:noFill/>
          <a:ln/>
        </p:spPr>
        <p:txBody>
          <a:bodyPr wrap="square" lIns="0" tIns="0" rIns="0" bIns="0" rtlCol="0" anchor="t"/>
          <a:lstStyle/>
          <a:p>
            <a:pPr algn="l" indent="0" marL="0">
              <a:buNone/>
            </a:pPr>
            <a:r>
              <a:rPr lang="en-US" sz="6000" b="1" dirty="0">
                <a:solidFill>
                  <a:srgbClr val="EF233C"/>
                </a:solidFill>
                <a:latin typeface="Georgia" pitchFamily="34" charset="0"/>
                <a:ea typeface="Georgia" pitchFamily="34" charset="-122"/>
                <a:cs typeface="Georgia" pitchFamily="34" charset="-120"/>
              </a:rPr>
              <a:t>"</a:t>
            </a:r>
            <a:endParaRPr lang="en-US" sz="6000" dirty="0"/>
          </a:p>
        </p:txBody>
      </p:sp>
      <p:sp>
        <p:nvSpPr>
          <p:cNvPr id="11" name="Text 9"/>
          <p:cNvSpPr/>
          <p:nvPr/>
        </p:nvSpPr>
        <p:spPr>
          <a:xfrm>
            <a:off x="2103120" y="2103120"/>
            <a:ext cx="6309360" cy="2011680"/>
          </a:xfrm>
          <a:prstGeom prst="rect">
            <a:avLst/>
          </a:prstGeom>
          <a:noFill/>
          <a:ln/>
        </p:spPr>
        <p:txBody>
          <a:bodyPr wrap="square" lIns="0" tIns="0" rIns="0" bIns="0" rtlCol="0" anchor="t"/>
          <a:lstStyle/>
          <a:p>
            <a:pPr algn="l" indent="0" marL="0">
              <a:buNone/>
            </a:pPr>
            <a:r>
              <a:rPr lang="en-US" sz="2000" dirty="0">
                <a:solidFill>
                  <a:srgbClr val="EDF2F4"/>
                </a:solidFill>
                <a:latin typeface="Microsoft YaHei" pitchFamily="34" charset="0"/>
                <a:ea typeface="Microsoft YaHei" pitchFamily="34" charset="-122"/>
                <a:cs typeface="Microsoft YaHei" pitchFamily="34" charset="-120"/>
              </a:rPr>
              <a:t>你要是天天想着怎么攒口碑、怎么让家长转介绍，反而攒不出来；把每一次判断做扎实了，口碑是自己长出来的，不是求来的。</a:t>
            </a:r>
            <a:endParaRPr lang="en-US" sz="2000" dirty="0"/>
          </a:p>
        </p:txBody>
      </p:sp>
      <p:sp>
        <p:nvSpPr>
          <p:cNvPr id="12" name="Shape 10"/>
          <p:cNvSpPr/>
          <p:nvPr/>
        </p:nvSpPr>
        <p:spPr>
          <a:xfrm>
            <a:off x="8229600" y="4572000"/>
            <a:ext cx="457200" cy="457200"/>
          </a:xfrm>
          <a:prstGeom prst="ellipse">
            <a:avLst/>
          </a:prstGeom>
          <a:solidFill>
            <a:srgbClr val="8D99AE">
              <a:alpha val="50000"/>
            </a:srgbClr>
          </a:solidFill>
          <a:ln/>
        </p:spPr>
      </p:sp>
      <p:sp>
        <p:nvSpPr>
          <p:cNvPr id="13" name="Text 11"/>
          <p:cNvSpPr/>
          <p:nvPr/>
        </p:nvSpPr>
        <p:spPr>
          <a:xfrm>
            <a:off x="8229600" y="4572000"/>
            <a:ext cx="457200" cy="457200"/>
          </a:xfrm>
          <a:prstGeom prst="rect">
            <a:avLst/>
          </a:prstGeom>
          <a:noFill/>
          <a:ln/>
        </p:spPr>
        <p:txBody>
          <a:bodyPr wrap="square" lIns="0" tIns="0" rIns="0" bIns="0" rtlCol="0" anchor="ctr"/>
          <a:lstStyle/>
          <a:p>
            <a:pPr algn="ctr" indent="0" marL="0">
              <a:buNone/>
            </a:pPr>
            <a:r>
              <a:rPr lang="en-US" sz="1200" b="1" dirty="0">
                <a:solidFill>
                  <a:srgbClr val="EDF2F4"/>
                </a:solidFill>
                <a:latin typeface="Arial" pitchFamily="34" charset="0"/>
                <a:ea typeface="Arial" pitchFamily="34" charset="-122"/>
                <a:cs typeface="Arial" pitchFamily="34" charset="-120"/>
              </a:rPr>
              <a:t>61</a:t>
            </a:r>
            <a:endParaRPr lang="en-US" sz="1200" dirty="0"/>
          </a:p>
        </p:txBody>
      </p:sp>
      <p:sp>
        <p:nvSpPr>
          <p:cNvPr id="14" name="Shape 12"/>
          <p:cNvSpPr/>
          <p:nvPr/>
        </p:nvSpPr>
        <p:spPr>
          <a:xfrm>
            <a:off x="0" y="5097780"/>
            <a:ext cx="9144000" cy="45720"/>
          </a:xfrm>
          <a:prstGeom prst="rect">
            <a:avLst/>
          </a:prstGeom>
          <a:solidFill>
            <a:srgbClr val="EF233C"/>
          </a:solidFill>
          <a:ln/>
        </p:spPr>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2B2D4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233C"/>
          </a:solidFill>
          <a:ln/>
        </p:spPr>
      </p:sp>
      <p:sp>
        <p:nvSpPr>
          <p:cNvPr id="3" name="Text 1"/>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3400" b="1" dirty="0">
                <a:solidFill>
                  <a:srgbClr val="EDF2F4"/>
                </a:solidFill>
                <a:latin typeface="Microsoft YaHei" pitchFamily="34" charset="0"/>
                <a:ea typeface="Microsoft YaHei" pitchFamily="34" charset="-122"/>
                <a:cs typeface="Microsoft YaHei" pitchFamily="34" charset="-120"/>
              </a:rPr>
              <a:t>口碑运营的陷阱</a:t>
            </a:r>
            <a:endParaRPr lang="en-US" sz="3400" dirty="0"/>
          </a:p>
        </p:txBody>
      </p:sp>
      <p:sp>
        <p:nvSpPr>
          <p:cNvPr id="4" name="Shape 2"/>
          <p:cNvSpPr/>
          <p:nvPr/>
        </p:nvSpPr>
        <p:spPr>
          <a:xfrm>
            <a:off x="457200" y="1188720"/>
            <a:ext cx="4023360" cy="1371600"/>
          </a:xfrm>
          <a:prstGeom prst="rect">
            <a:avLst/>
          </a:prstGeom>
          <a:solidFill>
            <a:srgbClr val="EF233C">
              <a:alpha val="12000"/>
            </a:srgbClr>
          </a:solidFill>
          <a:ln w="25400">
            <a:solidFill>
              <a:srgbClr val="EF233C"/>
            </a:solidFill>
            <a:prstDash val="solid"/>
          </a:ln>
        </p:spPr>
      </p:sp>
      <p:sp>
        <p:nvSpPr>
          <p:cNvPr id="5" name="Text 3"/>
          <p:cNvSpPr/>
          <p:nvPr/>
        </p:nvSpPr>
        <p:spPr>
          <a:xfrm>
            <a:off x="640080" y="1280160"/>
            <a:ext cx="3657600" cy="320040"/>
          </a:xfrm>
          <a:prstGeom prst="rect">
            <a:avLst/>
          </a:prstGeom>
          <a:noFill/>
          <a:ln/>
        </p:spPr>
        <p:txBody>
          <a:bodyPr wrap="square" lIns="0" tIns="0" rIns="0" bIns="0" rtlCol="0" anchor="ctr"/>
          <a:lstStyle/>
          <a:p>
            <a:pPr algn="l" indent="0" marL="0">
              <a:buNone/>
            </a:pPr>
            <a:r>
              <a:rPr lang="en-US" sz="1300" b="1" dirty="0">
                <a:solidFill>
                  <a:srgbClr val="EF233C"/>
                </a:solidFill>
                <a:latin typeface="Microsoft YaHei" pitchFamily="34" charset="0"/>
                <a:ea typeface="Microsoft YaHei" pitchFamily="34" charset="-122"/>
                <a:cs typeface="Microsoft YaHei" pitchFamily="34" charset="-120"/>
              </a:rPr>
              <a:t>核心陷阱</a:t>
            </a:r>
            <a:endParaRPr lang="en-US" sz="1300" dirty="0"/>
          </a:p>
        </p:txBody>
      </p:sp>
      <p:sp>
        <p:nvSpPr>
          <p:cNvPr id="6" name="Text 4"/>
          <p:cNvSpPr/>
          <p:nvPr/>
        </p:nvSpPr>
        <p:spPr>
          <a:xfrm>
            <a:off x="640080" y="1645920"/>
            <a:ext cx="3657600" cy="822960"/>
          </a:xfrm>
          <a:prstGeom prst="rect">
            <a:avLst/>
          </a:prstGeom>
          <a:noFill/>
          <a:ln/>
        </p:spPr>
        <p:txBody>
          <a:bodyPr wrap="square" lIns="0" tIns="0" rIns="0" bIns="0" rtlCol="0" anchor="t"/>
          <a:lstStyle/>
          <a:p>
            <a:pPr algn="l" indent="0" marL="0">
              <a:buNone/>
            </a:pPr>
            <a:r>
              <a:rPr lang="en-US" sz="1400" dirty="0">
                <a:solidFill>
                  <a:srgbClr val="EDF2F4"/>
                </a:solidFill>
                <a:latin typeface="Microsoft YaHei" pitchFamily="34" charset="0"/>
                <a:ea typeface="Microsoft YaHei" pitchFamily="34" charset="-122"/>
                <a:cs typeface="Microsoft YaHei" pitchFamily="34" charset="-120"/>
              </a:rPr>
              <a:t>把注意力放在"怎么让这次服务变成一个能拿出去展示的好案例"上，判断本身很容易走样</a:t>
            </a:r>
            <a:endParaRPr lang="en-US" sz="1400" dirty="0"/>
          </a:p>
        </p:txBody>
      </p:sp>
      <p:sp>
        <p:nvSpPr>
          <p:cNvPr id="7" name="Shape 5"/>
          <p:cNvSpPr/>
          <p:nvPr/>
        </p:nvSpPr>
        <p:spPr>
          <a:xfrm>
            <a:off x="4663440" y="1188720"/>
            <a:ext cx="4023360" cy="1371600"/>
          </a:xfrm>
          <a:prstGeom prst="rect">
            <a:avLst/>
          </a:prstGeom>
          <a:solidFill>
            <a:srgbClr val="8D99AE">
              <a:alpha val="10000"/>
            </a:srgbClr>
          </a:solidFill>
          <a:ln w="12700">
            <a:solidFill>
              <a:srgbClr val="8D99AE"/>
            </a:solidFill>
            <a:prstDash val="solid"/>
          </a:ln>
        </p:spPr>
      </p:sp>
      <p:sp>
        <p:nvSpPr>
          <p:cNvPr id="8" name="Text 6"/>
          <p:cNvSpPr/>
          <p:nvPr/>
        </p:nvSpPr>
        <p:spPr>
          <a:xfrm>
            <a:off x="4846320" y="1280160"/>
            <a:ext cx="3657600" cy="320040"/>
          </a:xfrm>
          <a:prstGeom prst="rect">
            <a:avLst/>
          </a:prstGeom>
          <a:noFill/>
          <a:ln/>
        </p:spPr>
        <p:txBody>
          <a:bodyPr wrap="square" lIns="0" tIns="0" rIns="0" bIns="0" rtlCol="0" anchor="ctr"/>
          <a:lstStyle/>
          <a:p>
            <a:pPr algn="l" indent="0" marL="0">
              <a:buNone/>
            </a:pPr>
            <a:r>
              <a:rPr lang="en-US" sz="1300" b="1" dirty="0">
                <a:solidFill>
                  <a:srgbClr val="8D99AE"/>
                </a:solidFill>
                <a:latin typeface="Microsoft YaHei" pitchFamily="34" charset="0"/>
                <a:ea typeface="Microsoft YaHei" pitchFamily="34" charset="-122"/>
                <a:cs typeface="Microsoft YaHei" pitchFamily="34" charset="-120"/>
              </a:rPr>
              <a:t>不自觉的偏向</a:t>
            </a:r>
            <a:endParaRPr lang="en-US" sz="1300" dirty="0"/>
          </a:p>
        </p:txBody>
      </p:sp>
      <p:sp>
        <p:nvSpPr>
          <p:cNvPr id="9" name="Text 7"/>
          <p:cNvSpPr/>
          <p:nvPr/>
        </p:nvSpPr>
        <p:spPr>
          <a:xfrm>
            <a:off x="4846320" y="1645920"/>
            <a:ext cx="3657600" cy="822960"/>
          </a:xfrm>
          <a:prstGeom prst="rect">
            <a:avLst/>
          </a:prstGeom>
          <a:noFill/>
          <a:ln/>
        </p:spPr>
        <p:txBody>
          <a:bodyPr wrap="square" lIns="0" tIns="0" rIns="0" bIns="0" rtlCol="0" anchor="t"/>
          <a:lstStyle/>
          <a:p>
            <a:pPr algn="l" indent="0" marL="0">
              <a:buNone/>
            </a:pPr>
            <a:r>
              <a:rPr lang="en-US" sz="1400" dirty="0">
                <a:solidFill>
                  <a:srgbClr val="EDF2F4"/>
                </a:solidFill>
                <a:latin typeface="Microsoft YaHei" pitchFamily="34" charset="0"/>
                <a:ea typeface="Microsoft YaHei" pitchFamily="34" charset="-122"/>
                <a:cs typeface="Microsoft YaHei" pitchFamily="34" charset="-120"/>
              </a:rPr>
              <a:t>不自觉地偏向那种听起来更"有故事性"的选择</a:t>
            </a:r>
            <a:endParaRPr lang="en-US" sz="1400" dirty="0"/>
          </a:p>
        </p:txBody>
      </p:sp>
      <p:sp>
        <p:nvSpPr>
          <p:cNvPr id="10" name="Shape 8"/>
          <p:cNvSpPr/>
          <p:nvPr/>
        </p:nvSpPr>
        <p:spPr>
          <a:xfrm>
            <a:off x="457200" y="2743200"/>
            <a:ext cx="8229600" cy="914400"/>
          </a:xfrm>
          <a:prstGeom prst="rect">
            <a:avLst/>
          </a:prstGeom>
          <a:solidFill>
            <a:srgbClr val="8D99AE">
              <a:alpha val="8000"/>
            </a:srgbClr>
          </a:solidFill>
          <a:ln/>
        </p:spPr>
      </p:sp>
      <p:sp>
        <p:nvSpPr>
          <p:cNvPr id="11" name="Text 9"/>
          <p:cNvSpPr/>
          <p:nvPr/>
        </p:nvSpPr>
        <p:spPr>
          <a:xfrm>
            <a:off x="640080" y="2834640"/>
            <a:ext cx="1097280" cy="320040"/>
          </a:xfrm>
          <a:prstGeom prst="rect">
            <a:avLst/>
          </a:prstGeom>
          <a:noFill/>
          <a:ln/>
        </p:spPr>
        <p:txBody>
          <a:bodyPr wrap="square" lIns="0" tIns="0" rIns="0" bIns="0" rtlCol="0" anchor="ctr"/>
          <a:lstStyle/>
          <a:p>
            <a:pPr algn="l" indent="0" marL="0">
              <a:buNone/>
            </a:pPr>
            <a:r>
              <a:rPr lang="en-US" sz="1200" b="1" dirty="0">
                <a:solidFill>
                  <a:srgbClr val="EF233C"/>
                </a:solidFill>
                <a:latin typeface="Microsoft YaHei" pitchFamily="34" charset="0"/>
                <a:ea typeface="Microsoft YaHei" pitchFamily="34" charset="-122"/>
                <a:cs typeface="Microsoft YaHei" pitchFamily="34" charset="-120"/>
              </a:rPr>
              <a:t>典型表现</a:t>
            </a:r>
            <a:endParaRPr lang="en-US" sz="1200" dirty="0"/>
          </a:p>
        </p:txBody>
      </p:sp>
      <p:sp>
        <p:nvSpPr>
          <p:cNvPr id="12" name="Text 10"/>
          <p:cNvSpPr/>
          <p:nvPr/>
        </p:nvSpPr>
        <p:spPr>
          <a:xfrm>
            <a:off x="640080" y="3154680"/>
            <a:ext cx="7863840" cy="457200"/>
          </a:xfrm>
          <a:prstGeom prst="rect">
            <a:avLst/>
          </a:prstGeom>
          <a:noFill/>
          <a:ln/>
        </p:spPr>
        <p:txBody>
          <a:bodyPr wrap="square" lIns="0" tIns="0" rIns="0" bIns="0" rtlCol="0" anchor="t"/>
          <a:lstStyle/>
          <a:p>
            <a:pPr algn="l" indent="0" marL="0">
              <a:buNone/>
            </a:pPr>
            <a:r>
              <a:rPr lang="en-US" sz="1400" dirty="0">
                <a:solidFill>
                  <a:srgbClr val="EDF2F4"/>
                </a:solidFill>
                <a:latin typeface="Microsoft YaHei" pitchFamily="34" charset="0"/>
                <a:ea typeface="Microsoft YaHei" pitchFamily="34" charset="-122"/>
                <a:cs typeface="Microsoft YaHei" pitchFamily="34" charset="-120"/>
              </a:rPr>
              <a:t>更愿意促成一次"低分冲高分名校"的结果，而不是一个看起来平淡但其实更适合这个孩子的选择</a:t>
            </a:r>
            <a:endParaRPr lang="en-US" sz="1400" dirty="0"/>
          </a:p>
        </p:txBody>
      </p:sp>
      <p:sp>
        <p:nvSpPr>
          <p:cNvPr id="13" name="Shape 11"/>
          <p:cNvSpPr/>
          <p:nvPr/>
        </p:nvSpPr>
        <p:spPr>
          <a:xfrm>
            <a:off x="457200" y="3840480"/>
            <a:ext cx="8229600" cy="1005840"/>
          </a:xfrm>
          <a:prstGeom prst="rect">
            <a:avLst/>
          </a:prstGeom>
          <a:solidFill>
            <a:srgbClr val="EF233C">
              <a:alpha val="15000"/>
            </a:srgbClr>
          </a:solidFill>
          <a:ln/>
        </p:spPr>
      </p:sp>
      <p:sp>
        <p:nvSpPr>
          <p:cNvPr id="14" name="Shape 12"/>
          <p:cNvSpPr/>
          <p:nvPr/>
        </p:nvSpPr>
        <p:spPr>
          <a:xfrm>
            <a:off x="457200" y="3840480"/>
            <a:ext cx="54864" cy="1005840"/>
          </a:xfrm>
          <a:prstGeom prst="rect">
            <a:avLst/>
          </a:prstGeom>
          <a:solidFill>
            <a:srgbClr val="EF233C"/>
          </a:solidFill>
          <a:ln/>
        </p:spPr>
      </p:sp>
      <p:sp>
        <p:nvSpPr>
          <p:cNvPr id="15" name="Text 13"/>
          <p:cNvSpPr/>
          <p:nvPr/>
        </p:nvSpPr>
        <p:spPr>
          <a:xfrm>
            <a:off x="640080" y="3931920"/>
            <a:ext cx="1371600" cy="274320"/>
          </a:xfrm>
          <a:prstGeom prst="rect">
            <a:avLst/>
          </a:prstGeom>
          <a:noFill/>
          <a:ln/>
        </p:spPr>
        <p:txBody>
          <a:bodyPr wrap="square" lIns="0" tIns="0" rIns="0" bIns="0" rtlCol="0" anchor="ctr"/>
          <a:lstStyle/>
          <a:p>
            <a:pPr algn="l" indent="0" marL="0">
              <a:buNone/>
            </a:pPr>
            <a:r>
              <a:rPr lang="en-US" sz="1200" b="1" dirty="0">
                <a:solidFill>
                  <a:srgbClr val="EF233C"/>
                </a:solidFill>
                <a:latin typeface="Microsoft YaHei" pitchFamily="34" charset="0"/>
                <a:ea typeface="Microsoft YaHei" pitchFamily="34" charset="-122"/>
                <a:cs typeface="Microsoft YaHei" pitchFamily="34" charset="-120"/>
              </a:rPr>
              <a:t>深层洞察</a:t>
            </a:r>
            <a:endParaRPr lang="en-US" sz="1200" dirty="0"/>
          </a:p>
        </p:txBody>
      </p:sp>
      <p:sp>
        <p:nvSpPr>
          <p:cNvPr id="16" name="Text 14"/>
          <p:cNvSpPr/>
          <p:nvPr/>
        </p:nvSpPr>
        <p:spPr>
          <a:xfrm>
            <a:off x="640080" y="4251960"/>
            <a:ext cx="7863840" cy="502920"/>
          </a:xfrm>
          <a:prstGeom prst="rect">
            <a:avLst/>
          </a:prstGeom>
          <a:noFill/>
          <a:ln/>
        </p:spPr>
        <p:txBody>
          <a:bodyPr wrap="square" lIns="0" tIns="0" rIns="0" bIns="0" rtlCol="0" anchor="t"/>
          <a:lstStyle/>
          <a:p>
            <a:pPr algn="l" indent="0" marL="0">
              <a:buNone/>
            </a:pPr>
            <a:r>
              <a:rPr lang="en-US" sz="1500" dirty="0">
                <a:solidFill>
                  <a:srgbClr val="EDF2F4"/>
                </a:solidFill>
                <a:latin typeface="Microsoft YaHei" pitchFamily="34" charset="0"/>
                <a:ea typeface="Microsoft YaHei" pitchFamily="34" charset="-122"/>
                <a:cs typeface="Microsoft YaHei" pitchFamily="34" charset="-120"/>
              </a:rPr>
              <a:t>驱动建议的那股力量已经从"什么对这个孩子最好"悄悄变成了"什么样的结果更好讲、更能带来转介绍"</a:t>
            </a:r>
            <a:endParaRPr lang="en-US" sz="1500" dirty="0"/>
          </a:p>
        </p:txBody>
      </p:sp>
      <p:sp>
        <p:nvSpPr>
          <p:cNvPr id="17" name="Shape 15"/>
          <p:cNvSpPr/>
          <p:nvPr/>
        </p:nvSpPr>
        <p:spPr>
          <a:xfrm>
            <a:off x="8229600" y="4572000"/>
            <a:ext cx="457200" cy="457200"/>
          </a:xfrm>
          <a:prstGeom prst="ellipse">
            <a:avLst/>
          </a:prstGeom>
          <a:solidFill>
            <a:srgbClr val="8D99AE">
              <a:alpha val="50000"/>
            </a:srgbClr>
          </a:solidFill>
          <a:ln/>
        </p:spPr>
      </p:sp>
      <p:sp>
        <p:nvSpPr>
          <p:cNvPr id="18" name="Text 16"/>
          <p:cNvSpPr/>
          <p:nvPr/>
        </p:nvSpPr>
        <p:spPr>
          <a:xfrm>
            <a:off x="8229600" y="4572000"/>
            <a:ext cx="457200" cy="457200"/>
          </a:xfrm>
          <a:prstGeom prst="rect">
            <a:avLst/>
          </a:prstGeom>
          <a:noFill/>
          <a:ln/>
        </p:spPr>
        <p:txBody>
          <a:bodyPr wrap="square" lIns="0" tIns="0" rIns="0" bIns="0" rtlCol="0" anchor="ctr"/>
          <a:lstStyle/>
          <a:p>
            <a:pPr algn="ctr" indent="0" marL="0">
              <a:buNone/>
            </a:pPr>
            <a:r>
              <a:rPr lang="en-US" sz="1200" b="1" dirty="0">
                <a:solidFill>
                  <a:srgbClr val="EDF2F4"/>
                </a:solidFill>
                <a:latin typeface="Arial" pitchFamily="34" charset="0"/>
                <a:ea typeface="Arial" pitchFamily="34" charset="-122"/>
                <a:cs typeface="Arial" pitchFamily="34" charset="-120"/>
              </a:rPr>
              <a:t>62</a:t>
            </a:r>
            <a:endParaRPr lang="en-US" sz="1200" dirty="0"/>
          </a:p>
        </p:txBody>
      </p:sp>
      <p:sp>
        <p:nvSpPr>
          <p:cNvPr id="19" name="Shape 17"/>
          <p:cNvSpPr/>
          <p:nvPr/>
        </p:nvSpPr>
        <p:spPr>
          <a:xfrm>
            <a:off x="0" y="5097780"/>
            <a:ext cx="9144000" cy="45720"/>
          </a:xfrm>
          <a:prstGeom prst="rect">
            <a:avLst/>
          </a:prstGeom>
          <a:solidFill>
            <a:srgbClr val="EF233C"/>
          </a:solidFill>
          <a:ln/>
        </p:spPr>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2B2D4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233C"/>
          </a:solidFill>
          <a:ln/>
        </p:spPr>
      </p:sp>
      <p:sp>
        <p:nvSpPr>
          <p:cNvPr id="3" name="Text 1"/>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3400" b="1" dirty="0">
                <a:solidFill>
                  <a:srgbClr val="EDF2F4"/>
                </a:solidFill>
                <a:latin typeface="Microsoft YaHei" pitchFamily="34" charset="0"/>
                <a:ea typeface="Microsoft YaHei" pitchFamily="34" charset="-122"/>
                <a:cs typeface="Microsoft YaHei" pitchFamily="34" charset="-120"/>
              </a:rPr>
              <a:t>副产品思维</a:t>
            </a:r>
            <a:endParaRPr lang="en-US" sz="3400" dirty="0"/>
          </a:p>
        </p:txBody>
      </p:sp>
      <p:sp>
        <p:nvSpPr>
          <p:cNvPr id="4" name="Shape 2"/>
          <p:cNvSpPr/>
          <p:nvPr/>
        </p:nvSpPr>
        <p:spPr>
          <a:xfrm>
            <a:off x="457200" y="1097280"/>
            <a:ext cx="8229600" cy="1005840"/>
          </a:xfrm>
          <a:prstGeom prst="rect">
            <a:avLst/>
          </a:prstGeom>
          <a:solidFill>
            <a:srgbClr val="EF233C">
              <a:alpha val="15000"/>
            </a:srgbClr>
          </a:solidFill>
          <a:ln/>
        </p:spPr>
      </p:sp>
      <p:sp>
        <p:nvSpPr>
          <p:cNvPr id="5" name="Shape 3"/>
          <p:cNvSpPr/>
          <p:nvPr/>
        </p:nvSpPr>
        <p:spPr>
          <a:xfrm>
            <a:off x="457200" y="1097280"/>
            <a:ext cx="54864" cy="1005840"/>
          </a:xfrm>
          <a:prstGeom prst="rect">
            <a:avLst/>
          </a:prstGeom>
          <a:solidFill>
            <a:srgbClr val="EF233C"/>
          </a:solidFill>
          <a:ln/>
        </p:spPr>
      </p:sp>
      <p:sp>
        <p:nvSpPr>
          <p:cNvPr id="6" name="Text 4"/>
          <p:cNvSpPr/>
          <p:nvPr/>
        </p:nvSpPr>
        <p:spPr>
          <a:xfrm>
            <a:off x="640080" y="1188720"/>
            <a:ext cx="1371600" cy="274320"/>
          </a:xfrm>
          <a:prstGeom prst="rect">
            <a:avLst/>
          </a:prstGeom>
          <a:noFill/>
          <a:ln/>
        </p:spPr>
        <p:txBody>
          <a:bodyPr wrap="square" lIns="0" tIns="0" rIns="0" bIns="0" rtlCol="0" anchor="ctr"/>
          <a:lstStyle/>
          <a:p>
            <a:pPr algn="l" indent="0" marL="0">
              <a:buNone/>
            </a:pPr>
            <a:r>
              <a:rPr lang="en-US" sz="1200" b="1" dirty="0">
                <a:solidFill>
                  <a:srgbClr val="EF233C"/>
                </a:solidFill>
                <a:latin typeface="Microsoft YaHei" pitchFamily="34" charset="0"/>
                <a:ea typeface="Microsoft YaHei" pitchFamily="34" charset="-122"/>
                <a:cs typeface="Microsoft YaHei" pitchFamily="34" charset="-120"/>
              </a:rPr>
              <a:t>核心观点</a:t>
            </a:r>
            <a:endParaRPr lang="en-US" sz="1200" dirty="0"/>
          </a:p>
        </p:txBody>
      </p:sp>
      <p:sp>
        <p:nvSpPr>
          <p:cNvPr id="7" name="Text 5"/>
          <p:cNvSpPr/>
          <p:nvPr/>
        </p:nvSpPr>
        <p:spPr>
          <a:xfrm>
            <a:off x="640080" y="1508760"/>
            <a:ext cx="7863840" cy="502920"/>
          </a:xfrm>
          <a:prstGeom prst="rect">
            <a:avLst/>
          </a:prstGeom>
          <a:noFill/>
          <a:ln/>
        </p:spPr>
        <p:txBody>
          <a:bodyPr wrap="square" lIns="0" tIns="0" rIns="0" bIns="0" rtlCol="0" anchor="t"/>
          <a:lstStyle/>
          <a:p>
            <a:pPr algn="l" indent="0" marL="0">
              <a:buNone/>
            </a:pPr>
            <a:r>
              <a:rPr lang="en-US" sz="1600" dirty="0">
                <a:solidFill>
                  <a:srgbClr val="EDF2F4"/>
                </a:solidFill>
                <a:latin typeface="Microsoft YaHei" pitchFamily="34" charset="0"/>
                <a:ea typeface="Microsoft YaHei" pitchFamily="34" charset="-122"/>
                <a:cs typeface="Microsoft YaHei" pitchFamily="34" charset="-120"/>
              </a:rPr>
              <a:t>口碑应该是把每一次服务做扎实之后自然生长出来的结果，不该是驱动你怎么干活的目标</a:t>
            </a:r>
            <a:endParaRPr lang="en-US" sz="1600" dirty="0"/>
          </a:p>
        </p:txBody>
      </p:sp>
      <p:sp>
        <p:nvSpPr>
          <p:cNvPr id="8" name="Shape 6"/>
          <p:cNvSpPr/>
          <p:nvPr/>
        </p:nvSpPr>
        <p:spPr>
          <a:xfrm>
            <a:off x="457200" y="2286000"/>
            <a:ext cx="4023360" cy="1097280"/>
          </a:xfrm>
          <a:prstGeom prst="rect">
            <a:avLst/>
          </a:prstGeom>
          <a:solidFill>
            <a:srgbClr val="EF233C">
              <a:alpha val="10000"/>
            </a:srgbClr>
          </a:solidFill>
          <a:ln w="12700">
            <a:solidFill>
              <a:srgbClr val="EF233C"/>
            </a:solidFill>
            <a:prstDash val="solid"/>
          </a:ln>
        </p:spPr>
      </p:sp>
      <p:sp>
        <p:nvSpPr>
          <p:cNvPr id="9" name="Text 7"/>
          <p:cNvSpPr/>
          <p:nvPr/>
        </p:nvSpPr>
        <p:spPr>
          <a:xfrm>
            <a:off x="640080" y="2377440"/>
            <a:ext cx="3657600" cy="274320"/>
          </a:xfrm>
          <a:prstGeom prst="rect">
            <a:avLst/>
          </a:prstGeom>
          <a:noFill/>
          <a:ln/>
        </p:spPr>
        <p:txBody>
          <a:bodyPr wrap="square" lIns="0" tIns="0" rIns="0" bIns="0" rtlCol="0" anchor="ctr"/>
          <a:lstStyle/>
          <a:p>
            <a:pPr algn="l" indent="0" marL="0">
              <a:buNone/>
            </a:pPr>
            <a:r>
              <a:rPr lang="en-US" sz="1300" b="1" dirty="0">
                <a:solidFill>
                  <a:srgbClr val="EF233C"/>
                </a:solidFill>
                <a:latin typeface="Microsoft YaHei" pitchFamily="34" charset="0"/>
                <a:ea typeface="Microsoft YaHei" pitchFamily="34" charset="-122"/>
                <a:cs typeface="Microsoft YaHei" pitchFamily="34" charset="-120"/>
              </a:rPr>
              <a:t>追逐口碑时</a:t>
            </a:r>
            <a:endParaRPr lang="en-US" sz="1300" dirty="0"/>
          </a:p>
        </p:txBody>
      </p:sp>
      <p:sp>
        <p:nvSpPr>
          <p:cNvPr id="10" name="Text 8"/>
          <p:cNvSpPr/>
          <p:nvPr/>
        </p:nvSpPr>
        <p:spPr>
          <a:xfrm>
            <a:off x="640080" y="2697480"/>
            <a:ext cx="3657600" cy="594360"/>
          </a:xfrm>
          <a:prstGeom prst="rect">
            <a:avLst/>
          </a:prstGeom>
          <a:noFill/>
          <a:ln/>
        </p:spPr>
        <p:txBody>
          <a:bodyPr wrap="square" lIns="0" tIns="0" rIns="0" bIns="0" rtlCol="0" anchor="t"/>
          <a:lstStyle/>
          <a:p>
            <a:pPr algn="l" indent="0" marL="0">
              <a:buNone/>
            </a:pPr>
            <a:r>
              <a:rPr lang="en-US" sz="1400" dirty="0">
                <a:solidFill>
                  <a:srgbClr val="EDF2F4"/>
                </a:solidFill>
                <a:latin typeface="Microsoft YaHei" pitchFamily="34" charset="0"/>
                <a:ea typeface="Microsoft YaHei" pitchFamily="34" charset="-122"/>
                <a:cs typeface="Microsoft YaHei" pitchFamily="34" charset="-120"/>
              </a:rPr>
              <a:t>判断质量会被悄悄稀释，反而攒不出真正扎实的口碑</a:t>
            </a:r>
            <a:endParaRPr lang="en-US" sz="1400" dirty="0"/>
          </a:p>
        </p:txBody>
      </p:sp>
      <p:sp>
        <p:nvSpPr>
          <p:cNvPr id="11" name="Shape 9"/>
          <p:cNvSpPr/>
          <p:nvPr/>
        </p:nvSpPr>
        <p:spPr>
          <a:xfrm>
            <a:off x="4663440" y="2286000"/>
            <a:ext cx="4023360" cy="1097280"/>
          </a:xfrm>
          <a:prstGeom prst="rect">
            <a:avLst/>
          </a:prstGeom>
          <a:solidFill>
            <a:srgbClr val="8D99AE">
              <a:alpha val="10000"/>
            </a:srgbClr>
          </a:solidFill>
          <a:ln w="12700">
            <a:solidFill>
              <a:srgbClr val="8D99AE"/>
            </a:solidFill>
            <a:prstDash val="solid"/>
          </a:ln>
        </p:spPr>
      </p:sp>
      <p:sp>
        <p:nvSpPr>
          <p:cNvPr id="12" name="Text 10"/>
          <p:cNvSpPr/>
          <p:nvPr/>
        </p:nvSpPr>
        <p:spPr>
          <a:xfrm>
            <a:off x="4846320" y="2377440"/>
            <a:ext cx="3657600" cy="274320"/>
          </a:xfrm>
          <a:prstGeom prst="rect">
            <a:avLst/>
          </a:prstGeom>
          <a:noFill/>
          <a:ln/>
        </p:spPr>
        <p:txBody>
          <a:bodyPr wrap="square" lIns="0" tIns="0" rIns="0" bIns="0" rtlCol="0" anchor="ctr"/>
          <a:lstStyle/>
          <a:p>
            <a:pPr algn="l" indent="0" marL="0">
              <a:buNone/>
            </a:pPr>
            <a:r>
              <a:rPr lang="en-US" sz="1300" b="1" dirty="0">
                <a:solidFill>
                  <a:srgbClr val="EDF2F4"/>
                </a:solidFill>
                <a:latin typeface="Microsoft YaHei" pitchFamily="34" charset="0"/>
                <a:ea typeface="Microsoft YaHei" pitchFamily="34" charset="-122"/>
                <a:cs typeface="Microsoft YaHei" pitchFamily="34" charset="-120"/>
              </a:rPr>
              <a:t>真实转介绍</a:t>
            </a:r>
            <a:endParaRPr lang="en-US" sz="1300" dirty="0"/>
          </a:p>
        </p:txBody>
      </p:sp>
      <p:sp>
        <p:nvSpPr>
          <p:cNvPr id="13" name="Text 11"/>
          <p:cNvSpPr/>
          <p:nvPr/>
        </p:nvSpPr>
        <p:spPr>
          <a:xfrm>
            <a:off x="4846320" y="2697480"/>
            <a:ext cx="3657600" cy="594360"/>
          </a:xfrm>
          <a:prstGeom prst="rect">
            <a:avLst/>
          </a:prstGeom>
          <a:noFill/>
          <a:ln/>
        </p:spPr>
        <p:txBody>
          <a:bodyPr wrap="square" lIns="0" tIns="0" rIns="0" bIns="0" rtlCol="0" anchor="t"/>
          <a:lstStyle/>
          <a:p>
            <a:pPr algn="l" indent="0" marL="0">
              <a:buNone/>
            </a:pPr>
            <a:r>
              <a:rPr lang="en-US" sz="1300" dirty="0">
                <a:solidFill>
                  <a:srgbClr val="EDF2F4"/>
                </a:solidFill>
                <a:latin typeface="Microsoft YaHei" pitchFamily="34" charset="0"/>
                <a:ea typeface="Microsoft YaHei" pitchFamily="34" charset="-122"/>
                <a:cs typeface="Microsoft YaHei" pitchFamily="34" charset="-120"/>
              </a:rPr>
              <a:t>那些主动来找我的新客户，绝大部分是因为之前服务过的家庭，隔了一两年，孩子读得确实合适，随口一句介绍</a:t>
            </a:r>
            <a:endParaRPr lang="en-US" sz="1300" dirty="0"/>
          </a:p>
        </p:txBody>
      </p:sp>
      <p:sp>
        <p:nvSpPr>
          <p:cNvPr id="14" name="Shape 12"/>
          <p:cNvSpPr/>
          <p:nvPr/>
        </p:nvSpPr>
        <p:spPr>
          <a:xfrm>
            <a:off x="457200" y="3566160"/>
            <a:ext cx="8229600" cy="1280160"/>
          </a:xfrm>
          <a:prstGeom prst="rect">
            <a:avLst/>
          </a:prstGeom>
          <a:solidFill>
            <a:srgbClr val="8D99AE">
              <a:alpha val="8000"/>
            </a:srgbClr>
          </a:solidFill>
          <a:ln/>
        </p:spPr>
      </p:sp>
      <p:sp>
        <p:nvSpPr>
          <p:cNvPr id="15" name="Text 13"/>
          <p:cNvSpPr/>
          <p:nvPr/>
        </p:nvSpPr>
        <p:spPr>
          <a:xfrm>
            <a:off x="640080" y="3520440"/>
            <a:ext cx="457200" cy="640080"/>
          </a:xfrm>
          <a:prstGeom prst="rect">
            <a:avLst/>
          </a:prstGeom>
          <a:noFill/>
          <a:ln/>
        </p:spPr>
        <p:txBody>
          <a:bodyPr wrap="square" lIns="0" tIns="0" rIns="0" bIns="0" rtlCol="0" anchor="t"/>
          <a:lstStyle/>
          <a:p>
            <a:pPr algn="l" indent="0" marL="0">
              <a:buNone/>
            </a:pPr>
            <a:r>
              <a:rPr lang="en-US" sz="4800" b="1" dirty="0">
                <a:solidFill>
                  <a:srgbClr val="EF233C"/>
                </a:solidFill>
                <a:latin typeface="Georgia" pitchFamily="34" charset="0"/>
                <a:ea typeface="Georgia" pitchFamily="34" charset="-122"/>
                <a:cs typeface="Georgia" pitchFamily="34" charset="-120"/>
              </a:rPr>
              <a:t>"</a:t>
            </a:r>
            <a:endParaRPr lang="en-US" sz="4800" dirty="0"/>
          </a:p>
        </p:txBody>
      </p:sp>
      <p:sp>
        <p:nvSpPr>
          <p:cNvPr id="16" name="Text 14"/>
          <p:cNvSpPr/>
          <p:nvPr/>
        </p:nvSpPr>
        <p:spPr>
          <a:xfrm>
            <a:off x="1005840" y="3840480"/>
            <a:ext cx="7498080" cy="822960"/>
          </a:xfrm>
          <a:prstGeom prst="rect">
            <a:avLst/>
          </a:prstGeom>
          <a:noFill/>
          <a:ln/>
        </p:spPr>
        <p:txBody>
          <a:bodyPr wrap="square" lIns="0" tIns="0" rIns="0" bIns="0" rtlCol="0" anchor="t"/>
          <a:lstStyle/>
          <a:p>
            <a:pPr algn="l" indent="0" marL="0">
              <a:buNone/>
            </a:pPr>
            <a:r>
              <a:rPr lang="en-US" sz="1800" dirty="0">
                <a:solidFill>
                  <a:srgbClr val="EDF2F4"/>
                </a:solidFill>
                <a:latin typeface="Microsoft YaHei" pitchFamily="34" charset="0"/>
                <a:ea typeface="Microsoft YaHei" pitchFamily="34" charset="-122"/>
                <a:cs typeface="Microsoft YaHei" pitchFamily="34" charset="-120"/>
              </a:rPr>
              <a:t>这种转介绍来得慢，来得不刻意，但每一个都比刻意运营出来的更结实</a:t>
            </a:r>
            <a:endParaRPr lang="en-US" sz="1800" dirty="0"/>
          </a:p>
        </p:txBody>
      </p:sp>
      <p:sp>
        <p:nvSpPr>
          <p:cNvPr id="17" name="Shape 15"/>
          <p:cNvSpPr/>
          <p:nvPr/>
        </p:nvSpPr>
        <p:spPr>
          <a:xfrm>
            <a:off x="8229600" y="4572000"/>
            <a:ext cx="457200" cy="457200"/>
          </a:xfrm>
          <a:prstGeom prst="ellipse">
            <a:avLst/>
          </a:prstGeom>
          <a:solidFill>
            <a:srgbClr val="8D99AE">
              <a:alpha val="50000"/>
            </a:srgbClr>
          </a:solidFill>
          <a:ln/>
        </p:spPr>
      </p:sp>
      <p:sp>
        <p:nvSpPr>
          <p:cNvPr id="18" name="Text 16"/>
          <p:cNvSpPr/>
          <p:nvPr/>
        </p:nvSpPr>
        <p:spPr>
          <a:xfrm>
            <a:off x="8229600" y="4572000"/>
            <a:ext cx="457200" cy="457200"/>
          </a:xfrm>
          <a:prstGeom prst="rect">
            <a:avLst/>
          </a:prstGeom>
          <a:noFill/>
          <a:ln/>
        </p:spPr>
        <p:txBody>
          <a:bodyPr wrap="square" lIns="0" tIns="0" rIns="0" bIns="0" rtlCol="0" anchor="ctr"/>
          <a:lstStyle/>
          <a:p>
            <a:pPr algn="ctr" indent="0" marL="0">
              <a:buNone/>
            </a:pPr>
            <a:r>
              <a:rPr lang="en-US" sz="1200" b="1" dirty="0">
                <a:solidFill>
                  <a:srgbClr val="EDF2F4"/>
                </a:solidFill>
                <a:latin typeface="Arial" pitchFamily="34" charset="0"/>
                <a:ea typeface="Arial" pitchFamily="34" charset="-122"/>
                <a:cs typeface="Arial" pitchFamily="34" charset="-120"/>
              </a:rPr>
              <a:t>63</a:t>
            </a:r>
            <a:endParaRPr lang="en-US" sz="1200" dirty="0"/>
          </a:p>
        </p:txBody>
      </p:sp>
      <p:sp>
        <p:nvSpPr>
          <p:cNvPr id="19" name="Shape 17"/>
          <p:cNvSpPr/>
          <p:nvPr/>
        </p:nvSpPr>
        <p:spPr>
          <a:xfrm>
            <a:off x="0" y="5097780"/>
            <a:ext cx="9144000" cy="45720"/>
          </a:xfrm>
          <a:prstGeom prst="rect">
            <a:avLst/>
          </a:prstGeom>
          <a:solidFill>
            <a:srgbClr val="EF233C"/>
          </a:solidFill>
          <a:ln/>
        </p:spPr>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2B2D4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233C"/>
          </a:solidFill>
          <a:ln/>
        </p:spPr>
      </p:sp>
      <p:sp>
        <p:nvSpPr>
          <p:cNvPr id="3" name="Text 1"/>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3400" b="1" dirty="0">
                <a:solidFill>
                  <a:srgbClr val="EDF2F4"/>
                </a:solidFill>
                <a:latin typeface="Microsoft YaHei" pitchFamily="34" charset="0"/>
                <a:ea typeface="Microsoft YaHei" pitchFamily="34" charset="-122"/>
                <a:cs typeface="Microsoft YaHei" pitchFamily="34" charset="-120"/>
              </a:rPr>
              <a:t>面对价格战的心态</a:t>
            </a:r>
            <a:endParaRPr lang="en-US" sz="3400" dirty="0"/>
          </a:p>
        </p:txBody>
      </p:sp>
      <p:sp>
        <p:nvSpPr>
          <p:cNvPr id="4" name="Shape 2"/>
          <p:cNvSpPr/>
          <p:nvPr/>
        </p:nvSpPr>
        <p:spPr>
          <a:xfrm>
            <a:off x="457200" y="1097280"/>
            <a:ext cx="8229600" cy="731520"/>
          </a:xfrm>
          <a:prstGeom prst="rect">
            <a:avLst/>
          </a:prstGeom>
          <a:solidFill>
            <a:srgbClr val="8D99AE">
              <a:alpha val="10000"/>
            </a:srgbClr>
          </a:solidFill>
          <a:ln w="12700">
            <a:solidFill>
              <a:srgbClr val="8D99AE"/>
            </a:solidFill>
            <a:prstDash val="solid"/>
          </a:ln>
        </p:spPr>
      </p:sp>
      <p:sp>
        <p:nvSpPr>
          <p:cNvPr id="5" name="Text 3"/>
          <p:cNvSpPr/>
          <p:nvPr/>
        </p:nvSpPr>
        <p:spPr>
          <a:xfrm>
            <a:off x="640080" y="1188720"/>
            <a:ext cx="731520" cy="228600"/>
          </a:xfrm>
          <a:prstGeom prst="rect">
            <a:avLst/>
          </a:prstGeom>
          <a:noFill/>
          <a:ln/>
        </p:spPr>
        <p:txBody>
          <a:bodyPr wrap="square" lIns="0" tIns="0" rIns="0" bIns="0" rtlCol="0" anchor="ctr"/>
          <a:lstStyle/>
          <a:p>
            <a:pPr algn="l" indent="0" marL="0">
              <a:buNone/>
            </a:pPr>
            <a:r>
              <a:rPr lang="en-US" sz="1100" b="1" dirty="0">
                <a:solidFill>
                  <a:srgbClr val="8D99AE"/>
                </a:solidFill>
                <a:latin typeface="Microsoft YaHei" pitchFamily="34" charset="0"/>
                <a:ea typeface="Microsoft YaHei" pitchFamily="34" charset="-122"/>
                <a:cs typeface="Microsoft YaHei" pitchFamily="34" charset="-120"/>
              </a:rPr>
              <a:t>现状</a:t>
            </a:r>
            <a:endParaRPr lang="en-US" sz="1100" dirty="0"/>
          </a:p>
        </p:txBody>
      </p:sp>
      <p:sp>
        <p:nvSpPr>
          <p:cNvPr id="6" name="Text 4"/>
          <p:cNvSpPr/>
          <p:nvPr/>
        </p:nvSpPr>
        <p:spPr>
          <a:xfrm>
            <a:off x="640080" y="1463040"/>
            <a:ext cx="7863840" cy="274320"/>
          </a:xfrm>
          <a:prstGeom prst="rect">
            <a:avLst/>
          </a:prstGeom>
          <a:noFill/>
          <a:ln/>
        </p:spPr>
        <p:txBody>
          <a:bodyPr wrap="square" lIns="0" tIns="0" rIns="0" bIns="0" rtlCol="0" anchor="ctr"/>
          <a:lstStyle/>
          <a:p>
            <a:pPr algn="l" indent="0" marL="0">
              <a:buNone/>
            </a:pPr>
            <a:r>
              <a:rPr lang="en-US" sz="1500" dirty="0">
                <a:solidFill>
                  <a:srgbClr val="EDF2F4"/>
                </a:solidFill>
                <a:latin typeface="Microsoft YaHei" pitchFamily="34" charset="0"/>
                <a:ea typeface="Microsoft YaHei" pitchFamily="34" charset="-122"/>
                <a:cs typeface="Microsoft YaHei" pitchFamily="34" charset="-120"/>
              </a:rPr>
              <a:t>这几年低价甚至免费的服务越来越多</a:t>
            </a:r>
            <a:endParaRPr lang="en-US" sz="1500" dirty="0"/>
          </a:p>
        </p:txBody>
      </p:sp>
      <p:sp>
        <p:nvSpPr>
          <p:cNvPr id="7" name="Shape 5"/>
          <p:cNvSpPr/>
          <p:nvPr/>
        </p:nvSpPr>
        <p:spPr>
          <a:xfrm>
            <a:off x="457200" y="2011680"/>
            <a:ext cx="8229600" cy="914400"/>
          </a:xfrm>
          <a:prstGeom prst="rect">
            <a:avLst/>
          </a:prstGeom>
          <a:solidFill>
            <a:srgbClr val="EF233C">
              <a:alpha val="12000"/>
            </a:srgbClr>
          </a:solidFill>
          <a:ln/>
        </p:spPr>
      </p:sp>
      <p:sp>
        <p:nvSpPr>
          <p:cNvPr id="8" name="Shape 6"/>
          <p:cNvSpPr/>
          <p:nvPr/>
        </p:nvSpPr>
        <p:spPr>
          <a:xfrm>
            <a:off x="457200" y="2011680"/>
            <a:ext cx="54864" cy="914400"/>
          </a:xfrm>
          <a:prstGeom prst="rect">
            <a:avLst/>
          </a:prstGeom>
          <a:solidFill>
            <a:srgbClr val="EF233C"/>
          </a:solidFill>
          <a:ln/>
        </p:spPr>
      </p:sp>
      <p:sp>
        <p:nvSpPr>
          <p:cNvPr id="9" name="Text 7"/>
          <p:cNvSpPr/>
          <p:nvPr/>
        </p:nvSpPr>
        <p:spPr>
          <a:xfrm>
            <a:off x="640080" y="2103120"/>
            <a:ext cx="1097280" cy="228600"/>
          </a:xfrm>
          <a:prstGeom prst="rect">
            <a:avLst/>
          </a:prstGeom>
          <a:noFill/>
          <a:ln/>
        </p:spPr>
        <p:txBody>
          <a:bodyPr wrap="square" lIns="0" tIns="0" rIns="0" bIns="0" rtlCol="0" anchor="ctr"/>
          <a:lstStyle/>
          <a:p>
            <a:pPr algn="l" indent="0" marL="0">
              <a:buNone/>
            </a:pPr>
            <a:r>
              <a:rPr lang="en-US" sz="1100" b="1" dirty="0">
                <a:solidFill>
                  <a:srgbClr val="EF233C"/>
                </a:solidFill>
                <a:latin typeface="Microsoft YaHei" pitchFamily="34" charset="0"/>
                <a:ea typeface="Microsoft YaHei" pitchFamily="34" charset="-122"/>
                <a:cs typeface="Microsoft YaHei" pitchFamily="34" charset="-120"/>
              </a:rPr>
              <a:t>我的态度</a:t>
            </a:r>
            <a:endParaRPr lang="en-US" sz="1100" dirty="0"/>
          </a:p>
        </p:txBody>
      </p:sp>
      <p:sp>
        <p:nvSpPr>
          <p:cNvPr id="10" name="Text 8"/>
          <p:cNvSpPr/>
          <p:nvPr/>
        </p:nvSpPr>
        <p:spPr>
          <a:xfrm>
            <a:off x="640080" y="2377440"/>
            <a:ext cx="7863840" cy="457200"/>
          </a:xfrm>
          <a:prstGeom prst="rect">
            <a:avLst/>
          </a:prstGeom>
          <a:noFill/>
          <a:ln/>
        </p:spPr>
        <p:txBody>
          <a:bodyPr wrap="square" lIns="0" tIns="0" rIns="0" bIns="0" rtlCol="0" anchor="t"/>
          <a:lstStyle/>
          <a:p>
            <a:pPr algn="l" indent="0" marL="0">
              <a:buNone/>
            </a:pPr>
            <a:r>
              <a:rPr lang="en-US" sz="1500" dirty="0">
                <a:solidFill>
                  <a:srgbClr val="EDF2F4"/>
                </a:solidFill>
                <a:latin typeface="Microsoft YaHei" pitchFamily="34" charset="0"/>
                <a:ea typeface="Microsoft YaHei" pitchFamily="34" charset="-122"/>
                <a:cs typeface="Microsoft YaHei" pitchFamily="34" charset="-120"/>
              </a:rPr>
              <a:t>如果衡量标准始终是"这个孩子五年后回头看，认不认这个判断"，价格战就不是我需要参与的那场比赛</a:t>
            </a:r>
            <a:endParaRPr lang="en-US" sz="1500" dirty="0"/>
          </a:p>
        </p:txBody>
      </p:sp>
      <p:sp>
        <p:nvSpPr>
          <p:cNvPr id="11" name="Shape 9"/>
          <p:cNvSpPr/>
          <p:nvPr/>
        </p:nvSpPr>
        <p:spPr>
          <a:xfrm>
            <a:off x="457200" y="3108960"/>
            <a:ext cx="8229600" cy="822960"/>
          </a:xfrm>
          <a:prstGeom prst="rect">
            <a:avLst/>
          </a:prstGeom>
          <a:solidFill>
            <a:srgbClr val="8D99AE">
              <a:alpha val="8000"/>
            </a:srgbClr>
          </a:solidFill>
          <a:ln/>
        </p:spPr>
      </p:sp>
      <p:sp>
        <p:nvSpPr>
          <p:cNvPr id="12" name="Text 10"/>
          <p:cNvSpPr/>
          <p:nvPr/>
        </p:nvSpPr>
        <p:spPr>
          <a:xfrm>
            <a:off x="640080" y="3200400"/>
            <a:ext cx="1371600" cy="228600"/>
          </a:xfrm>
          <a:prstGeom prst="rect">
            <a:avLst/>
          </a:prstGeom>
          <a:noFill/>
          <a:ln/>
        </p:spPr>
        <p:txBody>
          <a:bodyPr wrap="square" lIns="0" tIns="0" rIns="0" bIns="0" rtlCol="0" anchor="ctr"/>
          <a:lstStyle/>
          <a:p>
            <a:pPr algn="l" indent="0" marL="0">
              <a:buNone/>
            </a:pPr>
            <a:r>
              <a:rPr lang="en-US" sz="1100" b="1" dirty="0">
                <a:solidFill>
                  <a:srgbClr val="EDF2F4"/>
                </a:solidFill>
                <a:latin typeface="Microsoft YaHei" pitchFamily="34" charset="0"/>
                <a:ea typeface="Microsoft YaHei" pitchFamily="34" charset="-122"/>
                <a:cs typeface="Microsoft YaHei" pitchFamily="34" charset="-120"/>
              </a:rPr>
              <a:t>核心认知</a:t>
            </a:r>
            <a:endParaRPr lang="en-US" sz="1100" dirty="0"/>
          </a:p>
        </p:txBody>
      </p:sp>
      <p:sp>
        <p:nvSpPr>
          <p:cNvPr id="13" name="Text 11"/>
          <p:cNvSpPr/>
          <p:nvPr/>
        </p:nvSpPr>
        <p:spPr>
          <a:xfrm>
            <a:off x="640080" y="3474720"/>
            <a:ext cx="7863840" cy="365760"/>
          </a:xfrm>
          <a:prstGeom prst="rect">
            <a:avLst/>
          </a:prstGeom>
          <a:noFill/>
          <a:ln/>
        </p:spPr>
        <p:txBody>
          <a:bodyPr wrap="square" lIns="0" tIns="0" rIns="0" bIns="0" rtlCol="0" anchor="t"/>
          <a:lstStyle/>
          <a:p>
            <a:pPr algn="l" indent="0" marL="0">
              <a:buNone/>
            </a:pPr>
            <a:r>
              <a:rPr lang="en-US" sz="1600" dirty="0">
                <a:solidFill>
                  <a:srgbClr val="EDF2F4"/>
                </a:solidFill>
                <a:latin typeface="Microsoft YaHei" pitchFamily="34" charset="0"/>
                <a:ea typeface="Microsoft YaHei" pitchFamily="34" charset="-122"/>
                <a:cs typeface="Microsoft YaHei" pitchFamily="34" charset="-120"/>
              </a:rPr>
              <a:t>我提供的不是同一种商品的更便宜版本，是另一种质量维度上的东西</a:t>
            </a:r>
            <a:endParaRPr lang="en-US" sz="1600" dirty="0"/>
          </a:p>
        </p:txBody>
      </p:sp>
      <p:sp>
        <p:nvSpPr>
          <p:cNvPr id="14" name="Shape 12"/>
          <p:cNvSpPr/>
          <p:nvPr/>
        </p:nvSpPr>
        <p:spPr>
          <a:xfrm>
            <a:off x="457200" y="4114800"/>
            <a:ext cx="8229600" cy="777240"/>
          </a:xfrm>
          <a:prstGeom prst="rect">
            <a:avLst/>
          </a:prstGeom>
          <a:solidFill>
            <a:srgbClr val="EF233C">
              <a:alpha val="15000"/>
            </a:srgbClr>
          </a:solidFill>
          <a:ln/>
        </p:spPr>
      </p:sp>
      <p:sp>
        <p:nvSpPr>
          <p:cNvPr id="15" name="Text 13"/>
          <p:cNvSpPr/>
          <p:nvPr/>
        </p:nvSpPr>
        <p:spPr>
          <a:xfrm>
            <a:off x="548640" y="4023360"/>
            <a:ext cx="365760" cy="457200"/>
          </a:xfrm>
          <a:prstGeom prst="rect">
            <a:avLst/>
          </a:prstGeom>
          <a:noFill/>
          <a:ln/>
        </p:spPr>
        <p:txBody>
          <a:bodyPr wrap="square" lIns="0" tIns="0" rIns="0" bIns="0" rtlCol="0" anchor="t"/>
          <a:lstStyle/>
          <a:p>
            <a:pPr algn="l" indent="0" marL="0">
              <a:buNone/>
            </a:pPr>
            <a:r>
              <a:rPr lang="en-US" sz="3600" b="1" dirty="0">
                <a:solidFill>
                  <a:srgbClr val="EF233C"/>
                </a:solidFill>
                <a:latin typeface="Georgia" pitchFamily="34" charset="0"/>
                <a:ea typeface="Georgia" pitchFamily="34" charset="-122"/>
                <a:cs typeface="Georgia" pitchFamily="34" charset="-120"/>
              </a:rPr>
              <a:t>"</a:t>
            </a:r>
            <a:endParaRPr lang="en-US" sz="3600" dirty="0"/>
          </a:p>
        </p:txBody>
      </p:sp>
      <p:sp>
        <p:nvSpPr>
          <p:cNvPr id="16" name="Text 14"/>
          <p:cNvSpPr/>
          <p:nvPr/>
        </p:nvSpPr>
        <p:spPr>
          <a:xfrm>
            <a:off x="822960" y="4206240"/>
            <a:ext cx="7680960" cy="548640"/>
          </a:xfrm>
          <a:prstGeom prst="rect">
            <a:avLst/>
          </a:prstGeom>
          <a:noFill/>
          <a:ln/>
        </p:spPr>
        <p:txBody>
          <a:bodyPr wrap="square" lIns="0" tIns="0" rIns="0" bIns="0" rtlCol="0" anchor="t"/>
          <a:lstStyle/>
          <a:p>
            <a:pPr algn="l" indent="0" marL="0">
              <a:buNone/>
            </a:pPr>
            <a:r>
              <a:rPr lang="en-US" sz="1500" dirty="0">
                <a:solidFill>
                  <a:srgbClr val="EDF2F4"/>
                </a:solidFill>
                <a:latin typeface="Microsoft YaHei" pitchFamily="34" charset="0"/>
                <a:ea typeface="Microsoft YaHei" pitchFamily="34" charset="-122"/>
                <a:cs typeface="Microsoft YaHei" pitchFamily="34" charset="-120"/>
              </a:rPr>
              <a:t>把信息、判断力和产业认知这几件事做扎实，永远是这份工作里最不可能贬值的部分</a:t>
            </a:r>
            <a:endParaRPr lang="en-US" sz="1500" dirty="0"/>
          </a:p>
        </p:txBody>
      </p:sp>
      <p:sp>
        <p:nvSpPr>
          <p:cNvPr id="17" name="Shape 15"/>
          <p:cNvSpPr/>
          <p:nvPr/>
        </p:nvSpPr>
        <p:spPr>
          <a:xfrm>
            <a:off x="8229600" y="4572000"/>
            <a:ext cx="457200" cy="457200"/>
          </a:xfrm>
          <a:prstGeom prst="ellipse">
            <a:avLst/>
          </a:prstGeom>
          <a:solidFill>
            <a:srgbClr val="8D99AE">
              <a:alpha val="50000"/>
            </a:srgbClr>
          </a:solidFill>
          <a:ln/>
        </p:spPr>
      </p:sp>
      <p:sp>
        <p:nvSpPr>
          <p:cNvPr id="18" name="Text 16"/>
          <p:cNvSpPr/>
          <p:nvPr/>
        </p:nvSpPr>
        <p:spPr>
          <a:xfrm>
            <a:off x="8229600" y="4572000"/>
            <a:ext cx="457200" cy="457200"/>
          </a:xfrm>
          <a:prstGeom prst="rect">
            <a:avLst/>
          </a:prstGeom>
          <a:noFill/>
          <a:ln/>
        </p:spPr>
        <p:txBody>
          <a:bodyPr wrap="square" lIns="0" tIns="0" rIns="0" bIns="0" rtlCol="0" anchor="ctr"/>
          <a:lstStyle/>
          <a:p>
            <a:pPr algn="ctr" indent="0" marL="0">
              <a:buNone/>
            </a:pPr>
            <a:r>
              <a:rPr lang="en-US" sz="1200" b="1" dirty="0">
                <a:solidFill>
                  <a:srgbClr val="EDF2F4"/>
                </a:solidFill>
                <a:latin typeface="Arial" pitchFamily="34" charset="0"/>
                <a:ea typeface="Arial" pitchFamily="34" charset="-122"/>
                <a:cs typeface="Arial" pitchFamily="34" charset="-120"/>
              </a:rPr>
              <a:t>64</a:t>
            </a:r>
            <a:endParaRPr lang="en-US" sz="1200" dirty="0"/>
          </a:p>
        </p:txBody>
      </p:sp>
      <p:sp>
        <p:nvSpPr>
          <p:cNvPr id="19" name="Shape 17"/>
          <p:cNvSpPr/>
          <p:nvPr/>
        </p:nvSpPr>
        <p:spPr>
          <a:xfrm>
            <a:off x="0" y="5097780"/>
            <a:ext cx="9144000" cy="45720"/>
          </a:xfrm>
          <a:prstGeom prst="rect">
            <a:avLst/>
          </a:prstGeom>
          <a:solidFill>
            <a:srgbClr val="EF233C"/>
          </a:solidFill>
          <a:ln/>
        </p:spPr>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2B2D4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233C"/>
          </a:solidFill>
          <a:ln/>
        </p:spPr>
      </p:sp>
      <p:sp>
        <p:nvSpPr>
          <p:cNvPr id="3" name="Shape 1"/>
          <p:cNvSpPr/>
          <p:nvPr/>
        </p:nvSpPr>
        <p:spPr>
          <a:xfrm>
            <a:off x="457200" y="365760"/>
            <a:ext cx="731520" cy="365760"/>
          </a:xfrm>
          <a:prstGeom prst="roundRect">
            <a:avLst>
              <a:gd name="adj" fmla="val 12500"/>
            </a:avLst>
          </a:prstGeom>
          <a:solidFill>
            <a:srgbClr val="EF233C"/>
          </a:solidFill>
          <a:ln/>
        </p:spPr>
      </p:sp>
      <p:sp>
        <p:nvSpPr>
          <p:cNvPr id="4" name="Text 2"/>
          <p:cNvSpPr/>
          <p:nvPr/>
        </p:nvSpPr>
        <p:spPr>
          <a:xfrm>
            <a:off x="457200" y="365760"/>
            <a:ext cx="731520" cy="365760"/>
          </a:xfrm>
          <a:prstGeom prst="rect">
            <a:avLst/>
          </a:prstGeom>
          <a:noFill/>
          <a:ln/>
        </p:spPr>
        <p:txBody>
          <a:bodyPr wrap="square" lIns="0" tIns="0" rIns="0" bIns="0" rtlCol="0" anchor="ctr"/>
          <a:lstStyle/>
          <a:p>
            <a:pPr algn="ctr" indent="0" marL="0">
              <a:buNone/>
            </a:pPr>
            <a:r>
              <a:rPr lang="en-US" sz="1100" b="1" dirty="0">
                <a:solidFill>
                  <a:srgbClr val="EDF2F4"/>
                </a:solidFill>
                <a:latin typeface="Microsoft YaHei" pitchFamily="34" charset="0"/>
                <a:ea typeface="Microsoft YaHei" pitchFamily="34" charset="-122"/>
                <a:cs typeface="Microsoft YaHei" pitchFamily="34" charset="-120"/>
              </a:rPr>
              <a:t>第十四章</a:t>
            </a:r>
            <a:endParaRPr lang="en-US" sz="1100" dirty="0"/>
          </a:p>
        </p:txBody>
      </p:sp>
      <p:sp>
        <p:nvSpPr>
          <p:cNvPr id="5" name="Text 3"/>
          <p:cNvSpPr/>
          <p:nvPr/>
        </p:nvSpPr>
        <p:spPr>
          <a:xfrm>
            <a:off x="1371600" y="320040"/>
            <a:ext cx="7315200" cy="640080"/>
          </a:xfrm>
          <a:prstGeom prst="rect">
            <a:avLst/>
          </a:prstGeom>
          <a:noFill/>
          <a:ln/>
        </p:spPr>
        <p:txBody>
          <a:bodyPr wrap="square" lIns="0" tIns="0" rIns="0" bIns="0" rtlCol="0" anchor="ctr"/>
          <a:lstStyle/>
          <a:p>
            <a:pPr algn="l" indent="0" marL="0">
              <a:buNone/>
            </a:pPr>
            <a:r>
              <a:rPr lang="en-US" sz="3200" b="1" dirty="0">
                <a:solidFill>
                  <a:srgbClr val="EDF2F4"/>
                </a:solidFill>
                <a:latin typeface="Microsoft YaHei" pitchFamily="34" charset="0"/>
                <a:ea typeface="Microsoft YaHei" pitchFamily="34" charset="-122"/>
                <a:cs typeface="Microsoft YaHei" pitchFamily="34" charset="-120"/>
              </a:rPr>
              <a:t>AI时代，这个职业还能不能干下去</a:t>
            </a:r>
            <a:endParaRPr lang="en-US" sz="3200" dirty="0"/>
          </a:p>
        </p:txBody>
      </p:sp>
      <p:sp>
        <p:nvSpPr>
          <p:cNvPr id="6" name="Shape 4"/>
          <p:cNvSpPr/>
          <p:nvPr/>
        </p:nvSpPr>
        <p:spPr>
          <a:xfrm>
            <a:off x="457200" y="1188720"/>
            <a:ext cx="8229600" cy="1371600"/>
          </a:xfrm>
          <a:prstGeom prst="rect">
            <a:avLst/>
          </a:prstGeom>
          <a:solidFill>
            <a:srgbClr val="EF233C">
              <a:alpha val="12000"/>
            </a:srgbClr>
          </a:solidFill>
          <a:ln w="25400">
            <a:solidFill>
              <a:srgbClr val="EF233C"/>
            </a:solidFill>
            <a:prstDash val="solid"/>
          </a:ln>
        </p:spPr>
      </p:sp>
      <p:sp>
        <p:nvSpPr>
          <p:cNvPr id="7" name="Shape 5"/>
          <p:cNvSpPr/>
          <p:nvPr/>
        </p:nvSpPr>
        <p:spPr>
          <a:xfrm>
            <a:off x="457200" y="1188720"/>
            <a:ext cx="54864" cy="1371600"/>
          </a:xfrm>
          <a:prstGeom prst="rect">
            <a:avLst/>
          </a:prstGeom>
          <a:solidFill>
            <a:srgbClr val="EF233C"/>
          </a:solidFill>
          <a:ln/>
        </p:spPr>
      </p:sp>
      <p:sp>
        <p:nvSpPr>
          <p:cNvPr id="8" name="Text 6"/>
          <p:cNvSpPr/>
          <p:nvPr/>
        </p:nvSpPr>
        <p:spPr>
          <a:xfrm>
            <a:off x="640080" y="1280160"/>
            <a:ext cx="1828800" cy="274320"/>
          </a:xfrm>
          <a:prstGeom prst="rect">
            <a:avLst/>
          </a:prstGeom>
          <a:noFill/>
          <a:ln/>
        </p:spPr>
        <p:txBody>
          <a:bodyPr wrap="square" lIns="0" tIns="0" rIns="0" bIns="0" rtlCol="0" anchor="ctr"/>
          <a:lstStyle/>
          <a:p>
            <a:pPr algn="l" indent="0" marL="0">
              <a:buNone/>
            </a:pPr>
            <a:r>
              <a:rPr lang="en-US" sz="1200" b="1" dirty="0">
                <a:solidFill>
                  <a:srgbClr val="EF233C"/>
                </a:solidFill>
                <a:latin typeface="Microsoft YaHei" pitchFamily="34" charset="0"/>
                <a:ea typeface="Microsoft YaHei" pitchFamily="34" charset="-122"/>
                <a:cs typeface="Microsoft YaHei" pitchFamily="34" charset="-120"/>
              </a:rPr>
              <a:t>这个问题</a:t>
            </a:r>
            <a:endParaRPr lang="en-US" sz="1200" dirty="0"/>
          </a:p>
        </p:txBody>
      </p:sp>
      <p:sp>
        <p:nvSpPr>
          <p:cNvPr id="9" name="Text 7"/>
          <p:cNvSpPr/>
          <p:nvPr/>
        </p:nvSpPr>
        <p:spPr>
          <a:xfrm>
            <a:off x="640080" y="1554480"/>
            <a:ext cx="7863840" cy="457200"/>
          </a:xfrm>
          <a:prstGeom prst="rect">
            <a:avLst/>
          </a:prstGeom>
          <a:noFill/>
          <a:ln/>
        </p:spPr>
        <p:txBody>
          <a:bodyPr wrap="square" lIns="0" tIns="0" rIns="0" bIns="0" rtlCol="0" anchor="ctr"/>
          <a:lstStyle/>
          <a:p>
            <a:pPr algn="l" indent="0" marL="0">
              <a:buNone/>
            </a:pPr>
            <a:r>
              <a:rPr lang="en-US" sz="2800" b="1" dirty="0">
                <a:solidFill>
                  <a:srgbClr val="EDF2F4"/>
                </a:solidFill>
                <a:latin typeface="Microsoft YaHei" pitchFamily="34" charset="0"/>
                <a:ea typeface="Microsoft YaHei" pitchFamily="34" charset="-122"/>
                <a:cs typeface="Microsoft YaHei" pitchFamily="34" charset="-120"/>
              </a:rPr>
              <a:t>问错了方向</a:t>
            </a:r>
            <a:endParaRPr lang="en-US" sz="2800" dirty="0"/>
          </a:p>
        </p:txBody>
      </p:sp>
      <p:sp>
        <p:nvSpPr>
          <p:cNvPr id="10" name="Shape 8"/>
          <p:cNvSpPr/>
          <p:nvPr/>
        </p:nvSpPr>
        <p:spPr>
          <a:xfrm>
            <a:off x="457200" y="2743200"/>
            <a:ext cx="8229600" cy="2011680"/>
          </a:xfrm>
          <a:prstGeom prst="rect">
            <a:avLst/>
          </a:prstGeom>
          <a:solidFill>
            <a:srgbClr val="8D99AE">
              <a:alpha val="8000"/>
            </a:srgbClr>
          </a:solidFill>
          <a:ln/>
        </p:spPr>
      </p:sp>
      <p:sp>
        <p:nvSpPr>
          <p:cNvPr id="11" name="Text 9"/>
          <p:cNvSpPr/>
          <p:nvPr/>
        </p:nvSpPr>
        <p:spPr>
          <a:xfrm>
            <a:off x="640080" y="2880360"/>
            <a:ext cx="7863840" cy="320040"/>
          </a:xfrm>
          <a:prstGeom prst="rect">
            <a:avLst/>
          </a:prstGeom>
          <a:noFill/>
          <a:ln/>
        </p:spPr>
        <p:txBody>
          <a:bodyPr wrap="square" lIns="0" tIns="0" rIns="0" bIns="0" rtlCol="0" anchor="ctr"/>
          <a:lstStyle/>
          <a:p>
            <a:pPr algn="l" indent="0" marL="0">
              <a:buNone/>
            </a:pPr>
            <a:r>
              <a:rPr lang="en-US" sz="1400" dirty="0">
                <a:solidFill>
                  <a:srgbClr val="EDF2F4"/>
                </a:solidFill>
                <a:latin typeface="Microsoft YaHei" pitchFamily="34" charset="0"/>
                <a:ea typeface="Microsoft YaHei" pitchFamily="34" charset="-122"/>
                <a:cs typeface="Microsoft YaHei" pitchFamily="34" charset="-120"/>
              </a:rPr>
              <a:t>正确的问题应该是：</a:t>
            </a:r>
            <a:endParaRPr lang="en-US" sz="1400" dirty="0"/>
          </a:p>
        </p:txBody>
      </p:sp>
      <p:sp>
        <p:nvSpPr>
          <p:cNvPr id="12" name="Text 10"/>
          <p:cNvSpPr/>
          <p:nvPr/>
        </p:nvSpPr>
        <p:spPr>
          <a:xfrm>
            <a:off x="640080" y="3246120"/>
            <a:ext cx="7863840" cy="365760"/>
          </a:xfrm>
          <a:prstGeom prst="rect">
            <a:avLst/>
          </a:prstGeom>
          <a:noFill/>
          <a:ln/>
        </p:spPr>
        <p:txBody>
          <a:bodyPr wrap="square" lIns="0" tIns="0" rIns="0" bIns="0" rtlCol="0" anchor="ctr"/>
          <a:lstStyle/>
          <a:p>
            <a:pPr algn="l" indent="0" marL="0">
              <a:buNone/>
            </a:pPr>
            <a:r>
              <a:rPr lang="en-US" sz="1800" dirty="0">
                <a:solidFill>
                  <a:srgbClr val="EDF2F4"/>
                </a:solidFill>
                <a:latin typeface="Microsoft YaHei" pitchFamily="34" charset="0"/>
                <a:ea typeface="Microsoft YaHei" pitchFamily="34" charset="-122"/>
                <a:cs typeface="Microsoft YaHei" pitchFamily="34" charset="-120"/>
              </a:rPr>
              <a:t>不是这个职业还能不能干下去，是</a:t>
            </a:r>
            <a:endParaRPr lang="en-US" sz="1800" dirty="0"/>
          </a:p>
        </p:txBody>
      </p:sp>
      <p:sp>
        <p:nvSpPr>
          <p:cNvPr id="13" name="Shape 11"/>
          <p:cNvSpPr/>
          <p:nvPr/>
        </p:nvSpPr>
        <p:spPr>
          <a:xfrm>
            <a:off x="640080" y="3703320"/>
            <a:ext cx="7863840" cy="822960"/>
          </a:xfrm>
          <a:prstGeom prst="rect">
            <a:avLst/>
          </a:prstGeom>
          <a:solidFill>
            <a:srgbClr val="EF233C">
              <a:alpha val="15000"/>
            </a:srgbClr>
          </a:solidFill>
          <a:ln/>
        </p:spPr>
      </p:sp>
      <p:sp>
        <p:nvSpPr>
          <p:cNvPr id="14" name="Text 12"/>
          <p:cNvSpPr/>
          <p:nvPr/>
        </p:nvSpPr>
        <p:spPr>
          <a:xfrm>
            <a:off x="822960" y="3840480"/>
            <a:ext cx="7498080" cy="548640"/>
          </a:xfrm>
          <a:prstGeom prst="rect">
            <a:avLst/>
          </a:prstGeom>
          <a:noFill/>
          <a:ln/>
        </p:spPr>
        <p:txBody>
          <a:bodyPr wrap="square" lIns="0" tIns="0" rIns="0" bIns="0" rtlCol="0" anchor="ctr"/>
          <a:lstStyle/>
          <a:p>
            <a:pPr algn="l" indent="0" marL="0">
              <a:buNone/>
            </a:pPr>
            <a:r>
              <a:rPr lang="en-US" sz="2000" b="1" dirty="0">
                <a:solidFill>
                  <a:srgbClr val="EDF2F4"/>
                </a:solidFill>
                <a:latin typeface="Microsoft YaHei" pitchFamily="34" charset="0"/>
                <a:ea typeface="Microsoft YaHei" pitchFamily="34" charset="-122"/>
                <a:cs typeface="Microsoft YaHei" pitchFamily="34" charset="-120"/>
              </a:rPr>
              <a:t>只会做AI也能做的那部分工作的人，还能不能干下去</a:t>
            </a:r>
            <a:endParaRPr lang="en-US" sz="2000" dirty="0"/>
          </a:p>
        </p:txBody>
      </p:sp>
      <p:sp>
        <p:nvSpPr>
          <p:cNvPr id="15" name="Shape 13"/>
          <p:cNvSpPr/>
          <p:nvPr/>
        </p:nvSpPr>
        <p:spPr>
          <a:xfrm>
            <a:off x="8229600" y="4572000"/>
            <a:ext cx="457200" cy="457200"/>
          </a:xfrm>
          <a:prstGeom prst="ellipse">
            <a:avLst/>
          </a:prstGeom>
          <a:solidFill>
            <a:srgbClr val="8D99AE">
              <a:alpha val="50000"/>
            </a:srgbClr>
          </a:solidFill>
          <a:ln/>
        </p:spPr>
      </p:sp>
      <p:sp>
        <p:nvSpPr>
          <p:cNvPr id="16" name="Text 14"/>
          <p:cNvSpPr/>
          <p:nvPr/>
        </p:nvSpPr>
        <p:spPr>
          <a:xfrm>
            <a:off x="8229600" y="4572000"/>
            <a:ext cx="457200" cy="457200"/>
          </a:xfrm>
          <a:prstGeom prst="rect">
            <a:avLst/>
          </a:prstGeom>
          <a:noFill/>
          <a:ln/>
        </p:spPr>
        <p:txBody>
          <a:bodyPr wrap="square" lIns="0" tIns="0" rIns="0" bIns="0" rtlCol="0" anchor="ctr"/>
          <a:lstStyle/>
          <a:p>
            <a:pPr algn="ctr" indent="0" marL="0">
              <a:buNone/>
            </a:pPr>
            <a:r>
              <a:rPr lang="en-US" sz="1200" b="1" dirty="0">
                <a:solidFill>
                  <a:srgbClr val="EDF2F4"/>
                </a:solidFill>
                <a:latin typeface="Arial" pitchFamily="34" charset="0"/>
                <a:ea typeface="Arial" pitchFamily="34" charset="-122"/>
                <a:cs typeface="Arial" pitchFamily="34" charset="-120"/>
              </a:rPr>
              <a:t>65</a:t>
            </a:r>
            <a:endParaRPr lang="en-US" sz="1200" dirty="0"/>
          </a:p>
        </p:txBody>
      </p:sp>
      <p:sp>
        <p:nvSpPr>
          <p:cNvPr id="17" name="Shape 15"/>
          <p:cNvSpPr/>
          <p:nvPr/>
        </p:nvSpPr>
        <p:spPr>
          <a:xfrm>
            <a:off x="0" y="5097780"/>
            <a:ext cx="9144000" cy="45720"/>
          </a:xfrm>
          <a:prstGeom prst="rect">
            <a:avLst/>
          </a:prstGeom>
          <a:solidFill>
            <a:srgbClr val="EF233C"/>
          </a:solidFill>
          <a:ln/>
        </p:spPr>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457200" y="274320"/>
            <a:ext cx="1463040" cy="365760"/>
          </a:xfrm>
          <a:prstGeom prst="roundRect">
            <a:avLst>
              <a:gd name="adj" fmla="val 12500"/>
            </a:avLst>
          </a:prstGeom>
          <a:solidFill>
            <a:srgbClr val="EF233C"/>
          </a:solidFill>
          <a:ln/>
        </p:spPr>
      </p:sp>
      <p:sp>
        <p:nvSpPr>
          <p:cNvPr id="3" name="Text 1"/>
          <p:cNvSpPr/>
          <p:nvPr/>
        </p:nvSpPr>
        <p:spPr>
          <a:xfrm>
            <a:off x="457200" y="274320"/>
            <a:ext cx="146304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Chapter 14</a:t>
            </a:r>
            <a:endParaRPr lang="en-US" sz="1400" dirty="0"/>
          </a:p>
        </p:txBody>
      </p:sp>
      <p:sp>
        <p:nvSpPr>
          <p:cNvPr id="4" name="Text 2"/>
          <p:cNvSpPr/>
          <p:nvPr/>
        </p:nvSpPr>
        <p:spPr>
          <a:xfrm>
            <a:off x="457200" y="777240"/>
            <a:ext cx="8229600" cy="640080"/>
          </a:xfrm>
          <a:prstGeom prst="rect">
            <a:avLst/>
          </a:prstGeom>
          <a:noFill/>
          <a:ln/>
        </p:spPr>
        <p:txBody>
          <a:bodyPr wrap="square" rtlCol="0" anchor="ctr"/>
          <a:lstStyle/>
          <a:p>
            <a:pPr indent="0" marL="0">
              <a:buNone/>
            </a:pPr>
            <a:r>
              <a:rPr lang="en-US" sz="3600" b="1" dirty="0">
                <a:solidFill>
                  <a:srgbClr val="2B2D42"/>
                </a:solidFill>
                <a:latin typeface="Microsoft YaHei" pitchFamily="34" charset="0"/>
                <a:ea typeface="Microsoft YaHei" pitchFamily="34" charset="-122"/>
                <a:cs typeface="Microsoft YaHei" pitchFamily="34" charset="-120"/>
              </a:rPr>
              <a:t>职业分化</a:t>
            </a:r>
            <a:endParaRPr lang="en-US" sz="3600" dirty="0"/>
          </a:p>
        </p:txBody>
      </p:sp>
      <p:sp>
        <p:nvSpPr>
          <p:cNvPr id="5" name="Shape 3"/>
          <p:cNvSpPr/>
          <p:nvPr/>
        </p:nvSpPr>
        <p:spPr>
          <a:xfrm>
            <a:off x="457200" y="1600200"/>
            <a:ext cx="3840480" cy="2560320"/>
          </a:xfrm>
          <a:prstGeom prst="rect">
            <a:avLst/>
          </a:prstGeom>
          <a:solidFill>
            <a:srgbClr val="EDF2F4"/>
          </a:solidFill>
          <a:ln/>
        </p:spPr>
      </p:sp>
      <p:sp>
        <p:nvSpPr>
          <p:cNvPr id="6" name="Shape 4"/>
          <p:cNvSpPr/>
          <p:nvPr/>
        </p:nvSpPr>
        <p:spPr>
          <a:xfrm>
            <a:off x="457200" y="1600200"/>
            <a:ext cx="3840480" cy="73152"/>
          </a:xfrm>
          <a:prstGeom prst="rect">
            <a:avLst/>
          </a:prstGeom>
          <a:solidFill>
            <a:srgbClr val="EF233C"/>
          </a:solidFill>
          <a:ln/>
        </p:spPr>
      </p:sp>
      <p:sp>
        <p:nvSpPr>
          <p:cNvPr id="7" name="Text 5"/>
          <p:cNvSpPr/>
          <p:nvPr/>
        </p:nvSpPr>
        <p:spPr>
          <a:xfrm>
            <a:off x="640080" y="1828800"/>
            <a:ext cx="3474720" cy="411480"/>
          </a:xfrm>
          <a:prstGeom prst="rect">
            <a:avLst/>
          </a:prstGeom>
          <a:noFill/>
          <a:ln/>
        </p:spPr>
        <p:txBody>
          <a:bodyPr wrap="square" rtlCol="0" anchor="ctr"/>
          <a:lstStyle/>
          <a:p>
            <a:pPr indent="0" marL="0">
              <a:buNone/>
            </a:pPr>
            <a:r>
              <a:rPr lang="en-US" sz="2000" b="1" dirty="0">
                <a:solidFill>
                  <a:srgbClr val="EF233C"/>
                </a:solidFill>
                <a:latin typeface="Microsoft YaHei" pitchFamily="34" charset="0"/>
                <a:ea typeface="Microsoft YaHei" pitchFamily="34" charset="-122"/>
                <a:cs typeface="Microsoft YaHei" pitchFamily="34" charset="-120"/>
              </a:rPr>
              <a:t>被AI替代</a:t>
            </a:r>
            <a:endParaRPr lang="en-US" sz="2000" dirty="0"/>
          </a:p>
        </p:txBody>
      </p:sp>
      <p:sp>
        <p:nvSpPr>
          <p:cNvPr id="8" name="Text 6"/>
          <p:cNvSpPr/>
          <p:nvPr/>
        </p:nvSpPr>
        <p:spPr>
          <a:xfrm>
            <a:off x="640080" y="2331720"/>
            <a:ext cx="3474720" cy="1645920"/>
          </a:xfrm>
          <a:prstGeom prst="rect">
            <a:avLst/>
          </a:prstGeom>
          <a:noFill/>
          <a:ln/>
        </p:spPr>
        <p:txBody>
          <a:bodyPr wrap="square" rtlCol="0" anchor="t"/>
          <a:lstStyle/>
          <a:p>
            <a:pPr indent="0" marL="0">
              <a:buNone/>
            </a:pPr>
            <a:r>
              <a:rPr lang="en-US" sz="1500" dirty="0">
                <a:solidFill>
                  <a:srgbClr val="8D99AE"/>
                </a:solidFill>
                <a:latin typeface="Microsoft YaHei" pitchFamily="34" charset="0"/>
                <a:ea typeface="Microsoft YaHei" pitchFamily="34" charset="-122"/>
                <a:cs typeface="Microsoft YaHei" pitchFamily="34" charset="-120"/>
              </a:rPr>
              <a:t>只会算冲稳保、不做前面判断题的同行</a:t>
            </a:r>
            <a:endParaRPr lang="en-US" sz="1500" dirty="0"/>
          </a:p>
          <a:p>
            <a:pPr indent="0" marL="0">
              <a:buNone/>
            </a:pPr>
            <a:endParaRPr lang="en-US" sz="1500" dirty="0"/>
          </a:p>
          <a:p>
            <a:pPr indent="0" marL="0">
              <a:buNone/>
            </a:pPr>
            <a:r>
              <a:rPr lang="en-US" sz="1500" b="1" dirty="0">
                <a:solidFill>
                  <a:srgbClr val="8D99AE"/>
                </a:solidFill>
                <a:latin typeface="Microsoft YaHei" pitchFamily="34" charset="0"/>
                <a:ea typeface="Microsoft YaHei" pitchFamily="34" charset="-122"/>
                <a:cs typeface="Microsoft YaHei" pitchFamily="34" charset="-120"/>
              </a:rPr>
              <a:t>被替代是早晚的事</a:t>
            </a:r>
            <a:endParaRPr lang="en-US" sz="1500" dirty="0"/>
          </a:p>
        </p:txBody>
      </p:sp>
      <p:sp>
        <p:nvSpPr>
          <p:cNvPr id="9" name="Shape 7"/>
          <p:cNvSpPr/>
          <p:nvPr/>
        </p:nvSpPr>
        <p:spPr>
          <a:xfrm>
            <a:off x="4663440" y="1600200"/>
            <a:ext cx="3840480" cy="2560320"/>
          </a:xfrm>
          <a:prstGeom prst="rect">
            <a:avLst/>
          </a:prstGeom>
          <a:solidFill>
            <a:srgbClr val="EDF2F4"/>
          </a:solidFill>
          <a:ln/>
        </p:spPr>
      </p:sp>
      <p:sp>
        <p:nvSpPr>
          <p:cNvPr id="10" name="Shape 8"/>
          <p:cNvSpPr/>
          <p:nvPr/>
        </p:nvSpPr>
        <p:spPr>
          <a:xfrm>
            <a:off x="4663440" y="1600200"/>
            <a:ext cx="3840480" cy="73152"/>
          </a:xfrm>
          <a:prstGeom prst="rect">
            <a:avLst/>
          </a:prstGeom>
          <a:solidFill>
            <a:srgbClr val="2B2D42"/>
          </a:solidFill>
          <a:ln/>
        </p:spPr>
      </p:sp>
      <p:sp>
        <p:nvSpPr>
          <p:cNvPr id="11" name="Text 9"/>
          <p:cNvSpPr/>
          <p:nvPr/>
        </p:nvSpPr>
        <p:spPr>
          <a:xfrm>
            <a:off x="4846320" y="1828800"/>
            <a:ext cx="3474720" cy="411480"/>
          </a:xfrm>
          <a:prstGeom prst="rect">
            <a:avLst/>
          </a:prstGeom>
          <a:noFill/>
          <a:ln/>
        </p:spPr>
        <p:txBody>
          <a:bodyPr wrap="square" rtlCol="0" anchor="ctr"/>
          <a:lstStyle/>
          <a:p>
            <a:pPr indent="0" marL="0">
              <a:buNone/>
            </a:pPr>
            <a:r>
              <a:rPr lang="en-US" sz="2000" b="1" dirty="0">
                <a:solidFill>
                  <a:srgbClr val="2B2D42"/>
                </a:solidFill>
                <a:latin typeface="Microsoft YaHei" pitchFamily="34" charset="0"/>
                <a:ea typeface="Microsoft YaHei" pitchFamily="34" charset="-122"/>
                <a:cs typeface="Microsoft YaHei" pitchFamily="34" charset="-120"/>
              </a:rPr>
              <a:t>AI时代的幸存者</a:t>
            </a:r>
            <a:endParaRPr lang="en-US" sz="2000" dirty="0"/>
          </a:p>
        </p:txBody>
      </p:sp>
      <p:sp>
        <p:nvSpPr>
          <p:cNvPr id="12" name="Text 10"/>
          <p:cNvSpPr/>
          <p:nvPr/>
        </p:nvSpPr>
        <p:spPr>
          <a:xfrm>
            <a:off x="4846320" y="2331720"/>
            <a:ext cx="3474720" cy="1645920"/>
          </a:xfrm>
          <a:prstGeom prst="rect">
            <a:avLst/>
          </a:prstGeom>
          <a:noFill/>
          <a:ln/>
        </p:spPr>
        <p:txBody>
          <a:bodyPr wrap="square" rtlCol="0" anchor="t"/>
          <a:lstStyle/>
          <a:p>
            <a:pPr indent="0" marL="0">
              <a:buNone/>
            </a:pPr>
            <a:r>
              <a:rPr lang="en-US" sz="1500" dirty="0">
                <a:solidFill>
                  <a:srgbClr val="8D99AE"/>
                </a:solidFill>
                <a:latin typeface="Microsoft YaHei" pitchFamily="34" charset="0"/>
                <a:ea typeface="Microsoft YaHei" pitchFamily="34" charset="-122"/>
                <a:cs typeface="Microsoft YaHei" pitchFamily="34" charset="-120"/>
              </a:rPr>
              <a:t>真正把信息过滤、产业判断、倒推规划、跟人打交道这些环节做扎实的同行</a:t>
            </a:r>
            <a:endParaRPr lang="en-US" sz="1500" dirty="0"/>
          </a:p>
          <a:p>
            <a:pPr indent="0" marL="0">
              <a:buNone/>
            </a:pPr>
            <a:endParaRPr lang="en-US" sz="1500" dirty="0"/>
          </a:p>
          <a:p>
            <a:pPr indent="0" marL="0">
              <a:buNone/>
            </a:pPr>
            <a:r>
              <a:rPr lang="en-US" sz="1500" b="1" dirty="0">
                <a:solidFill>
                  <a:srgbClr val="8D99AE"/>
                </a:solidFill>
                <a:latin typeface="Microsoft YaHei" pitchFamily="34" charset="0"/>
                <a:ea typeface="Microsoft YaHei" pitchFamily="34" charset="-122"/>
                <a:cs typeface="Microsoft YaHei" pitchFamily="34" charset="-120"/>
              </a:rPr>
              <a:t>会活得比以前更好</a:t>
            </a:r>
            <a:endParaRPr lang="en-US" sz="1500" dirty="0"/>
          </a:p>
        </p:txBody>
      </p:sp>
      <p:sp>
        <p:nvSpPr>
          <p:cNvPr id="13" name="Shape 11"/>
          <p:cNvSpPr/>
          <p:nvPr/>
        </p:nvSpPr>
        <p:spPr>
          <a:xfrm>
            <a:off x="457200" y="4343400"/>
            <a:ext cx="8229600" cy="594360"/>
          </a:xfrm>
          <a:prstGeom prst="rect">
            <a:avLst/>
          </a:prstGeom>
          <a:solidFill>
            <a:srgbClr val="2B2D42"/>
          </a:solidFill>
          <a:ln/>
        </p:spPr>
      </p:sp>
      <p:sp>
        <p:nvSpPr>
          <p:cNvPr id="14" name="Text 12"/>
          <p:cNvSpPr/>
          <p:nvPr/>
        </p:nvSpPr>
        <p:spPr>
          <a:xfrm>
            <a:off x="457200" y="4343400"/>
            <a:ext cx="8229600" cy="594360"/>
          </a:xfrm>
          <a:prstGeom prst="rect">
            <a:avLst/>
          </a:prstGeom>
          <a:noFill/>
          <a:ln/>
        </p:spPr>
        <p:txBody>
          <a:bodyPr wrap="square" rtlCol="0" anchor="ctr"/>
          <a:lstStyle/>
          <a:p>
            <a:pPr algn="ctr" indent="0" marL="0">
              <a:buNone/>
            </a:pPr>
            <a:r>
              <a:rPr lang="en-US" sz="1500" dirty="0">
                <a:solidFill>
                  <a:srgbClr val="FFFFFF"/>
                </a:solidFill>
                <a:latin typeface="Microsoft YaHei" pitchFamily="34" charset="0"/>
                <a:ea typeface="Microsoft YaHei" pitchFamily="34" charset="-122"/>
                <a:cs typeface="Microsoft YaHei" pitchFamily="34" charset="-120"/>
              </a:rPr>
              <a:t>门槛被抬高了，而抬高门槛这件事，对愿意花时间打磨真本事的人来说，从来都是好事</a:t>
            </a:r>
            <a:endParaRPr lang="en-US" sz="1500" dirty="0"/>
          </a:p>
        </p:txBody>
      </p:sp>
      <p:sp>
        <p:nvSpPr>
          <p:cNvPr id="15" name="Shape 13"/>
          <p:cNvSpPr/>
          <p:nvPr/>
        </p:nvSpPr>
        <p:spPr>
          <a:xfrm>
            <a:off x="8321040" y="4663440"/>
            <a:ext cx="365760" cy="365760"/>
          </a:xfrm>
          <a:prstGeom prst="ellipse">
            <a:avLst/>
          </a:prstGeom>
          <a:solidFill>
            <a:srgbClr val="EF233C"/>
          </a:solidFill>
          <a:ln/>
        </p:spPr>
      </p:sp>
      <p:sp>
        <p:nvSpPr>
          <p:cNvPr id="16" name="Text 14"/>
          <p:cNvSpPr/>
          <p:nvPr/>
        </p:nvSpPr>
        <p:spPr>
          <a:xfrm>
            <a:off x="832104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66</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457200" y="274320"/>
            <a:ext cx="1463040" cy="365760"/>
          </a:xfrm>
          <a:prstGeom prst="roundRect">
            <a:avLst>
              <a:gd name="adj" fmla="val 12500"/>
            </a:avLst>
          </a:prstGeom>
          <a:solidFill>
            <a:srgbClr val="EF233C"/>
          </a:solidFill>
          <a:ln/>
        </p:spPr>
      </p:sp>
      <p:sp>
        <p:nvSpPr>
          <p:cNvPr id="3" name="Text 1"/>
          <p:cNvSpPr/>
          <p:nvPr/>
        </p:nvSpPr>
        <p:spPr>
          <a:xfrm>
            <a:off x="457200" y="274320"/>
            <a:ext cx="146304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Chapter 14</a:t>
            </a:r>
            <a:endParaRPr lang="en-US" sz="1400" dirty="0"/>
          </a:p>
        </p:txBody>
      </p:sp>
      <p:sp>
        <p:nvSpPr>
          <p:cNvPr id="4" name="Text 2"/>
          <p:cNvSpPr/>
          <p:nvPr/>
        </p:nvSpPr>
        <p:spPr>
          <a:xfrm>
            <a:off x="457200" y="777240"/>
            <a:ext cx="8229600" cy="640080"/>
          </a:xfrm>
          <a:prstGeom prst="rect">
            <a:avLst/>
          </a:prstGeom>
          <a:noFill/>
          <a:ln/>
        </p:spPr>
        <p:txBody>
          <a:bodyPr wrap="square" rtlCol="0" anchor="ctr"/>
          <a:lstStyle/>
          <a:p>
            <a:pPr indent="0" marL="0">
              <a:buNone/>
            </a:pPr>
            <a:r>
              <a:rPr lang="en-US" sz="3600" b="1" dirty="0">
                <a:solidFill>
                  <a:srgbClr val="2B2D42"/>
                </a:solidFill>
                <a:latin typeface="Microsoft YaHei" pitchFamily="34" charset="0"/>
                <a:ea typeface="Microsoft YaHei" pitchFamily="34" charset="-122"/>
                <a:cs typeface="Microsoft YaHei" pitchFamily="34" charset="-120"/>
              </a:rPr>
              <a:t>对新人的机会</a:t>
            </a:r>
            <a:endParaRPr lang="en-US" sz="3600" dirty="0"/>
          </a:p>
        </p:txBody>
      </p:sp>
      <p:sp>
        <p:nvSpPr>
          <p:cNvPr id="5" name="Shape 3"/>
          <p:cNvSpPr/>
          <p:nvPr/>
        </p:nvSpPr>
        <p:spPr>
          <a:xfrm>
            <a:off x="457200" y="1554480"/>
            <a:ext cx="8229600" cy="1005840"/>
          </a:xfrm>
          <a:prstGeom prst="rect">
            <a:avLst/>
          </a:prstGeom>
          <a:solidFill>
            <a:srgbClr val="EDF2F4"/>
          </a:solidFill>
          <a:ln/>
        </p:spPr>
      </p:sp>
      <p:sp>
        <p:nvSpPr>
          <p:cNvPr id="6" name="Text 4"/>
          <p:cNvSpPr/>
          <p:nvPr/>
        </p:nvSpPr>
        <p:spPr>
          <a:xfrm>
            <a:off x="640080" y="1554480"/>
            <a:ext cx="7863840" cy="1005840"/>
          </a:xfrm>
          <a:prstGeom prst="rect">
            <a:avLst/>
          </a:prstGeom>
          <a:noFill/>
          <a:ln/>
        </p:spPr>
        <p:txBody>
          <a:bodyPr wrap="square" rtlCol="0" anchor="ctr"/>
          <a:lstStyle/>
          <a:p>
            <a:pPr algn="l" indent="0" marL="0">
              <a:buNone/>
            </a:pPr>
            <a:r>
              <a:rPr lang="en-US" sz="1800" b="1" dirty="0">
                <a:solidFill>
                  <a:srgbClr val="2B2D42"/>
                </a:solidFill>
                <a:latin typeface="Microsoft YaHei" pitchFamily="34" charset="0"/>
                <a:ea typeface="Microsoft YaHei" pitchFamily="34" charset="-122"/>
                <a:cs typeface="Microsoft YaHei" pitchFamily="34" charset="-120"/>
              </a:rPr>
              <a:t>现在工具把基础计算工作接管过去，新人可以更早把精力投入到锻炼判断力上</a:t>
            </a:r>
            <a:endParaRPr lang="en-US" sz="1800" dirty="0"/>
          </a:p>
        </p:txBody>
      </p:sp>
      <p:sp>
        <p:nvSpPr>
          <p:cNvPr id="7" name="Text 5"/>
          <p:cNvSpPr/>
          <p:nvPr/>
        </p:nvSpPr>
        <p:spPr>
          <a:xfrm>
            <a:off x="457200" y="2743200"/>
            <a:ext cx="914400" cy="365760"/>
          </a:xfrm>
          <a:prstGeom prst="rect">
            <a:avLst/>
          </a:prstGeom>
          <a:noFill/>
          <a:ln/>
        </p:spPr>
        <p:txBody>
          <a:bodyPr wrap="square" rtlCol="0" anchor="ctr"/>
          <a:lstStyle/>
          <a:p>
            <a:pPr indent="0" marL="0">
              <a:buNone/>
            </a:pPr>
            <a:r>
              <a:rPr lang="en-US" sz="1400" b="1" dirty="0">
                <a:solidFill>
                  <a:srgbClr val="EF233C"/>
                </a:solidFill>
                <a:latin typeface="Microsoft YaHei" pitchFamily="34" charset="0"/>
                <a:ea typeface="Microsoft YaHei" pitchFamily="34" charset="-122"/>
                <a:cs typeface="Microsoft YaHei" pitchFamily="34" charset="-120"/>
              </a:rPr>
              <a:t>路径</a:t>
            </a:r>
            <a:endParaRPr lang="en-US" sz="1400" dirty="0"/>
          </a:p>
        </p:txBody>
      </p:sp>
      <p:sp>
        <p:nvSpPr>
          <p:cNvPr id="8" name="Shape 6"/>
          <p:cNvSpPr/>
          <p:nvPr/>
        </p:nvSpPr>
        <p:spPr>
          <a:xfrm>
            <a:off x="457200" y="3264408"/>
            <a:ext cx="164592" cy="164592"/>
          </a:xfrm>
          <a:prstGeom prst="ellipse">
            <a:avLst/>
          </a:prstGeom>
          <a:solidFill>
            <a:srgbClr val="EF233C"/>
          </a:solidFill>
          <a:ln/>
        </p:spPr>
      </p:sp>
      <p:sp>
        <p:nvSpPr>
          <p:cNvPr id="9" name="Text 7"/>
          <p:cNvSpPr/>
          <p:nvPr/>
        </p:nvSpPr>
        <p:spPr>
          <a:xfrm>
            <a:off x="777240" y="3154680"/>
            <a:ext cx="7772400" cy="411480"/>
          </a:xfrm>
          <a:prstGeom prst="rect">
            <a:avLst/>
          </a:prstGeom>
          <a:noFill/>
          <a:ln/>
        </p:spPr>
        <p:txBody>
          <a:bodyPr wrap="square" rtlCol="0" anchor="ctr"/>
          <a:lstStyle/>
          <a:p>
            <a:pPr indent="0" marL="0">
              <a:buNone/>
            </a:pPr>
            <a:r>
              <a:rPr lang="en-US" sz="1600" dirty="0">
                <a:solidFill>
                  <a:srgbClr val="8D99AE"/>
                </a:solidFill>
                <a:latin typeface="Microsoft YaHei" pitchFamily="34" charset="0"/>
                <a:ea typeface="Microsoft YaHei" pitchFamily="34" charset="-122"/>
                <a:cs typeface="Microsoft YaHei" pitchFamily="34" charset="-120"/>
              </a:rPr>
              <a:t>多找机会跟真实的孩子和家庭深度聊天</a:t>
            </a:r>
            <a:endParaRPr lang="en-US" sz="1600" dirty="0"/>
          </a:p>
        </p:txBody>
      </p:sp>
      <p:sp>
        <p:nvSpPr>
          <p:cNvPr id="10" name="Shape 8"/>
          <p:cNvSpPr/>
          <p:nvPr/>
        </p:nvSpPr>
        <p:spPr>
          <a:xfrm>
            <a:off x="457200" y="3767328"/>
            <a:ext cx="164592" cy="164592"/>
          </a:xfrm>
          <a:prstGeom prst="ellipse">
            <a:avLst/>
          </a:prstGeom>
          <a:solidFill>
            <a:srgbClr val="EF233C"/>
          </a:solidFill>
          <a:ln/>
        </p:spPr>
      </p:sp>
      <p:sp>
        <p:nvSpPr>
          <p:cNvPr id="11" name="Text 9"/>
          <p:cNvSpPr/>
          <p:nvPr/>
        </p:nvSpPr>
        <p:spPr>
          <a:xfrm>
            <a:off x="777240" y="3657600"/>
            <a:ext cx="7772400" cy="411480"/>
          </a:xfrm>
          <a:prstGeom prst="rect">
            <a:avLst/>
          </a:prstGeom>
          <a:noFill/>
          <a:ln/>
        </p:spPr>
        <p:txBody>
          <a:bodyPr wrap="square" rtlCol="0" anchor="ctr"/>
          <a:lstStyle/>
          <a:p>
            <a:pPr indent="0" marL="0">
              <a:buNone/>
            </a:pPr>
            <a:r>
              <a:rPr lang="en-US" sz="1600" dirty="0">
                <a:solidFill>
                  <a:srgbClr val="8D99AE"/>
                </a:solidFill>
                <a:latin typeface="Microsoft YaHei" pitchFamily="34" charset="0"/>
                <a:ea typeface="Microsoft YaHei" pitchFamily="34" charset="-122"/>
                <a:cs typeface="Microsoft YaHei" pitchFamily="34" charset="-120"/>
              </a:rPr>
              <a:t>多花时间去研究几个具体行业的真实动态</a:t>
            </a:r>
            <a:endParaRPr lang="en-US" sz="1600" dirty="0"/>
          </a:p>
        </p:txBody>
      </p:sp>
      <p:sp>
        <p:nvSpPr>
          <p:cNvPr id="12" name="Shape 10"/>
          <p:cNvSpPr/>
          <p:nvPr/>
        </p:nvSpPr>
        <p:spPr>
          <a:xfrm>
            <a:off x="457200" y="4160520"/>
            <a:ext cx="8229600" cy="594360"/>
          </a:xfrm>
          <a:prstGeom prst="rect">
            <a:avLst/>
          </a:prstGeom>
          <a:solidFill>
            <a:srgbClr val="2B2D42"/>
          </a:solidFill>
          <a:ln/>
        </p:spPr>
      </p:sp>
      <p:sp>
        <p:nvSpPr>
          <p:cNvPr id="13" name="Text 11"/>
          <p:cNvSpPr/>
          <p:nvPr/>
        </p:nvSpPr>
        <p:spPr>
          <a:xfrm>
            <a:off x="457200" y="4160520"/>
            <a:ext cx="8229600" cy="594360"/>
          </a:xfrm>
          <a:prstGeom prst="rect">
            <a:avLst/>
          </a:prstGeom>
          <a:noFill/>
          <a:ln/>
        </p:spPr>
        <p:txBody>
          <a:bodyPr wrap="square" rtlCol="0" anchor="ctr"/>
          <a:lstStyle/>
          <a:p>
            <a:pPr algn="ctr" indent="0" marL="0">
              <a:buNone/>
            </a:pPr>
            <a:r>
              <a:rPr lang="en-US" sz="1400" dirty="0">
                <a:solidFill>
                  <a:srgbClr val="FFFFFF"/>
                </a:solidFill>
                <a:latin typeface="Microsoft YaHei" pitchFamily="34" charset="0"/>
                <a:ea typeface="Microsoft YaHei" pitchFamily="34" charset="-122"/>
                <a:cs typeface="Microsoft YaHei" pitchFamily="34" charset="-120"/>
              </a:rPr>
              <a:t>这条路径起步阶段看起来"不够专业"，但长期看比先啃十年数据的老路径更扎实</a:t>
            </a:r>
            <a:endParaRPr lang="en-US" sz="1400" dirty="0"/>
          </a:p>
        </p:txBody>
      </p:sp>
      <p:sp>
        <p:nvSpPr>
          <p:cNvPr id="14" name="Shape 12"/>
          <p:cNvSpPr/>
          <p:nvPr/>
        </p:nvSpPr>
        <p:spPr>
          <a:xfrm>
            <a:off x="6217920" y="2697480"/>
            <a:ext cx="2468880" cy="411480"/>
          </a:xfrm>
          <a:prstGeom prst="roundRect">
            <a:avLst>
              <a:gd name="adj" fmla="val 11111"/>
            </a:avLst>
          </a:prstGeom>
          <a:solidFill>
            <a:srgbClr val="EF233C"/>
          </a:solidFill>
          <a:ln/>
        </p:spPr>
      </p:sp>
      <p:sp>
        <p:nvSpPr>
          <p:cNvPr id="15" name="Text 13"/>
          <p:cNvSpPr/>
          <p:nvPr/>
        </p:nvSpPr>
        <p:spPr>
          <a:xfrm>
            <a:off x="6217920" y="2697480"/>
            <a:ext cx="2468880" cy="41148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不被后续的工具迭代冲击</a:t>
            </a:r>
            <a:endParaRPr lang="en-US" sz="1200" dirty="0"/>
          </a:p>
        </p:txBody>
      </p:sp>
      <p:sp>
        <p:nvSpPr>
          <p:cNvPr id="16" name="Shape 14"/>
          <p:cNvSpPr/>
          <p:nvPr/>
        </p:nvSpPr>
        <p:spPr>
          <a:xfrm>
            <a:off x="8321040" y="4663440"/>
            <a:ext cx="365760" cy="365760"/>
          </a:xfrm>
          <a:prstGeom prst="ellipse">
            <a:avLst/>
          </a:prstGeom>
          <a:solidFill>
            <a:srgbClr val="EF233C"/>
          </a:solidFill>
          <a:ln/>
        </p:spPr>
      </p:sp>
      <p:sp>
        <p:nvSpPr>
          <p:cNvPr id="17" name="Text 15"/>
          <p:cNvSpPr/>
          <p:nvPr/>
        </p:nvSpPr>
        <p:spPr>
          <a:xfrm>
            <a:off x="832104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67</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457200" y="274320"/>
            <a:ext cx="1463040" cy="365760"/>
          </a:xfrm>
          <a:prstGeom prst="roundRect">
            <a:avLst>
              <a:gd name="adj" fmla="val 12500"/>
            </a:avLst>
          </a:prstGeom>
          <a:solidFill>
            <a:srgbClr val="EF233C"/>
          </a:solidFill>
          <a:ln/>
        </p:spPr>
      </p:sp>
      <p:sp>
        <p:nvSpPr>
          <p:cNvPr id="3" name="Text 1"/>
          <p:cNvSpPr/>
          <p:nvPr/>
        </p:nvSpPr>
        <p:spPr>
          <a:xfrm>
            <a:off x="457200" y="274320"/>
            <a:ext cx="146304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Chapter 14</a:t>
            </a:r>
            <a:endParaRPr lang="en-US" sz="1400" dirty="0"/>
          </a:p>
        </p:txBody>
      </p:sp>
      <p:sp>
        <p:nvSpPr>
          <p:cNvPr id="4" name="Text 2"/>
          <p:cNvSpPr/>
          <p:nvPr/>
        </p:nvSpPr>
        <p:spPr>
          <a:xfrm>
            <a:off x="457200" y="777240"/>
            <a:ext cx="8229600" cy="640080"/>
          </a:xfrm>
          <a:prstGeom prst="rect">
            <a:avLst/>
          </a:prstGeom>
          <a:noFill/>
          <a:ln/>
        </p:spPr>
        <p:txBody>
          <a:bodyPr wrap="square" rtlCol="0" anchor="ctr"/>
          <a:lstStyle/>
          <a:p>
            <a:pPr indent="0" marL="0">
              <a:buNone/>
            </a:pPr>
            <a:r>
              <a:rPr lang="en-US" sz="3600" b="1" dirty="0">
                <a:solidFill>
                  <a:srgbClr val="2B2D42"/>
                </a:solidFill>
                <a:latin typeface="Microsoft YaHei" pitchFamily="34" charset="0"/>
                <a:ea typeface="Microsoft YaHei" pitchFamily="34" charset="-122"/>
                <a:cs typeface="Microsoft YaHei" pitchFamily="34" charset="-120"/>
              </a:rPr>
              <a:t>工具的态度</a:t>
            </a:r>
            <a:endParaRPr lang="en-US" sz="3600" dirty="0"/>
          </a:p>
        </p:txBody>
      </p:sp>
      <p:sp>
        <p:nvSpPr>
          <p:cNvPr id="5" name="Shape 3"/>
          <p:cNvSpPr/>
          <p:nvPr/>
        </p:nvSpPr>
        <p:spPr>
          <a:xfrm>
            <a:off x="457200" y="1554480"/>
            <a:ext cx="8229600" cy="822960"/>
          </a:xfrm>
          <a:prstGeom prst="rect">
            <a:avLst/>
          </a:prstGeom>
          <a:solidFill>
            <a:srgbClr val="EDF2F4"/>
          </a:solidFill>
          <a:ln/>
        </p:spPr>
      </p:sp>
      <p:sp>
        <p:nvSpPr>
          <p:cNvPr id="6" name="Text 4"/>
          <p:cNvSpPr/>
          <p:nvPr/>
        </p:nvSpPr>
        <p:spPr>
          <a:xfrm>
            <a:off x="640080" y="1554480"/>
            <a:ext cx="7863840" cy="822960"/>
          </a:xfrm>
          <a:prstGeom prst="rect">
            <a:avLst/>
          </a:prstGeom>
          <a:noFill/>
          <a:ln/>
        </p:spPr>
        <p:txBody>
          <a:bodyPr wrap="square" rtlCol="0" anchor="ctr"/>
          <a:lstStyle/>
          <a:p>
            <a:pPr algn="l" indent="0" marL="0">
              <a:buNone/>
            </a:pPr>
            <a:r>
              <a:rPr lang="en-US" sz="1700" b="1" dirty="0">
                <a:solidFill>
                  <a:srgbClr val="2B2D42"/>
                </a:solidFill>
                <a:latin typeface="Microsoft YaHei" pitchFamily="34" charset="0"/>
                <a:ea typeface="Microsoft YaHei" pitchFamily="34" charset="-122"/>
                <a:cs typeface="Microsoft YaHei" pitchFamily="34" charset="-120"/>
              </a:rPr>
              <a:t>工具能做的部分，尽量用工具去做，把省下来的精力投入到真正体现价值的地方</a:t>
            </a:r>
            <a:endParaRPr lang="en-US" sz="1700" dirty="0"/>
          </a:p>
        </p:txBody>
      </p:sp>
      <p:sp>
        <p:nvSpPr>
          <p:cNvPr id="7" name="Text 5"/>
          <p:cNvSpPr/>
          <p:nvPr/>
        </p:nvSpPr>
        <p:spPr>
          <a:xfrm>
            <a:off x="4023360" y="2514600"/>
            <a:ext cx="640080" cy="320040"/>
          </a:xfrm>
          <a:prstGeom prst="rect">
            <a:avLst/>
          </a:prstGeom>
          <a:noFill/>
          <a:ln/>
        </p:spPr>
        <p:txBody>
          <a:bodyPr wrap="square" rtlCol="0" anchor="ctr"/>
          <a:lstStyle/>
          <a:p>
            <a:pPr algn="ctr" indent="0" marL="0">
              <a:buNone/>
            </a:pPr>
            <a:r>
              <a:rPr lang="en-US" sz="1400" b="1" dirty="0">
                <a:solidFill>
                  <a:srgbClr val="8D99AE"/>
                </a:solidFill>
                <a:latin typeface="Arial" pitchFamily="34" charset="0"/>
                <a:ea typeface="Arial" pitchFamily="34" charset="-122"/>
                <a:cs typeface="Arial" pitchFamily="34" charset="-120"/>
              </a:rPr>
              <a:t>VS</a:t>
            </a:r>
            <a:endParaRPr lang="en-US" sz="1400" dirty="0"/>
          </a:p>
        </p:txBody>
      </p:sp>
      <p:sp>
        <p:nvSpPr>
          <p:cNvPr id="8" name="Shape 6"/>
          <p:cNvSpPr/>
          <p:nvPr/>
        </p:nvSpPr>
        <p:spPr>
          <a:xfrm>
            <a:off x="457200" y="2468880"/>
            <a:ext cx="3474720" cy="1371600"/>
          </a:xfrm>
          <a:prstGeom prst="rect">
            <a:avLst/>
          </a:prstGeom>
          <a:solidFill>
            <a:srgbClr val="EDF2F4"/>
          </a:solidFill>
          <a:ln/>
        </p:spPr>
      </p:sp>
      <p:sp>
        <p:nvSpPr>
          <p:cNvPr id="9" name="Shape 7"/>
          <p:cNvSpPr/>
          <p:nvPr/>
        </p:nvSpPr>
        <p:spPr>
          <a:xfrm>
            <a:off x="457200" y="2468880"/>
            <a:ext cx="3474720" cy="73152"/>
          </a:xfrm>
          <a:prstGeom prst="rect">
            <a:avLst/>
          </a:prstGeom>
          <a:solidFill>
            <a:srgbClr val="8D99AE"/>
          </a:solidFill>
          <a:ln/>
        </p:spPr>
      </p:sp>
      <p:sp>
        <p:nvSpPr>
          <p:cNvPr id="10" name="Text 8"/>
          <p:cNvSpPr/>
          <p:nvPr/>
        </p:nvSpPr>
        <p:spPr>
          <a:xfrm>
            <a:off x="640080" y="2606040"/>
            <a:ext cx="3108960" cy="320040"/>
          </a:xfrm>
          <a:prstGeom prst="rect">
            <a:avLst/>
          </a:prstGeom>
          <a:noFill/>
          <a:ln/>
        </p:spPr>
        <p:txBody>
          <a:bodyPr wrap="square" rtlCol="0" anchor="ctr"/>
          <a:lstStyle/>
          <a:p>
            <a:pPr indent="0" marL="0">
              <a:buNone/>
            </a:pPr>
            <a:r>
              <a:rPr lang="en-US" sz="1400" b="1" dirty="0">
                <a:solidFill>
                  <a:srgbClr val="8D99AE"/>
                </a:solidFill>
                <a:latin typeface="Microsoft YaHei" pitchFamily="34" charset="0"/>
                <a:ea typeface="Microsoft YaHei" pitchFamily="34" charset="-122"/>
                <a:cs typeface="Microsoft YaHei" pitchFamily="34" charset="-120"/>
              </a:rPr>
              <a:t>有些同行</a:t>
            </a:r>
            <a:endParaRPr lang="en-US" sz="1400" dirty="0"/>
          </a:p>
        </p:txBody>
      </p:sp>
      <p:sp>
        <p:nvSpPr>
          <p:cNvPr id="11" name="Text 9"/>
          <p:cNvSpPr/>
          <p:nvPr/>
        </p:nvSpPr>
        <p:spPr>
          <a:xfrm>
            <a:off x="640080" y="2926080"/>
            <a:ext cx="3108960" cy="822960"/>
          </a:xfrm>
          <a:prstGeom prst="rect">
            <a:avLst/>
          </a:prstGeom>
          <a:noFill/>
          <a:ln/>
        </p:spPr>
        <p:txBody>
          <a:bodyPr wrap="square" rtlCol="0" anchor="t"/>
          <a:lstStyle/>
          <a:p>
            <a:pPr indent="0" marL="0">
              <a:buNone/>
            </a:pPr>
            <a:r>
              <a:rPr lang="en-US" sz="1300" dirty="0">
                <a:solidFill>
                  <a:srgbClr val="8D99AE"/>
                </a:solidFill>
                <a:latin typeface="Microsoft YaHei" pitchFamily="34" charset="0"/>
                <a:ea typeface="Microsoft YaHei" pitchFamily="34" charset="-122"/>
                <a:cs typeface="Microsoft YaHei" pitchFamily="34" charset="-120"/>
              </a:rPr>
              <a:t>本能地排斥和贬低AI工具，逢人就说"那个东西算出来的都不准，还是得靠人"</a:t>
            </a:r>
            <a:endParaRPr lang="en-US" sz="1300" dirty="0"/>
          </a:p>
        </p:txBody>
      </p:sp>
      <p:sp>
        <p:nvSpPr>
          <p:cNvPr id="12" name="Shape 10"/>
          <p:cNvSpPr/>
          <p:nvPr/>
        </p:nvSpPr>
        <p:spPr>
          <a:xfrm>
            <a:off x="4663440" y="2468880"/>
            <a:ext cx="4023360" cy="1371600"/>
          </a:xfrm>
          <a:prstGeom prst="rect">
            <a:avLst/>
          </a:prstGeom>
          <a:solidFill>
            <a:srgbClr val="EDF2F4"/>
          </a:solidFill>
          <a:ln/>
        </p:spPr>
      </p:sp>
      <p:sp>
        <p:nvSpPr>
          <p:cNvPr id="13" name="Shape 11"/>
          <p:cNvSpPr/>
          <p:nvPr/>
        </p:nvSpPr>
        <p:spPr>
          <a:xfrm>
            <a:off x="4663440" y="2468880"/>
            <a:ext cx="4023360" cy="73152"/>
          </a:xfrm>
          <a:prstGeom prst="rect">
            <a:avLst/>
          </a:prstGeom>
          <a:solidFill>
            <a:srgbClr val="EF233C"/>
          </a:solidFill>
          <a:ln/>
        </p:spPr>
      </p:sp>
      <p:sp>
        <p:nvSpPr>
          <p:cNvPr id="14" name="Text 12"/>
          <p:cNvSpPr/>
          <p:nvPr/>
        </p:nvSpPr>
        <p:spPr>
          <a:xfrm>
            <a:off x="4846320" y="2606040"/>
            <a:ext cx="3657600" cy="320040"/>
          </a:xfrm>
          <a:prstGeom prst="rect">
            <a:avLst/>
          </a:prstGeom>
          <a:noFill/>
          <a:ln/>
        </p:spPr>
        <p:txBody>
          <a:bodyPr wrap="square" rtlCol="0" anchor="ctr"/>
          <a:lstStyle/>
          <a:p>
            <a:pPr indent="0" marL="0">
              <a:buNone/>
            </a:pPr>
            <a:r>
              <a:rPr lang="en-US" sz="1400" b="1" dirty="0">
                <a:solidFill>
                  <a:srgbClr val="EF233C"/>
                </a:solidFill>
                <a:latin typeface="Microsoft YaHei" pitchFamily="34" charset="0"/>
                <a:ea typeface="Microsoft YaHei" pitchFamily="34" charset="-122"/>
                <a:cs typeface="Microsoft YaHei" pitchFamily="34" charset="-120"/>
              </a:rPr>
              <a:t>代价</a:t>
            </a:r>
            <a:endParaRPr lang="en-US" sz="1400" dirty="0"/>
          </a:p>
        </p:txBody>
      </p:sp>
      <p:sp>
        <p:nvSpPr>
          <p:cNvPr id="15" name="Text 13"/>
          <p:cNvSpPr/>
          <p:nvPr/>
        </p:nvSpPr>
        <p:spPr>
          <a:xfrm>
            <a:off x="4846320" y="2926080"/>
            <a:ext cx="3657600" cy="822960"/>
          </a:xfrm>
          <a:prstGeom prst="rect">
            <a:avLst/>
          </a:prstGeom>
          <a:noFill/>
          <a:ln/>
        </p:spPr>
        <p:txBody>
          <a:bodyPr wrap="square" rtlCol="0" anchor="t"/>
          <a:lstStyle/>
          <a:p>
            <a:pPr indent="0" marL="0">
              <a:buNone/>
            </a:pPr>
            <a:r>
              <a:rPr lang="en-US" sz="1300" dirty="0">
                <a:solidFill>
                  <a:srgbClr val="8D99AE"/>
                </a:solidFill>
                <a:latin typeface="Microsoft YaHei" pitchFamily="34" charset="0"/>
                <a:ea typeface="Microsoft YaHei" pitchFamily="34" charset="-122"/>
                <a:cs typeface="Microsoft YaHei" pitchFamily="34" charset="-120"/>
              </a:rPr>
              <a:t>抗拒它不会让它消失，只会让自己多耗掉一些原本可以用来提升核心能力的时间和精力</a:t>
            </a:r>
            <a:endParaRPr lang="en-US" sz="1300" dirty="0"/>
          </a:p>
        </p:txBody>
      </p:sp>
      <p:sp>
        <p:nvSpPr>
          <p:cNvPr id="16" name="Shape 14"/>
          <p:cNvSpPr/>
          <p:nvPr/>
        </p:nvSpPr>
        <p:spPr>
          <a:xfrm>
            <a:off x="457200" y="4069080"/>
            <a:ext cx="8229600" cy="640080"/>
          </a:xfrm>
          <a:prstGeom prst="rect">
            <a:avLst/>
          </a:prstGeom>
          <a:solidFill>
            <a:srgbClr val="2B2D42"/>
          </a:solidFill>
          <a:ln/>
        </p:spPr>
      </p:sp>
      <p:sp>
        <p:nvSpPr>
          <p:cNvPr id="17" name="Text 15"/>
          <p:cNvSpPr/>
          <p:nvPr/>
        </p:nvSpPr>
        <p:spPr>
          <a:xfrm>
            <a:off x="457200" y="4069080"/>
            <a:ext cx="8229600" cy="640080"/>
          </a:xfrm>
          <a:prstGeom prst="rect">
            <a:avLst/>
          </a:prstGeom>
          <a:noFill/>
          <a:ln/>
        </p:spPr>
        <p:txBody>
          <a:bodyPr wrap="square"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把AI当成解放自己时间的工具，而不是威胁</a:t>
            </a:r>
            <a:endParaRPr lang="en-US" sz="2000" dirty="0"/>
          </a:p>
        </p:txBody>
      </p:sp>
      <p:sp>
        <p:nvSpPr>
          <p:cNvPr id="18" name="Shape 16"/>
          <p:cNvSpPr/>
          <p:nvPr/>
        </p:nvSpPr>
        <p:spPr>
          <a:xfrm>
            <a:off x="8321040" y="4663440"/>
            <a:ext cx="365760" cy="365760"/>
          </a:xfrm>
          <a:prstGeom prst="ellipse">
            <a:avLst/>
          </a:prstGeom>
          <a:solidFill>
            <a:srgbClr val="EF233C"/>
          </a:solidFill>
          <a:ln/>
        </p:spPr>
      </p:sp>
      <p:sp>
        <p:nvSpPr>
          <p:cNvPr id="19" name="Text 17"/>
          <p:cNvSpPr/>
          <p:nvPr/>
        </p:nvSpPr>
        <p:spPr>
          <a:xfrm>
            <a:off x="832104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68</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457200" y="274320"/>
            <a:ext cx="1463040" cy="365760"/>
          </a:xfrm>
          <a:prstGeom prst="roundRect">
            <a:avLst>
              <a:gd name="adj" fmla="val 12500"/>
            </a:avLst>
          </a:prstGeom>
          <a:solidFill>
            <a:srgbClr val="EF233C"/>
          </a:solidFill>
          <a:ln/>
        </p:spPr>
      </p:sp>
      <p:sp>
        <p:nvSpPr>
          <p:cNvPr id="3" name="Text 1"/>
          <p:cNvSpPr/>
          <p:nvPr/>
        </p:nvSpPr>
        <p:spPr>
          <a:xfrm>
            <a:off x="457200" y="274320"/>
            <a:ext cx="146304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Chapter 15</a:t>
            </a:r>
            <a:endParaRPr lang="en-US" sz="1400" dirty="0"/>
          </a:p>
        </p:txBody>
      </p:sp>
      <p:sp>
        <p:nvSpPr>
          <p:cNvPr id="4" name="Text 2"/>
          <p:cNvSpPr/>
          <p:nvPr/>
        </p:nvSpPr>
        <p:spPr>
          <a:xfrm>
            <a:off x="457200" y="777240"/>
            <a:ext cx="8229600" cy="548640"/>
          </a:xfrm>
          <a:prstGeom prst="rect">
            <a:avLst/>
          </a:prstGeom>
          <a:noFill/>
          <a:ln/>
        </p:spPr>
        <p:txBody>
          <a:bodyPr wrap="square" rtlCol="0" anchor="ctr"/>
          <a:lstStyle/>
          <a:p>
            <a:pPr indent="0" marL="0">
              <a:buNone/>
            </a:pPr>
            <a:r>
              <a:rPr lang="en-US" sz="3400" b="1" dirty="0">
                <a:solidFill>
                  <a:srgbClr val="2B2D42"/>
                </a:solidFill>
                <a:latin typeface="Microsoft YaHei" pitchFamily="34" charset="0"/>
                <a:ea typeface="Microsoft YaHei" pitchFamily="34" charset="-122"/>
                <a:cs typeface="Microsoft YaHei" pitchFamily="34" charset="-120"/>
              </a:rPr>
              <a:t>从"算得对"到"看得准"</a:t>
            </a:r>
            <a:endParaRPr lang="en-US" sz="3400" dirty="0"/>
          </a:p>
        </p:txBody>
      </p:sp>
      <p:sp>
        <p:nvSpPr>
          <p:cNvPr id="5" name="Text 3"/>
          <p:cNvSpPr/>
          <p:nvPr/>
        </p:nvSpPr>
        <p:spPr>
          <a:xfrm>
            <a:off x="457200" y="1280160"/>
            <a:ext cx="8229600" cy="411480"/>
          </a:xfrm>
          <a:prstGeom prst="rect">
            <a:avLst/>
          </a:prstGeom>
          <a:noFill/>
          <a:ln/>
        </p:spPr>
        <p:txBody>
          <a:bodyPr wrap="square" rtlCol="0" anchor="ctr"/>
          <a:lstStyle/>
          <a:p>
            <a:pPr indent="0" marL="0">
              <a:buNone/>
            </a:pPr>
            <a:r>
              <a:rPr lang="en-US" sz="2000" dirty="0">
                <a:solidFill>
                  <a:srgbClr val="8D99AE"/>
                </a:solidFill>
                <a:latin typeface="Microsoft YaHei" pitchFamily="34" charset="0"/>
                <a:ea typeface="Microsoft YaHei" pitchFamily="34" charset="-122"/>
                <a:cs typeface="Microsoft YaHei" pitchFamily="34" charset="-120"/>
              </a:rPr>
              <a:t>新手和老手之间那道坎</a:t>
            </a:r>
            <a:endParaRPr lang="en-US" sz="2000" dirty="0"/>
          </a:p>
        </p:txBody>
      </p:sp>
      <p:sp>
        <p:nvSpPr>
          <p:cNvPr id="6" name="Shape 4"/>
          <p:cNvSpPr/>
          <p:nvPr/>
        </p:nvSpPr>
        <p:spPr>
          <a:xfrm>
            <a:off x="457200" y="1920240"/>
            <a:ext cx="8229600" cy="2286000"/>
          </a:xfrm>
          <a:prstGeom prst="rect">
            <a:avLst/>
          </a:prstGeom>
          <a:solidFill>
            <a:srgbClr val="EDF2F4"/>
          </a:solidFill>
          <a:ln/>
        </p:spPr>
      </p:sp>
      <p:sp>
        <p:nvSpPr>
          <p:cNvPr id="7" name="Shape 5"/>
          <p:cNvSpPr/>
          <p:nvPr/>
        </p:nvSpPr>
        <p:spPr>
          <a:xfrm>
            <a:off x="457200" y="1920240"/>
            <a:ext cx="91440" cy="2286000"/>
          </a:xfrm>
          <a:prstGeom prst="rect">
            <a:avLst/>
          </a:prstGeom>
          <a:solidFill>
            <a:srgbClr val="EF233C"/>
          </a:solidFill>
          <a:ln/>
        </p:spPr>
      </p:sp>
      <p:sp>
        <p:nvSpPr>
          <p:cNvPr id="8" name="Text 6"/>
          <p:cNvSpPr/>
          <p:nvPr/>
        </p:nvSpPr>
        <p:spPr>
          <a:xfrm>
            <a:off x="640080" y="1920240"/>
            <a:ext cx="548640" cy="548640"/>
          </a:xfrm>
          <a:prstGeom prst="rect">
            <a:avLst/>
          </a:prstGeom>
          <a:noFill/>
          <a:ln/>
        </p:spPr>
        <p:txBody>
          <a:bodyPr wrap="square" rtlCol="0" anchor="ctr"/>
          <a:lstStyle/>
          <a:p>
            <a:pPr indent="0" marL="0">
              <a:buNone/>
            </a:pPr>
            <a:r>
              <a:rPr lang="en-US" sz="4800" dirty="0">
                <a:solidFill>
                  <a:srgbClr val="EF233C"/>
                </a:solidFill>
                <a:latin typeface="Georgia" pitchFamily="34" charset="0"/>
                <a:ea typeface="Georgia" pitchFamily="34" charset="-122"/>
                <a:cs typeface="Georgia" pitchFamily="34" charset="-120"/>
              </a:rPr>
              <a:t>“</a:t>
            </a:r>
            <a:endParaRPr lang="en-US" sz="4800" dirty="0"/>
          </a:p>
        </p:txBody>
      </p:sp>
      <p:sp>
        <p:nvSpPr>
          <p:cNvPr id="9" name="Text 7"/>
          <p:cNvSpPr/>
          <p:nvPr/>
        </p:nvSpPr>
        <p:spPr>
          <a:xfrm>
            <a:off x="914400" y="2286000"/>
            <a:ext cx="7498080" cy="1828800"/>
          </a:xfrm>
          <a:prstGeom prst="rect">
            <a:avLst/>
          </a:prstGeom>
          <a:noFill/>
          <a:ln/>
        </p:spPr>
        <p:txBody>
          <a:bodyPr wrap="square" rtlCol="0" anchor="ctr"/>
          <a:lstStyle/>
          <a:p>
            <a:pPr indent="0" marL="0">
              <a:buNone/>
            </a:pPr>
            <a:r>
              <a:rPr lang="en-US" sz="1800" dirty="0">
                <a:solidFill>
                  <a:srgbClr val="2B2D42"/>
                </a:solidFill>
                <a:latin typeface="Microsoft YaHei" pitchFamily="34" charset="0"/>
                <a:ea typeface="Microsoft YaHei" pitchFamily="34" charset="-122"/>
                <a:cs typeface="Microsoft YaHei" pitchFamily="34" charset="-120"/>
              </a:rPr>
              <a:t>新手觉得自己的成长，是学会更多的知识点；</a:t>
            </a:r>
            <a:endParaRPr lang="en-US" sz="1800" dirty="0"/>
          </a:p>
          <a:p>
            <a:pPr indent="0" marL="0">
              <a:buNone/>
            </a:pPr>
            <a:endParaRPr lang="en-US" sz="1800" dirty="0"/>
          </a:p>
          <a:p>
            <a:pPr indent="0" marL="0">
              <a:buNone/>
            </a:pPr>
            <a:r>
              <a:rPr lang="en-US" sz="1800" dirty="0">
                <a:solidFill>
                  <a:srgbClr val="2B2D42"/>
                </a:solidFill>
                <a:latin typeface="Microsoft YaHei" pitchFamily="34" charset="0"/>
                <a:ea typeface="Microsoft YaHei" pitchFamily="34" charset="-122"/>
                <a:cs typeface="Microsoft YaHei" pitchFamily="34" charset="-120"/>
              </a:rPr>
              <a:t>真正的成长，是从</a:t>
            </a:r>
            <a:pPr indent="0" marL="0">
              <a:buNone/>
            </a:pPr>
            <a:r>
              <a:rPr lang="en-US" sz="1800" b="1" dirty="0">
                <a:solidFill>
                  <a:srgbClr val="EF233C"/>
                </a:solidFill>
                <a:latin typeface="Microsoft YaHei" pitchFamily="34" charset="0"/>
                <a:ea typeface="Microsoft YaHei" pitchFamily="34" charset="-122"/>
                <a:cs typeface="Microsoft YaHei" pitchFamily="34" charset="-120"/>
              </a:rPr>
              <a:t>“这套方法对不对”</a:t>
            </a:r>
            <a:pPr indent="0" marL="0">
              <a:buNone/>
            </a:pPr>
            <a:r>
              <a:rPr lang="en-US" sz="1800" dirty="0">
                <a:solidFill>
                  <a:srgbClr val="2B2D42"/>
                </a:solidFill>
                <a:latin typeface="Microsoft YaHei" pitchFamily="34" charset="0"/>
                <a:ea typeface="Microsoft YaHei" pitchFamily="34" charset="-122"/>
                <a:cs typeface="Microsoft YaHei" pitchFamily="34" charset="-120"/>
              </a:rPr>
              <a:t>变成</a:t>
            </a:r>
            <a:pPr indent="0" marL="0">
              <a:buNone/>
            </a:pPr>
            <a:r>
              <a:rPr lang="en-US" sz="1800" b="1" dirty="0">
                <a:solidFill>
                  <a:srgbClr val="EF233C"/>
                </a:solidFill>
                <a:latin typeface="Microsoft YaHei" pitchFamily="34" charset="0"/>
                <a:ea typeface="Microsoft YaHei" pitchFamily="34" charset="-122"/>
                <a:cs typeface="Microsoft YaHei" pitchFamily="34" charset="-120"/>
              </a:rPr>
              <a:t>“这个人到底是谁”</a:t>
            </a:r>
            <a:pPr indent="0" marL="0">
              <a:buNone/>
            </a:pPr>
            <a:r>
              <a:rPr lang="en-US" sz="1800" dirty="0">
                <a:solidFill>
                  <a:srgbClr val="2B2D42"/>
                </a:solidFill>
                <a:latin typeface="Microsoft YaHei" pitchFamily="34" charset="0"/>
                <a:ea typeface="Microsoft YaHei" pitchFamily="34" charset="-122"/>
                <a:cs typeface="Microsoft YaHei" pitchFamily="34" charset="-120"/>
              </a:rPr>
              <a:t>——</a:t>
            </a:r>
            <a:endParaRPr lang="en-US" sz="1800" dirty="0"/>
          </a:p>
          <a:p>
            <a:pPr indent="0" marL="0">
              <a:buNone/>
            </a:pPr>
            <a:endParaRPr lang="en-US" sz="1800" dirty="0"/>
          </a:p>
          <a:p>
            <a:pPr indent="0" marL="0">
              <a:buNone/>
            </a:pPr>
            <a:r>
              <a:rPr lang="en-US" sz="1800" b="1" dirty="0">
                <a:solidFill>
                  <a:srgbClr val="2B2D42"/>
                </a:solidFill>
                <a:latin typeface="Microsoft YaHei" pitchFamily="34" charset="0"/>
                <a:ea typeface="Microsoft YaHei" pitchFamily="34" charset="-122"/>
                <a:cs typeface="Microsoft YaHei" pitchFamily="34" charset="-120"/>
              </a:rPr>
              <a:t>这道坎，很多人干了十年也没跨过去。</a:t>
            </a:r>
            <a:endParaRPr lang="en-US" sz="1800" dirty="0"/>
          </a:p>
        </p:txBody>
      </p:sp>
      <p:sp>
        <p:nvSpPr>
          <p:cNvPr id="10" name="Shape 8"/>
          <p:cNvSpPr/>
          <p:nvPr/>
        </p:nvSpPr>
        <p:spPr>
          <a:xfrm>
            <a:off x="4160520" y="4297680"/>
            <a:ext cx="457200" cy="457200"/>
          </a:xfrm>
          <a:prstGeom prst="ellipse">
            <a:avLst/>
          </a:prstGeom>
          <a:solidFill>
            <a:srgbClr val="EF233C"/>
          </a:solidFill>
          <a:ln/>
        </p:spPr>
      </p:sp>
      <p:sp>
        <p:nvSpPr>
          <p:cNvPr id="11" name="Text 9"/>
          <p:cNvSpPr/>
          <p:nvPr/>
        </p:nvSpPr>
        <p:spPr>
          <a:xfrm>
            <a:off x="4160520" y="4297680"/>
            <a:ext cx="457200" cy="457200"/>
          </a:xfrm>
          <a:prstGeom prst="rect">
            <a:avLst/>
          </a:prstGeom>
          <a:noFill/>
          <a:ln/>
        </p:spPr>
        <p:txBody>
          <a:bodyPr wrap="square"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8321040" y="4663440"/>
            <a:ext cx="365760" cy="365760"/>
          </a:xfrm>
          <a:prstGeom prst="ellipse">
            <a:avLst/>
          </a:prstGeom>
          <a:solidFill>
            <a:srgbClr val="EF233C"/>
          </a:solidFill>
          <a:ln/>
        </p:spPr>
      </p:sp>
      <p:sp>
        <p:nvSpPr>
          <p:cNvPr id="13" name="Text 11"/>
          <p:cNvSpPr/>
          <p:nvPr/>
        </p:nvSpPr>
        <p:spPr>
          <a:xfrm>
            <a:off x="832104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69</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457200" y="274320"/>
            <a:ext cx="1463040" cy="365760"/>
          </a:xfrm>
          <a:prstGeom prst="roundRect">
            <a:avLst>
              <a:gd name="adj" fmla="val 12500"/>
            </a:avLst>
          </a:prstGeom>
          <a:solidFill>
            <a:srgbClr val="EF233C"/>
          </a:solidFill>
          <a:ln/>
        </p:spPr>
      </p:sp>
      <p:sp>
        <p:nvSpPr>
          <p:cNvPr id="3" name="Text 1"/>
          <p:cNvSpPr/>
          <p:nvPr/>
        </p:nvSpPr>
        <p:spPr>
          <a:xfrm>
            <a:off x="457200" y="274320"/>
            <a:ext cx="146304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Chapter 15</a:t>
            </a:r>
            <a:endParaRPr lang="en-US" sz="1400" dirty="0"/>
          </a:p>
        </p:txBody>
      </p:sp>
      <p:sp>
        <p:nvSpPr>
          <p:cNvPr id="4" name="Text 2"/>
          <p:cNvSpPr/>
          <p:nvPr/>
        </p:nvSpPr>
        <p:spPr>
          <a:xfrm>
            <a:off x="457200" y="777240"/>
            <a:ext cx="8229600" cy="640080"/>
          </a:xfrm>
          <a:prstGeom prst="rect">
            <a:avLst/>
          </a:prstGeom>
          <a:noFill/>
          <a:ln/>
        </p:spPr>
        <p:txBody>
          <a:bodyPr wrap="square" rtlCol="0" anchor="ctr"/>
          <a:lstStyle/>
          <a:p>
            <a:pPr indent="0" marL="0">
              <a:buNone/>
            </a:pPr>
            <a:r>
              <a:rPr lang="en-US" sz="3600" b="1" dirty="0">
                <a:solidFill>
                  <a:srgbClr val="2B2D42"/>
                </a:solidFill>
                <a:latin typeface="Microsoft YaHei" pitchFamily="34" charset="0"/>
                <a:ea typeface="Microsoft YaHei" pitchFamily="34" charset="-122"/>
                <a:cs typeface="Microsoft YaHei" pitchFamily="34" charset="-120"/>
              </a:rPr>
              <a:t>新手的成长曲线</a:t>
            </a:r>
            <a:endParaRPr lang="en-US" sz="3600" dirty="0"/>
          </a:p>
        </p:txBody>
      </p:sp>
      <p:sp>
        <p:nvSpPr>
          <p:cNvPr id="5" name="Text 3"/>
          <p:cNvSpPr/>
          <p:nvPr/>
        </p:nvSpPr>
        <p:spPr>
          <a:xfrm>
            <a:off x="457200" y="1554480"/>
            <a:ext cx="1828800" cy="365760"/>
          </a:xfrm>
          <a:prstGeom prst="rect">
            <a:avLst/>
          </a:prstGeom>
          <a:noFill/>
          <a:ln/>
        </p:spPr>
        <p:txBody>
          <a:bodyPr wrap="square" rtlCol="0" anchor="ctr"/>
          <a:lstStyle/>
          <a:p>
            <a:pPr indent="0" marL="0">
              <a:buNone/>
            </a:pPr>
            <a:r>
              <a:rPr lang="en-US" sz="1400" b="1" dirty="0">
                <a:solidFill>
                  <a:srgbClr val="EF233C"/>
                </a:solidFill>
                <a:latin typeface="Microsoft YaHei" pitchFamily="34" charset="0"/>
                <a:ea typeface="Microsoft YaHei" pitchFamily="34" charset="-122"/>
                <a:cs typeface="Microsoft YaHei" pitchFamily="34" charset="-120"/>
              </a:rPr>
              <a:t>起步阶段</a:t>
            </a:r>
            <a:endParaRPr lang="en-US" sz="1400" dirty="0"/>
          </a:p>
        </p:txBody>
      </p:sp>
      <p:sp>
        <p:nvSpPr>
          <p:cNvPr id="6" name="Shape 4"/>
          <p:cNvSpPr/>
          <p:nvPr/>
        </p:nvSpPr>
        <p:spPr>
          <a:xfrm>
            <a:off x="457200" y="1920240"/>
            <a:ext cx="8229600" cy="914400"/>
          </a:xfrm>
          <a:prstGeom prst="rect">
            <a:avLst/>
          </a:prstGeom>
          <a:solidFill>
            <a:srgbClr val="EDF2F4"/>
          </a:solidFill>
          <a:ln/>
        </p:spPr>
      </p:sp>
      <p:sp>
        <p:nvSpPr>
          <p:cNvPr id="7" name="Shape 5"/>
          <p:cNvSpPr/>
          <p:nvPr/>
        </p:nvSpPr>
        <p:spPr>
          <a:xfrm>
            <a:off x="640080" y="2148840"/>
            <a:ext cx="137160" cy="137160"/>
          </a:xfrm>
          <a:prstGeom prst="ellipse">
            <a:avLst/>
          </a:prstGeom>
          <a:solidFill>
            <a:srgbClr val="EF233C"/>
          </a:solidFill>
          <a:ln/>
        </p:spPr>
      </p:sp>
      <p:sp>
        <p:nvSpPr>
          <p:cNvPr id="8" name="Text 6"/>
          <p:cNvSpPr/>
          <p:nvPr/>
        </p:nvSpPr>
        <p:spPr>
          <a:xfrm>
            <a:off x="868680" y="2011680"/>
            <a:ext cx="2377440" cy="64008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多记住几个专业的就业方向</a:t>
            </a:r>
            <a:endParaRPr lang="en-US" sz="1400" dirty="0"/>
          </a:p>
        </p:txBody>
      </p:sp>
      <p:sp>
        <p:nvSpPr>
          <p:cNvPr id="9" name="Shape 7"/>
          <p:cNvSpPr/>
          <p:nvPr/>
        </p:nvSpPr>
        <p:spPr>
          <a:xfrm>
            <a:off x="3383280" y="2148840"/>
            <a:ext cx="137160" cy="137160"/>
          </a:xfrm>
          <a:prstGeom prst="ellipse">
            <a:avLst/>
          </a:prstGeom>
          <a:solidFill>
            <a:srgbClr val="EF233C"/>
          </a:solidFill>
          <a:ln/>
        </p:spPr>
      </p:sp>
      <p:sp>
        <p:nvSpPr>
          <p:cNvPr id="10" name="Text 8"/>
          <p:cNvSpPr/>
          <p:nvPr/>
        </p:nvSpPr>
        <p:spPr>
          <a:xfrm>
            <a:off x="3611880" y="2011680"/>
            <a:ext cx="2377440" cy="64008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多背几条招生政策</a:t>
            </a:r>
            <a:endParaRPr lang="en-US" sz="1400" dirty="0"/>
          </a:p>
        </p:txBody>
      </p:sp>
      <p:sp>
        <p:nvSpPr>
          <p:cNvPr id="11" name="Shape 9"/>
          <p:cNvSpPr/>
          <p:nvPr/>
        </p:nvSpPr>
        <p:spPr>
          <a:xfrm>
            <a:off x="6126480" y="2148840"/>
            <a:ext cx="137160" cy="137160"/>
          </a:xfrm>
          <a:prstGeom prst="ellipse">
            <a:avLst/>
          </a:prstGeom>
          <a:solidFill>
            <a:srgbClr val="EF233C"/>
          </a:solidFill>
          <a:ln/>
        </p:spPr>
      </p:sp>
      <p:sp>
        <p:nvSpPr>
          <p:cNvPr id="12" name="Text 10"/>
          <p:cNvSpPr/>
          <p:nvPr/>
        </p:nvSpPr>
        <p:spPr>
          <a:xfrm>
            <a:off x="6355080" y="2011680"/>
            <a:ext cx="2377440" cy="640080"/>
          </a:xfrm>
          <a:prstGeom prst="rect">
            <a:avLst/>
          </a:prstGeom>
          <a:noFill/>
          <a:ln/>
        </p:spPr>
        <p:txBody>
          <a:bodyPr wrap="square" rtlCol="0" anchor="ctr"/>
          <a:lstStyle/>
          <a:p>
            <a:pPr indent="0" marL="0">
              <a:buNone/>
            </a:pPr>
            <a:r>
              <a:rPr lang="en-US" sz="1400" dirty="0">
                <a:solidFill>
                  <a:srgbClr val="8D99AE"/>
                </a:solidFill>
                <a:latin typeface="Microsoft YaHei" pitchFamily="34" charset="0"/>
                <a:ea typeface="Microsoft YaHei" pitchFamily="34" charset="-122"/>
                <a:cs typeface="Microsoft YaHei" pitchFamily="34" charset="-120"/>
              </a:rPr>
              <a:t>多攒几套院校数据</a:t>
            </a:r>
            <a:endParaRPr lang="en-US" sz="1400" dirty="0"/>
          </a:p>
        </p:txBody>
      </p:sp>
      <p:sp>
        <p:nvSpPr>
          <p:cNvPr id="13" name="Text 11"/>
          <p:cNvSpPr/>
          <p:nvPr/>
        </p:nvSpPr>
        <p:spPr>
          <a:xfrm>
            <a:off x="457200" y="2971800"/>
            <a:ext cx="914400" cy="365760"/>
          </a:xfrm>
          <a:prstGeom prst="rect">
            <a:avLst/>
          </a:prstGeom>
          <a:noFill/>
          <a:ln/>
        </p:spPr>
        <p:txBody>
          <a:bodyPr wrap="square" rtlCol="0" anchor="ctr"/>
          <a:lstStyle/>
          <a:p>
            <a:pPr indent="0" marL="0">
              <a:buNone/>
            </a:pPr>
            <a:r>
              <a:rPr lang="en-US" sz="1400" b="1" dirty="0">
                <a:solidFill>
                  <a:srgbClr val="EF233C"/>
                </a:solidFill>
                <a:latin typeface="Microsoft YaHei" pitchFamily="34" charset="0"/>
                <a:ea typeface="Microsoft YaHei" pitchFamily="34" charset="-122"/>
                <a:cs typeface="Microsoft YaHei" pitchFamily="34" charset="-120"/>
              </a:rPr>
              <a:t>问题</a:t>
            </a:r>
            <a:endParaRPr lang="en-US" sz="1400" dirty="0"/>
          </a:p>
        </p:txBody>
      </p:sp>
      <p:sp>
        <p:nvSpPr>
          <p:cNvPr id="14" name="Shape 12"/>
          <p:cNvSpPr/>
          <p:nvPr/>
        </p:nvSpPr>
        <p:spPr>
          <a:xfrm>
            <a:off x="457200" y="3291840"/>
            <a:ext cx="8229600" cy="548640"/>
          </a:xfrm>
          <a:prstGeom prst="rect">
            <a:avLst/>
          </a:prstGeom>
          <a:solidFill>
            <a:srgbClr val="EDF2F4"/>
          </a:solidFill>
          <a:ln/>
        </p:spPr>
      </p:sp>
      <p:sp>
        <p:nvSpPr>
          <p:cNvPr id="15" name="Shape 13"/>
          <p:cNvSpPr/>
          <p:nvPr/>
        </p:nvSpPr>
        <p:spPr>
          <a:xfrm>
            <a:off x="457200" y="3291840"/>
            <a:ext cx="73152" cy="548640"/>
          </a:xfrm>
          <a:prstGeom prst="rect">
            <a:avLst/>
          </a:prstGeom>
          <a:solidFill>
            <a:srgbClr val="EF233C"/>
          </a:solidFill>
          <a:ln/>
        </p:spPr>
      </p:sp>
      <p:sp>
        <p:nvSpPr>
          <p:cNvPr id="16" name="Text 14"/>
          <p:cNvSpPr/>
          <p:nvPr/>
        </p:nvSpPr>
        <p:spPr>
          <a:xfrm>
            <a:off x="685800" y="3291840"/>
            <a:ext cx="7772400" cy="548640"/>
          </a:xfrm>
          <a:prstGeom prst="rect">
            <a:avLst/>
          </a:prstGeom>
          <a:noFill/>
          <a:ln/>
        </p:spPr>
        <p:txBody>
          <a:bodyPr wrap="square" rtlCol="0" anchor="ctr"/>
          <a:lstStyle/>
          <a:p>
            <a:pPr indent="0" marL="0">
              <a:buNone/>
            </a:pPr>
            <a:r>
              <a:rPr lang="en-US" sz="1600" dirty="0">
                <a:solidFill>
                  <a:srgbClr val="8D99AE"/>
                </a:solidFill>
                <a:latin typeface="Microsoft YaHei" pitchFamily="34" charset="0"/>
                <a:ea typeface="Microsoft YaHei" pitchFamily="34" charset="-122"/>
                <a:cs typeface="Microsoft YaHei" pitchFamily="34" charset="-120"/>
              </a:rPr>
              <a:t>知识点记得再多，遇到具体的人，依然会判断失误</a:t>
            </a:r>
            <a:endParaRPr lang="en-US" sz="1600" dirty="0"/>
          </a:p>
        </p:txBody>
      </p:sp>
      <p:sp>
        <p:nvSpPr>
          <p:cNvPr id="17" name="Text 15"/>
          <p:cNvSpPr/>
          <p:nvPr/>
        </p:nvSpPr>
        <p:spPr>
          <a:xfrm>
            <a:off x="457200" y="3977640"/>
            <a:ext cx="1828800" cy="365760"/>
          </a:xfrm>
          <a:prstGeom prst="rect">
            <a:avLst/>
          </a:prstGeom>
          <a:noFill/>
          <a:ln/>
        </p:spPr>
        <p:txBody>
          <a:bodyPr wrap="square" rtlCol="0" anchor="ctr"/>
          <a:lstStyle/>
          <a:p>
            <a:pPr indent="0" marL="0">
              <a:buNone/>
            </a:pPr>
            <a:r>
              <a:rPr lang="en-US" sz="1400" b="1" dirty="0">
                <a:solidFill>
                  <a:srgbClr val="2B2D42"/>
                </a:solidFill>
                <a:latin typeface="Microsoft YaHei" pitchFamily="34" charset="0"/>
                <a:ea typeface="Microsoft YaHei" pitchFamily="34" charset="-122"/>
                <a:cs typeface="Microsoft YaHei" pitchFamily="34" charset="-120"/>
              </a:rPr>
              <a:t>跨过那道坎</a:t>
            </a:r>
            <a:endParaRPr lang="en-US" sz="1400" dirty="0"/>
          </a:p>
        </p:txBody>
      </p:sp>
      <p:sp>
        <p:nvSpPr>
          <p:cNvPr id="18" name="Shape 16"/>
          <p:cNvSpPr/>
          <p:nvPr/>
        </p:nvSpPr>
        <p:spPr>
          <a:xfrm>
            <a:off x="457200" y="4297680"/>
            <a:ext cx="8229600" cy="731520"/>
          </a:xfrm>
          <a:prstGeom prst="rect">
            <a:avLst/>
          </a:prstGeom>
          <a:solidFill>
            <a:srgbClr val="2B2D42"/>
          </a:solidFill>
          <a:ln/>
        </p:spPr>
      </p:sp>
      <p:sp>
        <p:nvSpPr>
          <p:cNvPr id="19" name="Text 17"/>
          <p:cNvSpPr/>
          <p:nvPr/>
        </p:nvSpPr>
        <p:spPr>
          <a:xfrm>
            <a:off x="640080" y="4297680"/>
            <a:ext cx="7863840" cy="73152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真正让自己"跨过一道坎"的时刻，不在于记住了多少新数据，而是意识到同样的一份专业介绍、同样的一套冲稳保规则，套在不同的人身上，正确答案是完全不一样的</a:t>
            </a:r>
            <a:endParaRPr lang="en-US" sz="1400" dirty="0"/>
          </a:p>
        </p:txBody>
      </p:sp>
      <p:sp>
        <p:nvSpPr>
          <p:cNvPr id="20" name="Shape 18"/>
          <p:cNvSpPr/>
          <p:nvPr/>
        </p:nvSpPr>
        <p:spPr>
          <a:xfrm>
            <a:off x="8321040" y="4663440"/>
            <a:ext cx="365760" cy="365760"/>
          </a:xfrm>
          <a:prstGeom prst="ellipse">
            <a:avLst/>
          </a:prstGeom>
          <a:solidFill>
            <a:srgbClr val="EF233C"/>
          </a:solidFill>
          <a:ln/>
        </p:spPr>
      </p:sp>
      <p:sp>
        <p:nvSpPr>
          <p:cNvPr id="21" name="Text 19"/>
          <p:cNvSpPr/>
          <p:nvPr/>
        </p:nvSpPr>
        <p:spPr>
          <a:xfrm>
            <a:off x="832104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70</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3600" b="1" dirty="0">
                <a:solidFill>
                  <a:srgbClr val="2B2D42"/>
                </a:solidFill>
                <a:latin typeface="Microsoft YaHei" pitchFamily="34" charset="0"/>
                <a:ea typeface="Microsoft YaHei" pitchFamily="34" charset="-122"/>
                <a:cs typeface="Microsoft YaHei" pitchFamily="34" charset="-120"/>
              </a:rPr>
              <a:t>老手和新手的差别</a:t>
            </a:r>
            <a:endParaRPr lang="en-US" sz="3600" dirty="0"/>
          </a:p>
        </p:txBody>
      </p:sp>
      <p:sp>
        <p:nvSpPr>
          <p:cNvPr id="3" name="Shape 1"/>
          <p:cNvSpPr/>
          <p:nvPr/>
        </p:nvSpPr>
        <p:spPr>
          <a:xfrm>
            <a:off x="457200" y="1097280"/>
            <a:ext cx="3931920" cy="2011680"/>
          </a:xfrm>
          <a:prstGeom prst="rect">
            <a:avLst/>
          </a:prstGeom>
          <a:solidFill>
            <a:srgbClr val="2B2D42"/>
          </a:solidFill>
          <a:ln/>
        </p:spPr>
      </p:sp>
      <p:sp>
        <p:nvSpPr>
          <p:cNvPr id="4" name="Text 2"/>
          <p:cNvSpPr/>
          <p:nvPr/>
        </p:nvSpPr>
        <p:spPr>
          <a:xfrm>
            <a:off x="457200" y="1188720"/>
            <a:ext cx="3931920" cy="457200"/>
          </a:xfrm>
          <a:prstGeom prst="rect">
            <a:avLst/>
          </a:prstGeom>
          <a:noFill/>
          <a:ln/>
        </p:spPr>
        <p:txBody>
          <a:bodyPr wrap="square" rtlCol="0" anchor="ctr"/>
          <a:lstStyle/>
          <a:p>
            <a:pPr algn="ctr" indent="0" marL="0">
              <a:buNone/>
            </a:pPr>
            <a:r>
              <a:rPr lang="en-US" sz="2200" b="1" dirty="0">
                <a:solidFill>
                  <a:srgbClr val="FFFFFF"/>
                </a:solidFill>
                <a:latin typeface="Microsoft YaHei" pitchFamily="34" charset="0"/>
                <a:ea typeface="Microsoft YaHei" pitchFamily="34" charset="-122"/>
                <a:cs typeface="Microsoft YaHei" pitchFamily="34" charset="-120"/>
              </a:rPr>
              <a:t>老手</a:t>
            </a:r>
            <a:endParaRPr lang="en-US" sz="2200" dirty="0"/>
          </a:p>
        </p:txBody>
      </p:sp>
      <p:sp>
        <p:nvSpPr>
          <p:cNvPr id="5" name="Text 3"/>
          <p:cNvSpPr/>
          <p:nvPr/>
        </p:nvSpPr>
        <p:spPr>
          <a:xfrm>
            <a:off x="640080" y="1691640"/>
            <a:ext cx="3566160" cy="1280160"/>
          </a:xfrm>
          <a:prstGeom prst="rect">
            <a:avLst/>
          </a:prstGeom>
          <a:noFill/>
          <a:ln/>
        </p:spPr>
        <p:txBody>
          <a:bodyPr wrap="square" rtlCol="0" anchor="t"/>
          <a:lstStyle/>
          <a:p>
            <a:pPr algn="l" indent="0" marL="0">
              <a:buNone/>
            </a:pPr>
            <a:r>
              <a:rPr lang="en-US" sz="1500" dirty="0">
                <a:solidFill>
                  <a:srgbClr val="FFFFFF"/>
                </a:solidFill>
                <a:latin typeface="Microsoft YaHei" pitchFamily="34" charset="0"/>
                <a:ea typeface="Microsoft YaHei" pitchFamily="34" charset="-122"/>
                <a:cs typeface="Microsoft YaHei" pitchFamily="34" charset="-120"/>
              </a:rPr>
              <a:t>面对一个具体的人的时候，能不能放下已经很熟练的那套标准判断路径，重新老老实实地问一遍那些最基础的问题</a:t>
            </a:r>
            <a:endParaRPr lang="en-US" sz="1500" dirty="0"/>
          </a:p>
        </p:txBody>
      </p:sp>
      <p:sp>
        <p:nvSpPr>
          <p:cNvPr id="6" name="Shape 4"/>
          <p:cNvSpPr/>
          <p:nvPr/>
        </p:nvSpPr>
        <p:spPr>
          <a:xfrm>
            <a:off x="4754880" y="1097280"/>
            <a:ext cx="3931920" cy="2011680"/>
          </a:xfrm>
          <a:prstGeom prst="rect">
            <a:avLst/>
          </a:prstGeom>
          <a:solidFill>
            <a:srgbClr val="EDF2F4"/>
          </a:solidFill>
          <a:ln/>
        </p:spPr>
      </p:sp>
      <p:sp>
        <p:nvSpPr>
          <p:cNvPr id="7" name="Text 5"/>
          <p:cNvSpPr/>
          <p:nvPr/>
        </p:nvSpPr>
        <p:spPr>
          <a:xfrm>
            <a:off x="4754880" y="1188720"/>
            <a:ext cx="3931920" cy="457200"/>
          </a:xfrm>
          <a:prstGeom prst="rect">
            <a:avLst/>
          </a:prstGeom>
          <a:noFill/>
          <a:ln/>
        </p:spPr>
        <p:txBody>
          <a:bodyPr wrap="square" rtlCol="0" anchor="ctr"/>
          <a:lstStyle/>
          <a:p>
            <a:pPr algn="ctr" indent="0" marL="0">
              <a:buNone/>
            </a:pPr>
            <a:r>
              <a:rPr lang="en-US" sz="2200" b="1" dirty="0">
                <a:solidFill>
                  <a:srgbClr val="2B2D42"/>
                </a:solidFill>
                <a:latin typeface="Microsoft YaHei" pitchFamily="34" charset="0"/>
                <a:ea typeface="Microsoft YaHei" pitchFamily="34" charset="-122"/>
                <a:cs typeface="Microsoft YaHei" pitchFamily="34" charset="-120"/>
              </a:rPr>
              <a:t>新手</a:t>
            </a:r>
            <a:endParaRPr lang="en-US" sz="2200" dirty="0"/>
          </a:p>
        </p:txBody>
      </p:sp>
      <p:sp>
        <p:nvSpPr>
          <p:cNvPr id="8" name="Text 6"/>
          <p:cNvSpPr/>
          <p:nvPr/>
        </p:nvSpPr>
        <p:spPr>
          <a:xfrm>
            <a:off x="4937760" y="1691640"/>
            <a:ext cx="3566160" cy="1280160"/>
          </a:xfrm>
          <a:prstGeom prst="rect">
            <a:avLst/>
          </a:prstGeom>
          <a:noFill/>
          <a:ln/>
        </p:spPr>
        <p:txBody>
          <a:bodyPr wrap="square" rtlCol="0" anchor="t"/>
          <a:lstStyle/>
          <a:p>
            <a:pPr algn="l" indent="0" marL="0">
              <a:buNone/>
            </a:pPr>
            <a:r>
              <a:rPr lang="en-US" sz="1500" dirty="0">
                <a:solidFill>
                  <a:srgbClr val="8D99AE"/>
                </a:solidFill>
                <a:latin typeface="Microsoft YaHei" pitchFamily="34" charset="0"/>
                <a:ea typeface="Microsoft YaHei" pitchFamily="34" charset="-122"/>
                <a:cs typeface="Microsoft YaHei" pitchFamily="34" charset="-120"/>
              </a:rPr>
              <a:t>倾向于用一套标准流程、标准话术去处理所有客户</a:t>
            </a:r>
            <a:endParaRPr lang="en-US" sz="1500" dirty="0"/>
          </a:p>
        </p:txBody>
      </p:sp>
      <p:sp>
        <p:nvSpPr>
          <p:cNvPr id="9" name="Shape 7"/>
          <p:cNvSpPr/>
          <p:nvPr/>
        </p:nvSpPr>
        <p:spPr>
          <a:xfrm>
            <a:off x="457200" y="3291840"/>
            <a:ext cx="8229600" cy="1371600"/>
          </a:xfrm>
          <a:prstGeom prst="rect">
            <a:avLst/>
          </a:prstGeom>
          <a:solidFill>
            <a:srgbClr val="EF233C"/>
          </a:solidFill>
          <a:ln/>
        </p:spPr>
      </p:sp>
      <p:sp>
        <p:nvSpPr>
          <p:cNvPr id="10" name="Text 8"/>
          <p:cNvSpPr/>
          <p:nvPr/>
        </p:nvSpPr>
        <p:spPr>
          <a:xfrm>
            <a:off x="640080" y="3383280"/>
            <a:ext cx="7863840" cy="32004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陷阱</a:t>
            </a:r>
            <a:endParaRPr lang="en-US" sz="1400" dirty="0"/>
          </a:p>
        </p:txBody>
      </p:sp>
      <p:sp>
        <p:nvSpPr>
          <p:cNvPr id="11" name="Text 9"/>
          <p:cNvSpPr/>
          <p:nvPr/>
        </p:nvSpPr>
        <p:spPr>
          <a:xfrm>
            <a:off x="640080" y="3749040"/>
            <a:ext cx="7863840" cy="82296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一个人越熟练，越容易依赖已经验证过很多次的经验模板，越难有耐心重新从零开始了解一个新的具体的人</a:t>
            </a:r>
            <a:endParaRPr lang="en-US" sz="1800" dirty="0"/>
          </a:p>
        </p:txBody>
      </p:sp>
      <p:sp>
        <p:nvSpPr>
          <p:cNvPr id="12" name="Shape 10"/>
          <p:cNvSpPr/>
          <p:nvPr/>
        </p:nvSpPr>
        <p:spPr>
          <a:xfrm>
            <a:off x="8229600" y="4663440"/>
            <a:ext cx="411480" cy="411480"/>
          </a:xfrm>
          <a:prstGeom prst="ellipse">
            <a:avLst/>
          </a:prstGeom>
          <a:solidFill>
            <a:srgbClr val="2B2D42"/>
          </a:solidFill>
          <a:ln/>
        </p:spPr>
      </p:sp>
      <p:sp>
        <p:nvSpPr>
          <p:cNvPr id="13" name="Text 11"/>
          <p:cNvSpPr/>
          <p:nvPr/>
        </p:nvSpPr>
        <p:spPr>
          <a:xfrm>
            <a:off x="8229600" y="4663440"/>
            <a:ext cx="411480" cy="4114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71</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判断自己有没有跨过那道坎</a:t>
            </a:r>
            <a:endParaRPr lang="en-US" sz="3200" dirty="0"/>
          </a:p>
        </p:txBody>
      </p:sp>
      <p:sp>
        <p:nvSpPr>
          <p:cNvPr id="3" name="Text 1"/>
          <p:cNvSpPr/>
          <p:nvPr/>
        </p:nvSpPr>
        <p:spPr>
          <a:xfrm>
            <a:off x="457200" y="1005840"/>
            <a:ext cx="8229600" cy="365760"/>
          </a:xfrm>
          <a:prstGeom prst="rect">
            <a:avLst/>
          </a:prstGeom>
          <a:noFill/>
          <a:ln/>
        </p:spPr>
        <p:txBody>
          <a:bodyPr wrap="square" rtlCol="0" anchor="ctr"/>
          <a:lstStyle/>
          <a:p>
            <a:pPr indent="0" marL="0">
              <a:buNone/>
            </a:pPr>
            <a:r>
              <a:rPr lang="en-US" sz="1600" b="1" dirty="0">
                <a:solidFill>
                  <a:srgbClr val="EF233C"/>
                </a:solidFill>
                <a:latin typeface="Microsoft YaHei" pitchFamily="34" charset="0"/>
                <a:ea typeface="Microsoft YaHei" pitchFamily="34" charset="-122"/>
                <a:cs typeface="Microsoft YaHei" pitchFamily="34" charset="-120"/>
              </a:rPr>
              <a:t>自检信号</a:t>
            </a:r>
            <a:endParaRPr lang="en-US" sz="1600" dirty="0"/>
          </a:p>
        </p:txBody>
      </p:sp>
      <p:sp>
        <p:nvSpPr>
          <p:cNvPr id="4" name="Shape 2"/>
          <p:cNvSpPr/>
          <p:nvPr/>
        </p:nvSpPr>
        <p:spPr>
          <a:xfrm>
            <a:off x="457200" y="1371600"/>
            <a:ext cx="8229600" cy="640080"/>
          </a:xfrm>
          <a:prstGeom prst="rect">
            <a:avLst/>
          </a:prstGeom>
          <a:solidFill>
            <a:srgbClr val="EDF2F4"/>
          </a:solidFill>
          <a:ln/>
        </p:spPr>
      </p:sp>
      <p:sp>
        <p:nvSpPr>
          <p:cNvPr id="5" name="Text 3"/>
          <p:cNvSpPr/>
          <p:nvPr/>
        </p:nvSpPr>
        <p:spPr>
          <a:xfrm>
            <a:off x="640080" y="1371600"/>
            <a:ext cx="7863840" cy="640080"/>
          </a:xfrm>
          <a:prstGeom prst="rect">
            <a:avLst/>
          </a:prstGeom>
          <a:noFill/>
          <a:ln/>
        </p:spPr>
        <p:txBody>
          <a:bodyPr wrap="square" rtlCol="0" anchor="ctr"/>
          <a:lstStyle/>
          <a:p>
            <a:pPr algn="ctr" indent="0" marL="0">
              <a:buNone/>
            </a:pPr>
            <a:r>
              <a:rPr lang="en-US" sz="1600" dirty="0">
                <a:solidFill>
                  <a:srgbClr val="2B2D42"/>
                </a:solidFill>
                <a:latin typeface="Microsoft YaHei" pitchFamily="34" charset="0"/>
                <a:ea typeface="Microsoft YaHei" pitchFamily="34" charset="-122"/>
                <a:cs typeface="Microsoft YaHei" pitchFamily="34" charset="-120"/>
              </a:rPr>
              <a:t>遇到一个跟自己以前处理过的案例表面上很相似的新客户</a:t>
            </a:r>
            <a:endParaRPr lang="en-US" sz="1600" dirty="0"/>
          </a:p>
        </p:txBody>
      </p:sp>
      <p:sp>
        <p:nvSpPr>
          <p:cNvPr id="6" name="Text 4"/>
          <p:cNvSpPr/>
          <p:nvPr/>
        </p:nvSpPr>
        <p:spPr>
          <a:xfrm>
            <a:off x="457200" y="2148840"/>
            <a:ext cx="8229600" cy="365760"/>
          </a:xfrm>
          <a:prstGeom prst="rect">
            <a:avLst/>
          </a:prstGeom>
          <a:noFill/>
          <a:ln/>
        </p:spPr>
        <p:txBody>
          <a:bodyPr wrap="square" rtlCol="0" anchor="ctr"/>
          <a:lstStyle/>
          <a:p>
            <a:pPr indent="0" marL="0">
              <a:buNone/>
            </a:pPr>
            <a:r>
              <a:rPr lang="en-US" sz="1500" dirty="0">
                <a:solidFill>
                  <a:srgbClr val="8D99AE"/>
                </a:solidFill>
                <a:latin typeface="Microsoft YaHei" pitchFamily="34" charset="0"/>
                <a:ea typeface="Microsoft YaHei" pitchFamily="34" charset="-122"/>
                <a:cs typeface="Microsoft YaHei" pitchFamily="34" charset="-120"/>
              </a:rPr>
              <a:t>内心第一反应是：</a:t>
            </a:r>
            <a:endParaRPr lang="en-US" sz="1500" dirty="0"/>
          </a:p>
        </p:txBody>
      </p:sp>
      <p:sp>
        <p:nvSpPr>
          <p:cNvPr id="7" name="Shape 5"/>
          <p:cNvSpPr/>
          <p:nvPr/>
        </p:nvSpPr>
        <p:spPr>
          <a:xfrm>
            <a:off x="457200" y="2514600"/>
            <a:ext cx="3931920" cy="731520"/>
          </a:xfrm>
          <a:prstGeom prst="rect">
            <a:avLst/>
          </a:prstGeom>
          <a:solidFill>
            <a:srgbClr val="8D99AE"/>
          </a:solidFill>
          <a:ln/>
        </p:spPr>
      </p:sp>
      <p:sp>
        <p:nvSpPr>
          <p:cNvPr id="8" name="Text 6"/>
          <p:cNvSpPr/>
          <p:nvPr/>
        </p:nvSpPr>
        <p:spPr>
          <a:xfrm>
            <a:off x="457200" y="2514600"/>
            <a:ext cx="3931920" cy="731520"/>
          </a:xfrm>
          <a:prstGeom prst="rect">
            <a:avLst/>
          </a:prstGeom>
          <a:noFill/>
          <a:ln/>
        </p:spPr>
        <p:txBody>
          <a:bodyPr wrap="square" rtlCol="0" anchor="ctr"/>
          <a:lstStyle/>
          <a:p>
            <a:pPr algn="ctr" indent="0" marL="0">
              <a:buNone/>
            </a:pPr>
            <a:r>
              <a:rPr lang="en-US" sz="1400" dirty="0">
                <a:solidFill>
                  <a:srgbClr val="FFFFFF"/>
                </a:solidFill>
                <a:latin typeface="Microsoft YaHei" pitchFamily="34" charset="0"/>
                <a:ea typeface="Microsoft YaHei" pitchFamily="34" charset="-122"/>
                <a:cs typeface="Microsoft YaHei" pitchFamily="34" charset="-120"/>
              </a:rPr>
              <a:t>"这种情况我熟，套路差不多"</a:t>
            </a:r>
            <a:endParaRPr lang="en-US" sz="1400" dirty="0"/>
          </a:p>
        </p:txBody>
      </p:sp>
      <p:sp>
        <p:nvSpPr>
          <p:cNvPr id="9" name="Shape 7"/>
          <p:cNvSpPr/>
          <p:nvPr/>
        </p:nvSpPr>
        <p:spPr>
          <a:xfrm>
            <a:off x="4754880" y="2514600"/>
            <a:ext cx="3931920" cy="731520"/>
          </a:xfrm>
          <a:prstGeom prst="rect">
            <a:avLst/>
          </a:prstGeom>
          <a:solidFill>
            <a:srgbClr val="2B2D42"/>
          </a:solidFill>
          <a:ln/>
        </p:spPr>
      </p:sp>
      <p:sp>
        <p:nvSpPr>
          <p:cNvPr id="10" name="Text 8"/>
          <p:cNvSpPr/>
          <p:nvPr/>
        </p:nvSpPr>
        <p:spPr>
          <a:xfrm>
            <a:off x="4754880" y="2514600"/>
            <a:ext cx="3931920" cy="731520"/>
          </a:xfrm>
          <a:prstGeom prst="rect">
            <a:avLst/>
          </a:prstGeom>
          <a:noFill/>
          <a:ln/>
        </p:spPr>
        <p:txBody>
          <a:bodyPr wrap="square" rtlCol="0" anchor="ctr"/>
          <a:lstStyle/>
          <a:p>
            <a:pPr algn="ctr" indent="0" marL="0">
              <a:buNone/>
            </a:pPr>
            <a:r>
              <a:rPr lang="en-US" sz="1400" dirty="0">
                <a:solidFill>
                  <a:srgbClr val="FFFFFF"/>
                </a:solidFill>
                <a:latin typeface="Microsoft YaHei" pitchFamily="34" charset="0"/>
                <a:ea typeface="Microsoft YaHei" pitchFamily="34" charset="-122"/>
                <a:cs typeface="Microsoft YaHei" pitchFamily="34" charset="-120"/>
              </a:rPr>
              <a:t>"这个人具体是什么样的，我还得重新了解一遍"</a:t>
            </a:r>
            <a:endParaRPr lang="en-US" sz="1400" dirty="0"/>
          </a:p>
        </p:txBody>
      </p:sp>
      <p:sp>
        <p:nvSpPr>
          <p:cNvPr id="11" name="Shape 9"/>
          <p:cNvSpPr/>
          <p:nvPr/>
        </p:nvSpPr>
        <p:spPr>
          <a:xfrm>
            <a:off x="457200" y="3383280"/>
            <a:ext cx="8229600" cy="1097280"/>
          </a:xfrm>
          <a:prstGeom prst="rect">
            <a:avLst/>
          </a:prstGeom>
          <a:solidFill>
            <a:srgbClr val="EF233C"/>
          </a:solidFill>
          <a:ln/>
        </p:spPr>
      </p:sp>
      <p:sp>
        <p:nvSpPr>
          <p:cNvPr id="12" name="Text 10"/>
          <p:cNvSpPr/>
          <p:nvPr/>
        </p:nvSpPr>
        <p:spPr>
          <a:xfrm>
            <a:off x="640080" y="3474720"/>
            <a:ext cx="7863840" cy="320040"/>
          </a:xfrm>
          <a:prstGeom prst="rect">
            <a:avLst/>
          </a:prstGeom>
          <a:noFill/>
          <a:ln/>
        </p:spPr>
        <p:txBody>
          <a:bodyPr wrap="square"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如果总是前者</a:t>
            </a:r>
            <a:endParaRPr lang="en-US" sz="1300" dirty="0"/>
          </a:p>
        </p:txBody>
      </p:sp>
      <p:sp>
        <p:nvSpPr>
          <p:cNvPr id="13" name="Text 11"/>
          <p:cNvSpPr/>
          <p:nvPr/>
        </p:nvSpPr>
        <p:spPr>
          <a:xfrm>
            <a:off x="640080" y="3794760"/>
            <a:ext cx="7863840" cy="594360"/>
          </a:xfrm>
          <a:prstGeom prst="rect">
            <a:avLst/>
          </a:prstGeom>
          <a:noFill/>
          <a:ln/>
        </p:spPr>
        <p:txBody>
          <a:bodyPr wrap="square" rtlCol="0" anchor="ctr"/>
          <a:lstStyle/>
          <a:p>
            <a:pPr algn="ctr" indent="0" marL="0">
              <a:buNone/>
            </a:pPr>
            <a:r>
              <a:rPr lang="en-US" sz="1500" dirty="0">
                <a:solidFill>
                  <a:srgbClr val="FFFFFF"/>
                </a:solidFill>
                <a:latin typeface="Microsoft YaHei" pitchFamily="34" charset="0"/>
                <a:ea typeface="Microsoft YaHei" pitchFamily="34" charset="-122"/>
                <a:cs typeface="Microsoft YaHei" pitchFamily="34" charset="-120"/>
              </a:rPr>
              <a:t>这份经验就开始从资产变成负债了——在还没真正了解一个具体的人之前，就已经用一套现成的答案把这个人套进去了</a:t>
            </a:r>
            <a:endParaRPr lang="en-US" sz="1500" dirty="0"/>
          </a:p>
        </p:txBody>
      </p:sp>
      <p:sp>
        <p:nvSpPr>
          <p:cNvPr id="14" name="Shape 12"/>
          <p:cNvSpPr/>
          <p:nvPr/>
        </p:nvSpPr>
        <p:spPr>
          <a:xfrm>
            <a:off x="457200" y="4572000"/>
            <a:ext cx="8229600" cy="457200"/>
          </a:xfrm>
          <a:prstGeom prst="rect">
            <a:avLst/>
          </a:prstGeom>
          <a:solidFill>
            <a:srgbClr val="2B2D42"/>
          </a:solidFill>
          <a:ln/>
        </p:spPr>
      </p:sp>
      <p:sp>
        <p:nvSpPr>
          <p:cNvPr id="15" name="Text 13"/>
          <p:cNvSpPr/>
          <p:nvPr/>
        </p:nvSpPr>
        <p:spPr>
          <a:xfrm>
            <a:off x="640080" y="4572000"/>
            <a:ext cx="7863840" cy="457200"/>
          </a:xfrm>
          <a:prstGeom prst="rect">
            <a:avLst/>
          </a:prstGeom>
          <a:noFill/>
          <a:ln/>
        </p:spPr>
        <p:txBody>
          <a:bodyPr wrap="square" rtlCol="0" anchor="ctr"/>
          <a:lstStyle/>
          <a:p>
            <a:pPr algn="ctr" indent="0" marL="0">
              <a:buNone/>
            </a:pPr>
            <a:r>
              <a:rPr lang="en-US" sz="1300" dirty="0">
                <a:solidFill>
                  <a:srgbClr val="FFFFFF"/>
                </a:solidFill>
                <a:latin typeface="Microsoft YaHei" pitchFamily="34" charset="0"/>
                <a:ea typeface="Microsoft YaHei" pitchFamily="34" charset="-122"/>
                <a:cs typeface="Microsoft YaHei" pitchFamily="34" charset="-120"/>
              </a:rPr>
              <a:t>我的习惯：每次遇到跟以前很像的案例，都提醒自己在心里先打一个问号</a:t>
            </a:r>
            <a:endParaRPr lang="en-US" sz="13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3400" b="1" dirty="0">
                <a:solidFill>
                  <a:srgbClr val="2B2D42"/>
                </a:solidFill>
                <a:latin typeface="Microsoft YaHei" pitchFamily="34" charset="0"/>
                <a:ea typeface="Microsoft YaHei" pitchFamily="34" charset="-122"/>
                <a:cs typeface="Microsoft YaHei" pitchFamily="34" charset="-120"/>
              </a:rPr>
              <a:t>给刚入行的人一句实在话</a:t>
            </a:r>
            <a:endParaRPr lang="en-US" sz="3400" dirty="0"/>
          </a:p>
        </p:txBody>
      </p:sp>
      <p:sp>
        <p:nvSpPr>
          <p:cNvPr id="3" name="Shape 1"/>
          <p:cNvSpPr/>
          <p:nvPr/>
        </p:nvSpPr>
        <p:spPr>
          <a:xfrm>
            <a:off x="457200" y="1051560"/>
            <a:ext cx="8229600" cy="822960"/>
          </a:xfrm>
          <a:prstGeom prst="rect">
            <a:avLst/>
          </a:prstGeom>
          <a:solidFill>
            <a:srgbClr val="EDF2F4"/>
          </a:solidFill>
          <a:ln/>
        </p:spPr>
      </p:sp>
      <p:sp>
        <p:nvSpPr>
          <p:cNvPr id="4" name="Text 2"/>
          <p:cNvSpPr/>
          <p:nvPr/>
        </p:nvSpPr>
        <p:spPr>
          <a:xfrm>
            <a:off x="640080" y="1051560"/>
            <a:ext cx="7863840" cy="822960"/>
          </a:xfrm>
          <a:prstGeom prst="rect">
            <a:avLst/>
          </a:prstGeom>
          <a:noFill/>
          <a:ln/>
        </p:spPr>
        <p:txBody>
          <a:bodyPr wrap="square" rtlCol="0" anchor="ctr"/>
          <a:lstStyle/>
          <a:p>
            <a:pPr algn="ctr" indent="0" marL="0">
              <a:buNone/>
            </a:pPr>
            <a:r>
              <a:rPr lang="en-US" sz="1700" dirty="0">
                <a:solidFill>
                  <a:srgbClr val="8D99AE"/>
                </a:solidFill>
                <a:latin typeface="Microsoft YaHei" pitchFamily="34" charset="0"/>
                <a:ea typeface="Microsoft YaHei" pitchFamily="34" charset="-122"/>
                <a:cs typeface="Microsoft YaHei" pitchFamily="34" charset="-120"/>
              </a:rPr>
              <a:t>别急着追求"我知道的比别人多"，那条路径的天花板很低，也很容易被工具追平</a:t>
            </a:r>
            <a:endParaRPr lang="en-US" sz="1700" dirty="0"/>
          </a:p>
        </p:txBody>
      </p:sp>
      <p:sp>
        <p:nvSpPr>
          <p:cNvPr id="5" name="Text 3"/>
          <p:cNvSpPr/>
          <p:nvPr/>
        </p:nvSpPr>
        <p:spPr>
          <a:xfrm>
            <a:off x="457200" y="2011680"/>
            <a:ext cx="8229600" cy="365760"/>
          </a:xfrm>
          <a:prstGeom prst="rect">
            <a:avLst/>
          </a:prstGeom>
          <a:noFill/>
          <a:ln/>
        </p:spPr>
        <p:txBody>
          <a:bodyPr wrap="square" rtlCol="0" anchor="ctr"/>
          <a:lstStyle/>
          <a:p>
            <a:pPr indent="0" marL="0">
              <a:buNone/>
            </a:pPr>
            <a:r>
              <a:rPr lang="en-US" sz="1600" b="1" dirty="0">
                <a:solidFill>
                  <a:srgbClr val="EF233C"/>
                </a:solidFill>
                <a:latin typeface="Microsoft YaHei" pitchFamily="34" charset="0"/>
                <a:ea typeface="Microsoft YaHei" pitchFamily="34" charset="-122"/>
                <a:cs typeface="Microsoft YaHei" pitchFamily="34" charset="-120"/>
              </a:rPr>
              <a:t>最值钱的本事</a:t>
            </a:r>
            <a:endParaRPr lang="en-US" sz="1600" dirty="0"/>
          </a:p>
        </p:txBody>
      </p:sp>
      <p:sp>
        <p:nvSpPr>
          <p:cNvPr id="6" name="Shape 4"/>
          <p:cNvSpPr/>
          <p:nvPr/>
        </p:nvSpPr>
        <p:spPr>
          <a:xfrm>
            <a:off x="457200" y="2377440"/>
            <a:ext cx="8229600" cy="914400"/>
          </a:xfrm>
          <a:prstGeom prst="rect">
            <a:avLst/>
          </a:prstGeom>
          <a:solidFill>
            <a:srgbClr val="2B2D42"/>
          </a:solidFill>
          <a:ln/>
        </p:spPr>
      </p:sp>
      <p:sp>
        <p:nvSpPr>
          <p:cNvPr id="7" name="Text 5"/>
          <p:cNvSpPr/>
          <p:nvPr/>
        </p:nvSpPr>
        <p:spPr>
          <a:xfrm>
            <a:off x="640080" y="2377440"/>
            <a:ext cx="7863840" cy="91440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每次遇到一个新的人，都还愿意重新从"你是谁"这个问题问起，不嫌麻烦，不图省事</a:t>
            </a:r>
            <a:endParaRPr lang="en-US" sz="1800" dirty="0"/>
          </a:p>
        </p:txBody>
      </p:sp>
      <p:sp>
        <p:nvSpPr>
          <p:cNvPr id="8" name="Shape 6"/>
          <p:cNvSpPr/>
          <p:nvPr/>
        </p:nvSpPr>
        <p:spPr>
          <a:xfrm>
            <a:off x="457200" y="3474720"/>
            <a:ext cx="8229600" cy="1371600"/>
          </a:xfrm>
          <a:prstGeom prst="rect">
            <a:avLst/>
          </a:prstGeom>
          <a:solidFill>
            <a:srgbClr val="EF233C"/>
          </a:solidFill>
          <a:ln/>
        </p:spPr>
      </p:sp>
      <p:sp>
        <p:nvSpPr>
          <p:cNvPr id="9" name="Text 7"/>
          <p:cNvSpPr/>
          <p:nvPr/>
        </p:nvSpPr>
        <p:spPr>
          <a:xfrm>
            <a:off x="640080" y="3566160"/>
            <a:ext cx="7863840" cy="1188720"/>
          </a:xfrm>
          <a:prstGeom prst="rect">
            <a:avLst/>
          </a:prstGeom>
          <a:noFill/>
          <a:ln/>
        </p:spPr>
        <p:txBody>
          <a:bodyPr wrap="square" rtlCol="0" anchor="ctr"/>
          <a:lstStyle/>
          <a:p>
            <a:pPr algn="ctr" indent="0" marL="0">
              <a:buNone/>
            </a:pPr>
            <a:r>
              <a:rPr lang="en-US" sz="1600" i="1" dirty="0">
                <a:solidFill>
                  <a:srgbClr val="FFFFFF"/>
                </a:solidFill>
                <a:latin typeface="Microsoft YaHei" pitchFamily="34" charset="0"/>
                <a:ea typeface="Microsoft YaHei" pitchFamily="34" charset="-122"/>
                <a:cs typeface="Microsoft YaHei" pitchFamily="34" charset="-120"/>
              </a:rPr>
              <a:t>"这件事没有终点，我干了这么多年，依然在练，可能这辈子都练不到头，但正是这种'练不到头'，让这份工作始终有意思"</a:t>
            </a:r>
            <a:endParaRPr lang="en-US" sz="1600" dirty="0"/>
          </a:p>
        </p:txBody>
      </p:sp>
      <p:sp>
        <p:nvSpPr>
          <p:cNvPr id="10" name="Shape 8"/>
          <p:cNvSpPr/>
          <p:nvPr/>
        </p:nvSpPr>
        <p:spPr>
          <a:xfrm>
            <a:off x="8229600" y="4663440"/>
            <a:ext cx="411480" cy="411480"/>
          </a:xfrm>
          <a:prstGeom prst="ellipse">
            <a:avLst/>
          </a:prstGeom>
          <a:solidFill>
            <a:srgbClr val="2B2D42"/>
          </a:solidFill>
          <a:ln/>
        </p:spPr>
      </p:sp>
      <p:sp>
        <p:nvSpPr>
          <p:cNvPr id="11" name="Text 9"/>
          <p:cNvSpPr/>
          <p:nvPr/>
        </p:nvSpPr>
        <p:spPr>
          <a:xfrm>
            <a:off x="8229600" y="4663440"/>
            <a:ext cx="411480" cy="4114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73</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indent="0" marL="0">
              <a:buNone/>
            </a:pPr>
            <a:r>
              <a:rPr lang="en-US" sz="3200" b="1" dirty="0">
                <a:solidFill>
                  <a:srgbClr val="2B2D42"/>
                </a:solidFill>
                <a:latin typeface="Microsoft YaHei" pitchFamily="34" charset="0"/>
                <a:ea typeface="Microsoft YaHei" pitchFamily="34" charset="-122"/>
                <a:cs typeface="Microsoft YaHei" pitchFamily="34" charset="-120"/>
              </a:rPr>
              <a:t>模块三核心要点</a:t>
            </a:r>
            <a:endParaRPr lang="en-US" sz="3200" dirty="0"/>
          </a:p>
        </p:txBody>
      </p:sp>
      <p:sp>
        <p:nvSpPr>
          <p:cNvPr id="3" name="Shape 1"/>
          <p:cNvSpPr/>
          <p:nvPr/>
        </p:nvSpPr>
        <p:spPr>
          <a:xfrm>
            <a:off x="457200" y="1005840"/>
            <a:ext cx="2651760" cy="2560320"/>
          </a:xfrm>
          <a:prstGeom prst="rect">
            <a:avLst/>
          </a:prstGeom>
          <a:solidFill>
            <a:srgbClr val="EDF2F4"/>
          </a:solidFill>
          <a:ln/>
        </p:spPr>
      </p:sp>
      <p:sp>
        <p:nvSpPr>
          <p:cNvPr id="4" name="Text 2"/>
          <p:cNvSpPr/>
          <p:nvPr/>
        </p:nvSpPr>
        <p:spPr>
          <a:xfrm>
            <a:off x="457200" y="1097280"/>
            <a:ext cx="2651760" cy="640080"/>
          </a:xfrm>
          <a:prstGeom prst="rect">
            <a:avLst/>
          </a:prstGeom>
          <a:noFill/>
          <a:ln/>
        </p:spPr>
        <p:txBody>
          <a:bodyPr wrap="square" rtlCol="0" anchor="ctr"/>
          <a:lstStyle/>
          <a:p>
            <a:pPr algn="ctr" indent="0" marL="0">
              <a:buNone/>
            </a:pPr>
            <a:r>
              <a:rPr lang="en-US" sz="3600" b="1" dirty="0">
                <a:solidFill>
                  <a:srgbClr val="EF233C"/>
                </a:solidFill>
                <a:latin typeface="Arial" pitchFamily="34" charset="0"/>
                <a:ea typeface="Arial" pitchFamily="34" charset="-122"/>
                <a:cs typeface="Arial" pitchFamily="34" charset="-120"/>
              </a:rPr>
              <a:t>01</a:t>
            </a:r>
            <a:endParaRPr lang="en-US" sz="3600" dirty="0"/>
          </a:p>
        </p:txBody>
      </p:sp>
      <p:sp>
        <p:nvSpPr>
          <p:cNvPr id="5" name="Text 3"/>
          <p:cNvSpPr/>
          <p:nvPr/>
        </p:nvSpPr>
        <p:spPr>
          <a:xfrm>
            <a:off x="594360" y="1783080"/>
            <a:ext cx="2377440" cy="822960"/>
          </a:xfrm>
          <a:prstGeom prst="rect">
            <a:avLst/>
          </a:prstGeom>
          <a:noFill/>
          <a:ln/>
        </p:spPr>
        <p:txBody>
          <a:bodyPr wrap="square" rtlCol="0" anchor="ctr"/>
          <a:lstStyle/>
          <a:p>
            <a:pPr algn="ctr" indent="0" marL="0">
              <a:buNone/>
            </a:pPr>
            <a:r>
              <a:rPr lang="en-US" sz="1500" b="1" dirty="0">
                <a:solidFill>
                  <a:srgbClr val="2B2D42"/>
                </a:solidFill>
                <a:latin typeface="Microsoft YaHei" pitchFamily="34" charset="0"/>
                <a:ea typeface="Microsoft YaHei" pitchFamily="34" charset="-122"/>
                <a:cs typeface="Microsoft YaHei" pitchFamily="34" charset="-120"/>
              </a:rPr>
              <a:t>替人做决定是最大的风险</a:t>
            </a:r>
            <a:endParaRPr lang="en-US" sz="1500" dirty="0"/>
          </a:p>
        </p:txBody>
      </p:sp>
      <p:sp>
        <p:nvSpPr>
          <p:cNvPr id="6" name="Text 4"/>
          <p:cNvSpPr/>
          <p:nvPr/>
        </p:nvSpPr>
        <p:spPr>
          <a:xfrm>
            <a:off x="594360" y="2606040"/>
            <a:ext cx="2377440" cy="822960"/>
          </a:xfrm>
          <a:prstGeom prst="rect">
            <a:avLst/>
          </a:prstGeom>
          <a:noFill/>
          <a:ln/>
        </p:spPr>
        <p:txBody>
          <a:bodyPr wrap="square" rtlCol="0" anchor="ctr"/>
          <a:lstStyle/>
          <a:p>
            <a:pPr algn="ctr" indent="0" marL="0">
              <a:buNone/>
            </a:pPr>
            <a:r>
              <a:rPr lang="en-US" sz="1300" dirty="0">
                <a:solidFill>
                  <a:srgbClr val="8D99AE"/>
                </a:solidFill>
                <a:latin typeface="Microsoft YaHei" pitchFamily="34" charset="0"/>
                <a:ea typeface="Microsoft YaHei" pitchFamily="34" charset="-122"/>
                <a:cs typeface="Microsoft YaHei" pitchFamily="34" charset="-120"/>
              </a:rPr>
              <a:t>把决定权留给孩子自己</a:t>
            </a:r>
            <a:endParaRPr lang="en-US" sz="1300" dirty="0"/>
          </a:p>
        </p:txBody>
      </p:sp>
      <p:sp>
        <p:nvSpPr>
          <p:cNvPr id="7" name="Shape 5"/>
          <p:cNvSpPr/>
          <p:nvPr/>
        </p:nvSpPr>
        <p:spPr>
          <a:xfrm>
            <a:off x="3291840" y="1005840"/>
            <a:ext cx="2651760" cy="2560320"/>
          </a:xfrm>
          <a:prstGeom prst="rect">
            <a:avLst/>
          </a:prstGeom>
          <a:solidFill>
            <a:srgbClr val="EDF2F4"/>
          </a:solidFill>
          <a:ln/>
        </p:spPr>
      </p:sp>
      <p:sp>
        <p:nvSpPr>
          <p:cNvPr id="8" name="Text 6"/>
          <p:cNvSpPr/>
          <p:nvPr/>
        </p:nvSpPr>
        <p:spPr>
          <a:xfrm>
            <a:off x="3291840" y="1097280"/>
            <a:ext cx="2651760" cy="640080"/>
          </a:xfrm>
          <a:prstGeom prst="rect">
            <a:avLst/>
          </a:prstGeom>
          <a:noFill/>
          <a:ln/>
        </p:spPr>
        <p:txBody>
          <a:bodyPr wrap="square" rtlCol="0" anchor="ctr"/>
          <a:lstStyle/>
          <a:p>
            <a:pPr algn="ctr" indent="0" marL="0">
              <a:buNone/>
            </a:pPr>
            <a:r>
              <a:rPr lang="en-US" sz="3600" b="1" dirty="0">
                <a:solidFill>
                  <a:srgbClr val="EF233C"/>
                </a:solidFill>
                <a:latin typeface="Arial" pitchFamily="34" charset="0"/>
                <a:ea typeface="Arial" pitchFamily="34" charset="-122"/>
                <a:cs typeface="Arial" pitchFamily="34" charset="-120"/>
              </a:rPr>
              <a:t>02</a:t>
            </a:r>
            <a:endParaRPr lang="en-US" sz="3600" dirty="0"/>
          </a:p>
        </p:txBody>
      </p:sp>
      <p:sp>
        <p:nvSpPr>
          <p:cNvPr id="9" name="Text 7"/>
          <p:cNvSpPr/>
          <p:nvPr/>
        </p:nvSpPr>
        <p:spPr>
          <a:xfrm>
            <a:off x="3429000" y="1783080"/>
            <a:ext cx="2377440" cy="822960"/>
          </a:xfrm>
          <a:prstGeom prst="rect">
            <a:avLst/>
          </a:prstGeom>
          <a:noFill/>
          <a:ln/>
        </p:spPr>
        <p:txBody>
          <a:bodyPr wrap="square" rtlCol="0" anchor="ctr"/>
          <a:lstStyle/>
          <a:p>
            <a:pPr algn="ctr" indent="0" marL="0">
              <a:buNone/>
            </a:pPr>
            <a:r>
              <a:rPr lang="en-US" sz="1500" b="1" dirty="0">
                <a:solidFill>
                  <a:srgbClr val="2B2D42"/>
                </a:solidFill>
                <a:latin typeface="Microsoft YaHei" pitchFamily="34" charset="0"/>
                <a:ea typeface="Microsoft YaHei" pitchFamily="34" charset="-122"/>
                <a:cs typeface="Microsoft YaHei" pitchFamily="34" charset="-120"/>
              </a:rPr>
              <a:t>口碑是副产品不是目标</a:t>
            </a:r>
            <a:endParaRPr lang="en-US" sz="1500" dirty="0"/>
          </a:p>
        </p:txBody>
      </p:sp>
      <p:sp>
        <p:nvSpPr>
          <p:cNvPr id="10" name="Text 8"/>
          <p:cNvSpPr/>
          <p:nvPr/>
        </p:nvSpPr>
        <p:spPr>
          <a:xfrm>
            <a:off x="3429000" y="2606040"/>
            <a:ext cx="2377440" cy="822960"/>
          </a:xfrm>
          <a:prstGeom prst="rect">
            <a:avLst/>
          </a:prstGeom>
          <a:noFill/>
          <a:ln/>
        </p:spPr>
        <p:txBody>
          <a:bodyPr wrap="square" rtlCol="0" anchor="ctr"/>
          <a:lstStyle/>
          <a:p>
            <a:pPr algn="ctr" indent="0" marL="0">
              <a:buNone/>
            </a:pPr>
            <a:r>
              <a:rPr lang="en-US" sz="1300" dirty="0">
                <a:solidFill>
                  <a:srgbClr val="8D99AE"/>
                </a:solidFill>
                <a:latin typeface="Microsoft YaHei" pitchFamily="34" charset="0"/>
                <a:ea typeface="Microsoft YaHei" pitchFamily="34" charset="-122"/>
                <a:cs typeface="Microsoft YaHei" pitchFamily="34" charset="-120"/>
              </a:rPr>
              <a:t>把判断做扎实了，口碑自己会长出来</a:t>
            </a:r>
            <a:endParaRPr lang="en-US" sz="1300" dirty="0"/>
          </a:p>
        </p:txBody>
      </p:sp>
      <p:sp>
        <p:nvSpPr>
          <p:cNvPr id="11" name="Shape 9"/>
          <p:cNvSpPr/>
          <p:nvPr/>
        </p:nvSpPr>
        <p:spPr>
          <a:xfrm>
            <a:off x="6126480" y="1005840"/>
            <a:ext cx="2651760" cy="2560320"/>
          </a:xfrm>
          <a:prstGeom prst="rect">
            <a:avLst/>
          </a:prstGeom>
          <a:solidFill>
            <a:srgbClr val="EDF2F4"/>
          </a:solidFill>
          <a:ln/>
        </p:spPr>
      </p:sp>
      <p:sp>
        <p:nvSpPr>
          <p:cNvPr id="12" name="Text 10"/>
          <p:cNvSpPr/>
          <p:nvPr/>
        </p:nvSpPr>
        <p:spPr>
          <a:xfrm>
            <a:off x="6126480" y="1097280"/>
            <a:ext cx="2651760" cy="640080"/>
          </a:xfrm>
          <a:prstGeom prst="rect">
            <a:avLst/>
          </a:prstGeom>
          <a:noFill/>
          <a:ln/>
        </p:spPr>
        <p:txBody>
          <a:bodyPr wrap="square" rtlCol="0" anchor="ctr"/>
          <a:lstStyle/>
          <a:p>
            <a:pPr algn="ctr" indent="0" marL="0">
              <a:buNone/>
            </a:pPr>
            <a:r>
              <a:rPr lang="en-US" sz="3600" b="1" dirty="0">
                <a:solidFill>
                  <a:srgbClr val="EF233C"/>
                </a:solidFill>
                <a:latin typeface="Arial" pitchFamily="34" charset="0"/>
                <a:ea typeface="Arial" pitchFamily="34" charset="-122"/>
                <a:cs typeface="Arial" pitchFamily="34" charset="-120"/>
              </a:rPr>
              <a:t>03</a:t>
            </a:r>
            <a:endParaRPr lang="en-US" sz="3600" dirty="0"/>
          </a:p>
        </p:txBody>
      </p:sp>
      <p:sp>
        <p:nvSpPr>
          <p:cNvPr id="13" name="Text 11"/>
          <p:cNvSpPr/>
          <p:nvPr/>
        </p:nvSpPr>
        <p:spPr>
          <a:xfrm>
            <a:off x="6263640" y="1783080"/>
            <a:ext cx="2377440" cy="822960"/>
          </a:xfrm>
          <a:prstGeom prst="rect">
            <a:avLst/>
          </a:prstGeom>
          <a:noFill/>
          <a:ln/>
        </p:spPr>
        <p:txBody>
          <a:bodyPr wrap="square" rtlCol="0" anchor="ctr"/>
          <a:lstStyle/>
          <a:p>
            <a:pPr algn="ctr" indent="0" marL="0">
              <a:buNone/>
            </a:pPr>
            <a:r>
              <a:rPr lang="en-US" sz="1500" b="1" dirty="0">
                <a:solidFill>
                  <a:srgbClr val="2B2D42"/>
                </a:solidFill>
                <a:latin typeface="Microsoft YaHei" pitchFamily="34" charset="0"/>
                <a:ea typeface="Microsoft YaHei" pitchFamily="34" charset="-122"/>
                <a:cs typeface="Microsoft YaHei" pitchFamily="34" charset="-120"/>
              </a:rPr>
              <a:t>AI时代判断力更值钱</a:t>
            </a:r>
            <a:endParaRPr lang="en-US" sz="1500" dirty="0"/>
          </a:p>
        </p:txBody>
      </p:sp>
      <p:sp>
        <p:nvSpPr>
          <p:cNvPr id="14" name="Text 12"/>
          <p:cNvSpPr/>
          <p:nvPr/>
        </p:nvSpPr>
        <p:spPr>
          <a:xfrm>
            <a:off x="6263640" y="2606040"/>
            <a:ext cx="2377440" cy="822960"/>
          </a:xfrm>
          <a:prstGeom prst="rect">
            <a:avLst/>
          </a:prstGeom>
          <a:noFill/>
          <a:ln/>
        </p:spPr>
        <p:txBody>
          <a:bodyPr wrap="square" rtlCol="0" anchor="ctr"/>
          <a:lstStyle/>
          <a:p>
            <a:pPr algn="ctr" indent="0" marL="0">
              <a:buNone/>
            </a:pPr>
            <a:r>
              <a:rPr lang="en-US" sz="1300" dirty="0">
                <a:solidFill>
                  <a:srgbClr val="8D99AE"/>
                </a:solidFill>
                <a:latin typeface="Microsoft YaHei" pitchFamily="34" charset="0"/>
                <a:ea typeface="Microsoft YaHei" pitchFamily="34" charset="-122"/>
                <a:cs typeface="Microsoft YaHei" pitchFamily="34" charset="-120"/>
              </a:rPr>
              <a:t>把工具当助手而不是威胁</a:t>
            </a:r>
            <a:endParaRPr lang="en-US" sz="1300" dirty="0"/>
          </a:p>
        </p:txBody>
      </p:sp>
      <p:sp>
        <p:nvSpPr>
          <p:cNvPr id="15" name="Shape 13"/>
          <p:cNvSpPr/>
          <p:nvPr/>
        </p:nvSpPr>
        <p:spPr>
          <a:xfrm>
            <a:off x="457200" y="3794760"/>
            <a:ext cx="8229600" cy="1005840"/>
          </a:xfrm>
          <a:prstGeom prst="rect">
            <a:avLst/>
          </a:prstGeom>
          <a:solidFill>
            <a:srgbClr val="2B2D42"/>
          </a:solidFill>
          <a:ln/>
        </p:spPr>
      </p:sp>
      <p:sp>
        <p:nvSpPr>
          <p:cNvPr id="16" name="Text 14"/>
          <p:cNvSpPr/>
          <p:nvPr/>
        </p:nvSpPr>
        <p:spPr>
          <a:xfrm>
            <a:off x="640080" y="3794760"/>
            <a:ext cx="7863840" cy="1005840"/>
          </a:xfrm>
          <a:prstGeom prst="rect">
            <a:avLst/>
          </a:prstGeom>
          <a:noFill/>
          <a:ln/>
        </p:spPr>
        <p:txBody>
          <a:bodyPr wrap="square"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从"算得对"到"看得准"，这道坎没有终点</a:t>
            </a:r>
            <a:endParaRPr lang="en-US" sz="2000" dirty="0"/>
          </a:p>
        </p:txBody>
      </p:sp>
      <p:sp>
        <p:nvSpPr>
          <p:cNvPr id="17" name="Shape 15"/>
          <p:cNvSpPr/>
          <p:nvPr/>
        </p:nvSpPr>
        <p:spPr>
          <a:xfrm>
            <a:off x="8229600" y="4663440"/>
            <a:ext cx="411480" cy="411480"/>
          </a:xfrm>
          <a:prstGeom prst="ellipse">
            <a:avLst/>
          </a:prstGeom>
          <a:solidFill>
            <a:srgbClr val="EF233C"/>
          </a:solidFill>
          <a:ln/>
        </p:spPr>
      </p:sp>
      <p:sp>
        <p:nvSpPr>
          <p:cNvPr id="18" name="Text 16"/>
          <p:cNvSpPr/>
          <p:nvPr/>
        </p:nvSpPr>
        <p:spPr>
          <a:xfrm>
            <a:off x="8229600" y="4663440"/>
            <a:ext cx="411480" cy="4114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74</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2B2D42"/>
        </a:solidFill>
      </p:bgPr>
    </p:bg>
    <p:spTree>
      <p:nvGrpSpPr>
        <p:cNvPr id="1" name=""/>
        <p:cNvGrpSpPr/>
        <p:nvPr/>
      </p:nvGrpSpPr>
      <p:grpSpPr>
        <a:xfrm>
          <a:off x="0" y="0"/>
          <a:ext cx="0" cy="0"/>
          <a:chOff x="0" y="0"/>
          <a:chExt cx="0" cy="0"/>
        </a:xfrm>
      </p:grpSpPr>
      <p:sp>
        <p:nvSpPr>
          <p:cNvPr id="2" name="Text 0"/>
          <p:cNvSpPr/>
          <p:nvPr/>
        </p:nvSpPr>
        <p:spPr>
          <a:xfrm>
            <a:off x="457200" y="731520"/>
            <a:ext cx="8229600" cy="1097280"/>
          </a:xfrm>
          <a:prstGeom prst="rect">
            <a:avLst/>
          </a:prstGeom>
          <a:noFill/>
          <a:ln/>
        </p:spPr>
        <p:txBody>
          <a:bodyPr wrap="square" rtlCol="0" anchor="ctr"/>
          <a:lstStyle/>
          <a:p>
            <a:pPr algn="ctr" indent="0" marL="0">
              <a:buNone/>
            </a:pPr>
            <a:r>
              <a:rPr lang="en-US" sz="8000" b="1" dirty="0">
                <a:solidFill>
                  <a:srgbClr val="FFFFFF"/>
                </a:solidFill>
                <a:latin typeface="Arial" pitchFamily="34" charset="0"/>
                <a:ea typeface="Arial" pitchFamily="34" charset="-122"/>
                <a:cs typeface="Arial" pitchFamily="34" charset="-120"/>
              </a:rPr>
              <a:t>Q&amp;A</a:t>
            </a:r>
            <a:endParaRPr lang="en-US" sz="8000" dirty="0"/>
          </a:p>
        </p:txBody>
      </p:sp>
      <p:sp>
        <p:nvSpPr>
          <p:cNvPr id="3" name="Text 1"/>
          <p:cNvSpPr/>
          <p:nvPr/>
        </p:nvSpPr>
        <p:spPr>
          <a:xfrm>
            <a:off x="457200" y="1920240"/>
            <a:ext cx="8229600" cy="731520"/>
          </a:xfrm>
          <a:prstGeom prst="rect">
            <a:avLst/>
          </a:prstGeom>
          <a:noFill/>
          <a:ln/>
        </p:spPr>
        <p:txBody>
          <a:bodyPr wrap="square" rtlCol="0" anchor="ctr"/>
          <a:lstStyle/>
          <a:p>
            <a:pPr algn="ctr" indent="0" marL="0">
              <a:buNone/>
            </a:pPr>
            <a:r>
              <a:rPr lang="en-US" sz="4000" b="1" dirty="0">
                <a:solidFill>
                  <a:srgbClr val="FFFFFF"/>
                </a:solidFill>
                <a:latin typeface="Microsoft YaHei" pitchFamily="34" charset="0"/>
                <a:ea typeface="Microsoft YaHei" pitchFamily="34" charset="-122"/>
                <a:cs typeface="Microsoft YaHei" pitchFamily="34" charset="-120"/>
              </a:rPr>
              <a:t>关于这份职业本身</a:t>
            </a:r>
            <a:endParaRPr lang="en-US" sz="4000" dirty="0"/>
          </a:p>
        </p:txBody>
      </p:sp>
      <p:sp>
        <p:nvSpPr>
          <p:cNvPr id="4" name="Text 2"/>
          <p:cNvSpPr/>
          <p:nvPr/>
        </p:nvSpPr>
        <p:spPr>
          <a:xfrm>
            <a:off x="457200" y="2743200"/>
            <a:ext cx="8229600" cy="457200"/>
          </a:xfrm>
          <a:prstGeom prst="rect">
            <a:avLst/>
          </a:prstGeom>
          <a:noFill/>
          <a:ln/>
        </p:spPr>
        <p:txBody>
          <a:bodyPr wrap="square" rtlCol="0" anchor="ctr"/>
          <a:lstStyle/>
          <a:p>
            <a:pPr algn="ctr" indent="0" marL="0">
              <a:buNone/>
            </a:pPr>
            <a:r>
              <a:rPr lang="en-US" sz="1800" dirty="0">
                <a:solidFill>
                  <a:srgbClr val="EDF2F4"/>
                </a:solidFill>
                <a:latin typeface="Microsoft YaHei" pitchFamily="34" charset="0"/>
                <a:ea typeface="Microsoft YaHei" pitchFamily="34" charset="-122"/>
                <a:cs typeface="Microsoft YaHei" pitchFamily="34" charset="-120"/>
              </a:rPr>
              <a:t>关于入行、成长、和长期发展的问题</a:t>
            </a:r>
            <a:endParaRPr lang="en-US" sz="1800" dirty="0"/>
          </a:p>
        </p:txBody>
      </p:sp>
      <p:sp>
        <p:nvSpPr>
          <p:cNvPr id="5" name="Shape 3"/>
          <p:cNvSpPr/>
          <p:nvPr/>
        </p:nvSpPr>
        <p:spPr>
          <a:xfrm>
            <a:off x="7772400" y="0"/>
            <a:ext cx="1371600" cy="5143500"/>
          </a:xfrm>
          <a:prstGeom prst="rect">
            <a:avLst/>
          </a:prstGeom>
          <a:solidFill>
            <a:srgbClr val="EF233C"/>
          </a:solidFill>
          <a:ln/>
        </p:spPr>
      </p:sp>
      <p:sp>
        <p:nvSpPr>
          <p:cNvPr id="6" name="Shape 4"/>
          <p:cNvSpPr/>
          <p:nvPr/>
        </p:nvSpPr>
        <p:spPr>
          <a:xfrm>
            <a:off x="8138160" y="1371600"/>
            <a:ext cx="457200" cy="457200"/>
          </a:xfrm>
          <a:prstGeom prst="rect">
            <a:avLst/>
          </a:prstGeom>
          <a:solidFill>
            <a:srgbClr val="FFFFFF">
              <a:alpha val="60000"/>
            </a:srgbClr>
          </a:solidFill>
          <a:ln/>
        </p:spPr>
      </p:sp>
      <p:sp>
        <p:nvSpPr>
          <p:cNvPr id="7" name="Shape 5"/>
          <p:cNvSpPr/>
          <p:nvPr/>
        </p:nvSpPr>
        <p:spPr>
          <a:xfrm>
            <a:off x="7863840" y="2011680"/>
            <a:ext cx="320040" cy="320040"/>
          </a:xfrm>
          <a:prstGeom prst="rect">
            <a:avLst/>
          </a:prstGeom>
          <a:solidFill>
            <a:srgbClr val="FFFFFF">
              <a:alpha val="40000"/>
            </a:srgbClr>
          </a:solidFill>
          <a:ln/>
        </p:spPr>
      </p:sp>
      <p:sp>
        <p:nvSpPr>
          <p:cNvPr id="8" name="Shape 6"/>
          <p:cNvSpPr/>
          <p:nvPr/>
        </p:nvSpPr>
        <p:spPr>
          <a:xfrm>
            <a:off x="8412480" y="2377440"/>
            <a:ext cx="365760" cy="365760"/>
          </a:xfrm>
          <a:prstGeom prst="rect">
            <a:avLst/>
          </a:prstGeom>
          <a:solidFill>
            <a:srgbClr val="FFFFFF">
              <a:alpha val="70000"/>
            </a:srgbClr>
          </a:solidFill>
          <a:ln/>
        </p:spPr>
      </p:sp>
      <p:sp>
        <p:nvSpPr>
          <p:cNvPr id="9" name="Shape 7"/>
          <p:cNvSpPr/>
          <p:nvPr/>
        </p:nvSpPr>
        <p:spPr>
          <a:xfrm>
            <a:off x="0" y="0"/>
            <a:ext cx="137160" cy="5143500"/>
          </a:xfrm>
          <a:prstGeom prst="rect">
            <a:avLst/>
          </a:prstGeom>
          <a:solidFill>
            <a:srgbClr val="EF233C"/>
          </a:solidFill>
          <a:ln/>
        </p:spPr>
      </p:sp>
      <p:sp>
        <p:nvSpPr>
          <p:cNvPr id="10" name="Shape 8"/>
          <p:cNvSpPr/>
          <p:nvPr/>
        </p:nvSpPr>
        <p:spPr>
          <a:xfrm>
            <a:off x="7132320" y="4480560"/>
            <a:ext cx="457200" cy="457200"/>
          </a:xfrm>
          <a:prstGeom prst="ellipse">
            <a:avLst/>
          </a:prstGeom>
          <a:solidFill>
            <a:srgbClr val="FFFFFF">
              <a:alpha val="20000"/>
            </a:srgbClr>
          </a:solidFill>
          <a:ln/>
        </p:spPr>
      </p:sp>
      <p:sp>
        <p:nvSpPr>
          <p:cNvPr id="11" name="Text 9"/>
          <p:cNvSpPr/>
          <p:nvPr/>
        </p:nvSpPr>
        <p:spPr>
          <a:xfrm>
            <a:off x="7132320" y="4480560"/>
            <a:ext cx="4572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75</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ellipse">
            <a:avLst/>
          </a:prstGeom>
          <a:solidFill>
            <a:srgbClr val="2B2D42"/>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76</a:t>
            </a:r>
            <a:endParaRPr lang="en-US" sz="1600" dirty="0"/>
          </a:p>
        </p:txBody>
      </p:sp>
      <p:sp>
        <p:nvSpPr>
          <p:cNvPr id="4" name="Shape 2"/>
          <p:cNvSpPr/>
          <p:nvPr/>
        </p:nvSpPr>
        <p:spPr>
          <a:xfrm>
            <a:off x="457200" y="365760"/>
            <a:ext cx="1097280" cy="457200"/>
          </a:xfrm>
          <a:prstGeom prst="roundRect">
            <a:avLst>
              <a:gd name="adj" fmla="val 10000"/>
            </a:avLst>
          </a:prstGeom>
          <a:solidFill>
            <a:srgbClr val="EF233C"/>
          </a:solidFill>
          <a:ln/>
        </p:spPr>
      </p:sp>
      <p:sp>
        <p:nvSpPr>
          <p:cNvPr id="5" name="Text 3"/>
          <p:cNvSpPr/>
          <p:nvPr/>
        </p:nvSpPr>
        <p:spPr>
          <a:xfrm>
            <a:off x="457200" y="365760"/>
            <a:ext cx="109728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Q&amp;A 1</a:t>
            </a:r>
            <a:endParaRPr lang="en-US" sz="1800" dirty="0"/>
          </a:p>
        </p:txBody>
      </p:sp>
      <p:sp>
        <p:nvSpPr>
          <p:cNvPr id="6" name="Text 4"/>
          <p:cNvSpPr/>
          <p:nvPr/>
        </p:nvSpPr>
        <p:spPr>
          <a:xfrm>
            <a:off x="1737360" y="365760"/>
            <a:ext cx="6400800" cy="45720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现在入行还来得及吗</a:t>
            </a:r>
            <a:endParaRPr lang="en-US" sz="2800" dirty="0"/>
          </a:p>
        </p:txBody>
      </p:sp>
      <p:sp>
        <p:nvSpPr>
          <p:cNvPr id="7" name="Shape 5"/>
          <p:cNvSpPr/>
          <p:nvPr/>
        </p:nvSpPr>
        <p:spPr>
          <a:xfrm>
            <a:off x="457200" y="914400"/>
            <a:ext cx="8229600" cy="685800"/>
          </a:xfrm>
          <a:prstGeom prst="roundRect">
            <a:avLst>
              <a:gd name="adj" fmla="val 6667"/>
            </a:avLst>
          </a:prstGeom>
          <a:solidFill>
            <a:srgbClr val="EDF2F4"/>
          </a:solidFill>
          <a:ln/>
        </p:spPr>
      </p:sp>
      <p:sp>
        <p:nvSpPr>
          <p:cNvPr id="8" name="Text 6"/>
          <p:cNvSpPr/>
          <p:nvPr/>
        </p:nvSpPr>
        <p:spPr>
          <a:xfrm>
            <a:off x="640080" y="914400"/>
            <a:ext cx="7863840" cy="685800"/>
          </a:xfrm>
          <a:prstGeom prst="rect">
            <a:avLst/>
          </a:prstGeom>
          <a:noFill/>
          <a:ln/>
        </p:spPr>
        <p:txBody>
          <a:bodyPr wrap="square" rtlCol="0" anchor="ctr"/>
          <a:lstStyle/>
          <a:p>
            <a:pPr indent="0" marL="0">
              <a:buNone/>
            </a:pPr>
            <a:r>
              <a:rPr lang="en-US" sz="1700" dirty="0">
                <a:solidFill>
                  <a:srgbClr val="2B2D42"/>
                </a:solidFill>
                <a:latin typeface="Microsoft YaHei" pitchFamily="34" charset="0"/>
                <a:ea typeface="Microsoft YaHei" pitchFamily="34" charset="-122"/>
                <a:cs typeface="Microsoft YaHei" pitchFamily="34" charset="-120"/>
              </a:rPr>
              <a:t>问题：现在入行还来得及吗，会不会已经太晚了，红利期已经过去了？</a:t>
            </a:r>
            <a:endParaRPr lang="en-US" sz="1700" dirty="0"/>
          </a:p>
        </p:txBody>
      </p:sp>
      <p:sp>
        <p:nvSpPr>
          <p:cNvPr id="9" name="Shape 7"/>
          <p:cNvSpPr/>
          <p:nvPr/>
        </p:nvSpPr>
        <p:spPr>
          <a:xfrm>
            <a:off x="457200" y="1783080"/>
            <a:ext cx="3977640" cy="1280160"/>
          </a:xfrm>
          <a:prstGeom prst="roundRect">
            <a:avLst>
              <a:gd name="adj" fmla="val 5714"/>
            </a:avLst>
          </a:prstGeom>
          <a:solidFill>
            <a:srgbClr val="EF233C"/>
          </a:solidFill>
          <a:ln/>
        </p:spPr>
      </p:sp>
      <p:sp>
        <p:nvSpPr>
          <p:cNvPr id="10" name="Text 8"/>
          <p:cNvSpPr/>
          <p:nvPr/>
        </p:nvSpPr>
        <p:spPr>
          <a:xfrm>
            <a:off x="640080" y="1874520"/>
            <a:ext cx="3657600" cy="320040"/>
          </a:xfrm>
          <a:prstGeom prst="rect">
            <a:avLst/>
          </a:prstGeom>
          <a:noFill/>
          <a:ln/>
        </p:spPr>
        <p:txBody>
          <a:bodyPr wrap="square" rtlCol="0" anchor="ct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如果指靠信息差轻松赚钱</a:t>
            </a:r>
            <a:endParaRPr lang="en-US" sz="1300" dirty="0"/>
          </a:p>
        </p:txBody>
      </p:sp>
      <p:sp>
        <p:nvSpPr>
          <p:cNvPr id="11" name="Text 9"/>
          <p:cNvSpPr/>
          <p:nvPr/>
        </p:nvSpPr>
        <p:spPr>
          <a:xfrm>
            <a:off x="640080" y="2240280"/>
            <a:ext cx="3657600" cy="731520"/>
          </a:xfrm>
          <a:prstGeom prst="rect">
            <a:avLst/>
          </a:prstGeom>
          <a:noFill/>
          <a:ln/>
        </p:spPr>
        <p:txBody>
          <a:bodyPr wrap="square" rtlCol="0" anchor="ctr"/>
          <a:lstStyle/>
          <a:p>
            <a:pPr indent="0" marL="0">
              <a:buNone/>
            </a:pPr>
            <a:r>
              <a:rPr lang="en-US" sz="1800" dirty="0">
                <a:solidFill>
                  <a:srgbClr val="FFFFFF"/>
                </a:solidFill>
                <a:latin typeface="Microsoft YaHei" pitchFamily="34" charset="0"/>
                <a:ea typeface="Microsoft YaHei" pitchFamily="34" charset="-122"/>
                <a:cs typeface="Microsoft YaHei" pitchFamily="34" charset="-120"/>
              </a:rPr>
              <a:t>那确实已经过去了</a:t>
            </a:r>
            <a:endParaRPr lang="en-US" sz="1800" dirty="0"/>
          </a:p>
        </p:txBody>
      </p:sp>
      <p:sp>
        <p:nvSpPr>
          <p:cNvPr id="12" name="Shape 10"/>
          <p:cNvSpPr/>
          <p:nvPr/>
        </p:nvSpPr>
        <p:spPr>
          <a:xfrm>
            <a:off x="4709160" y="1783080"/>
            <a:ext cx="3977640" cy="1280160"/>
          </a:xfrm>
          <a:prstGeom prst="roundRect">
            <a:avLst>
              <a:gd name="adj" fmla="val 5714"/>
            </a:avLst>
          </a:prstGeom>
          <a:solidFill>
            <a:srgbClr val="2B2D42"/>
          </a:solidFill>
          <a:ln/>
        </p:spPr>
      </p:sp>
      <p:sp>
        <p:nvSpPr>
          <p:cNvPr id="13" name="Text 11"/>
          <p:cNvSpPr/>
          <p:nvPr/>
        </p:nvSpPr>
        <p:spPr>
          <a:xfrm>
            <a:off x="4892040" y="1874520"/>
            <a:ext cx="3657600" cy="320040"/>
          </a:xfrm>
          <a:prstGeom prst="rect">
            <a:avLst/>
          </a:prstGeom>
          <a:noFill/>
          <a:ln/>
        </p:spPr>
        <p:txBody>
          <a:bodyPr wrap="square" rtlCol="0" anchor="ctr"/>
          <a:lstStyle/>
          <a:p>
            <a:pPr indent="0" marL="0">
              <a:buNone/>
            </a:pPr>
            <a:r>
              <a:rPr lang="en-US" sz="1300" b="1" dirty="0">
                <a:solidFill>
                  <a:srgbClr val="EDF2F4"/>
                </a:solidFill>
                <a:latin typeface="Microsoft YaHei" pitchFamily="34" charset="0"/>
                <a:ea typeface="Microsoft YaHei" pitchFamily="34" charset="-122"/>
                <a:cs typeface="Microsoft YaHei" pitchFamily="34" charset="-120"/>
              </a:rPr>
              <a:t>如果问这份工作本身值不值得投入</a:t>
            </a:r>
            <a:endParaRPr lang="en-US" sz="1300" dirty="0"/>
          </a:p>
        </p:txBody>
      </p:sp>
      <p:sp>
        <p:nvSpPr>
          <p:cNvPr id="14" name="Text 12"/>
          <p:cNvSpPr/>
          <p:nvPr/>
        </p:nvSpPr>
        <p:spPr>
          <a:xfrm>
            <a:off x="4892040" y="2240280"/>
            <a:ext cx="3657600" cy="731520"/>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值得</a:t>
            </a:r>
            <a:endParaRPr lang="en-US" sz="2200" dirty="0"/>
          </a:p>
        </p:txBody>
      </p:sp>
      <p:sp>
        <p:nvSpPr>
          <p:cNvPr id="15" name="Shape 13"/>
          <p:cNvSpPr/>
          <p:nvPr/>
        </p:nvSpPr>
        <p:spPr>
          <a:xfrm>
            <a:off x="457200" y="3246120"/>
            <a:ext cx="8229600" cy="822960"/>
          </a:xfrm>
          <a:prstGeom prst="roundRect">
            <a:avLst>
              <a:gd name="adj" fmla="val 5556"/>
            </a:avLst>
          </a:prstGeom>
          <a:solidFill>
            <a:srgbClr val="EDF2F4"/>
          </a:solidFill>
          <a:ln/>
        </p:spPr>
      </p:sp>
      <p:sp>
        <p:nvSpPr>
          <p:cNvPr id="16" name="Text 14"/>
          <p:cNvSpPr/>
          <p:nvPr/>
        </p:nvSpPr>
        <p:spPr>
          <a:xfrm>
            <a:off x="640080" y="3291840"/>
            <a:ext cx="1371600" cy="27432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核心洞见</a:t>
            </a:r>
            <a:endParaRPr lang="en-US" sz="1100" dirty="0"/>
          </a:p>
        </p:txBody>
      </p:sp>
      <p:sp>
        <p:nvSpPr>
          <p:cNvPr id="17" name="Text 15"/>
          <p:cNvSpPr/>
          <p:nvPr/>
        </p:nvSpPr>
        <p:spPr>
          <a:xfrm>
            <a:off x="640080" y="3566160"/>
            <a:ext cx="7863840" cy="457200"/>
          </a:xfrm>
          <a:prstGeom prst="rect">
            <a:avLst/>
          </a:prstGeom>
          <a:noFill/>
          <a:ln/>
        </p:spPr>
        <p:txBody>
          <a:bodyPr wrap="square" rtlCol="0" anchor="ctr"/>
          <a:lstStyle/>
          <a:p>
            <a:pPr indent="0" marL="0">
              <a:buNone/>
            </a:pPr>
            <a:r>
              <a:rPr lang="en-US" sz="1500" dirty="0">
                <a:solidFill>
                  <a:srgbClr val="2B2D42"/>
                </a:solidFill>
                <a:latin typeface="Microsoft YaHei" pitchFamily="34" charset="0"/>
                <a:ea typeface="Microsoft YaHei" pitchFamily="34" charset="-122"/>
                <a:cs typeface="Microsoft YaHei" pitchFamily="34" charset="-120"/>
              </a:rPr>
              <a:t>靠信息差，确实晚了；靠判断力，什么时候开始都不算晚，但也确实需要更长的积累时间</a:t>
            </a:r>
            <a:endParaRPr lang="en-US" sz="1500" dirty="0"/>
          </a:p>
        </p:txBody>
      </p:sp>
      <p:sp>
        <p:nvSpPr>
          <p:cNvPr id="18" name="Shape 16"/>
          <p:cNvSpPr/>
          <p:nvPr/>
        </p:nvSpPr>
        <p:spPr>
          <a:xfrm>
            <a:off x="457200" y="4251960"/>
            <a:ext cx="8229600" cy="685800"/>
          </a:xfrm>
          <a:prstGeom prst="roundRect">
            <a:avLst>
              <a:gd name="adj" fmla="val 6667"/>
            </a:avLst>
          </a:prstGeom>
          <a:solidFill>
            <a:srgbClr val="8D99AE"/>
          </a:solidFill>
          <a:ln/>
        </p:spPr>
      </p:sp>
      <p:sp>
        <p:nvSpPr>
          <p:cNvPr id="19" name="Text 17"/>
          <p:cNvSpPr/>
          <p:nvPr/>
        </p:nvSpPr>
        <p:spPr>
          <a:xfrm>
            <a:off x="640080" y="4251960"/>
            <a:ext cx="7863840" cy="685800"/>
          </a:xfrm>
          <a:prstGeom prst="rect">
            <a:avLst/>
          </a:prstGeom>
          <a:noFill/>
          <a:ln/>
        </p:spPr>
        <p:txBody>
          <a:bodyPr wrap="square" rtlCol="0" anchor="ctr"/>
          <a:lstStyle/>
          <a:p>
            <a:pPr indent="0" marL="0">
              <a:buNone/>
            </a:pPr>
            <a:r>
              <a:rPr lang="en-US" sz="1500" i="1" dirty="0">
                <a:solidFill>
                  <a:srgbClr val="FFFFFF"/>
                </a:solidFill>
                <a:latin typeface="Microsoft YaHei" pitchFamily="34" charset="0"/>
                <a:ea typeface="Microsoft YaHei" pitchFamily="34" charset="-122"/>
                <a:cs typeface="Microsoft YaHei" pitchFamily="34" charset="-120"/>
              </a:rPr>
              <a:t>"把信息、判断力和产业认知这几样东西打磨扎实的人，不会没有活路"</a:t>
            </a:r>
            <a:endParaRPr lang="en-US" sz="15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ellipse">
            <a:avLst/>
          </a:prstGeom>
          <a:solidFill>
            <a:srgbClr val="2B2D42"/>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77</a:t>
            </a:r>
            <a:endParaRPr lang="en-US" sz="1600" dirty="0"/>
          </a:p>
        </p:txBody>
      </p:sp>
      <p:sp>
        <p:nvSpPr>
          <p:cNvPr id="4" name="Shape 2"/>
          <p:cNvSpPr/>
          <p:nvPr/>
        </p:nvSpPr>
        <p:spPr>
          <a:xfrm>
            <a:off x="457200" y="365760"/>
            <a:ext cx="1097280" cy="457200"/>
          </a:xfrm>
          <a:prstGeom prst="roundRect">
            <a:avLst>
              <a:gd name="adj" fmla="val 10000"/>
            </a:avLst>
          </a:prstGeom>
          <a:solidFill>
            <a:srgbClr val="EF233C"/>
          </a:solidFill>
          <a:ln/>
        </p:spPr>
      </p:sp>
      <p:sp>
        <p:nvSpPr>
          <p:cNvPr id="5" name="Text 3"/>
          <p:cNvSpPr/>
          <p:nvPr/>
        </p:nvSpPr>
        <p:spPr>
          <a:xfrm>
            <a:off x="457200" y="365760"/>
            <a:ext cx="109728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Q&amp;A 2</a:t>
            </a:r>
            <a:endParaRPr lang="en-US" sz="1800" dirty="0"/>
          </a:p>
        </p:txBody>
      </p:sp>
      <p:sp>
        <p:nvSpPr>
          <p:cNvPr id="6" name="Text 4"/>
          <p:cNvSpPr/>
          <p:nvPr/>
        </p:nvSpPr>
        <p:spPr>
          <a:xfrm>
            <a:off x="1737360" y="365760"/>
            <a:ext cx="6400800" cy="45720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怎么判断自己有没有天赋</a:t>
            </a:r>
            <a:endParaRPr lang="en-US" sz="2800" dirty="0"/>
          </a:p>
        </p:txBody>
      </p:sp>
      <p:sp>
        <p:nvSpPr>
          <p:cNvPr id="7" name="Shape 5"/>
          <p:cNvSpPr/>
          <p:nvPr/>
        </p:nvSpPr>
        <p:spPr>
          <a:xfrm>
            <a:off x="457200" y="914400"/>
            <a:ext cx="8229600" cy="594360"/>
          </a:xfrm>
          <a:prstGeom prst="roundRect">
            <a:avLst>
              <a:gd name="adj" fmla="val 7692"/>
            </a:avLst>
          </a:prstGeom>
          <a:solidFill>
            <a:srgbClr val="EDF2F4"/>
          </a:solidFill>
          <a:ln/>
        </p:spPr>
      </p:sp>
      <p:sp>
        <p:nvSpPr>
          <p:cNvPr id="8" name="Text 6"/>
          <p:cNvSpPr/>
          <p:nvPr/>
        </p:nvSpPr>
        <p:spPr>
          <a:xfrm>
            <a:off x="640080" y="914400"/>
            <a:ext cx="7863840" cy="594360"/>
          </a:xfrm>
          <a:prstGeom prst="rect">
            <a:avLst/>
          </a:prstGeom>
          <a:noFill/>
          <a:ln/>
        </p:spPr>
        <p:txBody>
          <a:bodyPr wrap="square" rtlCol="0" anchor="ctr"/>
          <a:lstStyle/>
          <a:p>
            <a:pPr indent="0" marL="0">
              <a:buNone/>
            </a:pPr>
            <a:r>
              <a:rPr lang="en-US" sz="1700" dirty="0">
                <a:solidFill>
                  <a:srgbClr val="2B2D42"/>
                </a:solidFill>
                <a:latin typeface="Microsoft YaHei" pitchFamily="34" charset="0"/>
                <a:ea typeface="Microsoft YaHei" pitchFamily="34" charset="-122"/>
                <a:cs typeface="Microsoft YaHei" pitchFamily="34" charset="-120"/>
              </a:rPr>
              <a:t>问题：怎么判断自己在这行到底有没有天赋，还是说这件事纯粹靠积累？</a:t>
            </a:r>
            <a:endParaRPr lang="en-US" sz="1700" dirty="0"/>
          </a:p>
        </p:txBody>
      </p:sp>
      <p:sp>
        <p:nvSpPr>
          <p:cNvPr id="9" name="Shape 7"/>
          <p:cNvSpPr/>
          <p:nvPr/>
        </p:nvSpPr>
        <p:spPr>
          <a:xfrm>
            <a:off x="457200" y="1691640"/>
            <a:ext cx="8229600" cy="1097280"/>
          </a:xfrm>
          <a:prstGeom prst="roundRect">
            <a:avLst>
              <a:gd name="adj" fmla="val 6667"/>
            </a:avLst>
          </a:prstGeom>
          <a:solidFill>
            <a:srgbClr val="2B2D42"/>
          </a:solidFill>
          <a:ln/>
        </p:spPr>
      </p:sp>
      <p:sp>
        <p:nvSpPr>
          <p:cNvPr id="10" name="Text 8"/>
          <p:cNvSpPr/>
          <p:nvPr/>
        </p:nvSpPr>
        <p:spPr>
          <a:xfrm>
            <a:off x="640080" y="1783080"/>
            <a:ext cx="1828800" cy="274320"/>
          </a:xfrm>
          <a:prstGeom prst="rect">
            <a:avLst/>
          </a:prstGeom>
          <a:noFill/>
          <a:ln/>
        </p:spPr>
        <p:txBody>
          <a:bodyPr wrap="square" rtlCol="0" anchor="ctr"/>
          <a:lstStyle/>
          <a:p>
            <a:pPr indent="0" marL="0">
              <a:buNone/>
            </a:pPr>
            <a:r>
              <a:rPr lang="en-US" sz="1200" dirty="0">
                <a:solidFill>
                  <a:srgbClr val="EDF2F4"/>
                </a:solidFill>
                <a:latin typeface="Microsoft YaHei" pitchFamily="34" charset="0"/>
                <a:ea typeface="Microsoft YaHei" pitchFamily="34" charset="-122"/>
                <a:cs typeface="Microsoft YaHei" pitchFamily="34" charset="-120"/>
              </a:rPr>
              <a:t>核心答案</a:t>
            </a:r>
            <a:endParaRPr lang="en-US" sz="1200" dirty="0"/>
          </a:p>
        </p:txBody>
      </p:sp>
      <p:sp>
        <p:nvSpPr>
          <p:cNvPr id="11" name="Text 9"/>
          <p:cNvSpPr/>
          <p:nvPr/>
        </p:nvSpPr>
        <p:spPr>
          <a:xfrm>
            <a:off x="640080" y="2103120"/>
            <a:ext cx="7863840" cy="594360"/>
          </a:xfrm>
          <a:prstGeom prst="rect">
            <a:avLst/>
          </a:prstGeom>
          <a:noFill/>
          <a:ln/>
        </p:spPr>
        <p:txBody>
          <a:bodyPr wrap="square" rtlCol="0" anchor="ctr"/>
          <a:lstStyle/>
          <a:p>
            <a:pPr indent="0" marL="0">
              <a:buNone/>
            </a:pPr>
            <a:r>
              <a:rPr lang="en-US" sz="1700" dirty="0">
                <a:solidFill>
                  <a:srgbClr val="FFFFFF"/>
                </a:solidFill>
                <a:latin typeface="Microsoft YaHei" pitchFamily="34" charset="0"/>
                <a:ea typeface="Microsoft YaHei" pitchFamily="34" charset="-122"/>
                <a:cs typeface="Microsoft YaHei" pitchFamily="34" charset="-120"/>
              </a:rPr>
              <a:t>对"具体的人为什么会做出这个选择"这件事，天然有一种好奇心，愿意多问一句、多琢磨一下</a:t>
            </a:r>
            <a:endParaRPr lang="en-US" sz="1700" dirty="0"/>
          </a:p>
        </p:txBody>
      </p:sp>
      <p:sp>
        <p:nvSpPr>
          <p:cNvPr id="12" name="Shape 10"/>
          <p:cNvSpPr/>
          <p:nvPr/>
        </p:nvSpPr>
        <p:spPr>
          <a:xfrm>
            <a:off x="457200" y="2971800"/>
            <a:ext cx="3977640" cy="914400"/>
          </a:xfrm>
          <a:prstGeom prst="roundRect">
            <a:avLst>
              <a:gd name="adj" fmla="val 8000"/>
            </a:avLst>
          </a:prstGeom>
          <a:solidFill>
            <a:srgbClr val="27AE60"/>
          </a:solidFill>
          <a:ln/>
        </p:spPr>
      </p:sp>
      <p:sp>
        <p:nvSpPr>
          <p:cNvPr id="13" name="Text 11"/>
          <p:cNvSpPr/>
          <p:nvPr/>
        </p:nvSpPr>
        <p:spPr>
          <a:xfrm>
            <a:off x="640080" y="3063240"/>
            <a:ext cx="1828800" cy="228600"/>
          </a:xfrm>
          <a:prstGeom prst="rect">
            <a:avLst/>
          </a:prstGeom>
          <a:noFill/>
          <a:ln/>
        </p:spPr>
        <p:txBody>
          <a:bodyPr wrap="square" rtlCol="0" anchor="ct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好的信号</a:t>
            </a:r>
            <a:endParaRPr lang="en-US" sz="1100" dirty="0"/>
          </a:p>
        </p:txBody>
      </p:sp>
      <p:sp>
        <p:nvSpPr>
          <p:cNvPr id="14" name="Text 12"/>
          <p:cNvSpPr/>
          <p:nvPr/>
        </p:nvSpPr>
        <p:spPr>
          <a:xfrm>
            <a:off x="640080" y="3337560"/>
            <a:ext cx="3657600" cy="50292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跟人聊天的时候，天然会对对方的想法感兴趣，愿意多花时间理解</a:t>
            </a:r>
            <a:endParaRPr lang="en-US" sz="1400" dirty="0"/>
          </a:p>
        </p:txBody>
      </p:sp>
      <p:sp>
        <p:nvSpPr>
          <p:cNvPr id="15" name="Shape 13"/>
          <p:cNvSpPr/>
          <p:nvPr/>
        </p:nvSpPr>
        <p:spPr>
          <a:xfrm>
            <a:off x="4709160" y="2971800"/>
            <a:ext cx="3977640" cy="914400"/>
          </a:xfrm>
          <a:prstGeom prst="roundRect">
            <a:avLst>
              <a:gd name="adj" fmla="val 8000"/>
            </a:avLst>
          </a:prstGeom>
          <a:solidFill>
            <a:srgbClr val="8D99AE"/>
          </a:solidFill>
          <a:ln/>
        </p:spPr>
      </p:sp>
      <p:sp>
        <p:nvSpPr>
          <p:cNvPr id="16" name="Text 14"/>
          <p:cNvSpPr/>
          <p:nvPr/>
        </p:nvSpPr>
        <p:spPr>
          <a:xfrm>
            <a:off x="4892040" y="3063240"/>
            <a:ext cx="1828800" cy="228600"/>
          </a:xfrm>
          <a:prstGeom prst="rect">
            <a:avLst/>
          </a:prstGeom>
          <a:noFill/>
          <a:ln/>
        </p:spPr>
        <p:txBody>
          <a:bodyPr wrap="square" rtlCol="0" anchor="ct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相反情况</a:t>
            </a:r>
            <a:endParaRPr lang="en-US" sz="1100" dirty="0"/>
          </a:p>
        </p:txBody>
      </p:sp>
      <p:sp>
        <p:nvSpPr>
          <p:cNvPr id="17" name="Text 15"/>
          <p:cNvSpPr/>
          <p:nvPr/>
        </p:nvSpPr>
        <p:spPr>
          <a:xfrm>
            <a:off x="4892040" y="3337560"/>
            <a:ext cx="3657600" cy="50292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可能更适合往偏技术、偏工具开发的方向走</a:t>
            </a:r>
            <a:endParaRPr lang="en-US" sz="1400" dirty="0"/>
          </a:p>
        </p:txBody>
      </p:sp>
      <p:sp>
        <p:nvSpPr>
          <p:cNvPr id="18" name="Shape 16"/>
          <p:cNvSpPr/>
          <p:nvPr/>
        </p:nvSpPr>
        <p:spPr>
          <a:xfrm>
            <a:off x="457200" y="4069080"/>
            <a:ext cx="8229600" cy="822960"/>
          </a:xfrm>
          <a:prstGeom prst="roundRect">
            <a:avLst>
              <a:gd name="adj" fmla="val 5556"/>
            </a:avLst>
          </a:prstGeom>
          <a:solidFill>
            <a:srgbClr val="EDF2F4"/>
          </a:solidFill>
          <a:ln/>
        </p:spPr>
      </p:sp>
      <p:sp>
        <p:nvSpPr>
          <p:cNvPr id="19" name="Text 17"/>
          <p:cNvSpPr/>
          <p:nvPr/>
        </p:nvSpPr>
        <p:spPr>
          <a:xfrm>
            <a:off x="640080" y="4160520"/>
            <a:ext cx="914400" cy="22860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注意</a:t>
            </a:r>
            <a:endParaRPr lang="en-US" sz="1100" dirty="0"/>
          </a:p>
        </p:txBody>
      </p:sp>
      <p:sp>
        <p:nvSpPr>
          <p:cNvPr id="20" name="Text 18"/>
          <p:cNvSpPr/>
          <p:nvPr/>
        </p:nvSpPr>
        <p:spPr>
          <a:xfrm>
            <a:off x="640080" y="4434840"/>
            <a:ext cx="7863840" cy="411480"/>
          </a:xfrm>
          <a:prstGeom prst="rect">
            <a:avLst/>
          </a:prstGeom>
          <a:noFill/>
          <a:ln/>
        </p:spPr>
        <p:txBody>
          <a:bodyPr wrap="square" rtlCol="0" anchor="ctr"/>
          <a:lstStyle/>
          <a:p>
            <a:pPr indent="0" marL="0">
              <a:buNone/>
            </a:pPr>
            <a:r>
              <a:rPr lang="en-US" sz="1500" dirty="0">
                <a:solidFill>
                  <a:srgbClr val="2B2D42"/>
                </a:solidFill>
                <a:latin typeface="Microsoft YaHei" pitchFamily="34" charset="0"/>
                <a:ea typeface="Microsoft YaHei" pitchFamily="34" charset="-122"/>
                <a:cs typeface="Microsoft YaHei" pitchFamily="34" charset="-120"/>
              </a:rPr>
              <a:t>这种好奇心不是一成不变的天赋标签，而是可以通过刻意练习慢慢培养的习惯</a:t>
            </a:r>
            <a:endParaRPr lang="en-US" sz="15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ellipse">
            <a:avLst/>
          </a:prstGeom>
          <a:solidFill>
            <a:srgbClr val="2B2D42"/>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78</a:t>
            </a:r>
            <a:endParaRPr lang="en-US" sz="1600" dirty="0"/>
          </a:p>
        </p:txBody>
      </p:sp>
      <p:sp>
        <p:nvSpPr>
          <p:cNvPr id="4" name="Shape 2"/>
          <p:cNvSpPr/>
          <p:nvPr/>
        </p:nvSpPr>
        <p:spPr>
          <a:xfrm>
            <a:off x="457200" y="365760"/>
            <a:ext cx="1097280" cy="457200"/>
          </a:xfrm>
          <a:prstGeom prst="roundRect">
            <a:avLst>
              <a:gd name="adj" fmla="val 10000"/>
            </a:avLst>
          </a:prstGeom>
          <a:solidFill>
            <a:srgbClr val="EF233C"/>
          </a:solidFill>
          <a:ln/>
        </p:spPr>
      </p:sp>
      <p:sp>
        <p:nvSpPr>
          <p:cNvPr id="5" name="Text 3"/>
          <p:cNvSpPr/>
          <p:nvPr/>
        </p:nvSpPr>
        <p:spPr>
          <a:xfrm>
            <a:off x="457200" y="365760"/>
            <a:ext cx="109728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Q&amp;A 3</a:t>
            </a:r>
            <a:endParaRPr lang="en-US" sz="1800" dirty="0"/>
          </a:p>
        </p:txBody>
      </p:sp>
      <p:sp>
        <p:nvSpPr>
          <p:cNvPr id="6" name="Text 4"/>
          <p:cNvSpPr/>
          <p:nvPr/>
        </p:nvSpPr>
        <p:spPr>
          <a:xfrm>
            <a:off x="1737360" y="365760"/>
            <a:ext cx="6400800" cy="45720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做久了会不会变得麻木</a:t>
            </a:r>
            <a:endParaRPr lang="en-US" sz="2800" dirty="0"/>
          </a:p>
        </p:txBody>
      </p:sp>
      <p:sp>
        <p:nvSpPr>
          <p:cNvPr id="7" name="Shape 5"/>
          <p:cNvSpPr/>
          <p:nvPr/>
        </p:nvSpPr>
        <p:spPr>
          <a:xfrm>
            <a:off x="457200" y="914400"/>
            <a:ext cx="8229600" cy="594360"/>
          </a:xfrm>
          <a:prstGeom prst="roundRect">
            <a:avLst>
              <a:gd name="adj" fmla="val 7692"/>
            </a:avLst>
          </a:prstGeom>
          <a:solidFill>
            <a:srgbClr val="EDF2F4"/>
          </a:solidFill>
          <a:ln/>
        </p:spPr>
      </p:sp>
      <p:sp>
        <p:nvSpPr>
          <p:cNvPr id="8" name="Text 6"/>
          <p:cNvSpPr/>
          <p:nvPr/>
        </p:nvSpPr>
        <p:spPr>
          <a:xfrm>
            <a:off x="640080" y="914400"/>
            <a:ext cx="7863840" cy="594360"/>
          </a:xfrm>
          <a:prstGeom prst="rect">
            <a:avLst/>
          </a:prstGeom>
          <a:noFill/>
          <a:ln/>
        </p:spPr>
        <p:txBody>
          <a:bodyPr wrap="square" rtlCol="0" anchor="ctr"/>
          <a:lstStyle/>
          <a:p>
            <a:pPr indent="0" marL="0">
              <a:buNone/>
            </a:pPr>
            <a:r>
              <a:rPr lang="en-US" sz="1700" dirty="0">
                <a:solidFill>
                  <a:srgbClr val="2B2D42"/>
                </a:solidFill>
                <a:latin typeface="Microsoft YaHei" pitchFamily="34" charset="0"/>
                <a:ea typeface="Microsoft YaHei" pitchFamily="34" charset="-122"/>
                <a:cs typeface="Microsoft YaHei" pitchFamily="34" charset="-120"/>
              </a:rPr>
              <a:t>问题：这行会不会做久了变得很麻木，见多了案例之后，对每个孩子都提不起最初的耐心了？</a:t>
            </a:r>
            <a:endParaRPr lang="en-US" sz="1700" dirty="0"/>
          </a:p>
        </p:txBody>
      </p:sp>
      <p:sp>
        <p:nvSpPr>
          <p:cNvPr id="9" name="Shape 7"/>
          <p:cNvSpPr/>
          <p:nvPr/>
        </p:nvSpPr>
        <p:spPr>
          <a:xfrm>
            <a:off x="457200" y="1691640"/>
            <a:ext cx="8229600" cy="731520"/>
          </a:xfrm>
          <a:prstGeom prst="roundRect">
            <a:avLst>
              <a:gd name="adj" fmla="val 10000"/>
            </a:avLst>
          </a:prstGeom>
          <a:solidFill>
            <a:srgbClr val="EF233C"/>
          </a:solidFill>
          <a:ln/>
        </p:spPr>
      </p:sp>
      <p:sp>
        <p:nvSpPr>
          <p:cNvPr id="10" name="Text 8"/>
          <p:cNvSpPr/>
          <p:nvPr/>
        </p:nvSpPr>
        <p:spPr>
          <a:xfrm>
            <a:off x="640080" y="1691640"/>
            <a:ext cx="7863840" cy="731520"/>
          </a:xfrm>
          <a:prstGeom prst="rect">
            <a:avLst/>
          </a:prstGeom>
          <a:noFill/>
          <a:ln/>
        </p:spPr>
        <p:txBody>
          <a:bodyPr wrap="square"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会有这个风险，不否认</a:t>
            </a:r>
            <a:endParaRPr lang="en-US" sz="2000" dirty="0"/>
          </a:p>
        </p:txBody>
      </p:sp>
      <p:sp>
        <p:nvSpPr>
          <p:cNvPr id="11" name="Shape 9"/>
          <p:cNvSpPr/>
          <p:nvPr/>
        </p:nvSpPr>
        <p:spPr>
          <a:xfrm>
            <a:off x="457200" y="2606040"/>
            <a:ext cx="8229600" cy="914400"/>
          </a:xfrm>
          <a:prstGeom prst="roundRect">
            <a:avLst>
              <a:gd name="adj" fmla="val 8000"/>
            </a:avLst>
          </a:prstGeom>
          <a:solidFill>
            <a:srgbClr val="2B2D42"/>
          </a:solidFill>
          <a:ln/>
        </p:spPr>
      </p:sp>
      <p:sp>
        <p:nvSpPr>
          <p:cNvPr id="12" name="Text 10"/>
          <p:cNvSpPr/>
          <p:nvPr/>
        </p:nvSpPr>
        <p:spPr>
          <a:xfrm>
            <a:off x="640080" y="2697480"/>
            <a:ext cx="1828800" cy="274320"/>
          </a:xfrm>
          <a:prstGeom prst="rect">
            <a:avLst/>
          </a:prstGeom>
          <a:noFill/>
          <a:ln/>
        </p:spPr>
        <p:txBody>
          <a:bodyPr wrap="square" rtlCol="0" anchor="ctr"/>
          <a:lstStyle/>
          <a:p>
            <a:pPr indent="0" marL="0">
              <a:buNone/>
            </a:pPr>
            <a:r>
              <a:rPr lang="en-US" sz="1200" dirty="0">
                <a:solidFill>
                  <a:srgbClr val="EDF2F4"/>
                </a:solidFill>
                <a:latin typeface="Microsoft YaHei" pitchFamily="34" charset="0"/>
                <a:ea typeface="Microsoft YaHei" pitchFamily="34" charset="-122"/>
                <a:cs typeface="Microsoft YaHei" pitchFamily="34" charset="-120"/>
              </a:rPr>
              <a:t>我的提醒</a:t>
            </a:r>
            <a:endParaRPr lang="en-US" sz="1200" dirty="0"/>
          </a:p>
        </p:txBody>
      </p:sp>
      <p:sp>
        <p:nvSpPr>
          <p:cNvPr id="13" name="Text 11"/>
          <p:cNvSpPr/>
          <p:nvPr/>
        </p:nvSpPr>
        <p:spPr>
          <a:xfrm>
            <a:off x="640080" y="3017520"/>
            <a:ext cx="7863840" cy="457200"/>
          </a:xfrm>
          <a:prstGeom prst="rect">
            <a:avLst/>
          </a:prstGeom>
          <a:noFill/>
          <a:ln/>
        </p:spPr>
        <p:txBody>
          <a:bodyPr wrap="square" rtlCol="0" anchor="ctr"/>
          <a:lstStyle/>
          <a:p>
            <a:pPr indent="0" marL="0">
              <a:buNone/>
            </a:pPr>
            <a:r>
              <a:rPr lang="en-US" sz="1600" dirty="0">
                <a:solidFill>
                  <a:srgbClr val="FFFFFF"/>
                </a:solidFill>
                <a:latin typeface="Microsoft YaHei" pitchFamily="34" charset="0"/>
                <a:ea typeface="Microsoft YaHei" pitchFamily="34" charset="-122"/>
                <a:cs typeface="Microsoft YaHei" pitchFamily="34" charset="-120"/>
              </a:rPr>
              <a:t>眼前这个孩子，对他而言，这是他人生里第一次也是唯一一次经历这件事</a:t>
            </a:r>
            <a:endParaRPr lang="en-US" sz="1600" dirty="0"/>
          </a:p>
        </p:txBody>
      </p:sp>
      <p:sp>
        <p:nvSpPr>
          <p:cNvPr id="14" name="Shape 12"/>
          <p:cNvSpPr/>
          <p:nvPr/>
        </p:nvSpPr>
        <p:spPr>
          <a:xfrm>
            <a:off x="457200" y="3703320"/>
            <a:ext cx="8229600" cy="777240"/>
          </a:xfrm>
          <a:prstGeom prst="roundRect">
            <a:avLst>
              <a:gd name="adj" fmla="val 5882"/>
            </a:avLst>
          </a:prstGeom>
          <a:solidFill>
            <a:srgbClr val="EDF2F4"/>
          </a:solidFill>
          <a:ln/>
        </p:spPr>
      </p:sp>
      <p:sp>
        <p:nvSpPr>
          <p:cNvPr id="15" name="Text 13"/>
          <p:cNvSpPr/>
          <p:nvPr/>
        </p:nvSpPr>
        <p:spPr>
          <a:xfrm>
            <a:off x="640080" y="3794760"/>
            <a:ext cx="1828800" cy="22860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默念这句话</a:t>
            </a:r>
            <a:endParaRPr lang="en-US" sz="1100" dirty="0"/>
          </a:p>
        </p:txBody>
      </p:sp>
      <p:sp>
        <p:nvSpPr>
          <p:cNvPr id="16" name="Text 14"/>
          <p:cNvSpPr/>
          <p:nvPr/>
        </p:nvSpPr>
        <p:spPr>
          <a:xfrm>
            <a:off x="640080" y="4069080"/>
            <a:ext cx="7863840" cy="365760"/>
          </a:xfrm>
          <a:prstGeom prst="rect">
            <a:avLst/>
          </a:prstGeom>
          <a:noFill/>
          <a:ln/>
        </p:spPr>
        <p:txBody>
          <a:bodyPr wrap="square" rtlCol="0" anchor="ctr"/>
          <a:lstStyle/>
          <a:p>
            <a:pPr indent="0" marL="0">
              <a:buNone/>
            </a:pPr>
            <a:r>
              <a:rPr lang="en-US" sz="1600" b="1" i="1" dirty="0">
                <a:solidFill>
                  <a:srgbClr val="2B2D42"/>
                </a:solidFill>
                <a:latin typeface="Microsoft YaHei" pitchFamily="34" charset="0"/>
                <a:ea typeface="Microsoft YaHei" pitchFamily="34" charset="-122"/>
                <a:cs typeface="Microsoft YaHei" pitchFamily="34" charset="-120"/>
              </a:rPr>
              <a:t>"不管我已经经手过多少个案例，对他来说，这次都是唯一的一次"</a:t>
            </a:r>
            <a:endParaRPr lang="en-US" sz="1600" dirty="0"/>
          </a:p>
        </p:txBody>
      </p:sp>
      <p:sp>
        <p:nvSpPr>
          <p:cNvPr id="17" name="Shape 15"/>
          <p:cNvSpPr/>
          <p:nvPr/>
        </p:nvSpPr>
        <p:spPr>
          <a:xfrm>
            <a:off x="457200" y="4617720"/>
            <a:ext cx="8229600" cy="365760"/>
          </a:xfrm>
          <a:prstGeom prst="roundRect">
            <a:avLst>
              <a:gd name="adj" fmla="val 12500"/>
            </a:avLst>
          </a:prstGeom>
          <a:solidFill>
            <a:srgbClr val="8D99AE"/>
          </a:solidFill>
          <a:ln/>
        </p:spPr>
      </p:sp>
      <p:sp>
        <p:nvSpPr>
          <p:cNvPr id="18" name="Text 16"/>
          <p:cNvSpPr/>
          <p:nvPr/>
        </p:nvSpPr>
        <p:spPr>
          <a:xfrm>
            <a:off x="640080" y="4617720"/>
            <a:ext cx="7863840" cy="365760"/>
          </a:xfrm>
          <a:prstGeom prst="rect">
            <a:avLst/>
          </a:prstGeom>
          <a:noFill/>
          <a:ln/>
        </p:spPr>
        <p:txBody>
          <a:bodyPr wrap="square"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这句话至少能在我快要滑向"套路化"的时候，把我拉回来一点</a:t>
            </a:r>
            <a:endParaRPr lang="en-US" sz="13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rect">
            <a:avLst/>
          </a:prstGeom>
          <a:solidFill>
            <a:srgbClr val="2B2D42"/>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79</a:t>
            </a:r>
            <a:endParaRPr lang="en-US" sz="1600" dirty="0"/>
          </a:p>
        </p:txBody>
      </p:sp>
      <p:sp>
        <p:nvSpPr>
          <p:cNvPr id="4" name="Shape 2"/>
          <p:cNvSpPr/>
          <p:nvPr/>
        </p:nvSpPr>
        <p:spPr>
          <a:xfrm>
            <a:off x="457200" y="365760"/>
            <a:ext cx="1097280" cy="457200"/>
          </a:xfrm>
          <a:prstGeom prst="rect">
            <a:avLst/>
          </a:prstGeom>
          <a:solidFill>
            <a:srgbClr val="EF233C"/>
          </a:solidFill>
          <a:ln/>
        </p:spPr>
      </p:sp>
      <p:sp>
        <p:nvSpPr>
          <p:cNvPr id="5" name="Text 3"/>
          <p:cNvSpPr/>
          <p:nvPr/>
        </p:nvSpPr>
        <p:spPr>
          <a:xfrm>
            <a:off x="457200" y="365760"/>
            <a:ext cx="109728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Q&amp;A 7</a:t>
            </a:r>
            <a:endParaRPr lang="en-US" sz="1800" dirty="0"/>
          </a:p>
        </p:txBody>
      </p:sp>
      <p:sp>
        <p:nvSpPr>
          <p:cNvPr id="6" name="Text 4"/>
          <p:cNvSpPr/>
          <p:nvPr/>
        </p:nvSpPr>
        <p:spPr>
          <a:xfrm>
            <a:off x="1737360" y="365760"/>
            <a:ext cx="6400800" cy="45720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需要考什么证书吗</a:t>
            </a:r>
            <a:endParaRPr lang="en-US" sz="2800" dirty="0"/>
          </a:p>
        </p:txBody>
      </p:sp>
      <p:sp>
        <p:nvSpPr>
          <p:cNvPr id="7" name="Shape 5"/>
          <p:cNvSpPr/>
          <p:nvPr/>
        </p:nvSpPr>
        <p:spPr>
          <a:xfrm>
            <a:off x="457200" y="914400"/>
            <a:ext cx="8229600" cy="594360"/>
          </a:xfrm>
          <a:prstGeom prst="rect">
            <a:avLst/>
          </a:prstGeom>
          <a:solidFill>
            <a:srgbClr val="EDF2F4"/>
          </a:solidFill>
          <a:ln/>
        </p:spPr>
      </p:sp>
      <p:sp>
        <p:nvSpPr>
          <p:cNvPr id="8" name="Text 6"/>
          <p:cNvSpPr/>
          <p:nvPr/>
        </p:nvSpPr>
        <p:spPr>
          <a:xfrm>
            <a:off x="640080" y="914400"/>
            <a:ext cx="7863840" cy="594360"/>
          </a:xfrm>
          <a:prstGeom prst="rect">
            <a:avLst/>
          </a:prstGeom>
          <a:noFill/>
          <a:ln/>
        </p:spPr>
        <p:txBody>
          <a:bodyPr wrap="square" rtlCol="0" anchor="ctr"/>
          <a:lstStyle/>
          <a:p>
            <a:pPr indent="0" marL="0">
              <a:buNone/>
            </a:pPr>
            <a:r>
              <a:rPr lang="en-US" sz="1700" dirty="0">
                <a:solidFill>
                  <a:srgbClr val="2B2D42"/>
                </a:solidFill>
                <a:latin typeface="Microsoft YaHei" pitchFamily="34" charset="0"/>
                <a:ea typeface="Microsoft YaHei" pitchFamily="34" charset="-122"/>
                <a:cs typeface="Microsoft YaHei" pitchFamily="34" charset="-120"/>
              </a:rPr>
              <a:t>问题：这行需要考什么证书或者资质吗，还是纯粹靠经验积累就够了？</a:t>
            </a:r>
            <a:endParaRPr lang="en-US" sz="1700" dirty="0"/>
          </a:p>
        </p:txBody>
      </p:sp>
      <p:sp>
        <p:nvSpPr>
          <p:cNvPr id="9" name="Shape 7"/>
          <p:cNvSpPr/>
          <p:nvPr/>
        </p:nvSpPr>
        <p:spPr>
          <a:xfrm>
            <a:off x="457200" y="1691640"/>
            <a:ext cx="3977640" cy="1371600"/>
          </a:xfrm>
          <a:prstGeom prst="rect">
            <a:avLst/>
          </a:prstGeom>
          <a:solidFill>
            <a:srgbClr val="8D99AE"/>
          </a:solidFill>
          <a:ln/>
        </p:spPr>
      </p:sp>
      <p:sp>
        <p:nvSpPr>
          <p:cNvPr id="10" name="Text 8"/>
          <p:cNvSpPr/>
          <p:nvPr/>
        </p:nvSpPr>
        <p:spPr>
          <a:xfrm>
            <a:off x="640080" y="1783080"/>
            <a:ext cx="1371600" cy="274320"/>
          </a:xfrm>
          <a:prstGeom prst="rect">
            <a:avLst/>
          </a:prstGeom>
          <a:noFill/>
          <a:ln/>
        </p:spPr>
        <p:txBody>
          <a:bodyPr wrap="square"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现状</a:t>
            </a:r>
            <a:endParaRPr lang="en-US" sz="1200" dirty="0"/>
          </a:p>
        </p:txBody>
      </p:sp>
      <p:sp>
        <p:nvSpPr>
          <p:cNvPr id="11" name="Text 9"/>
          <p:cNvSpPr/>
          <p:nvPr/>
        </p:nvSpPr>
        <p:spPr>
          <a:xfrm>
            <a:off x="640080" y="2103120"/>
            <a:ext cx="3657600" cy="868680"/>
          </a:xfrm>
          <a:prstGeom prst="rect">
            <a:avLst/>
          </a:prstGeom>
          <a:noFill/>
          <a:ln/>
        </p:spPr>
        <p:txBody>
          <a:bodyPr wrap="square" rtlCol="0" anchor="ctr"/>
          <a:lstStyle/>
          <a:p>
            <a:pPr indent="0" marL="0">
              <a:buNone/>
            </a:pPr>
            <a:r>
              <a:rPr lang="en-US" sz="1500" dirty="0">
                <a:solidFill>
                  <a:srgbClr val="FFFFFF"/>
                </a:solidFill>
                <a:latin typeface="Microsoft YaHei" pitchFamily="34" charset="0"/>
                <a:ea typeface="Microsoft YaHei" pitchFamily="34" charset="-122"/>
                <a:cs typeface="Microsoft YaHei" pitchFamily="34" charset="-120"/>
              </a:rPr>
              <a:t>证书体系还比较松散</a:t>
            </a:r>
            <a:endParaRPr lang="en-US" sz="1500" dirty="0"/>
          </a:p>
          <a:p>
            <a:pPr indent="0" marL="0">
              <a:buNone/>
            </a:pPr>
            <a:r>
              <a:rPr lang="en-US" sz="1500" dirty="0">
                <a:solidFill>
                  <a:srgbClr val="FFFFFF"/>
                </a:solidFill>
                <a:latin typeface="Microsoft YaHei" pitchFamily="34" charset="0"/>
                <a:ea typeface="Microsoft YaHei" pitchFamily="34" charset="-122"/>
                <a:cs typeface="Microsoft YaHei" pitchFamily="34" charset="-120"/>
              </a:rPr>
              <a:t>市面上培训证书</a:t>
            </a:r>
            <a:endParaRPr lang="en-US" sz="1500" dirty="0"/>
          </a:p>
          <a:p>
            <a:pPr indent="0" marL="0">
              <a:buNone/>
            </a:pPr>
            <a:r>
              <a:rPr lang="en-US" sz="1500" dirty="0">
                <a:solidFill>
                  <a:srgbClr val="FFFFFF"/>
                </a:solidFill>
                <a:latin typeface="Microsoft YaHei" pitchFamily="34" charset="0"/>
                <a:ea typeface="Microsoft YaHei" pitchFamily="34" charset="-122"/>
                <a:cs typeface="Microsoft YaHei" pitchFamily="34" charset="-120"/>
              </a:rPr>
              <a:t>含金量参差不齐</a:t>
            </a:r>
            <a:endParaRPr lang="en-US" sz="1500" dirty="0"/>
          </a:p>
        </p:txBody>
      </p:sp>
      <p:sp>
        <p:nvSpPr>
          <p:cNvPr id="12" name="Shape 10"/>
          <p:cNvSpPr/>
          <p:nvPr/>
        </p:nvSpPr>
        <p:spPr>
          <a:xfrm>
            <a:off x="4709160" y="1691640"/>
            <a:ext cx="3977640" cy="1371600"/>
          </a:xfrm>
          <a:prstGeom prst="rect">
            <a:avLst/>
          </a:prstGeom>
          <a:solidFill>
            <a:srgbClr val="2B2D42"/>
          </a:solidFill>
          <a:ln/>
        </p:spPr>
      </p:sp>
      <p:sp>
        <p:nvSpPr>
          <p:cNvPr id="13" name="Text 11"/>
          <p:cNvSpPr/>
          <p:nvPr/>
        </p:nvSpPr>
        <p:spPr>
          <a:xfrm>
            <a:off x="4892040" y="1783080"/>
            <a:ext cx="1828800" cy="274320"/>
          </a:xfrm>
          <a:prstGeom prst="rect">
            <a:avLst/>
          </a:prstGeom>
          <a:noFill/>
          <a:ln/>
        </p:spPr>
        <p:txBody>
          <a:bodyPr wrap="square" rtlCol="0" anchor="ctr"/>
          <a:lstStyle/>
          <a:p>
            <a:pPr indent="0" marL="0">
              <a:buNone/>
            </a:pPr>
            <a:r>
              <a:rPr lang="en-US" sz="1200" dirty="0">
                <a:solidFill>
                  <a:srgbClr val="EDF2F4"/>
                </a:solidFill>
                <a:latin typeface="Microsoft YaHei" pitchFamily="34" charset="0"/>
                <a:ea typeface="Microsoft YaHei" pitchFamily="34" charset="-122"/>
                <a:cs typeface="Microsoft YaHei" pitchFamily="34" charset="-120"/>
              </a:rPr>
              <a:t>证书能证明的</a:t>
            </a:r>
            <a:endParaRPr lang="en-US" sz="1200" dirty="0"/>
          </a:p>
        </p:txBody>
      </p:sp>
      <p:sp>
        <p:nvSpPr>
          <p:cNvPr id="14" name="Text 12"/>
          <p:cNvSpPr/>
          <p:nvPr/>
        </p:nvSpPr>
        <p:spPr>
          <a:xfrm>
            <a:off x="4892040" y="2103120"/>
            <a:ext cx="3657600" cy="868680"/>
          </a:xfrm>
          <a:prstGeom prst="rect">
            <a:avLst/>
          </a:prstGeom>
          <a:noFill/>
          <a:ln/>
        </p:spPr>
        <p:txBody>
          <a:bodyPr wrap="square" rtlCol="0" anchor="ctr"/>
          <a:lstStyle/>
          <a:p>
            <a:pPr indent="0" marL="0">
              <a:buNone/>
            </a:pPr>
            <a:r>
              <a:rPr lang="en-US" sz="1600" dirty="0">
                <a:solidFill>
                  <a:srgbClr val="FFFFFF"/>
                </a:solidFill>
                <a:latin typeface="Microsoft YaHei" pitchFamily="34" charset="0"/>
                <a:ea typeface="Microsoft YaHei" pitchFamily="34" charset="-122"/>
                <a:cs typeface="Microsoft YaHei" pitchFamily="34" charset="-120"/>
              </a:rPr>
              <a:t>往往是政策和数据这一层的基础知识</a:t>
            </a:r>
            <a:endParaRPr lang="en-US" sz="1600" dirty="0"/>
          </a:p>
        </p:txBody>
      </p:sp>
      <p:sp>
        <p:nvSpPr>
          <p:cNvPr id="15" name="Shape 13"/>
          <p:cNvSpPr/>
          <p:nvPr/>
        </p:nvSpPr>
        <p:spPr>
          <a:xfrm>
            <a:off x="457200" y="3246120"/>
            <a:ext cx="8229600" cy="777240"/>
          </a:xfrm>
          <a:prstGeom prst="rect">
            <a:avLst/>
          </a:prstGeom>
          <a:solidFill>
            <a:srgbClr val="EF233C"/>
          </a:solidFill>
          <a:ln/>
        </p:spPr>
      </p:sp>
      <p:sp>
        <p:nvSpPr>
          <p:cNvPr id="16" name="Text 14"/>
          <p:cNvSpPr/>
          <p:nvPr/>
        </p:nvSpPr>
        <p:spPr>
          <a:xfrm>
            <a:off x="640080" y="3337560"/>
            <a:ext cx="1371600" cy="228600"/>
          </a:xfrm>
          <a:prstGeom prst="rect">
            <a:avLst/>
          </a:prstGeom>
          <a:noFill/>
          <a:ln/>
        </p:spPr>
        <p:txBody>
          <a:bodyPr wrap="square" rtlCol="0" anchor="ct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关键洞见</a:t>
            </a:r>
            <a:endParaRPr lang="en-US" sz="1100" dirty="0"/>
          </a:p>
        </p:txBody>
      </p:sp>
      <p:sp>
        <p:nvSpPr>
          <p:cNvPr id="17" name="Text 15"/>
          <p:cNvSpPr/>
          <p:nvPr/>
        </p:nvSpPr>
        <p:spPr>
          <a:xfrm>
            <a:off x="640080" y="3611880"/>
            <a:ext cx="78638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这行真正拉开差距的判断力和产业认知，没有一张证书能替你背书</a:t>
            </a:r>
            <a:endParaRPr lang="en-US" sz="1600" dirty="0"/>
          </a:p>
        </p:txBody>
      </p:sp>
      <p:sp>
        <p:nvSpPr>
          <p:cNvPr id="18" name="Shape 16"/>
          <p:cNvSpPr/>
          <p:nvPr/>
        </p:nvSpPr>
        <p:spPr>
          <a:xfrm>
            <a:off x="457200" y="4206240"/>
            <a:ext cx="8229600" cy="731520"/>
          </a:xfrm>
          <a:prstGeom prst="rect">
            <a:avLst/>
          </a:prstGeom>
          <a:solidFill>
            <a:srgbClr val="EDF2F4"/>
          </a:solidFill>
          <a:ln/>
        </p:spPr>
      </p:sp>
      <p:sp>
        <p:nvSpPr>
          <p:cNvPr id="19" name="Text 17"/>
          <p:cNvSpPr/>
          <p:nvPr/>
        </p:nvSpPr>
        <p:spPr>
          <a:xfrm>
            <a:off x="640080" y="4297680"/>
            <a:ext cx="914400" cy="22860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建议</a:t>
            </a:r>
            <a:endParaRPr lang="en-US" sz="1100" dirty="0"/>
          </a:p>
        </p:txBody>
      </p:sp>
      <p:sp>
        <p:nvSpPr>
          <p:cNvPr id="20" name="Text 18"/>
          <p:cNvSpPr/>
          <p:nvPr/>
        </p:nvSpPr>
        <p:spPr>
          <a:xfrm>
            <a:off x="640080" y="4572000"/>
            <a:ext cx="7863840" cy="320040"/>
          </a:xfrm>
          <a:prstGeom prst="rect">
            <a:avLst/>
          </a:prstGeom>
          <a:noFill/>
          <a:ln/>
        </p:spPr>
        <p:txBody>
          <a:bodyPr wrap="square" rtlCol="0" anchor="ctr"/>
          <a:lstStyle/>
          <a:p>
            <a:pPr indent="0" marL="0">
              <a:buNone/>
            </a:pPr>
            <a:r>
              <a:rPr lang="en-US" sz="1400" dirty="0">
                <a:solidFill>
                  <a:srgbClr val="2B2D42"/>
                </a:solidFill>
                <a:latin typeface="Microsoft YaHei" pitchFamily="34" charset="0"/>
                <a:ea typeface="Microsoft YaHei" pitchFamily="34" charset="-122"/>
                <a:cs typeface="Microsoft YaHei" pitchFamily="34" charset="-120"/>
              </a:rPr>
              <a:t>先把政策和基础规则学扎实，同时尽早开始接触真实的孩子和家庭，理论和实战最好同步进行</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8412480" y="274320"/>
            <a:ext cx="457200" cy="457200"/>
          </a:xfrm>
          <a:prstGeom prst="ellipse">
            <a:avLst/>
          </a:prstGeom>
          <a:solidFill>
            <a:srgbClr val="2B2D42"/>
          </a:solidFill>
          <a:ln/>
        </p:spPr>
      </p:sp>
      <p:sp>
        <p:nvSpPr>
          <p:cNvPr id="3" name="Text 1"/>
          <p:cNvSpPr/>
          <p:nvPr/>
        </p:nvSpPr>
        <p:spPr>
          <a:xfrm>
            <a:off x="8412480" y="274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80</a:t>
            </a:r>
            <a:endParaRPr lang="en-US" sz="1600" dirty="0"/>
          </a:p>
        </p:txBody>
      </p:sp>
      <p:sp>
        <p:nvSpPr>
          <p:cNvPr id="4" name="Shape 2"/>
          <p:cNvSpPr/>
          <p:nvPr/>
        </p:nvSpPr>
        <p:spPr>
          <a:xfrm>
            <a:off x="457200" y="365760"/>
            <a:ext cx="1097280" cy="457200"/>
          </a:xfrm>
          <a:prstGeom prst="roundRect">
            <a:avLst>
              <a:gd name="adj" fmla="val 10000"/>
            </a:avLst>
          </a:prstGeom>
          <a:solidFill>
            <a:srgbClr val="EF233C"/>
          </a:solidFill>
          <a:ln/>
        </p:spPr>
      </p:sp>
      <p:sp>
        <p:nvSpPr>
          <p:cNvPr id="5" name="Text 3"/>
          <p:cNvSpPr/>
          <p:nvPr/>
        </p:nvSpPr>
        <p:spPr>
          <a:xfrm>
            <a:off x="457200" y="365760"/>
            <a:ext cx="109728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Q&amp;A 5</a:t>
            </a:r>
            <a:endParaRPr lang="en-US" sz="1800" dirty="0"/>
          </a:p>
        </p:txBody>
      </p:sp>
      <p:sp>
        <p:nvSpPr>
          <p:cNvPr id="6" name="Text 4"/>
          <p:cNvSpPr/>
          <p:nvPr/>
        </p:nvSpPr>
        <p:spPr>
          <a:xfrm>
            <a:off x="1737360" y="365760"/>
            <a:ext cx="6400800" cy="457200"/>
          </a:xfrm>
          <a:prstGeom prst="rect">
            <a:avLst/>
          </a:prstGeom>
          <a:noFill/>
          <a:ln/>
        </p:spPr>
        <p:txBody>
          <a:bodyPr wrap="square" rtlCol="0" anchor="ctr"/>
          <a:lstStyle/>
          <a:p>
            <a:pPr indent="0" marL="0">
              <a:buNone/>
            </a:pPr>
            <a:r>
              <a:rPr lang="en-US" sz="2800" b="1" dirty="0">
                <a:solidFill>
                  <a:srgbClr val="2B2D42"/>
                </a:solidFill>
                <a:latin typeface="Microsoft YaHei" pitchFamily="34" charset="0"/>
                <a:ea typeface="Microsoft YaHei" pitchFamily="34" charset="-122"/>
                <a:cs typeface="Microsoft YaHei" pitchFamily="34" charset="-120"/>
              </a:rPr>
              <a:t>一年服务多少学生才算扎实</a:t>
            </a:r>
            <a:endParaRPr lang="en-US" sz="2800" dirty="0"/>
          </a:p>
        </p:txBody>
      </p:sp>
      <p:sp>
        <p:nvSpPr>
          <p:cNvPr id="7" name="Shape 5"/>
          <p:cNvSpPr/>
          <p:nvPr/>
        </p:nvSpPr>
        <p:spPr>
          <a:xfrm>
            <a:off x="457200" y="914400"/>
            <a:ext cx="8229600" cy="594360"/>
          </a:xfrm>
          <a:prstGeom prst="roundRect">
            <a:avLst>
              <a:gd name="adj" fmla="val 7692"/>
            </a:avLst>
          </a:prstGeom>
          <a:solidFill>
            <a:srgbClr val="EDF2F4"/>
          </a:solidFill>
          <a:ln/>
        </p:spPr>
      </p:sp>
      <p:sp>
        <p:nvSpPr>
          <p:cNvPr id="8" name="Text 6"/>
          <p:cNvSpPr/>
          <p:nvPr/>
        </p:nvSpPr>
        <p:spPr>
          <a:xfrm>
            <a:off x="640080" y="914400"/>
            <a:ext cx="7863840" cy="594360"/>
          </a:xfrm>
          <a:prstGeom prst="rect">
            <a:avLst/>
          </a:prstGeom>
          <a:noFill/>
          <a:ln/>
        </p:spPr>
        <p:txBody>
          <a:bodyPr wrap="square" rtlCol="0" anchor="ctr"/>
          <a:lstStyle/>
          <a:p>
            <a:pPr indent="0" marL="0">
              <a:buNone/>
            </a:pPr>
            <a:r>
              <a:rPr lang="en-US" sz="1700" dirty="0">
                <a:solidFill>
                  <a:srgbClr val="2B2D42"/>
                </a:solidFill>
                <a:latin typeface="Microsoft YaHei" pitchFamily="34" charset="0"/>
                <a:ea typeface="Microsoft YaHei" pitchFamily="34" charset="-122"/>
                <a:cs typeface="Microsoft YaHei" pitchFamily="34" charset="-120"/>
              </a:rPr>
              <a:t>问题：一个人一年大概能服务多少个学生，才算是把这份工作做扎实了，而不是在赶数量？</a:t>
            </a:r>
            <a:endParaRPr lang="en-US" sz="1700" dirty="0"/>
          </a:p>
        </p:txBody>
      </p:sp>
      <p:sp>
        <p:nvSpPr>
          <p:cNvPr id="9" name="Shape 7"/>
          <p:cNvSpPr/>
          <p:nvPr/>
        </p:nvSpPr>
        <p:spPr>
          <a:xfrm>
            <a:off x="457200" y="1691640"/>
            <a:ext cx="8229600" cy="640080"/>
          </a:xfrm>
          <a:prstGeom prst="roundRect">
            <a:avLst>
              <a:gd name="adj" fmla="val 11429"/>
            </a:avLst>
          </a:prstGeom>
          <a:solidFill>
            <a:srgbClr val="2B2D42"/>
          </a:solidFill>
          <a:ln/>
        </p:spPr>
      </p:sp>
      <p:sp>
        <p:nvSpPr>
          <p:cNvPr id="10" name="Text 8"/>
          <p:cNvSpPr/>
          <p:nvPr/>
        </p:nvSpPr>
        <p:spPr>
          <a:xfrm>
            <a:off x="640080" y="1691640"/>
            <a:ext cx="7863840" cy="640080"/>
          </a:xfrm>
          <a:prstGeom prst="rect">
            <a:avLst/>
          </a:prstGeom>
          <a:noFill/>
          <a:ln/>
        </p:spPr>
        <p:txBody>
          <a:bodyPr wrap="square" rtlCol="0" anchor="ctr"/>
          <a:lstStyle/>
          <a:p>
            <a:pPr indent="0" marL="0">
              <a:buNone/>
            </a:pPr>
            <a:r>
              <a:rPr lang="en-US" sz="1600" dirty="0">
                <a:solidFill>
                  <a:srgbClr val="FFFFFF"/>
                </a:solidFill>
                <a:latin typeface="Microsoft YaHei" pitchFamily="34" charset="0"/>
                <a:ea typeface="Microsoft YaHei" pitchFamily="34" charset="-122"/>
                <a:cs typeface="Microsoft YaHei" pitchFamily="34" charset="-120"/>
              </a:rPr>
              <a:t>不太愿意给一个具体数字，因为每个人的精力和方法都不一样</a:t>
            </a:r>
            <a:endParaRPr lang="en-US" sz="1600" dirty="0"/>
          </a:p>
        </p:txBody>
      </p:sp>
      <p:sp>
        <p:nvSpPr>
          <p:cNvPr id="11" name="Shape 9"/>
          <p:cNvSpPr/>
          <p:nvPr/>
        </p:nvSpPr>
        <p:spPr>
          <a:xfrm>
            <a:off x="457200" y="2514600"/>
            <a:ext cx="8229600" cy="1005840"/>
          </a:xfrm>
          <a:prstGeom prst="roundRect">
            <a:avLst>
              <a:gd name="adj" fmla="val 4545"/>
            </a:avLst>
          </a:prstGeom>
          <a:solidFill>
            <a:srgbClr val="EDF2F4"/>
          </a:solidFill>
          <a:ln/>
        </p:spPr>
      </p:sp>
      <p:sp>
        <p:nvSpPr>
          <p:cNvPr id="12" name="Text 10"/>
          <p:cNvSpPr/>
          <p:nvPr/>
        </p:nvSpPr>
        <p:spPr>
          <a:xfrm>
            <a:off x="640080" y="2606040"/>
            <a:ext cx="1828800" cy="228600"/>
          </a:xfrm>
          <a:prstGeom prst="rect">
            <a:avLst/>
          </a:prstGeom>
          <a:noFill/>
          <a:ln/>
        </p:spPr>
        <p:txBody>
          <a:bodyPr wrap="square" rtlCol="0" anchor="ctr"/>
          <a:lstStyle/>
          <a:p>
            <a:pPr indent="0" marL="0">
              <a:buNone/>
            </a:pPr>
            <a:r>
              <a:rPr lang="en-US" sz="1100" dirty="0">
                <a:solidFill>
                  <a:srgbClr val="8D99AE"/>
                </a:solidFill>
                <a:latin typeface="Microsoft YaHei" pitchFamily="34" charset="0"/>
                <a:ea typeface="Microsoft YaHei" pitchFamily="34" charset="-122"/>
                <a:cs typeface="Microsoft YaHei" pitchFamily="34" charset="-120"/>
              </a:rPr>
              <a:t>自我检验方法</a:t>
            </a:r>
            <a:endParaRPr lang="en-US" sz="1100" dirty="0"/>
          </a:p>
        </p:txBody>
      </p:sp>
      <p:sp>
        <p:nvSpPr>
          <p:cNvPr id="13" name="Text 11"/>
          <p:cNvSpPr/>
          <p:nvPr/>
        </p:nvSpPr>
        <p:spPr>
          <a:xfrm>
            <a:off x="640080" y="2880360"/>
            <a:ext cx="7863840" cy="594360"/>
          </a:xfrm>
          <a:prstGeom prst="rect">
            <a:avLst/>
          </a:prstGeom>
          <a:noFill/>
          <a:ln/>
        </p:spPr>
        <p:txBody>
          <a:bodyPr wrap="square" rtlCol="0" anchor="ctr"/>
          <a:lstStyle/>
          <a:p>
            <a:pPr indent="0" marL="0">
              <a:buNone/>
            </a:pPr>
            <a:r>
              <a:rPr lang="en-US" sz="1500" dirty="0">
                <a:solidFill>
                  <a:srgbClr val="2B2D42"/>
                </a:solidFill>
                <a:latin typeface="Microsoft YaHei" pitchFamily="34" charset="0"/>
                <a:ea typeface="Microsoft YaHei" pitchFamily="34" charset="-122"/>
                <a:cs typeface="Microsoft YaHei" pitchFamily="34" charset="-120"/>
              </a:rPr>
              <a:t>如果发现自己已经记不清某个学生具体聊过什么、纠结过什么、最后是怎么想通的，只记得分数段和学校名字</a:t>
            </a:r>
            <a:endParaRPr lang="en-US" sz="1500" dirty="0"/>
          </a:p>
        </p:txBody>
      </p:sp>
      <p:sp>
        <p:nvSpPr>
          <p:cNvPr id="14" name="Shape 12"/>
          <p:cNvSpPr/>
          <p:nvPr/>
        </p:nvSpPr>
        <p:spPr>
          <a:xfrm>
            <a:off x="457200" y="3703320"/>
            <a:ext cx="8229600" cy="594360"/>
          </a:xfrm>
          <a:prstGeom prst="roundRect">
            <a:avLst>
              <a:gd name="adj" fmla="val 7692"/>
            </a:avLst>
          </a:prstGeom>
          <a:solidFill>
            <a:srgbClr val="EF233C"/>
          </a:solidFill>
          <a:ln/>
        </p:spPr>
      </p:sp>
      <p:sp>
        <p:nvSpPr>
          <p:cNvPr id="15" name="Text 13"/>
          <p:cNvSpPr/>
          <p:nvPr/>
        </p:nvSpPr>
        <p:spPr>
          <a:xfrm>
            <a:off x="640080" y="3703320"/>
            <a:ext cx="7863840" cy="5943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信号：说明手上的量已经超过了自己能真正投入判断力的上限</a:t>
            </a:r>
            <a:endParaRPr lang="en-US" sz="1600" dirty="0"/>
          </a:p>
        </p:txBody>
      </p:sp>
      <p:sp>
        <p:nvSpPr>
          <p:cNvPr id="16" name="Shape 14"/>
          <p:cNvSpPr/>
          <p:nvPr/>
        </p:nvSpPr>
        <p:spPr>
          <a:xfrm>
            <a:off x="457200" y="4480560"/>
            <a:ext cx="8229600" cy="457200"/>
          </a:xfrm>
          <a:prstGeom prst="roundRect">
            <a:avLst>
              <a:gd name="adj" fmla="val 10000"/>
            </a:avLst>
          </a:prstGeom>
          <a:solidFill>
            <a:srgbClr val="8D99AE"/>
          </a:solidFill>
          <a:ln/>
        </p:spPr>
      </p:sp>
      <p:sp>
        <p:nvSpPr>
          <p:cNvPr id="17" name="Text 15"/>
          <p:cNvSpPr/>
          <p:nvPr/>
        </p:nvSpPr>
        <p:spPr>
          <a:xfrm>
            <a:off x="640080" y="4480560"/>
            <a:ext cx="7863840" cy="457200"/>
          </a:xfrm>
          <a:prstGeom prst="rect">
            <a:avLst/>
          </a:prstGeom>
          <a:noFill/>
          <a:ln/>
        </p:spPr>
        <p:txBody>
          <a:bodyPr wrap="square"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这时候该考虑的不是怎么再挤出效率来多接几个，是要不要停下来，重新回到"少而扎实"这条路径上</a:t>
            </a:r>
            <a:endParaRPr lang="en-US" sz="13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02920"/>
          </a:xfrm>
          <a:prstGeom prst="rect">
            <a:avLst/>
          </a:prstGeom>
          <a:noFill/>
          <a:ln/>
        </p:spPr>
        <p:txBody>
          <a:bodyPr wrap="square" rtlCol="0" anchor="ctr"/>
          <a:lstStyle/>
          <a:p>
            <a:pPr algn="l" indent="0" marL="0">
              <a:buNone/>
            </a:pPr>
            <a:r>
              <a:rPr lang="en-US" sz="2600" b="1" dirty="0">
                <a:solidFill>
                  <a:srgbClr val="2B2D42"/>
                </a:solidFill>
                <a:latin typeface="Microsoft YaHei" pitchFamily="34" charset="0"/>
                <a:ea typeface="Microsoft YaHei" pitchFamily="34" charset="-122"/>
                <a:cs typeface="Microsoft YaHei" pitchFamily="34" charset="-120"/>
              </a:rPr>
              <a:t>写给同行</a:t>
            </a:r>
            <a:endParaRPr lang="en-US" sz="2600" dirty="0"/>
          </a:p>
        </p:txBody>
      </p:sp>
      <p:sp>
        <p:nvSpPr>
          <p:cNvPr id="4" name="Shape 2"/>
          <p:cNvSpPr/>
          <p:nvPr/>
        </p:nvSpPr>
        <p:spPr>
          <a:xfrm>
            <a:off x="457200" y="1005840"/>
            <a:ext cx="8229600" cy="822960"/>
          </a:xfrm>
          <a:prstGeom prst="roundRect">
            <a:avLst>
              <a:gd name="adj" fmla="val 11111"/>
            </a:avLst>
          </a:prstGeom>
          <a:solidFill>
            <a:srgbClr val="2B2D42"/>
          </a:solidFill>
          <a:ln/>
        </p:spPr>
      </p:sp>
      <p:sp>
        <p:nvSpPr>
          <p:cNvPr id="5" name="Text 3"/>
          <p:cNvSpPr/>
          <p:nvPr/>
        </p:nvSpPr>
        <p:spPr>
          <a:xfrm>
            <a:off x="640080" y="1005840"/>
            <a:ext cx="7863840" cy="822960"/>
          </a:xfrm>
          <a:prstGeom prst="rect">
            <a:avLst/>
          </a:prstGeom>
          <a:noFill/>
          <a:ln/>
        </p:spPr>
        <p:txBody>
          <a:bodyPr wrap="square" rtlCol="0" anchor="ctr"/>
          <a:lstStyle/>
          <a:p>
            <a:pPr algn="ctr" indent="0" marL="0">
              <a:buNone/>
            </a:pPr>
            <a:r>
              <a:rPr lang="en-US" sz="2200" b="1" dirty="0">
                <a:solidFill>
                  <a:srgbClr val="FFFFFF"/>
                </a:solidFill>
                <a:latin typeface="Microsoft YaHei" pitchFamily="34" charset="0"/>
                <a:ea typeface="Microsoft YaHei" pitchFamily="34" charset="-122"/>
                <a:cs typeface="Microsoft YaHei" pitchFamily="34" charset="-120"/>
              </a:rPr>
              <a:t>“冲稳保是语法，不是方法”</a:t>
            </a:r>
            <a:endParaRPr lang="en-US" sz="2200" dirty="0"/>
          </a:p>
        </p:txBody>
      </p:sp>
      <p:sp>
        <p:nvSpPr>
          <p:cNvPr id="6" name="Shape 4"/>
          <p:cNvSpPr/>
          <p:nvPr/>
        </p:nvSpPr>
        <p:spPr>
          <a:xfrm>
            <a:off x="457200" y="2011680"/>
            <a:ext cx="8229600" cy="640080"/>
          </a:xfrm>
          <a:prstGeom prst="roundRect">
            <a:avLst>
              <a:gd name="adj" fmla="val 11429"/>
            </a:avLst>
          </a:prstGeom>
          <a:solidFill>
            <a:srgbClr val="EDF2F4"/>
          </a:solidFill>
          <a:ln/>
        </p:spPr>
      </p:sp>
      <p:sp>
        <p:nvSpPr>
          <p:cNvPr id="7" name="Text 5"/>
          <p:cNvSpPr/>
          <p:nvPr/>
        </p:nvSpPr>
        <p:spPr>
          <a:xfrm>
            <a:off x="640080" y="2011680"/>
            <a:ext cx="7863840" cy="640080"/>
          </a:xfrm>
          <a:prstGeom prst="rect">
            <a:avLst/>
          </a:prstGeom>
          <a:noFill/>
          <a:ln/>
        </p:spPr>
        <p:txBody>
          <a:bodyPr wrap="square" rtlCol="0" anchor="ctr"/>
          <a:lstStyle/>
          <a:p>
            <a:pPr algn="ctr" indent="0" marL="0">
              <a:buNone/>
            </a:pPr>
            <a:r>
              <a:rPr lang="en-US" sz="1400" dirty="0">
                <a:solidFill>
                  <a:srgbClr val="2B2D42"/>
                </a:solidFill>
                <a:latin typeface="Microsoft YaHei" pitchFamily="34" charset="0"/>
                <a:ea typeface="Microsoft YaHei" pitchFamily="34" charset="-122"/>
                <a:cs typeface="Microsoft YaHei" pitchFamily="34" charset="-120"/>
              </a:rPr>
              <a:t>工具会越做越好，我们迟早会在这部分上输给工具，这不丢人</a:t>
            </a:r>
            <a:endParaRPr lang="en-US" sz="1400" dirty="0"/>
          </a:p>
        </p:txBody>
      </p:sp>
      <p:sp>
        <p:nvSpPr>
          <p:cNvPr id="8" name="Shape 6"/>
          <p:cNvSpPr/>
          <p:nvPr/>
        </p:nvSpPr>
        <p:spPr>
          <a:xfrm>
            <a:off x="457200" y="2834640"/>
            <a:ext cx="8229600" cy="1005840"/>
          </a:xfrm>
          <a:prstGeom prst="roundRect">
            <a:avLst>
              <a:gd name="adj" fmla="val 9091"/>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457200" y="2834640"/>
            <a:ext cx="73152" cy="1005840"/>
          </a:xfrm>
          <a:prstGeom prst="rect">
            <a:avLst/>
          </a:prstGeom>
          <a:solidFill>
            <a:srgbClr val="EF233C"/>
          </a:solidFill>
          <a:ln/>
        </p:spPr>
      </p:sp>
      <p:sp>
        <p:nvSpPr>
          <p:cNvPr id="10" name="Text 8"/>
          <p:cNvSpPr/>
          <p:nvPr/>
        </p:nvSpPr>
        <p:spPr>
          <a:xfrm>
            <a:off x="731520" y="2926080"/>
            <a:ext cx="7772400" cy="365760"/>
          </a:xfrm>
          <a:prstGeom prst="rect">
            <a:avLst/>
          </a:prstGeom>
          <a:noFill/>
          <a:ln/>
        </p:spPr>
        <p:txBody>
          <a:bodyPr wrap="square" rtlCol="0" anchor="ctr"/>
          <a:lstStyle/>
          <a:p>
            <a:pPr algn="l" indent="0" marL="0">
              <a:buNone/>
            </a:pPr>
            <a:r>
              <a:rPr lang="en-US" sz="1300" dirty="0">
                <a:solidFill>
                  <a:srgbClr val="8D99AE"/>
                </a:solidFill>
                <a:latin typeface="Microsoft YaHei" pitchFamily="34" charset="0"/>
                <a:ea typeface="Microsoft YaHei" pitchFamily="34" charset="-122"/>
                <a:cs typeface="Microsoft YaHei" pitchFamily="34" charset="-120"/>
              </a:rPr>
              <a:t>但“冲稳保”之前那道题——</a:t>
            </a:r>
            <a:endParaRPr lang="en-US" sz="1300" dirty="0"/>
          </a:p>
        </p:txBody>
      </p:sp>
      <p:sp>
        <p:nvSpPr>
          <p:cNvPr id="11" name="Text 9"/>
          <p:cNvSpPr/>
          <p:nvPr/>
        </p:nvSpPr>
        <p:spPr>
          <a:xfrm>
            <a:off x="731520" y="3246120"/>
            <a:ext cx="7772400" cy="320040"/>
          </a:xfrm>
          <a:prstGeom prst="rect">
            <a:avLst/>
          </a:prstGeom>
          <a:noFill/>
          <a:ln/>
        </p:spPr>
        <p:txBody>
          <a:bodyPr wrap="square" rtlCol="0" anchor="ctr"/>
          <a:lstStyle/>
          <a:p>
            <a:pPr algn="l" indent="0" marL="0">
              <a:buNone/>
            </a:pPr>
            <a:r>
              <a:rPr lang="en-US" sz="1500" b="1" dirty="0">
                <a:solidFill>
                  <a:srgbClr val="2B2D42"/>
                </a:solidFill>
                <a:latin typeface="Microsoft YaHei" pitchFamily="34" charset="0"/>
                <a:ea typeface="Microsoft YaHei" pitchFamily="34" charset="-122"/>
                <a:cs typeface="Microsoft YaHei" pitchFamily="34" charset="-120"/>
              </a:rPr>
              <a:t>这个人是谁，他该往哪走——</a:t>
            </a:r>
            <a:endParaRPr lang="en-US" sz="1500" dirty="0"/>
          </a:p>
        </p:txBody>
      </p:sp>
      <p:sp>
        <p:nvSpPr>
          <p:cNvPr id="12" name="Text 10"/>
          <p:cNvSpPr/>
          <p:nvPr/>
        </p:nvSpPr>
        <p:spPr>
          <a:xfrm>
            <a:off x="731520" y="3566160"/>
            <a:ext cx="7772400" cy="274320"/>
          </a:xfrm>
          <a:prstGeom prst="rect">
            <a:avLst/>
          </a:prstGeom>
          <a:noFill/>
          <a:ln/>
        </p:spPr>
        <p:txBody>
          <a:bodyPr wrap="square" rtlCol="0" anchor="ctr"/>
          <a:lstStyle/>
          <a:p>
            <a:pPr algn="l" indent="0" marL="0">
              <a:buNone/>
            </a:pPr>
            <a:r>
              <a:rPr lang="en-US" sz="1300" b="1" dirty="0">
                <a:solidFill>
                  <a:srgbClr val="EF233C"/>
                </a:solidFill>
                <a:latin typeface="Microsoft YaHei" pitchFamily="34" charset="0"/>
                <a:ea typeface="Microsoft YaHei" pitchFamily="34" charset="-122"/>
                <a:cs typeface="Microsoft YaHei" pitchFamily="34" charset="-120"/>
              </a:rPr>
              <a:t>这道题，工具短期内答不了</a:t>
            </a:r>
            <a:endParaRPr lang="en-US" sz="1300" dirty="0"/>
          </a:p>
        </p:txBody>
      </p:sp>
      <p:sp>
        <p:nvSpPr>
          <p:cNvPr id="13" name="Shape 11"/>
          <p:cNvSpPr/>
          <p:nvPr/>
        </p:nvSpPr>
        <p:spPr>
          <a:xfrm>
            <a:off x="457200" y="4023360"/>
            <a:ext cx="8229600" cy="731520"/>
          </a:xfrm>
          <a:prstGeom prst="roundRect">
            <a:avLst>
              <a:gd name="adj" fmla="val 10000"/>
            </a:avLst>
          </a:prstGeom>
          <a:solidFill>
            <a:srgbClr val="EF233C"/>
          </a:solidFill>
          <a:ln/>
        </p:spPr>
      </p:sp>
      <p:sp>
        <p:nvSpPr>
          <p:cNvPr id="14" name="Text 12"/>
          <p:cNvSpPr/>
          <p:nvPr/>
        </p:nvSpPr>
        <p:spPr>
          <a:xfrm>
            <a:off x="640080" y="4023360"/>
            <a:ext cx="7863840" cy="731520"/>
          </a:xfrm>
          <a:prstGeom prst="rect">
            <a:avLst/>
          </a:prstGeom>
          <a:noFill/>
          <a:ln/>
        </p:spPr>
        <p:txBody>
          <a:bodyPr wrap="square" rtlCol="0" anchor="ct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只有愿意花时间、花心思，真正坐下来跟一个具体的人聊透的人</a:t>
            </a:r>
            <a:endParaRPr lang="en-US" sz="1500" dirty="0"/>
          </a:p>
        </p:txBody>
      </p:sp>
      <p:sp>
        <p:nvSpPr>
          <p:cNvPr id="15" name="Shape 13"/>
          <p:cNvSpPr/>
          <p:nvPr/>
        </p:nvSpPr>
        <p:spPr>
          <a:xfrm>
            <a:off x="8412480" y="4709160"/>
            <a:ext cx="548640" cy="320040"/>
          </a:xfrm>
          <a:prstGeom prst="roundRect">
            <a:avLst>
              <a:gd name="adj" fmla="val 14286"/>
            </a:avLst>
          </a:prstGeom>
          <a:solidFill>
            <a:srgbClr val="8D99AE"/>
          </a:solidFill>
          <a:ln/>
        </p:spPr>
      </p:sp>
      <p:sp>
        <p:nvSpPr>
          <p:cNvPr id="16" name="Text 14"/>
          <p:cNvSpPr/>
          <p:nvPr/>
        </p:nvSpPr>
        <p:spPr>
          <a:xfrm>
            <a:off x="8412480" y="4709160"/>
            <a:ext cx="54864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81</a:t>
            </a:r>
            <a:endParaRPr lang="en-US" sz="1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02920"/>
          </a:xfrm>
          <a:prstGeom prst="rect">
            <a:avLst/>
          </a:prstGeom>
          <a:noFill/>
          <a:ln/>
        </p:spPr>
        <p:txBody>
          <a:bodyPr wrap="square" rtlCol="0" anchor="ctr"/>
          <a:lstStyle/>
          <a:p>
            <a:pPr algn="l" indent="0" marL="0">
              <a:buNone/>
            </a:pPr>
            <a:r>
              <a:rPr lang="en-US" sz="2600" b="1" dirty="0">
                <a:solidFill>
                  <a:srgbClr val="2B2D42"/>
                </a:solidFill>
                <a:latin typeface="Microsoft YaHei" pitchFamily="34" charset="0"/>
                <a:ea typeface="Microsoft YaHei" pitchFamily="34" charset="-122"/>
                <a:cs typeface="Microsoft YaHei" pitchFamily="34" charset="-120"/>
              </a:rPr>
              <a:t>写给同行（续）</a:t>
            </a:r>
            <a:endParaRPr lang="en-US" sz="2600" dirty="0"/>
          </a:p>
        </p:txBody>
      </p:sp>
      <p:sp>
        <p:nvSpPr>
          <p:cNvPr id="4" name="Shape 2"/>
          <p:cNvSpPr/>
          <p:nvPr/>
        </p:nvSpPr>
        <p:spPr>
          <a:xfrm>
            <a:off x="457200" y="1005840"/>
            <a:ext cx="8229600" cy="731520"/>
          </a:xfrm>
          <a:prstGeom prst="roundRect">
            <a:avLst>
              <a:gd name="adj" fmla="val 10000"/>
            </a:avLst>
          </a:prstGeom>
          <a:solidFill>
            <a:srgbClr val="EDF2F4"/>
          </a:solidFill>
          <a:ln/>
        </p:spPr>
      </p:sp>
      <p:sp>
        <p:nvSpPr>
          <p:cNvPr id="5" name="Text 3"/>
          <p:cNvSpPr/>
          <p:nvPr/>
        </p:nvSpPr>
        <p:spPr>
          <a:xfrm>
            <a:off x="640080" y="1005840"/>
            <a:ext cx="7863840" cy="731520"/>
          </a:xfrm>
          <a:prstGeom prst="rect">
            <a:avLst/>
          </a:prstGeom>
          <a:noFill/>
          <a:ln/>
        </p:spPr>
        <p:txBody>
          <a:bodyPr wrap="square" rtlCol="0" anchor="ctr"/>
          <a:lstStyle/>
          <a:p>
            <a:pPr algn="ctr" indent="0" marL="0">
              <a:buNone/>
            </a:pPr>
            <a:r>
              <a:rPr lang="en-US" sz="1400" dirty="0">
                <a:solidFill>
                  <a:srgbClr val="8D99AE"/>
                </a:solidFill>
                <a:latin typeface="Microsoft YaHei" pitchFamily="34" charset="0"/>
                <a:ea typeface="Microsoft YaHei" pitchFamily="34" charset="-122"/>
                <a:cs typeface="Microsoft YaHei" pitchFamily="34" charset="-120"/>
              </a:rPr>
              <a:t>不知道这个行业十年后会变成什么样，没有人能百分百确定</a:t>
            </a:r>
            <a:endParaRPr lang="en-US" sz="1400" dirty="0"/>
          </a:p>
        </p:txBody>
      </p:sp>
      <p:sp>
        <p:nvSpPr>
          <p:cNvPr id="6" name="Shape 4"/>
          <p:cNvSpPr/>
          <p:nvPr/>
        </p:nvSpPr>
        <p:spPr>
          <a:xfrm>
            <a:off x="457200" y="1920240"/>
            <a:ext cx="8229600" cy="914400"/>
          </a:xfrm>
          <a:prstGeom prst="roundRect">
            <a:avLst>
              <a:gd name="adj" fmla="val 10000"/>
            </a:avLst>
          </a:prstGeom>
          <a:solidFill>
            <a:srgbClr val="2B2D42"/>
          </a:solidFill>
          <a:ln/>
        </p:spPr>
      </p:sp>
      <p:sp>
        <p:nvSpPr>
          <p:cNvPr id="7" name="Text 5"/>
          <p:cNvSpPr/>
          <p:nvPr/>
        </p:nvSpPr>
        <p:spPr>
          <a:xfrm>
            <a:off x="640080" y="2011680"/>
            <a:ext cx="7863840" cy="320040"/>
          </a:xfrm>
          <a:prstGeom prst="rect">
            <a:avLst/>
          </a:prstGeom>
          <a:noFill/>
          <a:ln/>
        </p:spPr>
        <p:txBody>
          <a:bodyPr wrap="square" rtlCol="0" anchor="ctr"/>
          <a:lstStyle/>
          <a:p>
            <a:pPr algn="l" indent="0" marL="0">
              <a:buNone/>
            </a:pPr>
            <a:r>
              <a:rPr lang="en-US" sz="1300" dirty="0">
                <a:solidFill>
                  <a:srgbClr val="FFFFFF"/>
                </a:solidFill>
                <a:latin typeface="Microsoft YaHei" pitchFamily="34" charset="0"/>
                <a:ea typeface="Microsoft YaHei" pitchFamily="34" charset="-122"/>
                <a:cs typeface="Microsoft YaHei" pitchFamily="34" charset="-120"/>
              </a:rPr>
              <a:t>但有一点是确定的：</a:t>
            </a:r>
            <a:endParaRPr lang="en-US" sz="1300" dirty="0"/>
          </a:p>
        </p:txBody>
      </p:sp>
      <p:sp>
        <p:nvSpPr>
          <p:cNvPr id="8" name="Text 6"/>
          <p:cNvSpPr/>
          <p:nvPr/>
        </p:nvSpPr>
        <p:spPr>
          <a:xfrm>
            <a:off x="640080" y="2331720"/>
            <a:ext cx="7863840" cy="457200"/>
          </a:xfrm>
          <a:prstGeom prst="rect">
            <a:avLst/>
          </a:prstGeom>
          <a:noFill/>
          <a:ln/>
        </p:spPr>
        <p:txBody>
          <a:bodyPr wrap="square" rtlCol="0" anchor="ctr"/>
          <a:lstStyle/>
          <a:p>
            <a:pPr algn="l" indent="0" marL="0">
              <a:buNone/>
            </a:pPr>
            <a:r>
              <a:rPr lang="en-US" sz="1500" b="1" dirty="0">
                <a:solidFill>
                  <a:srgbClr val="FFFFFF"/>
                </a:solidFill>
                <a:latin typeface="Microsoft YaHei" pitchFamily="34" charset="0"/>
                <a:ea typeface="Microsoft YaHei" pitchFamily="34" charset="-122"/>
                <a:cs typeface="Microsoft YaHei" pitchFamily="34" charset="-120"/>
              </a:rPr>
              <a:t>把信息、判断力和产业认知这几样东西打磨扎实的人，不会没有活路</a:t>
            </a:r>
            <a:endParaRPr lang="en-US" sz="1500" dirty="0"/>
          </a:p>
        </p:txBody>
      </p:sp>
      <p:sp>
        <p:nvSpPr>
          <p:cNvPr id="9" name="Shape 7"/>
          <p:cNvSpPr/>
          <p:nvPr/>
        </p:nvSpPr>
        <p:spPr>
          <a:xfrm>
            <a:off x="457200" y="3017520"/>
            <a:ext cx="8229600" cy="822960"/>
          </a:xfrm>
          <a:prstGeom prst="roundRect">
            <a:avLst>
              <a:gd name="adj" fmla="val 11111"/>
            </a:avLst>
          </a:prstGeom>
          <a:solidFill>
            <a:srgbClr val="FFFFFF"/>
          </a:solidFill>
          <a:ln/>
          <a:effectLst>
            <a:outerShdw sx="100000" sy="100000" kx="0" ky="0" algn="bl" rotWithShape="0" blurRad="50800" dist="25400" dir="8100000">
              <a:srgbClr val="000000">
                <a:alpha val="8000"/>
              </a:srgbClr>
            </a:outerShdw>
          </a:effectLst>
        </p:spPr>
      </p:sp>
      <p:sp>
        <p:nvSpPr>
          <p:cNvPr id="10" name="Text 8"/>
          <p:cNvSpPr/>
          <p:nvPr/>
        </p:nvSpPr>
        <p:spPr>
          <a:xfrm>
            <a:off x="640080" y="3108960"/>
            <a:ext cx="7863840" cy="365760"/>
          </a:xfrm>
          <a:prstGeom prst="rect">
            <a:avLst/>
          </a:prstGeom>
          <a:noFill/>
          <a:ln/>
        </p:spPr>
        <p:txBody>
          <a:bodyPr wrap="square" rtlCol="0" anchor="ctr"/>
          <a:lstStyle/>
          <a:p>
            <a:pPr algn="l" indent="0" marL="0">
              <a:buNone/>
            </a:pPr>
            <a:r>
              <a:rPr lang="en-US" sz="1300" dirty="0">
                <a:solidFill>
                  <a:srgbClr val="8D99AE"/>
                </a:solidFill>
                <a:latin typeface="Microsoft YaHei" pitchFamily="34" charset="0"/>
                <a:ea typeface="Microsoft YaHei" pitchFamily="34" charset="-122"/>
                <a:cs typeface="Microsoft YaHei" pitchFamily="34" charset="-120"/>
              </a:rPr>
              <a:t>这几样东西从来不是靠背出来的</a:t>
            </a:r>
            <a:endParaRPr lang="en-US" sz="1300" dirty="0"/>
          </a:p>
        </p:txBody>
      </p:sp>
      <p:sp>
        <p:nvSpPr>
          <p:cNvPr id="11" name="Text 9"/>
          <p:cNvSpPr/>
          <p:nvPr/>
        </p:nvSpPr>
        <p:spPr>
          <a:xfrm>
            <a:off x="640080" y="3474720"/>
            <a:ext cx="7863840" cy="320040"/>
          </a:xfrm>
          <a:prstGeom prst="rect">
            <a:avLst/>
          </a:prstGeom>
          <a:noFill/>
          <a:ln/>
        </p:spPr>
        <p:txBody>
          <a:bodyPr wrap="square" rtlCol="0" anchor="ctr"/>
          <a:lstStyle/>
          <a:p>
            <a:pPr algn="l" indent="0" marL="0">
              <a:buNone/>
            </a:pPr>
            <a:r>
              <a:rPr lang="en-US" sz="1300" b="1" dirty="0">
                <a:solidFill>
                  <a:srgbClr val="2B2D42"/>
                </a:solidFill>
                <a:latin typeface="Microsoft YaHei" pitchFamily="34" charset="0"/>
                <a:ea typeface="Microsoft YaHei" pitchFamily="34" charset="-122"/>
                <a:cs typeface="Microsoft YaHei" pitchFamily="34" charset="-120"/>
              </a:rPr>
              <a:t>是靠一次一次跟真实的人打交道、判断错过又调整过，慢慢磨出来的</a:t>
            </a:r>
            <a:endParaRPr lang="en-US" sz="1300" dirty="0"/>
          </a:p>
        </p:txBody>
      </p:sp>
      <p:sp>
        <p:nvSpPr>
          <p:cNvPr id="12" name="Shape 10"/>
          <p:cNvSpPr/>
          <p:nvPr/>
        </p:nvSpPr>
        <p:spPr>
          <a:xfrm>
            <a:off x="457200" y="4023360"/>
            <a:ext cx="8229600" cy="731520"/>
          </a:xfrm>
          <a:prstGeom prst="roundRect">
            <a:avLst>
              <a:gd name="adj" fmla="val 10000"/>
            </a:avLst>
          </a:prstGeom>
          <a:solidFill>
            <a:srgbClr val="EF233C"/>
          </a:solidFill>
          <a:ln/>
        </p:spPr>
      </p:sp>
      <p:sp>
        <p:nvSpPr>
          <p:cNvPr id="13" name="Text 11"/>
          <p:cNvSpPr/>
          <p:nvPr/>
        </p:nvSpPr>
        <p:spPr>
          <a:xfrm>
            <a:off x="640080" y="4023360"/>
            <a:ext cx="7863840" cy="731520"/>
          </a:xfrm>
          <a:prstGeom prst="rect">
            <a:avLst/>
          </a:prstGeom>
          <a:noFill/>
          <a:ln/>
        </p:spPr>
        <p:txBody>
          <a:bodyPr wrap="square" rtlCol="0" anchor="ct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这条路不好走，也不快，但是这份工作里，唯一不会贬值的部分</a:t>
            </a:r>
            <a:endParaRPr lang="en-US" sz="1500" dirty="0"/>
          </a:p>
        </p:txBody>
      </p:sp>
      <p:sp>
        <p:nvSpPr>
          <p:cNvPr id="14" name="Shape 12"/>
          <p:cNvSpPr/>
          <p:nvPr/>
        </p:nvSpPr>
        <p:spPr>
          <a:xfrm>
            <a:off x="8412480" y="4709160"/>
            <a:ext cx="548640" cy="320040"/>
          </a:xfrm>
          <a:prstGeom prst="roundRect">
            <a:avLst>
              <a:gd name="adj" fmla="val 14286"/>
            </a:avLst>
          </a:prstGeom>
          <a:solidFill>
            <a:srgbClr val="8D99AE"/>
          </a:solidFill>
          <a:ln/>
        </p:spPr>
      </p:sp>
      <p:sp>
        <p:nvSpPr>
          <p:cNvPr id="15" name="Text 13"/>
          <p:cNvSpPr/>
          <p:nvPr/>
        </p:nvSpPr>
        <p:spPr>
          <a:xfrm>
            <a:off x="8412480" y="4709160"/>
            <a:ext cx="54864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82</a:t>
            </a:r>
            <a:endParaRPr lang="en-US" sz="12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02920"/>
          </a:xfrm>
          <a:prstGeom prst="rect">
            <a:avLst/>
          </a:prstGeom>
          <a:noFill/>
          <a:ln/>
        </p:spPr>
        <p:txBody>
          <a:bodyPr wrap="square" rtlCol="0" anchor="ctr"/>
          <a:lstStyle/>
          <a:p>
            <a:pPr algn="l" indent="0" marL="0">
              <a:buNone/>
            </a:pPr>
            <a:r>
              <a:rPr lang="en-US" sz="2600" b="1" dirty="0">
                <a:solidFill>
                  <a:srgbClr val="2B2D42"/>
                </a:solidFill>
                <a:latin typeface="Microsoft YaHei" pitchFamily="34" charset="0"/>
                <a:ea typeface="Microsoft YaHei" pitchFamily="34" charset="-122"/>
                <a:cs typeface="Microsoft YaHei" pitchFamily="34" charset="-120"/>
              </a:rPr>
              <a:t>核心收获</a:t>
            </a:r>
            <a:endParaRPr lang="en-US" sz="2600" dirty="0"/>
          </a:p>
        </p:txBody>
      </p:sp>
      <p:sp>
        <p:nvSpPr>
          <p:cNvPr id="4" name="Shape 2"/>
          <p:cNvSpPr/>
          <p:nvPr/>
        </p:nvSpPr>
        <p:spPr>
          <a:xfrm>
            <a:off x="457200" y="1005840"/>
            <a:ext cx="8229600" cy="1097280"/>
          </a:xfrm>
          <a:prstGeom prst="roundRect">
            <a:avLst>
              <a:gd name="adj" fmla="val 8333"/>
            </a:avLst>
          </a:prstGeom>
          <a:solidFill>
            <a:srgbClr val="FFFFFF"/>
          </a:solidFill>
          <a:ln/>
          <a:effectLst>
            <a:outerShdw sx="100000" sy="100000" kx="0" ky="0" algn="bl" rotWithShape="0" blurRad="38100" dist="12700" dir="8100000">
              <a:srgbClr val="000000">
                <a:alpha val="8000"/>
              </a:srgbClr>
            </a:outerShdw>
          </a:effectLst>
        </p:spPr>
      </p:sp>
      <p:sp>
        <p:nvSpPr>
          <p:cNvPr id="5" name="Shape 3"/>
          <p:cNvSpPr/>
          <p:nvPr/>
        </p:nvSpPr>
        <p:spPr>
          <a:xfrm>
            <a:off x="640080" y="1234440"/>
            <a:ext cx="640080" cy="640080"/>
          </a:xfrm>
          <a:prstGeom prst="ellipse">
            <a:avLst/>
          </a:prstGeom>
          <a:solidFill>
            <a:srgbClr val="EF233C"/>
          </a:solidFill>
          <a:ln/>
        </p:spPr>
      </p:sp>
      <p:sp>
        <p:nvSpPr>
          <p:cNvPr id="6" name="Text 4"/>
          <p:cNvSpPr/>
          <p:nvPr/>
        </p:nvSpPr>
        <p:spPr>
          <a:xfrm>
            <a:off x="640080" y="1234440"/>
            <a:ext cx="640080" cy="64008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01</a:t>
            </a:r>
            <a:endParaRPr lang="en-US" sz="1600" dirty="0"/>
          </a:p>
        </p:txBody>
      </p:sp>
      <p:sp>
        <p:nvSpPr>
          <p:cNvPr id="7" name="Text 5"/>
          <p:cNvSpPr/>
          <p:nvPr/>
        </p:nvSpPr>
        <p:spPr>
          <a:xfrm>
            <a:off x="1463040" y="1143000"/>
            <a:ext cx="7040880" cy="411480"/>
          </a:xfrm>
          <a:prstGeom prst="rect">
            <a:avLst/>
          </a:prstGeom>
          <a:noFill/>
          <a:ln/>
        </p:spPr>
        <p:txBody>
          <a:bodyPr wrap="square" rtlCol="0" anchor="ctr"/>
          <a:lstStyle/>
          <a:p>
            <a:pPr algn="l" indent="0" marL="0">
              <a:buNone/>
            </a:pPr>
            <a:r>
              <a:rPr lang="en-US" sz="1600" b="1" dirty="0">
                <a:solidFill>
                  <a:srgbClr val="2B2D42"/>
                </a:solidFill>
                <a:latin typeface="Microsoft YaHei" pitchFamily="34" charset="0"/>
                <a:ea typeface="Microsoft YaHei" pitchFamily="34" charset="-122"/>
                <a:cs typeface="Microsoft YaHei" pitchFamily="34" charset="-120"/>
              </a:rPr>
              <a:t>认知重塑</a:t>
            </a:r>
            <a:endParaRPr lang="en-US" sz="1600" dirty="0"/>
          </a:p>
        </p:txBody>
      </p:sp>
      <p:sp>
        <p:nvSpPr>
          <p:cNvPr id="8" name="Text 6"/>
          <p:cNvSpPr/>
          <p:nvPr/>
        </p:nvSpPr>
        <p:spPr>
          <a:xfrm>
            <a:off x="1463040" y="1554480"/>
            <a:ext cx="7040880" cy="411480"/>
          </a:xfrm>
          <a:prstGeom prst="rect">
            <a:avLst/>
          </a:prstGeom>
          <a:noFill/>
          <a:ln/>
        </p:spPr>
        <p:txBody>
          <a:bodyPr wrap="square" rtlCol="0" anchor="ctr"/>
          <a:lstStyle/>
          <a:p>
            <a:pPr algn="l" indent="0" marL="0">
              <a:buNone/>
            </a:pPr>
            <a:r>
              <a:rPr lang="en-US" sz="1300" dirty="0">
                <a:solidFill>
                  <a:srgbClr val="8D99AE"/>
                </a:solidFill>
                <a:latin typeface="Microsoft YaHei" pitchFamily="34" charset="0"/>
                <a:ea typeface="Microsoft YaHei" pitchFamily="34" charset="-122"/>
                <a:cs typeface="Microsoft YaHei" pitchFamily="34" charset="-120"/>
              </a:rPr>
              <a:t>冲稳保是语法不是方法，分数是最后一个变量</a:t>
            </a:r>
            <a:endParaRPr lang="en-US" sz="1300" dirty="0"/>
          </a:p>
        </p:txBody>
      </p:sp>
      <p:sp>
        <p:nvSpPr>
          <p:cNvPr id="9" name="Shape 7"/>
          <p:cNvSpPr/>
          <p:nvPr/>
        </p:nvSpPr>
        <p:spPr>
          <a:xfrm>
            <a:off x="457200" y="2286000"/>
            <a:ext cx="8229600" cy="1097280"/>
          </a:xfrm>
          <a:prstGeom prst="roundRect">
            <a:avLst>
              <a:gd name="adj" fmla="val 8333"/>
            </a:avLst>
          </a:prstGeom>
          <a:solidFill>
            <a:srgbClr val="FFFFFF"/>
          </a:solidFill>
          <a:ln/>
          <a:effectLst>
            <a:outerShdw sx="100000" sy="100000" kx="0" ky="0" algn="bl" rotWithShape="0" blurRad="38100" dist="12700" dir="8100000">
              <a:srgbClr val="000000">
                <a:alpha val="8000"/>
              </a:srgbClr>
            </a:outerShdw>
          </a:effectLst>
        </p:spPr>
      </p:sp>
      <p:sp>
        <p:nvSpPr>
          <p:cNvPr id="10" name="Shape 8"/>
          <p:cNvSpPr/>
          <p:nvPr/>
        </p:nvSpPr>
        <p:spPr>
          <a:xfrm>
            <a:off x="640080" y="2514600"/>
            <a:ext cx="640080" cy="640080"/>
          </a:xfrm>
          <a:prstGeom prst="ellipse">
            <a:avLst/>
          </a:prstGeom>
          <a:solidFill>
            <a:srgbClr val="2B2D42"/>
          </a:solidFill>
          <a:ln/>
        </p:spPr>
      </p:sp>
      <p:sp>
        <p:nvSpPr>
          <p:cNvPr id="11" name="Text 9"/>
          <p:cNvSpPr/>
          <p:nvPr/>
        </p:nvSpPr>
        <p:spPr>
          <a:xfrm>
            <a:off x="640080" y="2514600"/>
            <a:ext cx="640080" cy="64008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02</a:t>
            </a:r>
            <a:endParaRPr lang="en-US" sz="1600" dirty="0"/>
          </a:p>
        </p:txBody>
      </p:sp>
      <p:sp>
        <p:nvSpPr>
          <p:cNvPr id="12" name="Text 10"/>
          <p:cNvSpPr/>
          <p:nvPr/>
        </p:nvSpPr>
        <p:spPr>
          <a:xfrm>
            <a:off x="1463040" y="2423160"/>
            <a:ext cx="7040880" cy="411480"/>
          </a:xfrm>
          <a:prstGeom prst="rect">
            <a:avLst/>
          </a:prstGeom>
          <a:noFill/>
          <a:ln/>
        </p:spPr>
        <p:txBody>
          <a:bodyPr wrap="square" rtlCol="0" anchor="ctr"/>
          <a:lstStyle/>
          <a:p>
            <a:pPr algn="l" indent="0" marL="0">
              <a:buNone/>
            </a:pPr>
            <a:r>
              <a:rPr lang="en-US" sz="1600" b="1" dirty="0">
                <a:solidFill>
                  <a:srgbClr val="2B2D42"/>
                </a:solidFill>
                <a:latin typeface="Microsoft YaHei" pitchFamily="34" charset="0"/>
                <a:ea typeface="Microsoft YaHei" pitchFamily="34" charset="-122"/>
                <a:cs typeface="Microsoft YaHei" pitchFamily="34" charset="-120"/>
              </a:rPr>
              <a:t>协作沟通</a:t>
            </a:r>
            <a:endParaRPr lang="en-US" sz="1600" dirty="0"/>
          </a:p>
        </p:txBody>
      </p:sp>
      <p:sp>
        <p:nvSpPr>
          <p:cNvPr id="13" name="Text 11"/>
          <p:cNvSpPr/>
          <p:nvPr/>
        </p:nvSpPr>
        <p:spPr>
          <a:xfrm>
            <a:off x="1463040" y="2834640"/>
            <a:ext cx="7040880" cy="411480"/>
          </a:xfrm>
          <a:prstGeom prst="rect">
            <a:avLst/>
          </a:prstGeom>
          <a:noFill/>
          <a:ln/>
        </p:spPr>
        <p:txBody>
          <a:bodyPr wrap="square" rtlCol="0" anchor="ctr"/>
          <a:lstStyle/>
          <a:p>
            <a:pPr algn="l" indent="0" marL="0">
              <a:buNone/>
            </a:pPr>
            <a:r>
              <a:rPr lang="en-US" sz="1300" dirty="0">
                <a:solidFill>
                  <a:srgbClr val="8D99AE"/>
                </a:solidFill>
                <a:latin typeface="Microsoft YaHei" pitchFamily="34" charset="0"/>
                <a:ea typeface="Microsoft YaHei" pitchFamily="34" charset="-122"/>
                <a:cs typeface="Microsoft YaHei" pitchFamily="34" charset="-120"/>
              </a:rPr>
              <a:t>把决定权留给孩子，让家长看见信息差而不是被说服</a:t>
            </a:r>
            <a:endParaRPr lang="en-US" sz="1300" dirty="0"/>
          </a:p>
        </p:txBody>
      </p:sp>
      <p:sp>
        <p:nvSpPr>
          <p:cNvPr id="14" name="Shape 12"/>
          <p:cNvSpPr/>
          <p:nvPr/>
        </p:nvSpPr>
        <p:spPr>
          <a:xfrm>
            <a:off x="457200" y="3566160"/>
            <a:ext cx="8229600" cy="1097280"/>
          </a:xfrm>
          <a:prstGeom prst="roundRect">
            <a:avLst>
              <a:gd name="adj" fmla="val 8333"/>
            </a:avLst>
          </a:prstGeom>
          <a:solidFill>
            <a:srgbClr val="FFFFFF"/>
          </a:solidFill>
          <a:ln/>
          <a:effectLst>
            <a:outerShdw sx="100000" sy="100000" kx="0" ky="0" algn="bl" rotWithShape="0" blurRad="38100" dist="12700" dir="8100000">
              <a:srgbClr val="000000">
                <a:alpha val="8000"/>
              </a:srgbClr>
            </a:outerShdw>
          </a:effectLst>
        </p:spPr>
      </p:sp>
      <p:sp>
        <p:nvSpPr>
          <p:cNvPr id="15" name="Shape 13"/>
          <p:cNvSpPr/>
          <p:nvPr/>
        </p:nvSpPr>
        <p:spPr>
          <a:xfrm>
            <a:off x="640080" y="3794760"/>
            <a:ext cx="640080" cy="640080"/>
          </a:xfrm>
          <a:prstGeom prst="ellipse">
            <a:avLst/>
          </a:prstGeom>
          <a:solidFill>
            <a:srgbClr val="8D99AE"/>
          </a:solidFill>
          <a:ln/>
        </p:spPr>
      </p:sp>
      <p:sp>
        <p:nvSpPr>
          <p:cNvPr id="16" name="Text 14"/>
          <p:cNvSpPr/>
          <p:nvPr/>
        </p:nvSpPr>
        <p:spPr>
          <a:xfrm>
            <a:off x="640080" y="3794760"/>
            <a:ext cx="640080" cy="64008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03</a:t>
            </a:r>
            <a:endParaRPr lang="en-US" sz="1600" dirty="0"/>
          </a:p>
        </p:txBody>
      </p:sp>
      <p:sp>
        <p:nvSpPr>
          <p:cNvPr id="17" name="Text 15"/>
          <p:cNvSpPr/>
          <p:nvPr/>
        </p:nvSpPr>
        <p:spPr>
          <a:xfrm>
            <a:off x="1463040" y="3703320"/>
            <a:ext cx="7040880" cy="411480"/>
          </a:xfrm>
          <a:prstGeom prst="rect">
            <a:avLst/>
          </a:prstGeom>
          <a:noFill/>
          <a:ln/>
        </p:spPr>
        <p:txBody>
          <a:bodyPr wrap="square" rtlCol="0" anchor="ctr"/>
          <a:lstStyle/>
          <a:p>
            <a:pPr algn="l" indent="0" marL="0">
              <a:buNone/>
            </a:pPr>
            <a:r>
              <a:rPr lang="en-US" sz="1600" b="1" dirty="0">
                <a:solidFill>
                  <a:srgbClr val="2B2D42"/>
                </a:solidFill>
                <a:latin typeface="Microsoft YaHei" pitchFamily="34" charset="0"/>
                <a:ea typeface="Microsoft YaHei" pitchFamily="34" charset="-122"/>
                <a:cs typeface="Microsoft YaHei" pitchFamily="34" charset="-120"/>
              </a:rPr>
              <a:t>职业心态</a:t>
            </a:r>
            <a:endParaRPr lang="en-US" sz="1600" dirty="0"/>
          </a:p>
        </p:txBody>
      </p:sp>
      <p:sp>
        <p:nvSpPr>
          <p:cNvPr id="18" name="Text 16"/>
          <p:cNvSpPr/>
          <p:nvPr/>
        </p:nvSpPr>
        <p:spPr>
          <a:xfrm>
            <a:off x="1463040" y="4114800"/>
            <a:ext cx="7040880" cy="411480"/>
          </a:xfrm>
          <a:prstGeom prst="rect">
            <a:avLst/>
          </a:prstGeom>
          <a:noFill/>
          <a:ln/>
        </p:spPr>
        <p:txBody>
          <a:bodyPr wrap="square" rtlCol="0" anchor="ctr"/>
          <a:lstStyle/>
          <a:p>
            <a:pPr algn="l" indent="0" marL="0">
              <a:buNone/>
            </a:pPr>
            <a:r>
              <a:rPr lang="en-US" sz="1300" dirty="0">
                <a:solidFill>
                  <a:srgbClr val="8D99AE"/>
                </a:solidFill>
                <a:latin typeface="Microsoft YaHei" pitchFamily="34" charset="0"/>
                <a:ea typeface="Microsoft YaHei" pitchFamily="34" charset="-122"/>
                <a:cs typeface="Microsoft YaHei" pitchFamily="34" charset="-120"/>
              </a:rPr>
              <a:t>判断力是核心资产，口碑是副产品，AI是工具不是威胁</a:t>
            </a:r>
            <a:endParaRPr lang="en-US" sz="1300" dirty="0"/>
          </a:p>
        </p:txBody>
      </p:sp>
      <p:sp>
        <p:nvSpPr>
          <p:cNvPr id="19" name="Shape 17"/>
          <p:cNvSpPr/>
          <p:nvPr/>
        </p:nvSpPr>
        <p:spPr>
          <a:xfrm>
            <a:off x="8412480" y="4709160"/>
            <a:ext cx="548640" cy="320040"/>
          </a:xfrm>
          <a:prstGeom prst="roundRect">
            <a:avLst>
              <a:gd name="adj" fmla="val 14286"/>
            </a:avLst>
          </a:prstGeom>
          <a:solidFill>
            <a:srgbClr val="8D99AE"/>
          </a:solidFill>
          <a:ln/>
        </p:spPr>
      </p:sp>
      <p:sp>
        <p:nvSpPr>
          <p:cNvPr id="20" name="Text 18"/>
          <p:cNvSpPr/>
          <p:nvPr/>
        </p:nvSpPr>
        <p:spPr>
          <a:xfrm>
            <a:off x="8412480" y="4709160"/>
            <a:ext cx="54864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83</a:t>
            </a:r>
            <a:endParaRPr lang="en-US" sz="12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02920"/>
          </a:xfrm>
          <a:prstGeom prst="rect">
            <a:avLst/>
          </a:prstGeom>
          <a:noFill/>
          <a:ln/>
        </p:spPr>
        <p:txBody>
          <a:bodyPr wrap="square" rtlCol="0" anchor="ctr"/>
          <a:lstStyle/>
          <a:p>
            <a:pPr algn="l" indent="0" marL="0">
              <a:buNone/>
            </a:pPr>
            <a:r>
              <a:rPr lang="en-US" sz="2600" b="1" dirty="0">
                <a:solidFill>
                  <a:srgbClr val="2B2D42"/>
                </a:solidFill>
                <a:latin typeface="Microsoft YaHei" pitchFamily="34" charset="0"/>
                <a:ea typeface="Microsoft YaHei" pitchFamily="34" charset="-122"/>
                <a:cs typeface="Microsoft YaHei" pitchFamily="34" charset="-120"/>
              </a:rPr>
              <a:t>从业准则</a:t>
            </a:r>
            <a:endParaRPr lang="en-US" sz="2600" dirty="0"/>
          </a:p>
        </p:txBody>
      </p:sp>
      <p:sp>
        <p:nvSpPr>
          <p:cNvPr id="4" name="Shape 2"/>
          <p:cNvSpPr/>
          <p:nvPr/>
        </p:nvSpPr>
        <p:spPr>
          <a:xfrm>
            <a:off x="457200" y="1005840"/>
            <a:ext cx="8229600" cy="777240"/>
          </a:xfrm>
          <a:prstGeom prst="roundRect">
            <a:avLst>
              <a:gd name="adj" fmla="val 9412"/>
            </a:avLst>
          </a:prstGeom>
          <a:solidFill>
            <a:srgbClr val="FFFFFF"/>
          </a:solidFill>
          <a:ln/>
          <a:effectLst>
            <a:outerShdw sx="100000" sy="100000" kx="0" ky="0" algn="bl" rotWithShape="0" blurRad="38100" dist="12700" dir="8100000">
              <a:srgbClr val="000000">
                <a:alpha val="8000"/>
              </a:srgbClr>
            </a:outerShdw>
          </a:effectLst>
        </p:spPr>
      </p:sp>
      <p:sp>
        <p:nvSpPr>
          <p:cNvPr id="5" name="Shape 3"/>
          <p:cNvSpPr/>
          <p:nvPr/>
        </p:nvSpPr>
        <p:spPr>
          <a:xfrm>
            <a:off x="640080" y="1188720"/>
            <a:ext cx="457200" cy="411480"/>
          </a:xfrm>
          <a:prstGeom prst="roundRect">
            <a:avLst>
              <a:gd name="adj" fmla="val 13333"/>
            </a:avLst>
          </a:prstGeom>
          <a:solidFill>
            <a:srgbClr val="EF233C"/>
          </a:solidFill>
          <a:ln/>
        </p:spPr>
      </p:sp>
      <p:sp>
        <p:nvSpPr>
          <p:cNvPr id="6" name="Text 4"/>
          <p:cNvSpPr/>
          <p:nvPr/>
        </p:nvSpPr>
        <p:spPr>
          <a:xfrm>
            <a:off x="640080" y="1188720"/>
            <a:ext cx="45720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80160" y="1005840"/>
            <a:ext cx="7223760" cy="777240"/>
          </a:xfrm>
          <a:prstGeom prst="rect">
            <a:avLst/>
          </a:prstGeom>
          <a:noFill/>
          <a:ln/>
        </p:spPr>
        <p:txBody>
          <a:bodyPr wrap="square" rtlCol="0" anchor="ctr"/>
          <a:lstStyle/>
          <a:p>
            <a:pPr algn="l" indent="0" marL="0">
              <a:buNone/>
            </a:pPr>
            <a:r>
              <a:rPr lang="en-US" sz="1500" dirty="0">
                <a:solidFill>
                  <a:srgbClr val="2B2D42"/>
                </a:solidFill>
                <a:latin typeface="Microsoft YaHei" pitchFamily="34" charset="0"/>
                <a:ea typeface="Microsoft YaHei" pitchFamily="34" charset="-122"/>
                <a:cs typeface="Microsoft YaHei" pitchFamily="34" charset="-120"/>
              </a:rPr>
              <a:t>先问人，后问分数</a:t>
            </a:r>
            <a:endParaRPr lang="en-US" sz="1500" dirty="0"/>
          </a:p>
        </p:txBody>
      </p:sp>
      <p:sp>
        <p:nvSpPr>
          <p:cNvPr id="8" name="Shape 6"/>
          <p:cNvSpPr/>
          <p:nvPr/>
        </p:nvSpPr>
        <p:spPr>
          <a:xfrm>
            <a:off x="457200" y="1920240"/>
            <a:ext cx="8229600" cy="777240"/>
          </a:xfrm>
          <a:prstGeom prst="roundRect">
            <a:avLst>
              <a:gd name="adj" fmla="val 9412"/>
            </a:avLst>
          </a:prstGeom>
          <a:solidFill>
            <a:srgbClr val="FFFFFF"/>
          </a:solidFill>
          <a:ln/>
          <a:effectLst>
            <a:outerShdw sx="100000" sy="100000" kx="0" ky="0" algn="bl" rotWithShape="0" blurRad="38100" dist="12700" dir="8100000">
              <a:srgbClr val="000000">
                <a:alpha val="8000"/>
              </a:srgbClr>
            </a:outerShdw>
          </a:effectLst>
        </p:spPr>
      </p:sp>
      <p:sp>
        <p:nvSpPr>
          <p:cNvPr id="9" name="Shape 7"/>
          <p:cNvSpPr/>
          <p:nvPr/>
        </p:nvSpPr>
        <p:spPr>
          <a:xfrm>
            <a:off x="640080" y="2103120"/>
            <a:ext cx="457200" cy="411480"/>
          </a:xfrm>
          <a:prstGeom prst="roundRect">
            <a:avLst>
              <a:gd name="adj" fmla="val 13333"/>
            </a:avLst>
          </a:prstGeom>
          <a:solidFill>
            <a:srgbClr val="EF233C"/>
          </a:solidFill>
          <a:ln/>
        </p:spPr>
      </p:sp>
      <p:sp>
        <p:nvSpPr>
          <p:cNvPr id="10" name="Text 8"/>
          <p:cNvSpPr/>
          <p:nvPr/>
        </p:nvSpPr>
        <p:spPr>
          <a:xfrm>
            <a:off x="640080" y="2103120"/>
            <a:ext cx="45720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80160" y="1920240"/>
            <a:ext cx="7223760" cy="777240"/>
          </a:xfrm>
          <a:prstGeom prst="rect">
            <a:avLst/>
          </a:prstGeom>
          <a:noFill/>
          <a:ln/>
        </p:spPr>
        <p:txBody>
          <a:bodyPr wrap="square" rtlCol="0" anchor="ctr"/>
          <a:lstStyle/>
          <a:p>
            <a:pPr algn="l" indent="0" marL="0">
              <a:buNone/>
            </a:pPr>
            <a:r>
              <a:rPr lang="en-US" sz="1500" dirty="0">
                <a:solidFill>
                  <a:srgbClr val="2B2D42"/>
                </a:solidFill>
                <a:latin typeface="Microsoft YaHei" pitchFamily="34" charset="0"/>
                <a:ea typeface="Microsoft YaHei" pitchFamily="34" charset="-122"/>
                <a:cs typeface="Microsoft YaHei" pitchFamily="34" charset="-120"/>
              </a:rPr>
              <a:t>把信息差的完整面貌摆出来，而不是只摆自己想说的</a:t>
            </a:r>
            <a:endParaRPr lang="en-US" sz="1500" dirty="0"/>
          </a:p>
        </p:txBody>
      </p:sp>
      <p:sp>
        <p:nvSpPr>
          <p:cNvPr id="12" name="Shape 10"/>
          <p:cNvSpPr/>
          <p:nvPr/>
        </p:nvSpPr>
        <p:spPr>
          <a:xfrm>
            <a:off x="457200" y="2834640"/>
            <a:ext cx="8229600" cy="777240"/>
          </a:xfrm>
          <a:prstGeom prst="roundRect">
            <a:avLst>
              <a:gd name="adj" fmla="val 9412"/>
            </a:avLst>
          </a:prstGeom>
          <a:solidFill>
            <a:srgbClr val="FFFFFF"/>
          </a:solidFill>
          <a:ln/>
          <a:effectLst>
            <a:outerShdw sx="100000" sy="100000" kx="0" ky="0" algn="bl" rotWithShape="0" blurRad="38100" dist="12700" dir="8100000">
              <a:srgbClr val="000000">
                <a:alpha val="8000"/>
              </a:srgbClr>
            </a:outerShdw>
          </a:effectLst>
        </p:spPr>
      </p:sp>
      <p:sp>
        <p:nvSpPr>
          <p:cNvPr id="13" name="Shape 11"/>
          <p:cNvSpPr/>
          <p:nvPr/>
        </p:nvSpPr>
        <p:spPr>
          <a:xfrm>
            <a:off x="640080" y="3017520"/>
            <a:ext cx="457200" cy="411480"/>
          </a:xfrm>
          <a:prstGeom prst="roundRect">
            <a:avLst>
              <a:gd name="adj" fmla="val 13333"/>
            </a:avLst>
          </a:prstGeom>
          <a:solidFill>
            <a:srgbClr val="EF233C"/>
          </a:solidFill>
          <a:ln/>
        </p:spPr>
      </p:sp>
      <p:sp>
        <p:nvSpPr>
          <p:cNvPr id="14" name="Text 12"/>
          <p:cNvSpPr/>
          <p:nvPr/>
        </p:nvSpPr>
        <p:spPr>
          <a:xfrm>
            <a:off x="640080" y="3017520"/>
            <a:ext cx="45720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80160" y="2834640"/>
            <a:ext cx="7223760" cy="777240"/>
          </a:xfrm>
          <a:prstGeom prst="rect">
            <a:avLst/>
          </a:prstGeom>
          <a:noFill/>
          <a:ln/>
        </p:spPr>
        <p:txBody>
          <a:bodyPr wrap="square" rtlCol="0" anchor="ctr"/>
          <a:lstStyle/>
          <a:p>
            <a:pPr algn="l" indent="0" marL="0">
              <a:buNone/>
            </a:pPr>
            <a:r>
              <a:rPr lang="en-US" sz="1500" dirty="0">
                <a:solidFill>
                  <a:srgbClr val="2B2D42"/>
                </a:solidFill>
                <a:latin typeface="Microsoft YaHei" pitchFamily="34" charset="0"/>
                <a:ea typeface="Microsoft YaHei" pitchFamily="34" charset="-122"/>
                <a:cs typeface="Microsoft YaHei" pitchFamily="34" charset="-120"/>
              </a:rPr>
              <a:t>把决定权留给孩子，不替他做选择</a:t>
            </a:r>
            <a:endParaRPr lang="en-US" sz="1500" dirty="0"/>
          </a:p>
        </p:txBody>
      </p:sp>
      <p:sp>
        <p:nvSpPr>
          <p:cNvPr id="16" name="Shape 14"/>
          <p:cNvSpPr/>
          <p:nvPr/>
        </p:nvSpPr>
        <p:spPr>
          <a:xfrm>
            <a:off x="457200" y="3749040"/>
            <a:ext cx="8229600" cy="777240"/>
          </a:xfrm>
          <a:prstGeom prst="roundRect">
            <a:avLst>
              <a:gd name="adj" fmla="val 9412"/>
            </a:avLst>
          </a:prstGeom>
          <a:solidFill>
            <a:srgbClr val="FFFFFF"/>
          </a:solidFill>
          <a:ln/>
          <a:effectLst>
            <a:outerShdw sx="100000" sy="100000" kx="0" ky="0" algn="bl" rotWithShape="0" blurRad="38100" dist="12700" dir="8100000">
              <a:srgbClr val="000000">
                <a:alpha val="8000"/>
              </a:srgbClr>
            </a:outerShdw>
          </a:effectLst>
        </p:spPr>
      </p:sp>
      <p:sp>
        <p:nvSpPr>
          <p:cNvPr id="17" name="Shape 15"/>
          <p:cNvSpPr/>
          <p:nvPr/>
        </p:nvSpPr>
        <p:spPr>
          <a:xfrm>
            <a:off x="640080" y="3931920"/>
            <a:ext cx="457200" cy="411480"/>
          </a:xfrm>
          <a:prstGeom prst="roundRect">
            <a:avLst>
              <a:gd name="adj" fmla="val 13333"/>
            </a:avLst>
          </a:prstGeom>
          <a:solidFill>
            <a:srgbClr val="EF233C"/>
          </a:solidFill>
          <a:ln/>
        </p:spPr>
      </p:sp>
      <p:sp>
        <p:nvSpPr>
          <p:cNvPr id="18" name="Text 16"/>
          <p:cNvSpPr/>
          <p:nvPr/>
        </p:nvSpPr>
        <p:spPr>
          <a:xfrm>
            <a:off x="640080" y="3931920"/>
            <a:ext cx="45720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1280160" y="3749040"/>
            <a:ext cx="7223760" cy="777240"/>
          </a:xfrm>
          <a:prstGeom prst="rect">
            <a:avLst/>
          </a:prstGeom>
          <a:noFill/>
          <a:ln/>
        </p:spPr>
        <p:txBody>
          <a:bodyPr wrap="square" rtlCol="0" anchor="ctr"/>
          <a:lstStyle/>
          <a:p>
            <a:pPr algn="l" indent="0" marL="0">
              <a:buNone/>
            </a:pPr>
            <a:r>
              <a:rPr lang="en-US" sz="1500" dirty="0">
                <a:solidFill>
                  <a:srgbClr val="2B2D42"/>
                </a:solidFill>
                <a:latin typeface="Microsoft YaHei" pitchFamily="34" charset="0"/>
                <a:ea typeface="Microsoft YaHei" pitchFamily="34" charset="-122"/>
                <a:cs typeface="Microsoft YaHei" pitchFamily="34" charset="-120"/>
              </a:rPr>
              <a:t>把每一次判断做扎实，口碑会自己长出来</a:t>
            </a:r>
            <a:endParaRPr lang="en-US" sz="1500" dirty="0"/>
          </a:p>
        </p:txBody>
      </p:sp>
      <p:sp>
        <p:nvSpPr>
          <p:cNvPr id="20" name="Shape 18"/>
          <p:cNvSpPr/>
          <p:nvPr/>
        </p:nvSpPr>
        <p:spPr>
          <a:xfrm>
            <a:off x="8412480" y="4709160"/>
            <a:ext cx="548640" cy="320040"/>
          </a:xfrm>
          <a:prstGeom prst="roundRect">
            <a:avLst>
              <a:gd name="adj" fmla="val 14286"/>
            </a:avLst>
          </a:prstGeom>
          <a:solidFill>
            <a:srgbClr val="8D99AE"/>
          </a:solidFill>
          <a:ln/>
        </p:spPr>
      </p:sp>
      <p:sp>
        <p:nvSpPr>
          <p:cNvPr id="21" name="Text 19"/>
          <p:cNvSpPr/>
          <p:nvPr/>
        </p:nvSpPr>
        <p:spPr>
          <a:xfrm>
            <a:off x="8412480" y="4709160"/>
            <a:ext cx="54864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84</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02920"/>
          </a:xfrm>
          <a:prstGeom prst="rect">
            <a:avLst/>
          </a:prstGeom>
          <a:noFill/>
          <a:ln/>
        </p:spPr>
        <p:txBody>
          <a:bodyPr wrap="square" rtlCol="0" anchor="ctr"/>
          <a:lstStyle/>
          <a:p>
            <a:pPr algn="l" indent="0" marL="0">
              <a:buNone/>
            </a:pPr>
            <a:r>
              <a:rPr lang="en-US" sz="2600" b="1" dirty="0">
                <a:solidFill>
                  <a:srgbClr val="2B2D42"/>
                </a:solidFill>
                <a:latin typeface="Microsoft YaHei" pitchFamily="34" charset="0"/>
                <a:ea typeface="Microsoft YaHei" pitchFamily="34" charset="-122"/>
                <a:cs typeface="Microsoft YaHei" pitchFamily="34" charset="-120"/>
              </a:rPr>
              <a:t>最后一句话</a:t>
            </a:r>
            <a:endParaRPr lang="en-US" sz="2600" dirty="0"/>
          </a:p>
        </p:txBody>
      </p:sp>
      <p:sp>
        <p:nvSpPr>
          <p:cNvPr id="4" name="Shape 2"/>
          <p:cNvSpPr/>
          <p:nvPr/>
        </p:nvSpPr>
        <p:spPr>
          <a:xfrm>
            <a:off x="731520" y="1188720"/>
            <a:ext cx="7680960" cy="2926080"/>
          </a:xfrm>
          <a:prstGeom prst="roundRect">
            <a:avLst>
              <a:gd name="adj" fmla="val 4688"/>
            </a:avLst>
          </a:prstGeom>
          <a:solidFill>
            <a:srgbClr val="FFFFFF"/>
          </a:solidFill>
          <a:ln/>
          <a:effectLst>
            <a:outerShdw sx="100000" sy="100000" kx="0" ky="0" algn="bl" rotWithShape="0" blurRad="76200" dist="38100" dir="8100000">
              <a:srgbClr val="000000">
                <a:alpha val="12000"/>
              </a:srgbClr>
            </a:outerShdw>
          </a:effectLst>
        </p:spPr>
      </p:sp>
      <p:sp>
        <p:nvSpPr>
          <p:cNvPr id="5" name="Text 3"/>
          <p:cNvSpPr/>
          <p:nvPr/>
        </p:nvSpPr>
        <p:spPr>
          <a:xfrm>
            <a:off x="914400" y="1188720"/>
            <a:ext cx="914400" cy="731520"/>
          </a:xfrm>
          <a:prstGeom prst="rect">
            <a:avLst/>
          </a:prstGeom>
          <a:noFill/>
          <a:ln/>
        </p:spPr>
        <p:txBody>
          <a:bodyPr wrap="square" rtlCol="0" anchor="t"/>
          <a:lstStyle/>
          <a:p>
            <a:pPr algn="l" indent="0" marL="0">
              <a:buNone/>
            </a:pPr>
            <a:r>
              <a:rPr lang="en-US" sz="6000" dirty="0">
                <a:solidFill>
                  <a:srgbClr val="EF233C"/>
                </a:solidFill>
                <a:latin typeface="Georgia" pitchFamily="34" charset="0"/>
                <a:ea typeface="Georgia" pitchFamily="34" charset="-122"/>
                <a:cs typeface="Georgia" pitchFamily="34" charset="-120"/>
              </a:rPr>
              <a:t>“</a:t>
            </a:r>
            <a:endParaRPr lang="en-US" sz="6000" dirty="0"/>
          </a:p>
        </p:txBody>
      </p:sp>
      <p:sp>
        <p:nvSpPr>
          <p:cNvPr id="6" name="Text 4"/>
          <p:cNvSpPr/>
          <p:nvPr/>
        </p:nvSpPr>
        <p:spPr>
          <a:xfrm>
            <a:off x="1097280" y="1737360"/>
            <a:ext cx="6949440" cy="2011680"/>
          </a:xfrm>
          <a:prstGeom prst="rect">
            <a:avLst/>
          </a:prstGeom>
          <a:noFill/>
          <a:ln/>
        </p:spPr>
        <p:txBody>
          <a:bodyPr wrap="square" rtlCol="0" anchor="ctr"/>
          <a:lstStyle/>
          <a:p>
            <a:pPr algn="ctr" indent="0" marL="0">
              <a:buNone/>
            </a:pPr>
            <a:r>
              <a:rPr lang="en-US" sz="1800" dirty="0">
                <a:solidFill>
                  <a:srgbClr val="2B2D42"/>
                </a:solidFill>
                <a:latin typeface="Microsoft YaHei" pitchFamily="34" charset="0"/>
                <a:ea typeface="Microsoft YaHei" pitchFamily="34" charset="-122"/>
                <a:cs typeface="Microsoft YaHei" pitchFamily="34" charset="-120"/>
              </a:rPr>
              <a:t>这份工作真正的核心，不是算得多准，是看得多准；不是知道得多，是能不能在具体的人面前，放下已经很熟练的那套东西，重新老老实实地问一遍最基础的问题。</a:t>
            </a:r>
            <a:endParaRPr lang="en-US" sz="1800" dirty="0"/>
          </a:p>
        </p:txBody>
      </p:sp>
      <p:sp>
        <p:nvSpPr>
          <p:cNvPr id="7" name="Text 5"/>
          <p:cNvSpPr/>
          <p:nvPr/>
        </p:nvSpPr>
        <p:spPr>
          <a:xfrm>
            <a:off x="7315200" y="3291840"/>
            <a:ext cx="914400" cy="731520"/>
          </a:xfrm>
          <a:prstGeom prst="rect">
            <a:avLst/>
          </a:prstGeom>
          <a:noFill/>
          <a:ln/>
        </p:spPr>
        <p:txBody>
          <a:bodyPr wrap="square" rtlCol="0" anchor="b"/>
          <a:lstStyle/>
          <a:p>
            <a:pPr algn="r" indent="0" marL="0">
              <a:buNone/>
            </a:pPr>
            <a:r>
              <a:rPr lang="en-US" sz="6000" dirty="0">
                <a:solidFill>
                  <a:srgbClr val="EF233C"/>
                </a:solidFill>
                <a:latin typeface="Georgia" pitchFamily="34" charset="0"/>
                <a:ea typeface="Georgia" pitchFamily="34" charset="-122"/>
                <a:cs typeface="Georgia" pitchFamily="34" charset="-120"/>
              </a:rPr>
              <a:t>”</a:t>
            </a:r>
            <a:endParaRPr lang="en-US" sz="6000" dirty="0"/>
          </a:p>
        </p:txBody>
      </p:sp>
      <p:sp>
        <p:nvSpPr>
          <p:cNvPr id="8" name="Text 6"/>
          <p:cNvSpPr/>
          <p:nvPr/>
        </p:nvSpPr>
        <p:spPr>
          <a:xfrm>
            <a:off x="5029200" y="4297680"/>
            <a:ext cx="3200400" cy="457200"/>
          </a:xfrm>
          <a:prstGeom prst="rect">
            <a:avLst/>
          </a:prstGeom>
          <a:noFill/>
          <a:ln/>
        </p:spPr>
        <p:txBody>
          <a:bodyPr wrap="square" rtlCol="0" anchor="ctr"/>
          <a:lstStyle/>
          <a:p>
            <a:pPr algn="r" indent="0" marL="0">
              <a:buNone/>
            </a:pPr>
            <a:r>
              <a:rPr lang="en-US" sz="1600" b="1" dirty="0">
                <a:solidFill>
                  <a:srgbClr val="8D99AE"/>
                </a:solidFill>
                <a:latin typeface="Microsoft YaHei" pitchFamily="34" charset="0"/>
                <a:ea typeface="Microsoft YaHei" pitchFamily="34" charset="-122"/>
                <a:cs typeface="Microsoft YaHei" pitchFamily="34" charset="-120"/>
              </a:rPr>
              <a:t>——罗宏伟</a:t>
            </a:r>
            <a:endParaRPr lang="en-US" sz="1600" dirty="0"/>
          </a:p>
        </p:txBody>
      </p:sp>
      <p:sp>
        <p:nvSpPr>
          <p:cNvPr id="9" name="Shape 7"/>
          <p:cNvSpPr/>
          <p:nvPr/>
        </p:nvSpPr>
        <p:spPr>
          <a:xfrm>
            <a:off x="8412480" y="4709160"/>
            <a:ext cx="548640" cy="320040"/>
          </a:xfrm>
          <a:prstGeom prst="roundRect">
            <a:avLst>
              <a:gd name="adj" fmla="val 14286"/>
            </a:avLst>
          </a:prstGeom>
          <a:solidFill>
            <a:srgbClr val="8D99AE"/>
          </a:solidFill>
          <a:ln/>
        </p:spPr>
      </p:sp>
      <p:sp>
        <p:nvSpPr>
          <p:cNvPr id="10" name="Text 8"/>
          <p:cNvSpPr/>
          <p:nvPr/>
        </p:nvSpPr>
        <p:spPr>
          <a:xfrm>
            <a:off x="8412480" y="4709160"/>
            <a:ext cx="54864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85</a:t>
            </a:r>
            <a:endParaRPr lang="en-US" sz="12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02920"/>
          </a:xfrm>
          <a:prstGeom prst="rect">
            <a:avLst/>
          </a:prstGeom>
          <a:noFill/>
          <a:ln/>
        </p:spPr>
        <p:txBody>
          <a:bodyPr wrap="square" rtlCol="0" anchor="ctr"/>
          <a:lstStyle/>
          <a:p>
            <a:pPr algn="l" indent="0" marL="0">
              <a:buNone/>
            </a:pPr>
            <a:r>
              <a:rPr lang="en-US" sz="2600" b="1" dirty="0">
                <a:solidFill>
                  <a:srgbClr val="2B2D42"/>
                </a:solidFill>
                <a:latin typeface="Microsoft YaHei" pitchFamily="34" charset="0"/>
                <a:ea typeface="Microsoft YaHei" pitchFamily="34" charset="-122"/>
                <a:cs typeface="Microsoft YaHei" pitchFamily="34" charset="-120"/>
              </a:rPr>
              <a:t>关于作者</a:t>
            </a:r>
            <a:endParaRPr lang="en-US" sz="2600" dirty="0"/>
          </a:p>
        </p:txBody>
      </p:sp>
      <p:sp>
        <p:nvSpPr>
          <p:cNvPr id="4" name="Shape 2"/>
          <p:cNvSpPr/>
          <p:nvPr/>
        </p:nvSpPr>
        <p:spPr>
          <a:xfrm>
            <a:off x="457200" y="1005840"/>
            <a:ext cx="3657600" cy="1097280"/>
          </a:xfrm>
          <a:prstGeom prst="roundRect">
            <a:avLst>
              <a:gd name="adj" fmla="val 8333"/>
            </a:avLst>
          </a:prstGeom>
          <a:solidFill>
            <a:srgbClr val="FFFFFF"/>
          </a:solidFill>
          <a:ln/>
          <a:effectLst>
            <a:outerShdw sx="100000" sy="100000" kx="0" ky="0" algn="bl" rotWithShape="0" blurRad="50800" dist="25400" dir="8100000">
              <a:srgbClr val="000000">
                <a:alpha val="8000"/>
              </a:srgbClr>
            </a:outerShdw>
          </a:effectLst>
        </p:spPr>
      </p:sp>
      <p:sp>
        <p:nvSpPr>
          <p:cNvPr id="5" name="Text 3"/>
          <p:cNvSpPr/>
          <p:nvPr/>
        </p:nvSpPr>
        <p:spPr>
          <a:xfrm>
            <a:off x="640080" y="1143000"/>
            <a:ext cx="3291840" cy="548640"/>
          </a:xfrm>
          <a:prstGeom prst="rect">
            <a:avLst/>
          </a:prstGeom>
          <a:noFill/>
          <a:ln/>
        </p:spPr>
        <p:txBody>
          <a:bodyPr wrap="square" rtlCol="0" anchor="ctr"/>
          <a:lstStyle/>
          <a:p>
            <a:pPr algn="ctr" indent="0" marL="0">
              <a:buNone/>
            </a:pPr>
            <a:r>
              <a:rPr lang="en-US" sz="3200" b="1" dirty="0">
                <a:solidFill>
                  <a:srgbClr val="2B2D42"/>
                </a:solidFill>
                <a:latin typeface="Microsoft YaHei" pitchFamily="34" charset="0"/>
                <a:ea typeface="Microsoft YaHei" pitchFamily="34" charset="-122"/>
                <a:cs typeface="Microsoft YaHei" pitchFamily="34" charset="-120"/>
              </a:rPr>
              <a:t>罗宏伟</a:t>
            </a:r>
            <a:endParaRPr lang="en-US" sz="3200" dirty="0"/>
          </a:p>
        </p:txBody>
      </p:sp>
      <p:sp>
        <p:nvSpPr>
          <p:cNvPr id="6" name="Shape 4"/>
          <p:cNvSpPr/>
          <p:nvPr/>
        </p:nvSpPr>
        <p:spPr>
          <a:xfrm>
            <a:off x="1188720" y="1737360"/>
            <a:ext cx="2194560" cy="274320"/>
          </a:xfrm>
          <a:prstGeom prst="roundRect">
            <a:avLst>
              <a:gd name="adj" fmla="val 16667"/>
            </a:avLst>
          </a:prstGeom>
          <a:solidFill>
            <a:srgbClr val="EF233C"/>
          </a:solidFill>
          <a:ln/>
        </p:spPr>
      </p:sp>
      <p:sp>
        <p:nvSpPr>
          <p:cNvPr id="7" name="Text 5"/>
          <p:cNvSpPr/>
          <p:nvPr/>
        </p:nvSpPr>
        <p:spPr>
          <a:xfrm>
            <a:off x="1188720" y="1737360"/>
            <a:ext cx="2194560" cy="27432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高考志愿填报师</a:t>
            </a:r>
            <a:endParaRPr lang="en-US" sz="1100" dirty="0"/>
          </a:p>
        </p:txBody>
      </p:sp>
      <p:sp>
        <p:nvSpPr>
          <p:cNvPr id="8" name="Shape 6"/>
          <p:cNvSpPr/>
          <p:nvPr/>
        </p:nvSpPr>
        <p:spPr>
          <a:xfrm>
            <a:off x="4389120" y="1005840"/>
            <a:ext cx="4297680" cy="1097280"/>
          </a:xfrm>
          <a:prstGeom prst="roundRect">
            <a:avLst>
              <a:gd name="adj" fmla="val 8333"/>
            </a:avLst>
          </a:prstGeom>
          <a:solidFill>
            <a:srgbClr val="FFFFFF"/>
          </a:solidFill>
          <a:ln/>
          <a:effectLst>
            <a:outerShdw sx="100000" sy="100000" kx="0" ky="0" algn="bl" rotWithShape="0" blurRad="50800" dist="25400" dir="8100000">
              <a:srgbClr val="000000">
                <a:alpha val="8000"/>
              </a:srgbClr>
            </a:outerShdw>
          </a:effectLst>
        </p:spPr>
      </p:sp>
      <p:sp>
        <p:nvSpPr>
          <p:cNvPr id="9" name="Text 7"/>
          <p:cNvSpPr/>
          <p:nvPr/>
        </p:nvSpPr>
        <p:spPr>
          <a:xfrm>
            <a:off x="4572000" y="1005840"/>
            <a:ext cx="3931920" cy="1097280"/>
          </a:xfrm>
          <a:prstGeom prst="rect">
            <a:avLst/>
          </a:prstGeom>
          <a:noFill/>
          <a:ln/>
        </p:spPr>
        <p:txBody>
          <a:bodyPr wrap="square" rtlCol="0" anchor="ctr"/>
          <a:lstStyle/>
          <a:p>
            <a:pPr algn="l" indent="0" marL="0">
              <a:buNone/>
            </a:pPr>
            <a:r>
              <a:rPr lang="en-US" sz="1400" dirty="0">
                <a:solidFill>
                  <a:srgbClr val="2B2D42"/>
                </a:solidFill>
                <a:latin typeface="Microsoft YaHei" pitchFamily="34" charset="0"/>
                <a:ea typeface="Microsoft YaHei" pitchFamily="34" charset="-122"/>
                <a:cs typeface="Microsoft YaHei" pitchFamily="34" charset="-120"/>
              </a:rPr>
              <a:t>从业多年，专注于帮助学生找到真正适合自己的方向</a:t>
            </a:r>
            <a:endParaRPr lang="en-US" sz="1400" dirty="0"/>
          </a:p>
        </p:txBody>
      </p:sp>
      <p:sp>
        <p:nvSpPr>
          <p:cNvPr id="10" name="Shape 8"/>
          <p:cNvSpPr/>
          <p:nvPr/>
        </p:nvSpPr>
        <p:spPr>
          <a:xfrm>
            <a:off x="457200" y="2377440"/>
            <a:ext cx="8229600" cy="914400"/>
          </a:xfrm>
          <a:prstGeom prst="roundRect">
            <a:avLst>
              <a:gd name="adj" fmla="val 10000"/>
            </a:avLst>
          </a:prstGeom>
          <a:solidFill>
            <a:srgbClr val="EDF2F4"/>
          </a:solidFill>
          <a:ln/>
        </p:spPr>
      </p:sp>
      <p:sp>
        <p:nvSpPr>
          <p:cNvPr id="11" name="Text 9"/>
          <p:cNvSpPr/>
          <p:nvPr/>
        </p:nvSpPr>
        <p:spPr>
          <a:xfrm>
            <a:off x="548640" y="2286000"/>
            <a:ext cx="457200" cy="548640"/>
          </a:xfrm>
          <a:prstGeom prst="rect">
            <a:avLst/>
          </a:prstGeom>
          <a:noFill/>
          <a:ln/>
        </p:spPr>
        <p:txBody>
          <a:bodyPr wrap="square" rtlCol="0" anchor="t"/>
          <a:lstStyle/>
          <a:p>
            <a:pPr algn="l" indent="0" marL="0">
              <a:buNone/>
            </a:pPr>
            <a:r>
              <a:rPr lang="en-US" sz="4800" b="1" dirty="0">
                <a:solidFill>
                  <a:srgbClr val="EF233C"/>
                </a:solidFill>
                <a:latin typeface="Georgia" pitchFamily="34" charset="0"/>
                <a:ea typeface="Georgia" pitchFamily="34" charset="-122"/>
                <a:cs typeface="Georgia" pitchFamily="34" charset="-120"/>
              </a:rPr>
              <a:t>“</a:t>
            </a:r>
            <a:endParaRPr lang="en-US" sz="4800" dirty="0"/>
          </a:p>
        </p:txBody>
      </p:sp>
      <p:sp>
        <p:nvSpPr>
          <p:cNvPr id="12" name="Text 10"/>
          <p:cNvSpPr/>
          <p:nvPr/>
        </p:nvSpPr>
        <p:spPr>
          <a:xfrm>
            <a:off x="1005840" y="2514600"/>
            <a:ext cx="7498080" cy="640080"/>
          </a:xfrm>
          <a:prstGeom prst="rect">
            <a:avLst/>
          </a:prstGeom>
          <a:noFill/>
          <a:ln/>
        </p:spPr>
        <p:txBody>
          <a:bodyPr wrap="square" rtlCol="0" anchor="ctr"/>
          <a:lstStyle/>
          <a:p>
            <a:pPr algn="l" indent="0" marL="0">
              <a:buNone/>
            </a:pPr>
            <a:r>
              <a:rPr lang="en-US" sz="1500" dirty="0">
                <a:solidFill>
                  <a:srgbClr val="2B2D42"/>
                </a:solidFill>
                <a:latin typeface="Microsoft YaHei" pitchFamily="34" charset="0"/>
                <a:ea typeface="Microsoft YaHei" pitchFamily="34" charset="-122"/>
                <a:cs typeface="Microsoft YaHei" pitchFamily="34" charset="-120"/>
              </a:rPr>
              <a:t>这本手册是写给刚入行的新手，也写给正在被AI焦虑追着跑的老手</a:t>
            </a:r>
            <a:endParaRPr lang="en-US" sz="1500" dirty="0"/>
          </a:p>
        </p:txBody>
      </p:sp>
      <p:sp>
        <p:nvSpPr>
          <p:cNvPr id="13" name="Shape 11"/>
          <p:cNvSpPr/>
          <p:nvPr/>
        </p:nvSpPr>
        <p:spPr>
          <a:xfrm>
            <a:off x="457200" y="3566160"/>
            <a:ext cx="8229600" cy="18288"/>
          </a:xfrm>
          <a:prstGeom prst="rect">
            <a:avLst/>
          </a:prstGeom>
          <a:solidFill>
            <a:srgbClr val="8D99AE">
              <a:alpha val="50000"/>
            </a:srgbClr>
          </a:solidFill>
          <a:ln/>
        </p:spPr>
      </p:sp>
      <p:sp>
        <p:nvSpPr>
          <p:cNvPr id="14" name="Shape 12"/>
          <p:cNvSpPr/>
          <p:nvPr/>
        </p:nvSpPr>
        <p:spPr>
          <a:xfrm>
            <a:off x="457200" y="3794760"/>
            <a:ext cx="8229600" cy="1005840"/>
          </a:xfrm>
          <a:prstGeom prst="roundRect">
            <a:avLst>
              <a:gd name="adj" fmla="val 9091"/>
            </a:avLst>
          </a:prstGeom>
          <a:solidFill>
            <a:srgbClr val="FFFFFF"/>
          </a:solidFill>
          <a:ln/>
          <a:effectLst>
            <a:outerShdw sx="100000" sy="100000" kx="0" ky="0" algn="bl" rotWithShape="0" blurRad="38100" dist="12700" dir="8100000">
              <a:srgbClr val="000000">
                <a:alpha val="6000"/>
              </a:srgbClr>
            </a:outerShdw>
          </a:effectLst>
        </p:spPr>
      </p:sp>
      <p:sp>
        <p:nvSpPr>
          <p:cNvPr id="15" name="Text 13"/>
          <p:cNvSpPr/>
          <p:nvPr/>
        </p:nvSpPr>
        <p:spPr>
          <a:xfrm>
            <a:off x="640080" y="3886200"/>
            <a:ext cx="1828800" cy="320040"/>
          </a:xfrm>
          <a:prstGeom prst="rect">
            <a:avLst/>
          </a:prstGeom>
          <a:noFill/>
          <a:ln/>
        </p:spPr>
        <p:txBody>
          <a:bodyPr wrap="square" rtlCol="0" anchor="ctr"/>
          <a:lstStyle/>
          <a:p>
            <a:pPr algn="l" indent="0" marL="0">
              <a:buNone/>
            </a:pPr>
            <a:r>
              <a:rPr lang="en-US" sz="1200" b="1" dirty="0">
                <a:solidFill>
                  <a:srgbClr val="EF233C"/>
                </a:solidFill>
                <a:latin typeface="Microsoft YaHei" pitchFamily="34" charset="0"/>
                <a:ea typeface="Microsoft YaHei" pitchFamily="34" charset="-122"/>
                <a:cs typeface="Microsoft YaHei" pitchFamily="34" charset="-120"/>
              </a:rPr>
              <a:t>核心理念</a:t>
            </a:r>
            <a:endParaRPr lang="en-US" sz="1200" dirty="0"/>
          </a:p>
        </p:txBody>
      </p:sp>
      <p:sp>
        <p:nvSpPr>
          <p:cNvPr id="16" name="Text 14"/>
          <p:cNvSpPr/>
          <p:nvPr/>
        </p:nvSpPr>
        <p:spPr>
          <a:xfrm>
            <a:off x="640080" y="4206240"/>
            <a:ext cx="7863840" cy="457200"/>
          </a:xfrm>
          <a:prstGeom prst="rect">
            <a:avLst/>
          </a:prstGeom>
          <a:noFill/>
          <a:ln/>
        </p:spPr>
        <p:txBody>
          <a:bodyPr wrap="square" rtlCol="0" anchor="ctr"/>
          <a:lstStyle/>
          <a:p>
            <a:pPr algn="l" indent="0" marL="0">
              <a:buNone/>
            </a:pPr>
            <a:r>
              <a:rPr lang="en-US" sz="1400" dirty="0">
                <a:solidFill>
                  <a:srgbClr val="2B2D42"/>
                </a:solidFill>
                <a:latin typeface="Microsoft YaHei" pitchFamily="34" charset="0"/>
                <a:ea typeface="Microsoft YaHei" pitchFamily="34" charset="-122"/>
                <a:cs typeface="Microsoft YaHei" pitchFamily="34" charset="-120"/>
              </a:rPr>
              <a:t>志愿填报不是填一张表，而是帮一个孩子找到自己的方向</a:t>
            </a:r>
            <a:endParaRPr lang="en-US" sz="1400" dirty="0"/>
          </a:p>
        </p:txBody>
      </p:sp>
      <p:sp>
        <p:nvSpPr>
          <p:cNvPr id="17" name="Shape 15"/>
          <p:cNvSpPr/>
          <p:nvPr/>
        </p:nvSpPr>
        <p:spPr>
          <a:xfrm>
            <a:off x="8366760" y="4800600"/>
            <a:ext cx="548640" cy="274320"/>
          </a:xfrm>
          <a:prstGeom prst="roundRect">
            <a:avLst>
              <a:gd name="adj" fmla="val 16667"/>
            </a:avLst>
          </a:prstGeom>
          <a:solidFill>
            <a:srgbClr val="EF233C"/>
          </a:solidFill>
          <a:ln/>
        </p:spPr>
      </p:sp>
      <p:sp>
        <p:nvSpPr>
          <p:cNvPr id="18" name="Text 16"/>
          <p:cNvSpPr/>
          <p:nvPr/>
        </p:nvSpPr>
        <p:spPr>
          <a:xfrm>
            <a:off x="8366760" y="4800600"/>
            <a:ext cx="54864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86</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02920"/>
          </a:xfrm>
          <a:prstGeom prst="rect">
            <a:avLst/>
          </a:prstGeom>
          <a:noFill/>
          <a:ln/>
        </p:spPr>
        <p:txBody>
          <a:bodyPr wrap="square" rtlCol="0" anchor="ctr"/>
          <a:lstStyle/>
          <a:p>
            <a:pPr algn="l" indent="0" marL="0">
              <a:buNone/>
            </a:pPr>
            <a:r>
              <a:rPr lang="en-US" sz="2600" b="1" dirty="0">
                <a:solidFill>
                  <a:srgbClr val="2B2D42"/>
                </a:solidFill>
                <a:latin typeface="Microsoft YaHei" pitchFamily="34" charset="0"/>
                <a:ea typeface="Microsoft YaHei" pitchFamily="34" charset="-122"/>
                <a:cs typeface="Microsoft YaHei" pitchFamily="34" charset="-120"/>
              </a:rPr>
              <a:t>学员感悟</a:t>
            </a:r>
            <a:endParaRPr lang="en-US" sz="2600" dirty="0"/>
          </a:p>
        </p:txBody>
      </p:sp>
      <p:sp>
        <p:nvSpPr>
          <p:cNvPr id="4" name="Shape 2"/>
          <p:cNvSpPr/>
          <p:nvPr/>
        </p:nvSpPr>
        <p:spPr>
          <a:xfrm>
            <a:off x="457200" y="1005840"/>
            <a:ext cx="8229600" cy="1828800"/>
          </a:xfrm>
          <a:prstGeom prst="roundRect">
            <a:avLst>
              <a:gd name="adj" fmla="val 5000"/>
            </a:avLst>
          </a:prstGeom>
          <a:solidFill>
            <a:srgbClr val="FFFFFF"/>
          </a:solidFill>
          <a:ln/>
          <a:effectLst>
            <a:outerShdw sx="100000" sy="100000" kx="0" ky="0" algn="bl" rotWithShape="0" blurRad="50800" dist="25400" dir="8100000">
              <a:srgbClr val="000000">
                <a:alpha val="8000"/>
              </a:srgbClr>
            </a:outerShdw>
          </a:effectLst>
        </p:spPr>
      </p:sp>
      <p:sp>
        <p:nvSpPr>
          <p:cNvPr id="5" name="Text 3"/>
          <p:cNvSpPr/>
          <p:nvPr/>
        </p:nvSpPr>
        <p:spPr>
          <a:xfrm>
            <a:off x="640080" y="914400"/>
            <a:ext cx="548640" cy="731520"/>
          </a:xfrm>
          <a:prstGeom prst="rect">
            <a:avLst/>
          </a:prstGeom>
          <a:noFill/>
          <a:ln/>
        </p:spPr>
        <p:txBody>
          <a:bodyPr wrap="square" rtlCol="0" anchor="t"/>
          <a:lstStyle/>
          <a:p>
            <a:pPr algn="l" indent="0" marL="0">
              <a:buNone/>
            </a:pPr>
            <a:r>
              <a:rPr lang="en-US" sz="6000" b="1" dirty="0">
                <a:solidFill>
                  <a:srgbClr val="EF233C"/>
                </a:solidFill>
                <a:latin typeface="Georgia" pitchFamily="34" charset="0"/>
                <a:ea typeface="Georgia" pitchFamily="34" charset="-122"/>
                <a:cs typeface="Georgia" pitchFamily="34" charset="-120"/>
              </a:rPr>
              <a:t>“</a:t>
            </a:r>
            <a:endParaRPr lang="en-US" sz="6000" dirty="0"/>
          </a:p>
        </p:txBody>
      </p:sp>
      <p:sp>
        <p:nvSpPr>
          <p:cNvPr id="6" name="Text 4"/>
          <p:cNvSpPr/>
          <p:nvPr/>
        </p:nvSpPr>
        <p:spPr>
          <a:xfrm>
            <a:off x="1097280" y="1280160"/>
            <a:ext cx="7132320" cy="1280160"/>
          </a:xfrm>
          <a:prstGeom prst="rect">
            <a:avLst/>
          </a:prstGeom>
          <a:noFill/>
          <a:ln/>
        </p:spPr>
        <p:txBody>
          <a:bodyPr wrap="square" rtlCol="0" anchor="ctr"/>
          <a:lstStyle/>
          <a:p>
            <a:pPr algn="l" indent="0" marL="0">
              <a:buNone/>
            </a:pPr>
            <a:r>
              <a:rPr lang="en-US" sz="1800" dirty="0">
                <a:solidFill>
                  <a:srgbClr val="2B2D42"/>
                </a:solidFill>
                <a:latin typeface="Microsoft YaHei" pitchFamily="34" charset="0"/>
                <a:ea typeface="Microsoft YaHei" pitchFamily="34" charset="-122"/>
                <a:cs typeface="Microsoft YaHei" pitchFamily="34" charset="-120"/>
              </a:rPr>
              <a:t>我以为你会重新给我排一张表，没想到你先问了我一堆我从来没想过的问题。</a:t>
            </a:r>
            <a:endParaRPr lang="en-US" sz="1800" dirty="0"/>
          </a:p>
        </p:txBody>
      </p:sp>
      <p:sp>
        <p:nvSpPr>
          <p:cNvPr id="7" name="Shape 5"/>
          <p:cNvSpPr/>
          <p:nvPr/>
        </p:nvSpPr>
        <p:spPr>
          <a:xfrm>
            <a:off x="457200" y="3017520"/>
            <a:ext cx="3200400" cy="365760"/>
          </a:xfrm>
          <a:prstGeom prst="roundRect">
            <a:avLst>
              <a:gd name="adj" fmla="val 12500"/>
            </a:avLst>
          </a:prstGeom>
          <a:solidFill>
            <a:srgbClr val="EDF2F4"/>
          </a:solidFill>
          <a:ln/>
        </p:spPr>
      </p:sp>
      <p:sp>
        <p:nvSpPr>
          <p:cNvPr id="8" name="Text 6"/>
          <p:cNvSpPr/>
          <p:nvPr/>
        </p:nvSpPr>
        <p:spPr>
          <a:xfrm>
            <a:off x="640080" y="3017520"/>
            <a:ext cx="3017520" cy="365760"/>
          </a:xfrm>
          <a:prstGeom prst="rect">
            <a:avLst/>
          </a:prstGeom>
          <a:noFill/>
          <a:ln/>
        </p:spPr>
        <p:txBody>
          <a:bodyPr wrap="square" rtlCol="0" anchor="ctr"/>
          <a:lstStyle/>
          <a:p>
            <a:pPr algn="l" indent="0" marL="0">
              <a:buNone/>
            </a:pPr>
            <a:r>
              <a:rPr lang="en-US" sz="1200" dirty="0">
                <a:solidFill>
                  <a:srgbClr val="8D99AE"/>
                </a:solidFill>
                <a:latin typeface="Microsoft YaHei" pitchFamily="34" charset="0"/>
                <a:ea typeface="Microsoft YaHei" pitchFamily="34" charset="-122"/>
                <a:cs typeface="Microsoft YaHei" pitchFamily="34" charset="-120"/>
              </a:rPr>
              <a:t>— 那位爸爸走的时候说的话</a:t>
            </a:r>
            <a:endParaRPr lang="en-US" sz="1200" dirty="0"/>
          </a:p>
        </p:txBody>
      </p:sp>
      <p:sp>
        <p:nvSpPr>
          <p:cNvPr id="9" name="Shape 7"/>
          <p:cNvSpPr/>
          <p:nvPr/>
        </p:nvSpPr>
        <p:spPr>
          <a:xfrm>
            <a:off x="457200" y="3566160"/>
            <a:ext cx="8229600" cy="1280160"/>
          </a:xfrm>
          <a:prstGeom prst="roundRect">
            <a:avLst>
              <a:gd name="adj" fmla="val 7143"/>
            </a:avLst>
          </a:prstGeom>
          <a:solidFill>
            <a:srgbClr val="2B2D42"/>
          </a:solidFill>
          <a:ln/>
        </p:spPr>
      </p:sp>
      <p:sp>
        <p:nvSpPr>
          <p:cNvPr id="10" name="Shape 8"/>
          <p:cNvSpPr/>
          <p:nvPr/>
        </p:nvSpPr>
        <p:spPr>
          <a:xfrm>
            <a:off x="640080" y="3703320"/>
            <a:ext cx="1097280" cy="274320"/>
          </a:xfrm>
          <a:prstGeom prst="roundRect">
            <a:avLst>
              <a:gd name="adj" fmla="val 16667"/>
            </a:avLst>
          </a:prstGeom>
          <a:solidFill>
            <a:srgbClr val="EF233C"/>
          </a:solidFill>
          <a:ln/>
        </p:spPr>
      </p:sp>
      <p:sp>
        <p:nvSpPr>
          <p:cNvPr id="11" name="Text 9"/>
          <p:cNvSpPr/>
          <p:nvPr/>
        </p:nvSpPr>
        <p:spPr>
          <a:xfrm>
            <a:off x="640080" y="3703320"/>
            <a:ext cx="1097280" cy="27432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深意</a:t>
            </a:r>
            <a:endParaRPr lang="en-US" sz="1100" dirty="0"/>
          </a:p>
        </p:txBody>
      </p:sp>
      <p:sp>
        <p:nvSpPr>
          <p:cNvPr id="12" name="Text 10"/>
          <p:cNvSpPr/>
          <p:nvPr/>
        </p:nvSpPr>
        <p:spPr>
          <a:xfrm>
            <a:off x="640080" y="4114800"/>
            <a:ext cx="7863840" cy="640080"/>
          </a:xfrm>
          <a:prstGeom prst="rect">
            <a:avLst/>
          </a:prstGeom>
          <a:noFill/>
          <a:ln/>
        </p:spPr>
        <p:txBody>
          <a:bodyPr wrap="square" rtlCol="0" anchor="ctr"/>
          <a:lstStyle/>
          <a:p>
            <a:pPr algn="l" indent="0" marL="0">
              <a:buNone/>
            </a:pPr>
            <a:r>
              <a:rPr lang="en-US" sz="1500" dirty="0">
                <a:solidFill>
                  <a:srgbClr val="FFFFFF"/>
                </a:solidFill>
                <a:latin typeface="Microsoft YaHei" pitchFamily="34" charset="0"/>
                <a:ea typeface="Microsoft YaHei" pitchFamily="34" charset="-122"/>
                <a:cs typeface="Microsoft YaHei" pitchFamily="34" charset="-120"/>
              </a:rPr>
              <a:t>这句话说出了这份工作的真相——排表从来不是难的部分，难的部分是排表之前那道题</a:t>
            </a:r>
            <a:endParaRPr lang="en-US" sz="1500" dirty="0"/>
          </a:p>
        </p:txBody>
      </p:sp>
      <p:sp>
        <p:nvSpPr>
          <p:cNvPr id="13" name="Shape 11"/>
          <p:cNvSpPr/>
          <p:nvPr/>
        </p:nvSpPr>
        <p:spPr>
          <a:xfrm>
            <a:off x="8366760" y="4800600"/>
            <a:ext cx="548640" cy="274320"/>
          </a:xfrm>
          <a:prstGeom prst="roundRect">
            <a:avLst>
              <a:gd name="adj" fmla="val 16667"/>
            </a:avLst>
          </a:prstGeom>
          <a:solidFill>
            <a:srgbClr val="EF233C"/>
          </a:solidFill>
          <a:ln/>
        </p:spPr>
      </p:sp>
      <p:sp>
        <p:nvSpPr>
          <p:cNvPr id="14" name="Text 12"/>
          <p:cNvSpPr/>
          <p:nvPr/>
        </p:nvSpPr>
        <p:spPr>
          <a:xfrm>
            <a:off x="8366760" y="4800600"/>
            <a:ext cx="54864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87</a:t>
            </a:r>
            <a:endParaRPr lang="en-US" sz="1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02920"/>
          </a:xfrm>
          <a:prstGeom prst="rect">
            <a:avLst/>
          </a:prstGeom>
          <a:noFill/>
          <a:ln/>
        </p:spPr>
        <p:txBody>
          <a:bodyPr wrap="square" rtlCol="0" anchor="ctr"/>
          <a:lstStyle/>
          <a:p>
            <a:pPr algn="l" indent="0" marL="0">
              <a:buNone/>
            </a:pPr>
            <a:r>
              <a:rPr lang="en-US" sz="2600" b="1" dirty="0">
                <a:solidFill>
                  <a:srgbClr val="2B2D42"/>
                </a:solidFill>
                <a:latin typeface="Microsoft YaHei" pitchFamily="34" charset="0"/>
                <a:ea typeface="Microsoft YaHei" pitchFamily="34" charset="-122"/>
                <a:cs typeface="Microsoft YaHei" pitchFamily="34" charset="-120"/>
              </a:rPr>
              <a:t>学员感悟</a:t>
            </a:r>
            <a:endParaRPr lang="en-US" sz="2600" dirty="0"/>
          </a:p>
        </p:txBody>
      </p:sp>
      <p:sp>
        <p:nvSpPr>
          <p:cNvPr id="4" name="Shape 2"/>
          <p:cNvSpPr/>
          <p:nvPr/>
        </p:nvSpPr>
        <p:spPr>
          <a:xfrm>
            <a:off x="457200" y="1005840"/>
            <a:ext cx="8229600" cy="1828800"/>
          </a:xfrm>
          <a:prstGeom prst="roundRect">
            <a:avLst>
              <a:gd name="adj" fmla="val 5000"/>
            </a:avLst>
          </a:prstGeom>
          <a:solidFill>
            <a:srgbClr val="FFFFFF"/>
          </a:solidFill>
          <a:ln/>
          <a:effectLst>
            <a:outerShdw sx="100000" sy="100000" kx="0" ky="0" algn="bl" rotWithShape="0" blurRad="50800" dist="25400" dir="8100000">
              <a:srgbClr val="000000">
                <a:alpha val="8000"/>
              </a:srgbClr>
            </a:outerShdw>
          </a:effectLst>
        </p:spPr>
      </p:sp>
      <p:sp>
        <p:nvSpPr>
          <p:cNvPr id="5" name="Text 3"/>
          <p:cNvSpPr/>
          <p:nvPr/>
        </p:nvSpPr>
        <p:spPr>
          <a:xfrm>
            <a:off x="640080" y="914400"/>
            <a:ext cx="548640" cy="731520"/>
          </a:xfrm>
          <a:prstGeom prst="rect">
            <a:avLst/>
          </a:prstGeom>
          <a:noFill/>
          <a:ln/>
        </p:spPr>
        <p:txBody>
          <a:bodyPr wrap="square" rtlCol="0" anchor="t"/>
          <a:lstStyle/>
          <a:p>
            <a:pPr algn="l" indent="0" marL="0">
              <a:buNone/>
            </a:pPr>
            <a:r>
              <a:rPr lang="en-US" sz="6000" b="1" dirty="0">
                <a:solidFill>
                  <a:srgbClr val="EF233C"/>
                </a:solidFill>
                <a:latin typeface="Georgia" pitchFamily="34" charset="0"/>
                <a:ea typeface="Georgia" pitchFamily="34" charset="-122"/>
                <a:cs typeface="Georgia" pitchFamily="34" charset="-120"/>
              </a:rPr>
              <a:t>“</a:t>
            </a:r>
            <a:endParaRPr lang="en-US" sz="6000" dirty="0"/>
          </a:p>
        </p:txBody>
      </p:sp>
      <p:sp>
        <p:nvSpPr>
          <p:cNvPr id="6" name="Text 4"/>
          <p:cNvSpPr/>
          <p:nvPr/>
        </p:nvSpPr>
        <p:spPr>
          <a:xfrm>
            <a:off x="1097280" y="1280160"/>
            <a:ext cx="7132320" cy="1280160"/>
          </a:xfrm>
          <a:prstGeom prst="rect">
            <a:avLst/>
          </a:prstGeom>
          <a:noFill/>
          <a:ln/>
        </p:spPr>
        <p:txBody>
          <a:bodyPr wrap="square" rtlCol="0" anchor="ctr"/>
          <a:lstStyle/>
          <a:p>
            <a:pPr algn="l" indent="0" marL="0">
              <a:buNone/>
            </a:pPr>
            <a:r>
              <a:rPr lang="en-US" sz="1800" dirty="0">
                <a:solidFill>
                  <a:srgbClr val="2B2D42"/>
                </a:solidFill>
                <a:latin typeface="Microsoft YaHei" pitchFamily="34" charset="0"/>
                <a:ea typeface="Microsoft YaHei" pitchFamily="34" charset="-122"/>
                <a:cs typeface="Microsoft YaHei" pitchFamily="34" charset="-120"/>
              </a:rPr>
              <a:t>这是我第一次自己决定一件这么大的事，以前上什么补习班、报什么兴趣班，都是我妈决定的。</a:t>
            </a:r>
            <a:endParaRPr lang="en-US" sz="1800" dirty="0"/>
          </a:p>
        </p:txBody>
      </p:sp>
      <p:sp>
        <p:nvSpPr>
          <p:cNvPr id="7" name="Shape 5"/>
          <p:cNvSpPr/>
          <p:nvPr/>
        </p:nvSpPr>
        <p:spPr>
          <a:xfrm>
            <a:off x="457200" y="3017520"/>
            <a:ext cx="3200400" cy="365760"/>
          </a:xfrm>
          <a:prstGeom prst="roundRect">
            <a:avLst>
              <a:gd name="adj" fmla="val 12500"/>
            </a:avLst>
          </a:prstGeom>
          <a:solidFill>
            <a:srgbClr val="EDF2F4"/>
          </a:solidFill>
          <a:ln/>
        </p:spPr>
      </p:sp>
      <p:sp>
        <p:nvSpPr>
          <p:cNvPr id="8" name="Text 6"/>
          <p:cNvSpPr/>
          <p:nvPr/>
        </p:nvSpPr>
        <p:spPr>
          <a:xfrm>
            <a:off x="640080" y="3017520"/>
            <a:ext cx="3017520" cy="365760"/>
          </a:xfrm>
          <a:prstGeom prst="rect">
            <a:avLst/>
          </a:prstGeom>
          <a:noFill/>
          <a:ln/>
        </p:spPr>
        <p:txBody>
          <a:bodyPr wrap="square" rtlCol="0" anchor="ctr"/>
          <a:lstStyle/>
          <a:p>
            <a:pPr algn="l" indent="0" marL="0">
              <a:buNone/>
            </a:pPr>
            <a:r>
              <a:rPr lang="en-US" sz="1200" dirty="0">
                <a:solidFill>
                  <a:srgbClr val="8D99AE"/>
                </a:solidFill>
                <a:latin typeface="Microsoft YaHei" pitchFamily="34" charset="0"/>
                <a:ea typeface="Microsoft YaHei" pitchFamily="34" charset="-122"/>
                <a:cs typeface="Microsoft YaHei" pitchFamily="34" charset="-120"/>
              </a:rPr>
              <a:t>— 一个女生填完志愿表后说的话</a:t>
            </a:r>
            <a:endParaRPr lang="en-US" sz="1200" dirty="0"/>
          </a:p>
        </p:txBody>
      </p:sp>
      <p:sp>
        <p:nvSpPr>
          <p:cNvPr id="9" name="Shape 7"/>
          <p:cNvSpPr/>
          <p:nvPr/>
        </p:nvSpPr>
        <p:spPr>
          <a:xfrm>
            <a:off x="457200" y="3566160"/>
            <a:ext cx="8229600" cy="1280160"/>
          </a:xfrm>
          <a:prstGeom prst="roundRect">
            <a:avLst>
              <a:gd name="adj" fmla="val 7143"/>
            </a:avLst>
          </a:prstGeom>
          <a:solidFill>
            <a:srgbClr val="2B2D42"/>
          </a:solidFill>
          <a:ln/>
        </p:spPr>
      </p:sp>
      <p:sp>
        <p:nvSpPr>
          <p:cNvPr id="10" name="Shape 8"/>
          <p:cNvSpPr/>
          <p:nvPr/>
        </p:nvSpPr>
        <p:spPr>
          <a:xfrm>
            <a:off x="640080" y="3703320"/>
            <a:ext cx="1097280" cy="274320"/>
          </a:xfrm>
          <a:prstGeom prst="roundRect">
            <a:avLst>
              <a:gd name="adj" fmla="val 16667"/>
            </a:avLst>
          </a:prstGeom>
          <a:solidFill>
            <a:srgbClr val="EF233C"/>
          </a:solidFill>
          <a:ln/>
        </p:spPr>
      </p:sp>
      <p:sp>
        <p:nvSpPr>
          <p:cNvPr id="11" name="Text 9"/>
          <p:cNvSpPr/>
          <p:nvPr/>
        </p:nvSpPr>
        <p:spPr>
          <a:xfrm>
            <a:off x="640080" y="3703320"/>
            <a:ext cx="1097280" cy="27432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深意</a:t>
            </a:r>
            <a:endParaRPr lang="en-US" sz="1100" dirty="0"/>
          </a:p>
        </p:txBody>
      </p:sp>
      <p:sp>
        <p:nvSpPr>
          <p:cNvPr id="12" name="Text 10"/>
          <p:cNvSpPr/>
          <p:nvPr/>
        </p:nvSpPr>
        <p:spPr>
          <a:xfrm>
            <a:off x="640080" y="4114800"/>
            <a:ext cx="7863840" cy="640080"/>
          </a:xfrm>
          <a:prstGeom prst="rect">
            <a:avLst/>
          </a:prstGeom>
          <a:noFill/>
          <a:ln/>
        </p:spPr>
        <p:txBody>
          <a:bodyPr wrap="square" rtlCol="0" anchor="ctr"/>
          <a:lstStyle/>
          <a:p>
            <a:pPr algn="l" indent="0" marL="0">
              <a:buNone/>
            </a:pPr>
            <a:r>
              <a:rPr lang="en-US" sz="1500" dirty="0">
                <a:solidFill>
                  <a:srgbClr val="FFFFFF"/>
                </a:solidFill>
                <a:latin typeface="Microsoft YaHei" pitchFamily="34" charset="0"/>
                <a:ea typeface="Microsoft YaHei" pitchFamily="34" charset="-122"/>
                <a:cs typeface="Microsoft YaHei" pitchFamily="34" charset="-120"/>
              </a:rPr>
              <a:t>志愿表不只是一张表，是人生里第一次被允许、也被要求，为自己的未来做一个正式的、留下痕迹的决定</a:t>
            </a:r>
            <a:endParaRPr lang="en-US" sz="1500" dirty="0"/>
          </a:p>
        </p:txBody>
      </p:sp>
      <p:sp>
        <p:nvSpPr>
          <p:cNvPr id="13" name="Shape 11"/>
          <p:cNvSpPr/>
          <p:nvPr/>
        </p:nvSpPr>
        <p:spPr>
          <a:xfrm>
            <a:off x="8366760" y="4800600"/>
            <a:ext cx="548640" cy="274320"/>
          </a:xfrm>
          <a:prstGeom prst="roundRect">
            <a:avLst>
              <a:gd name="adj" fmla="val 16667"/>
            </a:avLst>
          </a:prstGeom>
          <a:solidFill>
            <a:srgbClr val="EF233C"/>
          </a:solidFill>
          <a:ln/>
        </p:spPr>
      </p:sp>
      <p:sp>
        <p:nvSpPr>
          <p:cNvPr id="14" name="Text 12"/>
          <p:cNvSpPr/>
          <p:nvPr/>
        </p:nvSpPr>
        <p:spPr>
          <a:xfrm>
            <a:off x="8366760" y="4800600"/>
            <a:ext cx="54864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88</a:t>
            </a:r>
            <a:endParaRPr lang="en-US" sz="1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02920"/>
          </a:xfrm>
          <a:prstGeom prst="rect">
            <a:avLst/>
          </a:prstGeom>
          <a:noFill/>
          <a:ln/>
        </p:spPr>
        <p:txBody>
          <a:bodyPr wrap="square" rtlCol="0" anchor="ctr"/>
          <a:lstStyle/>
          <a:p>
            <a:pPr algn="l" indent="0" marL="0">
              <a:buNone/>
            </a:pPr>
            <a:r>
              <a:rPr lang="en-US" sz="2600" b="1" dirty="0">
                <a:solidFill>
                  <a:srgbClr val="2B2D42"/>
                </a:solidFill>
                <a:latin typeface="Microsoft YaHei" pitchFamily="34" charset="0"/>
                <a:ea typeface="Microsoft YaHei" pitchFamily="34" charset="-122"/>
                <a:cs typeface="Microsoft YaHei" pitchFamily="34" charset="-120"/>
              </a:rPr>
              <a:t>学员感悟</a:t>
            </a:r>
            <a:endParaRPr lang="en-US" sz="2600" dirty="0"/>
          </a:p>
        </p:txBody>
      </p:sp>
      <p:sp>
        <p:nvSpPr>
          <p:cNvPr id="4" name="Shape 2"/>
          <p:cNvSpPr/>
          <p:nvPr/>
        </p:nvSpPr>
        <p:spPr>
          <a:xfrm>
            <a:off x="457200" y="1005840"/>
            <a:ext cx="8229600" cy="1828800"/>
          </a:xfrm>
          <a:prstGeom prst="roundRect">
            <a:avLst>
              <a:gd name="adj" fmla="val 5000"/>
            </a:avLst>
          </a:prstGeom>
          <a:solidFill>
            <a:srgbClr val="FFFFFF"/>
          </a:solidFill>
          <a:ln/>
          <a:effectLst>
            <a:outerShdw sx="100000" sy="100000" kx="0" ky="0" algn="bl" rotWithShape="0" blurRad="50800" dist="25400" dir="8100000">
              <a:srgbClr val="000000">
                <a:alpha val="8000"/>
              </a:srgbClr>
            </a:outerShdw>
          </a:effectLst>
        </p:spPr>
      </p:sp>
      <p:sp>
        <p:nvSpPr>
          <p:cNvPr id="5" name="Text 3"/>
          <p:cNvSpPr/>
          <p:nvPr/>
        </p:nvSpPr>
        <p:spPr>
          <a:xfrm>
            <a:off x="640080" y="914400"/>
            <a:ext cx="548640" cy="731520"/>
          </a:xfrm>
          <a:prstGeom prst="rect">
            <a:avLst/>
          </a:prstGeom>
          <a:noFill/>
          <a:ln/>
        </p:spPr>
        <p:txBody>
          <a:bodyPr wrap="square" rtlCol="0" anchor="t"/>
          <a:lstStyle/>
          <a:p>
            <a:pPr algn="l" indent="0" marL="0">
              <a:buNone/>
            </a:pPr>
            <a:r>
              <a:rPr lang="en-US" sz="6000" b="1" dirty="0">
                <a:solidFill>
                  <a:srgbClr val="EF233C"/>
                </a:solidFill>
                <a:latin typeface="Georgia" pitchFamily="34" charset="0"/>
                <a:ea typeface="Georgia" pitchFamily="34" charset="-122"/>
                <a:cs typeface="Georgia" pitchFamily="34" charset="-120"/>
              </a:rPr>
              <a:t>“</a:t>
            </a:r>
            <a:endParaRPr lang="en-US" sz="6000" dirty="0"/>
          </a:p>
        </p:txBody>
      </p:sp>
      <p:sp>
        <p:nvSpPr>
          <p:cNvPr id="6" name="Text 4"/>
          <p:cNvSpPr/>
          <p:nvPr/>
        </p:nvSpPr>
        <p:spPr>
          <a:xfrm>
            <a:off x="1097280" y="1280160"/>
            <a:ext cx="7132320" cy="1280160"/>
          </a:xfrm>
          <a:prstGeom prst="rect">
            <a:avLst/>
          </a:prstGeom>
          <a:noFill/>
          <a:ln/>
        </p:spPr>
        <p:txBody>
          <a:bodyPr wrap="square" rtlCol="0" anchor="ctr"/>
          <a:lstStyle/>
          <a:p>
            <a:pPr algn="l" indent="0" marL="0">
              <a:buNone/>
            </a:pPr>
            <a:r>
              <a:rPr lang="en-US" sz="1700" dirty="0">
                <a:solidFill>
                  <a:srgbClr val="2B2D42"/>
                </a:solidFill>
                <a:latin typeface="Microsoft YaHei" pitchFamily="34" charset="0"/>
                <a:ea typeface="Microsoft YaHei" pitchFamily="34" charset="-122"/>
                <a:cs typeface="Microsoft YaHei" pitchFamily="34" charset="-120"/>
              </a:rPr>
              <a:t>每次遇到难的课程想放弃的时候，会想起自己是怎么选的这个专业，那种‘这是我自己的选择’的感觉，会让我比同学多一点点撑下去的理由。</a:t>
            </a:r>
            <a:endParaRPr lang="en-US" sz="1700" dirty="0"/>
          </a:p>
        </p:txBody>
      </p:sp>
      <p:sp>
        <p:nvSpPr>
          <p:cNvPr id="7" name="Shape 5"/>
          <p:cNvSpPr/>
          <p:nvPr/>
        </p:nvSpPr>
        <p:spPr>
          <a:xfrm>
            <a:off x="457200" y="3017520"/>
            <a:ext cx="3200400" cy="365760"/>
          </a:xfrm>
          <a:prstGeom prst="roundRect">
            <a:avLst>
              <a:gd name="adj" fmla="val 12500"/>
            </a:avLst>
          </a:prstGeom>
          <a:solidFill>
            <a:srgbClr val="EDF2F4"/>
          </a:solidFill>
          <a:ln/>
        </p:spPr>
      </p:sp>
      <p:sp>
        <p:nvSpPr>
          <p:cNvPr id="8" name="Text 6"/>
          <p:cNvSpPr/>
          <p:nvPr/>
        </p:nvSpPr>
        <p:spPr>
          <a:xfrm>
            <a:off x="640080" y="3017520"/>
            <a:ext cx="3017520" cy="365760"/>
          </a:xfrm>
          <a:prstGeom prst="rect">
            <a:avLst/>
          </a:prstGeom>
          <a:noFill/>
          <a:ln/>
        </p:spPr>
        <p:txBody>
          <a:bodyPr wrap="square" rtlCol="0" anchor="ctr"/>
          <a:lstStyle/>
          <a:p>
            <a:pPr algn="l" indent="0" marL="0">
              <a:buNone/>
            </a:pPr>
            <a:r>
              <a:rPr lang="en-US" sz="1100" dirty="0">
                <a:solidFill>
                  <a:srgbClr val="8D99AE"/>
                </a:solidFill>
                <a:latin typeface="Microsoft YaHei" pitchFamily="34" charset="0"/>
                <a:ea typeface="Microsoft YaHei" pitchFamily="34" charset="-122"/>
                <a:cs typeface="Microsoft YaHei" pitchFamily="34" charset="-120"/>
              </a:rPr>
              <a:t>— 那位说‘从乱到整齐会让我踏实’的男生后来反馈</a:t>
            </a:r>
            <a:endParaRPr lang="en-US" sz="1100" dirty="0"/>
          </a:p>
        </p:txBody>
      </p:sp>
      <p:sp>
        <p:nvSpPr>
          <p:cNvPr id="9" name="Shape 7"/>
          <p:cNvSpPr/>
          <p:nvPr/>
        </p:nvSpPr>
        <p:spPr>
          <a:xfrm>
            <a:off x="457200" y="3566160"/>
            <a:ext cx="8229600" cy="1280160"/>
          </a:xfrm>
          <a:prstGeom prst="roundRect">
            <a:avLst>
              <a:gd name="adj" fmla="val 7143"/>
            </a:avLst>
          </a:prstGeom>
          <a:solidFill>
            <a:srgbClr val="2B2D42"/>
          </a:solidFill>
          <a:ln/>
        </p:spPr>
      </p:sp>
      <p:sp>
        <p:nvSpPr>
          <p:cNvPr id="10" name="Shape 8"/>
          <p:cNvSpPr/>
          <p:nvPr/>
        </p:nvSpPr>
        <p:spPr>
          <a:xfrm>
            <a:off x="640080" y="3703320"/>
            <a:ext cx="1097280" cy="274320"/>
          </a:xfrm>
          <a:prstGeom prst="roundRect">
            <a:avLst>
              <a:gd name="adj" fmla="val 16667"/>
            </a:avLst>
          </a:prstGeom>
          <a:solidFill>
            <a:srgbClr val="EF233C"/>
          </a:solidFill>
          <a:ln/>
        </p:spPr>
      </p:sp>
      <p:sp>
        <p:nvSpPr>
          <p:cNvPr id="11" name="Text 9"/>
          <p:cNvSpPr/>
          <p:nvPr/>
        </p:nvSpPr>
        <p:spPr>
          <a:xfrm>
            <a:off x="640080" y="3703320"/>
            <a:ext cx="1097280" cy="27432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深意</a:t>
            </a:r>
            <a:endParaRPr lang="en-US" sz="1100" dirty="0"/>
          </a:p>
        </p:txBody>
      </p:sp>
      <p:sp>
        <p:nvSpPr>
          <p:cNvPr id="12" name="Text 10"/>
          <p:cNvSpPr/>
          <p:nvPr/>
        </p:nvSpPr>
        <p:spPr>
          <a:xfrm>
            <a:off x="640080" y="4114800"/>
            <a:ext cx="7863840" cy="640080"/>
          </a:xfrm>
          <a:prstGeom prst="rect">
            <a:avLst/>
          </a:prstGeom>
          <a:noFill/>
          <a:ln/>
        </p:spPr>
        <p:txBody>
          <a:bodyPr wrap="square" rtlCol="0" anchor="ctr"/>
          <a:lstStyle/>
          <a:p>
            <a:pPr algn="l" indent="0" marL="0">
              <a:buNone/>
            </a:pPr>
            <a:r>
              <a:rPr lang="en-US" sz="1500" dirty="0">
                <a:solidFill>
                  <a:srgbClr val="FFFFFF"/>
                </a:solidFill>
                <a:latin typeface="Microsoft YaHei" pitchFamily="34" charset="0"/>
                <a:ea typeface="Microsoft YaHei" pitchFamily="34" charset="-122"/>
                <a:cs typeface="Microsoft YaHei" pitchFamily="34" charset="-120"/>
              </a:rPr>
              <a:t>志愿表留给他的，不只是一个专业名字，是一次他自己做的、承担了后果的决定</a:t>
            </a:r>
            <a:endParaRPr lang="en-US" sz="1500" dirty="0"/>
          </a:p>
        </p:txBody>
      </p:sp>
      <p:sp>
        <p:nvSpPr>
          <p:cNvPr id="13" name="Shape 11"/>
          <p:cNvSpPr/>
          <p:nvPr/>
        </p:nvSpPr>
        <p:spPr>
          <a:xfrm>
            <a:off x="8366760" y="4800600"/>
            <a:ext cx="548640" cy="274320"/>
          </a:xfrm>
          <a:prstGeom prst="roundRect">
            <a:avLst>
              <a:gd name="adj" fmla="val 16667"/>
            </a:avLst>
          </a:prstGeom>
          <a:solidFill>
            <a:srgbClr val="EF233C"/>
          </a:solidFill>
          <a:ln/>
        </p:spPr>
      </p:sp>
      <p:sp>
        <p:nvSpPr>
          <p:cNvPr id="14" name="Text 12"/>
          <p:cNvSpPr/>
          <p:nvPr/>
        </p:nvSpPr>
        <p:spPr>
          <a:xfrm>
            <a:off x="8366760" y="4800600"/>
            <a:ext cx="54864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89</a:t>
            </a:r>
            <a:endParaRPr lang="en-US" sz="1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02920"/>
          </a:xfrm>
          <a:prstGeom prst="rect">
            <a:avLst/>
          </a:prstGeom>
          <a:noFill/>
          <a:ln/>
        </p:spPr>
        <p:txBody>
          <a:bodyPr wrap="square" rtlCol="0" anchor="ctr"/>
          <a:lstStyle/>
          <a:p>
            <a:pPr algn="l" indent="0" marL="0">
              <a:buNone/>
            </a:pPr>
            <a:r>
              <a:rPr lang="en-US" sz="2600" b="1" dirty="0">
                <a:solidFill>
                  <a:srgbClr val="2B2D42"/>
                </a:solidFill>
                <a:latin typeface="Microsoft YaHei" pitchFamily="34" charset="0"/>
                <a:ea typeface="Microsoft YaHei" pitchFamily="34" charset="-122"/>
                <a:cs typeface="Microsoft YaHei" pitchFamily="34" charset="-120"/>
              </a:rPr>
              <a:t>从今天开始</a:t>
            </a:r>
            <a:endParaRPr lang="en-US" sz="2600" dirty="0"/>
          </a:p>
        </p:txBody>
      </p:sp>
      <p:sp>
        <p:nvSpPr>
          <p:cNvPr id="4" name="Shape 2"/>
          <p:cNvSpPr/>
          <p:nvPr/>
        </p:nvSpPr>
        <p:spPr>
          <a:xfrm>
            <a:off x="457200" y="960120"/>
            <a:ext cx="4023360" cy="2194560"/>
          </a:xfrm>
          <a:prstGeom prst="roundRect">
            <a:avLst>
              <a:gd name="adj" fmla="val 4167"/>
            </a:avLst>
          </a:prstGeom>
          <a:solidFill>
            <a:srgbClr val="FFFFFF"/>
          </a:solidFill>
          <a:ln/>
          <a:effectLst>
            <a:outerShdw sx="100000" sy="100000" kx="0" ky="0" algn="bl" rotWithShape="0" blurRad="50800" dist="25400" dir="8100000">
              <a:srgbClr val="000000">
                <a:alpha val="8000"/>
              </a:srgbClr>
            </a:outerShdw>
          </a:effectLst>
        </p:spPr>
      </p:sp>
      <p:sp>
        <p:nvSpPr>
          <p:cNvPr id="5" name="Shape 3"/>
          <p:cNvSpPr/>
          <p:nvPr/>
        </p:nvSpPr>
        <p:spPr>
          <a:xfrm>
            <a:off x="640080" y="1143000"/>
            <a:ext cx="365760" cy="365760"/>
          </a:xfrm>
          <a:prstGeom prst="ellipse">
            <a:avLst/>
          </a:prstGeom>
          <a:solidFill>
            <a:srgbClr val="EF233C"/>
          </a:solidFill>
          <a:ln/>
        </p:spPr>
      </p:sp>
      <p:sp>
        <p:nvSpPr>
          <p:cNvPr id="6" name="Text 4"/>
          <p:cNvSpPr/>
          <p:nvPr/>
        </p:nvSpPr>
        <p:spPr>
          <a:xfrm>
            <a:off x="640080" y="114300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143000" y="1143000"/>
            <a:ext cx="3200400" cy="914400"/>
          </a:xfrm>
          <a:prstGeom prst="rect">
            <a:avLst/>
          </a:prstGeom>
          <a:noFill/>
          <a:ln/>
        </p:spPr>
        <p:txBody>
          <a:bodyPr wrap="square" rtlCol="0" anchor="t"/>
          <a:lstStyle/>
          <a:p>
            <a:pPr algn="l" indent="0" marL="0">
              <a:buNone/>
            </a:pPr>
            <a:r>
              <a:rPr lang="en-US" sz="1300" dirty="0">
                <a:solidFill>
                  <a:srgbClr val="2B2D42"/>
                </a:solidFill>
                <a:latin typeface="Microsoft YaHei" pitchFamily="34" charset="0"/>
                <a:ea typeface="Microsoft YaHei" pitchFamily="34" charset="-122"/>
                <a:cs typeface="Microsoft YaHei" pitchFamily="34" charset="-120"/>
              </a:rPr>
              <a:t>每次服务前，先问自己：这个孩子是谁</a:t>
            </a:r>
            <a:endParaRPr lang="en-US" sz="1300" dirty="0"/>
          </a:p>
        </p:txBody>
      </p:sp>
      <p:sp>
        <p:nvSpPr>
          <p:cNvPr id="8" name="Shape 6"/>
          <p:cNvSpPr/>
          <p:nvPr/>
        </p:nvSpPr>
        <p:spPr>
          <a:xfrm>
            <a:off x="640080" y="2148840"/>
            <a:ext cx="365760" cy="365760"/>
          </a:xfrm>
          <a:prstGeom prst="ellipse">
            <a:avLst/>
          </a:prstGeom>
          <a:solidFill>
            <a:srgbClr val="EF233C"/>
          </a:solidFill>
          <a:ln/>
        </p:spPr>
      </p:sp>
      <p:sp>
        <p:nvSpPr>
          <p:cNvPr id="9" name="Text 7"/>
          <p:cNvSpPr/>
          <p:nvPr/>
        </p:nvSpPr>
        <p:spPr>
          <a:xfrm>
            <a:off x="640080" y="21488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p:nvPr/>
        </p:nvSpPr>
        <p:spPr>
          <a:xfrm>
            <a:off x="1143000" y="2148840"/>
            <a:ext cx="3200400" cy="914400"/>
          </a:xfrm>
          <a:prstGeom prst="rect">
            <a:avLst/>
          </a:prstGeom>
          <a:noFill/>
          <a:ln/>
        </p:spPr>
        <p:txBody>
          <a:bodyPr wrap="square" rtlCol="0" anchor="t"/>
          <a:lstStyle/>
          <a:p>
            <a:pPr algn="l" indent="0" marL="0">
              <a:buNone/>
            </a:pPr>
            <a:r>
              <a:rPr lang="en-US" sz="1300" dirty="0">
                <a:solidFill>
                  <a:srgbClr val="2B2D42"/>
                </a:solidFill>
                <a:latin typeface="Microsoft YaHei" pitchFamily="34" charset="0"/>
                <a:ea typeface="Microsoft YaHei" pitchFamily="34" charset="-122"/>
                <a:cs typeface="Microsoft YaHei" pitchFamily="34" charset="-120"/>
              </a:rPr>
              <a:t>每次服务后，问孩子：这个方向是你自己想清楚要选的吗</a:t>
            </a:r>
            <a:endParaRPr lang="en-US" sz="1300" dirty="0"/>
          </a:p>
        </p:txBody>
      </p:sp>
      <p:sp>
        <p:nvSpPr>
          <p:cNvPr id="11" name="Shape 9"/>
          <p:cNvSpPr/>
          <p:nvPr/>
        </p:nvSpPr>
        <p:spPr>
          <a:xfrm>
            <a:off x="4663440" y="960120"/>
            <a:ext cx="4023360" cy="2194560"/>
          </a:xfrm>
          <a:prstGeom prst="roundRect">
            <a:avLst>
              <a:gd name="adj" fmla="val 4167"/>
            </a:avLst>
          </a:prstGeom>
          <a:solidFill>
            <a:srgbClr val="FFFFFF"/>
          </a:solidFill>
          <a:ln/>
          <a:effectLst>
            <a:outerShdw sx="100000" sy="100000" kx="0" ky="0" algn="bl" rotWithShape="0" blurRad="50800" dist="25400" dir="8100000">
              <a:srgbClr val="000000">
                <a:alpha val="8000"/>
              </a:srgbClr>
            </a:outerShdw>
          </a:effectLst>
        </p:spPr>
      </p:sp>
      <p:sp>
        <p:nvSpPr>
          <p:cNvPr id="12" name="Shape 10"/>
          <p:cNvSpPr/>
          <p:nvPr/>
        </p:nvSpPr>
        <p:spPr>
          <a:xfrm>
            <a:off x="4846320" y="1143000"/>
            <a:ext cx="365760" cy="365760"/>
          </a:xfrm>
          <a:prstGeom prst="ellipse">
            <a:avLst/>
          </a:prstGeom>
          <a:solidFill>
            <a:srgbClr val="EF233C"/>
          </a:solidFill>
          <a:ln/>
        </p:spPr>
      </p:sp>
      <p:sp>
        <p:nvSpPr>
          <p:cNvPr id="13" name="Text 11"/>
          <p:cNvSpPr/>
          <p:nvPr/>
        </p:nvSpPr>
        <p:spPr>
          <a:xfrm>
            <a:off x="4846320" y="114300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p:nvPr/>
        </p:nvSpPr>
        <p:spPr>
          <a:xfrm>
            <a:off x="5349240" y="1143000"/>
            <a:ext cx="3200400" cy="914400"/>
          </a:xfrm>
          <a:prstGeom prst="rect">
            <a:avLst/>
          </a:prstGeom>
          <a:noFill/>
          <a:ln/>
        </p:spPr>
        <p:txBody>
          <a:bodyPr wrap="square" rtlCol="0" anchor="t"/>
          <a:lstStyle/>
          <a:p>
            <a:pPr algn="l" indent="0" marL="0">
              <a:buNone/>
            </a:pPr>
            <a:r>
              <a:rPr lang="en-US" sz="1300" dirty="0">
                <a:solidFill>
                  <a:srgbClr val="2B2D42"/>
                </a:solidFill>
                <a:latin typeface="Microsoft YaHei" pitchFamily="34" charset="0"/>
                <a:ea typeface="Microsoft YaHei" pitchFamily="34" charset="-122"/>
                <a:cs typeface="Microsoft YaHei" pitchFamily="34" charset="-120"/>
              </a:rPr>
              <a:t>每天留出时间更新产业判断，不靠经验吃老本</a:t>
            </a:r>
            <a:endParaRPr lang="en-US" sz="1300" dirty="0"/>
          </a:p>
        </p:txBody>
      </p:sp>
      <p:sp>
        <p:nvSpPr>
          <p:cNvPr id="15" name="Shape 13"/>
          <p:cNvSpPr/>
          <p:nvPr/>
        </p:nvSpPr>
        <p:spPr>
          <a:xfrm>
            <a:off x="4846320" y="2148840"/>
            <a:ext cx="365760" cy="365760"/>
          </a:xfrm>
          <a:prstGeom prst="ellipse">
            <a:avLst/>
          </a:prstGeom>
          <a:solidFill>
            <a:srgbClr val="EF233C"/>
          </a:solidFill>
          <a:ln/>
        </p:spPr>
      </p:sp>
      <p:sp>
        <p:nvSpPr>
          <p:cNvPr id="16" name="Text 14"/>
          <p:cNvSpPr/>
          <p:nvPr/>
        </p:nvSpPr>
        <p:spPr>
          <a:xfrm>
            <a:off x="4846320" y="21488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7" name="Text 15"/>
          <p:cNvSpPr/>
          <p:nvPr/>
        </p:nvSpPr>
        <p:spPr>
          <a:xfrm>
            <a:off x="5349240" y="2148840"/>
            <a:ext cx="3200400" cy="914400"/>
          </a:xfrm>
          <a:prstGeom prst="rect">
            <a:avLst/>
          </a:prstGeom>
          <a:noFill/>
          <a:ln/>
        </p:spPr>
        <p:txBody>
          <a:bodyPr wrap="square" rtlCol="0" anchor="t"/>
          <a:lstStyle/>
          <a:p>
            <a:pPr algn="l" indent="0" marL="0">
              <a:buNone/>
            </a:pPr>
            <a:r>
              <a:rPr lang="en-US" sz="1300" dirty="0">
                <a:solidFill>
                  <a:srgbClr val="2B2D42"/>
                </a:solidFill>
                <a:latin typeface="Microsoft YaHei" pitchFamily="34" charset="0"/>
                <a:ea typeface="Microsoft YaHei" pitchFamily="34" charset="-122"/>
                <a:cs typeface="Microsoft YaHei" pitchFamily="34" charset="-120"/>
              </a:rPr>
              <a:t>把每一次服务都当成打磨判断力的机会</a:t>
            </a:r>
            <a:endParaRPr lang="en-US" sz="1300" dirty="0"/>
          </a:p>
        </p:txBody>
      </p:sp>
      <p:sp>
        <p:nvSpPr>
          <p:cNvPr id="18" name="Shape 16"/>
          <p:cNvSpPr/>
          <p:nvPr/>
        </p:nvSpPr>
        <p:spPr>
          <a:xfrm>
            <a:off x="457200" y="3337560"/>
            <a:ext cx="8229600" cy="1005840"/>
          </a:xfrm>
          <a:prstGeom prst="roundRect">
            <a:avLst>
              <a:gd name="adj" fmla="val 9091"/>
            </a:avLst>
          </a:prstGeom>
          <a:solidFill>
            <a:srgbClr val="2B2D42"/>
          </a:solidFill>
          <a:ln/>
        </p:spPr>
      </p:sp>
      <p:sp>
        <p:nvSpPr>
          <p:cNvPr id="19" name="Text 17"/>
          <p:cNvSpPr/>
          <p:nvPr/>
        </p:nvSpPr>
        <p:spPr>
          <a:xfrm>
            <a:off x="640080" y="3429000"/>
            <a:ext cx="457200" cy="457200"/>
          </a:xfrm>
          <a:prstGeom prst="rect">
            <a:avLst/>
          </a:prstGeom>
          <a:noFill/>
          <a:ln/>
        </p:spPr>
        <p:txBody>
          <a:bodyPr wrap="square" rtlCol="0" anchor="ctr"/>
          <a:lstStyle/>
          <a:p>
            <a:pPr algn="ctr" indent="0" marL="0">
              <a:buNone/>
            </a:pPr>
            <a:r>
              <a:rPr lang="en-US" sz="2400" b="1" dirty="0">
                <a:solidFill>
                  <a:srgbClr val="EF233C"/>
                </a:solidFill>
                <a:latin typeface="Arial" pitchFamily="34" charset="0"/>
                <a:ea typeface="Arial" pitchFamily="34" charset="-122"/>
                <a:cs typeface="Arial" pitchFamily="34" charset="-120"/>
              </a:rPr>
              <a:t>★</a:t>
            </a:r>
            <a:endParaRPr lang="en-US" sz="2400" dirty="0"/>
          </a:p>
        </p:txBody>
      </p:sp>
      <p:sp>
        <p:nvSpPr>
          <p:cNvPr id="20" name="Text 18"/>
          <p:cNvSpPr/>
          <p:nvPr/>
        </p:nvSpPr>
        <p:spPr>
          <a:xfrm>
            <a:off x="1188720" y="3429000"/>
            <a:ext cx="7132320" cy="822960"/>
          </a:xfrm>
          <a:prstGeom prst="rect">
            <a:avLst/>
          </a:prstGeom>
          <a:noFill/>
          <a:ln/>
        </p:spPr>
        <p:txBody>
          <a:bodyPr wrap="square" rtlCol="0" anchor="ctr"/>
          <a:lstStyle/>
          <a:p>
            <a:pPr algn="l" indent="0" marL="0">
              <a:buNone/>
            </a:pPr>
            <a:r>
              <a:rPr lang="en-US" sz="1800" b="1" dirty="0">
                <a:solidFill>
                  <a:srgbClr val="FFFFFF"/>
                </a:solidFill>
                <a:latin typeface="Microsoft YaHei" pitchFamily="34" charset="0"/>
                <a:ea typeface="Microsoft YaHei" pitchFamily="34" charset="-122"/>
                <a:cs typeface="Microsoft YaHei" pitchFamily="34" charset="-120"/>
              </a:rPr>
              <a:t>工具会越来越强，但判断力永远在人身上</a:t>
            </a:r>
            <a:endParaRPr lang="en-US" sz="1800" dirty="0"/>
          </a:p>
        </p:txBody>
      </p:sp>
      <p:sp>
        <p:nvSpPr>
          <p:cNvPr id="21" name="Shape 19"/>
          <p:cNvSpPr/>
          <p:nvPr/>
        </p:nvSpPr>
        <p:spPr>
          <a:xfrm>
            <a:off x="457200" y="4526280"/>
            <a:ext cx="8229600" cy="457200"/>
          </a:xfrm>
          <a:prstGeom prst="roundRect">
            <a:avLst>
              <a:gd name="adj" fmla="val 16000"/>
            </a:avLst>
          </a:prstGeom>
          <a:solidFill>
            <a:srgbClr val="EDF2F4"/>
          </a:solidFill>
          <a:ln/>
        </p:spPr>
      </p:sp>
      <p:sp>
        <p:nvSpPr>
          <p:cNvPr id="22" name="Text 20"/>
          <p:cNvSpPr/>
          <p:nvPr/>
        </p:nvSpPr>
        <p:spPr>
          <a:xfrm>
            <a:off x="640080" y="4526280"/>
            <a:ext cx="7863840" cy="457200"/>
          </a:xfrm>
          <a:prstGeom prst="rect">
            <a:avLst/>
          </a:prstGeom>
          <a:noFill/>
          <a:ln/>
        </p:spPr>
        <p:txBody>
          <a:bodyPr wrap="square" rtlCol="0" anchor="ctr"/>
          <a:lstStyle/>
          <a:p>
            <a:pPr algn="ctr" indent="0" marL="0">
              <a:buNone/>
            </a:pPr>
            <a:r>
              <a:rPr lang="en-US" sz="1200" dirty="0">
                <a:solidFill>
                  <a:srgbClr val="8D99AE"/>
                </a:solidFill>
                <a:latin typeface="Microsoft YaHei" pitchFamily="34" charset="0"/>
                <a:ea typeface="Microsoft YaHei" pitchFamily="34" charset="-122"/>
                <a:cs typeface="Microsoft YaHei" pitchFamily="34" charset="-120"/>
              </a:rPr>
              <a:t>记住：我们的价值不在于提供答案，而在于帮孩子学会问对的问题</a:t>
            </a:r>
            <a:endParaRPr lang="en-US" sz="1200" dirty="0"/>
          </a:p>
        </p:txBody>
      </p:sp>
      <p:sp>
        <p:nvSpPr>
          <p:cNvPr id="23" name="Shape 21"/>
          <p:cNvSpPr/>
          <p:nvPr/>
        </p:nvSpPr>
        <p:spPr>
          <a:xfrm>
            <a:off x="8366760" y="4800600"/>
            <a:ext cx="548640" cy="274320"/>
          </a:xfrm>
          <a:prstGeom prst="roundRect">
            <a:avLst>
              <a:gd name="adj" fmla="val 16667"/>
            </a:avLst>
          </a:prstGeom>
          <a:solidFill>
            <a:srgbClr val="EF233C"/>
          </a:solidFill>
          <a:ln/>
        </p:spPr>
      </p:sp>
      <p:sp>
        <p:nvSpPr>
          <p:cNvPr id="24" name="Text 22"/>
          <p:cNvSpPr/>
          <p:nvPr/>
        </p:nvSpPr>
        <p:spPr>
          <a:xfrm>
            <a:off x="8366760" y="4800600"/>
            <a:ext cx="54864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90</a:t>
            </a:r>
            <a:endParaRPr lang="en-US" sz="1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02920"/>
          </a:xfrm>
          <a:prstGeom prst="rect">
            <a:avLst/>
          </a:prstGeom>
          <a:noFill/>
          <a:ln/>
        </p:spPr>
        <p:txBody>
          <a:bodyPr wrap="square" rtlCol="0" anchor="ctr"/>
          <a:lstStyle/>
          <a:p>
            <a:pPr algn="l" indent="0" marL="0">
              <a:buNone/>
            </a:pPr>
            <a:r>
              <a:rPr lang="en-US" sz="2600" b="1" dirty="0">
                <a:solidFill>
                  <a:srgbClr val="2B2D42"/>
                </a:solidFill>
                <a:latin typeface="Microsoft YaHei" pitchFamily="34" charset="0"/>
                <a:ea typeface="Microsoft YaHei" pitchFamily="34" charset="-122"/>
                <a:cs typeface="Microsoft YaHei" pitchFamily="34" charset="-120"/>
              </a:rPr>
              <a:t>推荐阅读与资源</a:t>
            </a:r>
            <a:endParaRPr lang="en-US" sz="2600" dirty="0"/>
          </a:p>
        </p:txBody>
      </p:sp>
      <p:sp>
        <p:nvSpPr>
          <p:cNvPr id="4" name="Shape 2"/>
          <p:cNvSpPr/>
          <p:nvPr/>
        </p:nvSpPr>
        <p:spPr>
          <a:xfrm>
            <a:off x="457200" y="960120"/>
            <a:ext cx="8229600" cy="2560320"/>
          </a:xfrm>
          <a:prstGeom prst="roundRect">
            <a:avLst>
              <a:gd name="adj" fmla="val 3571"/>
            </a:avLst>
          </a:prstGeom>
          <a:solidFill>
            <a:srgbClr val="FFFFFF"/>
          </a:solidFill>
          <a:ln/>
          <a:effectLst>
            <a:outerShdw sx="100000" sy="100000" kx="0" ky="0" algn="bl" rotWithShape="0" blurRad="50800" dist="25400" dir="8100000">
              <a:srgbClr val="000000">
                <a:alpha val="8000"/>
              </a:srgbClr>
            </a:outerShdw>
          </a:effectLst>
        </p:spPr>
      </p:sp>
      <p:sp>
        <p:nvSpPr>
          <p:cNvPr id="5" name="Shape 3"/>
          <p:cNvSpPr/>
          <p:nvPr/>
        </p:nvSpPr>
        <p:spPr>
          <a:xfrm>
            <a:off x="685800" y="1143000"/>
            <a:ext cx="365760" cy="365760"/>
          </a:xfrm>
          <a:prstGeom prst="ellipse">
            <a:avLst/>
          </a:prstGeom>
          <a:solidFill>
            <a:srgbClr val="EF233C"/>
          </a:solidFill>
          <a:ln/>
        </p:spPr>
      </p:sp>
      <p:sp>
        <p:nvSpPr>
          <p:cNvPr id="6" name="Text 4"/>
          <p:cNvSpPr/>
          <p:nvPr/>
        </p:nvSpPr>
        <p:spPr>
          <a:xfrm>
            <a:off x="685800" y="114300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34440" y="1143000"/>
            <a:ext cx="7223760" cy="457200"/>
          </a:xfrm>
          <a:prstGeom prst="rect">
            <a:avLst/>
          </a:prstGeom>
          <a:noFill/>
          <a:ln/>
        </p:spPr>
        <p:txBody>
          <a:bodyPr wrap="square" rtlCol="0" anchor="ctr"/>
          <a:lstStyle/>
          <a:p>
            <a:pPr algn="l" indent="0" marL="0">
              <a:buNone/>
            </a:pPr>
            <a:r>
              <a:rPr lang="en-US" sz="1600" dirty="0">
                <a:solidFill>
                  <a:srgbClr val="2B2D42"/>
                </a:solidFill>
                <a:latin typeface="Microsoft YaHei" pitchFamily="34" charset="0"/>
                <a:ea typeface="Microsoft YaHei" pitchFamily="34" charset="-122"/>
                <a:cs typeface="Microsoft YaHei" pitchFamily="34" charset="-120"/>
              </a:rPr>
              <a:t>持续关注招聘网站上的岗位JD变化</a:t>
            </a:r>
            <a:endParaRPr lang="en-US" sz="1600" dirty="0"/>
          </a:p>
        </p:txBody>
      </p:sp>
      <p:sp>
        <p:nvSpPr>
          <p:cNvPr id="8" name="Shape 6"/>
          <p:cNvSpPr/>
          <p:nvPr/>
        </p:nvSpPr>
        <p:spPr>
          <a:xfrm>
            <a:off x="685800" y="1737360"/>
            <a:ext cx="365760" cy="365760"/>
          </a:xfrm>
          <a:prstGeom prst="ellipse">
            <a:avLst/>
          </a:prstGeom>
          <a:solidFill>
            <a:srgbClr val="EF233C"/>
          </a:solidFill>
          <a:ln/>
        </p:spPr>
      </p:sp>
      <p:sp>
        <p:nvSpPr>
          <p:cNvPr id="9" name="Text 7"/>
          <p:cNvSpPr/>
          <p:nvPr/>
        </p:nvSpPr>
        <p:spPr>
          <a:xfrm>
            <a:off x="685800" y="173736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p:nvPr/>
        </p:nvSpPr>
        <p:spPr>
          <a:xfrm>
            <a:off x="1234440" y="1737360"/>
            <a:ext cx="7223760" cy="457200"/>
          </a:xfrm>
          <a:prstGeom prst="rect">
            <a:avLst/>
          </a:prstGeom>
          <a:noFill/>
          <a:ln/>
        </p:spPr>
        <p:txBody>
          <a:bodyPr wrap="square" rtlCol="0" anchor="ctr"/>
          <a:lstStyle/>
          <a:p>
            <a:pPr algn="l" indent="0" marL="0">
              <a:buNone/>
            </a:pPr>
            <a:r>
              <a:rPr lang="en-US" sz="1600" dirty="0">
                <a:solidFill>
                  <a:srgbClr val="2B2D42"/>
                </a:solidFill>
                <a:latin typeface="Microsoft YaHei" pitchFamily="34" charset="0"/>
                <a:ea typeface="Microsoft YaHei" pitchFamily="34" charset="-122"/>
                <a:cs typeface="Microsoft YaHei" pitchFamily="34" charset="-120"/>
              </a:rPr>
              <a:t>每年更新各行业产业报告</a:t>
            </a:r>
            <a:endParaRPr lang="en-US" sz="1600" dirty="0"/>
          </a:p>
        </p:txBody>
      </p:sp>
      <p:sp>
        <p:nvSpPr>
          <p:cNvPr id="11" name="Shape 9"/>
          <p:cNvSpPr/>
          <p:nvPr/>
        </p:nvSpPr>
        <p:spPr>
          <a:xfrm>
            <a:off x="685800" y="2331720"/>
            <a:ext cx="365760" cy="365760"/>
          </a:xfrm>
          <a:prstGeom prst="ellipse">
            <a:avLst/>
          </a:prstGeom>
          <a:solidFill>
            <a:srgbClr val="EF233C"/>
          </a:solidFill>
          <a:ln/>
        </p:spPr>
      </p:sp>
      <p:sp>
        <p:nvSpPr>
          <p:cNvPr id="12" name="Text 10"/>
          <p:cNvSpPr/>
          <p:nvPr/>
        </p:nvSpPr>
        <p:spPr>
          <a:xfrm>
            <a:off x="685800" y="233172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p:nvPr/>
        </p:nvSpPr>
        <p:spPr>
          <a:xfrm>
            <a:off x="1234440" y="2331720"/>
            <a:ext cx="7223760" cy="457200"/>
          </a:xfrm>
          <a:prstGeom prst="rect">
            <a:avLst/>
          </a:prstGeom>
          <a:noFill/>
          <a:ln/>
        </p:spPr>
        <p:txBody>
          <a:bodyPr wrap="square" rtlCol="0" anchor="ctr"/>
          <a:lstStyle/>
          <a:p>
            <a:pPr algn="l" indent="0" marL="0">
              <a:buNone/>
            </a:pPr>
            <a:r>
              <a:rPr lang="en-US" sz="1600" dirty="0">
                <a:solidFill>
                  <a:srgbClr val="2B2D42"/>
                </a:solidFill>
                <a:latin typeface="Microsoft YaHei" pitchFamily="34" charset="0"/>
                <a:ea typeface="Microsoft YaHei" pitchFamily="34" charset="-122"/>
                <a:cs typeface="Microsoft YaHei" pitchFamily="34" charset="-120"/>
              </a:rPr>
              <a:t>建立自己的行业人脉网络</a:t>
            </a:r>
            <a:endParaRPr lang="en-US" sz="1600" dirty="0"/>
          </a:p>
        </p:txBody>
      </p:sp>
      <p:sp>
        <p:nvSpPr>
          <p:cNvPr id="14" name="Shape 12"/>
          <p:cNvSpPr/>
          <p:nvPr/>
        </p:nvSpPr>
        <p:spPr>
          <a:xfrm>
            <a:off x="685800" y="2926080"/>
            <a:ext cx="365760" cy="365760"/>
          </a:xfrm>
          <a:prstGeom prst="ellipse">
            <a:avLst/>
          </a:prstGeom>
          <a:solidFill>
            <a:srgbClr val="EF233C"/>
          </a:solidFill>
          <a:ln/>
        </p:spPr>
      </p:sp>
      <p:sp>
        <p:nvSpPr>
          <p:cNvPr id="15" name="Text 13"/>
          <p:cNvSpPr/>
          <p:nvPr/>
        </p:nvSpPr>
        <p:spPr>
          <a:xfrm>
            <a:off x="685800" y="292608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6" name="Text 14"/>
          <p:cNvSpPr/>
          <p:nvPr/>
        </p:nvSpPr>
        <p:spPr>
          <a:xfrm>
            <a:off x="1234440" y="2926080"/>
            <a:ext cx="7223760" cy="457200"/>
          </a:xfrm>
          <a:prstGeom prst="rect">
            <a:avLst/>
          </a:prstGeom>
          <a:noFill/>
          <a:ln/>
        </p:spPr>
        <p:txBody>
          <a:bodyPr wrap="square" rtlCol="0" anchor="ctr"/>
          <a:lstStyle/>
          <a:p>
            <a:pPr algn="l" indent="0" marL="0">
              <a:buNone/>
            </a:pPr>
            <a:r>
              <a:rPr lang="en-US" sz="1600" dirty="0">
                <a:solidFill>
                  <a:srgbClr val="2B2D42"/>
                </a:solidFill>
                <a:latin typeface="Microsoft YaHei" pitchFamily="34" charset="0"/>
                <a:ea typeface="Microsoft YaHei" pitchFamily="34" charset="-122"/>
                <a:cs typeface="Microsoft YaHei" pitchFamily="34" charset="-120"/>
              </a:rPr>
              <a:t>关注教育部和各高校招生政策变化</a:t>
            </a:r>
            <a:endParaRPr lang="en-US" sz="1600" dirty="0"/>
          </a:p>
        </p:txBody>
      </p:sp>
      <p:sp>
        <p:nvSpPr>
          <p:cNvPr id="17" name="Shape 15"/>
          <p:cNvSpPr/>
          <p:nvPr/>
        </p:nvSpPr>
        <p:spPr>
          <a:xfrm>
            <a:off x="457200" y="3703320"/>
            <a:ext cx="8229600" cy="777240"/>
          </a:xfrm>
          <a:prstGeom prst="roundRect">
            <a:avLst>
              <a:gd name="adj" fmla="val 9412"/>
            </a:avLst>
          </a:prstGeom>
          <a:solidFill>
            <a:srgbClr val="EDF2F4"/>
          </a:solidFill>
          <a:ln/>
        </p:spPr>
      </p:sp>
      <p:sp>
        <p:nvSpPr>
          <p:cNvPr id="18" name="Text 16"/>
          <p:cNvSpPr/>
          <p:nvPr/>
        </p:nvSpPr>
        <p:spPr>
          <a:xfrm>
            <a:off x="640080" y="3794760"/>
            <a:ext cx="365760" cy="365760"/>
          </a:xfrm>
          <a:prstGeom prst="rect">
            <a:avLst/>
          </a:prstGeom>
          <a:noFill/>
          <a:ln/>
        </p:spPr>
        <p:txBody>
          <a:bodyPr wrap="square" rtlCol="0" anchor="ctr"/>
          <a:lstStyle/>
          <a:p>
            <a:pPr algn="ctr" indent="0" marL="0">
              <a:buNone/>
            </a:pPr>
            <a:r>
              <a:rPr lang="en-US" sz="2000" b="1" dirty="0">
                <a:solidFill>
                  <a:srgbClr val="EF233C"/>
                </a:solidFill>
                <a:latin typeface="Arial" pitchFamily="34" charset="0"/>
                <a:ea typeface="Arial" pitchFamily="34" charset="-122"/>
                <a:cs typeface="Arial" pitchFamily="34" charset="-120"/>
              </a:rPr>
              <a:t>!</a:t>
            </a:r>
            <a:endParaRPr lang="en-US" sz="2000" dirty="0"/>
          </a:p>
        </p:txBody>
      </p:sp>
      <p:sp>
        <p:nvSpPr>
          <p:cNvPr id="19" name="Text 17"/>
          <p:cNvSpPr/>
          <p:nvPr/>
        </p:nvSpPr>
        <p:spPr>
          <a:xfrm>
            <a:off x="1097280" y="3794760"/>
            <a:ext cx="7406640" cy="594360"/>
          </a:xfrm>
          <a:prstGeom prst="rect">
            <a:avLst/>
          </a:prstGeom>
          <a:noFill/>
          <a:ln/>
        </p:spPr>
        <p:txBody>
          <a:bodyPr wrap="square" rtlCol="0" anchor="ctr"/>
          <a:lstStyle/>
          <a:p>
            <a:pPr algn="l" indent="0" marL="0">
              <a:buNone/>
            </a:pPr>
            <a:r>
              <a:rPr lang="en-US" sz="1500" dirty="0">
                <a:solidFill>
                  <a:srgbClr val="8D99AE"/>
                </a:solidFill>
                <a:latin typeface="Microsoft YaHei" pitchFamily="34" charset="0"/>
                <a:ea typeface="Microsoft YaHei" pitchFamily="34" charset="-122"/>
                <a:cs typeface="Microsoft YaHei" pitchFamily="34" charset="-120"/>
              </a:rPr>
              <a:t>产业判断力需要每天更新，不是一劳永逸的事</a:t>
            </a:r>
            <a:endParaRPr lang="en-US" sz="1500" dirty="0"/>
          </a:p>
        </p:txBody>
      </p:sp>
      <p:sp>
        <p:nvSpPr>
          <p:cNvPr id="20" name="Shape 18"/>
          <p:cNvSpPr/>
          <p:nvPr/>
        </p:nvSpPr>
        <p:spPr>
          <a:xfrm>
            <a:off x="8366760" y="4800600"/>
            <a:ext cx="548640" cy="274320"/>
          </a:xfrm>
          <a:prstGeom prst="roundRect">
            <a:avLst>
              <a:gd name="adj" fmla="val 16667"/>
            </a:avLst>
          </a:prstGeom>
          <a:solidFill>
            <a:srgbClr val="EF233C"/>
          </a:solidFill>
          <a:ln/>
        </p:spPr>
      </p:sp>
      <p:sp>
        <p:nvSpPr>
          <p:cNvPr id="21" name="Text 19"/>
          <p:cNvSpPr/>
          <p:nvPr/>
        </p:nvSpPr>
        <p:spPr>
          <a:xfrm>
            <a:off x="8366760" y="4800600"/>
            <a:ext cx="54864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91</a:t>
            </a:r>
            <a:endParaRPr lang="en-US" sz="1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274320"/>
            <a:ext cx="8229600" cy="457200"/>
          </a:xfrm>
          <a:prstGeom prst="rect">
            <a:avLst/>
          </a:prstGeom>
          <a:noFill/>
          <a:ln/>
        </p:spPr>
        <p:txBody>
          <a:bodyPr wrap="square" rtlCol="0" anchor="ctr"/>
          <a:lstStyle/>
          <a:p>
            <a:pPr algn="l" indent="0" marL="0">
              <a:buNone/>
            </a:pPr>
            <a:r>
              <a:rPr lang="en-US" sz="2600" b="1" dirty="0">
                <a:solidFill>
                  <a:srgbClr val="2B2D42"/>
                </a:solidFill>
                <a:latin typeface="Microsoft YaHei" pitchFamily="34" charset="0"/>
                <a:ea typeface="Microsoft YaHei" pitchFamily="34" charset="-122"/>
                <a:cs typeface="Microsoft YaHei" pitchFamily="34" charset="-120"/>
              </a:rPr>
              <a:t>自我检视清单</a:t>
            </a:r>
            <a:endParaRPr lang="en-US" sz="2600" dirty="0"/>
          </a:p>
        </p:txBody>
      </p:sp>
      <p:sp>
        <p:nvSpPr>
          <p:cNvPr id="4" name="Shape 2"/>
          <p:cNvSpPr/>
          <p:nvPr/>
        </p:nvSpPr>
        <p:spPr>
          <a:xfrm>
            <a:off x="457200" y="822960"/>
            <a:ext cx="8229600" cy="2560320"/>
          </a:xfrm>
          <a:prstGeom prst="roundRect">
            <a:avLst>
              <a:gd name="adj" fmla="val 3571"/>
            </a:avLst>
          </a:prstGeom>
          <a:solidFill>
            <a:srgbClr val="FFFFFF"/>
          </a:solidFill>
          <a:ln/>
          <a:effectLst>
            <a:outerShdw sx="100000" sy="100000" kx="0" ky="0" algn="bl" rotWithShape="0" blurRad="50800" dist="25400" dir="8100000">
              <a:srgbClr val="000000">
                <a:alpha val="8000"/>
              </a:srgbClr>
            </a:outerShdw>
          </a:effectLst>
        </p:spPr>
      </p:sp>
      <p:sp>
        <p:nvSpPr>
          <p:cNvPr id="5" name="Shape 3"/>
          <p:cNvSpPr/>
          <p:nvPr/>
        </p:nvSpPr>
        <p:spPr>
          <a:xfrm>
            <a:off x="640080" y="960120"/>
            <a:ext cx="320040" cy="320040"/>
          </a:xfrm>
          <a:prstGeom prst="ellipse">
            <a:avLst/>
          </a:prstGeom>
          <a:solidFill>
            <a:srgbClr val="EDF2F4"/>
          </a:solidFill>
          <a:ln/>
        </p:spPr>
      </p:sp>
      <p:sp>
        <p:nvSpPr>
          <p:cNvPr id="6" name="Text 4"/>
          <p:cNvSpPr/>
          <p:nvPr/>
        </p:nvSpPr>
        <p:spPr>
          <a:xfrm>
            <a:off x="640080" y="960120"/>
            <a:ext cx="320040" cy="320040"/>
          </a:xfrm>
          <a:prstGeom prst="rect">
            <a:avLst/>
          </a:prstGeom>
          <a:noFill/>
          <a:ln/>
        </p:spPr>
        <p:txBody>
          <a:bodyPr wrap="square" rtlCol="0" anchor="ctr"/>
          <a:lstStyle/>
          <a:p>
            <a:pPr algn="ctr" indent="0" marL="0">
              <a:buNone/>
            </a:pPr>
            <a:r>
              <a:rPr lang="en-US" sz="1400" b="1" dirty="0">
                <a:solidFill>
                  <a:srgbClr val="EF233C"/>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1097280" y="960120"/>
            <a:ext cx="7406640" cy="384048"/>
          </a:xfrm>
          <a:prstGeom prst="rect">
            <a:avLst/>
          </a:prstGeom>
          <a:noFill/>
          <a:ln/>
        </p:spPr>
        <p:txBody>
          <a:bodyPr wrap="square" rtlCol="0" anchor="ctr"/>
          <a:lstStyle/>
          <a:p>
            <a:pPr algn="l" indent="0" marL="0">
              <a:buNone/>
            </a:pPr>
            <a:r>
              <a:rPr lang="en-US" sz="1400" dirty="0">
                <a:solidFill>
                  <a:srgbClr val="2B2D42"/>
                </a:solidFill>
                <a:latin typeface="Microsoft YaHei" pitchFamily="34" charset="0"/>
                <a:ea typeface="Microsoft YaHei" pitchFamily="34" charset="-122"/>
                <a:cs typeface="Microsoft YaHei" pitchFamily="34" charset="-120"/>
              </a:rPr>
              <a:t>我最近一次问“这个孩子是谁”是什么时候？</a:t>
            </a:r>
            <a:endParaRPr lang="en-US" sz="1400" dirty="0"/>
          </a:p>
        </p:txBody>
      </p:sp>
      <p:sp>
        <p:nvSpPr>
          <p:cNvPr id="8" name="Shape 6"/>
          <p:cNvSpPr/>
          <p:nvPr/>
        </p:nvSpPr>
        <p:spPr>
          <a:xfrm>
            <a:off x="640080" y="1435608"/>
            <a:ext cx="320040" cy="320040"/>
          </a:xfrm>
          <a:prstGeom prst="ellipse">
            <a:avLst/>
          </a:prstGeom>
          <a:solidFill>
            <a:srgbClr val="EDF2F4"/>
          </a:solidFill>
          <a:ln/>
        </p:spPr>
      </p:sp>
      <p:sp>
        <p:nvSpPr>
          <p:cNvPr id="9" name="Text 7"/>
          <p:cNvSpPr/>
          <p:nvPr/>
        </p:nvSpPr>
        <p:spPr>
          <a:xfrm>
            <a:off x="640080" y="1435608"/>
            <a:ext cx="320040" cy="320040"/>
          </a:xfrm>
          <a:prstGeom prst="rect">
            <a:avLst/>
          </a:prstGeom>
          <a:noFill/>
          <a:ln/>
        </p:spPr>
        <p:txBody>
          <a:bodyPr wrap="square" rtlCol="0" anchor="ctr"/>
          <a:lstStyle/>
          <a:p>
            <a:pPr algn="ctr" indent="0" marL="0">
              <a:buNone/>
            </a:pPr>
            <a:r>
              <a:rPr lang="en-US" sz="1400" b="1" dirty="0">
                <a:solidFill>
                  <a:srgbClr val="EF233C"/>
                </a:solidFill>
                <a:latin typeface="Arial" pitchFamily="34" charset="0"/>
                <a:ea typeface="Arial" pitchFamily="34" charset="-122"/>
                <a:cs typeface="Arial" pitchFamily="34" charset="-120"/>
              </a:rPr>
              <a:t>?</a:t>
            </a:r>
            <a:endParaRPr lang="en-US" sz="1400" dirty="0"/>
          </a:p>
        </p:txBody>
      </p:sp>
      <p:sp>
        <p:nvSpPr>
          <p:cNvPr id="10" name="Text 8"/>
          <p:cNvSpPr/>
          <p:nvPr/>
        </p:nvSpPr>
        <p:spPr>
          <a:xfrm>
            <a:off x="1097280" y="1435608"/>
            <a:ext cx="7406640" cy="384048"/>
          </a:xfrm>
          <a:prstGeom prst="rect">
            <a:avLst/>
          </a:prstGeom>
          <a:noFill/>
          <a:ln/>
        </p:spPr>
        <p:txBody>
          <a:bodyPr wrap="square" rtlCol="0" anchor="ctr"/>
          <a:lstStyle/>
          <a:p>
            <a:pPr algn="l" indent="0" marL="0">
              <a:buNone/>
            </a:pPr>
            <a:r>
              <a:rPr lang="en-US" sz="1400" dirty="0">
                <a:solidFill>
                  <a:srgbClr val="2B2D42"/>
                </a:solidFill>
                <a:latin typeface="Microsoft YaHei" pitchFamily="34" charset="0"/>
                <a:ea typeface="Microsoft YaHei" pitchFamily="34" charset="-122"/>
                <a:cs typeface="Microsoft YaHei" pitchFamily="34" charset="-120"/>
              </a:rPr>
              <a:t>我有没有把决定权留给孩子自己？</a:t>
            </a:r>
            <a:endParaRPr lang="en-US" sz="1400" dirty="0"/>
          </a:p>
        </p:txBody>
      </p:sp>
      <p:sp>
        <p:nvSpPr>
          <p:cNvPr id="11" name="Shape 9"/>
          <p:cNvSpPr/>
          <p:nvPr/>
        </p:nvSpPr>
        <p:spPr>
          <a:xfrm>
            <a:off x="640080" y="1911096"/>
            <a:ext cx="320040" cy="320040"/>
          </a:xfrm>
          <a:prstGeom prst="ellipse">
            <a:avLst/>
          </a:prstGeom>
          <a:solidFill>
            <a:srgbClr val="EDF2F4"/>
          </a:solidFill>
          <a:ln/>
        </p:spPr>
      </p:sp>
      <p:sp>
        <p:nvSpPr>
          <p:cNvPr id="12" name="Text 10"/>
          <p:cNvSpPr/>
          <p:nvPr/>
        </p:nvSpPr>
        <p:spPr>
          <a:xfrm>
            <a:off x="640080" y="1911096"/>
            <a:ext cx="320040" cy="320040"/>
          </a:xfrm>
          <a:prstGeom prst="rect">
            <a:avLst/>
          </a:prstGeom>
          <a:noFill/>
          <a:ln/>
        </p:spPr>
        <p:txBody>
          <a:bodyPr wrap="square" rtlCol="0" anchor="ctr"/>
          <a:lstStyle/>
          <a:p>
            <a:pPr algn="ctr" indent="0" marL="0">
              <a:buNone/>
            </a:pPr>
            <a:r>
              <a:rPr lang="en-US" sz="1400" b="1" dirty="0">
                <a:solidFill>
                  <a:srgbClr val="EF233C"/>
                </a:solidFill>
                <a:latin typeface="Arial" pitchFamily="34" charset="0"/>
                <a:ea typeface="Arial" pitchFamily="34" charset="-122"/>
                <a:cs typeface="Arial" pitchFamily="34" charset="-120"/>
              </a:rPr>
              <a:t>?</a:t>
            </a:r>
            <a:endParaRPr lang="en-US" sz="1400" dirty="0"/>
          </a:p>
        </p:txBody>
      </p:sp>
      <p:sp>
        <p:nvSpPr>
          <p:cNvPr id="13" name="Text 11"/>
          <p:cNvSpPr/>
          <p:nvPr/>
        </p:nvSpPr>
        <p:spPr>
          <a:xfrm>
            <a:off x="1097280" y="1911096"/>
            <a:ext cx="7406640" cy="384048"/>
          </a:xfrm>
          <a:prstGeom prst="rect">
            <a:avLst/>
          </a:prstGeom>
          <a:noFill/>
          <a:ln/>
        </p:spPr>
        <p:txBody>
          <a:bodyPr wrap="square" rtlCol="0" anchor="ctr"/>
          <a:lstStyle/>
          <a:p>
            <a:pPr algn="l" indent="0" marL="0">
              <a:buNone/>
            </a:pPr>
            <a:r>
              <a:rPr lang="en-US" sz="1400" dirty="0">
                <a:solidFill>
                  <a:srgbClr val="2B2D42"/>
                </a:solidFill>
                <a:latin typeface="Microsoft YaHei" pitchFamily="34" charset="0"/>
                <a:ea typeface="Microsoft YaHei" pitchFamily="34" charset="-122"/>
                <a:cs typeface="Microsoft YaHei" pitchFamily="34" charset="-120"/>
              </a:rPr>
              <a:t>我上次更新产业判断是什么时候？</a:t>
            </a:r>
            <a:endParaRPr lang="en-US" sz="1400" dirty="0"/>
          </a:p>
        </p:txBody>
      </p:sp>
      <p:sp>
        <p:nvSpPr>
          <p:cNvPr id="14" name="Shape 12"/>
          <p:cNvSpPr/>
          <p:nvPr/>
        </p:nvSpPr>
        <p:spPr>
          <a:xfrm>
            <a:off x="640080" y="2386584"/>
            <a:ext cx="320040" cy="320040"/>
          </a:xfrm>
          <a:prstGeom prst="ellipse">
            <a:avLst/>
          </a:prstGeom>
          <a:solidFill>
            <a:srgbClr val="EDF2F4"/>
          </a:solidFill>
          <a:ln/>
        </p:spPr>
      </p:sp>
      <p:sp>
        <p:nvSpPr>
          <p:cNvPr id="15" name="Text 13"/>
          <p:cNvSpPr/>
          <p:nvPr/>
        </p:nvSpPr>
        <p:spPr>
          <a:xfrm>
            <a:off x="640080" y="2386584"/>
            <a:ext cx="320040" cy="320040"/>
          </a:xfrm>
          <a:prstGeom prst="rect">
            <a:avLst/>
          </a:prstGeom>
          <a:noFill/>
          <a:ln/>
        </p:spPr>
        <p:txBody>
          <a:bodyPr wrap="square" rtlCol="0" anchor="ctr"/>
          <a:lstStyle/>
          <a:p>
            <a:pPr algn="ctr" indent="0" marL="0">
              <a:buNone/>
            </a:pPr>
            <a:r>
              <a:rPr lang="en-US" sz="1400" b="1" dirty="0">
                <a:solidFill>
                  <a:srgbClr val="EF233C"/>
                </a:solidFill>
                <a:latin typeface="Arial" pitchFamily="34" charset="0"/>
                <a:ea typeface="Arial" pitchFamily="34" charset="-122"/>
                <a:cs typeface="Arial" pitchFamily="34" charset="-120"/>
              </a:rPr>
              <a:t>?</a:t>
            </a:r>
            <a:endParaRPr lang="en-US" sz="1400" dirty="0"/>
          </a:p>
        </p:txBody>
      </p:sp>
      <p:sp>
        <p:nvSpPr>
          <p:cNvPr id="16" name="Text 14"/>
          <p:cNvSpPr/>
          <p:nvPr/>
        </p:nvSpPr>
        <p:spPr>
          <a:xfrm>
            <a:off x="1097280" y="2386584"/>
            <a:ext cx="7406640" cy="384048"/>
          </a:xfrm>
          <a:prstGeom prst="rect">
            <a:avLst/>
          </a:prstGeom>
          <a:noFill/>
          <a:ln/>
        </p:spPr>
        <p:txBody>
          <a:bodyPr wrap="square" rtlCol="0" anchor="ctr"/>
          <a:lstStyle/>
          <a:p>
            <a:pPr algn="l" indent="0" marL="0">
              <a:buNone/>
            </a:pPr>
            <a:r>
              <a:rPr lang="en-US" sz="1400" dirty="0">
                <a:solidFill>
                  <a:srgbClr val="2B2D42"/>
                </a:solidFill>
                <a:latin typeface="Microsoft YaHei" pitchFamily="34" charset="0"/>
                <a:ea typeface="Microsoft YaHei" pitchFamily="34" charset="-122"/>
                <a:cs typeface="Microsoft YaHei" pitchFamily="34" charset="-120"/>
              </a:rPr>
              <a:t>我有没有在追求口碑而不是追求判断质量？</a:t>
            </a:r>
            <a:endParaRPr lang="en-US" sz="1400" dirty="0"/>
          </a:p>
        </p:txBody>
      </p:sp>
      <p:sp>
        <p:nvSpPr>
          <p:cNvPr id="17" name="Shape 15"/>
          <p:cNvSpPr/>
          <p:nvPr/>
        </p:nvSpPr>
        <p:spPr>
          <a:xfrm>
            <a:off x="640080" y="2862072"/>
            <a:ext cx="320040" cy="320040"/>
          </a:xfrm>
          <a:prstGeom prst="ellipse">
            <a:avLst/>
          </a:prstGeom>
          <a:solidFill>
            <a:srgbClr val="EDF2F4"/>
          </a:solidFill>
          <a:ln/>
        </p:spPr>
      </p:sp>
      <p:sp>
        <p:nvSpPr>
          <p:cNvPr id="18" name="Text 16"/>
          <p:cNvSpPr/>
          <p:nvPr/>
        </p:nvSpPr>
        <p:spPr>
          <a:xfrm>
            <a:off x="640080" y="2862072"/>
            <a:ext cx="320040" cy="320040"/>
          </a:xfrm>
          <a:prstGeom prst="rect">
            <a:avLst/>
          </a:prstGeom>
          <a:noFill/>
          <a:ln/>
        </p:spPr>
        <p:txBody>
          <a:bodyPr wrap="square" rtlCol="0" anchor="ctr"/>
          <a:lstStyle/>
          <a:p>
            <a:pPr algn="ctr" indent="0" marL="0">
              <a:buNone/>
            </a:pPr>
            <a:r>
              <a:rPr lang="en-US" sz="1400" b="1" dirty="0">
                <a:solidFill>
                  <a:srgbClr val="EF233C"/>
                </a:solidFill>
                <a:latin typeface="Arial" pitchFamily="34" charset="0"/>
                <a:ea typeface="Arial" pitchFamily="34" charset="-122"/>
                <a:cs typeface="Arial" pitchFamily="34" charset="-120"/>
              </a:rPr>
              <a:t>?</a:t>
            </a:r>
            <a:endParaRPr lang="en-US" sz="1400" dirty="0"/>
          </a:p>
        </p:txBody>
      </p:sp>
      <p:sp>
        <p:nvSpPr>
          <p:cNvPr id="19" name="Text 17"/>
          <p:cNvSpPr/>
          <p:nvPr/>
        </p:nvSpPr>
        <p:spPr>
          <a:xfrm>
            <a:off x="1097280" y="2862072"/>
            <a:ext cx="7406640" cy="384048"/>
          </a:xfrm>
          <a:prstGeom prst="rect">
            <a:avLst/>
          </a:prstGeom>
          <a:noFill/>
          <a:ln/>
        </p:spPr>
        <p:txBody>
          <a:bodyPr wrap="square" rtlCol="0" anchor="ctr"/>
          <a:lstStyle/>
          <a:p>
            <a:pPr algn="l" indent="0" marL="0">
              <a:buNone/>
            </a:pPr>
            <a:r>
              <a:rPr lang="en-US" sz="1400" dirty="0">
                <a:solidFill>
                  <a:srgbClr val="2B2D42"/>
                </a:solidFill>
                <a:latin typeface="Microsoft YaHei" pitchFamily="34" charset="0"/>
                <a:ea typeface="Microsoft YaHei" pitchFamily="34" charset="-122"/>
                <a:cs typeface="Microsoft YaHei" pitchFamily="34" charset="-120"/>
              </a:rPr>
              <a:t>我愿不愿意放下经验，重新老老实实问基础问题？</a:t>
            </a:r>
            <a:endParaRPr lang="en-US" sz="1400" dirty="0"/>
          </a:p>
        </p:txBody>
      </p:sp>
      <p:sp>
        <p:nvSpPr>
          <p:cNvPr id="20" name="Shape 18"/>
          <p:cNvSpPr/>
          <p:nvPr/>
        </p:nvSpPr>
        <p:spPr>
          <a:xfrm>
            <a:off x="457200" y="3566160"/>
            <a:ext cx="8229600" cy="1097280"/>
          </a:xfrm>
          <a:prstGeom prst="roundRect">
            <a:avLst>
              <a:gd name="adj" fmla="val 6667"/>
            </a:avLst>
          </a:prstGeom>
          <a:solidFill>
            <a:srgbClr val="2B2D42"/>
          </a:solidFill>
          <a:ln/>
        </p:spPr>
      </p:sp>
      <p:sp>
        <p:nvSpPr>
          <p:cNvPr id="21" name="Text 19"/>
          <p:cNvSpPr/>
          <p:nvPr/>
        </p:nvSpPr>
        <p:spPr>
          <a:xfrm>
            <a:off x="594360" y="3474720"/>
            <a:ext cx="457200" cy="548640"/>
          </a:xfrm>
          <a:prstGeom prst="rect">
            <a:avLst/>
          </a:prstGeom>
          <a:noFill/>
          <a:ln/>
        </p:spPr>
        <p:txBody>
          <a:bodyPr wrap="square" rtlCol="0" anchor="t"/>
          <a:lstStyle/>
          <a:p>
            <a:pPr algn="l" indent="0" marL="0">
              <a:buNone/>
            </a:pPr>
            <a:r>
              <a:rPr lang="en-US" sz="3600" b="1" dirty="0">
                <a:solidFill>
                  <a:srgbClr val="EF233C"/>
                </a:solidFill>
                <a:latin typeface="Georgia" pitchFamily="34" charset="0"/>
                <a:ea typeface="Georgia" pitchFamily="34" charset="-122"/>
                <a:cs typeface="Georgia" pitchFamily="34" charset="-120"/>
              </a:rPr>
              <a:t>“</a:t>
            </a:r>
            <a:endParaRPr lang="en-US" sz="3600" dirty="0"/>
          </a:p>
        </p:txBody>
      </p:sp>
      <p:sp>
        <p:nvSpPr>
          <p:cNvPr id="22" name="Text 20"/>
          <p:cNvSpPr/>
          <p:nvPr/>
        </p:nvSpPr>
        <p:spPr>
          <a:xfrm>
            <a:off x="1005840" y="3749040"/>
            <a:ext cx="7498080" cy="731520"/>
          </a:xfrm>
          <a:prstGeom prst="rect">
            <a:avLst/>
          </a:prstGeom>
          <a:noFill/>
          <a:ln/>
        </p:spPr>
        <p:txBody>
          <a:bodyPr wrap="square" rtlCol="0" anchor="ctr"/>
          <a:lstStyle/>
          <a:p>
            <a:pPr algn="l" indent="0" marL="0">
              <a:buNone/>
            </a:pPr>
            <a:r>
              <a:rPr lang="en-US" sz="1300" dirty="0">
                <a:solidFill>
                  <a:srgbClr val="FFFFFF"/>
                </a:solidFill>
                <a:latin typeface="Microsoft YaHei" pitchFamily="34" charset="0"/>
                <a:ea typeface="Microsoft YaHei" pitchFamily="34" charset="-122"/>
                <a:cs typeface="Microsoft YaHei" pitchFamily="34" charset="-120"/>
              </a:rPr>
              <a:t>判断力越强、经验越丰富的人，越容易不自觉地把‘我觉得这样更好’变成‘这就是最好的选择’</a:t>
            </a:r>
            <a:endParaRPr lang="en-US" sz="1300" dirty="0"/>
          </a:p>
        </p:txBody>
      </p:sp>
      <p:sp>
        <p:nvSpPr>
          <p:cNvPr id="23" name="Shape 21"/>
          <p:cNvSpPr/>
          <p:nvPr/>
        </p:nvSpPr>
        <p:spPr>
          <a:xfrm>
            <a:off x="8366760" y="4709160"/>
            <a:ext cx="548640" cy="274320"/>
          </a:xfrm>
          <a:prstGeom prst="roundRect">
            <a:avLst>
              <a:gd name="adj" fmla="val 16667"/>
            </a:avLst>
          </a:prstGeom>
          <a:solidFill>
            <a:srgbClr val="EF233C"/>
          </a:solidFill>
          <a:ln/>
        </p:spPr>
      </p:sp>
      <p:sp>
        <p:nvSpPr>
          <p:cNvPr id="24" name="Text 22"/>
          <p:cNvSpPr/>
          <p:nvPr/>
        </p:nvSpPr>
        <p:spPr>
          <a:xfrm>
            <a:off x="8366760" y="4709160"/>
            <a:ext cx="54864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92</a:t>
            </a:r>
            <a:endParaRPr lang="en-US" sz="1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274320"/>
            <a:ext cx="8229600" cy="457200"/>
          </a:xfrm>
          <a:prstGeom prst="rect">
            <a:avLst/>
          </a:prstGeom>
          <a:noFill/>
          <a:ln/>
        </p:spPr>
        <p:txBody>
          <a:bodyPr wrap="square" rtlCol="0" anchor="ctr"/>
          <a:lstStyle/>
          <a:p>
            <a:pPr algn="l" indent="0" marL="0">
              <a:buNone/>
            </a:pPr>
            <a:r>
              <a:rPr lang="en-US" sz="2600" b="1" dirty="0">
                <a:solidFill>
                  <a:srgbClr val="2B2D42"/>
                </a:solidFill>
                <a:latin typeface="Microsoft YaHei" pitchFamily="34" charset="0"/>
                <a:ea typeface="Microsoft YaHei" pitchFamily="34" charset="-122"/>
                <a:cs typeface="Microsoft YaHei" pitchFamily="34" charset="-120"/>
              </a:rPr>
              <a:t>课程总结</a:t>
            </a:r>
            <a:endParaRPr lang="en-US" sz="2600" dirty="0"/>
          </a:p>
        </p:txBody>
      </p:sp>
      <p:sp>
        <p:nvSpPr>
          <p:cNvPr id="4" name="Shape 2"/>
          <p:cNvSpPr/>
          <p:nvPr/>
        </p:nvSpPr>
        <p:spPr>
          <a:xfrm>
            <a:off x="457200" y="868680"/>
            <a:ext cx="2651760" cy="2377440"/>
          </a:xfrm>
          <a:prstGeom prst="roundRect">
            <a:avLst>
              <a:gd name="adj" fmla="val 3846"/>
            </a:avLst>
          </a:prstGeom>
          <a:solidFill>
            <a:srgbClr val="FFFFFF"/>
          </a:solidFill>
          <a:ln/>
          <a:effectLst>
            <a:outerShdw sx="100000" sy="100000" kx="0" ky="0" algn="bl" rotWithShape="0" blurRad="50800" dist="25400" dir="8100000">
              <a:srgbClr val="000000">
                <a:alpha val="8000"/>
              </a:srgbClr>
            </a:outerShdw>
          </a:effectLst>
        </p:spPr>
      </p:sp>
      <p:sp>
        <p:nvSpPr>
          <p:cNvPr id="5" name="Shape 3"/>
          <p:cNvSpPr/>
          <p:nvPr/>
        </p:nvSpPr>
        <p:spPr>
          <a:xfrm>
            <a:off x="1280160" y="1005840"/>
            <a:ext cx="1005840" cy="320040"/>
          </a:xfrm>
          <a:prstGeom prst="roundRect">
            <a:avLst>
              <a:gd name="adj" fmla="val 14286"/>
            </a:avLst>
          </a:prstGeom>
          <a:solidFill>
            <a:srgbClr val="2B2D42"/>
          </a:solidFill>
          <a:ln/>
        </p:spPr>
      </p:sp>
      <p:sp>
        <p:nvSpPr>
          <p:cNvPr id="6" name="Text 4"/>
          <p:cNvSpPr/>
          <p:nvPr/>
        </p:nvSpPr>
        <p:spPr>
          <a:xfrm>
            <a:off x="1280160" y="1005840"/>
            <a:ext cx="1005840" cy="32004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模块一</a:t>
            </a:r>
            <a:endParaRPr lang="en-US" sz="1100" dirty="0"/>
          </a:p>
        </p:txBody>
      </p:sp>
      <p:sp>
        <p:nvSpPr>
          <p:cNvPr id="7" name="Text 5"/>
          <p:cNvSpPr/>
          <p:nvPr/>
        </p:nvSpPr>
        <p:spPr>
          <a:xfrm>
            <a:off x="594360" y="1463040"/>
            <a:ext cx="2377440" cy="457200"/>
          </a:xfrm>
          <a:prstGeom prst="rect">
            <a:avLst/>
          </a:prstGeom>
          <a:noFill/>
          <a:ln/>
        </p:spPr>
        <p:txBody>
          <a:bodyPr wrap="square" rtlCol="0" anchor="ctr"/>
          <a:lstStyle/>
          <a:p>
            <a:pPr algn="ctr" indent="0" marL="0">
              <a:buNone/>
            </a:pPr>
            <a:r>
              <a:rPr lang="en-US" sz="1800" b="1" dirty="0">
                <a:solidFill>
                  <a:srgbClr val="2B2D42"/>
                </a:solidFill>
                <a:latin typeface="Microsoft YaHei" pitchFamily="34" charset="0"/>
                <a:ea typeface="Microsoft YaHei" pitchFamily="34" charset="-122"/>
                <a:cs typeface="Microsoft YaHei" pitchFamily="34" charset="-120"/>
              </a:rPr>
              <a:t>认知重塑</a:t>
            </a:r>
            <a:endParaRPr lang="en-US" sz="1800" dirty="0"/>
          </a:p>
        </p:txBody>
      </p:sp>
      <p:sp>
        <p:nvSpPr>
          <p:cNvPr id="8" name="Text 6"/>
          <p:cNvSpPr/>
          <p:nvPr/>
        </p:nvSpPr>
        <p:spPr>
          <a:xfrm>
            <a:off x="594360" y="1965960"/>
            <a:ext cx="2377440" cy="365760"/>
          </a:xfrm>
          <a:prstGeom prst="rect">
            <a:avLst/>
          </a:prstGeom>
          <a:noFill/>
          <a:ln/>
        </p:spPr>
        <p:txBody>
          <a:bodyPr wrap="square" rtlCol="0" anchor="ctr"/>
          <a:lstStyle/>
          <a:p>
            <a:pPr algn="ctr" indent="0" marL="0">
              <a:buNone/>
            </a:pPr>
            <a:r>
              <a:rPr lang="en-US" sz="2800" b="1" dirty="0">
                <a:solidFill>
                  <a:srgbClr val="EF233C"/>
                </a:solidFill>
                <a:latin typeface="Arial" pitchFamily="34" charset="0"/>
                <a:ea typeface="Arial" pitchFamily="34" charset="-122"/>
                <a:cs typeface="Arial" pitchFamily="34" charset="-120"/>
              </a:rPr>
              <a:t>6章</a:t>
            </a:r>
            <a:endParaRPr lang="en-US" sz="2800" dirty="0"/>
          </a:p>
        </p:txBody>
      </p:sp>
      <p:sp>
        <p:nvSpPr>
          <p:cNvPr id="9" name="Text 7"/>
          <p:cNvSpPr/>
          <p:nvPr/>
        </p:nvSpPr>
        <p:spPr>
          <a:xfrm>
            <a:off x="594360" y="2423160"/>
            <a:ext cx="2377440" cy="640080"/>
          </a:xfrm>
          <a:prstGeom prst="rect">
            <a:avLst/>
          </a:prstGeom>
          <a:noFill/>
          <a:ln/>
        </p:spPr>
        <p:txBody>
          <a:bodyPr wrap="square" rtlCol="0" anchor="t"/>
          <a:lstStyle/>
          <a:p>
            <a:pPr algn="ctr" indent="0" marL="0">
              <a:buNone/>
            </a:pPr>
            <a:r>
              <a:rPr lang="en-US" sz="1200" dirty="0">
                <a:solidFill>
                  <a:srgbClr val="8D99AE"/>
                </a:solidFill>
                <a:latin typeface="Microsoft YaHei" pitchFamily="34" charset="0"/>
                <a:ea typeface="Microsoft YaHei" pitchFamily="34" charset="-122"/>
                <a:cs typeface="Microsoft YaHei" pitchFamily="34" charset="-120"/>
              </a:rPr>
              <a:t>冲稳保是语法不是方法</a:t>
            </a:r>
            <a:endParaRPr lang="en-US" sz="1200" dirty="0"/>
          </a:p>
        </p:txBody>
      </p:sp>
      <p:sp>
        <p:nvSpPr>
          <p:cNvPr id="10" name="Shape 8"/>
          <p:cNvSpPr/>
          <p:nvPr/>
        </p:nvSpPr>
        <p:spPr>
          <a:xfrm>
            <a:off x="3291840" y="868680"/>
            <a:ext cx="2651760" cy="2377440"/>
          </a:xfrm>
          <a:prstGeom prst="roundRect">
            <a:avLst>
              <a:gd name="adj" fmla="val 3846"/>
            </a:avLst>
          </a:prstGeom>
          <a:solidFill>
            <a:srgbClr val="FFFFFF"/>
          </a:solidFill>
          <a:ln/>
          <a:effectLst>
            <a:outerShdw sx="100000" sy="100000" kx="0" ky="0" algn="bl" rotWithShape="0" blurRad="50800" dist="25400" dir="8100000">
              <a:srgbClr val="000000">
                <a:alpha val="8000"/>
              </a:srgbClr>
            </a:outerShdw>
          </a:effectLst>
        </p:spPr>
      </p:sp>
      <p:sp>
        <p:nvSpPr>
          <p:cNvPr id="11" name="Shape 9"/>
          <p:cNvSpPr/>
          <p:nvPr/>
        </p:nvSpPr>
        <p:spPr>
          <a:xfrm>
            <a:off x="4114800" y="1005840"/>
            <a:ext cx="1005840" cy="320040"/>
          </a:xfrm>
          <a:prstGeom prst="roundRect">
            <a:avLst>
              <a:gd name="adj" fmla="val 14286"/>
            </a:avLst>
          </a:prstGeom>
          <a:solidFill>
            <a:srgbClr val="2B2D42"/>
          </a:solidFill>
          <a:ln/>
        </p:spPr>
      </p:sp>
      <p:sp>
        <p:nvSpPr>
          <p:cNvPr id="12" name="Text 10"/>
          <p:cNvSpPr/>
          <p:nvPr/>
        </p:nvSpPr>
        <p:spPr>
          <a:xfrm>
            <a:off x="4114800" y="1005840"/>
            <a:ext cx="1005840" cy="32004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模块二</a:t>
            </a:r>
            <a:endParaRPr lang="en-US" sz="1100" dirty="0"/>
          </a:p>
        </p:txBody>
      </p:sp>
      <p:sp>
        <p:nvSpPr>
          <p:cNvPr id="13" name="Text 11"/>
          <p:cNvSpPr/>
          <p:nvPr/>
        </p:nvSpPr>
        <p:spPr>
          <a:xfrm>
            <a:off x="3429000" y="1463040"/>
            <a:ext cx="2377440" cy="457200"/>
          </a:xfrm>
          <a:prstGeom prst="rect">
            <a:avLst/>
          </a:prstGeom>
          <a:noFill/>
          <a:ln/>
        </p:spPr>
        <p:txBody>
          <a:bodyPr wrap="square" rtlCol="0" anchor="ctr"/>
          <a:lstStyle/>
          <a:p>
            <a:pPr algn="ctr" indent="0" marL="0">
              <a:buNone/>
            </a:pPr>
            <a:r>
              <a:rPr lang="en-US" sz="1800" b="1" dirty="0">
                <a:solidFill>
                  <a:srgbClr val="2B2D42"/>
                </a:solidFill>
                <a:latin typeface="Microsoft YaHei" pitchFamily="34" charset="0"/>
                <a:ea typeface="Microsoft YaHei" pitchFamily="34" charset="-122"/>
                <a:cs typeface="Microsoft YaHei" pitchFamily="34" charset="-120"/>
              </a:rPr>
              <a:t>协作与沟通</a:t>
            </a:r>
            <a:endParaRPr lang="en-US" sz="1800" dirty="0"/>
          </a:p>
        </p:txBody>
      </p:sp>
      <p:sp>
        <p:nvSpPr>
          <p:cNvPr id="14" name="Text 12"/>
          <p:cNvSpPr/>
          <p:nvPr/>
        </p:nvSpPr>
        <p:spPr>
          <a:xfrm>
            <a:off x="3429000" y="1965960"/>
            <a:ext cx="2377440" cy="365760"/>
          </a:xfrm>
          <a:prstGeom prst="rect">
            <a:avLst/>
          </a:prstGeom>
          <a:noFill/>
          <a:ln/>
        </p:spPr>
        <p:txBody>
          <a:bodyPr wrap="square" rtlCol="0" anchor="ctr"/>
          <a:lstStyle/>
          <a:p>
            <a:pPr algn="ctr" indent="0" marL="0">
              <a:buNone/>
            </a:pPr>
            <a:r>
              <a:rPr lang="en-US" sz="2800" b="1" dirty="0">
                <a:solidFill>
                  <a:srgbClr val="EF233C"/>
                </a:solidFill>
                <a:latin typeface="Arial" pitchFamily="34" charset="0"/>
                <a:ea typeface="Arial" pitchFamily="34" charset="-122"/>
                <a:cs typeface="Arial" pitchFamily="34" charset="-120"/>
              </a:rPr>
              <a:t>5章</a:t>
            </a:r>
            <a:endParaRPr lang="en-US" sz="2800" dirty="0"/>
          </a:p>
        </p:txBody>
      </p:sp>
      <p:sp>
        <p:nvSpPr>
          <p:cNvPr id="15" name="Text 13"/>
          <p:cNvSpPr/>
          <p:nvPr/>
        </p:nvSpPr>
        <p:spPr>
          <a:xfrm>
            <a:off x="3429000" y="2423160"/>
            <a:ext cx="2377440" cy="640080"/>
          </a:xfrm>
          <a:prstGeom prst="rect">
            <a:avLst/>
          </a:prstGeom>
          <a:noFill/>
          <a:ln/>
        </p:spPr>
        <p:txBody>
          <a:bodyPr wrap="square" rtlCol="0" anchor="t"/>
          <a:lstStyle/>
          <a:p>
            <a:pPr algn="ctr" indent="0" marL="0">
              <a:buNone/>
            </a:pPr>
            <a:r>
              <a:rPr lang="en-US" sz="1200" dirty="0">
                <a:solidFill>
                  <a:srgbClr val="8D99AE"/>
                </a:solidFill>
                <a:latin typeface="Microsoft YaHei" pitchFamily="34" charset="0"/>
                <a:ea typeface="Microsoft YaHei" pitchFamily="34" charset="-122"/>
                <a:cs typeface="Microsoft YaHei" pitchFamily="34" charset="-120"/>
              </a:rPr>
              <a:t>风险偏好翻译与家长沟通</a:t>
            </a:r>
            <a:endParaRPr lang="en-US" sz="1200" dirty="0"/>
          </a:p>
        </p:txBody>
      </p:sp>
      <p:sp>
        <p:nvSpPr>
          <p:cNvPr id="16" name="Shape 14"/>
          <p:cNvSpPr/>
          <p:nvPr/>
        </p:nvSpPr>
        <p:spPr>
          <a:xfrm>
            <a:off x="6126480" y="868680"/>
            <a:ext cx="2651760" cy="2377440"/>
          </a:xfrm>
          <a:prstGeom prst="roundRect">
            <a:avLst>
              <a:gd name="adj" fmla="val 3846"/>
            </a:avLst>
          </a:prstGeom>
          <a:solidFill>
            <a:srgbClr val="FFFFFF"/>
          </a:solidFill>
          <a:ln/>
          <a:effectLst>
            <a:outerShdw sx="100000" sy="100000" kx="0" ky="0" algn="bl" rotWithShape="0" blurRad="50800" dist="25400" dir="8100000">
              <a:srgbClr val="000000">
                <a:alpha val="8000"/>
              </a:srgbClr>
            </a:outerShdw>
          </a:effectLst>
        </p:spPr>
      </p:sp>
      <p:sp>
        <p:nvSpPr>
          <p:cNvPr id="17" name="Shape 15"/>
          <p:cNvSpPr/>
          <p:nvPr/>
        </p:nvSpPr>
        <p:spPr>
          <a:xfrm>
            <a:off x="6949440" y="1005840"/>
            <a:ext cx="1005840" cy="320040"/>
          </a:xfrm>
          <a:prstGeom prst="roundRect">
            <a:avLst>
              <a:gd name="adj" fmla="val 14286"/>
            </a:avLst>
          </a:prstGeom>
          <a:solidFill>
            <a:srgbClr val="2B2D42"/>
          </a:solidFill>
          <a:ln/>
        </p:spPr>
      </p:sp>
      <p:sp>
        <p:nvSpPr>
          <p:cNvPr id="18" name="Text 16"/>
          <p:cNvSpPr/>
          <p:nvPr/>
        </p:nvSpPr>
        <p:spPr>
          <a:xfrm>
            <a:off x="6949440" y="1005840"/>
            <a:ext cx="1005840" cy="32004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模块三</a:t>
            </a:r>
            <a:endParaRPr lang="en-US" sz="1100" dirty="0"/>
          </a:p>
        </p:txBody>
      </p:sp>
      <p:sp>
        <p:nvSpPr>
          <p:cNvPr id="19" name="Text 17"/>
          <p:cNvSpPr/>
          <p:nvPr/>
        </p:nvSpPr>
        <p:spPr>
          <a:xfrm>
            <a:off x="6263640" y="1463040"/>
            <a:ext cx="2377440" cy="457200"/>
          </a:xfrm>
          <a:prstGeom prst="rect">
            <a:avLst/>
          </a:prstGeom>
          <a:noFill/>
          <a:ln/>
        </p:spPr>
        <p:txBody>
          <a:bodyPr wrap="square" rtlCol="0" anchor="ctr"/>
          <a:lstStyle/>
          <a:p>
            <a:pPr algn="ctr" indent="0" marL="0">
              <a:buNone/>
            </a:pPr>
            <a:r>
              <a:rPr lang="en-US" sz="1800" b="1" dirty="0">
                <a:solidFill>
                  <a:srgbClr val="2B2D42"/>
                </a:solidFill>
                <a:latin typeface="Microsoft YaHei" pitchFamily="34" charset="0"/>
                <a:ea typeface="Microsoft YaHei" pitchFamily="34" charset="-122"/>
                <a:cs typeface="Microsoft YaHei" pitchFamily="34" charset="-120"/>
              </a:rPr>
              <a:t>职业心态</a:t>
            </a:r>
            <a:endParaRPr lang="en-US" sz="1800" dirty="0"/>
          </a:p>
        </p:txBody>
      </p:sp>
      <p:sp>
        <p:nvSpPr>
          <p:cNvPr id="20" name="Text 18"/>
          <p:cNvSpPr/>
          <p:nvPr/>
        </p:nvSpPr>
        <p:spPr>
          <a:xfrm>
            <a:off x="6263640" y="1965960"/>
            <a:ext cx="2377440" cy="365760"/>
          </a:xfrm>
          <a:prstGeom prst="rect">
            <a:avLst/>
          </a:prstGeom>
          <a:noFill/>
          <a:ln/>
        </p:spPr>
        <p:txBody>
          <a:bodyPr wrap="square" rtlCol="0" anchor="ctr"/>
          <a:lstStyle/>
          <a:p>
            <a:pPr algn="ctr" indent="0" marL="0">
              <a:buNone/>
            </a:pPr>
            <a:r>
              <a:rPr lang="en-US" sz="2800" b="1" dirty="0">
                <a:solidFill>
                  <a:srgbClr val="EF233C"/>
                </a:solidFill>
                <a:latin typeface="Arial" pitchFamily="34" charset="0"/>
                <a:ea typeface="Arial" pitchFamily="34" charset="-122"/>
                <a:cs typeface="Arial" pitchFamily="34" charset="-120"/>
              </a:rPr>
              <a:t>4章</a:t>
            </a:r>
            <a:endParaRPr lang="en-US" sz="2800" dirty="0"/>
          </a:p>
        </p:txBody>
      </p:sp>
      <p:sp>
        <p:nvSpPr>
          <p:cNvPr id="21" name="Text 19"/>
          <p:cNvSpPr/>
          <p:nvPr/>
        </p:nvSpPr>
        <p:spPr>
          <a:xfrm>
            <a:off x="6263640" y="2423160"/>
            <a:ext cx="2377440" cy="640080"/>
          </a:xfrm>
          <a:prstGeom prst="rect">
            <a:avLst/>
          </a:prstGeom>
          <a:noFill/>
          <a:ln/>
        </p:spPr>
        <p:txBody>
          <a:bodyPr wrap="square" rtlCol="0" anchor="t"/>
          <a:lstStyle/>
          <a:p>
            <a:pPr algn="ctr" indent="0" marL="0">
              <a:buNone/>
            </a:pPr>
            <a:r>
              <a:rPr lang="en-US" sz="1200" dirty="0">
                <a:solidFill>
                  <a:srgbClr val="8D99AE"/>
                </a:solidFill>
                <a:latin typeface="Microsoft YaHei" pitchFamily="34" charset="0"/>
                <a:ea typeface="Microsoft YaHei" pitchFamily="34" charset="-122"/>
                <a:cs typeface="Microsoft YaHei" pitchFamily="34" charset="-120"/>
              </a:rPr>
              <a:t>替人做决定的风险与口碑思维</a:t>
            </a:r>
            <a:endParaRPr lang="en-US" sz="1200" dirty="0"/>
          </a:p>
        </p:txBody>
      </p:sp>
      <p:sp>
        <p:nvSpPr>
          <p:cNvPr id="22" name="Shape 20"/>
          <p:cNvSpPr/>
          <p:nvPr/>
        </p:nvSpPr>
        <p:spPr>
          <a:xfrm>
            <a:off x="457200" y="3429000"/>
            <a:ext cx="8229600" cy="777240"/>
          </a:xfrm>
          <a:prstGeom prst="roundRect">
            <a:avLst>
              <a:gd name="adj" fmla="val 9412"/>
            </a:avLst>
          </a:prstGeom>
          <a:solidFill>
            <a:srgbClr val="EDF2F4"/>
          </a:solidFill>
          <a:ln/>
        </p:spPr>
      </p:sp>
      <p:sp>
        <p:nvSpPr>
          <p:cNvPr id="23" name="Text 21"/>
          <p:cNvSpPr/>
          <p:nvPr/>
        </p:nvSpPr>
        <p:spPr>
          <a:xfrm>
            <a:off x="1371600" y="3520440"/>
            <a:ext cx="2743200" cy="594360"/>
          </a:xfrm>
          <a:prstGeom prst="rect">
            <a:avLst/>
          </a:prstGeom>
          <a:noFill/>
          <a:ln/>
        </p:spPr>
        <p:txBody>
          <a:bodyPr wrap="square" rtlCol="0" anchor="ctr"/>
          <a:lstStyle/>
          <a:p>
            <a:pPr algn="ctr" indent="0" marL="0">
              <a:buNone/>
            </a:pPr>
            <a:r>
              <a:rPr lang="en-US" sz="2000" b="1" dirty="0">
                <a:solidFill>
                  <a:srgbClr val="2B2D42"/>
                </a:solidFill>
                <a:latin typeface="Microsoft YaHei" pitchFamily="34" charset="0"/>
                <a:ea typeface="Microsoft YaHei" pitchFamily="34" charset="-122"/>
                <a:cs typeface="Microsoft YaHei" pitchFamily="34" charset="-120"/>
              </a:rPr>
              <a:t>15章核心内容</a:t>
            </a:r>
            <a:endParaRPr lang="en-US" sz="2000" dirty="0"/>
          </a:p>
        </p:txBody>
      </p:sp>
      <p:sp>
        <p:nvSpPr>
          <p:cNvPr id="24" name="Text 22"/>
          <p:cNvSpPr/>
          <p:nvPr/>
        </p:nvSpPr>
        <p:spPr>
          <a:xfrm>
            <a:off x="4114800" y="3520440"/>
            <a:ext cx="731520" cy="594360"/>
          </a:xfrm>
          <a:prstGeom prst="rect">
            <a:avLst/>
          </a:prstGeom>
          <a:noFill/>
          <a:ln/>
        </p:spPr>
        <p:txBody>
          <a:bodyPr wrap="square" rtlCol="0" anchor="ctr"/>
          <a:lstStyle/>
          <a:p>
            <a:pPr algn="ctr" indent="0" marL="0">
              <a:buNone/>
            </a:pPr>
            <a:r>
              <a:rPr lang="en-US" sz="2400" b="1" dirty="0">
                <a:solidFill>
                  <a:srgbClr val="EF233C"/>
                </a:solidFill>
                <a:latin typeface="Arial" pitchFamily="34" charset="0"/>
                <a:ea typeface="Arial" pitchFamily="34" charset="-122"/>
                <a:cs typeface="Arial" pitchFamily="34" charset="-120"/>
              </a:rPr>
              <a:t>+</a:t>
            </a:r>
            <a:endParaRPr lang="en-US" sz="2400" dirty="0"/>
          </a:p>
        </p:txBody>
      </p:sp>
      <p:sp>
        <p:nvSpPr>
          <p:cNvPr id="25" name="Text 23"/>
          <p:cNvSpPr/>
          <p:nvPr/>
        </p:nvSpPr>
        <p:spPr>
          <a:xfrm>
            <a:off x="4846320" y="3520440"/>
            <a:ext cx="2743200" cy="594360"/>
          </a:xfrm>
          <a:prstGeom prst="rect">
            <a:avLst/>
          </a:prstGeom>
          <a:noFill/>
          <a:ln/>
        </p:spPr>
        <p:txBody>
          <a:bodyPr wrap="square" rtlCol="0" anchor="ctr"/>
          <a:lstStyle/>
          <a:p>
            <a:pPr algn="ctr" indent="0" marL="0">
              <a:buNone/>
            </a:pPr>
            <a:r>
              <a:rPr lang="en-US" sz="2000" b="1" dirty="0">
                <a:solidFill>
                  <a:srgbClr val="2B2D42"/>
                </a:solidFill>
                <a:latin typeface="Arial" pitchFamily="34" charset="0"/>
                <a:ea typeface="Arial" pitchFamily="34" charset="-122"/>
                <a:cs typeface="Arial" pitchFamily="34" charset="-120"/>
              </a:rPr>
              <a:t>Q&amp;A</a:t>
            </a:r>
            <a:endParaRPr lang="en-US" sz="2000" dirty="0"/>
          </a:p>
        </p:txBody>
      </p:sp>
      <p:sp>
        <p:nvSpPr>
          <p:cNvPr id="26" name="Shape 24"/>
          <p:cNvSpPr/>
          <p:nvPr/>
        </p:nvSpPr>
        <p:spPr>
          <a:xfrm>
            <a:off x="457200" y="4434840"/>
            <a:ext cx="8229600" cy="45720"/>
          </a:xfrm>
          <a:prstGeom prst="rect">
            <a:avLst/>
          </a:prstGeom>
          <a:solidFill>
            <a:srgbClr val="EF233C"/>
          </a:solidFill>
          <a:ln/>
        </p:spPr>
      </p:sp>
      <p:sp>
        <p:nvSpPr>
          <p:cNvPr id="27" name="Shape 25"/>
          <p:cNvSpPr/>
          <p:nvPr/>
        </p:nvSpPr>
        <p:spPr>
          <a:xfrm>
            <a:off x="8366760" y="4800600"/>
            <a:ext cx="548640" cy="274320"/>
          </a:xfrm>
          <a:prstGeom prst="roundRect">
            <a:avLst>
              <a:gd name="adj" fmla="val 16667"/>
            </a:avLst>
          </a:prstGeom>
          <a:solidFill>
            <a:srgbClr val="EF233C"/>
          </a:solidFill>
          <a:ln/>
        </p:spPr>
      </p:sp>
      <p:sp>
        <p:nvSpPr>
          <p:cNvPr id="28" name="Text 26"/>
          <p:cNvSpPr/>
          <p:nvPr/>
        </p:nvSpPr>
        <p:spPr>
          <a:xfrm>
            <a:off x="8366760" y="4800600"/>
            <a:ext cx="54864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93</a:t>
            </a:r>
            <a:endParaRPr lang="en-US" sz="10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2B2D42"/>
        </a:solidFill>
      </p:bgPr>
    </p:bg>
    <p:spTree>
      <p:nvGrpSpPr>
        <p:cNvPr id="1" name=""/>
        <p:cNvGrpSpPr/>
        <p:nvPr/>
      </p:nvGrpSpPr>
      <p:grpSpPr>
        <a:xfrm>
          <a:off x="0" y="0"/>
          <a:ext cx="0" cy="0"/>
          <a:chOff x="0" y="0"/>
          <a:chExt cx="0" cy="0"/>
        </a:xfrm>
      </p:grpSpPr>
      <p:sp>
        <p:nvSpPr>
          <p:cNvPr id="2" name="Shape 0"/>
          <p:cNvSpPr/>
          <p:nvPr/>
        </p:nvSpPr>
        <p:spPr>
          <a:xfrm>
            <a:off x="3200400" y="1097280"/>
            <a:ext cx="2743200" cy="27432"/>
          </a:xfrm>
          <a:prstGeom prst="rect">
            <a:avLst/>
          </a:prstGeom>
          <a:solidFill>
            <a:srgbClr val="EF233C"/>
          </a:solidFill>
          <a:ln/>
        </p:spPr>
      </p:sp>
      <p:sp>
        <p:nvSpPr>
          <p:cNvPr id="3" name="Text 1"/>
          <p:cNvSpPr/>
          <p:nvPr/>
        </p:nvSpPr>
        <p:spPr>
          <a:xfrm>
            <a:off x="457200" y="1371600"/>
            <a:ext cx="8229600" cy="1097280"/>
          </a:xfrm>
          <a:prstGeom prst="rect">
            <a:avLst/>
          </a:prstGeom>
          <a:noFill/>
          <a:ln/>
        </p:spPr>
        <p:txBody>
          <a:bodyPr wrap="square" rtlCol="0" anchor="ctr"/>
          <a:lstStyle/>
          <a:p>
            <a:pPr algn="ctr" indent="0" marL="0">
              <a:buNone/>
            </a:pPr>
            <a:r>
              <a:rPr lang="en-US" sz="7200" b="1" dirty="0">
                <a:solidFill>
                  <a:srgbClr val="FFFFFF"/>
                </a:solidFill>
                <a:latin typeface="Microsoft YaHei" pitchFamily="34" charset="0"/>
                <a:ea typeface="Microsoft YaHei" pitchFamily="34" charset="-122"/>
                <a:cs typeface="Microsoft YaHei" pitchFamily="34" charset="-120"/>
              </a:rPr>
              <a:t>谢谢</a:t>
            </a:r>
            <a:endParaRPr lang="en-US" sz="7200" dirty="0"/>
          </a:p>
        </p:txBody>
      </p:sp>
      <p:sp>
        <p:nvSpPr>
          <p:cNvPr id="4" name="Text 2"/>
          <p:cNvSpPr/>
          <p:nvPr/>
        </p:nvSpPr>
        <p:spPr>
          <a:xfrm>
            <a:off x="457200" y="2468880"/>
            <a:ext cx="8229600" cy="457200"/>
          </a:xfrm>
          <a:prstGeom prst="rect">
            <a:avLst/>
          </a:prstGeom>
          <a:noFill/>
          <a:ln/>
        </p:spPr>
        <p:txBody>
          <a:bodyPr wrap="square" rtlCol="0" anchor="ctr"/>
          <a:lstStyle/>
          <a:p>
            <a:pPr algn="ctr" indent="0" marL="0">
              <a:buNone/>
            </a:pPr>
            <a:r>
              <a:rPr lang="en-US" sz="1800" dirty="0">
                <a:solidFill>
                  <a:srgbClr val="EDF2F4"/>
                </a:solidFill>
                <a:latin typeface="Microsoft YaHei" pitchFamily="34" charset="0"/>
                <a:ea typeface="Microsoft YaHei" pitchFamily="34" charset="-122"/>
                <a:cs typeface="Microsoft YaHei" pitchFamily="34" charset="-120"/>
              </a:rPr>
              <a:t>倒推十年 · 高考志愿填报师工作手册</a:t>
            </a:r>
            <a:endParaRPr lang="en-US" sz="1800" dirty="0"/>
          </a:p>
        </p:txBody>
      </p:sp>
      <p:sp>
        <p:nvSpPr>
          <p:cNvPr id="5" name="Text 3"/>
          <p:cNvSpPr/>
          <p:nvPr/>
        </p:nvSpPr>
        <p:spPr>
          <a:xfrm>
            <a:off x="457200" y="3108960"/>
            <a:ext cx="8229600" cy="457200"/>
          </a:xfrm>
          <a:prstGeom prst="rect">
            <a:avLst/>
          </a:prstGeom>
          <a:noFill/>
          <a:ln/>
        </p:spPr>
        <p:txBody>
          <a:bodyPr wrap="square" rtlCol="0" anchor="ctr"/>
          <a:lstStyle/>
          <a:p>
            <a:pPr algn="ctr" indent="0" marL="0">
              <a:buNone/>
            </a:pPr>
            <a:r>
              <a:rPr lang="en-US" sz="1600" dirty="0">
                <a:solidFill>
                  <a:srgbClr val="8D99AE"/>
                </a:solidFill>
                <a:latin typeface="Microsoft YaHei" pitchFamily="34" charset="0"/>
                <a:ea typeface="Microsoft YaHei" pitchFamily="34" charset="-122"/>
                <a:cs typeface="Microsoft YaHei" pitchFamily="34" charset="-120"/>
              </a:rPr>
              <a:t>罗宏伟</a:t>
            </a:r>
            <a:endParaRPr lang="en-US" sz="1600" dirty="0"/>
          </a:p>
        </p:txBody>
      </p:sp>
      <p:sp>
        <p:nvSpPr>
          <p:cNvPr id="6" name="Shape 4"/>
          <p:cNvSpPr/>
          <p:nvPr/>
        </p:nvSpPr>
        <p:spPr>
          <a:xfrm>
            <a:off x="3200400" y="3840480"/>
            <a:ext cx="2743200" cy="27432"/>
          </a:xfrm>
          <a:prstGeom prst="rect">
            <a:avLst/>
          </a:prstGeom>
          <a:solidFill>
            <a:srgbClr val="EF233C"/>
          </a:solidFill>
          <a:ln/>
        </p:spPr>
      </p:sp>
      <p:sp>
        <p:nvSpPr>
          <p:cNvPr id="7" name="Text 5"/>
          <p:cNvSpPr/>
          <p:nvPr/>
        </p:nvSpPr>
        <p:spPr>
          <a:xfrm>
            <a:off x="457200" y="4389120"/>
            <a:ext cx="8229600" cy="365760"/>
          </a:xfrm>
          <a:prstGeom prst="rect">
            <a:avLst/>
          </a:prstGeom>
          <a:noFill/>
          <a:ln/>
        </p:spPr>
        <p:txBody>
          <a:bodyPr wrap="square" rtlCol="0" anchor="ctr"/>
          <a:lstStyle/>
          <a:p>
            <a:pPr algn="ctr" indent="0" marL="0">
              <a:buNone/>
            </a:pPr>
            <a:r>
              <a:rPr lang="en-US" sz="1400" dirty="0">
                <a:solidFill>
                  <a:srgbClr val="8D99AE"/>
                </a:solidFill>
                <a:latin typeface="Microsoft YaHei" pitchFamily="34" charset="0"/>
                <a:ea typeface="Microsoft YaHei" pitchFamily="34" charset="-122"/>
                <a:cs typeface="Microsoft YaHei" pitchFamily="34" charset="-120"/>
              </a:rPr>
              <a:t>学员手册</a:t>
            </a:r>
            <a:endParaRPr lang="en-US" sz="1400" dirty="0"/>
          </a:p>
        </p:txBody>
      </p:sp>
      <p:sp>
        <p:nvSpPr>
          <p:cNvPr id="8" name="Shape 6"/>
          <p:cNvSpPr/>
          <p:nvPr/>
        </p:nvSpPr>
        <p:spPr>
          <a:xfrm>
            <a:off x="365760" y="365760"/>
            <a:ext cx="548640" cy="73152"/>
          </a:xfrm>
          <a:prstGeom prst="rect">
            <a:avLst/>
          </a:prstGeom>
          <a:solidFill>
            <a:srgbClr val="EF233C"/>
          </a:solidFill>
          <a:ln/>
        </p:spPr>
      </p:sp>
      <p:sp>
        <p:nvSpPr>
          <p:cNvPr id="9" name="Shape 7"/>
          <p:cNvSpPr/>
          <p:nvPr/>
        </p:nvSpPr>
        <p:spPr>
          <a:xfrm>
            <a:off x="365760" y="365760"/>
            <a:ext cx="73152" cy="548640"/>
          </a:xfrm>
          <a:prstGeom prst="rect">
            <a:avLst/>
          </a:prstGeom>
          <a:solidFill>
            <a:srgbClr val="EF233C"/>
          </a:solidFill>
          <a:ln/>
        </p:spPr>
      </p:sp>
      <p:sp>
        <p:nvSpPr>
          <p:cNvPr id="10" name="Shape 8"/>
          <p:cNvSpPr/>
          <p:nvPr/>
        </p:nvSpPr>
        <p:spPr>
          <a:xfrm>
            <a:off x="8229600" y="4686300"/>
            <a:ext cx="548640" cy="73152"/>
          </a:xfrm>
          <a:prstGeom prst="rect">
            <a:avLst/>
          </a:prstGeom>
          <a:solidFill>
            <a:srgbClr val="EF233C"/>
          </a:solidFill>
          <a:ln/>
        </p:spPr>
      </p:sp>
      <p:sp>
        <p:nvSpPr>
          <p:cNvPr id="11" name="Shape 9"/>
          <p:cNvSpPr/>
          <p:nvPr/>
        </p:nvSpPr>
        <p:spPr>
          <a:xfrm>
            <a:off x="8705088" y="4229100"/>
            <a:ext cx="73152" cy="548640"/>
          </a:xfrm>
          <a:prstGeom prst="rect">
            <a:avLst/>
          </a:prstGeom>
          <a:solidFill>
            <a:srgbClr val="EF233C"/>
          </a:solidFill>
          <a:ln/>
        </p:spPr>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233C"/>
          </a:solidFill>
          <a:ln/>
        </p:spPr>
      </p:sp>
      <p:sp>
        <p:nvSpPr>
          <p:cNvPr id="3" name="Text 1"/>
          <p:cNvSpPr/>
          <p:nvPr/>
        </p:nvSpPr>
        <p:spPr>
          <a:xfrm>
            <a:off x="457200" y="320040"/>
            <a:ext cx="8229600" cy="502920"/>
          </a:xfrm>
          <a:prstGeom prst="rect">
            <a:avLst/>
          </a:prstGeom>
          <a:noFill/>
          <a:ln/>
        </p:spPr>
        <p:txBody>
          <a:bodyPr wrap="square" rtlCol="0" anchor="ctr"/>
          <a:lstStyle/>
          <a:p>
            <a:pPr algn="l" indent="0" marL="0">
              <a:buNone/>
            </a:pPr>
            <a:r>
              <a:rPr lang="en-US" sz="2600" b="1" dirty="0">
                <a:solidFill>
                  <a:srgbClr val="2B2D42"/>
                </a:solidFill>
                <a:latin typeface="Microsoft YaHei" pitchFamily="34" charset="0"/>
                <a:ea typeface="Microsoft YaHei" pitchFamily="34" charset="-122"/>
                <a:cs typeface="Microsoft YaHei" pitchFamily="34" charset="-120"/>
              </a:rPr>
              <a:t>版权声明</a:t>
            </a:r>
            <a:endParaRPr lang="en-US" sz="2600" dirty="0"/>
          </a:p>
        </p:txBody>
      </p:sp>
      <p:sp>
        <p:nvSpPr>
          <p:cNvPr id="4" name="Shape 2"/>
          <p:cNvSpPr/>
          <p:nvPr/>
        </p:nvSpPr>
        <p:spPr>
          <a:xfrm>
            <a:off x="457200" y="1005840"/>
            <a:ext cx="8229600" cy="2194560"/>
          </a:xfrm>
          <a:prstGeom prst="roundRect">
            <a:avLst>
              <a:gd name="adj" fmla="val 4167"/>
            </a:avLst>
          </a:prstGeom>
          <a:solidFill>
            <a:srgbClr val="FFFFFF"/>
          </a:solidFill>
          <a:ln/>
          <a:effectLst>
            <a:outerShdw sx="100000" sy="100000" kx="0" ky="0" algn="bl" rotWithShape="0" blurRad="50800" dist="25400" dir="8100000">
              <a:srgbClr val="000000">
                <a:alpha val="8000"/>
              </a:srgbClr>
            </a:outerShdw>
          </a:effectLst>
        </p:spPr>
      </p:sp>
      <p:sp>
        <p:nvSpPr>
          <p:cNvPr id="5" name="Shape 3"/>
          <p:cNvSpPr/>
          <p:nvPr/>
        </p:nvSpPr>
        <p:spPr>
          <a:xfrm>
            <a:off x="685800" y="1344168"/>
            <a:ext cx="146304" cy="146304"/>
          </a:xfrm>
          <a:prstGeom prst="ellipse">
            <a:avLst/>
          </a:prstGeom>
          <a:solidFill>
            <a:srgbClr val="EF233C"/>
          </a:solidFill>
          <a:ln/>
        </p:spPr>
      </p:sp>
      <p:sp>
        <p:nvSpPr>
          <p:cNvPr id="6" name="Text 4"/>
          <p:cNvSpPr/>
          <p:nvPr/>
        </p:nvSpPr>
        <p:spPr>
          <a:xfrm>
            <a:off x="1005840" y="1234440"/>
            <a:ext cx="7498080" cy="457200"/>
          </a:xfrm>
          <a:prstGeom prst="rect">
            <a:avLst/>
          </a:prstGeom>
          <a:noFill/>
          <a:ln/>
        </p:spPr>
        <p:txBody>
          <a:bodyPr wrap="square" rtlCol="0" anchor="ctr"/>
          <a:lstStyle/>
          <a:p>
            <a:pPr algn="l" indent="0" marL="0">
              <a:buNone/>
            </a:pPr>
            <a:r>
              <a:rPr lang="en-US" sz="1600" dirty="0">
                <a:solidFill>
                  <a:srgbClr val="2B2D42"/>
                </a:solidFill>
                <a:latin typeface="Microsoft YaHei" pitchFamily="34" charset="0"/>
                <a:ea typeface="Microsoft YaHei" pitchFamily="34" charset="-122"/>
                <a:cs typeface="Microsoft YaHei" pitchFamily="34" charset="-120"/>
              </a:rPr>
              <a:t>本手册版权归作者所有</a:t>
            </a:r>
            <a:endParaRPr lang="en-US" sz="1600" dirty="0"/>
          </a:p>
        </p:txBody>
      </p:sp>
      <p:sp>
        <p:nvSpPr>
          <p:cNvPr id="7" name="Shape 5"/>
          <p:cNvSpPr/>
          <p:nvPr/>
        </p:nvSpPr>
        <p:spPr>
          <a:xfrm>
            <a:off x="685800" y="1984248"/>
            <a:ext cx="146304" cy="146304"/>
          </a:xfrm>
          <a:prstGeom prst="ellipse">
            <a:avLst/>
          </a:prstGeom>
          <a:solidFill>
            <a:srgbClr val="EF233C"/>
          </a:solidFill>
          <a:ln/>
        </p:spPr>
      </p:sp>
      <p:sp>
        <p:nvSpPr>
          <p:cNvPr id="8" name="Text 6"/>
          <p:cNvSpPr/>
          <p:nvPr/>
        </p:nvSpPr>
        <p:spPr>
          <a:xfrm>
            <a:off x="1005840" y="1874520"/>
            <a:ext cx="7498080" cy="457200"/>
          </a:xfrm>
          <a:prstGeom prst="rect">
            <a:avLst/>
          </a:prstGeom>
          <a:noFill/>
          <a:ln/>
        </p:spPr>
        <p:txBody>
          <a:bodyPr wrap="square" rtlCol="0" anchor="ctr"/>
          <a:lstStyle/>
          <a:p>
            <a:pPr algn="l" indent="0" marL="0">
              <a:buNone/>
            </a:pPr>
            <a:r>
              <a:rPr lang="en-US" sz="1600" dirty="0">
                <a:solidFill>
                  <a:srgbClr val="2B2D42"/>
                </a:solidFill>
                <a:latin typeface="Microsoft YaHei" pitchFamily="34" charset="0"/>
                <a:ea typeface="Microsoft YaHei" pitchFamily="34" charset="-122"/>
                <a:cs typeface="Microsoft YaHei" pitchFamily="34" charset="-120"/>
              </a:rPr>
              <a:t>未经许可，禁止翻印或用于商业目的</a:t>
            </a:r>
            <a:endParaRPr lang="en-US" sz="1600" dirty="0"/>
          </a:p>
        </p:txBody>
      </p:sp>
      <p:sp>
        <p:nvSpPr>
          <p:cNvPr id="9" name="Shape 7"/>
          <p:cNvSpPr/>
          <p:nvPr/>
        </p:nvSpPr>
        <p:spPr>
          <a:xfrm>
            <a:off x="685800" y="2624328"/>
            <a:ext cx="146304" cy="146304"/>
          </a:xfrm>
          <a:prstGeom prst="ellipse">
            <a:avLst/>
          </a:prstGeom>
          <a:solidFill>
            <a:srgbClr val="EF233C"/>
          </a:solidFill>
          <a:ln/>
        </p:spPr>
      </p:sp>
      <p:sp>
        <p:nvSpPr>
          <p:cNvPr id="10" name="Text 8"/>
          <p:cNvSpPr/>
          <p:nvPr/>
        </p:nvSpPr>
        <p:spPr>
          <a:xfrm>
            <a:off x="1005840" y="2514600"/>
            <a:ext cx="7498080" cy="457200"/>
          </a:xfrm>
          <a:prstGeom prst="rect">
            <a:avLst/>
          </a:prstGeom>
          <a:noFill/>
          <a:ln/>
        </p:spPr>
        <p:txBody>
          <a:bodyPr wrap="square" rtlCol="0" anchor="ctr"/>
          <a:lstStyle/>
          <a:p>
            <a:pPr algn="l" indent="0" marL="0">
              <a:buNone/>
            </a:pPr>
            <a:r>
              <a:rPr lang="en-US" sz="1600" dirty="0">
                <a:solidFill>
                  <a:srgbClr val="2B2D42"/>
                </a:solidFill>
                <a:latin typeface="Microsoft YaHei" pitchFamily="34" charset="0"/>
                <a:ea typeface="Microsoft YaHei" pitchFamily="34" charset="-122"/>
                <a:cs typeface="Microsoft YaHei" pitchFamily="34" charset="-120"/>
              </a:rPr>
              <a:t>课堂内容仅供内部学习使用</a:t>
            </a:r>
            <a:endParaRPr lang="en-US" sz="1600" dirty="0"/>
          </a:p>
        </p:txBody>
      </p:sp>
      <p:sp>
        <p:nvSpPr>
          <p:cNvPr id="11" name="Shape 9"/>
          <p:cNvSpPr/>
          <p:nvPr/>
        </p:nvSpPr>
        <p:spPr>
          <a:xfrm>
            <a:off x="457200" y="3383280"/>
            <a:ext cx="8229600" cy="1097280"/>
          </a:xfrm>
          <a:prstGeom prst="roundRect">
            <a:avLst>
              <a:gd name="adj" fmla="val 6667"/>
            </a:avLst>
          </a:prstGeom>
          <a:solidFill>
            <a:srgbClr val="EDF2F4"/>
          </a:solidFill>
          <a:ln/>
        </p:spPr>
      </p:sp>
      <p:sp>
        <p:nvSpPr>
          <p:cNvPr id="12" name="Text 10"/>
          <p:cNvSpPr/>
          <p:nvPr/>
        </p:nvSpPr>
        <p:spPr>
          <a:xfrm>
            <a:off x="640080" y="3520440"/>
            <a:ext cx="1371600" cy="320040"/>
          </a:xfrm>
          <a:prstGeom prst="rect">
            <a:avLst/>
          </a:prstGeom>
          <a:noFill/>
          <a:ln/>
        </p:spPr>
        <p:txBody>
          <a:bodyPr wrap="square" rtlCol="0" anchor="ctr"/>
          <a:lstStyle/>
          <a:p>
            <a:pPr algn="l" indent="0" marL="0">
              <a:buNone/>
            </a:pPr>
            <a:r>
              <a:rPr lang="en-US" sz="1200" b="1" dirty="0">
                <a:solidFill>
                  <a:srgbClr val="EF233C"/>
                </a:solidFill>
                <a:latin typeface="Microsoft YaHei" pitchFamily="34" charset="0"/>
                <a:ea typeface="Microsoft YaHei" pitchFamily="34" charset="-122"/>
                <a:cs typeface="Microsoft YaHei" pitchFamily="34" charset="-120"/>
              </a:rPr>
              <a:t>归属</a:t>
            </a:r>
            <a:endParaRPr lang="en-US" sz="1200" dirty="0"/>
          </a:p>
        </p:txBody>
      </p:sp>
      <p:sp>
        <p:nvSpPr>
          <p:cNvPr id="13" name="Text 11"/>
          <p:cNvSpPr/>
          <p:nvPr/>
        </p:nvSpPr>
        <p:spPr>
          <a:xfrm>
            <a:off x="640080" y="3886200"/>
            <a:ext cx="7863840" cy="274320"/>
          </a:xfrm>
          <a:prstGeom prst="rect">
            <a:avLst/>
          </a:prstGeom>
          <a:noFill/>
          <a:ln/>
        </p:spPr>
        <p:txBody>
          <a:bodyPr wrap="square" rtlCol="0" anchor="ctr"/>
          <a:lstStyle/>
          <a:p>
            <a:pPr algn="l" indent="0" marL="0">
              <a:buNone/>
            </a:pPr>
            <a:r>
              <a:rPr lang="en-US" sz="1400" b="1" dirty="0">
                <a:solidFill>
                  <a:srgbClr val="2B2D42"/>
                </a:solidFill>
                <a:latin typeface="Microsoft YaHei" pitchFamily="34" charset="0"/>
                <a:ea typeface="Microsoft YaHei" pitchFamily="34" charset="-122"/>
                <a:cs typeface="Microsoft YaHei" pitchFamily="34" charset="-120"/>
              </a:rPr>
              <a:t>倒推十年 · 高考志愿填报师工作手册</a:t>
            </a:r>
            <a:endParaRPr lang="en-US" sz="1400" dirty="0"/>
          </a:p>
        </p:txBody>
      </p:sp>
      <p:sp>
        <p:nvSpPr>
          <p:cNvPr id="14" name="Text 12"/>
          <p:cNvSpPr/>
          <p:nvPr/>
        </p:nvSpPr>
        <p:spPr>
          <a:xfrm>
            <a:off x="640080" y="4160520"/>
            <a:ext cx="7863840" cy="228600"/>
          </a:xfrm>
          <a:prstGeom prst="rect">
            <a:avLst/>
          </a:prstGeom>
          <a:noFill/>
          <a:ln/>
        </p:spPr>
        <p:txBody>
          <a:bodyPr wrap="square" rtlCol="0" anchor="ctr"/>
          <a:lstStyle/>
          <a:p>
            <a:pPr algn="l" indent="0" marL="0">
              <a:buNone/>
            </a:pPr>
            <a:r>
              <a:rPr lang="en-US" sz="1200" dirty="0">
                <a:solidFill>
                  <a:srgbClr val="8D99AE"/>
                </a:solidFill>
                <a:latin typeface="Microsoft YaHei" pitchFamily="34" charset="0"/>
                <a:ea typeface="Microsoft YaHei" pitchFamily="34" charset="-122"/>
                <a:cs typeface="Microsoft YaHei" pitchFamily="34" charset="-120"/>
              </a:rPr>
              <a:t>作者：罗宏伟</a:t>
            </a:r>
            <a:endParaRPr lang="en-US" sz="1200" dirty="0"/>
          </a:p>
        </p:txBody>
      </p:sp>
      <p:sp>
        <p:nvSpPr>
          <p:cNvPr id="15" name="Shape 13"/>
          <p:cNvSpPr/>
          <p:nvPr/>
        </p:nvSpPr>
        <p:spPr>
          <a:xfrm>
            <a:off x="8366760" y="4800600"/>
            <a:ext cx="548640" cy="274320"/>
          </a:xfrm>
          <a:prstGeom prst="roundRect">
            <a:avLst>
              <a:gd name="adj" fmla="val 16667"/>
            </a:avLst>
          </a:prstGeom>
          <a:solidFill>
            <a:srgbClr val="EF233C"/>
          </a:solidFill>
          <a:ln/>
        </p:spPr>
      </p:sp>
      <p:sp>
        <p:nvSpPr>
          <p:cNvPr id="16" name="Text 14"/>
          <p:cNvSpPr/>
          <p:nvPr/>
        </p:nvSpPr>
        <p:spPr>
          <a:xfrm>
            <a:off x="8366760" y="4800600"/>
            <a:ext cx="54864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95</Slides>
  <Notes>95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95</vt:i4>
      </vt:variant>
    </vt:vector>
  </HeadingPairs>
  <TitlesOfParts>
    <vt:vector size="9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倒推十年 - 高考志愿填报师工作手册</dc:title>
  <dc:subject>PptxGenJS Presentation</dc:subject>
  <dc:creator>罗宏伟</dc:creator>
  <cp:lastModifiedBy>罗宏伟</cp:lastModifiedBy>
  <cp:revision>1</cp:revision>
  <dcterms:created xsi:type="dcterms:W3CDTF">2026-08-02T02:47:32Z</dcterms:created>
  <dcterms:modified xsi:type="dcterms:W3CDTF">2026-08-02T02:47:32Z</dcterms:modified>
</cp:coreProperties>
</file>