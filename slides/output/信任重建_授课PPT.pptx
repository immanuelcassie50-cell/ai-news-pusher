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</p:sldIdLst>
  <p:notesMasterIdLst>
    <p:notesMasterId r:id="rId1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notesMaster" Target="notesMasters/notesMaster1.xml"/><Relationship Id="rId148" Type="http://schemas.openxmlformats.org/officeDocument/2006/relationships/presProps" Target="presProps.xml"/><Relationship Id="rId149" Type="http://schemas.openxmlformats.org/officeDocument/2006/relationships/viewProps" Target="viewProps.xml"/><Relationship Id="rId150" Type="http://schemas.openxmlformats.org/officeDocument/2006/relationships/theme" Target="theme/theme1.xml"/><Relationship Id="rId1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38328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1371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840480" y="2651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第三方财富管理从代销驱动到买方受托的转型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840480" y="3383280"/>
            <a:ext cx="22860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RECONSTRUCTION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开场：行业信任危机的现状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模块一：信任危机的本质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26060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模块二：从卖方驱动到买方受托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32918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模块三：信任重建的实践路径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39776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收尾：总结与行动计划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1371600"/>
            <a:ext cx="457200" cy="3200400"/>
          </a:xfrm>
          <a:prstGeom prst="rect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一个令人警醒的数据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4630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的客户表示不信任理财顾问推荐的产品的真实原因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46304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611880" y="2651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的客户曾被过度销售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6304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46304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737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次：平均一个客户需要接触才能形成真正的信任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数据来源：2024年中国财富管理行业客户信任度调研报告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2057400" y="137160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2331720" y="1371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86200" y="1554480"/>
            <a:ext cx="27432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理解信任危机的本质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6400800" cy="822960"/>
          </a:xfrm>
          <a:prstGeom prst="roundRect">
            <a:avLst>
              <a:gd name="adj" fmla="val 8889"/>
            </a:avLst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3774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27432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3774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掌握买方受托的核心能力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14600" y="3566160"/>
            <a:ext cx="27432" cy="4572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1783080"/>
            <a:ext cx="54864" cy="19659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174736" y="1737360"/>
            <a:ext cx="164592" cy="164592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74736" y="2743200"/>
            <a:ext cx="164592" cy="164592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174736" y="3749040"/>
            <a:ext cx="164592" cy="164592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学员收益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256032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识别信任危机的深层根源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971800"/>
            <a:ext cx="21945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理解客户不信任的本质原因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看清行业信任崩塌的底层逻辑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371600"/>
            <a:ext cx="256032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576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建立买方受托的服务模式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0" y="2971800"/>
            <a:ext cx="21945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掌握以客户利益为中心的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服务流程与沟通方法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137160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1371600"/>
            <a:ext cx="256032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635508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1508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1508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3796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制定可落地的信任重建计划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2971800"/>
            <a:ext cx="21945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设计具体的行动方案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建立持续信任累积机制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理财顾问、客户经理、财富管理师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749040" y="26517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客户信任度持续下降，签单周期不断延长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5508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69480" y="169164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2694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629400" y="26517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从产品销售导向转向真正以客户利益为中心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为什么这门课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2018年资管新规以来，财富管理行业经历了前所未有的信任危机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监管收紧：产品违约频发，刚性兑付打破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74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信任损耗：客户资产大幅缩水，投诉激增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278892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5176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模式困境：代销模式利益错位，难以建立信任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3611880"/>
            <a:ext cx="73152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3474720"/>
            <a:ext cx="3886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能力缺口：理财顾问缺乏买方服务系统方法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7772400" cy="502920"/>
          </a:xfrm>
          <a:prstGeom prst="roundRect">
            <a:avLst>
              <a:gd name="adj" fmla="val 9091"/>
            </a:avLst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核心问题：行业的信任基础与商业模式之间存在根本性矛盾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课程的底层逻辑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信任不是靠话术建立的，是靠行为累积的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 rot="3600000">
            <a:off x="4572000" y="1463040"/>
            <a:ext cx="2217302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0">
            <a:off x="5680651" y="3383280"/>
            <a:ext cx="2217302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-3600000">
            <a:off x="3463349" y="3383280"/>
            <a:ext cx="2217302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63040"/>
            <a:ext cx="0" cy="0"/>
          </a:xfrm>
          <a:prstGeom prst="line">
            <a:avLst/>
          </a:prstGeom>
          <a:noFill/>
          <a:ln w="25400">
            <a:solidFill>
              <a:srgbClr val="ED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05156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69171" y="2971800"/>
            <a:ext cx="822960" cy="8229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5269171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51869" y="2971800"/>
            <a:ext cx="822960" cy="8229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3051869" y="2971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60520" y="105156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051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69080" y="22402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2240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20116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0" y="32004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0" y="374904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学习地图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模块一：信任危机的本质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063240"/>
            <a:ext cx="34747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3832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模块二：从卖方驱动到买方受托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37160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828800"/>
            <a:ext cx="3840480" cy="2743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716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74920" y="24688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377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模块三：信任重建的实践路径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74920" y="3063240"/>
            <a:ext cx="347472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33832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3383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案例与行动计划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434840" y="2651760"/>
            <a:ext cx="27432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7720" y="2578608"/>
            <a:ext cx="201168" cy="20116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案例导入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一个真实的故事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86868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14300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1430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张老师，某头部财富公司资深顾问，入职12年，服务客户超过200人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" y="1600200"/>
            <a:ext cx="36576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210312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210312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2021年，她主推的一款固收产品突然违约，客户资产大幅缩水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" y="2560320"/>
            <a:ext cx="36576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154680"/>
            <a:ext cx="731520" cy="36576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54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80160" y="306324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0632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短短3个月内，70%的客户选择离她而去，甚至有人当面质问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1234440"/>
            <a:ext cx="3474720" cy="2606040"/>
          </a:xfrm>
          <a:prstGeom prst="roundRect">
            <a:avLst>
              <a:gd name="adj" fmla="val 3509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1417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关键转折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164592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0116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"不是客户不需要理财顾问，是客户不需要只会卖产品的顾问"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张老师后来意识到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2022年她开始转型学习买方投顾模式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这个故事不是个例，而是整个财富管理行业的缩影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48640" y="2560320"/>
            <a:ext cx="2286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信任危机的本质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理解危机，才能真正走出危机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286000"/>
            <a:ext cx="1097280" cy="164592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3840480"/>
            <a:ext cx="1371600" cy="914400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行业信任危机的历史根源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从2010到2025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132320" y="914400"/>
            <a:ext cx="1645920" cy="1645920"/>
          </a:xfrm>
          <a:prstGeom prst="rect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0" y="2560320"/>
            <a:ext cx="1097280" cy="1371600"/>
          </a:xfrm>
          <a:prstGeom prst="rect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3474720"/>
            <a:ext cx="914400" cy="1097280"/>
          </a:xfrm>
          <a:prstGeom prst="rect">
            <a:avLst/>
          </a:prstGeom>
          <a:solidFill>
            <a:srgbClr val="2B2D42">
              <a:alpha val="60000"/>
            </a:srgbClr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行业大事记 2010-2025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60320"/>
            <a:ext cx="8229600" cy="36576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450592"/>
            <a:ext cx="256032" cy="256032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2010-2012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34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信托高速发展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45059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1920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2013-2015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28346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834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刚兑潜规则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2450592"/>
            <a:ext cx="256032" cy="256032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920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2016-2018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834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资管大扩张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12080" y="245059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920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28346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834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资管新规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450592"/>
            <a:ext cx="256032" cy="25603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920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2019-2021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34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风险暴露期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2450592"/>
            <a:ext cx="256032" cy="256032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7726680" y="1920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2022-2025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283464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28346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信任重建探索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88136" y="2423160"/>
            <a:ext cx="1289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05456" y="2423160"/>
            <a:ext cx="1289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22776" y="2423160"/>
            <a:ext cx="1289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0096" y="2423160"/>
            <a:ext cx="1289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57416" y="2423160"/>
            <a:ext cx="1289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576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数据来源：银保监会公开数据、信托业协会年报、行业研究机构报告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四类危机根源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09728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期限错配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097280"/>
            <a:ext cx="109728" cy="1691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4068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误导宣传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过度承诺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关系利用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017520"/>
            <a:ext cx="109728" cy="1691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机构端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KPI至上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激励扭曲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内控缺失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017520"/>
            <a:ext cx="109728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监管端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37947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规则滞后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执法不严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处罚过轻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典型案例分析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某信托产品违约事件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8321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某第三方财富公司代销的政信类信托产品出现违约，投资人损失本金及收益，引发大规模客诉与媒体曝光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产品设计缺陷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资金池运作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期限错配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06040" y="25603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销售误导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3154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过度承诺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刚性兑付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客户损失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本金损失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收益落空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903720" y="25603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信任崩塌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95160" y="3154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客诉爆发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媒体曝光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1605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教训：产品端、销售端、客户端问题相互传导，最终引发系统性信任危机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典型案例分析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理财经理的困境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5544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1828800"/>
            <a:ext cx="3931920" cy="2286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理财经理的「三难」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公司压力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KPI考核、业绩排名、晋升挂钩，推介公司主推产品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客户利益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2918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希望为客户配置真正适合的产品，建立长期信任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收入依赖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佣金收入与产品销量挂钩，难以推荐低价替代品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155448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265176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2651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2376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897880" y="384048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F233C">
              <a:alpha val="70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收入依赖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607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8580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008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危机传导路径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恶性循环的形成与扩散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0" y="9601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960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信心不足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49240" y="10802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65889" y="17830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5265889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产品选择保守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65889" y="34290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5265889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收益下降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49240" y="440617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425196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42519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440617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15071" y="34290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2415071" y="3429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关系恶化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415071" y="17830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2415071" y="17830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信心不足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0" y="2468880"/>
            <a:ext cx="914400" cy="914400"/>
          </a:xfrm>
          <a:prstGeom prst="ellipse">
            <a:avLst/>
          </a:prstGeom>
          <a:solidFill>
            <a:srgbClr val="EDF2F4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3484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434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关键洞察：信任一旦受损，修复周期远长于破坏周期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财富管理客诉量同比上升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17373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产品违约事件集中爆发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09728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52044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客户流失率上升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产品违约后3个月内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3383280"/>
            <a:ext cx="17373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信任修复周期漫长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09728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3.1年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40080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理财顾问平均从业年限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2023年（2018年：5.2年）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3383280"/>
            <a:ext cx="17373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520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人才流失加剧信任危机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数据来源：银行业协会、信托业协会、第三方财富管理行业调研报告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行业信任危机的本质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8321040" cy="822960"/>
          </a:xfrm>
          <a:prstGeom prst="roundRect">
            <a:avLst>
              <a:gd name="adj" fmla="val 11111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515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不是能力问题，是立场问题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3317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产品信任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不知道产品是否安全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2103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331720"/>
            <a:ext cx="640080" cy="6400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机构信任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不知道机构是否靠谱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3317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顾问信任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不知道顾问是否真心为我好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核心问题：代销模式下，机构与客户的利益天然对立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卖方驱动模式的七宗罪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为什么客户越来越不信任我们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286000"/>
            <a:ext cx="1097280" cy="164592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3840480"/>
            <a:ext cx="1371600" cy="914400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卖方驱动模式的七宗罪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为什么客户越来越不信任我们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七宗罪全景图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86200" y="2194560"/>
            <a:ext cx="1371600" cy="1371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886200" y="2194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35040" y="25603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产品绑架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0" y="2880360"/>
            <a:ext cx="640080" cy="0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12799" y="4061027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5312799" y="4061027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38479" y="4701107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收益承诺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99857" y="3416327"/>
            <a:ext cx="399333" cy="500236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89374" y="4432841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3689374" y="4432841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15054" y="5072921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20062" y="3549117"/>
            <a:ext cx="-141809" cy="624174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385972" y="3396068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2385972" y="33960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11652" y="40361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54561" y="3178841"/>
            <a:ext cx="-576276" cy="278583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384516" y="172759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2384516" y="172759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10196" y="236767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关系利用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54041" y="2582957"/>
            <a:ext cx="-576761" cy="-277577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686106" y="688545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3686106" y="68854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11786" y="1328625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持续骚扰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18895" y="2211869"/>
            <a:ext cx="-142898" cy="-623925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310178" y="1057525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5310178" y="1057525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35858" y="1697605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机构背书滥用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98921" y="2343647"/>
            <a:ext cx="398459" cy="-500932"/>
          </a:xfrm>
          <a:prstGeom prst="line">
            <a:avLst/>
          </a:prstGeom>
          <a:noFill/>
          <a:ln w="19050">
            <a:solidFill>
              <a:srgbClr val="8D99A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罪状一：产品绑架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顾问被迫主推特定产品，因为机构的KPI考核和佣金结构与客户利益存在根本冲突。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10972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6002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某财富管理公司销售冠军，其95%的业绩来自单一私募产品——该产品恰好给顾问最高的佣金比例。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利益结构导致行为扭曲：当佣金差异超过30%，理性选择会变为推荐佣金更高而非更适合客户的产品。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KPI考核 → 主推产品 → 佣金激励 → 客户利益受损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罪状二：收益承诺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过度承诺预期收益，忽视风险提示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破坏信任的常见话术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54864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「年化收益稳定在15%以上」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9659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市场平均仅8%，高收益必然伴随高风险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51760"/>
            <a:ext cx="54864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「这款产品银行都在卖」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26517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51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银行代销≠银行信用背书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37560"/>
            <a:ext cx="54864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375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「肯定保本，我们内部都知道」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33375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3375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理财不等同于存款，净值产品可能亏损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23360"/>
            <a:ext cx="54864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23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「放心，我自己也买了」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402336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顾问持有≠产品安全，可能存在利益冲突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承诺收益 ≠ 保障收益 | 预期收益 ≠ 实际收益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罪状三：信息不对称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客户无法获得产品的完整信息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顾问知道的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产品底层资产真实情况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管理费、托管费、赎回费明细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历史最大回撤与亏损案例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资金池运作模式与风险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关联公司实际财务状况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客户知道的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产品名称与预期收益率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起投金额与投资期限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顾问口头描述（经过筛选）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产品说明书（简化版）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朋友圈转发的发展动态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信息屏障 = 信任杀手 | 透明是信任重建的第一步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罪状四：关系利用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利用客户的信任和情感进行销售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关系利用的常见手法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288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情感绑架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利用老客户关系或人情压力进行推销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「都是老朋友了，这个产品我肯定不会骗你」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8288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场景利用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在客户脆弱或需要建议时趁机推销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315468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客户刚经历亏损时推销高风险产品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82880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信任搭桥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2514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通过客户信任的人脉进行裂变式推销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154680"/>
            <a:ext cx="2468880" cy="548640"/>
          </a:xfrm>
          <a:prstGeom prst="roundRect">
            <a:avLst>
              <a:gd name="adj" fmla="val 8333"/>
            </a:avLst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「你朋友也买了，你也了解了解」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关系是最宝贵的信任资产 | 透支人情的代价是永久失去这个客户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罪状五：持续推销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不顾客户拒绝，持续推销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客户拒绝信号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「我再考虑一下」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1343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67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「我需要和家人商量」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60904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「先不买了」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008376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9626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「最近资金紧张」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355848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310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不接电话/不回消息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137160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销售方的典型反应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965960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继续打电话跟进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313432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267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换个人继续联系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26151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推荐其他产品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3008376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9626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强调限时优惠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355848"/>
            <a:ext cx="137160" cy="1371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33101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利用客户不好意思拒绝的心理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每一次强推都在积累客户的负面情绪 | 拒绝不等于需求消失，而是信任未建立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罪状六：持续骚扰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0" y="320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不顾客户拒绝，持续推销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联系频率 vs 客户容忍度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1-2次/月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182880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D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828800"/>
            <a:ext cx="694944" cy="411480"/>
          </a:xfrm>
          <a:prstGeom prst="rect">
            <a:avLst/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828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舒适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1次/周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237744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2377440"/>
            <a:ext cx="1389888" cy="411480"/>
          </a:xfrm>
          <a:prstGeom prst="rect">
            <a:avLst/>
          </a:prstGeom>
          <a:solidFill>
            <a:srgbClr val="EF233C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3774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2-3次/周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92608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2926080"/>
            <a:ext cx="2084832" cy="411480"/>
          </a:xfrm>
          <a:prstGeom prst="rect">
            <a:avLst/>
          </a:prstGeom>
          <a:solidFill>
            <a:srgbClr val="EF233C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9260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0" y="347472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1645920" y="3474720"/>
            <a:ext cx="2953512" cy="411480"/>
          </a:xfrm>
          <a:prstGeom prst="rect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4747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23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多次/天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45920" y="402336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5920" y="4023360"/>
            <a:ext cx="3300984" cy="411480"/>
          </a:xfrm>
          <a:prstGeom prst="rect">
            <a:avLst/>
          </a:prstGeom>
          <a:solidFill>
            <a:srgbClr val="EF233C">
              <a:alpha val="9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40233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274320" cy="1828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联系频率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11680" y="4572000"/>
            <a:ext cx="274320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237744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客户容忍度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137160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585216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为什么越推越远？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852160" y="196596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拒绝≠欲擒故纵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沉默≠还在考虑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礼貌≠兴趣信号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每一次骚扰都在积累负面印象</a:t>
            </a:r>
            <a:endParaRPr lang="en-US" sz="1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信任一旦破裂难以修复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七宗罪的共同根源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利益结构决定了行为模式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佣金结构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不同产品佣金差异可达 5-10倍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103120"/>
            <a:ext cx="1828800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KPI压力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季度/年指标考核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产品销量挂钩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职位晋升绑定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846320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103120"/>
            <a:ext cx="182880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行为选择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主推高佣金产品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简化风险提示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利用信任关系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2606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040880" y="21031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2103120"/>
            <a:ext cx="1828800" cy="4114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客户损失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产品不适合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风险超预期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信任破裂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结论：不是人的问题，是系统的问题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要改变结果，必须改变激励结构。否则，要求个人道德自律来对抗系统利益，既不公平也无效果。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客户戒备心理的深层机制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理解客户为什么「不信任」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286000"/>
            <a:ext cx="1097280" cy="164592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3840480"/>
            <a:ext cx="1371600" cy="914400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认知层：认知偏差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近期偏好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过度关注最近的风险事件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某信托违约 → 认为所有信托都有风险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97280"/>
            <a:ext cx="73152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损失厌恶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亏损的痛苦是盈利的两倍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宁可保守不赚，也不愿冒险亏损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971800"/>
            <a:ext cx="73152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权威依赖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相信「官方」背书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「银行卖的就没问题」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97180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971800"/>
            <a:ext cx="73152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Shape 27"/>
          <p:cNvSpPr/>
          <p:nvPr/>
        </p:nvSpPr>
        <p:spPr>
          <a:xfrm>
            <a:off x="4754880" y="31089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5780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从众心理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别人买我才买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「大家都买应该没问题」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572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5720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认知偏差导致客户做出非理性决策，理解偏差是建立信任的第一步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客户戒备心理的深层机制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理解客户为什么「不信任」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 → 情感层 → 行为层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914400"/>
            <a:ext cx="1828800" cy="1645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2743200"/>
            <a:ext cx="1188720" cy="18288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840480"/>
            <a:ext cx="731520" cy="914400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认知层：信息过载与判断瘫痪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悖论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信息越多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判断越难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选择恐惧症导致客户干脆放弃决策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客户评估时常有的想法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「这个产品真的适合我吗？」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96596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「会不会有更好的选择？」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331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「这么多产品，怎么判断优劣？」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164592" cy="164592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「算了，先放着再说」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2B2D42">
              <a:alpha val="90000"/>
            </a:srgbClr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客户的认知负担过重时，会选择逃避决策而非主动判断。理财师的价值不是提供更多选择，而是帮助客户降低决策复杂度。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认知层：认知偏差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691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近期偏好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过度关注最近的风险事件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近期某信托违约 → 认为所有信托都有风险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05840"/>
            <a:ext cx="73152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1430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43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损失厌恶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亏损的痛苦是盈利的两倍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宁可保守不赚，也不愿冒险亏损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73152" cy="1691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权威依赖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相信「官方」背书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794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「银行卖的就没问题」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834640"/>
            <a:ext cx="73152" cy="16916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2971800"/>
            <a:ext cx="411480" cy="41148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578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从众心理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别人买我才买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37947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「大家都买应该没问题」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认知偏差导致客户做出非理性决策，理解偏差是建立信任的第一步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情感层：不安全感与防御心理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四种核心情绪驱动客户行为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96596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1074420" y="160020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417320" cy="18288"/>
          </a:xfrm>
          <a:prstGeom prst="rect">
            <a:avLst/>
          </a:prstGeom>
          <a:solidFill>
            <a:srgbClr val="2B2D4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80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害怕亏损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害怕被骗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371600"/>
            <a:ext cx="19659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68980" y="16002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2689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愤怒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34640" y="2743200"/>
            <a:ext cx="1417320" cy="18288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880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对过往经历的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负面情绪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196596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63540" y="1600200"/>
            <a:ext cx="548640" cy="54864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54635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戒备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0" y="2743200"/>
            <a:ext cx="1417320" cy="18288"/>
          </a:xfrm>
          <a:prstGeom prst="rect">
            <a:avLst/>
          </a:prstGeom>
          <a:solidFill>
            <a:srgbClr val="8D99A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880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本能地怀疑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一切推荐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1371600"/>
            <a:ext cx="1965960" cy="23774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371600"/>
            <a:ext cx="1965960" cy="7315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8" name="Shape 26"/>
          <p:cNvSpPr/>
          <p:nvPr/>
        </p:nvSpPr>
        <p:spPr>
          <a:xfrm>
            <a:off x="7658100" y="1600200"/>
            <a:ext cx="548640" cy="54864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76581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49440" y="228600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疲惫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223760" y="2743200"/>
            <a:ext cx="1417320" cy="18288"/>
          </a:xfrm>
          <a:prstGeom prst="rect">
            <a:avLst/>
          </a:prstGeom>
          <a:solidFill>
            <a:srgbClr val="EDF2F4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88036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对复杂金融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产品的抵触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关键：客户表面是在选产品，实际是在寻找安全感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情感层：防御机制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客户如何保护自己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拖延决策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1554480"/>
            <a:ext cx="18288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508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不立即回应，争取时间思考或寻求其他意见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4028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4231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要求更多证明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17520" y="2423160"/>
            <a:ext cx="18288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2377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要资质文件、历史业绩、第三方评级等书面证据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08960"/>
            <a:ext cx="73152" cy="7772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寻求第三方验证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17520" y="3291840"/>
            <a:ext cx="18288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2461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自己上网查询、问朋友、找其他专业人士确认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977640"/>
            <a:ext cx="73152" cy="7772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降低接触频率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17520" y="4160520"/>
            <a:ext cx="18288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0" y="41148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减少与理财师的互动，避免被「推销」感包围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这些行为不是拒绝，而是客户在尝试建立自己的决策安全感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行为层：延迟决策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决策周期变化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2周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决策周期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783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6周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决策周期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根本原因分析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信任缺失导致反复比较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3794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310896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信息过载造成决策瘫痪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52160" y="37947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3794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风险规避优先于收益追求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决策周期延长3倍，直接影响销售效率和客户体验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2860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8346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信任赤字对顾问的影响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伤害是双向的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286000"/>
            <a:ext cx="1097280" cy="1645920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3840480"/>
            <a:ext cx="1371600" cy="914400"/>
          </a:xfrm>
          <a:prstGeom prst="rect">
            <a:avLst/>
          </a:prstGeom>
          <a:solidFill>
            <a:srgbClr val="8D99AE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三层联动机制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→ 情感 → 行为 的恶性循环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0" y="1280160"/>
            <a:ext cx="1097280" cy="91440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2926080"/>
            <a:ext cx="914400" cy="91440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2926080"/>
            <a:ext cx="914400" cy="-914400"/>
          </a:xfrm>
          <a:prstGeom prst="line">
            <a:avLst/>
          </a:prstGeom>
          <a:noFill/>
          <a:ln w="25400">
            <a:solidFill>
              <a:srgbClr val="EF23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9728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 + 认知偏差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0" y="246888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不安全感 + 防御心理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560320" y="384048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39136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延迟决策 + 验证依赖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031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相互强化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846320"/>
            <a:ext cx="7772400" cy="2286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信任赤字对顾问的影响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伤害是双向的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转介绍率下降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3716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49%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转介绍率降幅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69164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客户不再主动推荐顾问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2402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依赖陌生获客，成本上升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78892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收入来源稳定性下降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246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行业口碑持续恶化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信任赤字导致客户沉默，转介绍这个最可靠的获客渠道正在枯竭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自身价值感模糊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Impact on Advisors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角色迷失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不清楚自己到底是销售还是顾问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6916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760720" y="1600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成就感缺失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607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付出努力却换来客户怀疑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职业倦怠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长期压力导致身心疲惫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24612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76072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身份焦虑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对社会地位的不确定感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D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当顾问自己都不相信产品价值时，客户如何能相信？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977640" y="777240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77640" y="7772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75414" y="11285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69074" y="1788176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69074" y="17881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销售困难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56721" y="2917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37593" y="3423904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593" y="34239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压力增大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348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17687" y="3423904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7687" y="34239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行为变形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12959" y="291764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86206" y="1788176"/>
            <a:ext cx="1188720" cy="640080"/>
          </a:xfrm>
          <a:prstGeom prst="roundRect">
            <a:avLst>
              <a:gd name="adj" fmla="val 11429"/>
            </a:avLst>
          </a:prstGeom>
          <a:solidFill>
            <a:srgbClr val="EF233C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6206" y="17881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69080" y="2240280"/>
            <a:ext cx="100584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2240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54864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4389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客户对顾问产生怀疑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21408" y="4160520"/>
            <a:ext cx="54864" cy="5943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4" name="Text 22"/>
          <p:cNvSpPr/>
          <p:nvPr/>
        </p:nvSpPr>
        <p:spPr>
          <a:xfrm>
            <a:off x="2231136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销售困难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31136" y="4389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成交率下降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77056" y="4160520"/>
            <a:ext cx="54864" cy="5943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3986784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压力增大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86784" y="4389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心理负担上升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32704" y="4160520"/>
            <a:ext cx="54864" cy="5943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0" name="Text 28"/>
          <p:cNvSpPr/>
          <p:nvPr/>
        </p:nvSpPr>
        <p:spPr>
          <a:xfrm>
            <a:off x="5742432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行为变形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42432" y="4389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短期行为出现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88352" y="4160520"/>
            <a:ext cx="54864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信任缺失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498080" y="43891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进一步受损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信任危机的本质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客户与顾问之间的信息不对称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传统销售模式以成交为唯一目标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信任赤字的影响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签单周期变长三倍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转介绍率从45%降至23%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恶性循环机制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信任缺失导致销售困难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压力增大引发行为变形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15544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1945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信任不是成本，是资产。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重建信任需要从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根本改变商业模式，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而非简单改变销售话术。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下一步：从危机到转型，探索买方受托模式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从危机到转型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如果我们理解了危机，如何重建信任？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代销驱动模式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产品方利益优先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114800" y="2011680"/>
            <a:ext cx="2286000" cy="1280160"/>
          </a:xfrm>
          <a:prstGeom prst="roundRect">
            <a:avLst>
              <a:gd name="adj" fmla="val 7143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买方受托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客户利益优先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信义义务驱动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7406640" y="201168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转型三大支柱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信义义务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从法律和道德层面建立受托责任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收费透明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让收费模式与客户利益一致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88620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利益冲突管理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206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识别、披露、化解潜在冲突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从卖方驱动到买方受托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转型不是选择，是生存必须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什么是真正的买方受托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从立场到行为的根本转变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信义义务的定义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Fiduciary Duty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 standard of care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信义义务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Core 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of Loyalty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忠诚义务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 of Care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注意义务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受托人必须以受益人最佳利益为唯一考量，不得夹杂任何个人或第三方利益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法律层面的要求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最佳利益原则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受托人必须以受益人最佳利益行事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3716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禁止自我交易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禁止利益冲突情况下的自我交易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信息披露义务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必须履行信息披露义务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7432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民事赔偿责任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违反信义义务可能承担民事赔偿责任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233C">
              <a:alpha val="85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法律底线的不可逾越性：一旦违反，可能面临诉讼、赔偿乃至行业禁入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道德层面的要求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Legal Minimum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真诚地相信建议符合客户利益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1874520"/>
            <a:ext cx="36576" cy="3200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理解客户的完整处境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" y="2651760"/>
            <a:ext cx="36576" cy="3200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175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在利益冲突时主动披露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" y="3429000"/>
            <a:ext cx="36576" cy="3200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7947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794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持续跟踪服务而非一次性销售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道德要求是法律要求的升级版——法律是底线，道德才是真正赢得信任的基础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买方受托的四个特征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利益一致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自己的收益来自客户的收益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692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信息透明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103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完整披露风险和费用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独立判断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不为产品方压力所动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31546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持续服务而非一次性交易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与卖方驱动的本质区别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097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买方受托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56032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56032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产品佣金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56032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客户付费/AUM费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25603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0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560320"/>
            <a:ext cx="25603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560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产品销量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560320"/>
            <a:ext cx="25603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5603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客户目标达成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256032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信息分享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337560"/>
            <a:ext cx="256032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选择性披露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337560"/>
            <a:ext cx="2560320" cy="6858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337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完整透明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25603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关系性质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0" y="4114800"/>
            <a:ext cx="25603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交易关系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4114800"/>
            <a:ext cx="25603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114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信任关系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核心差异：立场决定行为，利益结构决定立场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角色转变的三个阶段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产品推销员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Salesperson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880360"/>
            <a:ext cx="18288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63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"这个产品很好"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2044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产品专家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Specialist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2880360"/>
            <a:ext cx="18288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3063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"这个产品适合你"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46520" y="118872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13716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19202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买方顾问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Buyer's Advisor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12280" y="2880360"/>
            <a:ext cx="18288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063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"基于你的情况，我建议..."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自我评估：我现在在哪？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客户问「这个产品好不好」时，我首先想到的是什么？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我了解自己推荐产品的佣金率吗？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24028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我会主动告诉客户我的收入来源吗？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我的大部分收入来自新客户还是老客户？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7726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客户转介绍时，通常是因为什么？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结果映射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多数A答案 → Stage 1  |  多数B答案 → Stage 2  |  多数C答案 → Stage 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转变的挑战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收入短期下降的恐惧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转型初期收入可能减少30-50%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417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机构KPI体系的阻力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现有考核机制仍以销量为核心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客户既有认知的惯性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客户习惯了产品推销模式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1089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3212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自身专业能力的差距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顾问缺乏资产配置专业能力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转变的机遇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客户粘性提升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建立信任后客户不会轻易离开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258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转介绍率提升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满意客户主动带来新客户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收入稳定性增强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AUM模式带来持续性收入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2B2D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职业尊严感回归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以专业服务赢得尊重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小结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买方受托是以客户最佳利益为唯一标准的执业方式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" y="155448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信义义务包含忠诚义务和注意义务两个核心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" y="224028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4688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与卖方驱动的本质区别在于利益结构和立场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" y="292608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转型需要经历从产品推销员到买方顾问的进化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" y="361188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8404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挑战与机遇并存，但长期来看机遇更大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转型不是选择，是生存必须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收费模式透明化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钱怎么收，决定了你站在谁那边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三种收费模式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1371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Commission-based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产品提供方支付一次性佣金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188720"/>
            <a:ext cx="2651760" cy="137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Fee-only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60604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834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客户直接支付固定咨询服务费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2651760" cy="137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AUM制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AUM-based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60604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按管理资产规模收取年费 (0.5%-1.5%)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不同收费模式直接影响顾问与客户的利益一致性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佣金制分析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运作方式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产品提供方支付一次性佣金给顾问，通常为产品金额的1-5%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高佣金产品激励过度推荐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客户无法判断建议的客观性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规模导向而非收益导向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F233C">
              <a:alpha val="90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0175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高佣金产品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30175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30175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349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咨询费制分析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运作方式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客户支付固定费用获得专业咨询服务，顾问完全独立于产品销售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4920" y="1463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完全独立于产品销售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建议质量是唯一衡量标准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客户付费意识培养需要时间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33756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46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定价策略的挑战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B2D42">
              <a:alpha val="90000"/>
            </a:srgbClr>
          </a:solidFill>
          <a:ln w="19050">
            <a:solidFill>
              <a:srgbClr val="2B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34747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2880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4747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直接付费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AUM制分析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运作方式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按管理资产规模收取年费，通常为0.5%-1.5%/年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示例：1000万资产 → 5-15万/年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508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与客户长期利益绑定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65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202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收入随客户资产增长而增长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需要建立足够的客户信任基础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33756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2461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初期收入可能下降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3474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资产增值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474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共同目标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客户资产增长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4747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财富增值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461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321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三种模式对比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051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0515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利益一致性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164592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64592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164592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645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24028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客户信任度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224028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224028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长期可持续性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651760" y="283464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265176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83464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40880" y="2834640"/>
            <a:ext cx="2011680" cy="59436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28346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42900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转型难度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651760" y="342900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65176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342900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040880" y="3429000"/>
            <a:ext cx="2011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较难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1605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建议：混合模式过渡，最终向AUM制转型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客户感知分析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"你推荐这个是因为它最好，还是因为佣金最高？"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146304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F233C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517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"我愿意为专业建议付费"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26974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8D99AE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862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86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AUM制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703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"你的利益和我的利益绑定在一起了"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0" y="39319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2B2D42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客户感知决定了信任建立的难易程度和速度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透明化沟通话术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" cy="10972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我的收入主要来自产品提供方的佣金。这意味着我推荐的每一个产品都有相应的激励。但请您放心，我会明确告知每款产品的佣金比例，让您做出知情决策。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91440" cy="10972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咨询费制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您支付的是我的专业服务费，与我推荐什么产品无关。我的职责是根据您的实际情况提供最优建议，而不是销售特定产品。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520440"/>
            <a:ext cx="9144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11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AUM制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我的收入与您的资产增长直接挂钩。您赚钱，我才有收入；您亏损，我也会受影响。我们的利益是完全一致的。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费用披露的时机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7315200" cy="5486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首次接触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建立预期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方案制定前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确认理解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再次确认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每年报告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429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常规披露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主动披露比被动询问更有信任价值——早说比晚说好，完整说比选择性说好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收费模式转型路径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2801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0-6个月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混合模式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保持现有佣金制，同时试点新收费模式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74904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8D99AE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维稳期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27248" y="2377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77640" y="12801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6-12个月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逐步调整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03320" y="274320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优化产品结构，提高高净值客户中新模式占比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374904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EF233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07608" y="23774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2801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12-24个月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完成转型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0" y="2743200"/>
            <a:ext cx="192024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880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新收费模式成为主要收入来源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374904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B2D42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新常态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转型中的收入保障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提高AUM收费比例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在现有客户群中试点AUM制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417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开发高净值客户群体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HNW客户更能接受新收费模式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提供附加服务收费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税务规划、法律咨询等增值服务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8346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提升单客户服务深度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深度服务带来更高AUM和收费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06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转型期收入保障的关键：不是放弃现有收入，而是用新模式扩大整体收入基数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 小结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三种收费模式各有利弊，AUM制最符合买方受托精神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50876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佣金制存在天然利益冲突，客户会感知到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214884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透明化沟通是建立信任的基础工作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278892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主动披露比被动询问更有价值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3429000"/>
            <a:ext cx="27432" cy="1828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转型路径清晰：混合模式→逐步调整→新模式为主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钱怎么收，决定了你站在谁那边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利益冲突识别与化解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承认冲突是解决冲突的第一步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冲突的三个层次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11430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个人经济利益 vs 客户利益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自有资金投资于客户推荐的产品  |  与产品方存在私人关系  |  个人业绩压力导致推荐偏差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8D99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109728" cy="11430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514600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514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团队业绩压力 vs 客户利益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团队整体KPI目标与单个客户利益冲突  |  产品准入决策影响团队收入  |  内部竞争导致信息不对称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109728" cy="11430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794760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7947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公司战略目标 vs 客户利益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产品代销规模要求与客户适配冲突  |  股东回报压力影响服务模式  |  品牌声誉管理优先于客户利益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个人层利益冲突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Level Conflicts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自有资金投资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将自有资金投入客户推荐的产品中，当产品表现不佳时与客户利益产生直接冲突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私人关系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9718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与产品方销售存在私人关系，可能影响推荐的客观性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业绩压力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069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个人业绩指标导致推荐产品时偏向高佣金而非最适合客户的产品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个人层冲突是最难识别和管控的，因为往往隐藏在专业判断的外衣下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常见冲突场景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Common Conflict Scenarios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新产品首发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首发产品通常有更高佣金，但缺乏历史业绩验证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5087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限售产品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"饥饿营销"制造紧迫感，诱导快速决策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5087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1554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关联产品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推荐与机构股东或高管相关的私募产品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业绩对赌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带杠杆的结构化产品，放大收益也放大风险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0632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862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跨区域产品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境外产品信息不对称，难以验证真实风险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0632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熟人推荐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"朋友的朋友"产品，利用信任关系背书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利益冲突识别清单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of Interest Identification Checklist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60020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554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我是否因为这个产品有额外收益？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0487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377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推荐这个产品对公司/团队有什么好处？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8211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1546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108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客户是否知道我的收益来源？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959352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7280" y="393192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这个建议是否符合客户的最大利益？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建议：每次推荐前，逐项核对这张清单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常见冲突场景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Conflict Scenarios in Wealth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5087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新产品首发任务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公司要求首发某产品，推介压力大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087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季末冲量指标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季度末KPI考核临近，需冲刺规模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5087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爆款产品抢购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热门产品额度有限，饥渴营销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08760" y="29260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客户升级服务包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升级服务意味着推荐更高佣金产品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29260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43434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8328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跨产品配置建议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多产品交叉销售带来综合收益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78040" y="29260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关联机构产品推荐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集团内部产品或关联方产品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F233C">
              <a:alpha val="85000"/>
            </a:srgbClr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识别场景是管理冲突的第一步 —— 知道风险在哪里，才能有效规避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主动披露策略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Disclosure Strategies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09728" cy="9601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4813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披露时机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建议形成时，而非被问及时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主动提前披露，展示诚信态度；被动等到客户询问再解释，容易被视为隐瞒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109728" cy="9601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披露内容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+ 你的处理方式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清晰说明利益关系具体是什么，以及你将如何确保客户利益不受影响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66160"/>
            <a:ext cx="109728" cy="9601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84048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披露方式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9776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 + 口头双重确认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书面记录可追溯，口头沟通增信任，两者结合确保信息传递完整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披露不是结束，而是建立信任的开始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化解利益冲突的七步法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Seven-Step Process for Resolving Conflicts of Interest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4173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明确是否存在利益冲突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评估冲突的严重程度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40680" y="14173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主动向客户说明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14173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23317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提供替代解决方案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463040" y="2880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48840" y="30175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21488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5448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5448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获得客户的知情同意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11880" y="2880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97680" y="30175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42976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033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70332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书面记录披露过程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28803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46520" y="30175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85216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85216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持续监控冲突状态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系统化管理冲突，而非凭感觉处理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案例分析：新产品首发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New Product Launch Conflict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F233C">
              <a:alpha val="85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场景：公司下发某信托新品首发任务，预期收益7.5%，期限18个月，你有位客户风险承受能力适中，恰好有笔资金在找稳健配置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011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发现存在冲突：产品有首发任务压力，收益高于常规产品，可能影响客观推荐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03911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39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20391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20116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评估严重程度：中度冲突。产品适合客户风险偏好，但推荐动机可能不纯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52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7523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724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主动告知客户：公司有首发任务，这款产品收益7.5%高于常规，但我选择它是因为适合你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752344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752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7523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27249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提供替代方案：同时提供两只类似风险等级产品作为对比，供客户选择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65576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65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17320" y="34381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获得知情同意：客户理解后签署书面确认，确认已了解利益关系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465576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465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34655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15000" y="34381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书面记录：签署产品推荐备忘录，记录披露过程和客户决定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178808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78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4178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17320" y="415137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持续跟踪：产品运行期间定期向客户报告净值情况，保持透明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结果：客户感受到透明和专业，建立了长期信任关系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Key Takeaways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利益冲突管理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26517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识别是前提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利益冲突不可避免，关键在于识别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使用识别清单，逐项核对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区分机构层与个人层冲突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783080"/>
            <a:ext cx="26517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披露是责任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主动披露优于被动解释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事实+处理方式双要素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书面+口头双重确认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783080"/>
            <a:ext cx="26517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管理是能力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七步法系统化处理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替代方案展示专业性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持续跟踪建立长期信任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核心观点：利益冲突管理的本质是建立信任，而非规避风险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0" y="4709160"/>
            <a:ext cx="3657600" cy="320040"/>
          </a:xfrm>
          <a:prstGeom prst="roundRect">
            <a:avLst>
              <a:gd name="adj" fmla="val 17143"/>
            </a:avLst>
          </a:prstGeom>
          <a:solidFill>
            <a:srgbClr val="EF233C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下一模块：如何成为真正的买方顾问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对话案例演示（前半）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传统销售 vs 买方顾问：同一个客户，不同的对话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传统销售方式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王总您好，我这边有一款收益很不错的信托产品，年化8%，要不要了解一下？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8%？现在银行理财才4%左右，这个安全吗？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08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这款产品是政信类的，有地方政府背书，风险可控。而且我们公司刚拿到这个项目的额度，很稀缺。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3703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那投资门槛是多少？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97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4297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100万起投，不过王总您的资产规模配置一些这类固收产品很合适。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买方顾问方式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6320" y="19202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19202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王总，感谢您今天专程过来。我想先了解一下您目前的整体财务状况，可以吗？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5146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2514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好啊，你想知道什么？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0896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108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您目前有哪些资产在做配置？主要的财务目标是什么？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7033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03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3703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我有一部分存款，还有一些股票，但最近市场不好...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29768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297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4297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我理解了。在给您建议之前，我想先了解：这笔钱您预计多久不需要用到？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关键区别：前者推产品，后者了解需求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对话案例演示（后半）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续前页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传统销售方式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这款产品额度有限，我建议您先占一个名额。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514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让我再考虑考虑...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王总，这个项目下周一就截止了，如果您错过这个8%的产品，以后可能很难再有了。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80160" y="3611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那...好吧，先投100万试试。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好的，我这就帮您准备合同。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463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买方顾问方式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96596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0" y="1965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我理解您对市场的担忧。能告诉我这笔资金主要是为了什么目标吗？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51460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514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6928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主要是给儿子以后出国和结婚用，大概10年内不会动用。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06324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明白了。那您的亏损容忍度是多少？是完全不接受亏损，还是可以接受一定波动？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3611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能不亏最好，但如果市场正常波动我能接受...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160520"/>
            <a:ext cx="731520" cy="274320"/>
          </a:xfrm>
          <a:prstGeom prst="roundRect">
            <a:avLst>
              <a:gd name="adj" fmla="val 16667"/>
            </a:avLst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69280" y="4160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根据您的情况，建议我们从资产配置角度规划，而不是单独看某款产品。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关键区别：前者制造紧迫感，后者尊重客户决策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两种方式的结果对比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传统销售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买方顾问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对话起点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产品推荐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645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客户需求探索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信息收集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103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选择性收集有利于产品的话题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全面了解客户财务全貌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风险沟通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轻描淡写或回避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2560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主动揭示，充分沟通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17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客户感受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"被推销"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"被理解"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决策压力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3474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制造紧迫感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给客户充分考虑时间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长期信任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3931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一次性关系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39319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持续信任关系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389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468880" y="43891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潜在合规隐患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4389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符合受托精神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结论：短期看产品，长期看信任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角色扮演练习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练习设置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两人一组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60020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6052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一人顾问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一人客户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60020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8D99AE">
              <a:alpha val="9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客户场景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客户王总，55岁，企业主，有500万可投资资产，主动询问"有什么好的信托产品可以买"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观察要点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685032"/>
            <a:ext cx="219456" cy="21945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85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问了多少问题？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361188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685032"/>
            <a:ext cx="219456" cy="21945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6850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给了多少建议？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4142232"/>
            <a:ext cx="219456" cy="21945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谁在说更多的话？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4069080"/>
            <a:ext cx="40233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4142232"/>
            <a:ext cx="219456" cy="219456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069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客户有没有透露真实担忧？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常见错误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需求诊断中最容易犯的四个错误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过早给出产品建议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客户还没说清楚需求，你就已经有了答案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纠正：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先听完，先问完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4068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没有了解客户的完整情况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2057400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只看到冰山一角，忽略了整体财务状况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全面了解后再判断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632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假设知道客户需要什么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用自己的经验代替客户的真实想法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保持好奇心，持续探索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6324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2461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被客户的表面需求牵着走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46320" y="3749040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749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客户说要买信托，但你没问为什么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4160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追问"为什么"至少三次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诊断工具箱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四个实用工具，帮你系统化了解客户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2704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财务状况表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收入、支出、资产、负债全貌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55448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5087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了解客户的实际负担和能力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目标排序卡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安全、收益、流动性、传承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42316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23774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帮助客户明确优先级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风险偏好问卷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3520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5C法则评估风险承受能力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329184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3246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匹配适当的风险等级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977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生命周期分析表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家庭阶段、子女教育、退休规划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0" y="416052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0" y="4114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3192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整体规划而非单品推荐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从诊断到建议的转化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基于完整诊断，如何形成合适建议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01168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69164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综合信息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整合财务状况、目标、风险偏好、投资期限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2286000"/>
            <a:ext cx="274320" cy="274320"/>
          </a:xfrm>
          <a:prstGeom prst="rightArrow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4630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463040"/>
            <a:ext cx="201168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169164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5176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定义问题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97480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与客户确认核心需求和优先级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286000"/>
            <a:ext cx="274320" cy="274320"/>
          </a:xfrm>
          <a:prstGeom prst="rightArrow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4630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463040"/>
            <a:ext cx="201168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40680" y="169164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4632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基于诊断结果，设计匹配方案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2286000"/>
            <a:ext cx="274320" cy="274320"/>
          </a:xfrm>
          <a:prstGeom prst="rightArrow">
            <a:avLst/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14630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463040"/>
            <a:ext cx="201168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Shape 26"/>
          <p:cNvSpPr/>
          <p:nvPr/>
        </p:nvSpPr>
        <p:spPr>
          <a:xfrm>
            <a:off x="7635240" y="169164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76352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4088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建议呈现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清晰解释方案逻辑，让客户做决定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40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永远基于客户的完整情况给建议，而不是基于你想卖什么产品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受托责任边界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8288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知道边界在哪，才能安心前行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法律责任的边界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受托人必须遵守的法定义务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必须做的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93392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诚实守信，如实披露产品信息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勤勉尽责，进行适当性评估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客户利益优先，避免利益冲突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639312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保护客户隐私和信息安全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187952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及时告知重大事项和风险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禁止做的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92040" y="199339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虚假宣传，夸大收益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254203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隐瞒风险，误导客户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09067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代客操作，擅自交易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363931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挪用客户资金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4187952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泄露客户个人信息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8D99AE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违法成本：行政处罚 + 民事赔偿 + 刑事责任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道德义务的范围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法律是底线，道德是高线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8D99AE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法律义务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强制性的最低标准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违规将受到法律制裁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365760" cy="365760"/>
          </a:xfrm>
          <a:prstGeom prst="rightArrow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道德义务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超越法规的更高追求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赢得信任的关键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24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27249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不仅是法规要求，更是赢得信任的主动选择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4612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192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持续沟通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331927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不只是产品有问题才联系，而是在平时也保持沟通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4048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136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真正理解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391363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不只是了解产品，而是理解客户的处境和需求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27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43484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5079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450799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不只是一次交易，而是持续关注客户的财富变化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说"不"的艺术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什么时候应该说"不"，以及为什么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41148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产品不适合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产品风险超出客户承受能力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71600"/>
            <a:ext cx="41148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691640"/>
            <a:ext cx="548640" cy="548640"/>
          </a:xfrm>
          <a:prstGeom prst="ellipse">
            <a:avLst/>
          </a:prstGeom>
          <a:solidFill>
            <a:srgbClr val="2B2D42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77840" y="16459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信息不完整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77840" y="2057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无法做出负责任的推荐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43200"/>
            <a:ext cx="41148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存在利益冲突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无法保证客户利益优先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743200"/>
            <a:ext cx="41148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063240"/>
            <a:ext cx="548640" cy="548640"/>
          </a:xfrm>
          <a:prstGeom prst="ellipse">
            <a:avLst/>
          </a:prstGeom>
          <a:solidFill>
            <a:srgbClr val="2B2D42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7784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超出能力范围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77840" y="34290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这个领域不是你的专长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说"不"不是拒绝客户，而是对客户负责的表现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说"不"的正确方式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拒绝产品，但不拒绝客户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错误方式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"这个产品收益太低，不值得卖"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"公司没有这个产品，我没办法"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606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"您的风险偏好不适合这个" (没有解释)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"我最近比较忙，您找别人吧"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508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正确方式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"基于您的情况，我建议考虑XX产品，因为..."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"这个产品我研究过，更适合您的需求"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"让我帮您找一个更合适的解决方案"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2926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"我会在有合适的产品时第一时间通知您"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拒绝公式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 + 原因 + 替代方案 + 持续服务承诺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例："这个产品不太适合您（原因），我建议考虑XX（替代），等有好产品我会第一时间通知您（承诺）"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受托责任承诺书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作为受托人，我承诺：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始终将客户的最佳利益放在首位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主动披露任何可能存在的利益冲突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不做虚假陈述或误导性宣传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尊重客户的知情权和选择权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持续提升专业能力，为客户提供优质服务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保守客户隐私，不泄露个人信息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3474720" cy="2743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承诺人签名：____________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从产品推销到需求诊断，从利益冲突到受托责任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利益冲突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识别六个常见冲突场景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主动披露是信任基础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七步法化解利益冲突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5544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需求诊断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先了解需求，再推荐产品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诊断工具箱：四件法宝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560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560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从诊断到建议的转化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1546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受托责任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611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法律责任是底线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道德义务是高线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886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知道什么时候说"不"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懂得如何优雅地说"不"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签署受托责任承诺书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用承诺书约束自己的行为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信任重建的实践路径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8288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2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信任建立的四个维度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82880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· 透明 · 一致 · 同理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四维度框架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91440" cy="1691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展示真正的专业能力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让客户感受到你的价值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91440" cy="16916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信息的对等流动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让客户看到你的全部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91440" cy="16916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说到做到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91440" cy="1691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Empathetic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理解客户处境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真正站在客户角度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四个维度缺一不可，共同构建信任的完整大厦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专业维度：真正的专业能力展示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不是你知道多少，而是你能帮客户解决多少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伪专业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274320" cy="27432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堆砌专业术语，让客户听不懂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274320" cy="27432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只讲产品特点，不讲适用场景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99232"/>
            <a:ext cx="274320" cy="27432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回避问题，转移话题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274320" cy="274320"/>
          </a:xfrm>
          <a:prstGeom prst="ellipse">
            <a:avLst/>
          </a:prstGeom>
          <a:solidFill>
            <a:srgbClr val="EF233C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29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声称"肯定没问题"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真专业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1993392"/>
            <a:ext cx="274320" cy="27432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920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用客户能理解的语言解释专业问题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496312"/>
            <a:ext cx="274320" cy="27432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496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24231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根据客户情况分析产品优缺点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999232"/>
            <a:ext cx="274320" cy="27432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99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926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坦诚告知风险和不确定性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502152"/>
            <a:ext cx="274320" cy="274320"/>
          </a:xfrm>
          <a:prstGeom prst="ellipse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3429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承认有不懂的问题并承诺跟进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客户感知专业的途径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你如何解释问题  &gt;  你知道多少知识    |    你的态度  &gt;  你的头衔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专业能力自检清单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在见客户前，问自己这些问题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产品知识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我能用简单的话解释这个产品吗？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我能说出这个产品不适合哪类客户吗？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60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我知道这个产品的最大风险是什么吗？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客户理解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我了解客户目前的财务状况吗？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我知道客户这笔钱的主要用途吗？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我了解客户的风险承受能力吗？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沟通能力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525780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12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我能回答客户可能提出的任何问题吗？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62356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77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我准备好坦诚告知产品风险了吗？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989320"/>
            <a:ext cx="2286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D99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943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我能用客户能理解的方式解释吗？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8D99AE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三个"否" = 需要更多准备  |  三个"是" = 可以自信面对客户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说"不"的正确方式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拒绝不是结束，而是另一种信任的开始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2704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清晰说明原因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66160" y="155448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554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用事实和专业依据说明为什么不能满足要求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提供替代方案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33172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2331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即使不能满足原始要求，也要给出其他可能性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保持关系完整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310896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31089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拒绝的是这件事，不是这个人，关系要维护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5876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566160" y="3886200"/>
            <a:ext cx="27432" cy="4114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886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书面记录拒绝原因和沟通过程，保护自己也便于追溯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7772400" cy="411480"/>
          </a:xfrm>
          <a:prstGeom prst="roundRect">
            <a:avLst>
              <a:gd name="adj" fmla="val 17778"/>
            </a:avLst>
          </a:prstGeom>
          <a:solidFill>
            <a:srgbClr val="EF233C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7200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示例："王总，这款产品不适合您，因为...（说明原因）。我建议您考虑...（替代方案）"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受托责任承诺书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我承诺做到以下四点：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2704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我承诺以客户利益为先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在任何情况下，将客户利益置于我和公司利益之上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0428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我承诺完整披露所有信息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主动告知产品风险、费用、收益结构，不隐瞒任何关键信息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我承诺识别并化解利益冲突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发现冲突时主动披露，并采取措施确保客户不受损害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我承诺持续提升专业能力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不断学习，保持专业胜任，为客户提供最好的建议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5029200" cy="411480"/>
          </a:xfrm>
          <a:prstGeom prst="roundRect">
            <a:avLst>
              <a:gd name="adj" fmla="val 17778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572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签署人：________________    日期：____________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核心收获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识别六大常见冲突场景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七步化解法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26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主动披露策略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需求诊断转型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19659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从SPIN到真正需求诊断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24688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361188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七步诊断法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9718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926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避免四个常见错误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受托责任边界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19659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法律责任四项义务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246888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4231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道德义务三维要求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97180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9260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说"不"的艺术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40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进入模块三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现在我们理解了原则，接下来学习如何在实践中运用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463040" y="4681728"/>
            <a:ext cx="731520" cy="457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83280" y="4681728"/>
            <a:ext cx="73152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4572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201168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926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信任重建的实践路径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132320" y="457200"/>
            <a:ext cx="2011680" cy="2011680"/>
          </a:xfrm>
          <a:prstGeom prst="rect">
            <a:avLst>
              <a:gd name="adj" fmla="val 4545"/>
            </a:avLst>
          </a:prstGeom>
          <a:solidFill>
            <a:srgbClr val="EF233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194560"/>
            <a:ext cx="1280160" cy="1828800"/>
          </a:xfrm>
          <a:prstGeom prst="rect">
            <a:avLst>
              <a:gd name="adj" fmla="val 5714"/>
            </a:avLst>
          </a:prstGeom>
          <a:solidFill>
            <a:srgbClr val="EF233C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3657600"/>
            <a:ext cx="1097280" cy="1097280"/>
          </a:xfrm>
          <a:prstGeom prst="rect">
            <a:avLst>
              <a:gd name="adj" fmla="val 6667"/>
            </a:avLst>
          </a:prstGeom>
          <a:solidFill>
            <a:srgbClr val="8D99AE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EDF2F4">
              <a:alpha val="40000"/>
            </a:srgbClr>
          </a:solidFill>
          <a:ln/>
        </p:spPr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信任建立的四个维度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专业·透明·一致·同理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22860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能力信任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39319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信息信任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行为信任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9319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情感信任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81328" y="4032504"/>
            <a:ext cx="49377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四维度框架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2194560"/>
            <a:ext cx="1097280" cy="10972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3886200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188720"/>
            <a:ext cx="256032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专业维度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能力信任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展示真正的专业能力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和解决问题的实力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118872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透明维度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信息信任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信息公开透明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不隐瞒关键信息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32004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88720" y="320040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一致维度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行为信任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承诺必兑现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2004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3200400"/>
            <a:ext cx="256032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同理维度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064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情感信任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6440" y="40233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理解客户感受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建立情感连接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86200" y="2194560"/>
            <a:ext cx="-1783080" cy="-365760"/>
          </a:xfrm>
          <a:prstGeom prst="line">
            <a:avLst/>
          </a:prstGeom>
          <a:noFill/>
          <a:ln w="25400">
            <a:solidFill>
              <a:srgbClr val="EDF2F4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983480" y="2194560"/>
            <a:ext cx="1783080" cy="-365760"/>
          </a:xfrm>
          <a:prstGeom prst="line">
            <a:avLst/>
          </a:prstGeom>
          <a:noFill/>
          <a:ln w="25400">
            <a:solidFill>
              <a:srgbClr val="EDF2F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886200" y="3291840"/>
            <a:ext cx="-1783080" cy="548640"/>
          </a:xfrm>
          <a:prstGeom prst="line">
            <a:avLst/>
          </a:prstGeom>
          <a:noFill/>
          <a:ln w="25400">
            <a:solidFill>
              <a:srgbClr val="EDF2F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983480" y="3291840"/>
            <a:ext cx="1783080" cy="548640"/>
          </a:xfrm>
          <a:prstGeom prst="line">
            <a:avLst/>
          </a:prstGeom>
          <a:noFill/>
          <a:ln w="25400">
            <a:solidFill>
              <a:srgbClr val="EDF2F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专业维度：真正的专业能力展示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34747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专业能力的本质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不是展示你知道多少，而是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你能帮助客户解决多少问题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51760"/>
            <a:ext cx="329184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8346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34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理解客户的完整处境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2918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918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提供专业解决方案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490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持续学习和更新知识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2062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06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承认不懂的领域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640080"/>
            <a:ext cx="3291840" cy="3291840"/>
          </a:xfrm>
          <a:prstGeom prst="ellipse">
            <a:avLst/>
          </a:prstGeom>
          <a:solidFill>
            <a:srgbClr val="EDF2F4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065776" y="1133856"/>
            <a:ext cx="2304288" cy="2304288"/>
          </a:xfrm>
          <a:prstGeom prst="ellipse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559552" y="1627632"/>
            <a:ext cx="1316736" cy="1316736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5559552" y="1627632"/>
            <a:ext cx="131673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74633" y="680647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36041" y="1076439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7274633" y="352559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36041" y="3404121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429687" y="3525593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08359" y="3404121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4429687" y="680647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08359" y="1076439"/>
            <a:ext cx="91440" cy="914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0" y="420624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0" y="4206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真正的专业 = 帮人解决问题 + 持续精进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专业能力自检清单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定期反思，持续精进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我能解释产品背后的逻辑吗？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不仅知道是什么，更要理解为什么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46304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645920"/>
            <a:ext cx="365760" cy="365760"/>
          </a:xfrm>
          <a:prstGeom prst="ellipse">
            <a:avLst/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627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5727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我了解客户行业的商业模式吗？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理解客户如何赚钱，才能提供真正有价值的建议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3172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441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我能预判潜在风险吗？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专业的标志是预见问题而非救火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33172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33172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514600"/>
            <a:ext cx="365760" cy="365760"/>
          </a:xfrm>
          <a:prstGeom prst="ellipse">
            <a:avLst/>
          </a:prstGeom>
          <a:solidFill>
            <a:srgbClr val="EDF2F4"/>
          </a:solidFill>
          <a:ln w="19050">
            <a:solidFill>
              <a:srgbClr val="8D99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96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2441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我有持续学习计划吗？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知识有半衰期，持续更新才能保持专业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434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434840"/>
            <a:ext cx="274320" cy="2743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343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提示：每月至少复盘一次，持续跟踪自己的进步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透明维度：信息的对等流动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371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产品信息完整披露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让客户充分了解产品特性、优势与局限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9728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280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费用结构清晰说明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所有收费项目透明化，无隐藏费用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风险因素充分提示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不回避问题，主动告知潜在风险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27432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74320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971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自身利益主动说明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利益关系公开，建立信任基础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0" y="443484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8D99AE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透明是信任的基石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透明沟通的五个时机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371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572768" cy="32004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572768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923544" y="1280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23544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548640" cy="548640"/>
          </a:xfrm>
          <a:prstGeom prst="ellipse">
            <a:avLst/>
          </a:prstGeom>
          <a:solidFill>
            <a:srgbClr val="2B2D4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初次接触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说明工作方式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75688" y="1097280"/>
            <a:ext cx="1572768" cy="32004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75688" y="1097280"/>
            <a:ext cx="1572768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2633472" y="1280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87752" y="2103120"/>
            <a:ext cx="548640" cy="54864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121408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建议形成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67128" y="324612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说明推荐理由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85616" y="1097280"/>
            <a:ext cx="1572768" cy="32004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1097280"/>
            <a:ext cx="1572768" cy="82296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97680" y="2103120"/>
            <a:ext cx="548640" cy="548640"/>
          </a:xfrm>
          <a:prstGeom prst="ellipse">
            <a:avLst/>
          </a:prstGeom>
          <a:solidFill>
            <a:srgbClr val="8D99AE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31336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77056" y="324612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再次确认理解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95544" y="1097280"/>
            <a:ext cx="1572768" cy="32004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95544" y="1097280"/>
            <a:ext cx="1572768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7" name="Shape 25"/>
          <p:cNvSpPr/>
          <p:nvPr/>
        </p:nvSpPr>
        <p:spPr>
          <a:xfrm>
            <a:off x="6053328" y="1280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53328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007608" y="2103120"/>
            <a:ext cx="548640" cy="548640"/>
          </a:xfrm>
          <a:prstGeom prst="ellipse">
            <a:avLst/>
          </a:prstGeom>
          <a:solidFill>
            <a:srgbClr val="2B2D42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541264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产品存续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86984" y="324612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定期更新信息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05472" y="1097280"/>
            <a:ext cx="1572768" cy="32004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5472" y="1097280"/>
            <a:ext cx="1572768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4" name="Shape 32"/>
          <p:cNvSpPr/>
          <p:nvPr/>
        </p:nvSpPr>
        <p:spPr>
          <a:xfrm>
            <a:off x="7763256" y="1280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763256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17536" y="2103120"/>
            <a:ext cx="548640" cy="548640"/>
          </a:xfrm>
          <a:prstGeom prst="ellipse">
            <a:avLst/>
          </a:prstGeom>
          <a:solidFill>
            <a:srgbClr val="EF233C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251192" y="278892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问题发生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96912" y="324612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主动沟通不回避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0" y="448056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8D99AE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228600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关键时刻，透明为先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一致维度：言行一致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371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80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说的和做的一样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承诺与行动保持一致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9728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2801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短期和长期一样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不因短期利益牺牲长期信任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对不同客户一样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一视同仁，不因客户大小而异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27432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74320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4800600" y="2971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2926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有压力时和没压力时一样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压力下更能检验真正的价值观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0" y="443484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8D99AE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4434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一致是可信的证明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一致性检验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3716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我推荐的产品，我自己会买吗？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己所不欲，勿施于人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73152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我说过的话，3年后还能坚持吗？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时间检验一致性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905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40480"/>
            <a:ext cx="73152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977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客户能看到我的朋友圈，会怎么评价我？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526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透明度检验人格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457200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8D99AE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反思带来成长，检验带来信心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同理维度：理解客户处境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empathy really means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站在客户角度看问题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423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理解客户的情感和担忧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不评判，不指责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接纳客户的选择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2286000" cy="36576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同理心表达练习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empathy phrases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"我能理解你为什么会担心..."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17720" y="16916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6916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"如果是我，面对这种情况也会..."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632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"你觉得...怎么样？"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17720" y="306324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0632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3520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"你的顾虑我听到了..."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2286000" cy="36576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8D99A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长期陪伴框架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7432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信任是时间的函数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457200"/>
            <a:ext cx="109728" cy="548640"/>
          </a:xfrm>
          <a:prstGeom prst="roundRect">
            <a:avLst>
              <a:gd name="adj" fmla="val 41667"/>
            </a:avLst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非成交期价值输出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provide value before/during/after sales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48840"/>
            <a:ext cx="192024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定期分享行业观点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11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专业洞察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6916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148840"/>
            <a:ext cx="192024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提供财务知识教育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71800" y="36118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3611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知识赋能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6916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148840"/>
            <a:ext cx="192024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0060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节日和特殊时点关怀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74920" y="36118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611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69164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6916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29" name="Shape 27"/>
          <p:cNvSpPr/>
          <p:nvPr/>
        </p:nvSpPr>
        <p:spPr>
          <a:xfrm>
            <a:off x="6766560" y="2148840"/>
            <a:ext cx="1920240" cy="2743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90372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市场波动时的及时沟通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178040" y="361188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EDF2F4"/>
          </a:solidFill>
          <a:ln/>
        </p:spPr>
      </p:sp>
      <p:sp>
        <p:nvSpPr>
          <p:cNvPr id="33" name="Text 31"/>
          <p:cNvSpPr/>
          <p:nvPr/>
        </p:nvSpPr>
        <p:spPr>
          <a:xfrm>
            <a:off x="7178040" y="3611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危机陪伴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2286000" cy="36576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5" name="Shape 3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关键触达节点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年度规划回顾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17720" y="137160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37160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产品检视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市场波动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及时沟通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17720" y="301752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017520"/>
            <a:ext cx="73152" cy="137160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人生大事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主动关心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陪伴节奏设计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1554480"/>
            <a:ext cx="36576" cy="3246120"/>
          </a:xfrm>
          <a:prstGeom prst="rect">
            <a:avLst/>
          </a:prstGeom>
          <a:solidFill>
            <a:srgbClr val="8D99A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508760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2801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1280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A类客户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18288" cy="41148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280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每月主动联系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51560" y="2423160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1645920" y="21945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2194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B类客户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74720" y="2377440"/>
            <a:ext cx="18288" cy="41148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945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每季度深度沟通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3337560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1645920" y="31089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108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C类客户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74720" y="3291840"/>
            <a:ext cx="18288" cy="41148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3108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每半年重要节点联系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51560" y="4251960"/>
            <a:ext cx="292608" cy="29260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5920" y="4023360"/>
            <a:ext cx="67665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0" y="4023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D类客户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474720" y="4206240"/>
            <a:ext cx="18288" cy="41148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4023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年度问候+活动邀请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三年陪伴的复利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2651760"/>
            <a:ext cx="6858000" cy="54864"/>
          </a:xfrm>
          <a:prstGeom prst="rect">
            <a:avLst/>
          </a:prstGeom>
          <a:solidFill>
            <a:srgbClr val="EF233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4173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建立基础信任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获得第一个AUM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1417320"/>
            <a:ext cx="2560320" cy="2697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4173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16459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468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信任深化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客户加码投资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9320" y="2514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6459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信任收割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转介绍开始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陪伴中的"关键时刻"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097280" cy="54864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3162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316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28016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市场大跌时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27432" cy="68580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2801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你是否第一时间沟通？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81178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117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25603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产品出现问题时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2743200"/>
            <a:ext cx="27432" cy="68580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56032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你的态度是什么？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0919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091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384048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客户询问时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0" y="4023360"/>
            <a:ext cx="27432" cy="685800"/>
          </a:xfrm>
          <a:prstGeom prst="rect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8404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你的响应速度如何？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关键时刻的回应，决定了信任的厚度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陪伴的质量指标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46304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主动联系次数 vs 被动响应次数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衡量客户的主动程度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005840"/>
            <a:ext cx="73152" cy="146304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1234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有价值内容分享次数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衡量顾问提供的价值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51760"/>
            <a:ext cx="73152" cy="1463040"/>
          </a:xfrm>
          <a:prstGeom prst="roundRect">
            <a:avLst>
              <a:gd name="adj" fmla="val 50000"/>
            </a:avLst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客户回复/互动率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衡量关系的活跃程度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26517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651760"/>
            <a:ext cx="73152" cy="1463040"/>
          </a:xfrm>
          <a:prstGeom prst="roundRect">
            <a:avLst>
              <a:gd name="adj" fmla="val 50000"/>
            </a:avLst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28803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关系深化程度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3383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从陌生到信任的演进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小结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长期陪伴的核心是持续提供价值，而非频繁打扰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主动联系与被动响应的比例是关系的健康指标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88036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有价值的内容分享比无意义的寒暄更有意义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70332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关系的深化需要时间和真诚的积累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转介绍信任累积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让客户成为你的代言人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342900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731520"/>
            <a:ext cx="1097280" cy="1097280"/>
          </a:xfrm>
          <a:prstGeom prst="ellipse">
            <a:avLst/>
          </a:prstGeom>
          <a:solidFill>
            <a:srgbClr val="EDF2F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转介绍的心理障碍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为什么客户不愿意转介绍？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397764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担心影响朋友关系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害怕因为推荐而产生尴尬或压力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80160"/>
            <a:ext cx="3977640" cy="548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4630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不确定朋友是否需要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不确定朋友是否有类似的需求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397764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不确定顾问是否靠谱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担心推荐后朋友不满意会影响自己信誉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288036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880360"/>
            <a:ext cx="3977640" cy="548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06324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3063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没有明确的激励机制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006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转介绍没有任何回报或感谢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触发转介绍的三个时机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2B2D42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243584"/>
            <a:ext cx="2651760" cy="54864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15544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时刻1：获得好的投资回报时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客户体验到实实在在的收益增长，对你的专业能力产生认可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54680" y="11887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54680" y="1243584"/>
            <a:ext cx="2651760" cy="54864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1554480"/>
            <a:ext cx="640080" cy="6400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9184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时刻2：感受到专业服务时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在关键时刻得到专业指导与贴心服务，感受与众不同的价值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1188720"/>
            <a:ext cx="2651760" cy="109728"/>
          </a:xfrm>
          <a:prstGeom prst="roundRect">
            <a:avLst>
              <a:gd name="adj" fmla="val 83333"/>
            </a:avLst>
          </a:prstGeom>
          <a:solidFill>
            <a:srgbClr val="EF233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1243584"/>
            <a:ext cx="26517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155448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080760" y="2377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时刻3：面临人生重大决策时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子女教育、退休规划、资产传承等重大人生节点，主动推荐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7955280" cy="548640"/>
          </a:xfrm>
          <a:prstGeom prst="roundRect">
            <a:avLst>
              <a:gd name="adj" fmla="val 13333"/>
            </a:avLst>
          </a:prstGeom>
          <a:solidFill>
            <a:srgbClr val="EDF2F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434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时机对了，事半功倍；时机不对，努力白费</a:t>
            </a:r>
            <a:endParaRPr 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让客户愿意转介绍的技巧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不强求，给选择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让客户感受到推荐是出于关心而非任务，消除心理压力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9728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提供「桥梁」工具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分享有价值的文章、内容，让客户自然地引出话题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让客户感受到被重视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记住重要细节，主动关心，让客户觉得你是真的在乎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926080"/>
            <a:ext cx="91440" cy="1554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154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感谢和认可已有客户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及时表达感谢，让客户感受到推荐的价值被认可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795528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核心心法：让客户觉得是在帮朋友，不是在帮你</a:t>
            </a:r>
            <a:endParaRPr lang="en-US" sz="13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转介绍信任链条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满意现有服务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38528" y="21945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4884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愿意推荐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主动分享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0168" y="21945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朋友信任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基于原客户背书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1808" y="21945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3212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成为客户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接受服务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13448" y="219456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057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新客户信任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循环继续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5661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520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信任传递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每一次转介绍都是信任的延伸，而非简单的客户介绍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338328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35204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循环放大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00600" y="38862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新客户最终也会成为推荐者，形成持续增长的信任网络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3383280"/>
            <a:ext cx="731520" cy="1097280"/>
          </a:xfrm>
          <a:prstGeom prst="roundRect">
            <a:avLst>
              <a:gd name="adj" fmla="val 10000"/>
            </a:avLst>
          </a:prstGeom>
          <a:solidFill>
            <a:srgbClr val="EDF2F4"/>
          </a:solidFill>
          <a:ln/>
        </p:spPr>
      </p:sp>
      <p:sp>
        <p:nvSpPr>
          <p:cNvPr id="34" name="Text 32"/>
          <p:cNvSpPr/>
          <p:nvPr/>
        </p:nvSpPr>
        <p:spPr>
          <a:xfrm>
            <a:off x="7818120" y="338328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18120" y="4206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</a:t>
            </a:r>
            <a:endParaRPr lang="en-US" sz="18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转介绍客户的留存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7955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1887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不要过度消费原客户的信任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5087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转介绍是情分，不是义务。频繁要求转介绍会消耗多年积累的信任资本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7955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65960"/>
            <a:ext cx="73152" cy="7772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12140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20574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重新建立独立信任关系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3774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新客户是因为信任原客户而来，你需要通过自己的服务建立新的信任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7955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73152" cy="7772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99008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29260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提供同样优质的服务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2461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不能让新客户觉得被区别对待，保持一贯的专业和服务标准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79552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03320"/>
            <a:ext cx="73152" cy="7772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58768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7947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让新客户也愿意转介绍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41148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当新客户满意服务后，同样会成为推荐者，完成信任链条的闭环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7955280" cy="411480"/>
          </a:xfrm>
          <a:prstGeom prst="roundRect">
            <a:avLst>
              <a:gd name="adj" fmla="val 17778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经营信任，而非消费信任</a:t>
            </a:r>
            <a:endParaRPr lang="en-US" sz="14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转介绍激励机制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69164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物质激励要合规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推荐奖励需符合行业规范，避免不正当竞争，建立长期可信的激励机制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69164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精神激励往往更有效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真诚的认可与感谢、VIP待遇、专属服务让客户感受尊重与价值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371600"/>
            <a:ext cx="2651760" cy="914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0" y="1691640"/>
            <a:ext cx="731520" cy="7315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2606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核心是让客户感受到被重视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2004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及时的反馈、正式的感谢仪式、持续的关系维护让推荐变成情感连接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371600" y="4663440"/>
            <a:ext cx="6400800" cy="365760"/>
          </a:xfrm>
          <a:prstGeom prst="roundRect">
            <a:avLst>
              <a:gd name="adj" fmla="val 200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让客户成为品牌代言人，而非单纯的介绍人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小结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转介绍信任体系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识别有价值的推荐人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不是所有人都会转介绍，识别那些真正认同你价值的客户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降低推荐门槛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让推荐变得简单自然，把"帮忙介绍"变成"分享好体验"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及时的认可与反馈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第一时间感谢，让客户知道他们的推荐产生了价值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精神激励优于物质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被重视、被感谢的感觉比红包更让人印象深刻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信任是转介绍的唯一货币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客户分层策略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差异化服务，聚焦重点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22860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9319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重点维护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培育开发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标准服务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81328" y="4032504"/>
            <a:ext cx="40233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客户分层策略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差异化服务，聚焦重点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22860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9319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重点维护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培育开发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标准服务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81328" y="4032504"/>
            <a:ext cx="40233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信任重建里程碑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30天/90天/180天的进步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22860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931920"/>
            <a:ext cx="228600" cy="22860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初步改变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深化落地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3931920"/>
            <a:ext cx="228600" cy="2286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4251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457200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习惯养成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81328" y="4032504"/>
            <a:ext cx="402336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30天里程碑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建立基础信任认知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自我评估完成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完成个人/团队信任现状评估，识别关键弱点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收费模式梳理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明确现有收费结构，预备透明化沟通方案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话术准备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准备买方顾问定位的自我介绍和价值主张话术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客户沟通启动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2788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选择3-5位核心客户进行信任重建初步沟通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目标：让客户感知到改变的开始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90天里程碑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深化信任实践，形成正向循环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7830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服务模式转型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完成需求诊断七步法培训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实践至少10次深度需求沟通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建立客户档案数据库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7830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收费透明化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971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向80%存量客户说明收费模式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提供可选的透明收费方案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收集客户反馈并优化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5448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7830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2560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信任深化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971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转介绍成功率提升30%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客户满意度达到85%以上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建立客户陪伴计划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1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180天里程碑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形成习惯，信任资产稳固化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透明收费覆盖率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所有客户均了解收费模式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转介绍率提升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客户主动推荐成为主要获客渠道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5040" y="2240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客户留存率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客户关系稳定性显著提升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习惯固化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每月客户回访成为标准流程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14600" y="3657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收费说明纳入首次沟通必讲内容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657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需求诊断成为服务起点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3657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客户成功案例持续积累分享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0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进展评估方法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2801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定量指标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客户数量、转介绍率、收入增长率等可量化数据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18872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188720"/>
            <a:ext cx="73152" cy="1280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50876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定性反馈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828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客户满意度访谈、净推荐值(NPS)调查、流失原因分析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06040"/>
            <a:ext cx="73152" cy="1280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29260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行为变化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客户沟通频次变化、主动咨询频率、转介绍主动性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260604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2606040"/>
            <a:ext cx="73152" cy="12801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2926080"/>
            <a:ext cx="640080" cy="6400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864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对比基准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与转型前数据对比、与行业标杆对比、同比环比分析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2976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D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提示：建议每月进行一次全面评估，及时发现问题并调整策略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里程碑追踪表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114300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143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11430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143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完成状态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691640"/>
            <a:ext cx="950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463040" y="169164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536192" y="1691640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自我评估、收费梳理、话术准备、启动客户沟通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1691640"/>
            <a:ext cx="2596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评估报告、话术版本、首批客户名单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169164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1691640"/>
            <a:ext cx="1042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560320"/>
            <a:ext cx="950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63040" y="256032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536192" y="2560320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服务模式转型、收费透明化、信任深化实践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2560320"/>
            <a:ext cx="2596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服务流程、客户覆盖率、满意度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256032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2560320"/>
            <a:ext cx="1042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10972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429000"/>
            <a:ext cx="9509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180天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63040" y="34290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536192" y="3429000"/>
            <a:ext cx="30540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习惯固化、持续优化、品牌口碑建设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42900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3429000"/>
            <a:ext cx="2596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转介绍率、客户留存率、品牌认知度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342900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479792" y="3429000"/>
            <a:ext cx="10424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434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图例：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4507992"/>
            <a:ext cx="182880" cy="1828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4434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011680" y="4507992"/>
            <a:ext cx="182880" cy="1828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40" name="Text 38"/>
          <p:cNvSpPr/>
          <p:nvPr/>
        </p:nvSpPr>
        <p:spPr>
          <a:xfrm>
            <a:off x="2240280" y="44348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待开始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1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小结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信任重建里程碑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分阶段推进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30天打基础，90天见成效，180天成习惯，循序渐进不可急功近利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多维度评估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定量指标与定性反馈结合，行为变化比数字更能说明问题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持续追踪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建立追踪机制，定期回顾复盘，及时调整策略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以客户为中心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所有行动最终指向客户感知，信任重建是长期投资而非短期工程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信任重建是长期工程，需要战略耐心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从学习到行动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4592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从"知道"到"做到"的跨越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063240" y="2624328"/>
            <a:ext cx="182880" cy="5486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6172200" y="2624328"/>
            <a:ext cx="182880" cy="5486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17320" y="19202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学习吸收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理解课程内容，建立认知框架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9202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刻意练习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在实际工作中应用所学方法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192024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形成习惯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108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将有效行为内化为自然习惯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71600" y="4114800"/>
            <a:ext cx="6400800" cy="457200"/>
          </a:xfrm>
          <a:prstGeom prst="roundRect">
            <a:avLst>
              <a:gd name="adj" fmla="val 16000"/>
            </a:avLst>
          </a:prstGeom>
          <a:solidFill>
            <a:srgbClr val="2B2D42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知识不会改变行为，除非你真正开始实践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2B2D42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收尾与行动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从学习到改变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27432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114800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4114800"/>
            <a:ext cx="109728" cy="109728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4114800"/>
            <a:ext cx="109728" cy="109728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2011680" y="4114800"/>
            <a:ext cx="109728" cy="109728"/>
          </a:xfrm>
          <a:prstGeom prst="ellipse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4114800"/>
            <a:ext cx="109728" cy="109728"/>
          </a:xfrm>
          <a:prstGeom prst="ellipse">
            <a:avLst/>
          </a:prstGeom>
          <a:solidFill>
            <a:srgbClr val="EDF2F4"/>
          </a:solidFill>
          <a:ln/>
        </p:spPr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综合案例分析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客户名称：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张先生（化名）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年龄/职业：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103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52岁 / 民营企业主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可投资资产：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800万-1200万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稳健型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核心诉求：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财富保值 + 传承规划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474720" cy="2743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886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过往经历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曾购买过问题信托产品，损失约150万，对财富管理机构存在强烈不信任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案例分析框架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80560" y="16002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1737360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709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信任危机诊断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103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卖方驱动模式伤害 | 信息不对称严重 | 利益冲突明显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80560" y="27432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880360"/>
            <a:ext cx="320040" cy="32004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2852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转型方案设计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246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收费模式透明化 | 需求诊断七步法 | 利益冲突披露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388620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4023360"/>
            <a:ext cx="320040" cy="3200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9959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信任重建成果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4389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客户安心感提升 | 长期陪伴关系建立 | 转介绍率提高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416052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EF233C">
              <a:alpha val="9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4160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核心洞察：信任重建不是一次性事件，而是持续的关系经营过程</a:t>
            </a:r>
            <a:endParaRPr lang="en-US" sz="11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课程核心框架回顾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2103120"/>
            <a:ext cx="1645920" cy="1645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21031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信任危机的本质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立场问题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卖方驱动七宗罪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客户三层戒备机制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信息不对称陷阱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F23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71600"/>
            <a:ext cx="25603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从卖方到买方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4231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买方受托理念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收费透明化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利益冲突管理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职业伦理升级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286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2560320" y="365760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2B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657600"/>
            <a:ext cx="384048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模块三：信任重建的实践路径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97480" y="420624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42062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需求诊断七步法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30168" y="420624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42062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客户分层策略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62856" y="420624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4471416" y="42062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透明沟通机制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95544" y="4206240"/>
            <a:ext cx="73152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5404104" y="420624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长期陪伴计划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6634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七个关键收获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2801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信任危机的本质是立场问题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2801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卖方驱动模式有七宗罪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2801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客户戒备心理有三层机制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28016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66560" y="1874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买方受托是唯一出路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17320" y="26974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288036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21488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收费透明化是信任基础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26974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288036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1188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利益冲突必须主动管理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269748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2880360"/>
            <a:ext cx="502920" cy="50292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1500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信任建立需四维度同时发力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EF233C">
              <a:alpha val="1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297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从「知道」到「做到」，需要持续的实践与反思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11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自我评估与目标设定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41732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40487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完成个人转型意愿度评估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明确客户群体定位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41071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设定可量化的信任指标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91363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制定个人学习计划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600200" cy="7315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023360"/>
            <a:ext cx="40005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109728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097280"/>
            <a:ext cx="1965960" cy="5029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42032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收费模式沟通话术优化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24912" y="2194560"/>
            <a:ext cx="141732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2587752" y="240487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梳理现有收费结构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87752" y="290779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设计透明化说明话术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87752" y="341071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准备常见问题应答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87752" y="3913632"/>
            <a:ext cx="109728" cy="109728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与核心客户一对一沟通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33472" y="4023360"/>
            <a:ext cx="1600200" cy="7315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2633472" y="4023360"/>
            <a:ext cx="800100" cy="7315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4535424" y="109728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35424" y="1097280"/>
            <a:ext cx="196596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4535424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26864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实践需求诊断七步法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9744" y="2194560"/>
            <a:ext cx="141732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9" name="Shape 37"/>
          <p:cNvSpPr/>
          <p:nvPr/>
        </p:nvSpPr>
        <p:spPr>
          <a:xfrm>
            <a:off x="4672584" y="240487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选择3-5位典型客户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72584" y="290779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运用七步法进行需求诊断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72584" y="341071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记录诊断过程与发现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72584" y="3913632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优化调整问询技巧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18304" y="4023360"/>
            <a:ext cx="1600200" cy="7315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8" name="Shape 46"/>
          <p:cNvSpPr/>
          <p:nvPr/>
        </p:nvSpPr>
        <p:spPr>
          <a:xfrm>
            <a:off x="4718304" y="4023360"/>
            <a:ext cx="120015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9" name="Shape 47"/>
          <p:cNvSpPr/>
          <p:nvPr/>
        </p:nvSpPr>
        <p:spPr>
          <a:xfrm>
            <a:off x="6620256" y="109728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20256" y="1097280"/>
            <a:ext cx="196596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1" name="Text 49"/>
          <p:cNvSpPr/>
          <p:nvPr/>
        </p:nvSpPr>
        <p:spPr>
          <a:xfrm>
            <a:off x="6620256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711696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建立客户陪伴计划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94576" y="2194560"/>
            <a:ext cx="141732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54" name="Shape 52"/>
          <p:cNvSpPr/>
          <p:nvPr/>
        </p:nvSpPr>
        <p:spPr>
          <a:xfrm>
            <a:off x="6757416" y="240487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5" name="Text 53"/>
          <p:cNvSpPr/>
          <p:nvPr/>
        </p:nvSpPr>
        <p:spPr>
          <a:xfrm>
            <a:off x="6912864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制定客户回访计划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757416" y="290779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7" name="Text 55"/>
          <p:cNvSpPr/>
          <p:nvPr/>
        </p:nvSpPr>
        <p:spPr>
          <a:xfrm>
            <a:off x="6912864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设计定期沟通机制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57416" y="341071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9" name="Text 57"/>
          <p:cNvSpPr/>
          <p:nvPr/>
        </p:nvSpPr>
        <p:spPr>
          <a:xfrm>
            <a:off x="6912864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建立客户档案系统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757416" y="3913632"/>
            <a:ext cx="109728" cy="109728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61" name="Text 59"/>
          <p:cNvSpPr/>
          <p:nvPr/>
        </p:nvSpPr>
        <p:spPr>
          <a:xfrm>
            <a:off x="6912864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形成季度复盘习惯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03136" y="4023360"/>
            <a:ext cx="1600200" cy="73152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3" name="Shape 61"/>
          <p:cNvSpPr/>
          <p:nvPr/>
        </p:nvSpPr>
        <p:spPr>
          <a:xfrm>
            <a:off x="6803136" y="4023360"/>
            <a:ext cx="1600200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4" name="Text 62"/>
          <p:cNvSpPr/>
          <p:nvPr/>
        </p:nvSpPr>
        <p:spPr>
          <a:xfrm>
            <a:off x="2299716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84548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6938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36576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提示：每周末进行自我复盘，记录进展与挑战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69" name="Text 6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11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资源推荐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65960" cy="5943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阅读书目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193852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8288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《财富管理机构的转型之路》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53288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《买方投顾模式实践指南》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" y="312724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《信托业信任机制研究》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" y="372160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6118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《客户关系管理从入门到精通》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0592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0592" y="1097280"/>
            <a:ext cx="1965960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2450592" y="1170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50592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0" y="193852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2706624" y="18288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CFA财富管理系列课程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53288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2706624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FPSB认证理财规划师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12724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2706624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财富管理转型工作坊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0" y="372160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2706624" y="36118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客户沟通技巧进阶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35424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1097280"/>
            <a:ext cx="1965960" cy="5943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4535424" y="1170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35424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45152" y="193852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4791456" y="18288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需求诊断七步法操作模板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253288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客户分层评估量表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45152" y="312724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收费模式说明话术库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3721608"/>
            <a:ext cx="73152" cy="73152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36118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定期客户回访检查清单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20256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0256" y="1097280"/>
            <a:ext cx="1965960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2" name="Text 40"/>
          <p:cNvSpPr/>
          <p:nvPr/>
        </p:nvSpPr>
        <p:spPr>
          <a:xfrm>
            <a:off x="6620256" y="1170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620256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行业报告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29984" y="193852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6876288" y="18288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中国财富管理行业发展报告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29984" y="253288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7" name="Text 45"/>
          <p:cNvSpPr/>
          <p:nvPr/>
        </p:nvSpPr>
        <p:spPr>
          <a:xfrm>
            <a:off x="6876288" y="2423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信托业协会年度报告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29984" y="312724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9" name="Text 47"/>
          <p:cNvSpPr/>
          <p:nvPr/>
        </p:nvSpPr>
        <p:spPr>
          <a:xfrm>
            <a:off x="6876288" y="30175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买方投顾模式国际比较研究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29984" y="3721608"/>
            <a:ext cx="73152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1" name="Text 49"/>
          <p:cNvSpPr/>
          <p:nvPr/>
        </p:nvSpPr>
        <p:spPr>
          <a:xfrm>
            <a:off x="6876288" y="361188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客户信任度调研白皮书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480560"/>
            <a:ext cx="7772400" cy="365760"/>
          </a:xfrm>
          <a:prstGeom prst="roundRect">
            <a:avLst>
              <a:gd name="adj" fmla="val 20000"/>
            </a:avLst>
          </a:prstGeom>
          <a:solidFill>
            <a:srgbClr val="EDF2F4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备注：以上资源可根据需要向培训组织方索取详细清单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2B2D42"/>
          </a:solidFill>
          <a:ln/>
        </p:spPr>
      </p:sp>
      <p:sp>
        <p:nvSpPr>
          <p:cNvPr id="55" name="Text 5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11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0" y="0"/>
            <a:ext cx="137160" cy="51435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23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信任重建之路，从今天开始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182880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培训咨询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课程反馈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商务合作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393192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2B2D42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contact@example.com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PROGRAM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145</Slides>
  <Notes>145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145</vt:i4>
      </vt:variant>
    </vt:vector>
  </HeadingPairs>
  <TitlesOfParts>
    <vt:vector size="1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信任重建：第三方财富管理从代销驱动到买方受托的转型</dc:title>
  <dc:subject>PptxGenJS Presentation</dc:subject>
  <dc:creator>AI协作</dc:creator>
  <cp:lastModifiedBy>AI协作</cp:lastModifiedBy>
  <cp:revision>1</cp:revision>
  <dcterms:created xsi:type="dcterms:W3CDTF">2026-07-11T08:05:22Z</dcterms:created>
  <dcterms:modified xsi:type="dcterms:W3CDTF">2026-07-11T08:05:22Z</dcterms:modified>
</cp:coreProperties>
</file>