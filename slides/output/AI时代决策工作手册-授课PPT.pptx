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32004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828800"/>
            <a:ext cx="137160" cy="13716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决策工作手册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从复盘经验到决策能力的系统性方法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18872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掌握决策卡的核心方法论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把个人经验转化为组织可复用的判断力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建立复盘访谈能力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挖出隐性判断，问出没说出口的经验规则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设计决策卡训练体系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让团队真正在决策现场用起来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那个42页PPT的故事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项目负责人把整个决策过程讲了一遍，PPT做了四十二页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半年后，另一个项目负责人做了几乎相反的判断，踩了同一个坑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C4161C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你看过那份复盘PPT吗？看过。但轮到自己判断的时候，想不起来那个PPT到底说了什么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999999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核心问题：复盘写得认真，和复盘有没有用，是两件完全不同的事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274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复盘写得认真，和复盘有没有用，是两件完全不同的事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7680960" cy="18288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四十二页里，真正能在下一次决策的那一刻被想起来、被拿来用的内容，可能不超过两页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这才是复盘真正要解决的问题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657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复盘写的是过去，决策卡写的是未来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不是每个决策都值得做成一张卡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复盘访谈问的不是"你做了什么"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隐性判断是问出来的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06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决策卡不是流程图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触发条件写不清楚就是废纸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284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场景映射矩阵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失败案例不是用来吓人的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50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第一个读者应该是反对你的人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6110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训练活动的目的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54864" cy="3657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005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组织落地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决策卡最大的敌人是没人认领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7739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决策稽核不是查错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0848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好的决策卡会过时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3957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复盘引导者最容易犯的错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7066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最终交付的不是文档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41148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复盘与决策卡的本质区分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复盘写的是过去，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决策卡写的是未来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2286000" cy="36576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 vs 决策卡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"教训只能让人不再犯错，决策卡能让人复制成功"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188720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教训告诉你结果不好的方向长什么样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决策卡告诉你当时那个人是怎么在几个选项之间做出取舍的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下次遇到类似的信号，该在哪个节点停下来重新想一想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solidFill>
            <a:srgbClr val="C4161C">
              <a:alpha val="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60320" y="3383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从"避免犯错"到"复制成功"的跨越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复盘写的是过去，决策卡写的是未来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理解一件事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393192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2402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能在下一次现场用上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读完舒服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3931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34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读完能用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393192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29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存进文件夹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429000"/>
            <a:ext cx="3931920" cy="594360"/>
          </a:xfrm>
          <a:prstGeom prst="rect">
            <a:avLst/>
          </a:prstGeom>
          <a:solidFill>
            <a:srgbClr val="999999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290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被打印出来贴在工位上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C4161C">
              <a:alpha val="1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本质区别：复盘是为了理解过去，决策卡是为了影响未来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实际操作起来完全是两件事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写叙事性复盘报告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只需把事情讲清楚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写决策卡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3200400" cy="1005840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2461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得先问出那个决策者自己都没意识到的判断依据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再把它们变成可执行的条件句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3931920" cy="30175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这个过程比写报告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难得多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也慢得多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为什么多数组织的复盘停在教训层面？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不是因为大家不重视复盘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864" cy="5486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恰恰是因为太重视「讲清楚整个过程」这件事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4864" cy="548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688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把复盘会开成了讲述会，讲述完就觉得任务完成了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2801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"讲述会满足的是「我们认真总结过」这个心理需求"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叙事性复盘依然有它的价值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建立组织的集体记忆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让组织的历史经验得以保存和传递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理解来龙去脉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让不同岗位的人能理解一件事的来龙去脉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建立信任和共识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这种理解本身有助于建立信任和共识，也是团队文化的一部分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问题不在于要不要写叙事性报告，在于不能止步于此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两者不是替代关系，是递进关系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28600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叙事性复盘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828800" cy="1097280"/>
          </a:xfrm>
          <a:prstGeom prst="rect">
            <a:avLst/>
          </a:prstGeom>
          <a:solidFill>
            <a:srgbClr val="C4161C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783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问出隐性判断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2286000" cy="10972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被激活的复用形态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叙事是决策卡的原材料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决策卡是叙事真正被激活、被复用的形态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不是每个决策都值得做成一张卡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286000" cy="36576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怎么识别值得做卡的决策？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当时是不是存在至少两个看起来都合理的选项？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73152" cy="10972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决策者能不能准确说出当时是哪几个信号让他倾向了某一边？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73152" cy="10972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这个决策的情境，未来有没有可能被别人重新遇到？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复盘访谈问的不是"你做了什么"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是"你当时不确定什么"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他当时那个"觉得更稳妥"的判断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是几个信号叠加之后的直觉反应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"不是一条清晰的逻辑链"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他做出判断的那一刻，甚至没觉得那是个需要权衡的选择，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只是一种基于经验的本能反应。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73152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本能反应≠没有判断依据，只是还没被语言化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多数人访谈时问的是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"你做了什么、结果如何"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这套问题挖出来的只是事件的时间线，挖不出真正值得沉淀的判断依据。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正确问法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不是问"你做了什么"，是问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"你当时不确定什么"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999999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事件的时间线谁都能讲清楚，但不确定什么才是判断真正发生的地方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不确定的地方，才是判断真正发生的地方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82880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1887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确定的事情不需要判断，直接执行就行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06040"/>
            <a:ext cx="548640" cy="5486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人在不确定的时候会权衡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566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权衡的过程包含了他所有没说出来的经验规则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73152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复盘访谈的目的，就是把这些没说出来的经验规则显性化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复盘访谈的三个维度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325880"/>
            <a:ext cx="640080" cy="64008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"当时是什么信号让你觉得需要做决策，而不是按原计划走？"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325880"/>
            <a:ext cx="640080" cy="64008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2900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"当时你能想到的选项有哪些，你是怎么排除掉其他选项的？"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1325880"/>
            <a:ext cx="640080" cy="64008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264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未预见的假设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63640" y="2606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"如果当时那个前提不成立，你还会做同样的判断吗？"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三个维度帮你挖出判断背后的完整逻辑链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追因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"当时是什么信号让你觉得需要做决策，而不是按原计划走？"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操作要点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137160" cy="1371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挖的是决策的触发点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137160" cy="1371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88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多数人回忆时会从"我决定做什么"开始讲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37160" cy="1371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真正值得挖的是更早一步——"我是怎么意识到这里需要一个决定"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追问技巧：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3840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"在那之前呢？" 往前再退一步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"当时你能想到的选项有哪些，你是怎么排除掉其他选项的？"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追问方式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"除了换供应商，你当时有没有想过先谈整改？为什么最后没选这条路？"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666666">
              <a:alpha val="15000"/>
            </a:srgbClr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警惕："事后合理化"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追问"你当时算过这个周期吗？还是事后回头看才算出来的？"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权衡环节通常需要最多的追问轮次，要有耐心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未预见的假设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"如果当时那个前提不成立，你还会做同样的判断吗？"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挖的是决策者当时无意识依赖的假设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负责人默认了"备选供应商的产能评估数据是准的"——如果这个假设错了，整个判断链条就会松动。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关键：这些假设决策者自己从来没说出来过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三个维度的顺序有讲究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97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023360" y="1097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097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949440" y="109728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097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未预见的假设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追因放在最前面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423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因为相对容易回答，能帮决策者快速进入回忆状态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权衡放在中间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这一步通常需要最多的追问轮次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未预见的假设放在最后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因为这个问题需要决策者对着一个已经讲清楚的判断过程做反思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"复盘访谈问的不是'你做了什么'，是'你当时不确定什么'"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92608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"事件本身谁都能讲清楚，真正稀缺的是那个人权衡时脑子里划掉的选项、依赖过却没说出口的假设"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438912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隐性判断是问出来的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不是想出来的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七次"我就是觉得不对劲"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产线主管在访谈里说了七次"我当时就是觉得不对劲"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"感觉数据有点怪"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280160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280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"供应商的态度跟以前不太一样"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"流程走得太顺了反而不放心"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89280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892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"交货期太准时了，不对劲"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"质量报告太干净了"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505456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25054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"采购没催过库存"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18104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1181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"工人没来找我说这事"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73152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每次描述都不一样，但背后可能有同一个规则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七次"不对劲"背后的同一规则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这七次"不对劲"出现之前，都有一个共同前置动作——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流程比平时快了至少三分之一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隐性规则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"当一个本该有摩擦的流程突然变得异常顺畅，这本身就是一个需要警惕的信号"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73152" cy="7315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那位主管自己从来没有说出来过，他只是每次都本能地"觉得不对"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隐性判断不会自己浮出水面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"它是被问出来的，不是被想出来的"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决策者本人往往意识不到自己在用一套规则做判断，因为这套规则在他脑子里从来没有被语言化过。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73152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复盘访谈的任务，就是把这条没被说出来的规则逼到语言的层面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技法一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模式追问法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当决策者说出"我就是觉得不对"这类模糊表达时，不要接受这句话作为答案。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"上一次你有类似这种感觉，是在什么情况下？"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把两次甚至三次模糊感受放在一起对比，找共同点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技法二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反事实追问法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问"如果当时那个信号没出现，你还会做同样的判断吗？"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这句话逼着决策者去想象一个没发生的情境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人在想象反事实的时候，会不自觉地把自己依赖的判断依据说出来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技法三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角色互换追问法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基础问法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"如果是你带的一个新人遇到同样的情况，你会提醒他注意什么？"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很多人没法直接把自己的隐性判断说清楚，但一旦切换到"教别人"这个视角，会突然变得具体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进阶：两次角色互换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666666">
              <a:alpha val="15000"/>
            </a:srgbClr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追问："那如果这位新人已经知道你刚才说的那个提醒，还是可能在哪个地方判断错？"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三个技法指向同一件事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隐性判断不是决策者刻意隐瞒的，是他自己都没意识到存在的。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模式追问法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把多次模糊感受对比，找共同规律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反事实追问法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想象未发生的情境，暴露判断依据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角色互换追问法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切换到教学视角，让隐性规则具体化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73152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引导者的工作：通过具体的问法，把那条一直没被说出来的规则逼到语言的层面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"隐性判断是问出来的，不是想出来的"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0" y="256032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92608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"模式追问、反事实追问、角色互换追问，三层问下去，那条一直在起作用却没被命名的经验规则，才会真正浮出水面"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448056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决策卡不是流程图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是一份检查表加一个开关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3566160"/>
            <a:ext cx="18288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第一版决策卡做成了流程图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C4161C"/>
          </a:solidFill>
          <a:ln w="19050">
            <a:solidFill>
              <a:srgbClr val="C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C41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评估选项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463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1463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C41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做出判断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463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0" y="1463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C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流程图适合事后讲给别人听，但决策发生的时候往往只有几分钟甚至几十秒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666666">
              <a:alpha val="15000"/>
            </a:srgbClr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负责人反馈："没人会在那个当口打开一张流程图慢慢看每个方框"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 vs 决策卡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给"理解一件事的完整过程"用的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适合：事后复盘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适合：经验传承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适合：教学展示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给"决策现场那几分钟"用的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适合：实时决策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适合：快速核对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适合：触发提醒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73152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两者的使用场景完全不同，形态也不该一样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决策卡的本质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"我有没有漏看什么关键信号？"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被动的、需要主动逐条对照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"现在是不是该停下来重新判断，而不是按原计划继续走？"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主动的、一旦触发就该立刻反应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关系：一个负责收集，一个负责触发，缺一不可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00584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不是把决策的每一步都列出来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54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而是列出这个决策场景里最容易被忽略、但一旦忽略就会出大问题的那几个信号点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82880" cy="1828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项数控制在五到八条（多了没人会真的逐条对照，少了漏掉关键信号）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动词选择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用具体的、能直接对照的动词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不是"评估""考虑""关注"这类偏静态的动词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示例：确认、核实、比对、校验、比对、追踪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34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一句判断性的话，告诉使用者"当你看到这个信号，这不是继续往前走的时候，是停下来重新想的时候"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与检查表的区别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检查表是被动的、需要主动逐条对照的；开关是主动的、一旦触发就该立刻反应的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措辞技巧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666666">
              <a:alpha val="15000"/>
            </a:srgbClr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用条件句加动作指令的组合——"如果出现X信号，先做Y这个核实动作，再决定是否继续"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检查表和开关的排版顺序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6400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决策卡标题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1737360"/>
            <a:ext cx="5852160" cy="822960"/>
          </a:xfrm>
          <a:prstGeom prst="roundRect">
            <a:avLst>
              <a:gd name="adj" fmla="val 8889"/>
            </a:avLst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1737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开关语句（第一行，最显眼位置）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信号点1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信号点2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信号点3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840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信号点4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373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7240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最显眼，一眼看到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73152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让使用者一眼看到"什么时候该打开这张卡的其余部分"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"决策卡不是流程图，是一份检查表加一个开关"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237744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743200"/>
            <a:ext cx="7680960" cy="1463040"/>
          </a:xfrm>
          <a:prstGeom prst="roundRect">
            <a:avLst>
              <a:gd name="adj" fmla="val 625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"检查表告诉你别漏看什么，开关告诉你什么时候该停下来重新想。两者都齐备，这张卡才有可能在真正的决策现场被打开。"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0" y="4480560"/>
            <a:ext cx="1828800" cy="45720"/>
          </a:xfrm>
          <a:prstGeom prst="rect">
            <a:avLst/>
          </a:prstGeom>
          <a:solidFill>
            <a:srgbClr val="666666"/>
          </a:solidFill>
          <a:ln/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371600" cy="5486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触发条件写不清楚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就是废纸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决策卡的核心：触发条件必须写得足够清晰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案例：触发条件写坏了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某公司决策卡："当市场环境发生重大变化时，重新评估方案"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"重大变化"是什么？谁来判断？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"重新评估"没有标准，操作性为零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65176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等真出事，这张卡早就被扔进抽屉了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73152" cy="8229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写清楚的例子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"当季度销售额连续30天低于目标的70%，或主要竞品价格下降超过15%时，立即启动方案复盘会议"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当出现异常时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这句话看起来是触发条件，实际上什么都没说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999999">
              <a:alpha val="30000"/>
            </a:srgbClr>
          </a:solidFill>
          <a:ln w="25400">
            <a:solidFill>
              <a:srgbClr val="C416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它把判断的责任重新推回给了使用卡片的人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关键矛盾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而这个人往往就是缺乏那份经验、才需要这张卡的人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33832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进阶处理方式：单一信号升级为组合信号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供应链案例里提炼出的三个维度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416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信号强度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偏离程度是否足够大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是否持续出现不止一次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417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011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是否有合理解释这次偏离的外部因素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组合触发条件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信号强度超过某个阈值，且持续出现不止一次，且没有可以合理解释这次偏离的外部因素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630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场景映射矩阵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一张卡管不住所有场景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卡片越想覆盖所有场景，用的人反而越少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卡片越针对一个具体场景，反而越有人愿意打开来用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不做一张覆盖所有场景的卡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做一份场景映射矩阵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场景映射矩阵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9999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把同一条底层判断逻辑，拆解成几个具体场景下各自的版本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矩阵维度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场景变量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决策卡内容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468880"/>
            <a:ext cx="2514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468880"/>
            <a:ext cx="2514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49440" y="2468880"/>
            <a:ext cx="2514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4688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应急方案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0" y="3108960"/>
            <a:ext cx="2514600" cy="59436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108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场景A版本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108960"/>
            <a:ext cx="2514600" cy="59436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3108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场景A版本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49440" y="3108960"/>
            <a:ext cx="2514600" cy="59436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1089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场景A版本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场景变量示例：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供应商是核心还是边缘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采购品类是标准件还是定制件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3108960"/>
            <a:ext cx="7680960" cy="18288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4389120" y="2468880"/>
            <a:ext cx="18288" cy="1280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7" name="Shape 25"/>
          <p:cNvSpPr/>
          <p:nvPr/>
        </p:nvSpPr>
        <p:spPr>
          <a:xfrm>
            <a:off x="6949440" y="2468880"/>
            <a:ext cx="18288" cy="12801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核心变化：触发条件、检查项、应急方案会随着场景变量而变化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矩阵设计的第一步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C4161C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7315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找出真正影响判断的场景变量，而不是把所有能想到的维度都塞进去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如果换掉这个变量，决策卡的关键内容会不会跟着变？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如果答案是不会变，这个变量不需要单独列出来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2377440" cy="10058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331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真正需要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的场景变量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999999">
              <a:alpha val="20000"/>
            </a:srgbClr>
          </a:solidFill>
          <a:ln w="12700">
            <a:solidFill>
              <a:srgbClr val="66666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7764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把和决策本身无关、但看起来"应该重要"的维度也塞进矩阵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例如：预算规模、涉及的部门数量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矩阵设计的第二步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C4161C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7315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给每个场景格子填入具体版本，而不是简单地在通用卡上做加减法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每个格子应该是一份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可以独立打印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独立使用的小卡片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2331720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331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不需要理解整个矩阵逻辑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矩阵填入示意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1828800" cy="32004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A版触发条件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3657600"/>
            <a:ext cx="1828800" cy="32004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A版检查项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3977640"/>
            <a:ext cx="1828800" cy="32004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B版触发条件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977640"/>
            <a:ext cx="1828800" cy="320040"/>
          </a:xfrm>
          <a:prstGeom prst="rect">
            <a:avLst/>
          </a:prstGeom>
          <a:solidFill>
            <a:srgbClr val="C4161C">
              <a:alpha val="10000"/>
            </a:srgbClr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B版检查项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611880"/>
            <a:ext cx="2651760" cy="7315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3611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使用者只需要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找到自己的格子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矩阵给谁用？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矩阵本身是给维护者用的地图，不是给一线使用者用的操作工具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理解整个矩阵的设计逻辑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场景变量如何提取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决策卡如何拆分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版本之间如何衔接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03120"/>
            <a:ext cx="39319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一线使用者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找到自己对应的场景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关心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017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"我的场景对应哪张卡"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而不是"矩阵是怎么设计出来的"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999999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设计矩阵时要假设：使用者不会先读说明书再去找对应卡片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场景变量该细分到什么颗粒度？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C4161C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目前判断标准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先做粗粒度的两到三个场景版本，投入使用后收集反馈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迭代思路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做粗粒度版本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两到三个场景版本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优先覆盖最常见场景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224028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收集使用反馈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哪个场景反复出现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"卡片不太适用"的抱怨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92240" y="2240280"/>
            <a:ext cx="2194560" cy="11887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细分出新版本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针对那个场景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开发新的子版本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611880"/>
            <a:ext cx="73152" cy="8229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9776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而不是一开始就穷举所有可能的场景组合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一张卡管不住所有场景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51760"/>
            <a:ext cx="7315200" cy="164592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硬要它管，卡片就会变得空洞到没人愿意用。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场景映射矩阵解决的不是"让一张卡覆盖更多"，是让同一条底层判断逻辑，在不同场景里长出各自具体的样子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失败案例不是用来吓人的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是用来对照的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286000" cy="45720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讲失败案例的初衷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1887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一次内部培训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讲了一个真实的失败案例——某个项目因为一个关键判断失误，造成了不小的损失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学员反应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931920" cy="914400"/>
          </a:xfrm>
          <a:prstGeom prst="rect">
            <a:avLst/>
          </a:prstGeom>
          <a:solidFill>
            <a:srgbClr val="C4161C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88920"/>
            <a:ext cx="73152" cy="9144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做类似决策会更谨慎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（正面效果）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931920" cy="914400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2788920"/>
            <a:ext cx="73152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但也更犹豫了，感觉哪个选项都不敢轻易拍板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（非预期效果）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这不是想要的效果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失败案例警示清单的核心功能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核心功能：不是制造恐惧，是提供对照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对照的意思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让使用者能把这个失败案例里的关键岔路口，映射到自己当下正在做的决策上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999999">
              <a:alpha val="40000"/>
            </a:srgbClr>
          </a:solidFill>
          <a:ln w="25400">
            <a:solidFill>
              <a:srgbClr val="C416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"我现在是不是也站在类似的岔路口上？"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失败案例警示清单的具体写法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按三段来组织：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岔路口描述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288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用一两句话说清楚当时存在哪几个选项，这个决策者最后选了哪一个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本可以被注意到的信号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当时有哪个具体的、可观测的信号其实已经出现了，只是没被当回事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"如果你现在正在推进的项目里，也出现了类似的信号，你打算怎么处理"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第九章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你写的决策卡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5486400" cy="5486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20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第一个读者应该是反对你的人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4161C">
              <a:alpha val="90000"/>
            </a:srgbClr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第一版决策卡评审的问题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6858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075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第一版决策卡写完，拿给几位同事看，大家反馈都挺正面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8229600" cy="594360"/>
          </a:xfrm>
          <a:prstGeom prst="rect">
            <a:avLst>
              <a:gd name="adj" fmla="val 9231"/>
            </a:avLst>
          </a:prstGeom>
          <a:solidFill>
            <a:srgbClr val="99999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05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说结构清晰、条理分明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9144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96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706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两个月后，使用者在一个特殊场景里完全按卡片操作，结果出了问题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29000"/>
            <a:ext cx="73152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02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卡片漏洞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764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应急方案里有一条建议，在他遇到的那个特殊变体场景下恰好是错的，但卡片没有说明这个例外情况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问题案例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评审最好设计成一个固定的双轮制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9601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第一轮评审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由熟悉这个业务领域、但没参与过原始决策的资深人员来做，专门挑漏洞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73152" cy="96012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第二轮评审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由完全不熟悉这个领域的人来看，检验卡片的表述是不是清晰到一个新人也能看懂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822960"/>
          </a:xfrm>
          <a:prstGeom prst="rect">
            <a:avLst>
              <a:gd name="adj" fmla="val 6667"/>
            </a:avLst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修改完的版本，要拿回给提出反对意见的人再看一遍，确认漏洞真的被补上了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2377440" cy="502920"/>
          </a:xfrm>
          <a:prstGeom prst="rect">
            <a:avLst>
              <a:gd name="adj" fmla="val 10909"/>
            </a:avLst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第一轮：挑漏洞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46120" y="4023360"/>
            <a:ext cx="2377440" cy="502920"/>
          </a:xfrm>
          <a:prstGeom prst="rect">
            <a:avLst>
              <a:gd name="adj" fmla="val 10909"/>
            </a:avLst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第二轮：验清晰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40233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35040" y="4023360"/>
            <a:ext cx="2377440" cy="502920"/>
          </a:xfrm>
          <a:prstGeom prst="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确认修改→完成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双轮制流程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 - 课堂管理技巧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如何有效管理课堂节奏，调动学员积极性？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番茄工作法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15分钟单元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节奏把控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注意力曲线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专注-低谷-恢复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适时互动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参与度模型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输入-处理-输出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多感官刺激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某培训机构讲师在授课时发现学员注意力下降，通过"站立讨论+快速回顾"的方式，在5分钟内让课堂活跃度提升50%。关键在于识别注意力低谷点，及时切换教学形式。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请设计一个15分钟的课堂环节，包含引入、主体和收尾三个部分，并说明如何管理节奏和注意力。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 - 异常处理应对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面对课堂突发状况，如何冷静应对并有效解决？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ABC法则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Accept接受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Breath呼吸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Calm冷静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分类处理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6步法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识别-评估-决策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实施-跟踪-复盘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结构化应对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预防为主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预设预案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风险排查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快速响应机制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学员在小组讨论时发生争执，讲师先暂停讨论，请双方分别陈述观点，然后引导双方找出共同点，最终将冲突转化为建设性讨论。整个过程保持中立，不评判对错。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列出三种常见的课堂异常情况，并设计相应的应对策略。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 - 学员参与激励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如何激发学员主动参与，建立积极的学习氛围？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马斯洛激励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成就感驱动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认可与尊重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自我实现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游戏化设计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积分奖励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徽章系统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社交学习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同伴互助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小组竞争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经验分享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某课程设计"最佳案例奖"，让学员提交真实工作案例进行评选。获奖者分享经验并获得荣誉证书，学员参与度从40%提升至85%，学习氛围显著改善。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设计一个激励方案，结合物质奖励和精神鼓励，提升学员的课堂参与度。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 - 小组讨论引导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如何有效引导小组讨论，确保每个人都有参与感？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理论框架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结构化讨论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明确议题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时间限制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引导技巧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轮流发言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积极倾听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场域营造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开放氛围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尊重差异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建设性反馈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某讲师采用"一人一分钟"规则，要求每位组员对议题发表看法，并指定记录员整理观点。最后每组派代表汇报，确保每位学员都有发言机会。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设计一个30分钟的小组讨论环节，包括分组方式、讨论议题、汇报形式。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学员作业 - 作业说明与要求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本次作业的核心目标是什么？如何高效完成？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作业要求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结合课程内容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选择一个实际工作场景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应用所学方法论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40233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0574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Word文档或PPT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不少于2000字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逻辑清晰、有图有表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内容完整性30% | 理论应用准确性30% | 实践价值20% | 表达清晰度20%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提交时间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请在课程结束后7天内提交至学习平台，逾期将影响最终成绩。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学员作业 - 作业模板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如何结构化地呈现你的分析和思考？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推荐结构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011680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188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背景描述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选择的工作场景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核心挑战是什么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737360"/>
            <a:ext cx="2011680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737360"/>
            <a:ext cx="54864" cy="1188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问题分析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运用课程方法论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深入剖析根本原因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2011680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737360"/>
            <a:ext cx="54864" cy="1188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解决方案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具体措施和步骤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预期效果和指标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737360"/>
            <a:ext cx="2011680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54864" cy="1188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总结反思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1031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收获与不足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下一步行动计划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模板下载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291840"/>
            <a:ext cx="54864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37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Word模板和PPT模板已上传至学习平台，请下载后按照结构填写。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作业提示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建议先用草稿形式完成整体框架，再逐步填充内容，这样效率更高。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学员作业 - 优秀作业案例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优秀作业有哪些共同特点？该如何借鉴？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优秀案例特点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来源于实际工作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不是空想假设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深度分析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有数据支撑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逻辑清晰严密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可操作性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方案落地可行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有明确行动计划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学员张明分析了银行客户经理如何用买方顾问思维提升基金销售，通过"需求诊断→方案匹配→跟踪服务"三步法，使客户复购率提升了35%。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学习建议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多参考优秀案例的写作思路，但避免直接照搬，结合自己的实际工作来写。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学员作业 - 作业提交说明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如何正确提交作业？有哪些注意事项？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提交步骤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01168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登录平台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进入学习平台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找到作业入口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737360"/>
            <a:ext cx="201168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1460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上传文件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Word或PPT格式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文件命名规范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37360"/>
            <a:ext cx="201168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填写信息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填写作业标题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简要描述内容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737360"/>
            <a:ext cx="201168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228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确认提交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检查无误后提交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截图保存凭证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00400"/>
            <a:ext cx="841248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200400"/>
            <a:ext cx="54864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46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文件名格式：姓名_班级_作业序号（如：张三_1班_作业1.docx）| 文件大小不超过20MB | 仅支持Word和PPT格式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如遇提交问题，请联系班主任或通过平台留言，会有工作人员及时处理。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 - 推荐阅读书籍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有哪些经典书籍可以帮助深入理解课程内容？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推荐书单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9144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《思考，快与慢》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丹尼尔·卡尼曼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行为经济学经典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理解决策心理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4023360" cy="9144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737360"/>
            <a:ext cx="54864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《非暴力沟通》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0574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马歇尔·卢森堡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沟通技巧指南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建立和谐关系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023360" cy="9144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2743200"/>
            <a:ext cx="54864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《刻意练习》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安德斯·埃里克森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技能提升方法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从新手到大师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743200"/>
            <a:ext cx="4023360" cy="9144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743200"/>
            <a:ext cx="54864" cy="9144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《原则》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063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瑞·达利欧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246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工作生活原则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系统化决策框架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阅读建议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4069080"/>
            <a:ext cx="54864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建议结合课程进度选择相关书籍阅读，每本至少读一遍并做好读书笔记。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617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88720" y="461772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 - 推荐学习资源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除了书籍，还有哪些优质学习资源可以利用？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265176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混沌大学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网易公开课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737360"/>
            <a:ext cx="265176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行业报告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麦肯锡季报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贝恩研究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艾瑞咨询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10972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737360"/>
            <a:ext cx="54864" cy="109728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专业媒体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第一财经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FT中文网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学习平台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8412480" cy="6858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200400"/>
            <a:ext cx="54864" cy="6858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461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本课程提供配套学习平台，包含视频课程、案例库、习题库等资源，可反复学习巩固。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学习建议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02920" y="42519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每天固定1小时学习时间，持续积累比突击学习效果更好。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475488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- 术语解释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引导问题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课程中出现的专业术语该如何理解？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核心术语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买方顾问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代表买方利益的专业顾问，以客户需求为中心提供独立建议。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737360"/>
            <a:ext cx="402336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1737360"/>
            <a:ext cx="54864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783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057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对他人财产或事务负有的诚实守信、勤勉尽责的义务。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06040"/>
            <a:ext cx="402336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06040"/>
            <a:ext cx="54864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适当性原则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金融产品应与客户的风险承受能力、投资目标相匹配。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606040"/>
            <a:ext cx="4023360" cy="7772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2606040"/>
            <a:ext cx="54864" cy="7772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利益冲突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顾问利益与客户利益可能产生矛盾的情况。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更多术语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94760"/>
            <a:ext cx="841248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794760"/>
            <a:ext cx="54864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404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更多术语解释请参阅课程配套的《术语手册》，或在学习平台搜索关键词。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A-HA记录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88720" y="43434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写下你今天的收获和启发：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受托责任承诺书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作为受托人，我承诺：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始终将客户的最佳利益放在首位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主动披露任何可能存在的利益冲突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不做虚假陈述或误导性宣传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尊重客户的知情权和选择权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持续提升专业能力，为客户提供优质服务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274320" cy="27432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保守客户隐私，不泄露个人信息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3474720" cy="27432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206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承诺人签名：____________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从产品推销到需求诊断，从利益冲突到受托责任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 利益冲突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识别六个常见冲突场景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主动披露是信任基础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七步法化解利益冲突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5544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需求诊断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先了解需求，再推荐产品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286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诊断工具箱：四件法宝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560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560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从诊断到建议的转化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5468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受托责任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11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法律责任是底线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道德义务是高线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886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知道什么时候说"不"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懂得如何优雅地说"不"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签署受托责任承诺书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用承诺书约束自己的行为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信任重建的实践路径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2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信任建立的四个维度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 · 透明 · 一致 · 同理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四维度框架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37160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91440" cy="1691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688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展示真正的专业能力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让客户感受到你的价值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91440" cy="1691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信息的对等流动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让客户看到你的全部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91440" cy="1691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4688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言行一致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说到做到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91440" cy="16916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08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Empathetic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理解客户处境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真正站在客户角度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666666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四个维度缺一不可，共同构建信任的完整大厦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组织落地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从个人经验到组织能力</a:t>
            </a:r>
            <a:endParaRPr lang="en-US" sz="2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组织落地的五个关键问题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457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决策卡最大的敌人是谁？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6858000" cy="91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决策稽核查的是什么？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2606040"/>
            <a:ext cx="6858000" cy="91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好的决策卡为什么会过时？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97280" y="3291840"/>
            <a:ext cx="6858000" cy="91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复盘引导者最容易犯什么错？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97280" y="3977640"/>
            <a:ext cx="6858000" cy="91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最终交付的是什么？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决策卡最大的敌人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不是会不会用，是没人认领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推行决策卡半年后的回访结果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背景：第一批做出来的十几张卡片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张决策卡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24688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张仍在用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46888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张被遗忘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4161C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用得起来的只有三四张，其余的几乎再没人提起过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不是卡片内容的问题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逐张翻看，内容都没什么大问题——触发条件清楚，检查表具体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三四张还在用的卡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3716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背后都有一个明确的人在负责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194560"/>
          </a:xfrm>
          <a:prstGeom prst="roundRect">
            <a:avLst>
              <a:gd name="adj" fmla="val 5000"/>
            </a:avLst>
          </a:prstGeom>
          <a:solidFill>
            <a:srgbClr val="99999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没人用的卡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2697480"/>
            <a:ext cx="137160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880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做完之后就没有任何人对它负责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真正区别：有没有一个具体的人在负责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"认领"不是简单地指定一个部门或者岗位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要具体到一个真实的人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定期回访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057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定期回访这张卡是否还在被使用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7889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收集使用中反馈的问题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主动判断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2519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发现业务变化时主动判断卡片内容是否需要更新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谁适合做认领人？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复盘引导者本人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往往在项目结束后就转向下一个项目，没有持续待在这个业务场景里的动力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C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最贴近这张卡使用场景的岗位负责人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本身长期身处这个场景，业务一旦变化，他是最早感知到的人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认领人必须是一个真实的人，而不是一个岗位名称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除了主认领人，还可以设置备份认领人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主认领人离岗时，备份认领人自然接手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要明确写清楚主责和备份各自具体做什么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40000"/>
            </a:srgbClr>
          </a:solidFill>
          <a:ln w="19050">
            <a:solidFill>
              <a:srgbClr val="66666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避免：两人同时以为对方在负责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61C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80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责任边界必须清晰，不能留模糊地带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决策稽核不是查错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是替组织记住它学过什么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第一版决策行为稽核表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"这次决策的结果是否达到预期"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C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有位项目负责人直接说：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"这份表看起来像是在秋后算账"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用结果好坏来评判他当时的判断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稽核表最容易走偏的方向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把"稽核"做成了"考核"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关注结果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一旦聚焦结果，使用者天然会进入防御姿态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关注沉淀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017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检查判断逻辑有没有被沉淀成组织可以复用的东西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稽核表真正该检查的：不是这次决策的结果好不好，是判断过程有没有被记录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稽核表不适合套用在每一次决策上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适用范围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只适合套用在那些经过识别标准初筛、认为有一定价值的决策上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999999">
              <a:alpha val="40000"/>
            </a:srgbClr>
          </a:solidFill>
          <a:ln w="19050">
            <a:solidFill>
              <a:srgbClr val="6666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如果不做筛选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把稽核对话套用在团队日常所有的大小决策上，会让稽核这件事本身变得像一种日常的、例行公事的负担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稽核要有的放矢，不要贪多求全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稽核最好不要做成书面填表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推荐形式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10972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116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做成一场简短的对话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执行方式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874520"/>
            <a:ext cx="10972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0116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由认领人或复盘引导者带着四个问题，和决策者面对面聊十几分钟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真正重点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874520"/>
            <a:ext cx="10972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0116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不在于把表格填完整，在于借着这几个问题，把这次决策里值得记的东西真正挖出来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对话比填表更有价值——前者挖掘，后者记录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好的决策卡会过时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这是它活着的证据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一张三年没改过的决策卡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背景：整理一批历史决策卡时发现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触发条件、检查项、应急方案，字字句句都和当年做出来的时候一模一样，没有任何修改痕迹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表面结论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这张卡设计得经得起时间考验？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去访谈发现根本没人在用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复盘引导者最容易犯的错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是替决策者总结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这个动作暴露了什么问题？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出于效率、出于想让访谈更快出结果的心态，替决策者把那条隐性判断规则说出来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6250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这个动作看起来是在帮忙，实际上剥夺了决策者自己经历这个过程的机会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"我把这条一直没说出口的规则，第一次亲口讲清楚"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一个具体的辅助技巧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学会容忍沉默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遇到决策者陷入思考、暂时没说话的时刻，在心里默数到五，再决定要不要开口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价值：这五秒钟的等待，很多时候恰恰是决策者自己在脑子里组织语言的关键时刻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引导者角色的边界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本质：是一个身份定位问题——facilitator不是讲师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99999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把知识准确地传递给学员，越清晰、越省力越好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3931920" cy="1828800"/>
          </a:xfrm>
          <a:prstGeom prst="roundRect">
            <a:avLst>
              <a:gd name="adj" fmla="val 6000"/>
            </a:avLst>
          </a:prstGeom>
          <a:solidFill>
            <a:srgbClr val="C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560320"/>
            <a:ext cx="109728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创造一个环境，让对方自己把本来就在他脑子里、但没被语言化的东西挖出来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7764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特点：这个过程注定比讲师直接讲授慢，但慢下来的部分，恰恰是价值真正发生的地方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最终交付的不是文档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是组织的判断力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286000" cy="54864"/>
          </a:xfrm>
          <a:prstGeom prst="rect">
            <a:avLst/>
          </a:prstGeom>
          <a:solidFill>
            <a:srgbClr val="C4161C"/>
          </a:solidFill>
          <a:ln/>
        </p:spPr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一次项目收尾时的对话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这套方法论最终能留下多少张决策卡？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回答：说了一个具体数字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客户反应：点点头，好像这就是这次合作的全部产出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3333"/>
            </a:avLst>
          </a:prstGeom>
          <a:solidFill>
            <a:srgbClr val="C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内心：如果这次合作最终只是留下了几十张卡片，这次合作其实没有完成它真正该完成的事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会过时的东西，本质上都不是真正的资产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99999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卡片会过时，会过时的东西本质上都不是真正的资产，是资产在某个时间点的一次具体呈现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1828800"/>
          </a:xfrm>
          <a:prstGeom prst="roundRect">
            <a:avLst>
              <a:gd name="adj" fmla="val 7500"/>
            </a:avLst>
          </a:prstGeom>
          <a:solidFill>
            <a:srgbClr val="C416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真正的资产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团队学会了怎么去识别一个值得复盘的决策、怎么访谈才能挖出隐性判断、怎么把判断变成可复用的触发条件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8288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这套能力，不会因为业务流程变化而过时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授人以鱼不如授人以渔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具体到项目节奏上的做法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示范期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3716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以自己主导访谈和卡片撰写为主，让团队看到完整的方法论跑一遍是什么样子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交接期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31720"/>
            <a:ext cx="13716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514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逐步把访谈和撰写的主导权交还给团队内部指定的人选，退到旁观和纠偏的角色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999999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核心原则：先做示范，再做交接，让团队真正学会而不是单纯拿到一套模板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课程回顾：PART 2 组织落地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决策卡最大的敌人是没人认领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828800"/>
            <a:ext cx="7543800" cy="9144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947672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476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947672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决策稽核不是查错，是替组织记住它学过什么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43000" y="2542032"/>
            <a:ext cx="7543800" cy="9144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660904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6090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2660904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好的决策卡会过时，这是它活着的证据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43000" y="3255264"/>
            <a:ext cx="7543800" cy="9144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374136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7413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43000" y="3374136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复盘引导者最容易犯的错是替决策者总结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" y="3968496"/>
            <a:ext cx="7543800" cy="9144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087368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C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873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43000" y="4087368"/>
            <a:ext cx="7543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最终交付的不是文档，是组织的判断力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234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73152" cy="1463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决策卡标准模板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包含触发条件、检查表、应急方案、适用场景、警示案例、认领人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234440"/>
            <a:ext cx="73152" cy="1463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稽核表模板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用于定期检查决策卡的有效性和时效性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234440"/>
            <a:ext cx="73152" cy="1463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173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访谈提纲模板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三维度访谈框架：情境探测、判断挖掘、验证确认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2880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880360"/>
            <a:ext cx="73152" cy="1463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场景映射矩阵设计方法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如何识别和管理不同决策场景的工具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880360"/>
            <a:ext cx="73152" cy="14630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训练活动设计方法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让团队在模拟场景中体验和内化方法论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决策卡标准模板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91440" cy="10058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条件句+动作指令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40280"/>
            <a:ext cx="9144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774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5-8条具体可执行的核对项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429000"/>
            <a:ext cx="91440" cy="10058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应急方案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变体场景的处理方式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051560"/>
            <a:ext cx="91440" cy="10058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1887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说明适用和不适用的情境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24028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240280"/>
            <a:ext cx="91440" cy="100584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3774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警示案例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失败岔路口描述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3977640" cy="1005840"/>
          </a:xfrm>
          <a:prstGeom prst="rect">
            <a:avLst/>
          </a:prstGeom>
          <a:solidFill>
            <a:srgbClr val="999999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3429000"/>
            <a:ext cx="9144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认领人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姓名、联系方式、最近更新日期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" y="1417320"/>
            <a:ext cx="36576" cy="31546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0759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选择一个你团队正在面临的重要决策场景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24128" y="1755648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90195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按照访谈三维度进行深度访谈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24128" y="2350008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49631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提炼触发条件和检查表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24128" y="2944368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09067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017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指定认领人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24128" y="3538728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68503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11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设计训练活动让团队在模拟场景里体验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24128" y="4133088"/>
            <a:ext cx="91440" cy="9144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279392"/>
            <a:ext cx="320040" cy="32004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79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63040" y="42062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建立稽核机制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3200400" cy="51435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1828800"/>
            <a:ext cx="137160" cy="1371600"/>
          </a:xfrm>
          <a:prstGeom prst="rect">
            <a:avLst/>
          </a:prstGeom>
          <a:solidFill>
            <a:srgbClr val="C4161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16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AI时代决策工作手册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AI时代决策工作手册</dc:title>
  <dc:subject>授课PPT</dc:subject>
  <dc:creator>罗宏伟</dc:creator>
  <cp:lastModifiedBy>罗宏伟</cp:lastModifiedBy>
  <cp:revision>1</cp:revision>
  <dcterms:created xsi:type="dcterms:W3CDTF">2026-07-14T08:57:00Z</dcterms:created>
  <dcterms:modified xsi:type="dcterms:W3CDTF">2026-07-14T08:57:00Z</dcterms:modified>
</cp:coreProperties>
</file>