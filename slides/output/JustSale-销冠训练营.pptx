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notesMasterIdLst>
    <p:notesMasterId r:id="rId1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1371600"/>
            <a:ext cx="137160" cy="2286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Sale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销冠训练营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从入门到精通的系统化销售训练课程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2860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美巢全屋定制 · 内部培训专用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731520"/>
            <a:ext cx="1645920" cy="1645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2926080"/>
            <a:ext cx="1097280" cy="10972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销售认知重塑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173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接触准备与破冰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173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需求探寻与呈现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310896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谈判促成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10896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销售认知重塑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重新定义销售的价值与意义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理解顾问式销售的核心特征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6072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建立销售韧性，掌握三大法宝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学会识别客户角色六分类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109728" cy="15544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4920" y="35204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072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掌握信任三维度的建立方法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同一家店，同一天，两种结局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小琳 · 失败案例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产品和价格搬运工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客户问什么就答什么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被动等待客户提问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不了解客户真实需求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只会打折促成交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88720"/>
            <a:ext cx="365760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 · 成功案例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帮客户做决定的人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468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主动引导客户思考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挖掘潜在需求和顾虑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提供专业建议方案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建立信任促进成交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销售的本质三要素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 rot="-2100000">
            <a:off x="2560320" y="2423160"/>
            <a:ext cx="1645920" cy="54864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100000">
            <a:off x="4937760" y="2423160"/>
            <a:ext cx="1645920" cy="54864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3977640"/>
            <a:ext cx="2194560" cy="54864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86200" y="1280160"/>
            <a:ext cx="1371600" cy="13716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0" y="1417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对产品、公司、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自己的信心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200400"/>
            <a:ext cx="1371600" cy="13716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83080" y="33375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520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709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客户真实的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需求和痛点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00400"/>
            <a:ext cx="1371600" cy="13716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762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3375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520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4709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客户的预算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和决策权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3317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三者缺一不可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只有同时满足信心、需求和购买力，才能完成一次成功的销售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顾问式销售三大特征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不卖产品卖专业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以专业知识和解决方案为核心，帮助客户找到最佳选择，而非单纯推销产品本身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6916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不做一锤子买卖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建立长期合作关系，重视客户终身价值，通过持续服务创造复购和转介绍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永远从客户出发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换位思考，理解客户真实需求和痛点，提供真正有价值的建议和方案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 vs 顾问式销售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4980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产品/业绩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749808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成交技巧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4980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推销员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专业顾问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1188720"/>
            <a:ext cx="137160" cy="3200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4206240"/>
            <a:ext cx="1097280" cy="1097280"/>
          </a:xfrm>
          <a:prstGeom prst="ellipse">
            <a:avLst/>
          </a:prstGeom>
          <a:solidFill>
            <a:srgbClr val="8D99AE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什么是销售韧性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销售韧性是指销售人员在面对持续拒绝、压力和挫折时，能够保持积极心态、调整策略并持续行动的心理能力。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520440"/>
            <a:ext cx="109728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被拒绝是常态，不是意外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114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每一次"不"都是通往"是"的必经之路。优秀的销售人员不是被拒绝次数最少的人，而是被拒绝后依然能坚持前行的人。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建立销售韧性三大法宝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6916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积极认知模式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80160" y="3017520"/>
            <a:ext cx="109728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将拒绝视为反馈而非失败，把每一次挫折都当作学习和成长的机会。保持乐观，专注于可控因素。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71600"/>
            <a:ext cx="256032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16916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创造小赢的能力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60520" y="3017520"/>
            <a:ext cx="109728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设定可实现的小目标，通过持续的微小成功积累信心和动力，保持积极的工作状态。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371600"/>
            <a:ext cx="256032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6916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鉴别假设的能力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40880" y="3017520"/>
            <a:ext cx="109728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区分事实与假设，不让主观臆断影响判断。客观分析拒绝原因，找到真正的问题所在。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1371600" cy="1371600"/>
          </a:xfrm>
          <a:prstGeom prst="ellipse">
            <a:avLst/>
          </a:prstGeom>
          <a:solidFill>
            <a:srgbClr val="EF233C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94560" y="12801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通俗理解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销售场景表现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8638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73152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94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销售智商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专业知识和分析能力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准确判断客户需求，提供专业解决方案，灵活应对竞争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78638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08960"/>
            <a:ext cx="73152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销售情商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人际交往和情绪管理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建立信任关系，理解客户情绪，有效沟通和协调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78638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销售逆商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抗压能力和韧性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面对拒绝不气馁，保持积极心态，持续跟进直到成功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4114800"/>
            <a:ext cx="1645920" cy="1645920"/>
          </a:xfrm>
          <a:prstGeom prst="ellipse">
            <a:avLst/>
          </a:prstGeom>
          <a:solidFill>
            <a:srgbClr val="8D99AE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客户精准洞察与角色识别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最终拍板人，拥有最终批准权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50876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434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实际使用产品或服务的人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负责采购流程和合同签署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影响决策过程，提供专业意见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30175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11880" y="32461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34340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118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负责项目落地和内部协调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传信者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传递信息，连接各方角色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343400"/>
            <a:ext cx="7863840" cy="457200"/>
          </a:xfrm>
          <a:prstGeom prst="roundRect">
            <a:avLst/>
          </a:prstGeom>
          <a:solidFill>
            <a:srgbClr val="EDF2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关键：识别每个角色，关注传信者，但重点攻克决策者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六种角色分类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5506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550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60020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投资回报、风险控制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60020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用数据说话，展示案例 ROI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30552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85416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854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130552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使用便捷、功能实用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130552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演示操作，强调易用性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60904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15768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15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60904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专业性、个人声誉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660904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提供权威资料，认可其专业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91256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191256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价格、合同条款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191256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透明报价，灵活方案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21608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76472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76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721608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流程合规、风险规避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721608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配合流程，准备完整资料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8412480" cy="484632"/>
          </a:xfrm>
          <a:prstGeom prst="roundRect">
            <a:avLst>
              <a:gd name="adj" fmla="val 7547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06824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3068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使用者+决策者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0" y="425196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自住舒适度+保值增值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4251960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情感+理性双线沟通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80060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信任三维度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建立信任的顺序：人际信任 -&gt; 专业信任 -&gt; 组织信任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人际信任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让客户喜欢你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06324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99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真诚关心客户生活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64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找到共同话题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展现真实的自己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96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保持一致性和可靠性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443484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434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14173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专业信任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3756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让客户相信你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3063240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999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展示专业知识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3429000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364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提供有效解决方案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66160" y="3794760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预测潜在问题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66160" y="4160520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4096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持续学习精进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86200" y="443484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2B2D42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886200" y="4434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能力证明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14173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1722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220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让客户安心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3796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3063240"/>
            <a:ext cx="7315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2999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公司品牌背书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3429000"/>
            <a:ext cx="7315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3364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团队协作支持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794760"/>
            <a:ext cx="7315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完善的售后体系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0" y="4160520"/>
            <a:ext cx="7315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096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长期口碑积累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4434840"/>
            <a:ext cx="1554480" cy="228600"/>
          </a:xfrm>
          <a:prstGeom prst="roundRect">
            <a:avLst>
              <a:gd name="adj" fmla="val 16000"/>
            </a:avLst>
          </a:prstGeom>
          <a:solidFill>
            <a:srgbClr val="27AE60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720840" y="4434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平台保障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0632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8978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两年后的转介绍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60320"/>
            <a:ext cx="73152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2423160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首次成交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阿哲成交一套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刚需住宅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2423160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83464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节假日发送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定制问候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83464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得知客户同事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有购房计划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423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834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成交一套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改善型住房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955280" y="2743200"/>
            <a:ext cx="640080" cy="914400"/>
          </a:xfrm>
          <a:prstGeom prst="roundRect">
            <a:avLst>
              <a:gd name="adj" fmla="val 8571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2743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84048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862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阿哲的做法：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持续维护老客户关系，在第2年不仅回购一套，还转介绍了2个新客户，总共带来</a:t>
            </a:r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3个新单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，成交金额超过500万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228600" cy="22860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4754880"/>
            <a:ext cx="137160" cy="137160"/>
          </a:xfrm>
          <a:prstGeom prst="ellipse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目标客户卡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用于后续章节练习，请打印此卡随身携带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3175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30352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目标客户信息卡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客户姓名: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家庭状况: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已婚有子女  □ 已婚无子女  □ 单身的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购房动机: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刚需  □ 改善  □ 投资  □ 其他:______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决策角色: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决策者  □ 影响者  □ 使用者  □ 购买者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关注重点: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户型  □ 地段  □ 价格  □ 学区  □ 配套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信任阶段: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人际信任  □ 专业信任  □ 组织信任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2801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填写指南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1755648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196596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901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每次带看后立即填写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42316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359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保留电子版和纸质版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816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根据进展更新状态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33756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273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用于每周客户盘 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79476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730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交接时完整转交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251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下一个练习: 角色分类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Ctrl+P 可直接打印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第一章知识框架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2194560"/>
            <a:ext cx="1280160" cy="1280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2194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2011680" cy="123444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51560" y="21031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03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45059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50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关心点分析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279806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98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案例拆解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600200"/>
            <a:ext cx="1828800" cy="123444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37960" y="210312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03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三代同住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245059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450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279806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7980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3291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信任维度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2834640"/>
            <a:ext cx="2011680" cy="86868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51560" y="4206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人际信任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1560" y="455371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553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专业信任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51560" y="490118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901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3291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2834640"/>
            <a:ext cx="1828800" cy="86868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537960" y="420624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长期维护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37960" y="455371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553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37960" y="490118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901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持续价值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57200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2B2D42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466344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572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从识别角色 → 建立信任 → 长期经营，构建完整客户转化体系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接触准备与破冰建信任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开口之前先做对的事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接触前准备功课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1089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83464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破冰链接技巧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那个没做功课就上场的下午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租房到期客户接待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没有提前了解客户的租房需求、预算、偏好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沟通中频繁冷场，无法精准推荐，被客户牵着鼻子走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</a:t>
            </a:r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磨刀不误砍柴工，接触前的信息准备决定沟通成败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接触前的信息收集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256032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基本背景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需求偏好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预算范围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11480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3716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1783080"/>
            <a:ext cx="256032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友商信息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03320" y="23317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0332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价格策略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03320" y="35204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优势卖点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703320" y="411480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6364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3716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1783080"/>
            <a:ext cx="256032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我司信息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37960" y="233172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产品优势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37960" y="292608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服务能力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352044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537960" y="411480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目标设定: 目标家族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28016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280160"/>
            <a:ext cx="109728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233172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280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成交转化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228600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0200" y="2286000"/>
            <a:ext cx="109728" cy="7772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86200" y="22860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需求认同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29184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3291840"/>
            <a:ext cx="109728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291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沟通目标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SMART原则: Specific · Measurable · Achievable · Relevant · Time-bound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自我形象管理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首因效应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第一印象决定后续判断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晕轮效应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局部优点放大为整体印象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14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34640"/>
            <a:ext cx="26517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仪容仪表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29184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着装得体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面容整洁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11480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气味清新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514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2834640"/>
            <a:ext cx="26517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20440" y="329184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站姿挺拔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20440" y="370332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坐姿端正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20440" y="411480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眼神交流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514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2834640"/>
            <a:ext cx="265176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销售礼仪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5080" y="329184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称呼得体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370332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握手礼仪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411480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明片交换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微信约访技巧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0" y="3657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沟通技巧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避免群发感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不要使用群发模板语气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用自然的聊天方式开场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带客户专属信息点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提及客户公司/行业动态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展示个性化关注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群发语气：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"您好，我是XX公司的销售..."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专属语气：</a:t>
            </a:r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"张总，上次看到贵司在AI领域有新动作..."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有效开场白构成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0" y="3657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365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记忆模因标签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16459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告知目的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清晰说明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联系原因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6459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引起注意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引起兴趣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制造话题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645920"/>
            <a:ext cx="640080" cy="6400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建议行动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明确下一步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降低门槛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开场白公式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 + 价值点 + 行动建议 = 有效开场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被已读不回 vs 被回复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已读不回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销售：张总您好，我是XX公司的销售...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客户：（已读无回复）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销售：想了解一下贵司的需求...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客户：（继续沉默）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有效回复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21031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销售：张总，上周看到贵司在AI领域有新动态，想跟您分享一下...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01752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4EDDA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客户：哦？什么动态？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销售：我们有个案例和贵司很契合...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438912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客户：明天上午可以聊聊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265176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客户的心理三区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客户有顾虑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需要消除疑虑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同理心+证据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63040"/>
            <a:ext cx="2651760" cy="1371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舒适区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客户满意现状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不愿改变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20440" y="33832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制造痛点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463040"/>
            <a:ext cx="2651760" cy="1371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2651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客户有需求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急于解决问题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832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专业展示+行动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</a:rPr>
              <a:t>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148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</a:rPr>
              <a:t>◀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8A745"/>
                </a:solidFill>
              </a:rPr>
              <a:t>◀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情感拉近六技巧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真诚赞美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发现客户亮点并具体表扬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初次接触破冰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幽默互动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适度幽默缓解紧张气氛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客户显得拘谨时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情感共鸣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分享相似经历引起认同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客户表达困难时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关注细节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记住并提及客户偏好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再次见面时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适度示弱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展现真实一面拉近距离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建立信任阶段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及时肯定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对客户决定表示认可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促成阶段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面对焦虑区客户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0" y="3657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同理心+专业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9260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案例背景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</a:t>
            </a:r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阿哲的潜在客户张总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情况：</a:t>
            </a:r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客户公司刚上线AI系统出现问题，急需解决方案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客户状态：</a:t>
            </a:r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焦虑区 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应对策略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同理心先导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展示专业能力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提供明确方案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37160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1371600"/>
            <a:ext cx="512064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对话实录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965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1945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240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"系统崩了！今天必须解决！"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0175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063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"张总，我理解您的心情，先别急，我们一起想办法..."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38404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886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"你们到底能不能解决？"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6634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4709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"我这边有5年经验，先远程帮您看看..."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开场破冰脚本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536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暖场问候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先生/女士您好，欢迎光临！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今天想看点什么类型的家具呢？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3317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36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兴趣探测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我注意到您在看这套沙发，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请问您是比较注重舒适度还是设计感呢？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23317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536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您提到家里有小朋友，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那对环保材质和耐磨性是不是比较在意？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23317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128016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536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价值共鸣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2651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完全理解！我们就专门为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有孩子的家庭研发了这款产品...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关键心法：开场前30秒决定客户80%的信任感，破冰不是寒暄，是建立连接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第二章知识框架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1920240"/>
            <a:ext cx="1645920" cy="1645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开场破冰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645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破冰的重要性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828800"/>
            <a:ext cx="12801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信任建立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需求信号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氛围营造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1645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12801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暖场技巧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兴趣探测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948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需求挖掘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3474720"/>
            <a:ext cx="1645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实操工具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931920"/>
            <a:ext cx="12801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开场脚本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话术库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场景演练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3474720"/>
            <a:ext cx="1645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3931920"/>
            <a:ext cx="12801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急于推销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忽视信号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话术生硬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1920240"/>
            <a:ext cx="1737360" cy="82296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H="1">
            <a:off x="4663440" y="1920240"/>
            <a:ext cx="1737360" cy="82296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2743200" y="2834640"/>
            <a:ext cx="1737360" cy="82296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H="1" flipV="1">
            <a:off x="4663440" y="2834640"/>
            <a:ext cx="1737360" cy="82296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474720" y="731520"/>
            <a:ext cx="54864" cy="2286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9144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需求探寻与产品呈现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749040" y="1737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把'好看实用'挖成真实需求清单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开场破冰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4480560"/>
            <a:ext cx="1463040" cy="365760"/>
          </a:xfrm>
          <a:prstGeom prst="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需求探寻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产品呈现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异议处理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逼单成交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开场破冰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2377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38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需求探寻技巧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掌握快速判断客户类型的方法，学会通过开放式提问挖掘客户真实需求，建立信任感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645920"/>
            <a:ext cx="73152" cy="2377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9202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938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78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产品介绍技巧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5603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运用FABE法则将产品特点转化为客户利益，用场景化描述让客户产生代入感和画面感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2B2D42">
              <a:alpha val="9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学习完本章后，你将能够：独立完成一次完整的开场破冰流程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望闻问切四步法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精准识别客户需求的经典四步法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(观察)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观察客户表情、穿着、办公环境、肢体语言，从中捕捉需求信号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265176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87752" y="146304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87752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闻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87752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(倾听)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24912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认真聆听客户表述，不打断，通过复述确认理解是否准确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9432" y="265176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18304" y="146304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49824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718304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(提问)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55464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用开放式问题深入探索，用封闭式问题确认判断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9984" y="265176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848856" y="146304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0376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7580376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848856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(综合判断)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86016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整合所有信息，进行系统性分析，形成精准判断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OLET聊天式提问法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让客户在轻松对话中暴露真实需求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开放起头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用开放式问题开启话题，让客户自由表达不做限制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"您最近在考虑什么问题？"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复述确认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用自己的话复述客户说的内容，确认理解是否正确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60604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"您的意思是...对吗？"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深入探索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顺着客户的回答追问细节，挖掘更深层的需求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"能具体说说是什么情况吗？"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3375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价值触发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4632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引导客户看到解决方案的价值，激发行动欲望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38912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"如果这个问题解决了会怎样？"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SPIN需求激发引导法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从现状到价值的问题漏斗，引导客户自己说服自己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40180" y="1965960"/>
            <a:ext cx="6254496" cy="73152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140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1201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问现状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了解客户目前的基本情况、产品使用现状、团队规模等基础信息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137160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4972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497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42032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问困难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42032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9192" y="31089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探询客户目前面临的困难、痛点、不满和挑战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37160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9804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28980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26864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问影响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26864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31089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深入追问这些困难对业务、业绩、团队造成了什么具体影响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11696" y="137160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4636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737463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11696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问价值反馈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11696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8856" y="31089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引导客户想象问题解决后的价值，激发购买欲望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核心逻辑：从事实到情感再到价值层层递进，让客户自己得出结论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完整的SPIN提问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场景：客户家中有6岁孩子，儿童房收纳成为痛点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1325880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您现在住的房子是多大的？儿童房大概多大面积？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3258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【现状】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77640" y="1819656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19656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三居室，儿童房大概8平米，放了床、书桌、衣柜...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134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313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2313432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23134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那确实挺紧凑的。随着孩子长大，东西越来越多，会不会感觉收纳空间不太够用？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42432" y="231343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【困难】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8072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2807208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80720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是啊！玩具、书籍、衣物堆得到处都是，收拾完第二天又乱了...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009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3009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54480" y="3300984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33009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这种乱糟糟的情况，对孩子学习注意力有没有影响？晚上找东西会不会耽误时间？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42432" y="33009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【影响】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3794760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794760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影响挺大的，他做作业总是分心，我也经常因为找东西迟到...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88536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8853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2885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54480" y="4288536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0" y="42885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如果有一套收纳系统，让孩子自己就能轻松整理，每次玩完东西都能归位，您觉得会怎样？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42432" y="4288536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【价值】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0" y="4782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77640" y="4782312"/>
            <a:ext cx="4709160" cy="438912"/>
          </a:xfrm>
          <a:prstGeom prst="roundRect">
            <a:avLst>
              <a:gd name="adj" fmla="val 16667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78231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那太好了！孩子能学会收纳，大人也轻松，而且房间整洁了客人来也有面子。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需求覆盖T模型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深度与广度兼顾，实现全面客户价值覆盖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7160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横向广度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75104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覆盖客户多维度需求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27432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2834640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纵向深度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71800" y="4663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深挖每个需求的解决方案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5087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情感需求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17830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体验需求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0574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2331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产品选型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实施交付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效果追踪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T型策略：先用广度覆盖确认全面需求，再用深度逐个击破成交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FABIE综合产品介绍法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· Advantage · Benefit · Interaction · Evidence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05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46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产品的基本属性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材质、工艺、外观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146304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456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3108960"/>
            <a:ext cx="1005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3246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与竞品对比的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146304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3192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3192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108960"/>
            <a:ext cx="1005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3246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给客户带来的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实际利益与价值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146304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66928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108960"/>
            <a:ext cx="1005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3246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通过提问了解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客户真实需求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146304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0956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79095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40664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40664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3108960"/>
            <a:ext cx="1005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3246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案例、数据证明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增强说服力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五步法帮助销售员系统化介绍产品，从特征到证据层层递进，增强说服力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4S标准设定法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· Sensory · Story · Suggestion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64592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Setting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描绘客户使用产品的具体场景，让客户产生代入感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40680" y="164592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感官体验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Experience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31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调动视觉、听觉、嗅觉、触觉等五感体验，让感受更真实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347472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474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故事讲述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用真实案例或用户故事传递产品价值，增加可信度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3246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429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40680" y="347472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5440680" y="3474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建议总结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9436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给出明确的购买建议或方案总结，推动成交决策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四步法帮助客户建立对产品的全面认知，从场景代入到行动建议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融合FABIE和4S的产品介绍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儿童房低位收纳方案 — 销售话术脚本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销售员话术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客户反应（模拟）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0136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647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张太太，您好！听说您家小朋友开始学自己整理玩具了？（互动-I）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我给您介绍一款儿童房低位收纳方案——这是专门为3-8岁小朋友设计的（特征-F）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1810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0815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普通衣柜高度对小朋友来说太高，拿取不方便（对比竞品说劣势）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66744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76472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7398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咱们这个方案把所有收纳空间降到离地40-60cm，小朋友踮脚就能够到（优势-A）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25112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34840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您看这个抽屉把手，是小朋友喜欢的卡通造型，碰一下就能打开（场景-S1）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691640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01368"/>
            <a:ext cx="292608" cy="29260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17647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嗯，是的，玩具总是扔得满地都是...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350008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459736"/>
            <a:ext cx="292608" cy="29260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4231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哦？是什么样的方案？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0083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118104"/>
            <a:ext cx="292608" cy="29260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30815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确实，每次都要我帮他拿...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666744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776472"/>
            <a:ext cx="292608" cy="29260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37398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真的吗？我看看...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325112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4434840"/>
            <a:ext cx="292608" cy="29260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43982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呵，还真挺可爱的！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方法标注：(F)特征 (A)优势 (B)利益 (I)互动 (E)证据 | (S1/S2/S3/S4) 4S步骤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SPIN提问清单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需求挖掘四步法 — 每次拜访客户时必用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05740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03911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您目前使用的是什么品牌/产品？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66090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使用多久了？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8269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209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一般什么场景下使用？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904488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8313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目前有几名使用者？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70048" y="128016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70048" y="12801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D90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2670048" y="1691640"/>
            <a:ext cx="2057400" cy="18288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2670048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70048" y="1645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问题问题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07208" y="2039112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2962656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目前遇到哪些困扰？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07208" y="2660904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2962656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哪些功能让您觉得不够满意？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07208" y="3282696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2962656" y="3209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在使用过程中有什么麻烦？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07208" y="3904488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2962656" y="38313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有什么让您觉得麻烦的地方？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82896" y="128016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82896" y="12801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2B2D42"/>
          </a:solidFill>
          <a:ln/>
        </p:spPr>
      </p:sp>
      <p:sp>
        <p:nvSpPr>
          <p:cNvPr id="33" name="Shape 31"/>
          <p:cNvSpPr/>
          <p:nvPr/>
        </p:nvSpPr>
        <p:spPr>
          <a:xfrm>
            <a:off x="4882896" y="1691640"/>
            <a:ext cx="2057400" cy="1828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882896" y="1645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暗示问题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0056" y="203911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5175504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这个问题对您工作影响大吗？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0056" y="2660904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5175504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长期不解决会有什么后果？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0056" y="3282696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5175504" y="3209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这个问题每年给您造成多少损失？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0056" y="3904488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5175504" y="38313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会影响团队效率吗？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95744" y="128016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095744" y="12801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7095744" y="1691640"/>
            <a:ext cx="2057400" cy="1828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7095744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095744" y="1645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需求回报问题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232904" y="203911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7388352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如果解决了这个问题，您会获得什么？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32904" y="2660904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2" name="Text 50"/>
          <p:cNvSpPr/>
          <p:nvPr/>
        </p:nvSpPr>
        <p:spPr>
          <a:xfrm>
            <a:off x="738835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这对您来说有多重要？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32904" y="3282696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4" name="Text 52"/>
          <p:cNvSpPr/>
          <p:nvPr/>
        </p:nvSpPr>
        <p:spPr>
          <a:xfrm>
            <a:off x="7388352" y="3209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您希望达到什么效果？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232904" y="3904488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6" name="Text 54"/>
          <p:cNvSpPr/>
          <p:nvPr/>
        </p:nvSpPr>
        <p:spPr>
          <a:xfrm>
            <a:off x="7388352" y="38313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解决这个问题后您会怎么安排？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提示: 从S到N层层递进，先了解现状(S)，再挖掘问题(P)，深挖影响(I)，最后引导价值(N)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产品介绍脚本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标准化产品介绍话术模板 — 可直接背诵使用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07592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075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1472184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4721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FABIE-I / 4S-S1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12893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您好，我是XX品牌的销售顾问XXX。听说您正在考虑装修/改造您的XX空间，对吗？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792224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922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17647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1956816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19568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SPIN-S/P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94560" y="17739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能先了解一下，您目前在这个空间主要遇到什么问题？希望达到什么效果？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203704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276856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2768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2494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2688" y="2441448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24414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FABIE-F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94560" y="2258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我们这款产品采用XX材质/工艺，具备XX特性（展示样品或图片）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88336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761488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7614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2734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优势对比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2688" y="2926080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29260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FABIE-A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19456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和市面上普通产品相比，我们多了XX功能/采用XX技术，效果更XX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234440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307592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3075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4648" y="12801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利益转化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84648" y="1472184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38" name="Text 36"/>
          <p:cNvSpPr/>
          <p:nvPr/>
        </p:nvSpPr>
        <p:spPr>
          <a:xfrm>
            <a:off x="5184648" y="14721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FABIE-B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46520" y="12893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这对您来说意味着——使用更方便/寿命更长/打理更省心，每年能节省XX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719072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1792224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17922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84648" y="17647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场景体验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84648" y="1956816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45" name="Text 43"/>
          <p:cNvSpPr/>
          <p:nvPr/>
        </p:nvSpPr>
        <p:spPr>
          <a:xfrm>
            <a:off x="5184648" y="19568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4S-S1/S2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17739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您可以想象一下，每天早上您走进这个空间...（描述具体使用场景）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2203704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2276856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2768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84648" y="22494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案例佐证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184648" y="2441448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52" name="Text 50"/>
          <p:cNvSpPr/>
          <p:nvPr/>
        </p:nvSpPr>
        <p:spPr>
          <a:xfrm>
            <a:off x="5184648" y="24414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FABIE-E / 4S-S3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46520" y="22585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就在上个月，XX小区的张先生也选了这款，用下来反馈特别好（展示案例照片）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2688336"/>
            <a:ext cx="3977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00600" y="2761488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27614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84648" y="2734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促成行动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184648" y="2926080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EDF2F4"/>
          </a:solidFill>
          <a:ln/>
        </p:spPr>
      </p:sp>
      <p:sp>
        <p:nvSpPr>
          <p:cNvPr id="59" name="Text 57"/>
          <p:cNvSpPr/>
          <p:nvPr/>
        </p:nvSpPr>
        <p:spPr>
          <a:xfrm>
            <a:off x="5184648" y="29260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4S-S4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4652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根据您的情况，我建议您选择XX方案。现在下单的话，可以享受XX优惠，要帮您预留吗？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使用说明: 每次拜访客户前，根据具体产品填写空白处，形成个性化话术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第三章知识框架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0" y="16459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645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产品呈现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13716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4320" y="30175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SPIN提问法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24612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需求层次挖掘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388620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2976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297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痛点共鸣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452628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0175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FABE法则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324612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6576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场景化展示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388620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42976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297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价值塑造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4526280"/>
            <a:ext cx="4572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需求探寻与产品呈现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异议处理技巧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先懂异议，才能对症下药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异议类型辨析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区分疑虑与异议，识别真实与虚假需求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四步处理法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 → 澄清 → 回应 → 确认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异议类型四组辨析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005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辨析要点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1645920" cy="822960"/>
          </a:xfrm>
          <a:prstGeom prst="rect">
            <a:avLst/>
          </a:prstGeom>
          <a:solidFill>
            <a:srgbClr val="EF233C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463040"/>
            <a:ext cx="1645920" cy="822960"/>
          </a:xfrm>
          <a:prstGeom prst="rect">
            <a:avLst/>
          </a:prstGeom>
          <a:solidFill>
            <a:srgbClr val="2B2D42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疑虑是提问，异议是拒绝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86000"/>
            <a:ext cx="1645920" cy="822960"/>
          </a:xfrm>
          <a:prstGeom prst="rect">
            <a:avLst/>
          </a:prstGeom>
          <a:solidFill>
            <a:srgbClr val="EF233C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286000"/>
            <a:ext cx="1645920" cy="822960"/>
          </a:xfrm>
          <a:prstGeom prst="rect">
            <a:avLst/>
          </a:prstGeom>
          <a:solidFill>
            <a:srgbClr val="2B2D42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286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0" y="2286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真实需求vs借口敷衍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108960"/>
            <a:ext cx="1645920" cy="822960"/>
          </a:xfrm>
          <a:prstGeom prst="rect">
            <a:avLst/>
          </a:prstGeom>
          <a:solidFill>
            <a:srgbClr val="EF233C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7744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3108960"/>
            <a:ext cx="1645920" cy="822960"/>
          </a:xfrm>
          <a:prstGeom prst="rect">
            <a:avLst/>
          </a:prstGeom>
          <a:solidFill>
            <a:srgbClr val="2B2D42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108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核心问题vs枝节问题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31920"/>
            <a:ext cx="1645920" cy="822960"/>
          </a:xfrm>
          <a:prstGeom prst="rect">
            <a:avLst/>
          </a:prstGeom>
          <a:solidFill>
            <a:srgbClr val="EF233C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左脑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377440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3931920"/>
            <a:ext cx="1645920" cy="822960"/>
          </a:xfrm>
          <a:prstGeom prst="rect">
            <a:avLst/>
          </a:prstGeom>
          <a:solidFill>
            <a:srgbClr val="2B2D42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931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右脑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66928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理性顾虑vs情感顾虑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异议处理总策略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828800"/>
            <a:ext cx="6400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828800"/>
            <a:ext cx="109728" cy="20116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11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先处理感情，再处理事情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情感共鸣是解决异议的第一步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475488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4754880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4754880"/>
            <a:ext cx="91440" cy="91440"/>
          </a:xfrm>
          <a:prstGeom prst="ellipse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异议处理四步法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103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情感缓和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建立信任关系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651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83464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信息澄清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了解真实诉求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103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有效解答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2064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提供解决方案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22376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0" y="2103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引导转移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转向产品价值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第一步: 情感缓和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赞美法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真诚赞美客户，建立好感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920240"/>
            <a:ext cx="640080" cy="6400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站在客户角度，表达理解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4612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703320"/>
            <a:ext cx="640080" cy="6400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羊群法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引用其他客户的选择和好评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32461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24612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0" y="3703320"/>
            <a:ext cx="640080" cy="6400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9436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反问法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通过提问引导客户表达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第二步: 信息澄清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准确了解客户真实疑虑和需求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背景澄清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了解客户提出异议的背景和场景，为什么会有这个顾虑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103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79476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源头澄清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追溯疑虑的来源，是自身经历还是外部信息影响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103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6656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细节澄清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具体了解客户关心的细节，确保完全理解真实问题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第三步: 有效解答八法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直接反驳法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用事实和数据直接回应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23444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间接转换法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将异议转化为产品优势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3444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举例证明法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用案例和客户见证说服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23444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23444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比较分析法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通过对比凸显产品价值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5468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需求引导法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引导客户发现真实需求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06040" y="315468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06040" y="315468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0" y="32918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6974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模糊应对法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69748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不正面冲突，迂回处理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15468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463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重复确认法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84632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确认理解是否准确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3154680"/>
            <a:ext cx="2011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03720" y="3154680"/>
            <a:ext cx="73152" cy="1737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9" name="Shape 47"/>
          <p:cNvSpPr/>
          <p:nvPr/>
        </p:nvSpPr>
        <p:spPr>
          <a:xfrm>
            <a:off x="7040880" y="32918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951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升级处理法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99516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必要时引入上级协助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价值比对法+权威论据法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阿哲处理预算异议的对话实战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客户异议对话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01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客户: 太贵了，超出预算了。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4231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496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阿哲: 完全理解。请问您之前了解的类似产品，大概是什么价位呢？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客户: 差不多便宜20%左右吧。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361188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36850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阿哲: 好的，我来帮您算一笔账——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价值比对法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阿哲:</a:t>
            </a:r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您说的便宜20%，但我们产品使用寿命是8-10年竞品只有5年。算下来我们年均成本反而低40%。这就是为什么选择我们的客户复购率高达85%。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3657600" cy="0"/>
          </a:xfrm>
          <a:prstGeom prst="line">
            <a:avLst/>
          </a:prstGeom>
          <a:noFill/>
          <a:ln w="12700">
            <a:solidFill>
              <a:srgbClr val="EDF2F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权威论据法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阿哲:</a:t>
            </a:r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您知道吗？中国排名前100的房地产企业，有73家都选择了我们的产品。这不是便宜的问题，是品质和实力的证明。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先认可客户，再用数据说话，最后引用权威背书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第四步: 引导转移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把注意力从价格转移到价值或其他因素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反问需求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通过提问让客户重新审视自己的真实需求，将"太贵"转化为"值不值"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"您觉得贵，是基于什么考量呢？"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17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引导体验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让客户先体验产品价值，用感受代替价格判断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14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"您先感受一下这个效果..."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246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转换配置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提供不同配置方案，让客户找到适合自己的性价比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43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"如果考虑基础版，价格会更友好"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246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活动吸引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利用限时优惠、赠品等促销手段转移价格焦点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29768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343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"正好我们在做活动..."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异议应对预案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为常见异议准备应对策略，形成标准话术库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异议类型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325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325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话术示例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价格异议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价值对比 + 成本分解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"您看到的报价差异，实际是使用寿命和服务保障的差异..."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solidFill>
            <a:srgbClr val="EDF2F4"/>
          </a:solidFill>
          <a:ln w="381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5176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697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差异点放大 + 权威背书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651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"我们和XX品牌的核心差异在于...这点是行业公认的..."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2900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预算不足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引导分期 + 活动优惠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429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"其实这个问题很好解决，我们现在有分期方案..."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EDF2F4"/>
          </a:solidFill>
          <a:ln w="3810">
            <a:solidFill>
              <a:srgbClr val="8D99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0624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紧迫感 + 限时优惠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"这个价格到月底就取消了，要不我帮您预留一个..."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2B2D42">
              <a:alpha val="1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45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提示: 准备预案时，结合具体产品特点和客户画像，形成个性化话术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第四章知识框架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0" y="21945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模块一: 异议类型辨析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21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真假异议识别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32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异议背后真实动机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44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客户情绪分析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45920"/>
            <a:ext cx="73152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920240"/>
            <a:ext cx="0" cy="137160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3716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模块二: 四步处理法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1031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14884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148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0372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共情认可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51460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5603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03720" y="2532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292608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297180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971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29443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价值传递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333756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38328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03720" y="33558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引导转移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1645920"/>
            <a:ext cx="73152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1920240"/>
            <a:ext cx="0" cy="1828800"/>
          </a:xfrm>
          <a:prstGeom prst="line">
            <a:avLst/>
          </a:prstGeom>
          <a:noFill/>
          <a:ln w="19050">
            <a:solidFill>
              <a:srgbClr val="8D99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404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价值比对法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权威论据法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2" name="Text 40"/>
          <p:cNvSpPr/>
          <p:nvPr/>
        </p:nvSpPr>
        <p:spPr>
          <a:xfrm>
            <a:off x="33832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反问需求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引导体验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转换配置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42976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活动吸引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3200400"/>
            <a:ext cx="2286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645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谈判促成技巧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把报价谈好，把单子签下来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4389120"/>
            <a:ext cx="5029200" cy="36576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4572000"/>
            <a:ext cx="1371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3886200" y="4572000"/>
            <a:ext cx="137160" cy="13716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4572000"/>
            <a:ext cx="137160" cy="137160"/>
          </a:xfrm>
          <a:prstGeom prst="rect">
            <a:avLst/>
          </a:prstGeom>
          <a:solidFill>
            <a:srgbClr val="EF233C">
              <a:alpha val="30000"/>
            </a:srgbClr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谈判认知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理解三个反直觉认知，打破价格谈判思维定式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6459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议价谈判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掌握三明治报价法和议价八法，提升成交率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交易促成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识别购买信号，运用促成六法临门一脚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谈判认知开拓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三个反直觉认知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 ≠ 只是价格问题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客户说"太贵了"，往往是在表达价值认知不足，而非预算问题。需要重新定义价值维度。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 ≠ 真的认可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客户点头、说"不错"不等于真正认可。真正的认可需要具体的承诺信号。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630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Say No ≠ 彻底放弃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"不需要"往往意味着"还没看到足够的理由"。拒绝是谈判的起点，而非终点。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核心心法：客户的表面话语背后，隐藏着更深层的动机和顾虑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三明治报价法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价值陈述 + 报价 + 价值陈述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价值陈述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先展示产品核心价值，让客户感受到"这个东西值得"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 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在客户已有价值预期的基础上报价，降低价格敏感度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价值陈述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报价后追加额外价值，强化"买得值"的感受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三明治报价法实战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98080" y="4114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411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阿哲报价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价值陈述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"这台车的主动安全系统是同价位里最全面的，包括自动紧急制动、车道保持..."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 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"落地价 24.8 万，包含全险和三年保养"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价值陈述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"而且我们提供上门试驾、专属金融方案，后续服务全程专属顾问对接"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"价格差不多，我知道有些店便宜点，但服务确实不一样..."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关键：价值陈述要在报价前建立"值得感"，报价后补充"附加感"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报价空间测算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提前算清让步上限和下限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价格空间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89154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3762756" y="1920240"/>
            <a:ext cx="54864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6292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84448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计算公式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让步空间 = 报价 - 底价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测算要点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210312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底线确认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提前算出自己能接受的最低成交价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6517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分步放价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不要一次性让到底，分2-3次释放空间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2004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条件交换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每让一步都要换回相应的价值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7490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留有余地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永远不要在第一次报价就到底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议价八法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八种策略灵活组合使用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产品价值深挖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强调核心功能和差异化卖点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46304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附加价值累加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赠品、服务、延长保修等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46304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差异价格拆解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分项报价，让价格透明化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146304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逐级递减放价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分批次释放优惠空间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97180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971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条件互换谈判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用条件换条件，争取双赢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28803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97180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2971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预设锚定条件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9748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设置前置条件改变参照系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7180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71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优质服务溢价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用服务体验支撑价格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28803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95160" y="297180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2971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9516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团队多人演绎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配合演双簧，制造稀缺感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提示：单一方法效果有限，组合使用才能形成"组合拳"效果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组合使用议价方法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365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阿哲议价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8D99AE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初始议价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"能不能便宜点？"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预设锚定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"这价格已经是活动价了，不过..."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6032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条件互换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"如果您能今天定下来的话，我可以申请..."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8D99AE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09728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97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1097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成交信号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"那就今天定吧"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1828800"/>
            <a:ext cx="548640" cy="2286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附加价值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"好，我再给您争取一套原厂脚垫"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关键：先用方法稳住价格，再用附加价值促成，而不是直接降价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购买信号捕捉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三类信号识别 + 打分参考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5176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语言信号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"差不多就行"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"这个挺合适的"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"跟家人商量下"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"能再便宜点吗"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01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"什么时候能提车"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37160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1737360"/>
            <a:ext cx="2651760" cy="1828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行为信号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主动询问售后细节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反复查看产品细节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706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开始计算费用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054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主动要求试用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401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身体前倾靠近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371600"/>
            <a:ext cx="265176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1737360"/>
            <a:ext cx="2651760" cy="1828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表情变得轻松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话语变多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706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主动开玩笑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054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眼神明亮有神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401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身体放松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打分参考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3分以上（每类至少1个信号）= 强烈促成信号  |  2分 = 继续观察  |  1分 = 尚未成熟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购买促成六法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识别信号后，抓住时机临门一脚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8132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连续肯定法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通过一连串小问题的肯定回答，让客户习惯说"是"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17627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""您觉得配置够用吧？服务满意吧？那就定下来吧？""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48132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4813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购买问询法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用选择问句代替是否问句，假设成交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93008" y="217627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""您要分期还是全款？""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48132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4813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确定促成法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18288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直接、明确地提出成交请求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088" y="217627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""我现在就帮您下单，可以吗？""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89864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898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28986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情感关系法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324612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利用情感和关系压力促成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59359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""咱们都聊这么久了，您还不相信我吗？""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93008" y="289864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2898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28986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羊群从众法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93008" y="324612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利用他人的选择影响客户决策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93008" y="359359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""这款上周刚订走5台，今天刚好到货""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9088" y="2898648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2898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28986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促销推动法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19088" y="324612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利用限时优惠、名额稀缺等刺激决策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19088" y="359359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""今天最后一天优惠，明天就恢复了""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促成实战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365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阿哲促成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8D99AE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场景：客户说"我再考虑考虑"，阿哲判断这是典型的拖延信号，决定使用连续肯定法+促销推动法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276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276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连续肯定法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"配置您都满意对吧？服务保障也没问题对吧？"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6276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"嗯，这两点没问题"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4505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450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促销推动法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"这样，今天是活动最后一天，明天恢复原价，要帮您锁定优惠吗？"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774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4505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"那行吧，今天定下来"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关键：先让客户连续说3个"是"，再用稀缺性促成，成功率大幅提升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报价与议价方案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589520" y="4114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411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产品信息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产品名称: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产品定价: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成本价: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活动价: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底价: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议价策略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首次报价: ____________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240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预备释放: ____________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最终底价: ____________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附加筹码: ____________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提示：提前填好这些空白处，谈判时才能心中有数、不慌不忙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实操产出: 促成话术脚本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589520" y="4114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411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开场破冰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（建立轻松氛围，拉近距离）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需求挖掘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（用SPIN法了解真实需求）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价值传递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（用FABE法则讲解产品）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异议处理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（先认同再转折）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促成信号捕捉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（语言/行为/情绪三类信号）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临门一脚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（选择适合的促成方法）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练习方法：对着镜子或手机录音，反复练习直到自然流畅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第五章知识框架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046720" y="365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256032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谈判认知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三个反直觉认知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价格只是表面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18211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认可要看行动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73075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拒绝是起点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1645920"/>
            <a:ext cx="256032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议价谈判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86200" y="208483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三明治报价法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86200" y="263347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报价空间测算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86200" y="318211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议价八法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86200" y="373075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组合策略运用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1645920"/>
            <a:ext cx="256032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交易促成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03720" y="208483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购买信号识别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263347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促成六法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03720" y="318211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案例实战演练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03720" y="373075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话术脚本产出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本章核心：从认知突破到技能落地，完整掌握谈判成交全流程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客户跟进与销售复盘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让关系穿越成交那一刻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1188720"/>
            <a:ext cx="548640" cy="548640"/>
          </a:xfrm>
          <a:prstGeom prst="ellipse">
            <a:avLst/>
          </a:prstGeom>
          <a:solidFill>
            <a:srgbClr val="8D99AE">
              <a:alpha val="40000"/>
            </a:srgbClr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本章学习目标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201168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客户跟进技巧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掌握离别前的铺垫、朋友圈运营、持续问候的方法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6459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销售复盘技巧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3474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学会四步复盘法，持续优化销售能力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"单子谈完之后，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才是关系真正开始的地方"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56032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案例引入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老陈的故事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老陈两年前买了车，之后每年都会介绍2-3个朋友过来。细问才知道，每次节日他都会收到销售顾问的问候，有时候是天气提醒，有时候是新车资讯，有时候只是一句简单的祝福。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863840" cy="54864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老陈两年带来三个新单 = 一次成交，三次复购机会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跟进做得好，客户的终身价值远超第一笔成交额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离别前的铺垫四要点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送别客户时说的四句话，决定下次还能不能见面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预约下次见面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"张总，下周二是我们的新车鉴赏会，我给您留个位子？"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0876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交代服务人员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"您的后续服务由小王负责，有任何问题随时联系。"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718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71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明确联系渠道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"这是我微信，有任何问题随时找我，一般当天回复。"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718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71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制造小惊喜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"给您准备了一份小礼品，放车里了，不值什么钱。"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关键：离店前的最后两分钟，决定客户会不会主动联系你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离店前的最后两分钟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365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阿哲话术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8D99AE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场景：客户签完合同准备离开，阿哲送客户到门口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727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727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600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"张总，稍等一下，给您准备了点东西放车里了。"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6916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6916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铺垫惊喜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4871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871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5146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"这是我的名片和微信，有任何问题随时联系我。"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6060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606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留下渠道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9184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4015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015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34290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"下周三我们有个车主讲堂，您要是有空可以过来坐坐。"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35204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520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预约下次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0624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3159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159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80160" y="43434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"张总慢走，有任何问题记得联系我。" + 挥手告别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443484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4434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标准送别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2B2D42">
              <a:alpha val="9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四步连贯执行，让客户感受到"这家店值得信赖"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朋友圈内容公式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真实生活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展示生活化的一面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4630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88036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专业知识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建立专业形象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4630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增强信任背书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发布示例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真实生活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"今天陪客户看车，顺路送他到地铁站，成交不是终点，服务才是开始"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32004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专业知识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"买车最容易忽略的三个坑：库存车、改装车、套餐陷阱，看完能省好几万"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2004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客户案例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5661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"恭喜张总喜提爱车，从第一次进店到成交只用了一周，感谢信任"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黄金比例：真实生活40% + 专业知识30% + 客户案例30%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持续问候的契机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选择对的时机发信息，让客户感受到关心而非骚扰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192024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节假日类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春节祝福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中秋问候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端午安康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生日祝福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1645920"/>
            <a:ext cx="192024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暴雨预警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高温提醒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台风警报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雪天路滑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645920"/>
            <a:ext cx="192024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新车上市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优惠政策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保养提醒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行业资讯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3716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1645920"/>
            <a:ext cx="192024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体育赛事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热门电影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美食推荐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旅游攻略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发消息的三个原则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有价值：让客户觉得这条信息对他有用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有温度：不只是群发，能看出是专门发的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有节制：每周不超过2次，不刷屏不骚扰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三代同住看房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客户一家五口：老两口、儿子儿媳、孙子。想买三居室，必须三代同住。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新人顾问的错误做法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只带看80㎡两居室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理由：推荐大户型怕客户嫌贵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忽略孙子教育需求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没有主动问询学校问题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没有让全家一起看房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只约了儿子一个人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客户觉得不专业，后续带看没有再约他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阿哲的正确做法 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推荐120㎡三居室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分析：三代同住是刚需，不能将就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主动问询教育和周边配套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重点介绍周边学校和公园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约了全家一起看房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让每个人都参与决策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一个月后成交，还介绍了朋友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阿哲两年后的转介绍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老陈的故事：从成交客户到超级推荐人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88920"/>
            <a:ext cx="329184" cy="329184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成交老陈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788920"/>
            <a:ext cx="329184" cy="329184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1年后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主动回访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节日问候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保持联系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788920"/>
            <a:ext cx="329184" cy="329184"/>
          </a:xfrm>
          <a:prstGeom prst="ellipse">
            <a:avLst/>
          </a:prstGeom>
          <a:solidFill>
            <a:srgbClr val="2B2D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2年后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老陈同事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买房成交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2788920"/>
            <a:ext cx="329184" cy="329184"/>
          </a:xfrm>
          <a:prstGeom prst="ellipse">
            <a:avLst/>
          </a:prstGeom>
          <a:solidFill>
            <a:srgbClr val="EF23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转介绍3+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老陈已介绍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多组客户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核心洞察: </a:t>
            </a:r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真正的销售不是卖一次，而是经营一辈子的关系。老陈两年内转介绍了3组客户，成交额超800万。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SPIN完整提问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儿童房收纳 — 完整对话示例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现状问题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您现在儿童房的收纳够用吗？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玩具一般是放在哪里的？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孩子的书本、文具多不多？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困难问题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玩具乱放会不会找不到？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书本和学习用品混在一起会不会不方便？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随着孩子长大，东西越来越多吧？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影响问题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玩具太多会不会影响孩子专注力？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如果收纳不好，会不会影响他的自理能力？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凌乱的环境会不会影响全家人的心情？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价值问题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如果有一套专门为孩子设计的收纳系统，是不是会很方便？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培养孩子自己整理的习惯，对以后很有帮助吧？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这种可调节的方案能用到孩子上大学，您觉得值吗？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002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458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99148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'有点贵啊'的两种处理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同样是处理价格异议，两种截然不同的结果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小琳 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直接降价型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这套下来有点贵啊...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7249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那给您打个9折吧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55264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2552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还是有点贵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85616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856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7856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那8.5折呢？最低了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315968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159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4315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我再考虑考虑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8D99AE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结果：客户流失，利润损失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6459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确认价值型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2194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这套下来有点贵啊...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724912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您觉得哪方面觉得贵呢？是整体预算超了，还是觉得不值这个价？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255264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32552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主要是预算超了一点...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785616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7856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37856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我理解。请问您预算大概是多少？我帮您看看有没有更合适的方案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4315968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3159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315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大概想要控制在2万以内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457200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结果：了解真实需求，赢得信任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三明治报价法实战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阿哲的成交话术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第一层: 赞美开场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"王姐，您眼光真太好了！这套房子是今年最抢手的户型，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之前有个客户看了三次才下定的，您一眼就相中了！"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第二层: 价格说明（价值铺垫）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"这套房原价210万，现在中秋特惠，直降15万，只要195万。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而且还送您5万的家电礼包，折算下来您实际只花了190万。"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第三层: 成交催促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"王姐，这个价格是限时优惠，明天就恢复了。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您现在定下来的话，我还能帮您申请提前选车位。"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438912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成交！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组合使用议价方法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阿哲的连环议价组合拳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4630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价值转换法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371600" cy="18288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0320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"张总，这套设备虽然比别家贵20万，但它能耗低30%，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一年省下的电费就够雇两个员工了。"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成本分解法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2423160"/>
            <a:ext cx="1371600" cy="18288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560320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"您算算，省下的售后成本每年轻松4万，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5年就是20万，比您砍的价还多。"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463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期限效应法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423160"/>
            <a:ext cx="1371600" cy="18288"/>
          </a:xfrm>
          <a:prstGeom prst="rect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560320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"这个优惠只在月底前有效，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下个月厂家就调价了，最多涨8个点。"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4630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闭店成交法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2423160"/>
            <a:ext cx="1371600" cy="18288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560320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"张总，今天就定下来的话，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我额外送您两年延保服务。"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3484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3796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连环出击，一气呵成！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购买信号捕捉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识别客户的成交暗示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反复确认细节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"这个户型图能给我吗？"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"物业费怎么算？"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客户主动索取资料，说明已有意向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👨‍👩‍👧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463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带人来看房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第二次带家人/朋友到场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让身边的人发表意见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3774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重要决策需要亲友背书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1463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询问优惠空间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"最低能优惠多少？"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"有没有其他费用？"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3774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开始考虑预算，接近成交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催促时间节点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"最快什么时候能交房？"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"赶着入住，能提前吗？"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有明确的时间压力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3192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关注功能细节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2900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"这个房间能改主卧吗？"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"厨房能放对开门冰箱吗？"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406908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开始规划实际使用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560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主动拉近关系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63640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叫你老弟/小某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聊家常、说个人情况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406908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信任建立，卸下防备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促成实战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阿哲的双法联动成交术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确定促成法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"李总，您看这方案您也满意，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我们就先把合同签了？"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"等一下，我还要再考虑考虑..."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566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F233C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要点：不要停，直接进入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购买问询法，不给客户犹豫时间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购买问询法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"李总，您是在考虑价格，还是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对方案本身还有疑虑？"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"价格是一方面，主要是想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再比较一下别家..."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566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结果：锁定真实顾虑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针对性解决，顺利成交！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离店前的最后两分钟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阿哲的送客话术模板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36576" cy="237744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219456" cy="219456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6184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6184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表达感谢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8191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"王姐，今天您能专程过来了解，真的非常感谢！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您的时间很宝贵，能坐下来听我介绍，我特别珍惜。"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219456" cy="219456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2585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22585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强化印象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22199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"这套房子确实很适合您，户型方正，采光也好，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您眼光很准，后期装修完效果肯定特别棒。"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971800"/>
            <a:ext cx="219456" cy="219456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898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留下钩子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8620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"下周我们有个业主品鉴会，我特意给您留个名额，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到时候来现场看看样板间，您感受会更直观。"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611880"/>
            <a:ext cx="219456" cy="21945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538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538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约定再访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50215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"您看这周末方便吗？我开车接您再来一趟，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到时候我把详细的方案和优惠给您准备好。"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关键：送客不是结束，是下次拜访的开始！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目标客户卡模板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职位：_______________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公司：_______________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来源渠道：_______________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核心需求：____________________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预算范围：____________________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决策周期：____________________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关键决策人：____________________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跟进记录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         方式          内容简述          下次跟进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____/__/__    □电话 □拜访 □微信    _________________    ____/__/__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005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____/__/__    □电话 □拜访 □微信    _________________    ____/__/__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261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____/__/__    □电话 □拜访 □微信    _________________    ____/__/__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沟通准备计划表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产品知识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产品特点/优势/竞品对比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价格体系/促销政策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常见问题应答话术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待准备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已熟悉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准备3个成功案例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468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客户背景/组织架构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决策链/关键人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历史购买记录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待准备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已熟悉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确认KP姓名职位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786384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异议准备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预判3个核心异议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准备应对话术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准备优惠方案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2004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待准备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已熟悉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价格/质量/交期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道具准备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名片/宣传资料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产品样品/演示工具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签约准备资料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待准备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已熟悉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提前检查完整性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提示：每次拜访前检查以上准备项，确保沟通高效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开场破冰脚本模板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四步开场结构 - 快速建立信任与好感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5087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问候寒暄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拉近距离，消除紧张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88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"您好！张总您好，久仰大名啊！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我是XX公司的王XX，之前和您通过电话。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今天专程来拜访您，非常感谢您抽出时间！"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提示：表情微笑，眼神交流，握手适度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0" y="137160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5087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5176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赞美切入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真诚赞美，打开话题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269748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2788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"早就听说张总在行业内非常有影响力，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这次能有机会和您交流，我感到非常荣幸。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您公司的XX做法在业内可是标杆啊！"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5176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提示：赞美要具体、真实，切忌虚假夸张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15087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价值预告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激发兴趣，引入正题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69748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788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"今天来访，主要是希望和您分享一些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同行业在做XX方面的新思路，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应该对您开拓市场有一定参考价值。"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提示：只说价值，不谈产品，让客户好奇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766560" y="1371600"/>
            <a:ext cx="1920240" cy="3108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52360" y="15087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5800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顺势入题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自然过渡，正题引入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269748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788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"不知道张总现在在XX方面有没有什么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正在思考的问题或困扰？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我可以结合我们的经验，的和您聊聊。"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提示：以开放式问题收尾，引出需求探讨</a:t>
            </a:r>
            <a:endParaRPr lang="en-US" sz="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SPIN提问清单模板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挖掘客户需求的专业提问框架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现状型问题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您目前使用的是什么产品/服务？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使用多长时间了？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目前有多少人在使用？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每月的使用量大概是多少？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您是通过什么渠道购买的？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问题型问题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Questions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使用过程中有没有遇到什么问题？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94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哪些方面让您感觉不太满意？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377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有没有让您感到头疼的地方？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这个问题给您带来了什么困扰？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您希望改进哪些方面？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影响型问题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 Questions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这个问题对您的工作有什么影响？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对您的团队效率有多大影响？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这个问题会造成多大的损失？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有没有影响到客户满意度？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6032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长期下去会有什么后果？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949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需求型问题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Need-Payoff Questions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如果解决了这个问题，对您意味着什么？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060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这对您的业务发展有多大的帮助？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您希望通过这次采购达到什么效果？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6656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如果问题解决了，谁会受益最多？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您觉得优先解决这个问题的价值在哪里？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提示：从S到P到I到N层层递进，让客户自己意识到需求，最终成交水到渠成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产品介绍脚本模板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FABIE+4S产品介绍法 - 让客户听得懂、记得住、有共鸣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4356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产品特点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产品的具体特性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功能参数等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29968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21408" y="13258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0048" y="14356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267004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67128" y="19659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67128" y="2167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优势说明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23774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相比竞品的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94176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85616" y="13258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4256" y="14356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31336" y="19659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31336" y="2167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客户利益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31336" y="23774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能给客户带来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什么实际好处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58384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49824" y="13258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98464" y="14356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998464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95544" y="19659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95544" y="2167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影响价值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95544" y="23774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对客户业务的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深远影响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22592" y="18745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14032" y="132588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62672" y="143560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766267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59752" y="19659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59752" y="2167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证据展示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9752" y="23774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案例/数据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增强可信度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4S表达原则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33375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143000" y="34747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1143000" y="3474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简单易懂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不说专业术语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用客户能理解的语言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06040" y="33375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34747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3474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9748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具体明确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69748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不用模糊词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给出具体数字和案例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3375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40680" y="34747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52" name="Text 50"/>
          <p:cNvSpPr/>
          <p:nvPr/>
        </p:nvSpPr>
        <p:spPr>
          <a:xfrm>
            <a:off x="5440680" y="3474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Scenic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4632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场景化描述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4632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描述具体使用场景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让客户产生画面感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03720" y="333756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89520" y="34747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57" name="Text 55"/>
          <p:cNvSpPr/>
          <p:nvPr/>
        </p:nvSpPr>
        <p:spPr>
          <a:xfrm>
            <a:off x="7589520" y="3474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9516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强有力结尾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9516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总结核心价值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给客户留下深刻印象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异议应对预案表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四步法处理客户异议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7373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认可客户提出的异议，表达理解和尊重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示例话术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您说得很有道理，很多客户都有类似的顾虑...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7373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8892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肯定客户的判断力或专业度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352044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示例话术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88920" y="3840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您的分析非常专业，一看就是对产品有深入了解...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7373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8348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巧妙转移话题，引导到产品优势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52044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示例话术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3840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其实这个问题可以通过另一个角度来看...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15544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26680" y="17373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77266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7804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确认客户是否满意，得到积极回应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3520440"/>
            <a:ext cx="1371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示例话术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78040" y="3840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这样解释您觉得清楚吗？还有其他问题吗？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核心原则：先认同，再引导，最后确认 — 避免直接反驳客户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报价与议价方案表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议价空间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让步顺序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0972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高价报价法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6916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礼品 &gt; 赠品 &gt; 服务 &gt; 价格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6916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中价报价法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2860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&gt; 赠品 &gt; 礼品 &gt; 价格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28600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低价报价法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28803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 &gt; 服务 &gt; 赠品 &gt; 礼品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8803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组合报价法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3474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474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 &gt; 服务 &gt; 单品 &gt; 礼品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3474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343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议价关键原则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4800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永远不要第一个开口降价 — 让客户先提出期望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每次让步都要换取相应回报，不能单方面让步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守住底线，低于底线必须请示，不能私自承诺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促成话术脚本模板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075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促成信号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377440" cy="1371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3911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客户询问交车时间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客户询问贷款/分期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3639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客户询问售后保障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8503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客户反复比较车型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客户主动索要名片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051560"/>
            <a:ext cx="265176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12801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13075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69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话术类型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66160" y="1828800"/>
            <a:ext cx="2377440" cy="1371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611880" y="203911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1965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直接促成：「那就帮您下单吧」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258775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选择促成：「您要黑色还是白色？」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313639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紧迫促成：「这款月底就没了」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368503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3611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从众促成：「很多客户都选这款」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11880" y="423367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3794760" y="41605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让步促成：「我可以帮您申请...」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1051560"/>
            <a:ext cx="265176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8" name="Shape 36"/>
          <p:cNvSpPr/>
          <p:nvPr/>
        </p:nvSpPr>
        <p:spPr>
          <a:xfrm>
            <a:off x="6537960" y="128016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13075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示例话术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37960" y="1828800"/>
            <a:ext cx="2377440" cy="1371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2" name="Shape 40"/>
          <p:cNvSpPr/>
          <p:nvPr/>
        </p:nvSpPr>
        <p:spPr>
          <a:xfrm>
            <a:off x="6583680" y="203911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「王总，您看配置都满意的话，我今天就帮您锁定这台车？」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272491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2651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「这个颜色现在最受欢迎，上周刚到了20台，现在就剩3台了。」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341071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「如果您今天订的话，赠品我可以多给您争取一套。」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F233C">
              <a:alpha val="9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黄金时机：客户主动询问 = 购买意向最强信号，立即促成不要犹豫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跟进计划表模板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客户跟进时间节点管理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跟进时间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188720" cy="54864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3716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2103120" cy="54864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9339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首次接待当天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1993392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99339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电话/微信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1993392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93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感谢接待，确认需求细节，发送产品资料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993392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9933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加深印象，建立联系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993392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19456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99339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已联系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15184"/>
            <a:ext cx="1371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61518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第2-3天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2615184"/>
            <a:ext cx="11887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261518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2615184"/>
            <a:ext cx="21031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615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发送客户关注车型的使用视频和用户评价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2615184"/>
            <a:ext cx="16459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6151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持续影响，强化兴趣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615184"/>
            <a:ext cx="1371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281635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61518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36976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23697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0" y="3236976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240" y="323697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17520" y="3236976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32369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询问看车后感受，预约再次到店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3236976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32369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推动到店，促进面谈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3236976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34381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323697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858768"/>
            <a:ext cx="1371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8587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第14天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0" y="3858768"/>
            <a:ext cx="11887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38587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短信/微信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3858768"/>
            <a:ext cx="21031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3858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发送限时优惠信息，制造紧迫感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20640" y="3858768"/>
            <a:ext cx="164592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38587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刺激决策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66560" y="3858768"/>
            <a:ext cx="1371600" cy="548640"/>
          </a:xfrm>
          <a:prstGeom prst="rect">
            <a:avLst/>
          </a:prstGeom>
          <a:solidFill>
            <a:srgbClr val="EDF2F4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03720" y="4059936"/>
            <a:ext cx="146304" cy="146304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8" name="Text 56"/>
          <p:cNvSpPr/>
          <p:nvPr/>
        </p:nvSpPr>
        <p:spPr>
          <a:xfrm>
            <a:off x="6858000" y="38587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待跟进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目标客户完整复盘报告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客户概况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基本信息（姓名/电话/来源）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购车预算与时间节点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关注车型与配置偏好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0515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51560"/>
            <a:ext cx="54864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161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1508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核心需求（为什么买）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决策关键因素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潜在顾虑与障碍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0515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051560"/>
            <a:ext cx="54864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跟进过程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087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跟进时间线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沟通方式与内容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关键转折点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88920"/>
            <a:ext cx="54864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2898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成交结果与金额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成交周期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利润贡献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788920"/>
            <a:ext cx="54864" cy="1554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31920" y="2898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经验教训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32461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改进行动计划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7889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B2D42">
              <a:alpha val="9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复盘目的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通过系统复盘，沉淀成功经验，识别改进机会，持续提升销售能力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建议每周完成一次重点客户复盘，持续优化销售策略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角色识别速查表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六种客户角色及应对策略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角色名称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822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典型特征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430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主导决策者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态度强势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0756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直接做决定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7685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注重效率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697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直接沟通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898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突出价值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099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简化流程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14300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141732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430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专业审核者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16459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1874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关注细节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0756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理性分析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227685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谨慎决策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468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2697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提供数据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2898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展示案例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29000" y="3099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耐心解答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143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14300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141732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11430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16459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1874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反复比价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07568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追求优惠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27685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延迟决策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468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2697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强调性价比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898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限时优惠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099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附加价值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1089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10896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338328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社交型买家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" y="3840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健谈友善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" y="4041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重视关系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" y="4242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需要认同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44348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4360" y="46634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建立信任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" y="48646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情感共鸣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" y="506577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社交认可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91840" y="31089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1840" y="310896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58" name="Shape 56"/>
          <p:cNvSpPr/>
          <p:nvPr/>
        </p:nvSpPr>
        <p:spPr>
          <a:xfrm>
            <a:off x="3291840" y="338328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9" name="Text 57"/>
          <p:cNvSpPr/>
          <p:nvPr/>
        </p:nvSpPr>
        <p:spPr>
          <a:xfrm>
            <a:off x="329184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沉默型客户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383280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429000" y="3840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话少内敛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429000" y="4041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不易透露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29000" y="4242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独立判断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383280" y="44348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429000" y="46634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观察细节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429000" y="48646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适时提问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29000" y="506577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给足空间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31089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26480" y="310896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2B2D42"/>
          </a:solidFill>
          <a:ln/>
        </p:spPr>
      </p:sp>
      <p:sp>
        <p:nvSpPr>
          <p:cNvPr id="70" name="Shape 68"/>
          <p:cNvSpPr/>
          <p:nvPr/>
        </p:nvSpPr>
        <p:spPr>
          <a:xfrm>
            <a:off x="6126480" y="3383280"/>
            <a:ext cx="269748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1" name="Text 69"/>
          <p:cNvSpPr/>
          <p:nvPr/>
        </p:nvSpPr>
        <p:spPr>
          <a:xfrm>
            <a:off x="612648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犹豫观望者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217920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263640" y="38404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决策周期长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263640" y="404164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需要推动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63640" y="424281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害怕风险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217920" y="44348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63640" y="466344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促单技巧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263640" y="48646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案例背书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63640" y="5065776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限时激励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购买信号打分练习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根据客户表现评估购买意向 (频率×强度=小计)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信号类型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1430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表现描述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143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频率(1-5)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66360" y="114300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143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强度(1-5)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719072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1907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语言信号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171907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询问优惠有效期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719072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7190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1719072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7190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719072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7190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2276856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7685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语言信号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00200" y="2276856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22768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多次比较产品差异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276856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2768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66360" y="2276856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2768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2276856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227685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28346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34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行为信号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00200" y="28346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02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主动索要联系方式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28346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834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166360" y="28346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2834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26480" y="28346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2834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7200" y="3392424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39242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行为信号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600200" y="3392424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00200" y="33924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仔细查看产品细节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06240" y="3392424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339242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166360" y="3392424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339242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126480" y="3392424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339242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7200" y="395020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9502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态度信号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600200" y="395020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00200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表现出明确兴趣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06240" y="395020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39502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166360" y="395020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39502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126480" y="395020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395020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7200" y="4507992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5079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态度信号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600200" y="450799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00200" y="4507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主动介绍需求情况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06240" y="4507992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45079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166360" y="4507992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DF2F4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66360" y="45079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126480" y="4507992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F233C"/>
          </a:solidFill>
          <a:ln/>
        </p:spPr>
      </p:sp>
      <p:sp>
        <p:nvSpPr>
          <p:cNvPr id="74" name="Text 72"/>
          <p:cNvSpPr/>
          <p:nvPr/>
        </p:nvSpPr>
        <p:spPr>
          <a:xfrm>
            <a:off x="6126480" y="450799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57200" y="520293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总分: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463040" y="5202936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77" name="Text 75"/>
          <p:cNvSpPr/>
          <p:nvPr/>
        </p:nvSpPr>
        <p:spPr>
          <a:xfrm>
            <a:off x="1463040" y="52029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2743200" y="520293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购买意向评估: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206240" y="520293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术语速查: 第一章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掌握核心概念，夯实销售基础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以专业顾问身份帮助客户解决问题，而非单纯推销产品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销售三要素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需求、预算、决策权 - 成交的三大前提条件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销售韧性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面对拒绝时保持积极心态，持续跟进的能力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角色识别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准确判断客户在购买决策中的角色和影响力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信任三维度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专业信任、关系信任、机构信任的建立过程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术语速查: 第二章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目标管理与开场技巧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目标家族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终极目标、商业目标、行动目标 - 三层目标体系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SMART原则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具体、可衡量、可达成、相关性、时限性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首因效应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第一印象决定后续交往基调的心理学效应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记忆模因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容易被记忆传播的信息单元，提高品牌记忆度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心理三区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舒适区、学习区、恐慌区 - 客户心理状态划分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术语速查: 第三章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需求挖掘与产品呈现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望闻问切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观察、倾听、询问、确认 - 需求诊断四步法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观察、倾听、探索、确认 - 需求挖掘流程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情景、问题、暗示、需求 - 深挖客户需求的经典模型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特征、优势、利益、证据、情感 - 产品呈现法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规格、结构、方案、服务 - 产品介绍框架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术语速查: 第四章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异议处理与应对策略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异议四组辨析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真假异议、隐藏异议、逻辑异议、情感异议的区分方法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接受、倾听、回应、确认 - 异议处理基本流程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八种解答方法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但是、感觉、认为、故事、转换、第三方、引导、假设法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术语速查: 第五章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报价谈判与成交技巧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三明治报价法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价值+价格+价值的报价结构，降低价格敏感度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议价八法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锚定、拆分、附加、置换、交换、蚕食、底线、收尾法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购买信号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客户表现出的潜在成交意向的行为暗示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840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促成六法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直接、选择、有限、限时、从众、馈赠促成法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课后作业: 第一章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顾问式销售基础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目标客户卡填写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选择一个真实或模拟的目标客户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填写客户基本信息：姓名、职位、公司规模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分析客户需求：核心需求、扩展需求、潜在需求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识别客户角色：决策者、使用者、影响者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评估信任基础：专业信任、关系信任、机构信任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课后作业: 第三章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需求挖掘与产品呈现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产品介绍脚本检查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选择一款主推产品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用FABIE框架编写产品介绍脚本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检查是否包含：特征、优势、利益、证据、情感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用4S框架检查介绍结构：规格、结构、方案、服务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练习并计时，确保3分钟内完成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课后作业: 第四章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异议处理与应对策略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异议应对预案朗读检查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列出常见的5个客户异议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用四步法为每个异议编写应对话术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练习使用八种解答方法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朗读背诵，确保语气自然流畅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模拟演练，录音回听改进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课后作业: 第五章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报价谈判与成交技巧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完整流程演练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完整演练：从开场到成交的全流程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运用三明治报价法进行报价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识别并把握购买信号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使用促成六法尝试成交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记录演练视频，分析改进点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课后作业: 第六章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客户维护与持续经营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复盘报告分享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选择一个成交案例进行完整复盘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用四步复盘法分析：回顾、分析、总结、改进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评估离别前铺垫的执行情况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制定下一阶段的客户维护计划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在小组内分享复盘报告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78638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销售三要素模型图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0" y="914400"/>
            <a:ext cx="-1425367" cy="246888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46633" y="3383280"/>
            <a:ext cx="2850733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97367" y="3383280"/>
            <a:ext cx="-1425367" cy="-246888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457200"/>
            <a:ext cx="914400" cy="9144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51960" y="594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777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9433" y="2926080"/>
            <a:ext cx="914400" cy="9144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26593" y="3063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89433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40167" y="2926080"/>
            <a:ext cx="914400" cy="9144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77327" y="3063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540167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需求: 客户的核心诉求与痛点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预算: 客户的支付能力与预期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决策权: 客户的购买决策影响力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顾问式销售特征图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011680" cy="1463040"/>
          </a:xfrm>
          <a:prstGeom prst="ellipse">
            <a:avLst/>
          </a:prstGeom>
          <a:solidFill>
            <a:srgbClr val="EF233C">
              <a:alpha val="3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2103120"/>
            <a:ext cx="2011680" cy="1463040"/>
          </a:xfrm>
          <a:prstGeom prst="ellipse">
            <a:avLst/>
          </a:prstGeom>
          <a:solidFill>
            <a:srgbClr val="2B2D42">
              <a:alpha val="30000"/>
            </a:srgbClr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2560320"/>
            <a:ext cx="2011680" cy="1463040"/>
          </a:xfrm>
          <a:prstGeom prst="ellipse">
            <a:avLst/>
          </a:prstGeom>
          <a:solidFill>
            <a:srgbClr val="8D99AE">
              <a:alpha val="30000"/>
            </a:srgbClr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286000" cy="32004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01168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以客户为中心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诊断优于推销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价值大于价格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长期关系导向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专业可信形象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SPIN模型图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9202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459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了解客户现状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基本情況询问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71800" y="1463040"/>
            <a:ext cx="19202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7180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挖掘客户痛点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困难点询问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212080" y="1463040"/>
            <a:ext cx="19202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6459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放大客户痛苦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影响度询问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452360" y="1463040"/>
            <a:ext cx="19202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16459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5236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Need-Payoff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5236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952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呈现解决方案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回报度询问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通过层层递进的提问，挖掘客户真实需求并呈现价值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异议处理四步法图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32588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17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13258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1325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先接受客户异议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表示理解与尊重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6400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54480" y="233172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4231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77440" y="2331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认真倾听完整内容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确认真实诉求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200400"/>
            <a:ext cx="6400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54480" y="333756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0" y="3337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用八种方法解答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提供解决方案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206240"/>
            <a:ext cx="6400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54480" y="434340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44348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377440" y="4343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66160" y="4343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确认客户理解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获得认同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三明治报价法图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280160"/>
            <a:ext cx="5486400" cy="1051560"/>
          </a:xfrm>
          <a:prstGeom prst="roundRect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产品价值与优势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强调独特卖点与核心价值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423160"/>
            <a:ext cx="5486400" cy="1051560"/>
          </a:xfrm>
          <a:prstGeom prst="round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真实价格呈现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诚实透明的报价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3566160"/>
            <a:ext cx="5486400" cy="1051560"/>
          </a:xfrm>
          <a:prstGeom prst="roundRect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附加价值与保障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服务保障与售后承诺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280160"/>
            <a:ext cx="118872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4630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286000"/>
            <a:ext cx="1005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先说价值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再说价格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最后强化价值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让客户感受到"贵有所值"，降低价格敏感度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销售复盘四步法图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23360" y="2103120"/>
            <a:ext cx="1097280" cy="10972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7432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217920" y="1371600"/>
            <a:ext cx="0" cy="237744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217920" y="3749040"/>
            <a:ext cx="-27432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0" y="3749040"/>
            <a:ext cx="0" cy="-2377440"/>
          </a:xfrm>
          <a:prstGeom prst="line">
            <a:avLst/>
          </a:prstGeom>
          <a:noFill/>
          <a:ln w="25400">
            <a:solidFill>
              <a:srgbClr val="8D99A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60320" y="822960"/>
            <a:ext cx="164592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400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051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重现场景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客观描述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822960"/>
            <a:ext cx="164592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6400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1051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找原因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析得失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3200400"/>
            <a:ext cx="164592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7880" y="30175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提炼经验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固化方法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200400"/>
            <a:ext cx="164592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175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优化行动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持续迭代，不断提升销售能力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常见误区: 模块一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顾问式销售基础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急于求成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一上来就推销产品，不了解客户需求就强行推荐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忽视信任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只关注产品本身，不注重建立专业信任和关系信任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角色模糊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把自己定位为推销员，而不是客户的顾问伙伴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常见误区: 模块二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目标管理与开场技巧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目标模糊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没有明确的商业目标和行动目标，随缘成交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开场生硬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一开口就介绍产品，让客户感到被推销而非被服务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忽视首因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不注意第一印象，没有利用好记忆模因建立印象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常见误区: 模块三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需求挖掘与产品呈现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问而不听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机械提问，不注意倾听客户的反馈和暗示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介绍冗长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产品介绍没有重点，客户听得昏昏欲睡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忽视FABIE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只讲产品特征，不讲客户利益和情感价值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第一章要点回顾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销售心态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接受拒绝是常态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保持积极韧性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长期主义导向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96596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销售模式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顾问式销售定义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与传统销售区别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96596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角色识别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客户角色分析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决策链识别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影响力评估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6596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96596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10312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专业信任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关系信任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机构信任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第二章要点回顾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3291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2004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目标家族三层体系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SMART原则设定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商业目标分解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行动目标执行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137160" cy="3291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开场技巧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011680"/>
            <a:ext cx="32004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1945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首因效应应用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记忆模因设计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破冰话术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价值预告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第三章要点回顾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3291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32004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望闻问切四步法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OLET需求流程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SPIN深度提问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客户痛点识别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91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137160" cy="32918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产品呈现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011680"/>
            <a:ext cx="3200400" cy="1828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1945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FABIE呈现法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4S介绍结构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价值利益转化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证据展示技巧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371600"/>
            <a:ext cx="9144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Sale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销冠训练营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感谢参与本次培训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联系我们: training@company.com  |  电话: 400-XXX-XXXX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121</Slides>
  <Notes>121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 Sale · 销冠训练营</dc:title>
  <dc:subject>两 天 成 交 特 训</dc:subject>
  <dc:creator>阿哲</dc:creator>
  <cp:lastModifiedBy>阿哲</cp:lastModifiedBy>
  <cp:revision>1</cp:revision>
  <dcterms:created xsi:type="dcterms:W3CDTF">2026-06-26T16:24:00Z</dcterms:created>
  <dcterms:modified xsi:type="dcterms:W3CDTF">2026-06-26T16:24:00Z</dcterms:modified>
</cp:coreProperties>
</file>