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365760" cy="20116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认知卸载警示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辩论时过度依赖AI的隐性代价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3657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0" y="731520"/>
            <a:ext cx="1371600" cy="137160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828800"/>
            <a:ext cx="914400" cy="914400"/>
          </a:xfrm>
          <a:prstGeom prst="ellipse">
            <a:avLst/>
          </a:prstGeom>
          <a:solidFill>
            <a:srgbClr val="D90429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3200400"/>
            <a:ext cx="731520" cy="731520"/>
          </a:xfrm>
          <a:prstGeom prst="ellipse">
            <a:avLst/>
          </a:prstGeom>
          <a:solidFill>
            <a:srgbClr val="8D99AE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认知卸载现象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67512" y="1828800"/>
            <a:ext cx="36576" cy="22860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自我诊断三征兆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7512" y="2514600"/>
            <a:ext cx="36576" cy="22860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先想后AI法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" y="3200400"/>
            <a:ext cx="36576" cy="22860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脱稿演练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7512" y="3886200"/>
            <a:ext cx="36576" cy="22860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可持续独立思考习惯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9600" y="1371600"/>
            <a:ext cx="731520" cy="3200400"/>
          </a:xfrm>
          <a:prstGeom prst="rect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1828800"/>
            <a:ext cx="365760" cy="2286000"/>
          </a:xfrm>
          <a:prstGeom prst="rect">
            <a:avLst/>
          </a:prstGeom>
          <a:solidFill>
            <a:srgbClr val="D90429">
              <a:alpha val="2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一个令人担忧的现象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2560320"/>
          </a:xfrm>
          <a:prstGeom prst="ellipse">
            <a:avLst/>
          </a:prstGeom>
          <a:solidFill>
            <a:srgbClr val="8D99AE">
              <a:alpha val="15000"/>
            </a:srgbClr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0" y="246888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EF233C">
              <a:alpha val="20000"/>
            </a:srgbClr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AI工具越来越多地被用于辩论准备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4206240"/>
            <a:ext cx="1097280" cy="54864"/>
          </a:xfrm>
          <a:prstGeom prst="rect">
            <a:avLst/>
          </a:prstGeom>
          <a:solidFill>
            <a:srgbClr val="D904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课程路线图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7680960" cy="36576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认知卸载现象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认识AI如何改变思维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2860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8346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自我诊断三征兆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3520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识别依赖信号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2860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8346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先想后AI法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520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重建思考流程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2860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28346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脱稿演练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3520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实战练习技巧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22860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8346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可持续习惯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3520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建立长期能力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2423160"/>
            <a:ext cx="228600" cy="91440"/>
          </a:xfrm>
          <a:prstGeom prst="rect">
            <a:avLst/>
          </a:prstGeom>
          <a:solidFill>
            <a:srgbClr val="D904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认知卸载现象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认识AI如何悄然改变你的思维方式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383280"/>
            <a:ext cx="182880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4114800"/>
            <a:ext cx="1097280" cy="109728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什么是认知卸载？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16459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认知卸载是指大脑将信息处理和存储的任务外包给外部工具（如AI、智能手机、笔记应用等），以减轻认知负担的行为。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概念起源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认知卸载（Cognitive Offloading）最早由心理学家提出，用于描述人类如何使用外部资源来扩展认知能力。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3017520"/>
            <a:ext cx="1097280" cy="1097280"/>
          </a:xfrm>
          <a:prstGeom prst="ellipse">
            <a:avLst/>
          </a:prstGeom>
          <a:solidFill>
            <a:srgbClr val="EF233C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3383280"/>
            <a:ext cx="365760" cy="365760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认知卸载的日常例子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0" cy="73152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用GPS代替记路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508760"/>
            <a:ext cx="731520" cy="73152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9768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用手机存联系人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508760"/>
            <a:ext cx="731520" cy="73152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8660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用笔记应用记录想法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08960"/>
            <a:ext cx="731520" cy="73152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0876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用日历提醒代替记忆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27889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108960"/>
            <a:ext cx="731520" cy="73152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9768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用计算器代替心算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27889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108960"/>
            <a:ext cx="731520" cy="73152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8660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用AI生成内容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大脑神经机制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神经可塑性变化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频繁使用外部工具会改变大脑神经网络结构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前额叶皮层（负责深度思考）活跃度下降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海马体（负责记忆）可能萎缩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神经突触连接强度改变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2560320" cy="2926080"/>
          </a:xfrm>
          <a:prstGeom prst="ellipse">
            <a:avLst/>
          </a:prstGeom>
          <a:solidFill>
            <a:srgbClr val="8D99AE">
              <a:alpha val="15000"/>
            </a:srgbClr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645920"/>
            <a:ext cx="914400" cy="91440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2103120"/>
            <a:ext cx="731520" cy="731520"/>
          </a:xfrm>
          <a:prstGeom prst="ellipse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743200"/>
            <a:ext cx="914400" cy="73152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前额叶皮层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海马体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D90429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大脑用进废退——越依赖外部工具，内在能力越弱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记忆系统的改变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8D99A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自然记忆模式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信息经过深度加工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形成长期记忆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知识关联性强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提取速度快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D90429">
              <a:alpha val="8000"/>
            </a:srgbClr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AI辅助记忆模式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信息直接外部存储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依赖检索而非记忆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知识碎片化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提取依赖设备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27432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当信息存储外部化，大脑的记忆编码能力正在弱化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3931920"/>
            <a:ext cx="822960" cy="82296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批判性思维的弱化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分析能力下降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习惯直接获取答案，丧失独立分析问题的动力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75688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128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21671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逻辑推理弱化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328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依赖AI生成论点，自己不再进行逻辑推演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54096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9125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1455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创新思维受限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1129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AI生成的内容形成思维定式，难以突破框架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32504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69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41239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判断力受损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48970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无法辨别AI生成内容的真实性和局限性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D90429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批判性思维是辩论的核心能力——一旦丧失，辩论失去意义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科学研究发现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受调查者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承认在辩论前过度依赖AI工具准备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记忆能力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长期使用AI辅助的人群记忆测试分数下降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0116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依赖风险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520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频繁使用AI者批判性思维测试得分仅为偶尔使用者的1/3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936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专家认同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心理学专家认为AI辅助学习存在认知风险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数据来源：多项认知心理学研究综合 (2019-2024)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7432" cy="320040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4389120"/>
            <a:ext cx="5029200" cy="27432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703320"/>
            <a:ext cx="640080" cy="685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9424" y="3511296"/>
            <a:ext cx="640080" cy="87782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2249424" y="3191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9424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67328" y="3154680"/>
            <a:ext cx="640080" cy="1234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3767328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67328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85232" y="2798064"/>
            <a:ext cx="640080" cy="159105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2478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85232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2414016"/>
            <a:ext cx="640080" cy="197510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20939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2057400"/>
            <a:ext cx="640080" cy="2331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过度依赖AI的辩论者比例趋势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增长60%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AI依赖者比例急剧上升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0080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创下历史新高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AI如何影响辩论准备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人工智能辅助辩论准备流程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6060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收集辩题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306324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确定辩论主题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与核心问题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807208"/>
            <a:ext cx="228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2240280" y="2724912"/>
            <a:ext cx="137160" cy="219456"/>
          </a:xfrm>
          <a:prstGeom prst="rtTriangle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0116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07792" y="26060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AI生成论点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07792" y="306324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快速产生多方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观点与论据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807208"/>
            <a:ext cx="228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4526280" y="2724912"/>
            <a:ext cx="137160" cy="219456"/>
          </a:xfrm>
          <a:prstGeom prst="rtTriangle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20116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93792" y="26060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人工筛选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93792" y="306324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过滤无效信息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保留核心内容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07208"/>
            <a:ext cx="228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 rot="5400000">
            <a:off x="6812280" y="2724912"/>
            <a:ext cx="137160" cy="219456"/>
          </a:xfrm>
          <a:prstGeom prst="rtTriangle">
            <a:avLst/>
          </a:prstGeom>
          <a:solidFill>
            <a:srgbClr val="EF233C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09560" y="20116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79792" y="26060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整理完善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79792" y="306324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结构化组织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形成完整框架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61120" y="2807208"/>
            <a:ext cx="228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2" name="Shape 30"/>
          <p:cNvSpPr/>
          <p:nvPr/>
        </p:nvSpPr>
        <p:spPr>
          <a:xfrm rot="5400000">
            <a:off x="9098280" y="2724912"/>
            <a:ext cx="137160" cy="219456"/>
          </a:xfrm>
          <a:prstGeom prst="rtTriangle">
            <a:avLst/>
          </a:prstGeom>
          <a:solidFill>
            <a:srgbClr val="EF233C"/>
          </a:solidFill>
          <a:ln/>
        </p:spPr>
      </p:sp>
      <p:sp>
        <p:nvSpPr>
          <p:cNvPr id="33" name="Shape 31"/>
          <p:cNvSpPr/>
          <p:nvPr/>
        </p:nvSpPr>
        <p:spPr>
          <a:xfrm>
            <a:off x="969264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95560" y="20116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5" name="Text 33"/>
          <p:cNvSpPr/>
          <p:nvPr/>
        </p:nvSpPr>
        <p:spPr>
          <a:xfrm>
            <a:off x="10195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765792" y="26060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记忆准备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765792" y="306324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内化论点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准备输出表达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1148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2B2D42">
              <a:alpha val="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核心价值：AI大幅提升论点生成效率，人工智能筛选确保质量，最终由人完成深度理解与表达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辩手B：独立思考者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AI时代的智慧型辩手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393192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独立构建论点框架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不受AI预设框架束缚，自主建立论证体系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41732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D9042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783080"/>
            <a:ext cx="3931920" cy="137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417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临场发挥能力强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AI辅助下仍保持独立判断，灵活应对变局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91840"/>
            <a:ext cx="393192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657600"/>
            <a:ext cx="393192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291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2024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自我复盘与反思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主动分析胜负原因，从中提取成长养分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2918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91840"/>
            <a:ext cx="3931920" cy="4114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D90429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3657600"/>
            <a:ext cx="3931920" cy="137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291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1792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把AI当助手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38404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AI是工具而非依赖，保持独立思考的核心竞争力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独立思考不是拒绝AI，而是让AI成为思考的助力而非阻力。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对比结果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AI依赖者 vs 独立思考者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8620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辩手A：AI依赖者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325880"/>
            <a:ext cx="3886200" cy="457200"/>
          </a:xfrm>
          <a:prstGeom prst="roundRect">
            <a:avLst>
              <a:gd name="adj" fmla="val 16000"/>
            </a:avLst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3258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辩手B：独立思考者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5303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准备时间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92024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011680"/>
            <a:ext cx="54864" cy="5303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准备时间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相对较长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2121408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121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5303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16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辩论表现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较刻板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74320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834640"/>
            <a:ext cx="54864" cy="5303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816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辩论表现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更灵活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83880" y="2944368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2944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57600"/>
            <a:ext cx="54864" cy="5303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成长速度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短期快，长期慢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356616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657600"/>
            <a:ext cx="54864" cy="5303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成长速度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长期更快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83880" y="3767328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438912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480560"/>
            <a:ext cx="54864" cy="5303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62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抗压能力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AI崩溃时崩溃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00600" y="438912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4480560"/>
            <a:ext cx="54864" cy="5303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4462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抗压能力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348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稳定可靠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183880" y="4590288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8183880" y="4590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结论：独立思考能力是AI时代辩手的核心竞争力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点燃小火苗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让对方自己说服自己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743200"/>
            <a:ext cx="1828800" cy="1828800"/>
          </a:xfrm>
          <a:prstGeom prst="ellipse">
            <a:avLst/>
          </a:prstGeom>
          <a:solidFill>
            <a:srgbClr val="D90429">
              <a:alpha val="15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22860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征兆一：AI焦虑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在AI工具面前，人们开始感到不安与迷失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2011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什么是AI焦虑？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对AI工具的过度依赖和恐惧失去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担心被AI取代而失去价值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0040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对AI生成结果过度依赖，不敢自己做决定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面对AI工具时产生无力感和自我怀疑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280160"/>
            <a:ext cx="2377440" cy="2377440"/>
          </a:xfrm>
          <a:prstGeom prst="ellipse">
            <a:avLst/>
          </a:prstGeom>
          <a:solidFill>
            <a:srgbClr val="2B2D42">
              <a:alpha val="8000"/>
            </a:srgbClr>
          </a:solidFill>
          <a:ln w="19050">
            <a:solidFill>
              <a:srgbClr val="2B2D4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766560" y="1645920"/>
            <a:ext cx="1645920" cy="1645920"/>
          </a:xfrm>
          <a:prstGeom prst="ellipse">
            <a:avLst/>
          </a:prstGeom>
          <a:solidFill>
            <a:srgbClr val="D90429">
              <a:alpha val="12000"/>
            </a:srgbClr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057400"/>
            <a:ext cx="822960" cy="82296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852160" y="1828800"/>
            <a:ext cx="320040" cy="320040"/>
          </a:xfrm>
          <a:prstGeom prst="ellipse">
            <a:avLst/>
          </a:prstGeom>
          <a:solidFill>
            <a:srgbClr val="8D99A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0" y="1554480"/>
            <a:ext cx="228600" cy="228600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3200400"/>
            <a:ext cx="274320" cy="274320"/>
          </a:xfrm>
          <a:prstGeom prst="ellipse">
            <a:avLst/>
          </a:prstGeom>
          <a:solidFill>
            <a:srgbClr val="8D99AE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0" y="3474720"/>
            <a:ext cx="182880" cy="182880"/>
          </a:xfrm>
          <a:prstGeom prst="ellipse">
            <a:avLst/>
          </a:prstGeom>
          <a:solidFill>
            <a:srgbClr val="D90429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内心的困惑与不安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5303520" cy="502920"/>
          </a:xfrm>
          <a:prstGeom prst="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34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这是AI时代特有的心理困境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战术层知识框架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反抗机制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绕过心理防线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60320"/>
            <a:ext cx="27432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说教陷阱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避免失败句型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0" y="25603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560320"/>
            <a:ext cx="27432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点燃小火苗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让他自己说服自己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核心：尊重自主性，引发思考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从战术到战略，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理解说服的深层逻辑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一致性原理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347472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SPA框架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讨喜的艺术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反抗机制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绕过心理防线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核心：自主性 vs 威胁性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说教陷阱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避免失败句型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514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核心：不要问为什么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点燃小火苗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让他自己说服自己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370332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核心：三种点火话术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今天：从战术层进入战略层 →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一致性原理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人为什么需要保持一致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D90429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743200"/>
            <a:ext cx="1828800" cy="182880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认知一致性是什么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</a:t>
            </a:r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人倾向于保持自己信念、态度和行为之间的一致性。当它们出现矛盾时，人会感到不适，并试图消除这种不一致。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认知一致性的三个方面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信念一致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我的想法之间不矛盾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态度一致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我对事物的评价一致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29184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行为一致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我的行动与言语相符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说服的钥匙：让对方的认知为你辩护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人为什么需要一致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07008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自我形象保护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我是一个理性、有原则的人，我的行为必须符合这个形象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67128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社会认同需求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保持一致让我看起来可靠、可预测，值得信任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27248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认知资源节约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不需要每次都重新思考同一个问题，省省脑子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087368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避免心理失调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3434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矛盾会带来不适感，大脑讨厌这种 dissonance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vs 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Knowledge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可验证的事实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客观存在的数据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普遍认可的规律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可以被证明/推翻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 Opinion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主观的判断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3774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个人立场的表达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28346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情感和价值观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32918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无法被证明/推翻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pPr algn="ctr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观点比知识更容易被说服影响。说服的本质不是改变事实，而是影响观点。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六种观点类型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红色观点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核心价值观，不容质疑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325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硬货币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像金钱一样珍视的原则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325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快速形成的即时判断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与己无关的旁观者立场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1089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2900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基于经验的自信判断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364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用叙事包装的观点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0" y="73152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EF233C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案例研讨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286000" cy="914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通过真实案例，深入分析AI依赖如何影响辩论表现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029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474720"/>
            <a:ext cx="91440" cy="1188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即将探讨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5020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辩论赛中的AI依赖现场还原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5137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思维碎片化的演变过程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5254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从依赖到独立的心路历程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模块小结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一致性原理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认知一致性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人需要保持信念、态度、行为之间的一致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知识vs观点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观点比知识更容易被说服影响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六种观点类型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红色观点、硬货币、速度、距离、专业度、故事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让对方自己为行动找理由，比你说他更有效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下一个模块：SPA框架 →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SPA框架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 · Audience · Purpose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D90429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743200"/>
            <a:ext cx="1828800" cy="182880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SPA是什么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SPA框架：</a:t>
            </a:r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在说任何话之前，先想清楚三个问题——谁在说（Speaker）、对谁说（Audience）、要达成什么（Purpose）。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242316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我是谁？我代表什么？我想传递什么形象？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242316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对方是谁？他们关心什么？他们的立场是什么？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86600" y="242316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我想要什么结果？我希望对方做什么或想什么？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SPA实战应用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向老板申请一个新项目预算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部门经理，代表团队利益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需要展现专业性和价值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8745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77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23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老板，注重投资回报率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关心成本控制和业务增长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8745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423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获得预算批准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让老板看到项目的长期价值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思考SPA的价值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在说任何话之前，先问自己：我说的是谁？对谁说？想达成什么？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模块小结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SPA框架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SPA三要素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Speaker（演讲者）、Audience（受众）、Purpose（目的）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说话前思考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谁在说？对谁说？想达成什么？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三个层次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上堆（总结）、下切（具体）、平行（选择）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灵活切换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根据情境选择最合适的沟通层次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下一个模块：讨喜的艺术 →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讨喜的艺术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让对方觉得你有趣，而不是正确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743200"/>
            <a:ext cx="1828800" cy="1828800"/>
          </a:xfrm>
          <a:prstGeom prst="ellipse">
            <a:avLst/>
          </a:prstGeom>
          <a:solidFill>
            <a:srgbClr val="D90429">
              <a:alpha val="15000"/>
            </a:srgbClr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什么是讨喜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 ≠ 讨好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讨喜是让对方觉得你有趣、可爱、有魅力。讨好是放弃自己的立场去迎合对方。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讨好 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放弃立场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过度赞扬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失去自我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对方不会真正尊重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 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063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保持自我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展现真实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有趣有魅力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对方主动想接近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讨喜是让自己成为磁铁，不是把自己变成追随者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一致性原理 · 核心要点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认知一致性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人需要保持信念、态度、行为之间的一致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9164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自我辩护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0574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人不喜欢被改变，但喜欢为自己辩护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知识vs观点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8346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观点比知识更容易被说服影响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4612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六种观点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611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红色观点、硬货币、速度、距离、专业度、故事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2336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233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3891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让对方自己为行动找理由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模块五：SPA框架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在说任何话之前，先想清楚三个问题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828800"/>
            <a:ext cx="914400" cy="9144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我是谁？我代表什么？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1828800"/>
            <a:ext cx="914400" cy="9144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要达成什么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我想要什么结果？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828800"/>
            <a:ext cx="914400" cy="9144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6364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对谁说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对方关心什么？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先想清楚再说，比边说边想要有效得多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463040" cy="868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向上沟通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获得项目批准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1463040" cy="868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向下沟通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总监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推动执行方案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1463040" cy="868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平行沟通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0175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跨部门同事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协作部门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争取资源支持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23360"/>
            <a:ext cx="1463040" cy="868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对外谈判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40233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我方代表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客户/合作方  </a:t>
            </a:r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达成合作意向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 演讲者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我是谁？我要传递什么形象？我代表什么立场？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以专家身份发言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377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盟友型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3063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与对方站在同一边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调解型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063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中立方居中协调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377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3063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代表组织或团队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</a:t>
            </a:r>
            <a:pPr algn="ctr" indent="0" marL="0">
              <a:buNone/>
            </a:pPr>
            <a:r>
              <a:rPr lang="en-US" sz="15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明确自己的角色定位，选择合适的发言方式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Audience 受众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对方是谁？关心什么？立场是什么？抗拒什么？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影响者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反对者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怀疑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敌对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利益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效果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Purpose 目的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我想要什么结果？希望对方做什么或想什么？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1097280" cy="8229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让对方知道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468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告知信息、解释原因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1097280" cy="8229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让对方理解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3383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改变看法、消除误解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60520"/>
            <a:ext cx="1097280" cy="8229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让对方行动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0" y="4297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做决定、采取行动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SPA框架 · 核心要点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SPA三要素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Speaker（演讲者）、Audience（受众）、Purpose（目的）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9164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说话前思考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0574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谁在说？对谁说？想达成什么？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三个层次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8346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上堆（总结）、下切（具体）、平行（选择）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4612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灵活切换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611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根据情境选择最合适的沟通层次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23360"/>
            <a:ext cx="640080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233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先想再说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3891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明确SPA再开口，比边说边想要有效得多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讨喜的艺术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让对方觉得你有趣，而不是正确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743200"/>
            <a:ext cx="1828800" cy="1828800"/>
          </a:xfrm>
          <a:prstGeom prst="ellipse">
            <a:avLst/>
          </a:prstGeom>
          <a:solidFill>
            <a:srgbClr val="D90429">
              <a:alpha val="15000"/>
            </a:srgbClr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什么是讨喜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 ≠ 讨好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讨喜是让对方觉得你有趣、可爱、有魅力。讨好是放弃自己的立场去迎合对方。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讨好 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放弃立场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过度赞扬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失去自我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对方不会真正尊重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 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063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保持自我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展现真实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有趣有魅力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对方主动想接近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讨喜是让自己成为磁铁，不是把自己变成追随者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为什么必须脱稿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1612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认知深度检验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能脱稿讲出来，才说明真正理解了内容的逻辑和内涵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12140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避免"假性掌握"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看着AI稿子觉得懂了，实际离开稿子就哑口无言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5486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0815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形成个人风格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独特表达来自反复脱稿练习，而非复制AI语言模式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5486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40416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临场应变能力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真实辩论中无法看稿，脱稿训练是应对突发情况的基础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警告：长期依赖AI稿会让你丧失独立表达能力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关键词回忆法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只写关键词，看关键词回忆完整内容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从AI稿中提取核心名词和动词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定时回忆法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看完AI稿后，关闭它立即复述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228600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初期30秒，逐渐延长到5分钟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402336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转述训练法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用你自己的话重述AI的观点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不拘泥于原文，用自己的语言习惯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402336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场景模拟法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假设在不同场景下如何表达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416052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069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会议室、教室、辩论赛等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37160"/>
          </a:xfrm>
          <a:prstGeom prst="rect">
            <a:avLst/>
          </a:prstGeom>
          <a:solidFill>
            <a:srgbClr val="D90429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914400"/>
            <a:ext cx="731520" cy="73152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1-2分钟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看关键词提示复述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91440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3-5分钟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无提示独立陈述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91440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应对追问和反驳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63040" y="3063240"/>
            <a:ext cx="640080" cy="64008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镜子练习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对着镜子练习，观察表情和肢体语言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3063240"/>
            <a:ext cx="640080" cy="64008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290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录音回放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录下自己的陈述，回放分析不足之处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3063240"/>
            <a:ext cx="640080" cy="64008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636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同伴反馈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找搭档互相练习，获得第三方视角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练习频率：建议每天至少10分钟脱稿练习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实践练习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1874520"/>
            <a:ext cx="36576" cy="54864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独立构思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在没有任何AI辅助的情况下，针对给定辩题进行独立思考和论证构建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965960"/>
            <a:ext cx="1371600" cy="36576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培养独立思考能力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7432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71600" y="2926080"/>
            <a:ext cx="36576" cy="54864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对比验证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先独立完成，再与AI输出对比，找出思维盲点和提升空间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3017520"/>
            <a:ext cx="1371600" cy="36576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识别认知差距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94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371600" y="3977640"/>
            <a:ext cx="36576" cy="54864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脱稿陈述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将你的观点流畅地表达出来，不依赖任何外部提示物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4069080"/>
            <a:ext cx="1371600" cy="36576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锻炼表达能力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D90429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循序渐进完成三个练习，建立完整的AI辅助辩论训练闭环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练习一：独立构思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目标：在无AI辅助下，针对辩题形成完整论证框架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选择辩题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从以下备选题目中选择一个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5720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23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限时思考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计时10分钟，不查阅任何外部资料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5720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手写大纲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用纸笔写下论点、论据和论证逻辑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45720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检查论证的完整性和逻辑性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练习题目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12080" y="224028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AI是否应该取代教师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0" y="288036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技术进步是否让人更孤独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35204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社交媒体是否损害青少年心理健康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关键：忍住使用AI的冲动，这是锻炼独立思考的必要过程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练习二：对比验证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目标：通过对比发现自己思维中的盲点和AI的独特价值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你的思考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先完成练习一的成果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记录你想到的所有论点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标注你觉得不够完善的地方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补充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28600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用同一辩题询问AI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78892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记录AI提出的论点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2918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注意AI与你的差异点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对比分析维度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54864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哪些观点AI没想到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4572000"/>
            <a:ext cx="54864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哪些观点你想错了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4572000"/>
            <a:ext cx="54864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如何融合两者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练习三：脱稿陈述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目标：能够流畅、完整地表达你的观点，不依赖任何辅助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173736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准备阶段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重温练习一、二的成果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列出核心要点（不超过5点）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用关键词代替完整句子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6002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73736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陈述阶段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9184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3-5分钟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320040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找安静环境独自练习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56616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使用手机录音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93192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允许短暂停顿思考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16002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0" y="173736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复盘阶段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2648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20040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回听录音，标记卡顿点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56616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分析原因：记忆？理解？表达？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931920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针对性改进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D90429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达标标准：连续3次无卡壳、完整表达核心观点，即为通过此练习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先AI后思考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1097280" cy="320040"/>
          </a:xfrm>
          <a:prstGeom prst="rect">
            <a:avLst/>
          </a:prstGeom>
          <a:solidFill>
            <a:srgbClr val="8D99AE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反向依赖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在独立思考之前就使用AI，导致AI观点占据主导，个人思考成为附庸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874520"/>
            <a:ext cx="1645920" cy="1005840"/>
          </a:xfrm>
          <a:prstGeom prst="rect">
            <a:avLst/>
          </a:prstGeom>
          <a:solidFill>
            <a:srgbClr val="D90429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874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→ 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2743200"/>
            <a:ext cx="1005840" cy="228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7432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2743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思维逐渐丧失独立性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完全排斥AI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00400" y="3337560"/>
            <a:ext cx="1097280" cy="320040"/>
          </a:xfrm>
          <a:prstGeom prst="rect">
            <a:avLst/>
          </a:prstGeom>
          <a:solidFill>
            <a:srgbClr val="8D99A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337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技术恐惧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拒绝使用任何AI辅助，认为人类能力一定比AI强，放弃借助工具提升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3383280"/>
            <a:ext cx="1645920" cy="1005840"/>
          </a:xfrm>
          <a:prstGeom prst="rect">
            <a:avLst/>
          </a:prstGeom>
          <a:solidFill>
            <a:srgbClr val="D90429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383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0" y="4251960"/>
            <a:ext cx="1005840" cy="228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4251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效率低下且进步缓慢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正确做法：在独立思考之后，再借助AI完善和验证你的观点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错误一：先AI后思考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错误顺序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005840" cy="41148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1005840" cy="41148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看AI内容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783080"/>
            <a:ext cx="1005840" cy="41148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觉得有道理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1005840" cy="41148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放弃思考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43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先看AI内容会形成"锚定效应"——你会被AI的第一个观点所牵引，认为它说的都有道理。这让你失去了批判性审视AI输出的能力，最终变成AI观点的传声筒。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137160" cy="137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看完AI输出后，觉得"它说得都对"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913632"/>
            <a:ext cx="137160" cy="137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辩论时习惯性引用AI的原话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25112"/>
            <a:ext cx="137160" cy="137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51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离开AI稿就不知道该说什么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4325112"/>
            <a:ext cx="137160" cy="137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251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无法提出与AI不同的观点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记住：先有你的思考，才有AI的补充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3657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B2D42">
              <a:alpha val="92000"/>
            </a:srgbClr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384048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D90429">
              <a:alpha val="88000"/>
            </a:srgbClr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脱稿演练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从半脱稿到完全脱稿的训练系统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3383280"/>
            <a:ext cx="2286000" cy="36576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4572000"/>
            <a:ext cx="228600" cy="228600"/>
          </a:xfrm>
          <a:prstGeom prst="rect">
            <a:avLst>
              <a:gd name="adj" fmla="val 20000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AI输出即用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91440" cy="1463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表现：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把AI生成的内容直接当作自己的发言稿，稍作修改就上场辩论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危害：</a:t>
            </a:r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失去真正的思考过程，辩论时无法灵活应对变化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为什么这是错误的？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64408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AI输出的是标准答案，不是你的答案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04488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没有内化过程，场上忘词就会慌张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544568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评委能分辨AI味，失去真实感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错误总结与纠正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1005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11887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先看AI答案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先独立思考，再参考AI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23160"/>
            <a:ext cx="11887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AI辅助但不思考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把AI当作镜子，不是拐杖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54680"/>
            <a:ext cx="11887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AI输出即用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内化成自己的语言再使用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AI是你思考的起点，不是终点。所有的AI输出都必须经过你自己的理解和重构，才能真正成为你的能力。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认知卸载的代价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依赖AI会削弱深度思考能力，让你失去真正成长的机会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独立思考是基础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377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辩论能力本质上是你自己思考能力的外化，AI无法替代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记录思考过程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把初步想法写下来，与AI对比，才能看清差距和盲区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31920"/>
            <a:ext cx="73152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14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AI是镜子不是拐杖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389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用AI检验你的思考质量，而不是用它代替你思考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脱稿演练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从半脱稿到完全脱稿的训练系统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D90429">
              <a:alpha val="85000"/>
            </a:srgbClr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为什么必须脱稿练习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核心原因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真实的辩论是即兴的。你在场上无法低头看稿，也无法等待AI生成答案。你必须能够脱口而出、灵活应变。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研究发现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154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3736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在看稿状态下，人们更容易出现思维卡顿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0632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3154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94360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脱稿练习者的即兴表达能力提升速度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297680"/>
            <a:ext cx="73152" cy="685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脱稿练习的本质：把"思考能力"转化为"脱口而出的能力"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四阶段训练系统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循序渐进，从依赖到独立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36192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361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5361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536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半脱稿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0" y="1536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拿着完整稿子，逐步减少依赖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50592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50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4505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关键词脱稿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2450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用关键词提示，扩展成完整表述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64992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649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3649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103120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完全脱稿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0" y="3364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无提示，自主组织完整表达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279392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793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03120" y="4279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即兴发挥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0" y="4279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随机题目，限时准备，脱口而出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663440"/>
            <a:ext cx="205740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14600" y="4663440"/>
            <a:ext cx="205740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6634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4663440"/>
            <a:ext cx="2057400" cy="3200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6634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4663440"/>
            <a:ext cx="2057400" cy="3200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46634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半脱稿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什么是半脱稿？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拿着完整的稿子练习，但在关键处尝试不看稿，凭记忆顺延。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目标是逐步减少看稿的次数和时长，最终实现完全脱稿。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为什么从这个阶段开始？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136392"/>
            <a:ext cx="310896" cy="31089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降低焦虑：稿子在手，心里不慌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76472"/>
            <a:ext cx="310896" cy="31089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建立节奏：熟悉正常语速和停顿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416552"/>
            <a:ext cx="310896" cy="31089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98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逐步脱敏：开始减少对稿子的心理依赖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半脱稿练习方法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07008"/>
            <a:ext cx="64008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遮盖法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遮住稿子的部分内容，只露出下一句话的开头，尝试顺着背下去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12848"/>
            <a:ext cx="64008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468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设定看稿时间限制，比如"这页必须在30秒内说完"，逐步缩短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18688"/>
            <a:ext cx="64008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186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倒读法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74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从稿子的中间部分开始读，不从头开始，强迫你熟悉整体内容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24528"/>
            <a:ext cx="64008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24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480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在稿子的关键段落做标记，练习时故意跳过这些地方，检验记忆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半脱稿练习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2011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练习步骤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准备好一份辩论稿（自己写的或AI辅助写的均可）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用计时器设定每段30秒，先完整读一遍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第二遍开始，尝试在非关键段落不看稿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记录每次"卡壳"的位置，这些就是需要强化的部分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本阶段目标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749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一小时内完整练习3遍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3657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749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非关键段落不看稿的比例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749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"呃""啊"等语气词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关键词脱稿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什么是关键词脱稿？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把完整的稿子浓缩成一系列关键词，用关键词作为提示，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自己组织语言扩展成完整表述。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完整句："经济发展带来环境压力，但环境治理需要经济支撑"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关键词：经济 ↔ 环境 → 矛盾但共生 → 需要平衡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提示：关键词之间用箭头表示逻辑关系，帮助串联记忆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关键词提取方法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07008"/>
            <a:ext cx="420624" cy="420624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4447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每个论点段落的关键词，如"可持续发展""公平竞争"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167128"/>
            <a:ext cx="420624" cy="42062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48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逻辑连接词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40487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表示转折、因果、递进的词，如"然而""因此""更重要的是"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27248"/>
            <a:ext cx="420624" cy="420624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数据案例词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3649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具体数字或案例，如"73%""华为""脱贫攻坚"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实用技巧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关键词数量：每30秒内容控制在3-5个关键词。用箭头标注逻辑关系，便于记忆串联。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关键词脱稿练习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16459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练习步骤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准备一篇文章或稿子，用自己的话划出3-5个核心关键词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盖住原文，看着关键词用1分钟口头复述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录下自己的复述，对照原文检查遗漏和错误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重复练习，直到能准确完整地复述内容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进步标志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265176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能复述大意，语句不够流畅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291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32918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能复述完整，逻辑基本清晰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291840"/>
            <a:ext cx="265176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复述流畅有逻辑，能举一反三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模拟比赛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在模拟真实比赛环境中检验学习成果，是训练过程中最接近实战的环节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模拟正式比赛的流程和环境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在时间压力下完成辩论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全面复盘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录像回放，发现问题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模拟比赛的设置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人员配置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正方一辩、二辩、三辩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反方一辩、二辩、三辩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 2-3 人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计时员 1 人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记录员 1 人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观众若干（可选）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3931920" cy="5029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环境设置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正式比赛场地布置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发言顺序标牌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计时器（显示剩余时间）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白板/投影用于公布辩题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录像设备（建议多机位）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评分表准备就绪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论点相关性、论据充分性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37160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论证严密性、推理清晰度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37160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表达技巧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语言流畅度、感染力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0" y="320040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临场应变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反驳有效性、应对灵活性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320040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团队配合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290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分工协作、相互支持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320040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整体印象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仪表仪态、时间控制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模拟比赛练习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抽签分组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随机抽取辩题和正反方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备赛时间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30分钟准备时间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正式比赛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按赛制进行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即时点评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裁判当场点评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9560" y="18288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录像复盘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回看录像分析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49040"/>
            <a:ext cx="91440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练习建议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每场比赛后至少进行2轮互评：先是队友互评，最后是对手互评，确保多角度反馈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四周训练计划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循序渐进，系统提升辩论能力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01168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基础夯实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辩论礼仪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框架构建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资料收集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554480"/>
            <a:ext cx="201168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技能提升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8803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反驳技巧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质询方法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逻辑训练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54480"/>
            <a:ext cx="201168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8803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模拟对抗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压力训练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即时反应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55448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554480"/>
            <a:ext cx="201168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综合突破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8803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录像复盘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弱点强化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状态调整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基础夯实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960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辩论礼仪与赛场规则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走姿、站姿、发言姿态练习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论点框架构建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熟悉常见论证框架（时间/空间/对比）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0939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资料收集方法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0939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高效搜索、筛选、可信度评估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2432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6609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立论稿撰写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2660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300字立论稿写作与修改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2278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周末模拟准备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3227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复习本周内容，准备周六模拟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58184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第一次模拟赛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完整模拟 + 即时点评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2511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周复盘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整理笔记，规划下周重点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本周目标：掌握基本礼仪，建立论证框架概念，完成第一次模拟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技能提升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960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反驳技巧入门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学习三种基本反驳方法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质询流程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问-答-接管的完整训练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0939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逻辑谬误识别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0939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识别12种常见逻辑谬误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2432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6609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类比论证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2660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类比论证的结构与技巧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2278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周末模拟准备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3227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准备新辩题，构思反驳策略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58184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第二次模拟赛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重点检验反驳和质询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2511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周复盘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分析录像，找出问题点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本周目标：掌握反驳和质询的基本方法，能识别常见逻辑谬误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960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压力下的思考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限时立论训练（5分钟）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多角度论证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同一论点三种论证方式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0939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即兴反驳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0939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随机抽题，即时反驳训练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2432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6609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2660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一二三辩配合演练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2278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周末模拟准备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3227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高难度辩题准备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58184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第三次模拟赛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高强度对抗训练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2511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周复盘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深度分析录像复盘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本周目标：能在压力下保持逻辑清晰，团队配合更加默契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综合突破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960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弱点强化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针对录像中的弱点专项训练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状态调整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心理调适与临场心态训练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939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0939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完整模拟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0939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按照正式比赛流程演练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2432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6609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查漏补缺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2660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自由练习，针对性强化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2278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最后准备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3227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休息调整，保持状态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58184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第四次模拟赛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完整复盘录像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25112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61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月度总结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四周训练总结与展望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本周目标：调整到最佳状态，完成所有弱点强化，准备正式比赛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录像复盘方法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完整观看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第一次完整观看，不做任何记录，只是感受整体表现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分段记录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第二遍按环节拆分（立论/质询/反驳/总结），记录时间节点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问题标注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第三遍重点观看问题片段，标注具体问题和改进点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根据问题制定下一周的具体改进计划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建议每次复盘控制在2小时内，避免疲劳影响复盘质量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复盘要点清单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内容层面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论点是否扣题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论据是否充分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论证逻辑是否严密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393192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表达层面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语言是否流畅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是否有口头禅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音量语调是否合适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11880"/>
            <a:ext cx="393192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时间控制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是否超时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各环节时间分配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节奏是否合适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临场反应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反驳是否有效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质询是否到位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应对是否灵活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仪态表现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站姿手势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眼神交流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整体台风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393192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团队配合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分工是否清晰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衔接是否顺畅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是否相互支持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训练过程中最容易出现的六类问题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论证空洞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论点缺乏实质内容，论据不够充分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9164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737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逻辑混乱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论证链条不清晰，前后矛盾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737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表达欠佳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语言不够流畅，缺乏感染力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时间失控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超时或内容不足，节奏把控差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461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38328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配合不足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2900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团队成员各自为战，缺乏呼应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2461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38328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心态不稳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6364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紧张怯场，无法发挥正常水平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问题与解决方案（上）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论证空洞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论点缺乏实质内容，论据不够充分，泛泛而谈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39319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188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建立论据库；每个论点配3个以上例证；用数据增强说服力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逻辑混乱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论证链条不清晰，前后矛盾，推理跳跃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0" y="2514600"/>
            <a:ext cx="39319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514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用逻辑链条图梳理；写论证提纲；训练三段论推理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表达欠佳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语言不够流畅，缺乏感染力，语气单调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2000" y="3840480"/>
            <a:ext cx="39319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跟读模仿训练；朗读优秀辩论稿；录音回听改进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问题与解决方案（下）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时间失控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超时或内容不足，节奏把控差，前松后紧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39319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188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计时训练；各环节分配时间；准备B方案以防超时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配合不足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团队成员各自为战，缺乏呼应，分工不清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0" y="2514600"/>
            <a:ext cx="39319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514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明确各辩位职责；配合训练；建立团队暗号体系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心态不稳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紧张怯场，无法发挥正常水平，大脑一片空白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2000" y="3840480"/>
            <a:ext cx="39319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模拟压力训练；呼吸调节法；赛前预演克服紧张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针对每个问题制定个人改进计划，每周重点攻克1-2个问题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模块四：核心要点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脱稿演练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通过无准备的即兴发言，重建真实思考能力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2316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压力训练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在压力环境下练习，增强心理韧性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2900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及时获取反馈，快速纠正思考偏差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348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34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习惯替代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用独立思考习惯逐步替代AI依赖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4389120"/>
            <a:ext cx="914400" cy="914400"/>
          </a:xfrm>
          <a:prstGeom prst="ellipse">
            <a:avLst/>
          </a:prstGeom>
          <a:solidFill>
            <a:srgbClr val="EF233C">
              <a:alpha val="2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0" y="4572000"/>
            <a:ext cx="548640" cy="548640"/>
          </a:xfrm>
          <a:prstGeom prst="ellipse">
            <a:avLst/>
          </a:prstGeom>
          <a:solidFill>
            <a:srgbClr val="D90429">
              <a:alpha val="20000"/>
            </a:srgbClr>
          </a:solidFill>
          <a:ln/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可持续独立思考习惯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建立长期健康的思考模式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383280"/>
            <a:ext cx="182880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4114800"/>
            <a:ext cx="1097280" cy="109728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389120"/>
            <a:ext cx="548640" cy="548640"/>
          </a:xfrm>
          <a:prstGeom prst="ellipse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习惯形成的科学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提示触发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特定情境或事件触发行为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例行行为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重复进行相同的行为模式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奖赏反馈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获得心理或实际的奖励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形成新习惯平均需要66天。关键是在相同情境下持续重复，直至行为自动化。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习惯建立框架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417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设定触发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确定启动思考练习的具体情境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晨起后、辩论前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最小行动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从最简单开始，降低启动阻力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0175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先想3分钟再查AI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1417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060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即时奖励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完成后立即给自己正向反馈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记录心得体会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18872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14173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渐进升级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逐步增加思考深度和时长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30175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从3分钟到10分钟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3931920"/>
            <a:ext cx="1280160" cy="9144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0" y="3931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286000" y="4297680"/>
            <a:ext cx="155448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6" name="Shape 34"/>
          <p:cNvSpPr/>
          <p:nvPr/>
        </p:nvSpPr>
        <p:spPr>
          <a:xfrm>
            <a:off x="5349240" y="4297680"/>
            <a:ext cx="1554480" cy="36576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每日练习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将思考训练融入日常生活的三个时段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06:00-08:00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晨间思考练习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激活独立思考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新闻观点独立判断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当天计划先思考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写下初步想法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15544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12:00-14:00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午后反思练习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66160" y="28346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审视AI使用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38328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检查AI依赖程度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9476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回顾上午思考质量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0" y="420624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调整使用策略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15544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21:00-22:00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晚间复盘练习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92240" y="28346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巩固思考能力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338328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全天思考总结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0" y="379476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记录成功案例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420624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计划明日练习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晨间思考练习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06:00 - 08:00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目标：激活大脑，以最佳状态开始一天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新闻观点判断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0116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011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691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阅读新闻后，先自己思考观点，再看评论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当日计划推演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31546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154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不借助工具，思考当天要做的三件事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灵感随手记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71600" y="42976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297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977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把脑海中浮现的想法立即写下来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提示：起床后30分钟内不碰手机，让大脑有时间自然苏醒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午后反思练习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12:00 - 14:00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目标：审视AI使用情况，保持警觉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AI使用自查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上午使用了多少次AI？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哪些使用是必要的？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有没有不动脑筋直接抄答案？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思考质量和昨天比如何？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46304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反思问题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92040" y="2331720"/>
            <a:ext cx="137160" cy="1371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我今天独立解决了什么问题？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2880360"/>
            <a:ext cx="137160" cy="1371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哪件事让我感到自豪？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3429000"/>
            <a:ext cx="137160" cy="1371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下次如何减少对AI的依赖？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EF233C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576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用笔记记录反思，方便追踪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晚间复盘练习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21:00 - 22:00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目标：巩固收获，为明天做准备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0020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今日思考总结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7157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今天哪些问题我独立思考了？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729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最好的想法是什么？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301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0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有什么灵感闪现？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41732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160020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成功案例记录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11880" y="27157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哪次辩论准备没用AI？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1729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063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独立思考带来了什么好处？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1880" y="36301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3520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家人朋友有何反馈？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41732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60020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明日计划制定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92240" y="27157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明天要练习什么？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1729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063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如何避免无效AI使用？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363016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3520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设定一个小目标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坚持21天以上，独立思考就会成为本能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长期追踪方法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思考日志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每日记录思考过程和结果，定期回顾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可视化进步轨迹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3444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周记复盘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每周日回顾一周表现，总结经验教训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及时调整方向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260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里程碑标记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33375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在关键节点记录成就和挑战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7947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保持长期动力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7889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788920"/>
            <a:ext cx="9144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9260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同伴监督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46320" y="33375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找一个伙伴互相监督和鼓励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7947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accountability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追踪不是为了完美，而是为了持续改进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追踪工具推荐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777240" cy="7772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笔记工具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思考日志、周记复盘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63040"/>
            <a:ext cx="777240" cy="7772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0" y="2377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6080" y="283464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8346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建立思考知识库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1463040"/>
            <a:ext cx="777240" cy="7772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2377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滴答清单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283464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8346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每日练习打卡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1463040"/>
            <a:ext cx="777240" cy="7772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40880" y="2377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Excel/表格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283464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8346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数据追踪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习惯数据可视化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选择建议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工具不在多，在于坚持使用。选择一个最顺手的，从今天开始记录。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30天行动计划模板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习惯建立期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基础习惯养成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325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325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强化训练期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057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增加思考难度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325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325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突破挑战期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057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复杂问题训练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1887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325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325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巩固维持期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057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形成自然反应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每日行动结构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晨间思考练习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3375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AI使用自查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319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33375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复盘记录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3246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3246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25分钟/天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坚持30天，见证思维转变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习惯建立期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目标：建立每日思考的基础习惯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508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晨间：想清楚今天最重要的三件事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527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5270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30552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305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1305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午后：自查AI使用次数并记录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214884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1488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752344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523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75234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晚间：写下今天独立解决的一个问题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277063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7706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82696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374136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741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33741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晨间：看新闻前先想自己的观点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339242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392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99592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995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9959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午后：评估本周AI依赖程度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589520" y="401421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401421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6177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617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7160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30分钟自由思考和记录时间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89520" y="46360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46360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第一周重点：不要追求完美，先让习惯发生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强化训练期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目标：增加思考的深度和时长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508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晨间：深度思考一个热点话题（15分钟）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527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5270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30552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305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1305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午后：分析AI给出的建议，找出漏洞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214884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1488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752344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523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75234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晚间：构思一个辩论观点，先想后查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277063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7706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82696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374136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741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33741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晨间：记录三个灵感，不依赖AI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339242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392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99592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995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9959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午后：与朋友讨论一个话题，不用AI辅助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589520" y="401421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401421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6177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617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7160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完成一次完整的辩论准备（纯独立思考）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89520" y="46360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46360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第二周重点：开始挑战更复杂的思考任务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第三周行动 · 巩固期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让新习惯成为本能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1645920"/>
            <a:ext cx="7406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1691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形成新习惯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将独立思考变成默认模式，AI辅助变成例外情况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80160" y="2697480"/>
            <a:ext cx="7406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2743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优化工作流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154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总结前两周经验，形成适合自己的高效工作流程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80160" y="3749040"/>
            <a:ext cx="7406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3794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扩大应用范围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206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将经验应用到辩论之外的其他认知活动场景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每日自问：新习惯是否越来越自然？哪些场景还需要加强？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课程知识框架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认知卸载的本质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2140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什么是认知卸载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6148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AI如何改变思维方式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29968" y="24688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94560" y="109728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辩论中的AI依赖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212140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依赖的表现形式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76148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效率与深度的悖论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67328" y="24688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31920" y="109728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隐性代价的识别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69080" y="212140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主动性丧失的信号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69080" y="276148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425196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思维同质化的表现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04688" y="24688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0" y="109728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1097280"/>
            <a:ext cx="155448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实践中的困境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06440" y="212140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真实案例分析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06440" y="276148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自我检测的方法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42048" y="24688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6640" y="109728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保持进步策略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43800" y="212140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5" name="Text 43"/>
          <p:cNvSpPr/>
          <p:nvPr/>
        </p:nvSpPr>
        <p:spPr>
          <a:xfrm>
            <a:off x="772668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反思与练习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43800" y="276148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7" name="Text 45"/>
          <p:cNvSpPr/>
          <p:nvPr/>
        </p:nvSpPr>
        <p:spPr>
          <a:xfrm>
            <a:off x="772668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长期坚持的方法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从认知卸载的本质 → 到保持进步的具体策略，构建完整知识体系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3840480"/>
            <a:ext cx="109728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548640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548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502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认知卸载是把双刃剑：AI提升效率的同时，也在削弱独立思考能力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298448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12527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辩论中的AI依赖是隐性陷阱：表面提升，实质是思维退化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048256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048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00253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主动性余地正在丧失：失去犯错机会就是失去成长可能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798064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275234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识别代价是改变的开始：思维同质化是重要警示信号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3547872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547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35021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保持进步需要策略：反思、练习、记录、社群监督缺一不可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4297680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0" y="4251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防止倒退靠意识：警惕压力和时间紧迫等诱因，建立预警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课后自我评估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评估你在辩论中对AI依赖程度的现状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89888"/>
            <a:ext cx="329184" cy="329184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辩论前，你会先让AI生成观点框架吗？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0" y="1280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228600" cy="274320"/>
          </a:xfrm>
          <a:prstGeom prst="roundRect">
            <a:avLst>
              <a:gd name="adj" fmla="val 16000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280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029968"/>
            <a:ext cx="329184" cy="329184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听到不同意见时，第一反应是查AI还是自己思考？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1920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057400"/>
            <a:ext cx="228600" cy="274320"/>
          </a:xfrm>
          <a:prstGeom prst="roundRect">
            <a:avLst>
              <a:gd name="adj" fmla="val 16000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20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670048"/>
            <a:ext cx="329184" cy="329184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70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你能回想起最近一次完全独立完成的辩论吗？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2697480"/>
            <a:ext cx="228600" cy="274320"/>
          </a:xfrm>
          <a:prstGeom prst="roundRect">
            <a:avLst>
              <a:gd name="adj" fmla="val 16000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310128"/>
            <a:ext cx="329184" cy="329184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10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使用AI辅助后，你对自己的表现更有信心还是更没底气？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80960" y="3200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92440" y="3337560"/>
            <a:ext cx="228600" cy="274320"/>
          </a:xfrm>
          <a:prstGeom prst="roundRect">
            <a:avLst>
              <a:gd name="adj" fmla="val 16000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200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3950208"/>
            <a:ext cx="329184" cy="329184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97280" y="3840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如果AI突然不可用，你会感到焦虑吗？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8096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3977640"/>
            <a:ext cx="228600" cy="274320"/>
          </a:xfrm>
          <a:prstGeom prst="roundRect">
            <a:avLst>
              <a:gd name="adj" fmla="val 16000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2B2D42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提示：诚实地回答这些问题，是建立自我认知的第一步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822960" cy="109728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1234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思考，快与慢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6459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丹尼尔·卡尼曼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诺贝尔奖得主揭示思考的两种系统，助你理解AI为何让人变懒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280160"/>
            <a:ext cx="822960" cy="109728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801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97880" y="1234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机器时代：人类退化的警告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97880" y="16459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尼古拉斯·卡尔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19202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深入分析数字技术如何改变我们的大脑和思维方式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08960"/>
            <a:ext cx="822960" cy="109728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0020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学会提问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尼尔·布朗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3749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批判性思维入门经典，锻练独立思考能力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108960"/>
            <a:ext cx="822960" cy="109728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1089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89788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噪声与偏差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97880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丹尼尔·卡尼曼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97880" y="3749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理解人类判断中的系统性错误，提升决策质量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工具资源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325880"/>
            <a:ext cx="731520" cy="731520"/>
          </a:xfrm>
          <a:prstGeom prst="ellipse">
            <a:avLst/>
          </a:prstGeom>
          <a:solidFill>
            <a:srgbClr val="D90429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思考训练工具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1737360" cy="27432"/>
          </a:xfrm>
          <a:prstGeom prst="rect">
            <a:avLst/>
          </a:prstGeom>
          <a:solidFill>
            <a:srgbClr val="D9042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99008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思维导图软件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3872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辩论记录App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8736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77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批判性思维练习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0515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325880"/>
            <a:ext cx="731520" cy="731520"/>
          </a:xfrm>
          <a:prstGeom prst="ellipse">
            <a:avLst/>
          </a:prstGeom>
          <a:solidFill>
            <a:srgbClr val="D90429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AI使用追踪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86200" y="2697480"/>
            <a:ext cx="1737360" cy="27432"/>
          </a:xfrm>
          <a:prstGeom prst="rect">
            <a:avLst/>
          </a:prstGeom>
          <a:solidFill>
            <a:srgbClr val="D90429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703320" y="299008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AI使用日志模板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03320" y="353872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依赖度自测量表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408736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3977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周度复盘表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10515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60920" y="1325880"/>
            <a:ext cx="731520" cy="731520"/>
          </a:xfrm>
          <a:prstGeom prst="ellipse">
            <a:avLst/>
          </a:prstGeom>
          <a:solidFill>
            <a:srgbClr val="D90429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53796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社群支持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0" y="2697480"/>
            <a:ext cx="1737360" cy="27432"/>
          </a:xfrm>
          <a:prstGeom prst="rect">
            <a:avLst/>
          </a:prstGeom>
          <a:solidFill>
            <a:srgbClr val="D90429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0" y="299008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学习小组App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353872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经验分享平台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4087368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3977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定期研讨会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2B2D42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善用工具，而非被工具善用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在线资源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40280" y="114300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网易公开课 - 批判性思维系列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005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14300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 - 思考力训练课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14300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Coursera - Think Again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社区论坛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22402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40280" y="237744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知乎 - 人工智能与思维讨论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22402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37744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Reddit - r/criticalthinking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22402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237744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 - 独立思考打卡小组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工具网站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03120" y="347472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40280" y="361188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2402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19456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Kialo - 辩论与论证平台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34840" y="347472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61188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2628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Arguminarium - 在线辩论练习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347472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03720" y="3611880"/>
            <a:ext cx="320040" cy="320040"/>
          </a:xfrm>
          <a:prstGeom prst="ellipse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037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Anyflip - 翻转课堂资源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2D42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持续学习，深入思考，在交流中成长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D9042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F233C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1828800" cy="1828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8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认知卸载警示：辩论时过度依赖AI的隐性代价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90429"/>
          </a:solidFill>
          <a:ln/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问答环节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8288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206240" y="420624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任何疑问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关于课程内容、AI依赖、思考能力提升等问题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90429"/>
          </a:solidFill>
          <a:ln/>
        </p:spPr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137160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9144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914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course@example.com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1554480"/>
            <a:ext cx="5029200" cy="0"/>
          </a:xfrm>
          <a:prstGeom prst="line">
            <a:avLst/>
          </a:prstGeom>
          <a:noFill/>
          <a:ln w="6350">
            <a:solidFill>
              <a:srgbClr val="8D99A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8288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828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www.course-platform.com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2468880"/>
            <a:ext cx="5029200" cy="0"/>
          </a:xfrm>
          <a:prstGeom prst="line">
            <a:avLst/>
          </a:prstGeom>
          <a:noFill/>
          <a:ln w="6350">
            <a:solidFill>
              <a:srgbClr val="8D99AE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7432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AI思考力训练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3383280"/>
            <a:ext cx="5029200" cy="0"/>
          </a:xfrm>
          <a:prstGeom prst="line">
            <a:avLst/>
          </a:prstGeom>
          <a:noFill/>
          <a:ln w="6350">
            <a:solidFill>
              <a:srgbClr val="8D99A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36576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657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学习社群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独立思考者联盟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4572000"/>
            <a:ext cx="5029200" cy="411480"/>
          </a:xfrm>
          <a:prstGeom prst="roundRect">
            <a:avLst>
              <a:gd name="adj" fmla="val 11111"/>
            </a:avLst>
          </a:prstGeom>
          <a:solidFill>
            <a:srgbClr val="EF233C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572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期待与您共同进步，开启独立思考之旅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4572000" cy="4572000"/>
          </a:xfrm>
          <a:prstGeom prst="ellipse">
            <a:avLst/>
          </a:prstGeom>
          <a:solidFill>
            <a:srgbClr val="D9042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1645920" cy="1645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课程完成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COMPLETED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恭喜你完成了《认知卸载警示：辩论时过度依赖AI的隐性代价》的全部学习！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获得成就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独立思考者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你已经掌握了识别和应对AI依赖的核心方法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D9042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独立思考之旅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 OF INDEPENDENT THINKING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27432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从今天开始，每一次辩论都是锻炼独立思考的机会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 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认知卸载警示：辩论时过度依赖AI的隐性代价</dc:title>
  <dc:subject>PptxGenJS Presentation</dc:subject>
  <dc:creator>Course Development Team</dc:creator>
  <cp:lastModifiedBy>Course Development Team</cp:lastModifiedBy>
  <cp:revision>1</cp:revision>
  <dcterms:created xsi:type="dcterms:W3CDTF">2026-07-25T12:53:47Z</dcterms:created>
  <dcterms:modified xsi:type="dcterms:W3CDTF">2026-07-25T12:53:47Z</dcterms:modified>
</cp:coreProperties>
</file>