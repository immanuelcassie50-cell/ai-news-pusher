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notesMasterIdLst>
    <p:notesMasterId r:id="rId1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notesMaster" Target="notesMasters/notesMaster1.xml"/><Relationship Id="rId130" Type="http://schemas.openxmlformats.org/officeDocument/2006/relationships/presProps" Target="presProps.xml"/><Relationship Id="rId131" Type="http://schemas.openxmlformats.org/officeDocument/2006/relationships/viewProps" Target="viewProps.xml"/><Relationship Id="rId132" Type="http://schemas.openxmlformats.org/officeDocument/2006/relationships/theme" Target="theme/theme1.xml"/><Relationship Id="rId1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5806440" y="1097280"/>
            <a:ext cx="109728" cy="29260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重构效能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AI时代的管理实践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743200" cy="457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Drucker Management Philosophy × AI Era Challenges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德鲁克管理哲学 × AI时代挑战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2026年6月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548640"/>
            <a:ext cx="1828800" cy="182880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2560320"/>
            <a:ext cx="1371600" cy="137160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3657600"/>
            <a:ext cx="914400" cy="9144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模块0 开场校准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VUCA时代引言、课程框架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560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 时间管理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8620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三步法、时间黑洞、练习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246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 贡献管理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547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成果聚焦、优势发挥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 有效决策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233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决策框架、AI辅助决策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188720"/>
            <a:ext cx="3931920" cy="5486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1234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937760" y="1920240"/>
            <a:ext cx="411480" cy="41148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 有效沟通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倾听技术、反馈技巧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37760" y="2697480"/>
            <a:ext cx="411480" cy="41148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 目标管理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86400" y="29535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SMART目标、OKR整合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3474720"/>
            <a:ext cx="411480" cy="41148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48640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模块6 效能复盘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0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PDCA循环、持续改进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模块零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开场校准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过去一个月，你做的哪件事，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如果没做，其实没什么影响？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AI时代的三重悖论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463040"/>
            <a:ext cx="822960" cy="822960"/>
          </a:xfrm>
          <a:prstGeom prst="ellipse">
            <a:avLst/>
          </a:prstGeom>
          <a:solidFill>
            <a:srgbClr val="D4A5A5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↑↓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效率悖论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AI让工作更快完成，但完成的工作量也增加了——所以我们反而更忙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463040"/>
            <a:ext cx="822960" cy="822960"/>
          </a:xfrm>
          <a:prstGeom prst="ellipse">
            <a:avLst/>
          </a:prstGeom>
          <a:solidFill>
            <a:srgbClr val="D4A5A5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47472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贡献悖论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我们忙于响应AI生成的内容，却忽略了真正重要的创造性贡献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188720"/>
            <a:ext cx="2651760" cy="347472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7040880" y="1463040"/>
            <a:ext cx="822960" cy="822960"/>
          </a:xfrm>
          <a:prstGeom prst="ellipse">
            <a:avLst/>
          </a:prstGeom>
          <a:solidFill>
            <a:srgbClr val="D4A5A5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30936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忙碌悖论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每天处理大量信息，晚上却想不起来今天真正完成了什么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学员的隐性困惑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7680960" cy="2011680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D4A5A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我每天都很忙，但晚上想不起来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今天真正完成了什么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这种困惑的本质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9651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 ≠ 有效能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443984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3708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AI放大了'响应速度'，却稀释了'成果质量'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791456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471830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信息处理能力提升，但判断力没有同步提升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五个实践 × AI五重张力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0-3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143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AI张力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开场校准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自我校准 · 问题聚焦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 · 注意力分散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时间记录 · 时间集中 · 时间黑洞识别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效率悖论 · 响应焦虑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贡献管理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成果聚焦 · 优势发挥 · AI协作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贡献模糊 · AI依赖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297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有效决策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194560" y="4297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决策框架 · 风险评估 · AI辅助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信息过载 · 选择瘫痪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聚焦: 建立框架认知 + 工具方法练习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五个实践 × AI五重张力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 4-6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43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核心实践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0" y="11430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AI张力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1828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有效沟通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94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倾听技术 · 反馈技巧 · AI沟通辅助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信息噪声 · 深度缺失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651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SMART目标 · OKR整合 · AI目标追踪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2651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目标漂移 · AI幻觉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46120"/>
            <a:ext cx="82296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4747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效能复盘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94560" y="3474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PDCA循环 · AI辅助分析 · 持续改进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复盘形式化 · 改进无力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 聚焦: 深度应用 + AI整合实践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14800" y="4663440"/>
            <a:ext cx="9144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4526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学习共同体规则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645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保密原则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课堂上分享的内容，仅限内部使用，不外传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88720"/>
            <a:ext cx="91440" cy="1645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37760" y="14630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真实原则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1031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分享真实的困惑和案例，不包装不粉饰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91440" cy="1645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918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91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行动原则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每个模块结束都有具体行动承诺，不是听完就算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301752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3017520"/>
            <a:ext cx="91440" cy="1645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3291840"/>
            <a:ext cx="64008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291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715000" y="3291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跟进原则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下节课开始前，回顾上节课的行动承诺完成情况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学习共同体规则详解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269748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为什么需要保密？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真实案例往往涉及敏感信息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只有安全的空间，才能分享真实的困惑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信任是学习的基础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14300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143000"/>
            <a:ext cx="269748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188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真实原则的价值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0" y="192024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包装过的案例没有学习价值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278892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真实的困惑是最宝贵的学习素材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365760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374904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我们不评判，只帮助改进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114300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143000"/>
            <a:ext cx="269748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11887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行动原则的关键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92024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8288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知道不等于做到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09360" y="278892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697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每个模块后填写行动承诺书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365760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35661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下节课开始前回溯完成情况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80060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800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这不是培训，而是共同解决问题的实践社群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AI每周为你节省了多少时间？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这些时间实际上去了哪里？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时间管理三步法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2377440"/>
            <a:ext cx="5120640" cy="5486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155448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记录时间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了解时间花在哪里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74720" y="12801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55448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管理时间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判断时间值不值得花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1280160"/>
            <a:ext cx="2468880" cy="3291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55448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集中时间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创造不受干扰的时间块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760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第一步：记录时间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为什么要记录？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029968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9202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我们以为了解时间，其实不了解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532888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23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直觉会骗人，数据不会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035808"/>
            <a:ext cx="137160" cy="1371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只有记录才能发现"时间黑洞"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4937760" cy="1097280"/>
          </a:xfrm>
          <a:prstGeom prst="roundRect">
            <a:avLst>
              <a:gd name="adj" fmla="val 6667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德鲁克："没有数据就没有管理"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977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记录一周后，你会发现自己对时间的认知是错误的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1097280"/>
            <a:ext cx="2743200" cy="3657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0" y="1097280"/>
            <a:ext cx="274320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1430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常见认知偏差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264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计划谬误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低估完成任务所需时间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活动偏误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3108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忙碌感被误认为高产出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月晕效应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某天高效率以为一直这样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第二步：管理时间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463040"/>
          </a:xfrm>
          <a:prstGeom prst="roundRect">
            <a:avLst>
              <a:gd name="adj" fmla="val 7500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"如果我不做这件事，会不会有什么后果？"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应该删掉的事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别人可以替代的事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没有长远价值的事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纯粹消耗时间的事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74320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2926080"/>
            <a:ext cx="457200" cy="457200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53212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应该保留的事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20640" y="3474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只有你能做的事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886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真正产生成果的事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4297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符合长远目标的事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第三步：集中时间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28016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926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不受干扰的时间块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这是深度工作的最小单元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为什么是90分钟？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5643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83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人体生物节律周期约为90分钟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86791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进入深度专注状态需要15-20分钟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279392"/>
            <a:ext cx="164592" cy="16459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打断后再恢复需要23分钟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0" y="29260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AI时代的挑战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34747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AI让响应变得即时，但深度思考需要持续。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邮件可以秒回，但重要决策需要沉淀。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vs AI时代时间黑洞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传统黑洞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AI时代新增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73152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0020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6002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邮件、电话、会议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即时消息、协作平台、AI对话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77440"/>
            <a:ext cx="73152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774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2880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新闻、RSS、行业报告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3774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AI生成内容、信息流推送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154680"/>
            <a:ext cx="73152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1546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31546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行政事务、日程管理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0" y="3154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提示词迭代、内容审核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9319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28800" y="3931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培训、书籍、课程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3931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AI辅助学习、知识更新加速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AI没有减少工作量，而是改变了工作类型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AI时间黑洞 (1-2)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黑洞1：提示词迭代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不断调整提示词，追求"完美"结果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消耗时间远超直接完成任务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平均每次AI任务迭代3-7次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累计时间可达30分钟以上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设定迭代次数上限(如3次)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接受"足够好"而非"完美"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黑洞2：内容审核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AI生成内容需要人工审核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发现问题还要返工修改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审核时间通常是生成时间的2-3倍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且容易被忽略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明确审核标准，减少返工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建立模板减少重复审核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AI时间黑洞 (3-4)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黑洞3：信息焦虑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AI让信息获取太容易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总觉得有更多东西需要了解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知识工作者日均处理信息量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10年内增长5倍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设定信息摄入的时间和边界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定期"数字断舍离"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1430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黑洞4：过度消费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1828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把AI当搜索引擎用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浏览AI生成内容而非深度阅读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平均每天花1.5小时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浏览AI生成的短内容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4251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区分"探索"和"消费"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设定AI使用的时间预算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练习1：时间审计工作表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01168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选择连续3天（包括周末）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51460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每30分钟记录一次在做什么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01752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区分：工作、学习、休息、无效消耗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52044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520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429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汇总后计算各类时间占比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02336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找出最大的"时间黑洞"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1097280"/>
            <a:ext cx="3017520" cy="3657600"/>
          </a:xfrm>
          <a:prstGeom prst="roundRect">
            <a:avLst>
              <a:gd name="adj" fmla="val 3030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工作表模板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1691640"/>
            <a:ext cx="2651760" cy="365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0" y="1691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| 活动 | 类型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103120"/>
            <a:ext cx="2651760" cy="3657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9:00 | 处理邮件 | 工作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52160" y="251460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0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9:30 | AI写报告 | 工作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2926080"/>
            <a:ext cx="2651760" cy="3657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926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10:00 | 开会 | 工作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3337560"/>
            <a:ext cx="265176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3337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 | ... | ...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建议：打印纸质版，随身携带记录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练习2：AI时间账单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记录一周内每次使用AI的场景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4048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估算各场景花费的时间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8620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标注：实际节省 vs 实际浪费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3192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计算净节省时间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7764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识别最严重的AI黑洞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5029200" cy="685800"/>
          </a:xfrm>
          <a:prstGeom prst="roundRect">
            <a:avLst>
              <a:gd name="adj" fmla="val 10667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关键问题：AI节省的时间 &gt; AI消耗的时间吗？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669280" y="1097280"/>
            <a:ext cx="3017520" cy="3886200"/>
          </a:xfrm>
          <a:prstGeom prst="roundRect">
            <a:avLst>
              <a:gd name="adj" fmla="val 3030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AI时间账单模板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806440" y="1691640"/>
            <a:ext cx="274320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16916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AI任务  用时  节省  浪费  净效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806440" y="2148840"/>
            <a:ext cx="2743200" cy="41148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1488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写邮件  5分钟  15分钟  0  +15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806440" y="2606040"/>
            <a:ext cx="2743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做PPT  20分钟  40分钟  5分钟  +35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06440" y="3063240"/>
            <a:ext cx="2743200" cy="41148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改报告  15分钟  10分钟  8分钟  +2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806440" y="3520440"/>
            <a:ext cx="2743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5852160" y="35204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  ...  ...  ...  ...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练习3：理想时间地图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5029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操作说明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9476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47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基于练习1的现实数据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24048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04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8872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设计你"理想"的一周时间分配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28620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标注：哪些时间块需要保护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33192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246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识别：现实和理想的差距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3776472"/>
            <a:ext cx="274320" cy="27432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764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制定：缩小差距的具体行动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0" y="1097280"/>
            <a:ext cx="3017520" cy="3886200"/>
          </a:xfrm>
          <a:prstGeom prst="roundRect">
            <a:avLst>
              <a:gd name="adj" fmla="val 3030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1234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理想时间地图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27432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852160" y="1691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时间段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理想活动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保护策略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06440" y="2194560"/>
            <a:ext cx="2743200" cy="45720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58521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9-11am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深度工作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不看消息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06440" y="269748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697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2-3pm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AI任务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06440" y="3200400"/>
            <a:ext cx="2743200" cy="45720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32" name="Text 30"/>
          <p:cNvSpPr/>
          <p:nvPr/>
        </p:nvSpPr>
        <p:spPr>
          <a:xfrm>
            <a:off x="58521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4-5pm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沟通协作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统一回复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06440" y="3703320"/>
            <a:ext cx="274320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85216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学习提升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无屏幕时间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52628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72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目标：每天至少2小时不受干扰的深度工作时间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案例：消失的两小时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某产品经理 · 使用AI 3个月后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3152" cy="13716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1945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日均节省2小时，但年底总结时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发现：项目进度、工作产出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和没使用AI时差不多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73152" cy="13716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1828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0600" y="21945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节省的时间去哪了？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AI生成内容需要审核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更多会议（因为准备更容易）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"反正有AI"导致的质量放松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83280"/>
            <a:ext cx="7863840" cy="1280160"/>
          </a:xfrm>
          <a:prstGeom prst="roundRect">
            <a:avLst>
              <a:gd name="adj" fmla="val 7143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AI提升效率，但不会自动带来成果。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如果没有明确的"成果定义"，效率提升只会转化为更多无效工作。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案例：提示词迭代陷阱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某咨询顾问 · 想省50%时间，实际省不到30%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问题分解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4A4A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286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2860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用AI写报告，时间减半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788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提示词迭代5次，每次20分钟 = 100分钟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918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3291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原来写报告3小时，现在写2小时（仅33%）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786384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931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4251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没有预设"足够好"的标准，导致无限优化提示词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追求完美输出的成本，超过了直接手工完成的时间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案例：邮件处理的时间悖论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325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某高管 · 使用AI邮件助手6个月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FDF8F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使用AI前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处理邮件：2小时/天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产出：清空收件箱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使用AI后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28600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处理邮件：1小时/天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但：收到邮件增加50%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因为别人知道你回复快了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786384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时间悖论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AI提升效率 → 他人预期提升 → 工作量增加 → 净收益为零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解决方案：不要让别人知道你变快了，或者把省出的时间明确用于高价值任务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 小结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三点核心洞见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01368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01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记录是管理的前提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没有数据的时间管理是盲目的。连续3天的记录会让你重新认识自己的时间。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61488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AI不减少工作量，只改变工作类型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效率悖论真实存在。省下的时间如果没有明确用途，会被新任务填满。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721608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6118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90分钟是深度工作的最小单元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9776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保护不受干扰的时间块，比管理时间本身更重要。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4805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下一个：模块2 — 贡献管理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77240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548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D4A5A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0" y="502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108960" y="54864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548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从'效率'到'贡献'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重新定义工作价值的第一步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63040" y="320040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VUCA时代的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效率悖论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301752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320040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42976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三种真相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320040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8404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从完成任务到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创造贡献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贡献思维 vs 任务思维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对比表格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任务思维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贡献思维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核心问题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我要做什么？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我能贡献什么？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时间导向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按时完成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价值实现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成功标准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任务完成率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成果被认可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关注对象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上司/制度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客户/结果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AI替代性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高（重复性）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C5C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低（判断性）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从任务到贡献的三个步骤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深入分析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160020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停止问‘做什么’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不要问‘我今天要做什么工作’，而是问‘今天我能贡献什么价值’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429000" y="13716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160020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开始问‘贡献什么’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61188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明确：我做的工作中，哪些是只有我能做的？哪些是可以被AI替代的？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89320" y="22860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309360" y="13716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9480" y="160020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72694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23774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聚焦‘不可替代’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92240" y="29260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把80%精力放在那些只有我能做的事情上，这是真正的贡献区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023360"/>
            <a:ext cx="8046720" cy="822960"/>
          </a:xfrm>
          <a:prstGeom prst="roundRect">
            <a:avLst>
              <a:gd name="adj" fmla="val 8889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任务思维问的是‘如何完成’，贡献思维问的是‘为何重要’——这个问题变了，一切都变了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德鲁克贡献三维度框架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组织贡献的三个层面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2103120"/>
            <a:ext cx="1280160" cy="12801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3931920" y="24688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097280" y="137160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371600"/>
            <a:ext cx="1645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直接成果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1965960"/>
            <a:ext cx="109728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业绩指标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3444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工作产出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可衡量价值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371600"/>
            <a:ext cx="1645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价值观与文化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1965960"/>
            <a:ext cx="109728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057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文化传承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37960" y="2331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价值观践行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团队氛围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840480"/>
            <a:ext cx="1645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0" y="3840480"/>
            <a:ext cx="16459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0" y="40233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人才培育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931920" y="4434840"/>
            <a:ext cx="109728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6" name="Text 24"/>
          <p:cNvSpPr/>
          <p:nvPr/>
        </p:nvSpPr>
        <p:spPr>
          <a:xfrm>
            <a:off x="3794760" y="4526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下属成长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94760" y="4800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能力建设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94760" y="5074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梯队培养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0" y="2194560"/>
            <a:ext cx="1645920" cy="640080"/>
          </a:xfrm>
          <a:prstGeom prst="line">
            <a:avLst/>
          </a:prstGeom>
          <a:noFill/>
          <a:ln w="19050">
            <a:solidFill>
              <a:srgbClr val="4A4A4A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H="1">
            <a:off x="4754880" y="2194560"/>
            <a:ext cx="1645920" cy="640080"/>
          </a:xfrm>
          <a:prstGeom prst="line">
            <a:avLst/>
          </a:prstGeom>
          <a:noFill/>
          <a:ln w="19050">
            <a:solidFill>
              <a:srgbClr val="4A4A4A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480560" y="3108960"/>
            <a:ext cx="91440" cy="731520"/>
          </a:xfrm>
          <a:prstGeom prst="line">
            <a:avLst/>
          </a:prstGeom>
          <a:noFill/>
          <a:ln w="19050">
            <a:solidFill>
              <a:srgbClr val="4A4A4A"/>
            </a:solidFill>
            <a:prstDash val="dash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直接成果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可衡量的工作产出与业绩贡献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直接成果的特征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可量化：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销售额、利润率、项目交付、客户满意度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可追溯：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能说清楚'因为我，这个指标提升了X%'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有时效：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在特定时间内达成的明确成果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1188720"/>
            <a:ext cx="3017520" cy="2286000"/>
          </a:xfrm>
          <a:prstGeom prst="roundRect">
            <a:avLst>
              <a:gd name="adj" fmla="val 4000"/>
            </a:avLst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3716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AI替代威胁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17830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040880" y="1737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852160" y="2331720"/>
            <a:ext cx="2651760" cy="18288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2468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40880" y="2423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52160" y="30632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重复性成果工作正在被快速替代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7947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关键洞见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直接成果是基础，但不足以让你不可替代。当AI能完成70%以上的直接成果时，你需要思考：剩下的30%是什么？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价值观与文化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最难被AI替代的贡献维度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25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价值观贡献包括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以身作则践行组织核心价值观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在团队中传承文化基因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在关键时刻做出价值判断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塑造团队工作氛围与行为准则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为什么难以被AI替代？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7373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价值观需要人来践行和传递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文化是在人与人的互动中形成的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信任建立需要情感连接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案例：销售总监的文化传承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某销售总监在团队中坚持'客户第一'的文化。当团队面临业绩压力时，他宁可放弃一笔有水分的订单，也不愿牺牲服务质量。这个决定被下属看在眼里，记在心里，成为团队文化的标杆。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74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育人与发展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最长期的投资回报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'育人本质是关系，不是内容'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德鲁克：真正的管理者的标准是，你培养的人能超越你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6060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54480" y="274320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关系建立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育人首先建立信任关系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下属愿意跟你学习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26060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274320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2044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能力迁移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6616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不仅教知识技能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更要传授判断力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606040"/>
            <a:ext cx="24688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274320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持续陪伴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37490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育人需要时间沉淀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AI无法替代陪伴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AI时代贡献门槛迁移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从'完成工作'到'只有我能做的事'的跃迁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417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过去的贡献标准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按时完成任务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达到业绩指标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完成岗位职责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846320" y="12801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现在的贡献标准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只有我能做的事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AI无法替代的判断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建立关系的能力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AI时代，贡献的定义正在从'完成工作'转变为'创造独特价值'。那些只有你能做、而AI做不了的事，才是真正的贡献区。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贡献思维缺失的三个信号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识别你或团队是否陷入'任务思维'陷阱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80160"/>
            <a:ext cx="2651760" cy="91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8" name="Shape 6"/>
          <p:cNvSpPr/>
          <p:nvPr/>
        </p:nvSpPr>
        <p:spPr>
          <a:xfrm>
            <a:off x="1508760" y="150876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忙碌但说不清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每天很忙，但被问到'你的核心贡献是什么'时，答不上来或回答模糊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3657600"/>
            <a:ext cx="19202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'我做了很多事'、'我最近特别忙'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0" y="1280160"/>
            <a:ext cx="2651760" cy="91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0560" y="150876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118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AI用了但贡献没变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引入了各种AI工具，效率提升了，但个人价值和不可替代性没有提升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3657600"/>
            <a:ext cx="19202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用AI写报告，但报告的核心价值还是来自数据而非洞察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1280160"/>
            <a:ext cx="2651760" cy="32918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1280160"/>
            <a:ext cx="2651760" cy="91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6" name="Shape 24"/>
          <p:cNvSpPr/>
          <p:nvPr/>
        </p:nvSpPr>
        <p:spPr>
          <a:xfrm>
            <a:off x="7452360" y="150876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7452360" y="15087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2286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永远在救火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2788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疲于应对紧急事务，没有时间做重要但不紧急的事，贡献停留在执行层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12280" y="3657600"/>
            <a:ext cx="19202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40690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'我也不知道为什么这么忙，但就是停不下来'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贡献层级分析工作表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640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Individual Exercise · 10分钟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列出你当前工作的5项核心任务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对每项任务评估：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这个任务贡献了什么价值？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AI能替代多少比例？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这是'只有我能做'的事吗？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标记你的贡献层级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贡献层级评估表</a:t>
            </a:r>
            <a:endParaRPr lang="en-US" sz="12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91640"/>
          <a:ext cx="365760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AI可替代%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贡献层级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例：数据分析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70%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执行层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5A5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892040" y="3794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贡献层级: 执行层 → 协调层 → 决策层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89204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目标：将至少一项任务提升到'只有我能做'的层级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274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贡献声明起草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640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Individual + Peer Challenge · 15分钟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什么是贡献声明？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一个简洁的陈述，说明你在组织中创造的核心价值。回答：'没有我，这个组织会少掉什么？'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23160"/>
            <a:ext cx="3566160" cy="457200"/>
          </a:xfrm>
          <a:prstGeom prst="roundRect">
            <a:avLst>
              <a:gd name="adj" fmla="val 10000"/>
            </a:avLst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68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公式：我的贡献是 + 因为我，组织能够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69164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用3分钟独立起草你的贡献声明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找到搭档，互相阅读对方的声明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用'小组互挑战问题'挑战对方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根据反馈修订声明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8229600" cy="1645920"/>
          </a:xfrm>
          <a:prstGeom prst="roundRect">
            <a:avLst>
              <a:gd name="adj" fmla="val 5556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好贡献声明的特征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不是'努力工作'而是'带领团队拿下X项目'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说明'只有你能做'的价值，而非通用技能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840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63640" y="4160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有可衡量的结果，而非模糊的贡献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小组互挑战问题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用于挑战对方的贡献声明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这个贡献可替代吗？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011680"/>
            <a:ext cx="356616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如果AI或同事能做同样的事，这个贡献的独特性在哪里？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23444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83480" y="141732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98348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66928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这个贡献可衡量吗？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83480" y="2011680"/>
            <a:ext cx="356616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1488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能否用具体数据或结果证明这个贡献？还是只是模糊的感觉？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1546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33756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这个贡献可持续吗？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931920"/>
            <a:ext cx="356616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069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这是一个一次性的成果，还是能持续产生价值的贡献？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31546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3337560"/>
            <a:ext cx="54864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3375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33832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这个贡献有独特性吗？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83480" y="3931920"/>
            <a:ext cx="356616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406908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换一个人做这件事，结果会有什么不同？你的不可替代性在哪？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2920" y="4434840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使用方式：两人一组，一人读贡献声明，另一人用这四个问题挑战对方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7432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C45C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274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制造业车间主管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640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价值观是最难被替代的贡献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02920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王某的故事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4663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制造业车间主管老王，50岁，在工厂干了20年。车间里引入自动化设备后，大部分重复性工作被机器取代。但老王发现，自己的价值反而凸显了——他能把老师傅们的经验整理成标准化的操作流程，能在新员工遇到问题时快速诊断问题根源，能在团队士气低落时用自己的威望稳定人心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234440"/>
            <a:ext cx="3017520" cy="2194560"/>
          </a:xfrm>
          <a:prstGeom prst="roundRect">
            <a:avLst>
              <a:gd name="adj" fmla="val 4167"/>
            </a:avLst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为什么老王不可替代？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52160" y="18288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经验判断力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文化传承力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关系凝聚力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14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价值观和文化贡献为什么难以被AI替代？因为它们需要在人与人的互动中传递，通过信任关系发挥作用。当机器能做的事越来越多，那些需要人、温度、信任的工作反而变得更加珍贵。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" y="0"/>
            <a:ext cx="9006840" cy="9144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贡献声明范例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三种不同角色的贡献声明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26517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销售管理者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业绩+育人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我的贡献是通过建立标准化的销售流程和培养团队成员的专业能力，让团队业绩年增长30%，并且培养出3名可独立运作项目的销售骨干。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1234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1234440"/>
            <a:ext cx="26517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0" y="187452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转化+决策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23317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我的贡献是将业务需求转化为可执行的产品方案，通过数据驱动的方式优化决策质量，在过去一年成功降低40%的产品迭代失败率。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2344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234440"/>
            <a:ext cx="26517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技术负责人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629400" y="1874520"/>
            <a:ext cx="1188720" cy="320040"/>
          </a:xfrm>
          <a:prstGeom prst="roundRect">
            <a:avLst>
              <a:gd name="adj" fmla="val 48571"/>
            </a:avLst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1874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技术+传承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331720"/>
            <a:ext cx="2377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我的贡献是建立技术团队的知识传承体系，通过代码审查和技术分享机制，让团队整体技术水平在6个月内提升一个等级。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回顾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8720" y="128016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137160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AI能力边界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人机分工原则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09728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28016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重新认识销售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2560320"/>
            <a:ext cx="137160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7" name="Text 15"/>
          <p:cNvSpPr/>
          <p:nvPr/>
        </p:nvSpPr>
        <p:spPr>
          <a:xfrm>
            <a:off x="278892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销售的本质是价值匹配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顾问式销售模型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9728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577840" y="128016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重新认识客户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20640" y="2560320"/>
            <a:ext cx="137160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六种客户角色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痛点与信任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1097280"/>
            <a:ext cx="1920240" cy="25603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0" y="128016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0" y="1828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21488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重新认识长处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2560320"/>
            <a:ext cx="137160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1" name="Text 29"/>
          <p:cNvSpPr/>
          <p:nvPr/>
        </p:nvSpPr>
        <p:spPr>
          <a:xfrm>
            <a:off x="7178040" y="2697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即将展开...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核心问题回顾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4297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"你卖的是什么？客户买的又是什么？"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 收尾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今日学习的核心：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销售不是卖产品，而是帮客户做决策。顾问式销售的本质是建立信任、挖掘需求、提供方案。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晚间作业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73152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089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24612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自我反思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回顾今天接触的客户，你用到了哪些角色策略？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31089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324612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场景练习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选择一个老客户案例，用顾问式销售模型重新分析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310896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24612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预习准备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72200" y="37033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思考：你的长处是什么？你的长处还值钱吗？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663440"/>
            <a:ext cx="822960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明日预告：模块3 - 长处管理 | 模块4 - 行动规划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731520" y="2651760"/>
            <a:ext cx="22860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 长处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你的长处，还算不算长处？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45C5C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45C5C">
              <a:alpha val="50000"/>
            </a:srgbClr>
          </a:solidFill>
          <a:ln/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德鲁克长处理论核心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之二：四层含义深度解读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7589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80160" y="14630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能力是优势发挥的前提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105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先识别自己的能力，再谈发挥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2240280"/>
            <a:ext cx="7589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233172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优势需要被使用才能成为价值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6791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藏在脑子里的能力不是能力，用出来的才是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7280" y="3108960"/>
            <a:ext cx="7589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280160" y="32004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补短板是在消耗资源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547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同样的时间精力，用于长处回报更高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7280" y="3977640"/>
            <a:ext cx="7589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80160" y="4069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长处需要与市场需求匹配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44165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没有市场需求的长处，价值大打折扣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为什么补短板往往得不偿失？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传统思维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短板不短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花费大量时间精力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从60分提到80分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长处没变长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投入长处的时间减少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优势反而被削弱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AI时代视角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短板让AI来补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AI填补技能缺口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你专注于人类优势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长处要更突出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人机协作下的长处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才是真正的竞争力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核心洞见：与其补短板，不如把长处发挥到极致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AI时代能力地图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能力价值正在被重新定义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45920"/>
            <a:ext cx="3931920" cy="1828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AI高度擅长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内容生成与优化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逻辑推理与计算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模式识别与分类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28016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8B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1645920"/>
            <a:ext cx="3931920" cy="1828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人类高度擅长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模糊情境判断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人际信任建立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复杂谈判与协调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跨领域创新整合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D4A5A5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83280"/>
            <a:ext cx="3931920" cy="4572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38328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4A4A4A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749040"/>
            <a:ext cx="3931920" cy="1828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AI高度不擅长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真实场景体验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情感深度共鸣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价值意义判断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身体力行的信任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38328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383280"/>
            <a:ext cx="3931920" cy="45720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338328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D4A5A5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749040"/>
            <a:ext cx="3931920" cy="1828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正在快速变化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9319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复杂推理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多步骤规划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跨模态理解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← AI能力 →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AI高度擅长区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这些能力正在被AI快速替代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结构化数据分析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数据清洗、统计建模、报表生成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Excel高级函数 → AI自动分析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内容生成与优化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文案撰写、图片设计、语音合成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文案专员 → AI生成+人工审核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7160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逻辑推理与计算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数学解题、代码编写、逻辑推导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基础编程 → AI代码生成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8892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模式识别与分类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图像识别、语音转文字、文本分类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质检员 → AI视觉检测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78892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35204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知识检索与整合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资料查询、信息汇总、知识库构建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2044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市场调研 → AI报告生成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78892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流程自动化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RPA、审批流程、数据录入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行政文员 → AI流程处理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警示：如果你做的主要是这些工作，需要尽快转型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AI高度不擅长区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人类独有的核心能力，暂时难以被替代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91440" cy="1234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模糊情境判断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在信息不完整、情境模糊的情况下做出合理决策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危机处理、战略规划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71600"/>
            <a:ext cx="91440" cy="1234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人际信任建立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通过真实互动、情感共鸣建立深度信任关系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客户关系、团队领导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137160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371600"/>
            <a:ext cx="91440" cy="1234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5087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复杂谈判协调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8288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在多方利益冲突中找到各方都能接受的方案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2860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商务谈判、纠纷调解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88920"/>
            <a:ext cx="91440" cy="1234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跨领域创新整合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将不同领域的知识进行创造性整合，产生新价值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产品创新、商业模式创新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788920"/>
            <a:ext cx="91440" cy="1234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真实场景体验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在真实物理和社会环境中完成需要动手的经验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现场销售、实地考察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278892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788920"/>
            <a:ext cx="91440" cy="1234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29260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价值意义判断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92240" y="3246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对事物的价值、意义、美丑做出主观判断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70332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艺术鉴赏、伦理决策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C45C5C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核心竞争力：这些能力越强，越难被AI替代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中间地带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正在快速变化的领域，人机协作成为关键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6400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D4A5A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2651760" cy="2743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创意生成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AI可以提供大量创意选项，但判断哪个创意有价值、适合当前情境，仍需要人类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C45C5C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 → 人类决策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371600"/>
            <a:ext cx="2651760" cy="6400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37160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D4A5A5"/>
          </a:solidFill>
          <a:ln/>
        </p:spPr>
      </p:sp>
      <p:sp>
        <p:nvSpPr>
          <p:cNvPr id="16" name="Shape 14"/>
          <p:cNvSpPr/>
          <p:nvPr/>
        </p:nvSpPr>
        <p:spPr>
          <a:xfrm>
            <a:off x="3383280" y="1828800"/>
            <a:ext cx="2651760" cy="2743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复杂推理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多步骤逻辑推理、因果分析，AI正在快速进步，但复杂场景下的推理仍需人类校验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15468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C45C5C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人机协作校验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37160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371600"/>
            <a:ext cx="2651760" cy="6400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371600"/>
            <a:ext cx="2651760" cy="731520"/>
          </a:xfrm>
          <a:prstGeom prst="roundRect">
            <a:avLst>
              <a:gd name="adj" fmla="val 12500"/>
            </a:avLst>
          </a:prstGeom>
          <a:solidFill>
            <a:srgbClr val="D4A5A5"/>
          </a:solidFill>
          <a:ln/>
        </p:spPr>
      </p:sp>
      <p:sp>
        <p:nvSpPr>
          <p:cNvPr id="24" name="Shape 22"/>
          <p:cNvSpPr/>
          <p:nvPr/>
        </p:nvSpPr>
        <p:spPr>
          <a:xfrm>
            <a:off x="6309360" y="1828800"/>
            <a:ext cx="2651760" cy="2743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多步骤规划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92240" y="2194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AI可以制定计划框架，但根据实际情况灵活调整、承担后果，仍是人类的工作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154680"/>
            <a:ext cx="2103120" cy="320040"/>
          </a:xfrm>
          <a:prstGeom prst="roundRect">
            <a:avLst>
              <a:gd name="adj" fmla="val 17143"/>
            </a:avLst>
          </a:prstGeom>
          <a:solidFill>
            <a:srgbClr val="C45C5C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AI规划 → 人类执行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在这些领域，关键是学会与AI协作——用AI扩展能力边界，用人类判断掌控方向。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人的长处类型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之一：认知长处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认知长处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在信息整合、模式识别、概念抽象等方面，人类仍然具有独特优势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信息整合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将分散的信息整合成完整图景，看到别人看不到的联系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战略顾问、市场分析师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模式识别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在复杂数据中识别规律和异常，发现潜在机会和风险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投资经理、医生诊断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概念抽象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从具体现象中提炼本质概念，建立理论框架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科学家、哲学家、产品经理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8B0000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AI时代的价值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AI可以处理海量数据，但真正的洞察来自于人类的抽象思维和跨界整合能力。这些能力越强，越难被AI替代。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人的长处类型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之二：关系长处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关系长处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在信任建立、共情沟通、冲突协调等方面，人类具有不可替代的优势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信任建立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通过真实互动、情感共鸣建立深度信任，这是AI无法伪造的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销售、领导力、心理咨询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共情沟通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理解对方情绪和立场，进行情感层面的交流和引导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谈判、客服、管理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冲突协调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在多方利益冲突中找到平衡点，化解矛盾达成共识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项目管理、中介、HR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8B0000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AI时代的价值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AI可以分析关系数据，但真正的信任和情感连接需要真实的互动。这些能力是销售的核心竞争力，也是最难被量化和替代的。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人的长处类型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之三：情境判断长处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情境判断长处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在模糊信息下做决策、面对未知情境时，人类具有独特的应对能力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模糊决策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在信息不完整的情况下，基于经验和直觉做出合理判断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危机处理、创业决策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未知应对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面对从未遇到过的情境，能够快速学习和适应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新市场开拓、创新业务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2377440"/>
            <a:ext cx="246888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风险直觉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对潜在风险有敏锐的直觉，能够提前预判和规避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15468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投资、风控、战略规划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8B0000">
              <a:alpha val="9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AI时代的价值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AI需要大量数据才能做决策，而真正的商业机会往往存在于数据空白的地方。这种在不确定性中找到方向的能力，是人类的核心竞争力。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你的长处还值不值钱？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两个关键维度：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市场价值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你的长处是否被市场需要？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AI替代程度如何？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市场需求是否稳定？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付费意愿强不强？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竞争门槛高不高？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独特程度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你的长处是否稀缺？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14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有多少人具备这个能力？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你能做到什么程度？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能否持续精进？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是否有个人特色？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023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343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你的长处：市场需要吗？独特吗？两者兼具，才是真正的竞争力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练习7：AI时代长处矩阵工作表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用坐标系找到你的位置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3657600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C45C5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691640"/>
            <a:ext cx="3657600" cy="1828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高市场 x 高独特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核心竞争区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重点投入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371600"/>
            <a:ext cx="3657600" cy="411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4297680" y="13716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4A4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4297680" y="1691640"/>
            <a:ext cx="3657600" cy="1828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高市场 x 低独特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187452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需要差异化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或另寻方向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D4A5A5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017520"/>
            <a:ext cx="3657600" cy="4114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17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D4A5A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337560"/>
            <a:ext cx="3657600" cy="1828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低市场 x 高独特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520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小众领域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考虑变现方式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97680" y="30175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D4A5A5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97680" y="3017520"/>
            <a:ext cx="3657600" cy="4114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30175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4A4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3337560"/>
            <a:ext cx="3657600" cy="18288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297680" y="30906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低市场 x 低独特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34840" y="35204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重新定位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独特程度 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 rot="16200000">
            <a:off x="4206240" y="1371600"/>
            <a:ext cx="365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市场价值 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137160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4880" y="196596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66360" y="1984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列出你的3个核心能力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754880" y="246888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2468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24871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评估每个能力的市场价值（高/低）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29718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2971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299008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评估每个能力的独特程度（高/低）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347472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43" name="Text 41"/>
          <p:cNvSpPr/>
          <p:nvPr/>
        </p:nvSpPr>
        <p:spPr>
          <a:xfrm>
            <a:off x="475488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66360" y="34930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将能力标记在坐标系中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754880" y="397764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46" name="Text 44"/>
          <p:cNvSpPr/>
          <p:nvPr/>
        </p:nvSpPr>
        <p:spPr>
          <a:xfrm>
            <a:off x="4754880" y="3977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66360" y="39959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根据位置确定投入策略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长处矩阵四个象限的行动建议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173736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第一象限：核心竞争区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高市场 x 高独特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全力投入，深挖护城河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建立个人品牌和影响力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持续精进，保持领先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96012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960120"/>
            <a:ext cx="109728" cy="17373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051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第二象限：差异化区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高市场 x 低独特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2064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找到独特的切入点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建立细分领域的专家地位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避免同质化竞争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D4A5A5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80360"/>
            <a:ext cx="109728" cy="17373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第三象限：小众区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低市场 x 高独特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探索多元化变现方式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考虑向相邻领域扩展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保持热情，控制投入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88036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D4A5A5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880360"/>
            <a:ext cx="109728" cy="17373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第四象限：转型区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3291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低市场 x 低独特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2064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重新评估能力定位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寻找新的学习方向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考虑向第一象限转型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练习8：团队能力重组工作表（管理者选做）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AI时代，团队价值不在于每个人都能完成所有任务，而在于整体能力结构的优化。用AI填补短板，用长处构建差异化竞争力。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08760" y="26974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能力盘点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识别团队每个成员的核心长处和短板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26974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人机匹配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将工作分配给最擅长的人，AI辅助处理标准化任务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56032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26974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63640" y="3246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结构优化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根据市场需要，调整团队能力结构配置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97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产出：团队能力矩阵表（每人所长 x 所负责工作 x AI辅助方式）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案例1：数据分析师的转型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手动跑数据、做报表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每天花6小时处理数据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重复性劳动占比80%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价值感低，可替代性强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0" y="1920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转型后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AI数据标注员 + 分析师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用AI处理海量数据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专注数据解读和洞察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提供决策建议，价值倍增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转型关键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不是放弃分析能力，而是用AI放大分析能力。让AI处理数据，自己专注在AI无法替代的洞察和判断上。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长处建设指南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应该持续投入的能力类型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C45C5C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783080"/>
            <a:ext cx="2651760" cy="1828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AI难以替代的人际能力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深度共情和信任建立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复杂谈判和冲突协调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团队领导和激励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1371600"/>
            <a:ext cx="265176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13716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1783080"/>
            <a:ext cx="2651760" cy="1828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跨领域整合创新能力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跨界知识整合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复杂问题分析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创新解决方案设计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371600"/>
            <a:ext cx="265176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37160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C45C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309360" y="1783080"/>
            <a:ext cx="2651760" cy="1828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模糊情境判断能力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不确定环境决策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风险预判和规避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快速学习和适应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8B0000">
              <a:alpha val="9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投入原则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把80%的学习时间投入到这些领域，而不是补短板。选择一个方向深耕，成为top 10%。</a:t>
            </a:r>
            <a:endParaRPr lang="en-US" sz="13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长处建设指南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应该重新审视的能力类型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需要重新定义的技能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这些技能本身有价值，但需要升级交付方式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2359152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手动数据分析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AI辅助数据洞察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862072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基础文案撰写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AI内容审核与优化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3364992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标准流程执行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603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异常情况处理+流程优化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4023360" cy="2560320"/>
          </a:xfrm>
          <a:prstGeom prst="roundRect">
            <a:avLst>
              <a:gd name="adj" fmla="val 3571"/>
            </a:avLst>
          </a:prstGeom>
          <a:solidFill>
            <a:srgbClr val="D4A5A5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需要果断放弃的技能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834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AI替代率高、投入产出比低的技能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2359152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海量信息检索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交给AI处理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2862072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重复性文档工作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0372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269480" y="2788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交给AI处理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3364992"/>
            <a:ext cx="228600" cy="2286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基础客服应答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0372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948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交给AI处理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06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原则：与其花时间学会用AI做这些事，不如把时间投入到AI无法替代的能力上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模块3 核心总结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128016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长处比短板更重要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73736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51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AI时代，补短板的成本越来越高，收益越来越低。把时间投入到长处上，才能形成真正的竞争力。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28016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长处需要与市场需求匹配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40480" y="2514600"/>
            <a:ext cx="173736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651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有价值的长处必须被市场需要、被客户认可。不能转化为价值的优势，不是真正的优势。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109728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60920" y="128016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46520" y="20116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人机协作是最佳策略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2514600"/>
            <a:ext cx="1737360" cy="2743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517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用AI放大人之长处，而不是试图与AI竞争。用AI处理标准化任务，人专注在需要判断和信任的工作上。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297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你的长处是什么？你的长处还值钱吗？你准备如何投入？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2560320"/>
            <a:ext cx="22860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926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行动规划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从知道到做到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926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06908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AI工具实战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效率提升10倍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377440" cy="1371600"/>
          </a:xfrm>
          <a:prstGeom prst="roundRect">
            <a:avLst>
              <a:gd name="adj" fmla="val 5333"/>
            </a:avLst>
          </a:prstGeom>
          <a:solidFill>
            <a:srgbClr val="FFFFFF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6656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个人品牌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建立影响力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45C5C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C45C5C">
              <a:alpha val="50000"/>
            </a:srgbClr>
          </a:solidFill>
          <a:ln/>
        </p:spPr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731520" y="3017520"/>
            <a:ext cx="1828800" cy="7315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91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从有效到卓越的跨越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第二天的核心命题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C45C5C"/>
          </a:solidFill>
          <a:ln/>
        </p:spPr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模块4-6 学习路线图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2560320" cy="13716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1417320" y="1828800"/>
            <a:ext cx="914400" cy="9144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要事优先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3520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AI时代的优先级判断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25880" y="374904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1325880" y="3749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当前模块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20440" y="1371600"/>
            <a:ext cx="2560320" cy="1371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828800"/>
            <a:ext cx="914400" cy="9144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70332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高效执行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03320" y="3520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从计划到行动的无缝衔接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37160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1371600"/>
            <a:ext cx="2560320" cy="1371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69480" y="1828800"/>
            <a:ext cx="914400" cy="9144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6948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62940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复盘迭代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629400" y="3520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从经验中提取持续改进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546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08076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8B0000">
              <a:alpha val="9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今天的挑战：AI让你能做的事多了三倍，怎么判断什么最重要？</a:t>
            </a:r>
            <a:endParaRPr lang="en-US" sz="13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要事优先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2860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AI让你能做的事多了三倍，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怎么判断什么最重要？</a:t>
            </a:r>
            <a:endParaRPr lang="en-US" sz="2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要事优先基本框架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德鲁克命题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"效率是正确地做事，效能是做正确的事。"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743200"/>
            <a:ext cx="640080" cy="64008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正确地做事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方法论、执行力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流程优化、技能提升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做事的效率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解决"如何做"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39319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2743200"/>
            <a:ext cx="640080" cy="6400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2743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做正确的事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937760" y="3474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方向选择、优先级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战略思维、价值判断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做事的效能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解决"做什么"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AI时代，"如何做"变得前所未有的容易，"做什么"变得前所未有的关键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重要与紧迫的四象限迷思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109728" cy="173736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258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重要且紧迫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立即行动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危机、 deadline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43000"/>
            <a:ext cx="109728" cy="1737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325880"/>
            <a:ext cx="45720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重要不紧迫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18745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计划执行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规划、预防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109728" cy="17373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291840"/>
            <a:ext cx="457200" cy="45720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紧迫不重要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8016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尽量委托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干扰、邮件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108960"/>
            <a:ext cx="3840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108960"/>
            <a:ext cx="109728" cy="17373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3291840"/>
            <a:ext cx="457200" cy="45720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不重要不紧迫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38404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浪费时间的事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德鲁克的激进观点：真正有效的人，几乎不需要在四象限之间权衡</a:t>
            </a:r>
            <a:endParaRPr lang="en-US" sz="14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四象限详解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C45C5C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真正有效的人几乎不需要在四象限间权衡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48840"/>
            <a:ext cx="2651760" cy="109728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普通人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被紧迫牵着走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总是在救火，总是在处理紧急的事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34440" y="40690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4A4A4A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069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III + 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148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2148840"/>
            <a:ext cx="2651760" cy="1097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优秀的人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主动规划II类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提前处理重要但不紧迫的事，减少救火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40690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8B0000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0" y="4069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II 为主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14884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2148840"/>
            <a:ext cx="2651760" cy="109728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2423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卓越的人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5508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定义什么是重要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383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不被动响应，自己决定什么值得做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406908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C45C5C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95160" y="4069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跳出象限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AI时代，能做的事爆炸式增长，更需要先定义"重要"再行动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AI时代新三角关系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3146591" y="3749040"/>
            <a:ext cx="1425409" cy="-2468880"/>
          </a:xfrm>
          <a:prstGeom prst="line">
            <a:avLst/>
          </a:prstGeom>
          <a:noFill/>
          <a:ln w="38100">
            <a:solidFill>
              <a:srgbClr val="D4A5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280160"/>
            <a:ext cx="1425409" cy="2468880"/>
          </a:xfrm>
          <a:prstGeom prst="line">
            <a:avLst/>
          </a:prstGeom>
          <a:noFill/>
          <a:ln w="38100">
            <a:solidFill>
              <a:srgbClr val="D4A5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46591" y="3749040"/>
            <a:ext cx="2850817" cy="0"/>
          </a:xfrm>
          <a:prstGeom prst="line">
            <a:avLst/>
          </a:prstGeom>
          <a:noFill/>
          <a:ln w="38100">
            <a:solidFill>
              <a:srgbClr val="D4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051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23631" y="2926080"/>
            <a:ext cx="1645920" cy="1645920"/>
          </a:xfrm>
          <a:prstGeom prst="ellipse">
            <a:avLst/>
          </a:prstGeom>
          <a:solidFill>
            <a:srgbClr val="C45C5C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23631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23631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时间压力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174449" y="2926080"/>
            <a:ext cx="1645920" cy="1645920"/>
          </a:xfrm>
          <a:prstGeom prst="ellipse">
            <a:avLst/>
          </a:prstGeom>
          <a:solidFill>
            <a:srgbClr val="4A4A4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74449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AI快速完成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74449" y="3931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能力杠杆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2606040"/>
            <a:ext cx="1280160" cy="640080"/>
          </a:xfrm>
          <a:prstGeom prst="ellipse">
            <a:avLst/>
          </a:prstGeom>
          <a:solidFill>
            <a:srgbClr val="FDF8F8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6060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三选一？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传统决策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18872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1325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AI时代的挑战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传统：重要 vs 紧迫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二维抉择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现在：三维博弈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AI能快速完成的≠该做的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需要新的判断框架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54864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72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三角都在变：AI能做的越来越多，时间压力持续存在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三角关系详解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虚假联盟的识别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91440" cy="1234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"这事很重要，也很紧迫"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最常见的虚假联盟——把紧迫伪装成重要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630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DF8F8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087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"王总，这个客户很重要，下周就要签约了！"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205740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057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真相：紧迫感≠重要，只是时间压力在作祟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743200"/>
            <a:ext cx="91440" cy="1234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"AI能快速完成，应该做"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用效率替代效能判断——能做≠该做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28346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D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880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"AI写这份报告只要5分钟，比以前快多了！"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42900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3429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真相：AI的效率优势不能改变事情本身的价值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4114800"/>
            <a:ext cx="91440" cy="1234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"大家都在做"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4526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社会认同伪装成重要性——从众≠正确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4206240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D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251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"竞品都在做这个功能，我们不能落后"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800600"/>
            <a:ext cx="3931920" cy="411480"/>
          </a:xfrm>
          <a:prstGeom prst="roundRect">
            <a:avLst>
              <a:gd name="adj" fmla="val 13333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4800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真相：别人在做的事不一定是你该做的事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真正的问题：这件事对目标的贡献是什么？而不是：它紧迫吗？它快吗？别人做了吗？</a:t>
            </a:r>
            <a:endParaRPr lang="en-US" sz="11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要事识别三问法概述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面对任务列表，用这三个问题快速筛选要事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737360"/>
            <a:ext cx="685800" cy="6858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停掉有什么后果？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40680" y="17373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不做会怎样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1031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评估事情的不可替代性——后果越严重，越可能是要事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78892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971800"/>
            <a:ext cx="685800" cy="6858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71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29260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只有我能做吗？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4068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独特性判断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337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只有你能做的，其他人做不了的，这才是你的核心价值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4023360"/>
            <a:ext cx="77724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4206240"/>
            <a:ext cx="685800" cy="6858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9164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做好有乘数效应吗？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4206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杠杆作用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45720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一件事能否放大其他工作的效果，或产生连锁反应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8B0000">
              <a:alpha val="9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三个问题都是"是"的，就是你的要事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"停掉有什么后果？"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评估事情的不可替代性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不问自己的后果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默认所有事情都该做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被紧急事件牵着鼻子走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习惯性忙碌掩盖战略缺失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忙了一天却没忙到点上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问自己的结果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1488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发现很多事停了也没后果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分清真重要和假紧迫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敢于停掉低价值任务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聚焦真正影响结果的事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很多任务因为"一直在做"而继续——从未真正问过它是否该停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"只有我能做吗？"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评估事情的独特性与不可替代性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任务的独特性层级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只有我能做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必须亲自完成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2011680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我参与会更好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主导但可分工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4A4A4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别人也能做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4688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可委托执行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20116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D4A5A5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2103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谁都行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78040" y="24688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考虑取消或自动化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21488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独特性递减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应用原则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只有你能做的 → 亲自做，立即做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你参与会更好的 → 参与但可分工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别人也能做的 → 委托、授权、外包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谁都能做的 → 考虑取消或AI自动化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把"只有我能做"的时间留给真正重要的事，其他尽量委托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"做好有乘数效应吗？"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7160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评估事情的杠杆作用与连锁反应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4572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00200"/>
            <a:ext cx="2651760" cy="914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直接效果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只影响一件事本身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例：回复一封邮件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600200"/>
            <a:ext cx="2651760" cy="91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3-5x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291840" y="2468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放大效果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一件事做好，其他事效果翻倍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例：制定清晰的工作流程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1600200"/>
            <a:ext cx="2651760" cy="91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78308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10x+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126480" y="2468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连锁效果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7889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引发一系列正向改变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例：建立团队培训体系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高乘数效应的任务特征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为后续工作搭建框架或基础设施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培养能力后可复制到多个场景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解决根本问题而非表面症状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做事前先问：这件事能放大什么？</a:t>
            </a:r>
            <a:endParaRPr lang="en-US" sz="1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遗弃原则概述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德鲁克遗弃测试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"如果今天不是已经在做这件事，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还会开始做吗？"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063240"/>
            <a:ext cx="109728" cy="14630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如果答案是"不会"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那为什么要继续做？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这就是"遗弃候选"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需要制定停止计划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6324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3063240"/>
            <a:ext cx="109728" cy="1463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如果答案是"会"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继续做，但定期重审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确认前提条件是否还在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思考如何做得更好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9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遗弃不是放弃，而是战略性撤退——停止低价值任务，释放精力给高价值任务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遗弃的三个阻力来源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为什么我们很难停止做一件事？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828800"/>
            <a:ext cx="731520" cy="731520"/>
          </a:xfrm>
          <a:prstGeom prst="ellipse">
            <a:avLst/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习惯性遗弃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"一直都在做"成了继续做的理由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DF8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例：每周例会、每周报告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828800"/>
            <a:ext cx="731520" cy="7315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2900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压力性遗弃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停下来会感到内疚或焦虑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0" y="36576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DF8F8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例：不敢拒绝额外任务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26517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86600" y="1828800"/>
            <a:ext cx="731520" cy="7315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63640" y="26974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真空性遗弃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3154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担心停掉之后不知道该做什么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65760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DF8F8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3657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例：取消低效会议后时间空出来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38912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>
              <a:alpha val="92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识别阻力来源，才能对症下药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遗弃阻力详解：习惯性与压力性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习惯性遗弃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"一直都在做"成了继续做的理由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每周例会——"一直都是我主持"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月度报告——"一直都是我写"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客户维护——"一直都是我对接"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破解方法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定期清零视角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假设今天从零开始还会做吗？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交给别人试试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压力性遗弃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停下来会感到内疚或焦虑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典型表现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不敢拒绝——"怕领导失望"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不敢放手——"别人做不好"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不敢停掉——"显得不敬业"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破解方法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区分"内疚感"和"真正重要"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拒绝是为了更好地负责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信任团队的能力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警惕：用"一直都在做"代替思考，是战略懒惰的典型表现</a:t>
            </a:r>
            <a:endParaRPr lang="en-US" sz="13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遗弃阻力详解：真空性与遗弃不是放弃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5486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真空性遗弃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"停掉之后我不知道该做什么"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忙碌感=安全感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空出来的时间是"威胁"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用低效填满时间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不敢面对空白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遗弃不是放弃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战略性撤退的智慧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9456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停掉低价值 = 保护高价值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减法有时比加法更有效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释放精力给真正重要的事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遗弃是选择，不是失败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D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49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3749040"/>
            <a:ext cx="2743200" cy="3200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放弃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3749040"/>
            <a:ext cx="2743200" cy="3200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28600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遇到困难就停止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不负责任地退出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41148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评估后主动选择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战略性资源分配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练习9：要事筛选工作表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三问法应用练习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停掉有什么后果？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后果严重性评估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6459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7830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7764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只有我能做吗？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独特性判断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1228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做好有乘数效应吗？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杠杆作用评估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工作表模板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657600"/>
            <a:ext cx="2743200" cy="32004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29000" y="3657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不停后果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只有我能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3657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乘数效应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680960" y="365760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023360"/>
            <a:ext cx="2743200" cy="365760"/>
          </a:xfrm>
          <a:prstGeom prst="roundRect">
            <a:avLst>
              <a:gd name="adj" fmla="val 10000"/>
            </a:avLst>
          </a:prstGeom>
          <a:solidFill>
            <a:srgbClr val="FDF8F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例：写月度报告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9000" y="40233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DF8F8"/>
          </a:solidFill>
          <a:ln/>
        </p:spPr>
      </p:sp>
      <p:sp>
        <p:nvSpPr>
          <p:cNvPr id="37" name="Shape 35"/>
          <p:cNvSpPr/>
          <p:nvPr/>
        </p:nvSpPr>
        <p:spPr>
          <a:xfrm>
            <a:off x="4846320" y="40233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DF8F8"/>
          </a:solidFill>
          <a:ln/>
        </p:spPr>
      </p:sp>
      <p:sp>
        <p:nvSpPr>
          <p:cNvPr id="38" name="Shape 36"/>
          <p:cNvSpPr/>
          <p:nvPr/>
        </p:nvSpPr>
        <p:spPr>
          <a:xfrm>
            <a:off x="6263640" y="40233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DF8F8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40233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DF8F8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操作：列出你的5个任务，用三问法筛选出真正的要事</a:t>
            </a:r>
            <a:endParaRPr lang="en-US" sz="13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练习10：遗弃候选清单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遗弃测试 + 阻力来源标注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遗弃候选清单模板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201168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2194560"/>
            <a:ext cx="1554480" cy="3200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阻力类型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2011680" cy="3657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606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每周部门邮件汇报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2606040"/>
            <a:ext cx="1554480" cy="3657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606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063240"/>
            <a:ext cx="2011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63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领导临时加的任务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3063240"/>
            <a:ext cx="1554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30632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压力性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2011680" cy="3657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取消后空出来的时间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3520440"/>
            <a:ext cx="1554480" cy="36576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520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645920"/>
            <a:ext cx="393192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1783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阻力来源标注指南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029200" y="224028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4A4A4A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习惯性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"一直都在做"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283464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压力性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不停感到内疚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0" y="3429000"/>
            <a:ext cx="1097280" cy="365760"/>
          </a:xfrm>
          <a:prstGeom prst="roundRect">
            <a:avLst>
              <a:gd name="adj" fmla="val 15000"/>
            </a:avLst>
          </a:prstGeom>
          <a:solidFill>
            <a:srgbClr val="C45C5C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4290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真空性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3429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担心不知道做什么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3434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8B0000">
              <a:alpha val="9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434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操作步骤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列出"遗弃候选"任务 → 2. 标注阻力来源 → 3. 针对性制定停止计划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AI时代要事陷阱：能做≠该做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AI放大次要事务的吸引力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3931920" cy="50292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传统陷阱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紧急的事先做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别人要求的事先做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熟悉的事先做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救火队式忙碌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做的事情都是别人决定的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AI放大的陷阱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AI让所有事都能快速完成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更容易陷入"能做的都做"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忙碌感替代成就感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更高效的伪忙碌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3611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用效率掩盖方向的迷失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AI时代，最危险的不是不会做，而是不知道该做什么</a:t>
            </a:r>
            <a:endParaRPr lang="en-US" sz="13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AI时代要事陷阱：忙碌感替代成就感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C45C5C">
              <a:alpha val="9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忙碌感的三个特征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做了很多事，但问"这对目标有什么贡献"时答不上来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468880"/>
            <a:ext cx="2651760" cy="914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反应式忙碌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被任务推着走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邮件来了立即回，会议来了立即去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468880"/>
            <a:ext cx="2651760" cy="91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执行式忙碌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执行但不复盘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一直在做，但从不问为什么做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4688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2468880"/>
            <a:ext cx="2651760" cy="91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表演式忙碌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忙碌是为了展示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"我真的很忙"成了口头禅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真正有效的状态：做完一件事有"成就感"，而不是"忙碌感"</a:t>
            </a:r>
            <a:endParaRPr lang="en-US" sz="14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案例：咨询顾问的"要事陷阱"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李明是咨询顾问，AI工具让他能同时跟进更多项目。但他发现自己做更多项目了，但客户满意度反而下降，收入也没明显增长。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91440" cy="182880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做的项目多了，但每项深度下降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"能做更多"让他接了不该接的项目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低质量项目消耗了高质量项目的时间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331720"/>
            <a:ext cx="91440" cy="18288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用三问法筛选项目：停掉后果？只有我能做？乘数效应？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拒绝"能做但不该做"的项目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聚焦高价值客户，提升深度而非广度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8B0000">
              <a:alpha val="9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805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AI让咨询顾问能同时跟进10个项目，但真正有价值的可能是只做3个项目但每个都做到极致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案例：产品经理的遗弃困境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"每日签到"功能的停不掉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王芳是产品经理，app里有个"每日签到"功能，DAU贡献15%但完全不创造核心用户价值。开发团队多次建议下线，但她总觉得"万一有用呢"。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三个阻力来源分析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2697480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4A4A4A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97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习惯性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"当年是我主导设计的功能"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2697480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2697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压力性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"老板说DAU很重要"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256032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697480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2697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真空性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108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"停了这个功能我不知道做什么补充"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解决：遗弃测试 + 替代方案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问："如果今天不是已经在做，还会开始做吗？" → 答案：不会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制定替代方案：用有价值的"每日任务"替代无意义的签到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结果：DAU短期微跌，但用户付费率提升40%</a:t>
            </a:r>
            <a:endParaRPr lang="en-US" sz="11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案例：国企中层管理者的困惑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73152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"AI让一切变快，但'该做什么'没变"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张总在国企工作，AI普及后他发现自己能做的事情更多了，但每天仍然忙得不可开交。他用AI把报告写快了，把数据分析加速了，但为什么还是这么累？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91440" cy="192024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8346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AI提升的是"做事效率"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但没人告诉他"该做什么"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他把AI省下的时间又填满了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还是在做"别人觉得重要的事"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39319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286000"/>
            <a:ext cx="91440" cy="1920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真正需要的改变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用三问法重新审视任务清单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识别并停掉低价值任务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保护"战略性时间"不被填满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敢于对"紧急但不重要"说不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AI时代最大的陷阱：用更快的速度做更多不重要的事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要事管理工具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393192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要事保护机制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时间块保护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每天锁定2小时处理要事，不安排会议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勿扰模式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处理要事时关闭通知，集中注意力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任务边界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明确"今天必须完成"的任务边界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能量管理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把要事安排在一天中精力最旺盛的时段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3931920" cy="5029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要事与AI分工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交给AI做：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初稿撰写、数据整理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格式调整、翻译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信息检索、文件归档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人来做：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判断什么重要（战略决策）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复杂问题分析与解决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关系维护与协作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创造性思考与创新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6177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原则：把AI省下的时间投资在高价值任务上，而不是填满它</a:t>
            </a:r>
            <a:endParaRPr lang="en-US" sz="13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 核心总结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65860" y="13258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6" name="Text 4"/>
          <p:cNvSpPr/>
          <p:nvPr/>
        </p:nvSpPr>
        <p:spPr>
          <a:xfrm>
            <a:off x="116586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 &gt; 效率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AI时代，"做什么"比"怎么做"更重要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4700" y="13258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33147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97480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三问法筛选要事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停掉后果？只有我能做？乘数效应？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63540" y="13258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546354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遗弃是智慧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停止低价值任务是战略撤退，不是失败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12380" y="132588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761238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AI放大的陷阱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忙碌感替代成就感是最大的敌人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3375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过渡到模块5：高效执行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从"做正确的事"到"正确地做事"——如何把要事真正落地执行？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模块5预告：时间管理 → 能量管理 → 执行系统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模块4核心：AI时代，最重要的不是更努力，而是更明智地选择</a:t>
            </a:r>
            <a:endParaRPr lang="en-US" sz="13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731520"/>
            <a:ext cx="5486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0" b="1" dirty="0">
                <a:solidFill>
                  <a:srgbClr val="FDF8F8">
                    <a:alpha val="1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有效决策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2860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AI给了你10个方案，你为什么还需要自己做决策？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0" y="3840480"/>
            <a:ext cx="1097280" cy="1097280"/>
          </a:xfrm>
          <a:prstGeom prst="ellipse">
            <a:avLst/>
          </a:prstGeom>
          <a:solidFill>
            <a:srgbClr val="C45C5C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46720" y="3291840"/>
            <a:ext cx="731520" cy="731520"/>
          </a:xfrm>
          <a:prstGeom prst="ellipse">
            <a:avLst/>
          </a:prstGeom>
          <a:solidFill>
            <a:srgbClr val="D4A5A5">
              <a:alpha val="20000"/>
            </a:srgbClr>
          </a:solidFill>
          <a:ln/>
        </p:spPr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德鲁克决策五步骤框架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5087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识别问题类型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005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区分普遍性还是特殊性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423160" y="128016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26080" y="15087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9260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明确边界条件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97480" y="3108960"/>
            <a:ext cx="1005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目标与最低可接受结果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6908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92040" y="15087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8056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制定替代方案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3108960"/>
            <a:ext cx="1005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至少三个可行选项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355080" y="128016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5087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4652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权衡方案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629400" y="3108960"/>
            <a:ext cx="1005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追求最合适而非最优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01000" y="26517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321040" y="1280160"/>
            <a:ext cx="1554480" cy="32004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A5A5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823960" y="15087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8239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412480" y="22860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决策转行动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595360" y="3108960"/>
            <a:ext cx="1005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324612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转化为具体行动计划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8229600" cy="365760"/>
          </a:xfrm>
          <a:prstGeom prst="roundRect">
            <a:avLst>
              <a:gd name="adj" fmla="val 15000"/>
            </a:avLst>
          </a:prstGeom>
          <a:solidFill>
            <a:srgbClr val="C45C5C">
              <a:alpha val="1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德鲁克: 决策是管理者最重要的任务，需要系统化的思考框架</a:t>
            </a:r>
            <a:endParaRPr lang="en-US" sz="11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步骤一：识别问题类型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8B00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普遍性问题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重复发生的、多个案例共享的问题，需要建立原则和制度来解决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926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可预测、周期性发生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需要系统性解决方案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治本而非治标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客户流失、员工效率低、生产流程瓶颈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C45C5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5156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10515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特殊性问题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9204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0116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首次发生、情况独特的问题，需要具体分析具体处理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9260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一次性、偶发性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需要快速响应处理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解决当下问题即可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6576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突发危机、唯一客户投诉、新市场进入决策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2560320"/>
            <a:ext cx="640080" cy="640080"/>
          </a:xfrm>
          <a:prstGeom prst="ellipse">
            <a:avLst/>
          </a:prstGeom>
          <a:solidFill>
            <a:srgbClr val="FDF8F8"/>
          </a:solidFill>
          <a:ln w="25400">
            <a:solidFill>
              <a:srgbClr val="C45C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AI在两类问题上的优劣势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4572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03120" y="1005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普遍性问题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94960" y="1005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381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特殊性问题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1645920" cy="128016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AI优势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快速识别规律模式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批量处理类似案例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提供历史数据洞察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69164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快速检索类似案例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提供多角度分析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辅助信息收集整理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12801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80360"/>
            <a:ext cx="1645920" cy="12801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AI劣势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971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难以建立原创原则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可能过度依赖经验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创新性解决方案不足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2971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每个案例都需人工判断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难以处理完全新颖情况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缺乏情境理解深度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12801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4160520"/>
            <a:ext cx="1645920" cy="1280160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160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4251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AI提供分析，人制定原则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AI识别模式，人判断适用性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425196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AI提供参考，人做最终决策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AI处理信息，人把握全局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关键: AI是强大的工具，但判断力始终在人</a:t>
            </a:r>
            <a:endParaRPr lang="en-US" sz="13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AI辅助决策的四类风险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544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答案偏差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AI生成的答案看似专业，实则包含不易察觉的错误或偏见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51560"/>
            <a:ext cx="73152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Shape 10"/>
          <p:cNvSpPr/>
          <p:nvPr/>
        </p:nvSpPr>
        <p:spPr>
          <a:xfrm>
            <a:off x="4983480" y="155448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6692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责任稀释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691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AI参与决策后，出现问题时代码责任归属变得模糊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73152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3375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替代方案思维萎缩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过度依赖AI生成方案，人类主动构造方案的能力逐渐退化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83464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834640"/>
            <a:ext cx="73152" cy="1554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4" name="Shape 22"/>
          <p:cNvSpPr/>
          <p:nvPr/>
        </p:nvSpPr>
        <p:spPr>
          <a:xfrm>
            <a:off x="4983480" y="33375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9280" y="3063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问题定义外包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3474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直接让AI定义问题本身，而非让它辅助人类定义问题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这四类风险相互关联，可能在一次决策中同时出现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风险一：答案偏差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不可见性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AI的答案偏差具有高度隐蔽性：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答案格式规范、逻辑通顺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语气自信，像在陈述事实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缺乏不确定性的表达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引用数据难以快速核实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人类倾向于相信"专业"输出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0233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医疗诊断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AI根据症状列出可能疾病，但遗漏罕见病因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投资建议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4231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AI推荐看似合理的投资组合，实则存在模型过拟合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法律分析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AI引用判例时，可能混淆案件关键事实差异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520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技术方案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AI生成的代码包含隐藏的安全漏洞或性能问题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4A5A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核心问题：越是需要专业判断的场景，越难察觉AI的答案偏差</a:t>
            </a:r>
            <a:endParaRPr lang="en-US" sz="14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风险二：责任稀释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当AI参与决策过程，失误责任归属变得模糊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AI开发者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算法设计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训练数据偏差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模型局限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1920240"/>
            <a:ext cx="4572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37160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D4A5A5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使用者/决策者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1828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理解偏差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过度依赖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监督缺位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0" y="1920240"/>
            <a:ext cx="4572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0" y="1371600"/>
            <a:ext cx="18288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49440" y="18288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流程不完善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制度缺失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34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责任稀释的陷阱：各方都有部分责任 = 各方都不承担全部责任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谁该为AI辅助决策负责？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最终决策者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永远是人类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4251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5C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AI建议采纳者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对采纳行为负责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4251960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C4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42976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AI系统提供方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对系统质量负责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风险三：替代方案思维萎缩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依赖AI后主动构造方案的能力逐渐退化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能力退化路径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" y="2148840"/>
            <a:ext cx="36576" cy="3657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691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频繁使用AI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遇到问题第一时间问AI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3232" y="2880360"/>
            <a:ext cx="36576" cy="3657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方案对比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只评估AI给出的选项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3232" y="3611880"/>
            <a:ext cx="36576" cy="36576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主动减少思考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等待AI给出现成答案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思维惯性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156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没有AI时不知如何思考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280160"/>
            <a:ext cx="41148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54880" y="1417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核心危险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754880" y="1783080"/>
            <a:ext cx="37490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当AI给出的方案都不理想时，不知如何构造新方案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丧失"跳出框架"思考的能力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30175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在AI故障或不可用时完全无法决策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5661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对复杂问题的理解变得表面化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41148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 失去在讨论中提出原创想法的信心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AI应该是思考的起点，而非思考的终点</a:t>
            </a:r>
            <a:endParaRPr lang="en-US" sz="15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AI辅助决策分工原则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决策链分解：明确人与AI的各自职责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决策环节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371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职责说明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057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20574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明确要解决的核心问题是什么，界定问题边界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914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7432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27432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确定约束条件、可接受的风险范围、关键利益方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8229600" cy="914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429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替代方案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0" y="34290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AI生成多个可能的解决方案，拓展思路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914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148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方案评估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0" y="41148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人类主导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0" y="41148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人类基于价值观和经验评估各方案优劣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914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800600"/>
            <a:ext cx="822960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8006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行动转化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743200" y="48006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人类负责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0" y="480060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制定执行计划，明确责任人和时间节点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486400"/>
            <a:ext cx="8229600" cy="914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4" name="Shape 32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C45C5C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原则：AI提供选项，人类做出选择；AI辅助分析，人类主导判断</a:t>
            </a:r>
            <a:endParaRPr lang="en-US" sz="14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不能外包的三类决策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这些决策必须保留在人类手中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146304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价值判断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涉及是非对错、道德伦理、价值取向的判断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246120"/>
            <a:ext cx="19202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决策前问自己：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这个决定是否符合公司价值观？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904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是否存在利益冲突？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197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对利益相关方是否公平？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3832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关系信任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42900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涉及人际关系、信任建立、情感连接的判断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0" y="3246120"/>
            <a:ext cx="19202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决策前问自己：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这个人值得信任吗？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904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团队协作氛围如何？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29000" y="4197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客户真正的关切是什么？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37160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9" name="Shape 27"/>
          <p:cNvSpPr/>
          <p:nvPr/>
        </p:nvSpPr>
        <p:spPr>
          <a:xfrm>
            <a:off x="7132320" y="155448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179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不可逆后果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63640" y="2651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涉及重大且难以挽回后果的决策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92240" y="3246120"/>
            <a:ext cx="19202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决策前问自己：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这个决定能撤销吗？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39044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最坏情况是什么？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63640" y="419709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容错空间有多大？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D4A5A5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AI可以提供信息和建议，但最终的判断必须由人类做出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批判性使用AI检查清单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9144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在接受AI决策建议前，问自己这四个问题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640080" cy="1508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问题是我自己定义的吗？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确保问题定义权在人类手中，而非让AI替我定义了问题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371600"/>
            <a:ext cx="640080" cy="1508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37160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1554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AI的答案有验证过吗？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对AI提供的数据、引用、案例进行独立核实，不轻信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08960"/>
            <a:ext cx="640080" cy="1508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10896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我考虑了替代方案吗？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在做决定前，是否主动思考过AI方案之外的其他可能性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397764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08960"/>
            <a:ext cx="640080" cy="15087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108960"/>
            <a:ext cx="640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3291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我能对这个决定负责吗？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37490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明确自己作为决策者的责任，不能因为"AI说的"而推卸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D4A5A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AI是强大的工具，但最好的决策来自人类的批判性思维 + AI的高效辅助</a:t>
            </a:r>
            <a:endParaRPr lang="en-US" sz="13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练习11：决策案例解构工作表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AI质检系统案例 — 完整工作表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C45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280160"/>
            <a:ext cx="1097280" cy="320040"/>
          </a:xfrm>
          <a:prstGeom prst="roundRect">
            <a:avLst>
              <a:gd name="adj" fmla="val 17143"/>
            </a:avLst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某制造企业引入AI视觉质检系统，初期准确率达98%，但三个月后突然被产线投诉漏检率上升。调查发现：AI系统针对常规产品表现优异，但对新引入的特殊工艺产品识别准确率大幅下降，且未及时预警。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练习说明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使用'案例解构五个追问'框架，对上述案例进行深入分析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每个追问提供一个具体的分析结论（不少于50字）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20040" cy="32004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7490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最终形成一页完整的案例解构分析报告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输出格式：手写或电子版案例解构报告（建议用时15分钟）</a:t>
            </a:r>
            <a:endParaRPr lang="en-US" sz="12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案例解构的五个追问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决策案例分析的核心框架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261872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6187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18872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这是什么类型的问题？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14813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区分：结构化/半结构化/非结构化；日常运营/战略转型/危机处理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0240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084832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08483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20116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边界条件是什么？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23042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明确：时间约束、资源限制、相关方利益、成功标准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743200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2907792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9077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2834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有哪些替代方案？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312724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至少列出3个可行方案，避免'只有一种选择'的思维定式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730752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3075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3657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如何权衡评估？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95020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使用决策矩阵：利弊分析、风险评估、成本收益比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89120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553712"/>
            <a:ext cx="502920" cy="384048"/>
          </a:xfrm>
          <a:prstGeom prst="roundRect">
            <a:avLst>
              <a:gd name="adj" fmla="val 19048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5537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44805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如何转化为行动？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325880" y="477316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具体步骤、责任分配、时间节点、检查机制</a:t>
            </a:r>
            <a:endParaRPr lang="en-US" sz="11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练习12：AI决策流程设计工作表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设计一个人机协作的AI辅助决策流程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1371600"/>
            <a:ext cx="402336" cy="402336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数据输入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AI采集与预处理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29968" y="1691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48840" y="12344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24912" y="1371600"/>
            <a:ext cx="402336" cy="402336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724912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4028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4028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多维度模式识别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21608" y="1691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0480" y="12344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16552" y="1371600"/>
            <a:ext cx="402336" cy="402336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416552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93192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方案生成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备选方案推荐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13248" y="1691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2120" y="12344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1371600"/>
            <a:ext cx="402336" cy="402336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108192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62356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人类判断把关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04888" y="169164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223760" y="1234440"/>
            <a:ext cx="1554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45C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99832" y="1371600"/>
            <a:ext cx="402336" cy="402336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799832" y="13716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执行决策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0" y="2148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实施与跟踪优化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2743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练习任务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3154680"/>
            <a:ext cx="228600" cy="22860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3154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3108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选择一个实际业务决策场景（如：库存采购、客户信用评估、产品定价）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3538728"/>
            <a:ext cx="228600" cy="22860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353872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14400" y="34930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使用上方框架，设计该场景的AI辅助决策流程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3922776"/>
            <a:ext cx="228600" cy="22860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92277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14400" y="38770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明确标注：哪些环节由AI主导？哪些环节需要人工介入？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228600" cy="228600"/>
          </a:xfrm>
          <a:prstGeom prst="ellipse">
            <a:avLst/>
          </a:prstGeom>
          <a:solidFill>
            <a:srgbClr val="D4A5A5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430682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14400" y="426110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识别潜在风险点，并设计相应的监控机制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输出：流程图 + 关键节点说明（建议用时20分钟）</a:t>
            </a:r>
            <a:endParaRPr lang="en-US" sz="11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数据驱动的决策失败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沉默的高价值用户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某电商平台数据分析团队发现：平台20%的活跃用户贡献了80%的营收。团队决定聚焦高活跃用户，优化推荐算法和营销资源。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六个月后业绩下滑——原来那些"沉默用户"才是真正的利润来源，他们购买频次低但客单价极高，且对频繁推送的营销信息非常反感。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关键洞察：数据反映的"相关性"不等于"因果性"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问题根因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把活跃度等同于价值，忽略了沉默用户的真实需求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决策失误分析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173736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737360"/>
            <a:ext cx="54864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828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数据偏见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12140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只分析"可量化"的行为，忽略"不可量化"的需求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60604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606040"/>
            <a:ext cx="54864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6974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相关性陷阱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299008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活跃度与高价值只是相关，而非因果关系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4747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474720"/>
            <a:ext cx="54864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反馈循环缺失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3858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没有收集沉默用户的真实反馈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34340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343400"/>
            <a:ext cx="54864" cy="7772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434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短期思维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72744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追求DAU、MAU指标，忽视长期用户价值（LTV）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AI辅助的招聘决策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简历光鲜但面试一般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某科技公司引入AI简历筛选系统，通过分析历史录用数据，训练出"理想候选人"画像。系统对简历进行打分排序，推荐前10%进入面试。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使用半年后，HR发现：AI推荐的候选人简历漂亮、面试表现却普遍一般，离职率也高于以往。调查发现：AI学会了"简历优化"的套路，而非真实能力。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94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核心问题：AI优化的是"被录取"的概率，而非"胜任工作"的能力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AI决策失误的三个层次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0" y="182880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8288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97880" y="18288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历史数据本身有偏差，优秀简历被录用不等于真正胜任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6060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274320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7432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7432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AI提取的"优秀特征"可能是表面特征，非核心能力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5204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65760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65760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97880" y="365760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优化目标（简历得分）≠ 实际目标（工作表现）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教训：AI是强大的工具，但需要人类定义正确的优化目标并持续校准</a:t>
            </a:r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自动驾驶与决策责任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1%关键节点的人的责任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核心问题：当AI做出决策导致事故时，责任应该如何划分？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256032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技术责任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自动驾驶系统的算法提供方是否承担产品责任？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331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331720"/>
            <a:ext cx="2560320" cy="73152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人类监督责任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驾驶员/监管员在交接过程中的失职如何界定？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0" y="233172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2331720"/>
            <a:ext cx="2560320" cy="73152"/>
          </a:xfrm>
          <a:prstGeom prst="rect">
            <a:avLst/>
          </a:prstGeom>
          <a:solidFill>
            <a:srgbClr val="4A4A4A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2514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制度设计责任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9260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社会是否为AI决策提供了足够清晰的法规框架？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关键洞见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AI决策系统越强大，人类在"1%关键节点"的判断力就越重要。这1%的场景往往是AI训练数据的盲区，需要人类经验、直觉和责任意识来兜底。</a:t>
            </a:r>
            <a:endParaRPr lang="en-US" sz="11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AI质检系统案例的解构分析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案例：AI视觉质检系统漏检率突然上升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381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24712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24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1064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这是什么类型的问题？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38074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非结构化问题。表面上是技术问题（漏检率上升），实质上是"AI与新工艺适配"的复杂系统问题，涉及技术、管理、流程多个层面。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D4A5A5">
              <a:alpha val="30000"/>
            </a:srgbClr>
          </a:solidFill>
          <a:ln w="3810">
            <a:solidFill>
              <a:srgbClr val="4A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929384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19110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边界条件是什么？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18541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时间：三个月内必须解决；资源：有限的AI调参能力；利益相关方：生产部门（追求效率）、质量部门（追求零缺陷）、IT部门（追求系统稳定）。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660904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3810">
            <a:solidFill>
              <a:srgbClr val="4A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734056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34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有哪些替代方案？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99008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方案1：重新训练AI模型适配新工艺；方案2：引入人工复检环节作为AI的兜底；方案3：暂时降低新工艺产品的产能占比。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465576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D4A5A5">
              <a:alpha val="30000"/>
            </a:srgbClr>
          </a:solidFill>
          <a:ln w="381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538728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387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352044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如何权衡评估？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794760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短期效果：方案3最快但牺牲产能；长期效果：方案1最彻底但需要时间；风险控制：方案2最稳妥但增加人力成本。推荐组合方案1+2。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4270248"/>
            <a:ext cx="82296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3810">
            <a:solidFill>
              <a:srgbClr val="4A4A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343400"/>
            <a:ext cx="292608" cy="29260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43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43251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如何转化为行动？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59943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立即：启动人工复检机制控制漏检；短期（2周）：收集新工艺产品样本数据；中期（1个月）：完成AI模型迭代优化；长期：建立工艺变更的AI适配流程。</a:t>
            </a:r>
            <a:endParaRPr lang="en-US" sz="9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有效决策的核心洞见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173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4447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决策质量 &gt; 决策速度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好的决策需要充分的信息收集、替代方案探索和风险评估。匆忙决策往往是最大的时间浪费。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1732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447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数据是工具，不是老板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AI和数据分析是强大的决策支持工具，但最终决策需要人类判断，特别是处理"1%关键节点"。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1089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363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边界比方案更重要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3566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在开始寻找解决方案之前，先明确问题的边界条件，往往能避免大量的无效努力。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1089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108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1363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决策-行动必须闭环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3703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没有跟踪和复盘的决策等于没有决策。每次决策都要设定检查点和调整机制。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从"知道"到"做到"，决策能力的提升需要持续刻意练习</a:t>
            </a:r>
            <a:endParaRPr lang="en-US" sz="12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→ MODULE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从"知道"到"做到"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有效决策的最后一公里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C4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模块5的收获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834640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五个追问框架分析案例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182112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36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AI辅助决策的边界与责任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3529584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838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数据驱动决策的局限与陷阱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877056"/>
            <a:ext cx="182880" cy="18288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31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有效决策的四个核心洞见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0" y="31089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9050">
            <a:solidFill>
              <a:srgbClr val="8B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模块6的预告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834640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2788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高效执行的方法论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3182112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49240" y="3136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克服行动阻力的策略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3529584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349240" y="34838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从决策到成果的转化路径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877056"/>
            <a:ext cx="182880" cy="1828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5349240" y="3831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持续改进的反馈机制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知道是起点，做到才是终点</a:t>
            </a:r>
            <a:endParaRPr lang="en-US" sz="18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模块六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效能重构计划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246120"/>
            <a:ext cx="1371600" cy="54864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3474720"/>
            <a:ext cx="7680960" cy="1280160"/>
          </a:xfrm>
          <a:prstGeom prst="roundRect">
            <a:avLst>
              <a:gd name="adj" fmla="val 714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30天行动计划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从"我知道"到"我做到"的距离是多少？</a:t>
            </a:r>
            <a:endParaRPr lang="en-US" sz="22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模块6的三个功能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为什么这是整个课程的终点，也是真正的起点？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1737360"/>
            <a:ext cx="822960" cy="8229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56032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把两天的学习内容编织成个人专属的效能系统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737360"/>
            <a:ext cx="822960" cy="8229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44068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6616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从"我听懂了"到"我要做"——社会性承诺的力量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1463040"/>
            <a:ext cx="256032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78040" y="1737360"/>
            <a:ext cx="822960" cy="8229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2104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26974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46520" y="3108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有仪式感的收尾，让改变真正发生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课程设计逻辑：听讲（输入）→ 练习（转化）→ 计划（输出）→ 承诺（固化）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模块6就是从"知识"到"行动"的最后一公里</a:t>
            </a:r>
            <a:endParaRPr lang="en-US" sz="12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效能现状总结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用五个框架重新审视自己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时间重构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463040"/>
            <a:ext cx="27432" cy="4114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716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我的时间花得值吗？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1488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贡献澄清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2240280"/>
            <a:ext cx="27432" cy="4114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2148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我到底在为什么而忙？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97180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29260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长处聚焦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00400" y="3017520"/>
            <a:ext cx="27432" cy="4114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92608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我的核心优势用上了吗？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要事筛选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0" y="3794760"/>
            <a:ext cx="27432" cy="4114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703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我在做真正重要的事吗？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731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4526280"/>
            <a:ext cx="502920" cy="5029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526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4480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决策自主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0400" y="4572000"/>
            <a:ext cx="27432" cy="411480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3383280" y="44805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我有勇气说"不"吗？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活动A预告：每人用2分钟分享"最有感触的一个框架"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现状总结的方法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五个关键问题 — 对自己诚实，才能真正改变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过去一个月，我的时间分配和我的价值观一致吗？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92240" y="139903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3990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优先级自查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84832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84832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084832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57984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我最引以为傲的能力，在当前工作中用到了多少？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249424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24942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优势利用率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35224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35224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35224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97280" y="3008376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如果AI能做我一半的工作，我的价值体现在哪里？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3099816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09981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不可替代性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785616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85616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85616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3858768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有哪些"不得不做"的事情，其实完全可以不做？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3950208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395020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遗弃清单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636008"/>
            <a:ext cx="77724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636008"/>
            <a:ext cx="73152" cy="71323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636008"/>
            <a:ext cx="365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4709160"/>
            <a:ext cx="5303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我的最佳工作状态，通常在什么时间和环境下出现？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92240" y="4800600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480060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效能巅峰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0916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没有标准答案，但有真实的答案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好计划的四个特征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为什么你的计划总是半途而废？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38862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不是"多读书"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而是"每天早起后读10页书"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28016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280160"/>
            <a:ext cx="38862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63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6916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明确衡量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83480" y="210312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"我可以量化进度吗？"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"进度可见吗？"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38862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可验证成果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977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"完成后有什么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可以证明的结果？"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154680"/>
            <a:ext cx="3886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3154680"/>
            <a:ext cx="38862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Time-bound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5661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现实时间框架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83480" y="39776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"什么时候完成？"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"每周几行动？"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5720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记忆法：SMART原则 — 前三个字母正好对应前三个特征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 vs 模糊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为什么"我要更高效"不是计划？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solidFill>
            <a:srgbClr val="4A4A4A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模糊计划（无效）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1280160"/>
            <a:ext cx="41148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具体计划（有效）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458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7373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我要更高效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810512"/>
            <a:ext cx="27432" cy="40233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73736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每天上午10点前处理最重要邮件，控制在30分钟内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8458200" cy="54864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2860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我要多读书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359152"/>
            <a:ext cx="27432" cy="40233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228600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每天早起后读10页《效能心智》，周末做笔记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458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34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我要减少加班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907792"/>
            <a:ext cx="27432" cy="40233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83464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每周三定为"无会议日"，下午6点准时下班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383280"/>
            <a:ext cx="8458200" cy="548640"/>
          </a:xfrm>
          <a:prstGeom prst="rect">
            <a:avLst/>
          </a:prstGeom>
          <a:solidFill>
            <a:srgbClr val="FDF8F8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3832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我要提升能力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3456432"/>
            <a:ext cx="27432" cy="40233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3832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每月完成1个AI工具的系统学习，输出实操文章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458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931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我要健康生活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4005072"/>
            <a:ext cx="27432" cy="40233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93192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每天走8000步，晚餐后散步20分钟，不找借口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89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关键区别：模糊计划触发"差不多就行"，具体计划触发"做到为止"</a:t>
            </a:r>
            <a:endParaRPr lang="en-US" sz="15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可验证成果的重要性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没有结果的努力，是另一种形式的忙碌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什么是可验证成果？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109728" cy="10972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完成后有具体证据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9728" cy="10972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他人可以观察和确认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514600"/>
            <a:ext cx="109728" cy="10972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自己可以拍照/截图证明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109728" cy="109728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有数量、时间、质量的硬指标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417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举例说明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读了更多书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读完《效能心智》，写了3篇读书笔记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提升了效率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2402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2240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邮件处理时间从每天2小时降到45分钟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更懂AI了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6517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651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能用ChatGPT独立完成一份市场分析报告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忙碌感替代成就感，是AI时代最大的效能陷阱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自测：你上周做的事情，有几件能在本周拿出可验证的成果？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如果少于3件，说明你可能只是看起来很忙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30天效能重构计划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为什么是30天？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74520"/>
            <a:ext cx="7315200" cy="54864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55648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40280" y="1755648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03320" y="1755648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166360" y="1755648"/>
            <a:ext cx="274320" cy="27432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习惯形成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29400" y="1755648"/>
            <a:ext cx="274320" cy="27432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1417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2057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2651760"/>
            <a:ext cx="548640" cy="5486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习惯养成周期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研究表明21天足以形成一个新的行为习惯。30天计划包含21天习惯养成期，确保新行为真正内化。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468880"/>
            <a:ext cx="38862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83480" y="265176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3560" y="26974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心理接受期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8348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额外9天用于克服"三分钟热度"和心理阻力期。第一个障碍通常在第3-4天出现，第二个在第10天左右。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1605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 = 21天习惯养成 + 9天心理接受度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超过21天的阻力往往不是习惯本身的问题，而是对改变的抗拒 — 所以需要额外的缓冲期</a:t>
            </a:r>
            <a:endParaRPr lang="en-US" sz="11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聚焦领域选择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五个领域 — 选一个作为30天的核心突破方向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572768" cy="25603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572768" cy="109728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时间重构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841248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060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重新设计时间分配，让真正重要的事获得足够时间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21408" y="1234440"/>
            <a:ext cx="1572768" cy="25603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21408" y="1234440"/>
            <a:ext cx="1572768" cy="1097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121408" y="1508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12848" y="1965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贡献澄清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87168" y="2468880"/>
            <a:ext cx="841248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2212848" y="26060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明确自己的核心价值，不再"什么都在做，什么都不精"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85616" y="1234440"/>
            <a:ext cx="1572768" cy="25603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85616" y="1234440"/>
            <a:ext cx="1572768" cy="109728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3785616" y="1508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77056" y="1965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长处聚焦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51376" y="2468880"/>
            <a:ext cx="841248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2" name="Text 20"/>
          <p:cNvSpPr/>
          <p:nvPr/>
        </p:nvSpPr>
        <p:spPr>
          <a:xfrm>
            <a:off x="3877056" y="26060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找到自己的核心优势，把时间更多地投入在擅长领域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9824" y="1234440"/>
            <a:ext cx="1572768" cy="25603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9824" y="1234440"/>
            <a:ext cx="1572768" cy="1097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49824" y="1508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41264" y="1965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要事筛选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15584" y="2468880"/>
            <a:ext cx="841248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8" name="Text 26"/>
          <p:cNvSpPr/>
          <p:nvPr/>
        </p:nvSpPr>
        <p:spPr>
          <a:xfrm>
            <a:off x="5541264" y="26060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用"三问法"筛选要事，停止低价值的忙碌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14032" y="1234440"/>
            <a:ext cx="1572768" cy="256032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14032" y="1234440"/>
            <a:ext cx="1572768" cy="109728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7114032" y="15087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05472" y="196596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决策自主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479792" y="2468880"/>
            <a:ext cx="841248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4" name="Text 32"/>
          <p:cNvSpPr/>
          <p:nvPr/>
        </p:nvSpPr>
        <p:spPr>
          <a:xfrm>
            <a:off x="7205472" y="2606040"/>
            <a:ext cx="138988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夺回时间自主权，有勇气对低价值事务说"不"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0233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8B000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选一个，不是五个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0080" y="4480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30天只做一件事，才能真正做到。贪多，是效能计划失败的最主要原因。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时间重构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重新设计时间分配，让真正重要的事获得足够时间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分析上周时间日志，识别"时间黑洞"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找出每天最高效的2小时，设为"要事时间"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删除或委托低价值任务（至少1项）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设置每日结束仪式，回顾当日成果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衡量方式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要事时间占比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每天&gt;=2小时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258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时间黑洞减少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258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22585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至少1项消除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825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周回顾完成率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2825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28254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100%完成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3924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效能自评提升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392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33924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较上周期+1分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提示：时间重构的核心不是"更努力"，而是"更明智地选择放弃"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长处聚焦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找到自己的核心优势，把时间更多地投入在擅长领域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完成VIA品格优势测评或strengthsfinder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回顾过去6个月"心流体验"时刻，识别共同优势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本周至少安排3小时在"使用优势"的任务上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找一个能将优势转化为价值的具体项目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衡量方式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优势识别清晰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3明确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258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优势使用时间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258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22585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周均&gt;=3小时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825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优势项目数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2825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28254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启动&gt;=1个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3924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效能感自评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392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33924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较基线+1分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提示："木桶原理"已过时。发挥长处，才是这个时代最硬的道理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要事筛选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用"三问法"筛选要事，停止低价值的忙碌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每个任务前做"三问筛选"：停掉后果？只有我能做？乘数效应？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每日列出Top 3要事，优先完成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建立"遗弃清单"：列出"可以不做"的事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对"紧急但不重要"的事说"不"或委托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衡量方式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三问执行率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每日应用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258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 3完成率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258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22585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&gt;=80%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825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遗弃清单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2825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28254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&gt;=5项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3924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要事时间占比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392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33924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&gt;=60%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提示：AI时代，最重要的不是效率，而是选择"对的事"的能力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领域五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116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决策自主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夺回时间自主权，有勇气对低价值事务说"不"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具体行动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645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识别"取悦他人的习惯"，列出最消耗能量的3项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945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练习说"不"：对低价值请求，明确拒绝或延迟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7432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设立"边界保护时间"：每天留出1小时不被打扰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与关键 stakeholders 重新校长期望值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1097280"/>
            <a:ext cx="41148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衡量方式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1691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"不"的使用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86600" y="1691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16916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本周&gt;=3次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25856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边界时间守护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225856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52360" y="22585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每日达标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825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取悦习惯减少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86600" y="282549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452360" y="2825496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-1项/周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83480" y="339242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自主感自评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86600" y="339242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52360" y="339242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较基线+1分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D4A5A5">
              <a:alpha val="5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提示：说"不"不是自私，而是对自己和他人负责的表现</a:t>
            </a:r>
            <a:endParaRPr lang="en-US" sz="12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效能现状总结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小组分享 — 每人2分钟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活动目的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通过语言输出加速思考内化，在同伴的反馈中获得新视角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7863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57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操作流程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37744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每人用1分钟分享："五个框架中，我最有感触的一个，以及为什么"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61488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67004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小组内其他成员可以追问："你打算怎么改变？"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054096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96265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最后1分钟：每人用一句话说出"我的30天承诺"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时间：每组8-10分钟（4-5人 x 2分钟/人）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4160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引导师提示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如果有人分享遇到困难，可以追问："如果AI能做你一半的工作，你的价值在哪里？"</a:t>
            </a:r>
            <a:endParaRPr lang="en-US" sz="11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30天效能重构计划工作表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个人作业 — 填写30天行动计划表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工作表填写内容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164592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60020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聚焦领域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16002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从5个领域中选1个，作为30天核心突破方向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14884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1031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具体目标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103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用SMART原则写出30天后的可验证成果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265176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51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6060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关键行动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60604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列出3-5项具体行动（每周聚焦1项）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15468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10896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资源支持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68880" y="31089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谁/什么能帮助你达成？需要什么工具？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障碍预案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68880" y="36118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可能的阻碍是什么？如何克服？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7863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产出：填写完毕的《30天效能重构计划表》</a:t>
            </a:r>
            <a:endParaRPr lang="en-US" sz="12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双人契约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社会性承诺 — Partner互相监督跟进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86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3886200" cy="4572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515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什么是Partner制度？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Partner是你30天行动中的"问责伙伴"：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965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与一位同伴结成对子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146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231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每周一次，线上或线下检查进度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9718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80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互相鼓励，而非互相批评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3375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如果一方动摇，另一方给予支持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1051560"/>
            <a:ext cx="38862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051560"/>
            <a:ext cx="3886200" cy="45720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05156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Partner的职责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6916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600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每周至少1次进度确认（15分钟）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74920" y="21488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2057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问："这周做到了什么？下周计划？"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74920" y="26060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7" name="Text 25"/>
          <p:cNvSpPr/>
          <p:nvPr/>
        </p:nvSpPr>
        <p:spPr>
          <a:xfrm>
            <a:off x="5257800" y="25146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遇到困难时一起想办法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30632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动摇时提醒对方当初的承诺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74920" y="3520440"/>
            <a:ext cx="91440" cy="914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达成里程碑时给予认可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社会性承诺的力量：研究显示，公开承诺能让目标达成率提升65%以上</a:t>
            </a:r>
            <a:endParaRPr lang="en-US" sz="12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双人契约规则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Partner的职责 + 跟进方式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25880" y="14173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417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63040" y="182880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周检视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30分钟视频/电话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21031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这周做到了什么？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493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下周计划？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694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有什么障碍？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06240" y="14173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C45C5C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1417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182880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47472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双周深度谈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7472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60分钟线下聚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11880" y="3200400"/>
            <a:ext cx="21031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4" name="Text 22"/>
          <p:cNvSpPr/>
          <p:nvPr/>
        </p:nvSpPr>
        <p:spPr>
          <a:xfrm>
            <a:off x="3520440" y="3291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进展如何？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20440" y="3493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需要调整计划吗？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20440" y="3694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有什么突破？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1792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86600" y="1417320"/>
            <a:ext cx="914400" cy="292608"/>
          </a:xfrm>
          <a:prstGeom prst="roundRect">
            <a:avLst>
              <a:gd name="adj" fmla="val 18750"/>
            </a:avLst>
          </a:prstGeom>
          <a:solidFill>
            <a:srgbClr val="C45C5C"/>
          </a:solidFill>
          <a:ln/>
        </p:spPr>
      </p:sp>
      <p:sp>
        <p:nvSpPr>
          <p:cNvPr id="29" name="Text 27"/>
          <p:cNvSpPr/>
          <p:nvPr/>
        </p:nvSpPr>
        <p:spPr>
          <a:xfrm>
            <a:off x="7086600" y="14173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1828800"/>
            <a:ext cx="640080" cy="64008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55080" y="2560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30天复盘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2880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完成/调整/重启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92240" y="3200400"/>
            <a:ext cx="21031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3291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达成了什么？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34930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学到了什么？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694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下一步？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8862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9776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契约守则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" y="429768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Partner不是教练，是问责伙伴 — 互相支持，而非互相评判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44805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每次检视以鼓励开场，以行动承诺结束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6634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如果一方连续2周无进展，主动发起对话了解情况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全班收尾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60秒改变承诺 — 全班集体仪式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什么是60秒改变承诺？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每人用60秒时间，在全班面前公开说出自己的30天效能重构承诺。这是一次性的、高密度的社会性承诺仪式。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786384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148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操作方式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60320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4688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每人轮流起立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80360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7889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用30秒说出：聚焦领域 + 具体目标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1089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用30秒说出：最大的障碍 + 如何克服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520440"/>
            <a:ext cx="73152" cy="73152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429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说完后，全班一起喊："一起加油！"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总时间：班级人数 x 1.5分钟（约）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4348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引导师提示：这是整个课程的能量高点。确保场地氛围庄重但不压抑，温暖但不散漫。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60秒分享设计逻辑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为什么这个设计能真正激发改变？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91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压缩考验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60秒的限制制造紧迫感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让人必须提炼精华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不能绕弯子说废话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234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34440"/>
            <a:ext cx="2651760" cy="914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公开承诺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在全班面前说出口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社会性压力瞬间形成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说出来就要做到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2651760" cy="9144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1417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集体氛围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1488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全班一起喊"加油"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能量高点互相传染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仪式感强化记忆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底层原理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承诺一致性原理：人说出来的事情，大脑会自动调整行为去实现它。尤其是公开承诺——丢失面子比完成任务更让人难以接受。</a:t>
            </a:r>
            <a:endParaRPr lang="en-US" sz="13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效能周回顾卡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课后周回顾工具 — 每日5分钟，每周30分钟复盘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3886200" cy="411480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每日5分钟晨间检视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今天最重要的1件事是什么？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这件事完成后，美好的一天会怎样？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05456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阻碍是什么？我如何克服？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1188720"/>
            <a:ext cx="38862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188720"/>
            <a:ext cx="3886200" cy="41148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8872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每周30分钟周回顾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本周做到了什么？（可验证成果）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20299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本周遇到了什么障碍？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32257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下周我有什么调整计划？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615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我需要什么支持？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复盘不是自我批评，而是"校准方向"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"做到了什么"比"没做到什么"更重要 — 先肯定再调整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5935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障碍不是失败，是信号 — 问"这告诉我什么？"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215384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复盘的目的是下次更好，不是证明自己不够好</a:t>
            </a:r>
            <a:endParaRPr lang="en-US" sz="11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课后跟进机制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 / 2周 / 4周 — 三阶段跟进设计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6400800" cy="36576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527048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1周跟进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确认计划启动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解决初始障碍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8B0000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Partner首次通话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89120" y="1527048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2周跟进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检视进展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调整计划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931920" y="278892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8B0000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小组视频会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589520" y="1527048"/>
            <a:ext cx="365760" cy="36576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1188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0" y="1965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30天复盘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4088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成果验收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经验总结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278892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C45C5C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2788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全班线上复盘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7432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第1周跟进内容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确认Partner对接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"30天承诺"是否启动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遇到任何障碍？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27432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47472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第2周跟进内容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进展如何？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需要调整目标吗？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资源支持到位？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2743200"/>
            <a:ext cx="26517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2834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30天复盘内容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55080" y="3200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达成了什么成果？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55080" y="3474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学到了什么？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37490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下一步是什么？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43484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跟进是效能计划成功的关键 — 没有跟进，计划只是愿望</a:t>
            </a:r>
            <a:endParaRPr lang="en-US" sz="14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D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两天的旅程回顾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从"我知道"到"我做到"，我们一起走过的路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280160" cy="17373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2801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时间管理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315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时间日志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1234440"/>
            <a:ext cx="1280160" cy="17373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74520" y="1234440"/>
            <a:ext cx="12801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贡献澄清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48840" y="2240280"/>
            <a:ext cx="7315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1280160" cy="17373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234440"/>
            <a:ext cx="12801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33756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长处聚焦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2240280"/>
            <a:ext cx="7315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优势识别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1234440"/>
            <a:ext cx="1280160" cy="17373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234440"/>
            <a:ext cx="12801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要事筛选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83480" y="2240280"/>
            <a:ext cx="7315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234440"/>
            <a:ext cx="1280160" cy="17373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1234440"/>
            <a:ext cx="1280160" cy="73152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17220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高效执行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0" y="2240280"/>
            <a:ext cx="7315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AI助力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43800" y="1234440"/>
            <a:ext cx="1280160" cy="17373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43800" y="1234440"/>
            <a:ext cx="128016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589520" y="17830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效能重构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18120" y="2240280"/>
            <a:ext cx="731520" cy="18288"/>
          </a:xfrm>
          <a:prstGeom prst="rect">
            <a:avLst/>
          </a:prstGeom>
          <a:solidFill>
            <a:srgbClr val="D4A5A5"/>
          </a:solidFill>
          <a:ln/>
        </p:spPr>
      </p:sp>
      <p:sp>
        <p:nvSpPr>
          <p:cNvPr id="40" name="Text 38"/>
          <p:cNvSpPr/>
          <p:nvPr/>
        </p:nvSpPr>
        <p:spPr>
          <a:xfrm>
            <a:off x="7589520" y="2377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30天计划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04672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457200" y="32004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8B0000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两天旅程的核心转变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3152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忙碌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9728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41732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48" name="Text 46"/>
          <p:cNvSpPr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38328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0" name="Text 48"/>
          <p:cNvSpPr/>
          <p:nvPr/>
        </p:nvSpPr>
        <p:spPr>
          <a:xfrm>
            <a:off x="33832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74904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06908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3" name="Text 51"/>
          <p:cNvSpPr/>
          <p:nvPr/>
        </p:nvSpPr>
        <p:spPr>
          <a:xfrm>
            <a:off x="406908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03504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5" name="Text 53"/>
          <p:cNvSpPr/>
          <p:nvPr/>
        </p:nvSpPr>
        <p:spPr>
          <a:xfrm>
            <a:off x="60350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个体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400800" y="36576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720840" y="3657600"/>
            <a:ext cx="320040" cy="320040"/>
          </a:xfrm>
          <a:prstGeom prst="ellipse">
            <a:avLst/>
          </a:prstGeom>
          <a:solidFill>
            <a:srgbClr val="C45C5C"/>
          </a:solidFill>
          <a:ln/>
        </p:spPr>
      </p:sp>
      <p:sp>
        <p:nvSpPr>
          <p:cNvPr id="58" name="Text 56"/>
          <p:cNvSpPr/>
          <p:nvPr/>
        </p:nvSpPr>
        <p:spPr>
          <a:xfrm>
            <a:off x="6720840" y="3657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40080" y="40690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从"忙得没时间"到"有时间做要事" | 从"我知道要改变"到"我有具体计划" | 从"我想改变"到"我承诺改变"</a:t>
            </a:r>
            <a:endParaRPr lang="en-US" sz="10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457200" y="457200"/>
            <a:ext cx="5486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FFFF">
                    <a:alpha val="1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效能</a:t>
            </a:r>
            <a:endParaRPr lang="en-US" sz="16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重构效能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不是一个结果，是一个持续的过程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0" y="2651760"/>
            <a:ext cx="1828800" cy="36576"/>
          </a:xfrm>
          <a:prstGeom prst="rect">
            <a:avLst/>
          </a:prstGeom>
          <a:solidFill>
            <a:srgbClr val="C45C5C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9260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30175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"领先一步，枪打出头鸟；落后半步，别人牵牛我拔桩；领先半步，吃尽红利。"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47472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5A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罗老师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感谢参与本次培训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5C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30天后，我们复盘见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127</Slides>
  <Notes>127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重构效能：AI时代的管理实践</dc:title>
  <dc:subject>德鲁克管理哲学 × AI时代挑战</dc:subject>
  <dc:creator>重构效能课程组</dc:creator>
  <cp:lastModifiedBy>重构效能课程组</cp:lastModifiedBy>
  <cp:revision>1</cp:revision>
  <dcterms:created xsi:type="dcterms:W3CDTF">2026-06-28T02:31:45Z</dcterms:created>
  <dcterms:modified xsi:type="dcterms:W3CDTF">2026-06-28T02:31:45Z</dcterms:modified>
</cp:coreProperties>
</file>